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latin typeface="Malgun Gothic"/>
              </a:rPr>
              <a:t>화면기획서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154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latin typeface="Malgun Gothic"/>
              </a:rPr>
              <a:t>총 87개 화면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REQ-0001    화면번호: SCR-001    화면명: 계약서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계약서 내용과 구축요건정의서 간의 우선순위를 관리하고 변경사항을 추적하는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계약서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최종 계약서의 기본 정보 및 상태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계약서 기준 프로젝트 시작일 및 종료일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개발공수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계약서에 명시된 총 개발공수 및 단계별 공수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투입인력 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계약서 기준 투입인력 구성 및 투입 일정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구축요건정의서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구축요건정의서 대비 계약서 변경사항 비교 정보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선정업체 제안사항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선정업체의 제안에 따른 변경 요청사항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변경 승인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제안사항에 대한 검토 및 승인 진행 상태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REQ-0002    화면번호: SCR-001    화면명: 프로젝트 목표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프로젝트의 추진 목표를 등록, 수정, 조회할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목표를 설정할 프로젝트명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추진 목표의 제목 입력 필드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목표에 대한 상세 설명 입력 영역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목표의 중요도 및 우선순위 선택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달성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달성을 판단할 수 있는 기준 입력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목표의 현재 진행 상태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목표가 등록된 일시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REQ-0003    화면번호: SCR-002    화면명: 기대 효과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프로젝트의 기대 효과를 정의하고 관리할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0452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기대 효과를 정의할 프로젝트명 표시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기대 효과의 유형 분류 선택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기대 효과의 제목 입력 필드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기대 효과에 대한 상세 설명 입력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측정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효과를 측정할 수 있는 지표 정의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목표 수치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달성하고자 하는 정량적 목표값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측정 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 측정을 수행할 주기 설정</a:t>
                      </a:r>
                    </a:p>
                  </a:txBody>
                  <a:tcPr/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효과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효과 달성 상태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REQ-0006    화면번호: SCR-003    화면명: 프로젝트 범위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프로젝트 구축 내용의 적용 범위를 정의하고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범위를 정의할 프로젝트명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적용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프로젝트가 적용될 업무 영역 선택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포함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프로젝트에 포함되는 구축 내용 정의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제외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프로젝트에서 제외되는 내용 정의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범위 경계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범위의 명확한 경계 설정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영향 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범위에 영향받는 부서 목록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범위 승인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정의된 범위의 승인 상태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REQ-0032    화면번호: SCR-001    화면명: 단계별 추진계획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프로젝트를 단계별로 나누어 체계적인 추진 계획을 수립하고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단계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프로젝트를 구성하는 각 단계들의 목록을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단계별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단계의 시작일과 종료일 정보를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단계별 주요 활동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단계에서 수행해야 할 주요 활동 내역을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단계별 산출물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단계에서 생성되는 주요 산출물 목록을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단계별 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단계의 책임자 및 참여자 정보를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단계의 현재 진행 상태를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계획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단계별 계획을 수정할 수 있는 기능 버튼을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REQ-0198    화면번호: SCR-002    화면명: 프로젝트 통합관리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프로젝트 전체의 일정, 품질, 리스크를 통합적으로 관리하는 대시보드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개요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프로젝트명, 기간, 진행률 등 기본 정보를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일정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일정 대비 현재 진행 상황과 지연 위험도를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품질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품질 관리 지표와 현재 품질 수준을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리스크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식별된 리스크 목록과 위험도 수준을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주요 이슈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발생한 주요 이슈와 해결 상태를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자원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투입 인력과 예산 사용 현황을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REQ-0007    화면번호: SCR-001    화면명: 개발 상세 내용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시스템 개발의 상세 내용을 정의하고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프로젝트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개발 프로젝트들의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상세 내용 입력 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내용, 범위, 일정 등을 입력할 수 있는 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진행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개발 진행 상태 및 단계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담당자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담당자 및 팀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일정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시작일, 완료 예정일 등 일정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저장/수정/삭제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상세 내용을 저장, 수정, 삭제할 수 있는 액션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REQ-0008    화면번호: SCR-001    화면명: 시스템 구성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시스템의 전체 구성 요소와 내역을 정의하고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시스템을 구성하는 각 컴포넌트들의 목록을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구성 요소의 상세 정보 및 속성을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추가/수정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구성 요소를 추가하거나 기존 요소를 수정하는 입력 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간의 의존성 및 연결 관계를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버전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요소의 버전 정보 및 변경 이력을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REQ-0009    화면번호: SCR-002    화면명: 시스템 구성도 뷰어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전체 시스템의 구성 요소와 연결 관계를 시각적으로 표현하는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구성도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시스템의 구성 요소들을 다이어그램으로 시각화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노드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시스템 구성 요소를 노드 형태로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연결선 및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간의 연결 관계를 선으로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확대/축소 컨트롤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구성도의 확대, 축소, 이동을 위한 컨트롤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레이어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특정 레이어나 유형의 구성 요소만 표시하는 필터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정보 팝업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요소 클릭 시 상세 정보를 표시하는 팝업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REQ-0010    화면번호: SCR-001    화면명: 하드웨어 목록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시스템 구축에 필요한 하드웨어 목록을 조회, 등록, 수정, 삭제할 수 있는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목록 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하드웨어 목록을 테이블 형태로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검색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종류, 모델명, 상태 등으로 검색할 수 있는 필터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등록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하드웨어를 등록할 수 있는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하드웨어의 상세 정보(모델명, 사양, 상태, 위치 등)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수정/삭제 액션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하드웨어 정보를 수정하거나 삭제할 수 있는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페이징 네비게이션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하드웨어 목록의 페이지 이동을 위한 네비게이션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REQ-0017    화면번호: SCR-001    화면명: 서비스 관리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서비스별 개발, 배포, 관리 현황을 통합적으로 모니터링하고 제어할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모든 서비스의 목록과 기본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서비스의 현재 운영 상태 (정상/장애/점검)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서비스별 최근 배포 이력과 배포 진행 상황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서비스별 개발 단계와 완료율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관리 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서비스의 개발/운영 담당자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메트릭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서비스별 주요 성능 지표 요약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REQ-0139    화면번호: SCR-002    화면명: 로그 관리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환경별 애플리케이션 로그를 수집, 조회, 분석할 수 있는 통합 로그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환경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개발/스테이징/운영/DR 환경 선택 메뉴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날짜, 시간, 로그 레벨, 키워드 기반 로그 검색 기능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조건에 맞는 로그 엔트리 목록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로그의 상세 내용과 스택 트레이스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시간대별, 레벨별 로그 발생 통계 차트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특정 로그 패턴 발생 시 알림 설정 기능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검색된 로그를 파일로 다운로드하는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REQ-0014    화면번호: SCR-001    화면명: 기술 적용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서비스별 최신 기술 적용 현황을 관리하고 신속한 기술 도입을 지원하는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기술 적용 대상이 되는 서비스들의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적용 가능 기술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서비스에 적용 가능한 최신 기술들의 목록과 버전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기술 적용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서비스별 현재 적용된 기술 스택과 버전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기술 적용 진행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기술 적용 작업의 상태와 진척도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기술 적용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과거 기술 적용 이력과 성공/실패 결과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기술 적용 승인 워크플로우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기술 적용을 위한 승인 프로세스 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REQ-0020    화면번호: SCR-001    화면명: 비대면 조직 플랫폼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비대면 조직 운영 현황과 에자일 개발 프로세스를 통합 관리할 수 있는 플랫폼 메인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조직 현황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조직 구성원 수, 활성 프로젝트 수, 진행 중인 스프린트 현황 등 핵심 지표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에자일 개발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스프린트, 백로그 상태, 번다운 차트 등 개발 진척도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팀별 활동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팀의 업무 진행 상황, 협업 활동 지표, 성과 측정 결과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커뮤니케이션 허브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간 소통 채널, 공지사항, 회의 일정 등 협업 도구 통합 인터페이스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플랫폼 도구 연동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개발, 협업, 모니터링 등 연동된 외부 플랫폼들의 연결 상태 및 사용 현황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REQ-0023    화면번호: SCR-001    화면명: KB스타뱅킹 어드민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내부 직원의 효율적인 관리와 운영 지원을 위한 통합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현황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시스템 상태 및 주요 지표를 한눈에 볼 수 있는 대시보드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관리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내부 직원 계정 관리 및 권한 설정 메뉴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운영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시스템 운영 상태 및 성능 지표 모니터링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업무 처리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업무 및 처리 완료된 업무 현황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및 공지사항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중요 알림 및 운영 관련 공지사항 표시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빠른 작업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자주 사용하는 관리 기능에 대한 빠른 접근 메뉴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REQ-0027    화면번호: SCR-001    화면명: 팀 단위 서비스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단위 서비스를 팀별로 그룹화하여 관리하고, 팀 간 협업 및 서비스 연결을 통한 자원 확장성을 제공하는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팀별 서비스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팀에 할당된 단위 서비스들을 그룹별로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연결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간 서비스 연결 현황 및 의존성 관계 시각화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협업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간 협업 진행 상태 및 공유 자원 현황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자원 확장성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연결을 통한 자원 활용도 및 확장 가능성 메트릭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관리 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팀 생성, 수정, 삭제 및 서비스 할당 관리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REQ-0094    화면번호: SCR-001    화면명: 어플리케이션 설정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서버 Config 설정을 조회, 수정하고 실시간 적용 또는 수동 적용할 수 있는 관리자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항목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등록된 서버 Config 설정 항목들을 카테고리별로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설정값 입력/수정 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설정 항목의 현재값과 새로운 값을 입력할 수 있는 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적용 방식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적용, 관리자 수동 적용, 재기동 적용 중 선택할 수 있는 옵션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변경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변경 날짜, 변경자, 변경 전후 값을 보여주는 이력 테이블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적용 상태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설정의 현재 적용 상태와 대기 중인 변경사항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REQ-0095    화면번호: SCR-002    화면명: API 테스트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개발된 API를 테스트하고 결과를 확인할 수 있는 테스트 환경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엔드포인트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테스트할 API의 URL과 HTTP 메소드를 입력하는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요청 헤더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시 필요한 헤더 정보를 키-값 형태로 입력하는 테이블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요청 바디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POST, PUT 등의 요청 시 전송할 JSON 데이터를 입력하는 텍스트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응답 결과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결과로 받은 응답 데이터와 상태 코드를 표시하는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이전에 실행한 API 테스트 목록과 결과를 보여주는 히스토리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저장된 테스트 케이스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자주 사용하는 API 테스트를 저장하고 불러올 수 있는 목록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REQ-0038    화면번호: SCR-001    화면명: API 호출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MCI 및 API Gateway 호출을 지원하는 화면 프레임워크 엔진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방식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MCI 호출 또는 API Gateway 호출 방식 선택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엔드포인트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호출할 API의 URL 및 엔드포인트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요청 파라미터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시 전송할 파라미터 설정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응답 데이터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결과 및 응답 데이터 표시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상태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성공/실패 상태 및 로그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REQ-0099    화면번호: SCR-002    화면명: 에러메시지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소스시스템과 스타뱅킹 PaaS 통신 시 발생하는 에러메시지 처리 및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코드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시스템별 에러 코드 및 분류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메시지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에러 코드에 대응하는 상세 메시지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발생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발생 일시 및 빈도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처리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처리 진행 상태 및 해결 여부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로그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발생 시 상세 로그 및 스택 트레이스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발생 시 알림 방식 및 담당자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REQ-0100    화면번호: SCR-003    화면명: 거래 제한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MCI 대체 기능으로 거래제한 및 거래필드 세팅을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제한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거래별 제한 조건 및 규칙 설정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필드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시 필요한 필드 및 유효성 검증 설정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제한 대상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제한이 적용된 사용자 또는 거래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제한 해제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설정된 거래 제한을 해제하는 기능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로그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제한 적용 및 해제 이력 조회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메시지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제한 시 사용자에게 표시할 메시지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REQ-0036    화면번호: SCR-001    화면명: 로그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Kibana를 통한 로그 데이터 시각화 및 분석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수집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로그 수집량 및 상태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검색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시간, 서비스, 로그레벨별 검색 조건 설정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데이터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 로그 발생량 그래프 및 통계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로그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중요 에러 로그 발생 시 알림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로그의 상세 내용 및 스택트레이스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REQ-0039    화면번호: SCR-001    화면명: 확장형 페이지 API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확장형 페이지에서 사용하는 API를 관리하고 호출 통계를 확인할 수 있는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확장형 페이지에서 호출하는 API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API의 엔드포인트, 메소드, 파라미터 등 상세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클릭수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API별 호출 횟수 및 클릭수 집계 데이터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등록/수정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API 등록 및 기존 API 정보 수정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활성화/비활성화 상태 관리 및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통계 기간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클릭수 집계를 위한 조회 기간 설정 옵션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REQ-0040    화면번호: SCR-001    화면명: KB스타뱅킹 운영 어드민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KB스타뱅킹 운영 현황을 모니터링하고 관리할 수 있는 통합 어드민 대시보드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상태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시스템의 운영 상태 및 헬스체크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접속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사용자 접속 수 및 트래픽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서비스별 응답시간, 처리량, 오류율 등 성능 지표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및 경고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장애, 임계치 초과 등 중요 알림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운영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관리, 시스템 설정, 로그 조회 등 운영 기능 메뉴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REQ-0042    화면번호: SCR-001    화면명: 시스템 아키텍쳐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MSA 기반 비대면 서비스 아키텍쳐 설계 및 관리를 위한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아키텍쳐 구성도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MSA 기반 시스템 아키텍쳐의 전체 구성도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마이크로서비스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구성된 마이크로서비스들의 목록과 상태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간 연결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마이크로서비스 간의 API 연결 및 의존성 관계도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확장성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확장 가능성 및 성능 지표 현황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비대면 서비스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비대면 서비스 관련 컴포넌트 및 기능 영역 구분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REQ-0045    화면번호: SCR-001    화면명: 통합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시스템과 클러스터의 모니터링 지표를 중앙에서 통합하여 조회할 수 있는 대시보드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클러스터 상태 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클러스터의 상태 및 헬스체크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리소스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CPU, 메모리, 디스크 사용률 등 시스템 리소스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상태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서비스별 가용성 및 응답시간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및 경고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이상 상황에 대한 알림 및 경고 메시지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성능 지표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 성능 지표를 시각화한 차트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모니터링 설정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모니터링 대상 및 임계값 설정 메뉴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REQ-0047    화면번호: SCR-002    화면명: 서비스 연결 시각화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MSA 서비스매쉬 내의 서비스 연결 관계와 트래픽 흐름을 시각적으로 표현하는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토폴로지 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간 연결 관계를 노드와 링크로 시각화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트래픽 흐름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간 실시간 트래픽 흐름 및 방향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상태 인디케이터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서비스의 정상/비정상 상태를 색상으로 구분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연결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서비스 연결에 대한 상세 정보 패널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필터링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타입, 네임스페이스별 필터링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 범위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모니터링 데이터 조회 시간 범위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REQ-0048    화면번호: SCR-003    화면명: 분산 추적 모니터링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분산된 MSA 서비스 호출 경로와 성능을 추적하여 표시하는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트레이스 검색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서비스명, 시간범위, 상태코드 등으로 트레이스 검색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트레이스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검색된 트레이스들의 목록과 기본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트레이스 상세 타임라인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트레이스의 서비스 호출 순서와 소요시간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스팬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개별 스팬의 상세 정보 및 태그, 로그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및 예외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트레이스 내 발생한 에러 및 예외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성능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응답시간, 처리량 등 성능 관련 통계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REQ-0084    화면번호: SCR-004    화면명: 통합 로그 조회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Elasticsearch와 Kibana를 통한 통합 로그 조회 및 분석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검색 쿼리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키워드, 시간범위, 로그레벨 등을 이용한 로그 검색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목록 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검색된 로그 엔트리들의 목록과 기본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로그의 전체 내용 및 메타데이터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통계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 로그 발생량 및 레벨별 분포 차트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필터 및 정렬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서비스, 컨테이너, 로그레벨별 필터링 및 정렬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대시보드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자주 사용하는 검색 조건을 대시보드로 저장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REQ-0046    화면번호: SCR-046    화면명: 서비스 매쉬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MSA 서비스 간 통신 상태, 트래픽 흐름, 보안 정책 적용 현황을 실시간으로 모니터링하는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토폴로지 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MSA 서비스 간 연결 관계와 통신 흐름을 시각적으로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트래픽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서비스별 요청량, 응답시간, 성공/실패율 등 트래픽 지표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보안 정책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적용된 보안 정책 목록과 위반 사항 알림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상태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서비스의 헬스체크 상태와 가용성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로그 및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매쉬 관련 오류 발생 현황과 실시간 알림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REQ-0049    화면번호: SCR-001    화면명: 검색 및 분석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대용량 데이터를 검색하고 분석 결과를 확인할 수 있는 통합 검색 분석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조건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키워드, 날짜 범위, 카테고리 등 다양한 검색 조건을 입력할 수 있는 검색창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결과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검색된 데이터를 목록 형태로 표시하며 페이징 처리된 결과 리스트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분석 결과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검색된 데이터의 통계 및 트렌드를 시각화한 차트 및 그래프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필터링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결과를 세부적으로 필터링할 수 있는 사이드바 또는 드롭다운 메뉴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성능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소요 시간, 검색된 데이터 건수 등 검색 성능 관련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결과 내보내기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및 분석 결과를 CSV, Excel 등의 형태로 다운로드할 수 있는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REQ-0050    화면번호: SCR-001    화면명: 데이터 시각화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ElasticSearch에 저장된 데이터를 다양한 차트와 그래프로 시각화하여 실시간 모니터링할 수 있는 대시보드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데이터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ElasticSearch 데이터를 기반으로 한 실시간 업데이트되는 차트 영역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KPI 지표 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주요 성과 지표를 한눈에 볼 수 있는 요약 카드 형태의 위젯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 범위 선택기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조회할 데이터의 시간 범위를 설정할 수 있는 날짜/시간 선택 컨트롤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필터 옵션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데이터를 필터링할 수 있는 조건 설정 영역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차트 유형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라인차트, 바차트, 파이차트 등 시각화 유형을 변경할 수 있는 선택 메뉴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 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차트로 표시된 데이터의 상세 내용을 테이블 형태로 확인할 수 있는 영역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새로고침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대시보드 데이터를 수동으로 갱신할 수 있는 새로고침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REQ-0170    화면번호: SCR-001    화면명: API Gateway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PaaS Worker 노드의 KBaaS API Gateway Pod 상태 및 API 요청을 모니터링하고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Gateway Pod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실행 중인 API Gateway Pod들의 상태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요청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API 요청 수, 응답시간, 성공/실패율 등의 통계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엔드포인트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API 엔드포인트들의 목록과 상태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트래픽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Gateway를 통과하는 트래픽 현황을 실시간으로 모니터링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요청 처리 중 발생한 에러 로그 및 상세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REQ-0171    화면번호: SCR-002    화면명: Service Mesh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Istio 기반 Service Mesh의 Discovery/Registry, Load Balancer, Circuit Breaker 기능을 모니터링하고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디스커버리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서비스들의 디스커버리 상태 및 레지스트리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로드 밸런서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서비스별 로드 밸런싱 정책 및 트래픽 분산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Circuit Breaker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서킷 브레이커 동작 상태 및 장애 감지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Service Mesh 토폴로지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서비스 간 연결 관계를 시각적으로 표현한 네트워크 토폴로지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Istio 컴포넌트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Istio의 각 컴포넌트별 실행 상태 및 헬스체크 결과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트래픽 정책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라우팅 규칙, 보안 정책 등 트래픽 관리 정책 설정 인터페이스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REQ-0191    화면번호: SCR-001    화면명: 4Star 어드민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4Star 어드민 시스템의 메인 화면으로 전체 시스템 현황과 주요 관리 기능에 대한 접근을 제공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상태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전체 시스템의 운영 상태와 주요 지표를 실시간으로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접속 사용자 수, 일일/월간 사용자 통계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리소스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CPU, 메모리, 디스크 사용률 등 시스템 리소스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최근 알림/이벤트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시스템에서 발생한 최근 알림 및 중요 이벤트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관리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관리, 시스템 설정, 로그 관리 등 주요 관리 기능 메뉴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빠른 작업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자주 사용하는 관리 작업에 대한 빠른 접근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REQ-0054    화면번호: SCR-001    화면명: 모바일 메인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AS-IS 모바일 인스턴스 기반의 화면 영역 구성을 적용한 메인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헤더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모바일 인스턴스 표준 헤더 구성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네비게이션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모바일 최적화된 메뉴 구성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컨텐츠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메인 업무 컨텐츠 표시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하단 탭바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주요 기능 접근을 위한 하단 탭 메뉴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상태 표시줄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상태 및 알림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REQ-0055    화면번호: SCR-002    화면명: 업무 화면 프레임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스타루트 화면 프레임워크를 적용한 표준 업무 화면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타이틀바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스타루트 표준 타이틀바 구성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좌측 메뉴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스타루트 기반 좌측 네비게이션 메뉴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업무 컨텐츠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메인 업무 처리 화면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우측 정보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부가 정보 및 도구 표시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하단 상태바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정보 및 진행 상태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버튼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주요 액션 버튼 배치 영역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REQ-0066    화면번호: SCR-001    화면명: KB스타뱅킹 메인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KB스타뱅킹 전용 프레임워크 기반의 기본 어플리케이션 메인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로고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KB스타뱅킹 브랜드 로고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네비게이션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주요 뱅킹 서비스 메뉴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계좌 요약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주요 계좌 잔액 및 상태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빠른 이체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자주 사용하는 이체 기능 바로가기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공지사항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중요 공지사항 및 알림 메시지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REQ-0160    화면번호: SCR-001    화면명: 취약성 점검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SolidStep 취약성 점검 솔루션의 점검 결과 조회 및 관리 기능을 제공하는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점검 대상 서버들의 목록과 상태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취약성 점검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발견된 취약성 항목들과 위험도 등급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점검 일정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정기 점검 스케줄 설정 및 조회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취약성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취약성 항목의 상세 내용과 해결 방안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점검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과거 점검 결과 및 개선 이력 조회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REQ-0161    화면번호: SCR-002    화면명: DB 접근통제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ChakraMax DB접근통제 솔루션의 접근 권한 및 로그 관리 기능을 제공하는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접근 권한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사용자별 데이터베이스 접근 권한 관리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접근 로그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접근 이력 및 쿼리 실행 로그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차단 정책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위험한 쿼리나 접근 패턴에 대한 차단 규칙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DB 접근 상황 실시간 모니터링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비정상 접근 시 알림 규칙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REQ-0163    화면번호: SCR-003    화면명: 소스코드 진단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Sparrow 소스코드진단도구의 코드 분석 결과 및 보안 취약점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프로젝트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진단 대상 소스코드 프로젝트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취약점 분석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발견된 보안 취약점과 위험도 분류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코드 품질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코드 복잡도, 중복도 등 품질 메트릭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진단 스케줄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정기 진단 일정 설정 및 실행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개선 권고사항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취약점 해결을 위한 구체적인 개선 방안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진단 이력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과거 진단 결과 및 개선 추이 분석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REQ-0164    화면번호: SCR-004    화면명: 시스템 계정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NETS-IM 계정관리 시스템의 사용자 계정 생성, 수정, 삭제 및 권한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계정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내 모든 사용자 계정 목록과 상태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계정 생성/수정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 계정 생성 및 기존 계정 정보 수정 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권한 그룹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역할별 권한 그룹 설정 및 할당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계정 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계정 활성화/비활성화 및 잠금 해제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접근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계정별 시스템 접근 로그 조회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REQ-0165    화면번호: SCR-005    화면명: 패스워드 변경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APPM 패스워드 변경관리 시스템의 패스워드 정책 및 변경 이력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패스워드 정책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패스워드 복잡도, 유효기간 등 보안 정책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패스워드 변경 요청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사용자별 패스워드 변경 요청 및 승인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변경 이력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패스워드 변경 이력 및 만료 예정 계정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일괄 변경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다수 계정의 패스워드 일괄 변경 기능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패스워드 만료 임박 시 알림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REQ-0166    화면번호: SCR-006    화면명: 통합인증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SSO iSign+ 통합인증 시스템의 인증 설정 및 세션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SSO 서비스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통합인증 대상 시스템 및 서비스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인증 정책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다중인증, 세션 타임아웃 등 인증 정책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활성 세션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로그인된 사용자 세션 모니터링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인증 로그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로그인/로그아웃 이력 및 실패 로그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매핑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시스템별 사용자 계정 매핑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REQ-0167    화면번호: SCR-007    화면명: 키 관리 시스템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D'Amo SG-KMS 2200 키관리시스템의 암호화 키 생성, 배포, 폐기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생성된 암호화 키 목록과 상태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생성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암호화 키 생성 및 정책 설정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배포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시스템별 키 배포 상태 및 이력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라이프사이클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키의 생성, 활성화, 만료, 폐기 관리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사용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사용 이력 및 접근 로그 조회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백업 및 복구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 백업 상태 및 복구 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REQ-0168    화면번호: SCR-008    화면명: 개인정보 유출탐지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Recon 개인정보 유출탐지 시스템의 탐지 결과 및 대응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유출 탐지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개인정보 유출 의심 사례 탐지 결과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탐지 정책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개인정보 패턴 및 유출 탐지 규칙 관리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개인정보 이동 경로 추적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위험도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탐지된 사례의 위험도 평가 및 분류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대응 조치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유출 의심 사례에 대한 대응 조치 기록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보고서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정기 보고서 및 통계 자료 생성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REQ-0070    화면번호: SCR-001    화면명: 공통 기능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시스템 전반에서 사용되는 공통 기능들을 관리하고 설정할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공통 코드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시스템에서 사용하는 공통 코드 목록 조회 및 관리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메뉴 구조 설정 및 권한 관리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 권한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사용자별 기능 접근 권한 설정 및 관리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전반 설정값 관리 및 변경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사용 로그 조회 및 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REQ-0071    화면번호: SCR-001    화면명: API 엔진 어드민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스타루트 엔진의 API 호출 관리 및 모니터링을 위한 어드민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엔드포인트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API 엔드포인트들의 목록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API의 현재 상태 및 응답시간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API별 호출 횟수 및 성공/실패 통계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에러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실패 시 발생한 에러 로그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엔진 관련 설정값 관리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REQ-0104    화면번호: SCR-002    화면명: API G/W 토큰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클라이언트별 토큰 생성, 갱신 및 클라이언트 정보를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클라이언트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클라이언트들의 목록 및 기본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토큰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클라이언트의 토큰 발급 상태 및 만료일시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토큰 생성/갱신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 토큰 생성 및 기존 토큰 갱신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클라이언트 정보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클라이언트 등록, 수정, 삭제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경로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클라이언트별 API 호출 경로 설정 및 관리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접근 권한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클라이언트별 API 접근 권한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REQ-0074    화면번호: SCR-001    화면명: KB빌드배포 자동화시스템 연계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변경관리를 위한 KB빌드배포 자동화시스템과의 연계 기능을 제공하는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KB빌드배포 자동화시스템과의 연결 상태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요청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자동화시스템으로 전송된 배포 요청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진행 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진행 중인 배포 작업의 실시간 상태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완료된 배포 작업의 성공/실패 결과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자동화시스템 연계를 위한 설정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과정에서 발생한 상세 로그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REQ-0076    화면번호: SCR-001    화면명: MCI 연계 거래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MCI와 연계한 거래코드 기반의 표준전문 호출을 관리하고 모니터링하는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MCI 연계에 사용되는 거래코드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표준전문 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호출할 표준전문의 구조 및 형식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MCI 연계 서비스의 현재 상태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호출 내역 및 결과 조회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응답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MCI로부터 받은 응답 데이터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REQ-0077    화면번호: SCR-002    화면명: API 서비스 호출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KBaaS API G/W를 통한 API 기반 서비스 호출을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가능한 API 서비스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상세정보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API의 파라미터, 응답 형식 등 상세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시 전달할 파라미터 입력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후 받은 응답 데이터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KBaaS API G/W 연결 상태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호출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내역 및 성공/실패 이력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REQ-0086    화면번호: SCR-003    화면명: 시스템 연계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내부API G/W 및 EAI를 통한 각 시스템 연계 현황을 모니터링하는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시스템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코어뱅킹, 금융복합플랫폼 등 연계 대상 시스템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내부API G/W 또는 EAI 연계 방식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시스템별 연계 상태 및 가용성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트래픽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시스템별 연계 트래픽 및 처리량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오류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 중 발생한 오류 및 장애 현황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REQ-0121    화면번호: SCR-004    화면명: 연계서비스 개발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각 업무와의 연계서비스 개발 현황 및 API G/W 구축을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프로젝트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연계서비스 개발 프로젝트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연계서비스 개발의 진행 상황 및 완료율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G/W 구축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신규 API G/W 구축 진행 상황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개발된 연계서비스의 테스트 수행 결과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연계서비스 배포 계획 및 일정 관리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이슈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 중 발생한 이슈 및 해결 현황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REQ-0079    화면번호: SCR-001    화면명: 채널 DB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채널별 전용 데이터베이스 구축 및 관리를 위한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채널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채널들의 목록을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연결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채널별 데이터베이스 연결 상태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구성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채널별 데이터베이스 구성 및 설정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채널별 내부 거래 수행 현황 및 통계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생성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채널용 데이터베이스 생성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REQ-0087    화면번호: SCR-001    화면명: CI/CD 파이프라인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CI/CD 파이프라인의 구성, 실행, 모니터링을 위한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파이프라인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CI/CD 파이프라인 목록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파이프라인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파이프라인의 실행 상태 및 진행률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빌드 히스토리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파이프라인 실행 이력 및 결과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CI/CD 각 단계별 진행 상황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파이프라인 실행 중 발생한 로그 및 오류 정보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REQ-0088    화면번호: SCR-002    화면명: CBT 환경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Closed Beta Test 환경의 다크배포 파이프라인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CBT 환경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구축된 CBT 환경 목록 및 상태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다크배포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다크배포 파이프라인 구성 및 설정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CBT에 참여할 사용자 그룹 및 범위 설정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배포 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다크배포 파이프라인 실행 진행 상황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CBT 환경에서의 테스트 결과 및 피드백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REQ-0090    화면번호: SCR-001    화면명: DB동기화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CDC 또는 kafka 메시징 큐를 활용한 단방향 DB동기화 모니터링 및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DB동기화 진행 상태 및 성공/실패 여부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대상 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대상이 되는 테이블 목록 및 설정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메시지 큐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Kafka 메시징 큐의 연결 상태 및 처리량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CDC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Change Data Capture 처리 로그 및 오류 내역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처리 건수, 처리 시간 등 통계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REQ-0118    화면번호: SCR-002    화면명: 데이터 동기화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레거시 DB와 신규 DB 간 홈 비즈니스배너 관련 테이블 데이터 동기화 현황 조회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홈 비즈니스배너 테이블별 데이터 동기화 진행률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레거시 DB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레거시 데이터베이스 연결 상태 및 데이터 건수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신규 DB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신규 데이터베이스 연결 상태 및 동기화된 데이터 건수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오류 내역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 동기화 과정에서 발생한 오류 및 예외 사항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데이터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레거시와 신규 DB 간 홈 비즈니스배너 데이터 차이점 비교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REQ-0183    화면번호: SCR-003    화면명: IIDR 동기화 솔루션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IIDR을 활용한 DB 동기화 솔루션 구축 및 운영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IIDR 서버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IIDR 서버의 실행 상태 및 리소스 사용량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복제 작업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DB 복제 작업 목록 및 각 작업의 상태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IIDR 동기화 규칙 및 매핑 설정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성능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처리 성능 및 지연시간 모니터링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동기화 오류 또는 임계치 초과 시 알림 설정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REQ-0096    화면번호: SCR-001    화면명: API 테스트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API 테스트 환경에서 테스트를 실행하고 결과를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가능한 API 목록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케이스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API별 테스트 케이스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요청 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시 필요한 파라미터 입력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응답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API 호출 후 반환되는 응답 데이터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실행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API 테스트를 실행하는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히스토리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이전에 실행한 테스트 결과 이력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REQ-0102    화면번호: SCR-001    화면명: 배치 관리 어드민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배치 작업의 실행, 모니터링, 관리를 위한 관리자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배치 작업들의 리스트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작업 실행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배치 작업의 현재 실행 상태 (대기/실행중/완료/실패)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작업 스케줄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작업의 예약 실행 시간 및 주기 정보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실행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작업의 과거 실행 기록 및 결과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작업 제어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시작/중지/재시작 제어 기능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실행 중 발생한 로그 정보 확인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Control-M 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Control-M과의 연동 상태 및 동기화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REQ-0105    화면번호: SCR-001    화면명: Vue.js 컴포넌트 기반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Vue.js 프레임워크를 활용한 재사용 가능한 컴포넌트 기반 사용자 인터페이스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공통 헤더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재사용 가능한 상단 네비게이션 및 로고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사이드바 메뉴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동적으로 구성되는 좌측 메뉴 네비게이션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 테이블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정렬, 필터링, 페이징 기능이 포함된 데이터 표시 테이블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폼 입력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유효성 검증이 포함된 재사용 가능한 입력 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모달 다이얼로그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팝업 형태의 정보 표시 및 사용자 입력 받기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버튼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다양한 스타일과 기능을 가진 재사용 가능한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REQ-0106    화면번호: SCR-001    화면명: 컴포넌트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Vue.js 기반 재사용 가능한 컴포넌트들을 관리하고 개발 효율성을 높이기 위한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Vue.js 컴포넌트들의 리스트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 상세정보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컴포넌트의 속성, 사용법, 예시 코드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 미리보기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컴포넌트의 실제 렌더링 결과 미리보기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재사용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컴포넌트의 사용 빈도 및 재사용률 통계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컴포넌트명, 기능별 검색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REQ-0108    화면번호: SCR-001    화면명: 결재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결재 승인/반려 처리 및 다건승인, 대결 등록, 결재오류 확인 등의 편의기능을 제공하는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 대기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승인 대기 중인 결재 건들의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다건승인 체크박스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여러 건을 한번에 승인할 수 있는 선택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대결 등록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결재자 부재 시 대결자를 등록할 수 있는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결재오류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 처리 중 발생한 오류 내역을 확인할 수 있는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자동결재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테스트 환경에서 자동으로 결재 처리되도록 설정하는 기능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결재 건의 상세 내용 및 첨부파일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REQ-0109    화면번호: SCR-002    화면명: 공유디스크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담당자 정보 관리, 파일 업로드 권한 관리 및 컨텐츠 파일 업로드를 처리하는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담당자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공유디스크 담당자들의 정보를 조회하고 관리할 수 있는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권한 설정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사용자별 파일 업로드 권한을 설정하고 관리하는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 업로드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컨텐츠 파일을 업로드할 수 있는 드래그앤드롭 또는 선택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업로드된 파일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업로드된 파일들의 목록과 상태 정보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디스크 사용량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디스크 사용량과 용량 제한 정보를 시각적으로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REQ-0110    화면번호: SCR-003    화면명: 어드민 메뉴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어드민 메뉴의 카테고리 관리 및 메뉴 순서와 구조를 변경할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트리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메뉴 구조를 트리 형태로 시각화하여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카테고리 관리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카테고리를 추가, 수정, 삭제할 수 있는 관리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드래그앤드롭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순서를 드래그앤드롭으로 변경할 수 있는 인터랙티브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속성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메뉴의 이름, URL, 권한 등 속성을 설정하는 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미리보기 패널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변경된 메뉴 구조를 실제 화면처럼 미리 볼 수 있는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저장/취소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메뉴 구조 변경사항을 저장하거나 취소할 수 있는 액션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REQ-0111    화면번호: SCR-004    화면명: 사용자 로그 조회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어드민 사용자의 거래 로그를 조회하고 분석할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검색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날짜, 사용자, 기능별로 로그를 필터링할 수 있는 검색 조건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목록 테이블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조회된 사용자 거래 로그들을 시간순으로 정렬하여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로그의 상세 내용과 요청/응답 데이터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통계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시간대별, 기능별 로그 발생 현황을 차트로 시각화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엑셀 다운로드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조회된 로그 데이터를 엑셀 파일로 다운로드하는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REQ-0112    화면번호: SCR-005    화면명: 알림 관리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WorKB 쪽지 발송 및 결재 연동 알림함을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받은 알림 메시지들을 시간순으로 정렬하여 표시하는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쪽지 작성 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WorKB로 쪽지를 발송할 수 있는 제목, 내용, 수신자 입력 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 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결재 관련 알림을 받을 조건과 방식을 설정하는 옵션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읽음/안읽음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메시지의 읽음 상태를 시각적으로 구분하여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발송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발송한 쪽지와 알림의 이력을 조회할 수 있는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일괄 처리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선택한 알림들을 일괄로 읽음 처리하거나 삭제할 수 있는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REQ-0113    화면번호: SCR-001    화면명: 거래로그 조회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KbaaS API를 통해 n-Kesa 시스템의 사용자 거래로그를 조회하고 검색할 수 있는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검색조건 입력영역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사용자ID, 거래일시, 거래유형 등 조회 조건을 입력할 수 있는 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입력된 조건으로 거래로그를 검색하는 실행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거래로그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조회된 거래로그를 테이블 형태로 표시하는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거래상세정보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거래의 상세 내용을 표시하는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페이징 네비게이션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다량의 거래로그 데이터를 페이지별로 탐색할 수 있는 컨트롤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엑셀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조회된 거래로그를 엑셀 파일로 다운로드하는 기능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REQ-0115    화면번호: SCR-001    화면명: 홈행태배너 관리화면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KB스타뱅킹 플랫폼에 맞게 전환된 홈행태배너 서비스의 배너 관리 및 표시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활성화된 홈행태배너들의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배너의 이미지 및 시각적 콘텐츠를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배너의 제목 및 주요 메시지를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배너의 활성화/비활성화 상태 정보를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노출 순서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배너들의 노출 우선순위 및 순서 정보를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링크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클릭 시 이동할 페이지나 기능의 링크 정보를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REQ-0116    화면번호: SCR-001    화면명: 홈화면 배너 조회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비즈니스모델 기반으로 사용자에게 적합한 배너를 조회하여 홈화면에 표시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비즈니스모델에 따라 조회된 배너 이미지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배너의 주요 메시지나 제목 텍스트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내용에 대한 상세 설명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링크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클릭 시 이동할 페이지나 기능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다시보지않기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해당 배너를 더 이상 보지 않도록 설정하는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REQ-0117    화면번호: SCR-002    화면명: 배너 설정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사용자가 배너 표시 여부를 설정하고 다시보지않기 옵션을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활성화된 배너들의 목록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배너 미리보기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배너의 미리보기 이미지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다시보지않기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배너별 다시보지않기 여부 토글 스위치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저장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변경된 배너 설정을 저장하는 버튼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설정 초기화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모든 배너 설정을 초기값으로 되돌리는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REQ-0122    화면번호: SCR-001    화면명: 보안정책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정보보호부에서 보안업무 정책 및 기획, 보안성 심의, 고객정보 정책을 수립하고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보안정책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보안정책들의 목록을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정책 등록/수정 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보안정책을 등록하거나 기존 정책을 수정하는 입력 폼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보안성 심의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진행 중인 보안성 심의 건들의 상태와 진행 현황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고객정보 정책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고객정보 보호 관련 정책의 수립 및 관리 영역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정책 승인 워크플로우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보안정책의 승인 단계와 담당자 지정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REQ-0125    화면번호: SCR-001    화면명: OpenShift 구성 파일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OpenShift 설치 및 운영을 위한 구성 파일을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파일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OpenShift 설치 및 운영에 필요한 구성 파일들의 목록을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구성 파일의 상세 정보(파일명, 크기, 수정일시 등)를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 내용 편집기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파일의 내용을 편집할 수 있는 텍스트 에디터 영역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 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구성 파일을 업로드할 수 있는 기능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기존 구성 파일을 다운로드할 수 있는 기능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저장/적용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파일 변경사항을 저장하고 적용하는 버튼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백업/복원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구성 파일의 백업 생성 및 이전 버전으로 복원하는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REQ-0138    화면번호: SCR-001    화면명: 배치 작업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배치 호출 게이트웨이를 통한 배치 작업 실행 및 모니터링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등록된 배치 작업들의 목록을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작업 실행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배치 작업의 현재 실행 상태(대기/실행중/완료/실패)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환경별 게이트웨이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개발/테스트/운영 환경별 배치 호출 게이트웨이 연결 상태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Control-M 연계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운영환경에서 Control-M과의 연계 상태 및 스케줄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실행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실행 결과 및 오류 로그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수동 실행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필요시 배치 작업을 수동으로 실행할 수 있는 제어 버튼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REQ-0140    화면번호: SCR-001    화면명: 데이터베이스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개발/스테이징/운영 환경별 업무 데이터베이스 구성 및 관리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환경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개발/스테이징/운영 환경을 선택할 수 있는 드롭다운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데이터베이스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환경의 업무 데이터베이스 목록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데이터베이스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데이터베이스의 연결 상태 및 용량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데이터베이스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새로운 업무 데이터베이스를 생성하는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데이터베이스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데이터베이스의 설정 정보 조회 및 수정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백업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데이터베이스 백업 스케줄 및 이력 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REQ-0147    화면번호: SCR-001    화면명: APM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Jennifer 및 Jennifer Kubernetes를 통한 애플리케이션 성능 모니터링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VM서버 성능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Jennifer를 통한 VM서버의 응답시간, 처리량, 에러율 등 성능 지표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PaaS서버 성능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Jennifer Kubernetes를 통한 PaaS서버의 성능 메트릭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애플리케이션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애플리케이션의 현재 상태 및 가용성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성능 트렌드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 성능 지표 변화 추이 그래프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알람 및 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성능 임계치 초과 시 발생하는 알람 목록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REQ-0148    화면번호: SCR-002    화면명: 서버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Polestar를 통한 Linux 서버 전체 모니터링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모니터링 대상 Linux 서버들의 전체 목록 및 상태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CPU 사용률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서버의 실시간 CPU 사용률 및 히스토리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메모리 사용률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서버별 메모리 사용량 및 가용 메모리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디스크 사용률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서버별 디스크 사용량 및 여유 공간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네트워크 트래픽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서버별 네트워크 입출력 트래픽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서버에서 발생하는 시스템 이벤트 및 에러 로그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REQ-0153    화면번호: SCR-001    화면명: DB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maxguage를 통한 업무DB서버 실시간 모니터링 현황을 확인할 수 있는 대시보드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서버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운영Active 환경의 DB 서버 전체 상태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CPU 사용률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32core 단위 CPU 사용률 실시간 모니터링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메모리 사용률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DB 서버 메모리 사용 현황 및 임계치 알림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디스크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디스크 읽기/쓰기 성능 지표 및 트렌드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세션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활성 세션 수 및 대기 세션 현황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장애 및 성능 임계치 초과 알림 목록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REQ-0178    화면번호: SCR-001    화면명: 인프라 로그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Kibana를 통한 PaaS 인프라 로그 조회 및 분석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검색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 범위, 로그 레벨, 서비스별 필터링 옵션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로그 스트림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실시간으로 수집되는 인프라 로그 목록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로그의 상세 내용 및 메타데이터 표시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통계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시간대별 로그 발생량 및 에러율 차트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알림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특정 조건 발생 시 알림 설정 기능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REQ-0179    화면번호: SCR-002    화면명: 어플리케이션 로그 분석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어플리케이션별 로그 수집 및 분석을 위한 Kibana 대시보드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680085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어플리케이션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로그를 조회할 어플리케이션 선택 드롭다운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레벨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ERROR, WARN, INFO, DEBUG 등 로그 레벨별 필터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검색 쿼리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키워드 기반 로그 검색을 위한 입력창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필터링된 어플리케이션 로그 목록 테이블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로그 상세 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선택된 로그의 전체 내용 및 스택 트레이스 표시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시각화 차트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어플리케이션별 로그 패턴 및 트렌드 차트</a:t>
                      </a:r>
                    </a:p>
                  </a:txBody>
                  <a:tcPr/>
                </a:tc>
              </a:tr>
              <a:tr h="680085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내보내기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분석 결과를 CSV, JSON 형태로 내보내기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REQ-0182    화면번호: SCR-001    화면명: 파일전송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Mtrack을 활용한 서버간 파일전송 기능을 제공하는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전송할 파일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로컬 또는 서버에서 전송할 파일을 선택하는 영역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대상 서버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파일을 전송받을 대상 서버를 선택하는 드롭다운 또는 목록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전송 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파일전송의 진행상태를 표시하는 프로그레스 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전송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과거 파일전송 내역을 조회할 수 있는 테이블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전송 시작/중지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파일전송을 시작하거나 중지할 수 있는 제어 버튼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전송 상태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전송중인 파일명, 크기, 속도 등의 상태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REQ-0184    화면번호: SCR-001    화면명: 배치 작업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Control-M을 통한 배치 작업 자동화 현황 및 배치 호출용 G/W서버 이중화 상태를 모니터링하고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등록된 배치 작업들의 목록과 상태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실행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실행 중, 대기 중, 완료, 실패 등 배치 작업별 실행 상태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G/W서버 이중화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호출용 게이트웨이 서버의 Primary/Secondary 서버 상태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스케줄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Control-M에 등록된 배치 작업의 스케줄링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실행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작업 실행 결과 및 오류 로그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서버 리소스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배치 서버의 CPU, 메모리, 디스크 사용률 현황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REQ-0194    화면번호: SCR-001    화면명: CDC 시스템 모니터링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Change Data Capture 시스템의 실시간 데이터 변경 감지 현황과 처리 상태를 모니터링하는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90678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실시간 변경 감지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현재 감지되고 있는 데이터 변경사항의 실시간 통계 정보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CDC 처리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 변경사항의 처리 진행 상태 및 완료 현황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변경 데이터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감지된 데이터 변경사항의 상세 목록과 변경 내용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 성능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CDC 시스템의 처리 성능 및 응답시간 지표</a:t>
                      </a:r>
                    </a:p>
                  </a:txBody>
                  <a:tcPr/>
                </a:tc>
              </a:tr>
              <a:tr h="9067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오류 및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CDC 처리 중 발생한 오류 현황과 시스템 알림 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REQ-0196    화면번호: SCR-001    화면명: OCP 아키텍처 설계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GPS 기능을 포함한 OpenShift Container Platform 아키텍처를 설계하고 관리하는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OCP 클러스터 구성도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OpenShift Container Platform의 전체 클러스터 아키텍처를 시각적으로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GPS 서비스 컴포넌트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GPS 기능 관련 마이크로서비스 및 컨테이너 구성 요소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네트워크 토폴로지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OCP 내부 네트워크 구성 및 외부 연결 구조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스토리지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퍼시스턴트 볼륨 및 스토리지 클래스 설정 정보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보안 정책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RBAC, 네트워크 정책, 보안 컨텍스트 등 보안 관련 설정 표시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리소스 할당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CPU, 메모리, 스토리지 등 클러스터 리소스 할당 및 사용량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Malgun Gothic"/>
              </a:rPr>
              <a:t>요구사항ID: REQ-0197    화면번호: SCR-001    화면명: 클라우드 전환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7315200" cy="5440680"/>
          </a:xfrm>
          <a:prstGeom prst="rect">
            <a:avLst/>
          </a:prstGeom>
          <a:solidFill>
            <a:srgbClr val="F5F7FA"/>
          </a:solidFill>
          <a:ln w="19050"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505A64"/>
                </a:solidFill>
                <a:latin typeface="Malgun Gothic"/>
              </a:rPr>
              <a:t>화면 기획 내용 이미지 삽입 영역
기존 시스템을 클라우드 환경으로 전환하는 작업을 관리하고 모니터링하는 화면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1000" y="960120"/>
          <a:ext cx="40233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697480"/>
              </a:tblGrid>
              <a:tr h="777240"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표시항목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대상 시스템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클라우드로 전환할 기존 시스템들의 목록과 상태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진행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각 시스템별 클라우드 전환 작업의 현재 진행률과 단계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계획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시스템별 전환 일정, 담당자, 예상 소요시간 등의 계획 정보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작업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과정에서 발생한 작업 내역과 이슈 사항들의 기록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클라우드 환경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전환될 클라우드 환경의 구성 정보와 설정 값들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 완료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전환이 완료된 시스템들의 현황과 성공/실패 통계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