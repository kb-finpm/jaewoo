
<file path=[Content_Types].xml><?xml version="1.0" encoding="utf-8"?>
<Types xmlns="http://schemas.openxmlformats.org/package/2006/content-types">
  <Default Extension="png" ContentType="image/png"/>
  <Default Extension="tmp" ContentType="image/png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gif" ContentType="image/gif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  <Override PartName="/ppt/changesInfos/changesInfo1.xml" ContentType="application/vnd.ms-powerpoint.changesinfo+xml"/>
  <Override PartName="/ppt/revisionInfo.xml" ContentType="application/vnd.ms-powerpoint.revisioninfo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6" Type="http://schemas.microsoft.com/office/2020/02/relationships/classificationlabels" Target="docMetadata/LabelInfo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0" saveSubsetFonts="1" autoCompressPictures="0">
  <p:sldMasterIdLst>
    <p:sldMasterId id="2147483999" r:id="rId4"/>
    <p:sldMasterId id="2147484005" r:id="rId5"/>
  </p:sldMasterIdLst>
  <p:notesMasterIdLst>
    <p:notesMasterId r:id="rId209"/>
  </p:notesMasterIdLst>
  <p:handoutMasterIdLst>
    <p:handoutMasterId r:id="rId210"/>
  </p:handoutMasterIdLst>
  <p:sldIdLst>
    <p:sldId id="2147478145" r:id="rId6"/>
    <p:sldId id="2147478146" r:id="rId7"/>
    <p:sldId id="2147477969" r:id="rId8"/>
    <p:sldId id="2147477970" r:id="rId9"/>
    <p:sldId id="2147477971" r:id="rId10"/>
    <p:sldId id="2147477972" r:id="rId11"/>
    <p:sldId id="2147477973" r:id="rId12"/>
    <p:sldId id="2147478003" r:id="rId13"/>
    <p:sldId id="2147477976" r:id="rId14"/>
    <p:sldId id="2147477977" r:id="rId15"/>
    <p:sldId id="2147478151" r:id="rId16"/>
    <p:sldId id="2147478152" r:id="rId17"/>
    <p:sldId id="2147477980" r:id="rId18"/>
    <p:sldId id="2147478150" r:id="rId19"/>
    <p:sldId id="2147477981" r:id="rId20"/>
    <p:sldId id="2147477982" r:id="rId21"/>
    <p:sldId id="2147478149" r:id="rId22"/>
    <p:sldId id="2147478153" r:id="rId23"/>
    <p:sldId id="2147478154" r:id="rId24"/>
    <p:sldId id="2147478155" r:id="rId25"/>
    <p:sldId id="2147478156" r:id="rId26"/>
    <p:sldId id="2147478157" r:id="rId27"/>
    <p:sldId id="2147478158" r:id="rId28"/>
    <p:sldId id="2147478159" r:id="rId29"/>
    <p:sldId id="2147478160" r:id="rId30"/>
    <p:sldId id="2147478161" r:id="rId31"/>
    <p:sldId id="2147478162" r:id="rId32"/>
    <p:sldId id="2147478163" r:id="rId33"/>
    <p:sldId id="2147478164" r:id="rId34"/>
    <p:sldId id="2147478165" r:id="rId35"/>
    <p:sldId id="2147478166" r:id="rId36"/>
    <p:sldId id="2147478167" r:id="rId37"/>
    <p:sldId id="2147478168" r:id="rId38"/>
    <p:sldId id="2147478169" r:id="rId39"/>
    <p:sldId id="2147478170" r:id="rId40"/>
    <p:sldId id="2147478171" r:id="rId41"/>
    <p:sldId id="2147478172" r:id="rId42"/>
    <p:sldId id="2147478173" r:id="rId43"/>
    <p:sldId id="2147478174" r:id="rId44"/>
    <p:sldId id="2147478175" r:id="rId45"/>
    <p:sldId id="2147478176" r:id="rId46"/>
    <p:sldId id="2147478177" r:id="rId47"/>
    <p:sldId id="2147478178" r:id="rId48"/>
    <p:sldId id="2147478179" r:id="rId49"/>
    <p:sldId id="2147478180" r:id="rId50"/>
    <p:sldId id="2147478181" r:id="rId51"/>
    <p:sldId id="2147478182" r:id="rId52"/>
    <p:sldId id="2147478183" r:id="rId53"/>
    <p:sldId id="2147478184" r:id="rId54"/>
    <p:sldId id="2147478185" r:id="rId55"/>
    <p:sldId id="2147478186" r:id="rId56"/>
    <p:sldId id="2147478187" r:id="rId57"/>
    <p:sldId id="2147478188" r:id="rId58"/>
    <p:sldId id="2147478189" r:id="rId59"/>
    <p:sldId id="2147478190" r:id="rId60"/>
    <p:sldId id="2147478191" r:id="rId61"/>
    <p:sldId id="2147478192" r:id="rId62"/>
    <p:sldId id="2147478193" r:id="rId63"/>
    <p:sldId id="2147478194" r:id="rId64"/>
    <p:sldId id="2147478195" r:id="rId65"/>
    <p:sldId id="2147478196" r:id="rId66"/>
    <p:sldId id="2147478197" r:id="rId67"/>
    <p:sldId id="2147478198" r:id="rId68"/>
    <p:sldId id="2147478199" r:id="rId69"/>
    <p:sldId id="2147478200" r:id="rId70"/>
    <p:sldId id="2147478201" r:id="rId71"/>
    <p:sldId id="2147478202" r:id="rId72"/>
    <p:sldId id="2147478203" r:id="rId73"/>
    <p:sldId id="2147478204" r:id="rId74"/>
    <p:sldId id="2147478205" r:id="rId75"/>
    <p:sldId id="2147478206" r:id="rId76"/>
    <p:sldId id="2147478207" r:id="rId77"/>
    <p:sldId id="2147478208" r:id="rId78"/>
    <p:sldId id="2147478209" r:id="rId79"/>
    <p:sldId id="2147478210" r:id="rId80"/>
    <p:sldId id="2147478211" r:id="rId81"/>
    <p:sldId id="2147478212" r:id="rId82"/>
    <p:sldId id="2147478213" r:id="rId83"/>
    <p:sldId id="2147478214" r:id="rId84"/>
    <p:sldId id="2147478215" r:id="rId85"/>
    <p:sldId id="2147478216" r:id="rId86"/>
    <p:sldId id="2147478217" r:id="rId87"/>
    <p:sldId id="2147478218" r:id="rId88"/>
    <p:sldId id="2147478219" r:id="rId89"/>
    <p:sldId id="2147478220" r:id="rId90"/>
    <p:sldId id="2147478221" r:id="rId91"/>
    <p:sldId id="2147478222" r:id="rId92"/>
    <p:sldId id="2147478223" r:id="rId93"/>
    <p:sldId id="2147478224" r:id="rId94"/>
    <p:sldId id="2147478225" r:id="rId95"/>
    <p:sldId id="2147478226" r:id="rId96"/>
    <p:sldId id="2147478227" r:id="rId97"/>
    <p:sldId id="2147478228" r:id="rId98"/>
    <p:sldId id="2147478229" r:id="rId99"/>
    <p:sldId id="2147478230" r:id="rId100"/>
    <p:sldId id="2147478231" r:id="rId101"/>
    <p:sldId id="2147478232" r:id="rId102"/>
    <p:sldId id="2147478233" r:id="rId103"/>
    <p:sldId id="2147478234" r:id="rId104"/>
    <p:sldId id="2147478235" r:id="rId105"/>
    <p:sldId id="2147478236" r:id="rId106"/>
    <p:sldId id="2147478237" r:id="rId107"/>
    <p:sldId id="2147478238" r:id="rId108"/>
    <p:sldId id="2147478239" r:id="rId109"/>
    <p:sldId id="2147478240" r:id="rId110"/>
    <p:sldId id="2147478241" r:id="rId111"/>
    <p:sldId id="2147478242" r:id="rId112"/>
    <p:sldId id="2147478243" r:id="rId113"/>
    <p:sldId id="2147478244" r:id="rId114"/>
    <p:sldId id="2147478245" r:id="rId115"/>
    <p:sldId id="2147478246" r:id="rId116"/>
    <p:sldId id="2147478247" r:id="rId117"/>
    <p:sldId id="2147478248" r:id="rId118"/>
    <p:sldId id="2147478249" r:id="rId119"/>
    <p:sldId id="2147478250" r:id="rId120"/>
    <p:sldId id="2147478251" r:id="rId121"/>
    <p:sldId id="2147478252" r:id="rId122"/>
    <p:sldId id="2147478253" r:id="rId123"/>
    <p:sldId id="2147478254" r:id="rId124"/>
    <p:sldId id="2147478255" r:id="rId125"/>
    <p:sldId id="2147478256" r:id="rId126"/>
    <p:sldId id="2147478257" r:id="rId127"/>
    <p:sldId id="2147478258" r:id="rId128"/>
    <p:sldId id="2147478259" r:id="rId129"/>
    <p:sldId id="2147478260" r:id="rId130"/>
    <p:sldId id="2147478261" r:id="rId131"/>
    <p:sldId id="2147478262" r:id="rId132"/>
    <p:sldId id="2147478263" r:id="rId133"/>
    <p:sldId id="2147478264" r:id="rId134"/>
    <p:sldId id="2147478265" r:id="rId135"/>
    <p:sldId id="2147478266" r:id="rId136"/>
    <p:sldId id="2147478267" r:id="rId137"/>
    <p:sldId id="2147478268" r:id="rId138"/>
    <p:sldId id="2147478269" r:id="rId139"/>
    <p:sldId id="2147478270" r:id="rId140"/>
    <p:sldId id="2147478271" r:id="rId141"/>
    <p:sldId id="2147478272" r:id="rId142"/>
    <p:sldId id="2147478273" r:id="rId143"/>
    <p:sldId id="2147478274" r:id="rId144"/>
    <p:sldId id="2147478275" r:id="rId145"/>
    <p:sldId id="2147478276" r:id="rId146"/>
    <p:sldId id="2147478277" r:id="rId147"/>
    <p:sldId id="2147478278" r:id="rId148"/>
    <p:sldId id="2147478279" r:id="rId149"/>
    <p:sldId id="2147478280" r:id="rId150"/>
    <p:sldId id="2147478281" r:id="rId151"/>
    <p:sldId id="2147478282" r:id="rId152"/>
    <p:sldId id="2147478283" r:id="rId153"/>
    <p:sldId id="2147478284" r:id="rId154"/>
    <p:sldId id="2147478285" r:id="rId155"/>
    <p:sldId id="2147478286" r:id="rId156"/>
    <p:sldId id="2147478287" r:id="rId157"/>
    <p:sldId id="2147478288" r:id="rId158"/>
    <p:sldId id="2147478289" r:id="rId159"/>
    <p:sldId id="2147478290" r:id="rId160"/>
    <p:sldId id="2147478291" r:id="rId161"/>
    <p:sldId id="2147478292" r:id="rId162"/>
    <p:sldId id="2147478293" r:id="rId163"/>
    <p:sldId id="2147478294" r:id="rId164"/>
    <p:sldId id="2147478295" r:id="rId165"/>
    <p:sldId id="2147478296" r:id="rId166"/>
    <p:sldId id="2147478297" r:id="rId167"/>
    <p:sldId id="2147478298" r:id="rId168"/>
    <p:sldId id="2147478299" r:id="rId169"/>
    <p:sldId id="2147478300" r:id="rId170"/>
    <p:sldId id="2147478301" r:id="rId171"/>
    <p:sldId id="2147478302" r:id="rId172"/>
    <p:sldId id="2147478303" r:id="rId173"/>
    <p:sldId id="2147478304" r:id="rId174"/>
    <p:sldId id="2147478305" r:id="rId175"/>
    <p:sldId id="2147478306" r:id="rId176"/>
    <p:sldId id="2147478307" r:id="rId177"/>
    <p:sldId id="2147478308" r:id="rId178"/>
    <p:sldId id="2147478309" r:id="rId179"/>
    <p:sldId id="2147478310" r:id="rId180"/>
    <p:sldId id="2147478311" r:id="rId181"/>
    <p:sldId id="2147478312" r:id="rId182"/>
    <p:sldId id="2147478313" r:id="rId183"/>
    <p:sldId id="2147478314" r:id="rId184"/>
    <p:sldId id="2147478315" r:id="rId185"/>
    <p:sldId id="2147478316" r:id="rId186"/>
    <p:sldId id="2147478317" r:id="rId187"/>
    <p:sldId id="2147478318" r:id="rId188"/>
    <p:sldId id="2147478319" r:id="rId189"/>
    <p:sldId id="2147478320" r:id="rId190"/>
    <p:sldId id="2147478321" r:id="rId191"/>
    <p:sldId id="2147478322" r:id="rId192"/>
    <p:sldId id="2147478323" r:id="rId193"/>
    <p:sldId id="2147478324" r:id="rId194"/>
    <p:sldId id="2147478325" r:id="rId195"/>
    <p:sldId id="2147478326" r:id="rId196"/>
    <p:sldId id="2147478327" r:id="rId197"/>
    <p:sldId id="2147478328" r:id="rId198"/>
    <p:sldId id="2147478329" r:id="rId199"/>
    <p:sldId id="2147478330" r:id="rId200"/>
    <p:sldId id="2147478331" r:id="rId201"/>
    <p:sldId id="2147478332" r:id="rId202"/>
    <p:sldId id="2147478333" r:id="rId203"/>
    <p:sldId id="2147478334" r:id="rId204"/>
    <p:sldId id="2147478335" r:id="rId205"/>
    <p:sldId id="2147478336" r:id="rId206"/>
    <p:sldId id="2147478337" r:id="rId207"/>
    <p:sldId id="2147478338" r:id="rId208"/>
  </p:sldIdLst>
  <p:sldSz cx="9906000" cy="6858000" type="A4"/>
  <p:notesSz cx="6808788" cy="9940925"/>
  <p:defaultTextStyle>
    <a:defPPr>
      <a:defRPr lang="ko-KR"/>
    </a:defPPr>
    <a:lvl1pPr algn="l" rtl="0" fontAlgn="base">
      <a:spcBef>
        <a:spcPct val="50000"/>
      </a:spcBef>
      <a:spcAft>
        <a:spcPct val="0"/>
      </a:spcAft>
      <a:defRPr kumimoji="1" sz="1400" kern="1200">
        <a:solidFill>
          <a:schemeClr val="tx1"/>
        </a:solidFill>
        <a:latin typeface="Arial" charset="0"/>
        <a:ea typeface="가는각진제목체" pitchFamily="18" charset="-127"/>
        <a:cs typeface="+mn-cs"/>
      </a:defRPr>
    </a:lvl1pPr>
    <a:lvl2pPr marL="457200" algn="l" rtl="0" fontAlgn="base">
      <a:spcBef>
        <a:spcPct val="50000"/>
      </a:spcBef>
      <a:spcAft>
        <a:spcPct val="0"/>
      </a:spcAft>
      <a:defRPr kumimoji="1" sz="1400" kern="1200">
        <a:solidFill>
          <a:schemeClr val="tx1"/>
        </a:solidFill>
        <a:latin typeface="Arial" charset="0"/>
        <a:ea typeface="가는각진제목체" pitchFamily="18" charset="-127"/>
        <a:cs typeface="+mn-cs"/>
      </a:defRPr>
    </a:lvl2pPr>
    <a:lvl3pPr marL="914400" algn="l" rtl="0" fontAlgn="base">
      <a:spcBef>
        <a:spcPct val="50000"/>
      </a:spcBef>
      <a:spcAft>
        <a:spcPct val="0"/>
      </a:spcAft>
      <a:defRPr kumimoji="1" sz="1400" kern="1200">
        <a:solidFill>
          <a:schemeClr val="tx1"/>
        </a:solidFill>
        <a:latin typeface="Arial" charset="0"/>
        <a:ea typeface="가는각진제목체" pitchFamily="18" charset="-127"/>
        <a:cs typeface="+mn-cs"/>
      </a:defRPr>
    </a:lvl3pPr>
    <a:lvl4pPr marL="1371600" algn="l" rtl="0" fontAlgn="base">
      <a:spcBef>
        <a:spcPct val="50000"/>
      </a:spcBef>
      <a:spcAft>
        <a:spcPct val="0"/>
      </a:spcAft>
      <a:defRPr kumimoji="1" sz="1400" kern="1200">
        <a:solidFill>
          <a:schemeClr val="tx1"/>
        </a:solidFill>
        <a:latin typeface="Arial" charset="0"/>
        <a:ea typeface="가는각진제목체" pitchFamily="18" charset="-127"/>
        <a:cs typeface="+mn-cs"/>
      </a:defRPr>
    </a:lvl4pPr>
    <a:lvl5pPr marL="1828800" algn="l" rtl="0" fontAlgn="base">
      <a:spcBef>
        <a:spcPct val="50000"/>
      </a:spcBef>
      <a:spcAft>
        <a:spcPct val="0"/>
      </a:spcAft>
      <a:defRPr kumimoji="1" sz="1400" kern="1200">
        <a:solidFill>
          <a:schemeClr val="tx1"/>
        </a:solidFill>
        <a:latin typeface="Arial" charset="0"/>
        <a:ea typeface="가는각진제목체" pitchFamily="18" charset="-127"/>
        <a:cs typeface="+mn-cs"/>
      </a:defRPr>
    </a:lvl5pPr>
    <a:lvl6pPr marL="2286000" algn="l" defTabSz="914400" rtl="0" eaLnBrk="1" latinLnBrk="1" hangingPunct="1">
      <a:defRPr kumimoji="1" sz="1400" kern="1200">
        <a:solidFill>
          <a:schemeClr val="tx1"/>
        </a:solidFill>
        <a:latin typeface="Arial" charset="0"/>
        <a:ea typeface="가는각진제목체" pitchFamily="18" charset="-127"/>
        <a:cs typeface="+mn-cs"/>
      </a:defRPr>
    </a:lvl6pPr>
    <a:lvl7pPr marL="2743200" algn="l" defTabSz="914400" rtl="0" eaLnBrk="1" latinLnBrk="1" hangingPunct="1">
      <a:defRPr kumimoji="1" sz="1400" kern="1200">
        <a:solidFill>
          <a:schemeClr val="tx1"/>
        </a:solidFill>
        <a:latin typeface="Arial" charset="0"/>
        <a:ea typeface="가는각진제목체" pitchFamily="18" charset="-127"/>
        <a:cs typeface="+mn-cs"/>
      </a:defRPr>
    </a:lvl7pPr>
    <a:lvl8pPr marL="3200400" algn="l" defTabSz="914400" rtl="0" eaLnBrk="1" latinLnBrk="1" hangingPunct="1">
      <a:defRPr kumimoji="1" sz="1400" kern="1200">
        <a:solidFill>
          <a:schemeClr val="tx1"/>
        </a:solidFill>
        <a:latin typeface="Arial" charset="0"/>
        <a:ea typeface="가는각진제목체" pitchFamily="18" charset="-127"/>
        <a:cs typeface="+mn-cs"/>
      </a:defRPr>
    </a:lvl8pPr>
    <a:lvl9pPr marL="3657600" algn="l" defTabSz="914400" rtl="0" eaLnBrk="1" latinLnBrk="1" hangingPunct="1">
      <a:defRPr kumimoji="1" sz="1400" kern="1200">
        <a:solidFill>
          <a:schemeClr val="tx1"/>
        </a:solidFill>
        <a:latin typeface="Arial" charset="0"/>
        <a:ea typeface="가는각진제목체" pitchFamily="18" charset="-127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기본구역" id="{0F7A1FF9-A2C2-4847-969B-CE40A078927A}">
          <p14:sldIdLst>
            <p14:sldId id="2147478145"/>
            <p14:sldId id="2147478146"/>
          </p14:sldIdLst>
        </p14:section>
        <p14:section name="상시감사" id="{CE11089C-2DD5-4FD9-8847-3B0DB789EE13}">
          <p14:sldIdLst>
            <p14:sldId id="2147477969"/>
            <p14:sldId id="2147477970"/>
            <p14:sldId id="2147477971"/>
            <p14:sldId id="2147477972"/>
            <p14:sldId id="2147477973"/>
            <p14:sldId id="2147478003"/>
            <p14:sldId id="2147477976"/>
            <p14:sldId id="2147477977"/>
            <p14:sldId id="2147478151"/>
            <p14:sldId id="2147478152"/>
            <p14:sldId id="2147477980"/>
            <p14:sldId id="2147478150"/>
            <p14:sldId id="2147477981"/>
            <p14:sldId id="2147477982"/>
            <p14:sldId id="2147478149"/>
            <p14:sldId id="2147478153"/>
          </p14:sldIdLst>
        </p14:section>
        <p14:section name="영업감사" id="{4BE2576F-04CD-421C-8BE3-0F292FEB43D4}">
          <p14:sldIdLst>
            <p14:sldId id="2147478154"/>
            <p14:sldId id="2147478155"/>
            <p14:sldId id="2147478156"/>
            <p14:sldId id="2147478157"/>
            <p14:sldId id="2147478158"/>
            <p14:sldId id="2147478159"/>
            <p14:sldId id="2147478160"/>
            <p14:sldId id="2147478161"/>
            <p14:sldId id="2147478162"/>
            <p14:sldId id="2147478163"/>
            <p14:sldId id="2147478164"/>
            <p14:sldId id="2147478165"/>
            <p14:sldId id="2147478166"/>
            <p14:sldId id="2147478167"/>
            <p14:sldId id="2147478168"/>
            <p14:sldId id="2147478169"/>
            <p14:sldId id="2147478170"/>
            <p14:sldId id="2147478171"/>
            <p14:sldId id="2147478172"/>
            <p14:sldId id="2147478173"/>
            <p14:sldId id="2147478174"/>
            <p14:sldId id="2147478175"/>
            <p14:sldId id="2147478176"/>
            <p14:sldId id="2147478177"/>
            <p14:sldId id="2147478178"/>
            <p14:sldId id="2147478179"/>
            <p14:sldId id="2147478180"/>
            <p14:sldId id="2147478181"/>
            <p14:sldId id="2147478182"/>
            <p14:sldId id="2147478183"/>
            <p14:sldId id="2147478184"/>
            <p14:sldId id="2147478185"/>
            <p14:sldId id="2147478186"/>
            <p14:sldId id="2147478187"/>
            <p14:sldId id="2147478188"/>
            <p14:sldId id="2147478189"/>
            <p14:sldId id="2147478190"/>
            <p14:sldId id="2147478191"/>
            <p14:sldId id="2147478192"/>
            <p14:sldId id="2147478193"/>
            <p14:sldId id="2147478194"/>
          </p14:sldIdLst>
        </p14:section>
        <p14:section name="본부감사" id="{DC7D75A7-925F-4E0C-B870-F303C96BDE5E}">
          <p14:sldIdLst>
            <p14:sldId id="2147478195"/>
            <p14:sldId id="2147478196"/>
            <p14:sldId id="2147478197"/>
            <p14:sldId id="2147478198"/>
            <p14:sldId id="2147478199"/>
            <p14:sldId id="2147478200"/>
            <p14:sldId id="2147478201"/>
            <p14:sldId id="2147478202"/>
            <p14:sldId id="2147478203"/>
            <p14:sldId id="2147478204"/>
            <p14:sldId id="2147478205"/>
            <p14:sldId id="2147478206"/>
            <p14:sldId id="2147478207"/>
            <p14:sldId id="2147478208"/>
            <p14:sldId id="2147478209"/>
            <p14:sldId id="2147478210"/>
            <p14:sldId id="2147478211"/>
            <p14:sldId id="2147478212"/>
            <p14:sldId id="2147478213"/>
            <p14:sldId id="2147478214"/>
            <p14:sldId id="2147478215"/>
            <p14:sldId id="2147478216"/>
            <p14:sldId id="2147478217"/>
            <p14:sldId id="2147478218"/>
            <p14:sldId id="2147478219"/>
            <p14:sldId id="2147478220"/>
            <p14:sldId id="2147478221"/>
            <p14:sldId id="2147478222"/>
            <p14:sldId id="2147478223"/>
            <p14:sldId id="2147478224"/>
            <p14:sldId id="2147478225"/>
            <p14:sldId id="2147478226"/>
            <p14:sldId id="2147478227"/>
            <p14:sldId id="2147478228"/>
            <p14:sldId id="2147478229"/>
            <p14:sldId id="2147478230"/>
            <p14:sldId id="2147478231"/>
            <p14:sldId id="2147478232"/>
            <p14:sldId id="2147478233"/>
            <p14:sldId id="2147478234"/>
            <p14:sldId id="2147478235"/>
            <p14:sldId id="2147478236"/>
            <p14:sldId id="2147478237"/>
            <p14:sldId id="2147478238"/>
            <p14:sldId id="2147478239"/>
            <p14:sldId id="2147478240"/>
            <p14:sldId id="2147478241"/>
            <p14:sldId id="2147478242"/>
            <p14:sldId id="2147478243"/>
            <p14:sldId id="2147478244"/>
            <p14:sldId id="2147478245"/>
            <p14:sldId id="2147478246"/>
            <p14:sldId id="2147478247"/>
            <p14:sldId id="2147478248"/>
            <p14:sldId id="2147478249"/>
            <p14:sldId id="2147478250"/>
            <p14:sldId id="2147478251"/>
            <p14:sldId id="2147478252"/>
            <p14:sldId id="2147478253"/>
            <p14:sldId id="2147478254"/>
            <p14:sldId id="2147478255"/>
            <p14:sldId id="2147478256"/>
            <p14:sldId id="2147478257"/>
            <p14:sldId id="2147478258"/>
            <p14:sldId id="2147478259"/>
            <p14:sldId id="2147478260"/>
            <p14:sldId id="2147478261"/>
            <p14:sldId id="2147478262"/>
          </p14:sldIdLst>
        </p14:section>
        <p14:section name="일상감사" id="{1692A064-5396-47B9-88D4-A0DD14714A73}">
          <p14:sldIdLst>
            <p14:sldId id="2147478263"/>
            <p14:sldId id="2147478264"/>
            <p14:sldId id="2147478265"/>
            <p14:sldId id="2147478266"/>
            <p14:sldId id="2147478267"/>
            <p14:sldId id="2147478268"/>
            <p14:sldId id="2147478269"/>
          </p14:sldIdLst>
        </p14:section>
        <p14:section name="심의조사" id="{B6442E9A-55BC-44D1-BF7F-62C57CAE51CB}">
          <p14:sldIdLst>
            <p14:sldId id="2147478270"/>
            <p14:sldId id="2147478271"/>
            <p14:sldId id="2147478272"/>
            <p14:sldId id="2147478273"/>
            <p14:sldId id="2147478274"/>
            <p14:sldId id="2147478275"/>
            <p14:sldId id="2147478276"/>
            <p14:sldId id="2147478277"/>
            <p14:sldId id="2147478278"/>
            <p14:sldId id="2147478279"/>
            <p14:sldId id="2147478280"/>
            <p14:sldId id="2147478281"/>
            <p14:sldId id="2147478282"/>
            <p14:sldId id="2147478283"/>
            <p14:sldId id="2147478284"/>
            <p14:sldId id="2147478285"/>
            <p14:sldId id="2147478286"/>
            <p14:sldId id="2147478287"/>
            <p14:sldId id="2147478288"/>
            <p14:sldId id="2147478289"/>
          </p14:sldIdLst>
        </p14:section>
        <p14:section name="감사지원" id="{F6BE7103-B0B4-4060-B89D-4C60F1436E21}">
          <p14:sldIdLst>
            <p14:sldId id="2147478290"/>
            <p14:sldId id="2147478291"/>
            <p14:sldId id="2147478292"/>
            <p14:sldId id="2147478293"/>
            <p14:sldId id="2147478294"/>
            <p14:sldId id="2147478295"/>
            <p14:sldId id="2147478296"/>
            <p14:sldId id="2147478297"/>
            <p14:sldId id="2147478298"/>
            <p14:sldId id="2147478299"/>
            <p14:sldId id="2147478300"/>
            <p14:sldId id="2147478301"/>
            <p14:sldId id="2147478302"/>
            <p14:sldId id="2147478303"/>
            <p14:sldId id="2147478304"/>
            <p14:sldId id="2147478305"/>
            <p14:sldId id="2147478306"/>
            <p14:sldId id="2147478307"/>
            <p14:sldId id="2147478308"/>
            <p14:sldId id="2147478309"/>
            <p14:sldId id="2147478310"/>
            <p14:sldId id="2147478311"/>
            <p14:sldId id="2147478312"/>
            <p14:sldId id="2147478313"/>
            <p14:sldId id="2147478314"/>
            <p14:sldId id="2147478315"/>
            <p14:sldId id="2147478316"/>
            <p14:sldId id="2147478317"/>
            <p14:sldId id="2147478318"/>
            <p14:sldId id="2147478319"/>
            <p14:sldId id="2147478320"/>
            <p14:sldId id="2147478321"/>
            <p14:sldId id="2147478322"/>
            <p14:sldId id="2147478323"/>
            <p14:sldId id="2147478324"/>
            <p14:sldId id="2147478325"/>
            <p14:sldId id="2147478326"/>
          </p14:sldIdLst>
        </p14:section>
        <p14:section name="감사마트" id="{DA583395-0443-4366-9AF5-4E88C12B7C9D}">
          <p14:sldIdLst>
            <p14:sldId id="2147478327"/>
            <p14:sldId id="2147478328"/>
            <p14:sldId id="2147478329"/>
            <p14:sldId id="2147478330"/>
            <p14:sldId id="2147478331"/>
            <p14:sldId id="2147478332"/>
            <p14:sldId id="2147478333"/>
            <p14:sldId id="2147478334"/>
            <p14:sldId id="2147478335"/>
            <p14:sldId id="2147478336"/>
            <p14:sldId id="2147478337"/>
            <p14:sldId id="2147478338"/>
          </p14:sldIdLst>
        </p14:section>
      </p14:sectionLst>
    </p:ext>
    <p:ext uri="{EFAFB233-063F-42B5-8137-9DF3F51BA10A}">
      <p15:sldGuideLst xmlns:p15="http://schemas.microsoft.com/office/powerpoint/2012/main">
        <p15:guide id="6" pos="3097" userDrawn="1">
          <p15:clr>
            <a:srgbClr val="A4A3A4"/>
          </p15:clr>
        </p15:guide>
        <p15:guide id="12" pos="3007" userDrawn="1">
          <p15:clr>
            <a:srgbClr val="A4A3A4"/>
          </p15:clr>
        </p15:guide>
        <p15:guide id="25" orient="horz" pos="1684" userDrawn="1">
          <p15:clr>
            <a:srgbClr val="A4A3A4"/>
          </p15:clr>
        </p15:guide>
        <p15:guide id="26" pos="3188" userDrawn="1">
          <p15:clr>
            <a:srgbClr val="A4A3A4"/>
          </p15:clr>
        </p15:guide>
        <p15:guide id="29" orient="horz" pos="572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30" userDrawn="1">
          <p15:clr>
            <a:srgbClr val="A4A3A4"/>
          </p15:clr>
        </p15:guide>
        <p15:guide id="2" pos="2145" userDrawn="1">
          <p15:clr>
            <a:srgbClr val="A4A3A4"/>
          </p15:clr>
        </p15:guide>
      </p15:notes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Tae Kyung Jung" initials="TKJ" lastIdx="1" clrIdx="0">
    <p:extLst>
      <p:ext uri="{19B8F6BF-5375-455C-9EA6-DF929625EA0E}">
        <p15:presenceInfo xmlns:p15="http://schemas.microsoft.com/office/powerpoint/2012/main" userId="S::taekyungjung@kr.kpmg.com::a67d93a5-8e5b-4368-9d2c-b3335b30cd3c" providerId="AD"/>
      </p:ext>
    </p:extLst>
  </p:cmAuthor>
  <p:cmAuthor id="2" name="Administrator" initials="A" lastIdx="1" clrIdx="1">
    <p:extLst>
      <p:ext uri="{19B8F6BF-5375-455C-9EA6-DF929625EA0E}">
        <p15:presenceInfo xmlns:p15="http://schemas.microsoft.com/office/powerpoint/2012/main" userId="Administrator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FFFF"/>
    <a:srgbClr val="2272FF"/>
    <a:srgbClr val="D9D9D9"/>
    <a:srgbClr val="755500"/>
    <a:srgbClr val="FFC000"/>
    <a:srgbClr val="F1A600"/>
    <a:srgbClr val="FFFFCC"/>
    <a:srgbClr val="FFF0C8"/>
    <a:srgbClr val="FFBF0D"/>
    <a:srgbClr val="00A3A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517D220C-4B45-4025-9516-1F6454511FEF}" v="141" dt="2023-12-18T08:53:52.883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793D81CF-94F2-401A-BA57-92F5A7B2D0C5}" styleName="보통 스타일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Row>
  </a:tblStyle>
  <a:tblStyle styleId="{5940675A-B579-460E-94D1-54222C63F5DA}" styleName="스타일 없음, 표 눈금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073A0DAA-6AF3-43AB-8588-CEC1D06C72B9}" styleName="보통 스타일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2D5ABB26-0587-4C30-8999-92F81FD0307C}" styleName="스타일 없음, 눈금 없음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1442" autoAdjust="0"/>
    <p:restoredTop sz="96391" autoAdjust="0"/>
  </p:normalViewPr>
  <p:slideViewPr>
    <p:cSldViewPr snapToGrid="0">
      <p:cViewPr varScale="1">
        <p:scale>
          <a:sx n="112" d="100"/>
          <a:sy n="112" d="100"/>
        </p:scale>
        <p:origin x="1476" y="96"/>
      </p:cViewPr>
      <p:guideLst>
        <p:guide pos="3097"/>
        <p:guide pos="3007"/>
        <p:guide orient="horz" pos="1684"/>
        <p:guide pos="3188"/>
        <p:guide orient="horz" pos="572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notesViewPr>
    <p:cSldViewPr snapToGrid="0">
      <p:cViewPr>
        <p:scale>
          <a:sx n="75" d="100"/>
          <a:sy n="75" d="100"/>
        </p:scale>
        <p:origin x="4104" y="240"/>
      </p:cViewPr>
      <p:guideLst>
        <p:guide orient="horz" pos="3130"/>
        <p:guide pos="2145"/>
      </p:guideLst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2.xml"/><Relationship Id="rId21" Type="http://schemas.openxmlformats.org/officeDocument/2006/relationships/slide" Target="slides/slide16.xml"/><Relationship Id="rId42" Type="http://schemas.openxmlformats.org/officeDocument/2006/relationships/slide" Target="slides/slide37.xml"/><Relationship Id="rId63" Type="http://schemas.openxmlformats.org/officeDocument/2006/relationships/slide" Target="slides/slide58.xml"/><Relationship Id="rId84" Type="http://schemas.openxmlformats.org/officeDocument/2006/relationships/slide" Target="slides/slide79.xml"/><Relationship Id="rId138" Type="http://schemas.openxmlformats.org/officeDocument/2006/relationships/slide" Target="slides/slide133.xml"/><Relationship Id="rId159" Type="http://schemas.openxmlformats.org/officeDocument/2006/relationships/slide" Target="slides/slide154.xml"/><Relationship Id="rId170" Type="http://schemas.openxmlformats.org/officeDocument/2006/relationships/slide" Target="slides/slide165.xml"/><Relationship Id="rId191" Type="http://schemas.openxmlformats.org/officeDocument/2006/relationships/slide" Target="slides/slide186.xml"/><Relationship Id="rId205" Type="http://schemas.openxmlformats.org/officeDocument/2006/relationships/slide" Target="slides/slide200.xml"/><Relationship Id="rId107" Type="http://schemas.openxmlformats.org/officeDocument/2006/relationships/slide" Target="slides/slide102.xml"/><Relationship Id="rId11" Type="http://schemas.openxmlformats.org/officeDocument/2006/relationships/slide" Target="slides/slide6.xml"/><Relationship Id="rId32" Type="http://schemas.openxmlformats.org/officeDocument/2006/relationships/slide" Target="slides/slide27.xml"/><Relationship Id="rId53" Type="http://schemas.openxmlformats.org/officeDocument/2006/relationships/slide" Target="slides/slide48.xml"/><Relationship Id="rId74" Type="http://schemas.openxmlformats.org/officeDocument/2006/relationships/slide" Target="slides/slide69.xml"/><Relationship Id="rId128" Type="http://schemas.openxmlformats.org/officeDocument/2006/relationships/slide" Target="slides/slide123.xml"/><Relationship Id="rId149" Type="http://schemas.openxmlformats.org/officeDocument/2006/relationships/slide" Target="slides/slide144.xml"/><Relationship Id="rId5" Type="http://schemas.openxmlformats.org/officeDocument/2006/relationships/slideMaster" Target="slideMasters/slideMaster2.xml"/><Relationship Id="rId90" Type="http://schemas.openxmlformats.org/officeDocument/2006/relationships/slide" Target="slides/slide85.xml"/><Relationship Id="rId95" Type="http://schemas.openxmlformats.org/officeDocument/2006/relationships/slide" Target="slides/slide90.xml"/><Relationship Id="rId160" Type="http://schemas.openxmlformats.org/officeDocument/2006/relationships/slide" Target="slides/slide155.xml"/><Relationship Id="rId165" Type="http://schemas.openxmlformats.org/officeDocument/2006/relationships/slide" Target="slides/slide160.xml"/><Relationship Id="rId181" Type="http://schemas.openxmlformats.org/officeDocument/2006/relationships/slide" Target="slides/slide176.xml"/><Relationship Id="rId186" Type="http://schemas.openxmlformats.org/officeDocument/2006/relationships/slide" Target="slides/slide181.xml"/><Relationship Id="rId216" Type="http://schemas.microsoft.com/office/2016/11/relationships/changesInfo" Target="changesInfos/changesInfo1.xml"/><Relationship Id="rId211" Type="http://schemas.openxmlformats.org/officeDocument/2006/relationships/commentAuthors" Target="commentAuthors.xml"/><Relationship Id="rId22" Type="http://schemas.openxmlformats.org/officeDocument/2006/relationships/slide" Target="slides/slide17.xml"/><Relationship Id="rId27" Type="http://schemas.openxmlformats.org/officeDocument/2006/relationships/slide" Target="slides/slide22.xml"/><Relationship Id="rId43" Type="http://schemas.openxmlformats.org/officeDocument/2006/relationships/slide" Target="slides/slide38.xml"/><Relationship Id="rId48" Type="http://schemas.openxmlformats.org/officeDocument/2006/relationships/slide" Target="slides/slide43.xml"/><Relationship Id="rId64" Type="http://schemas.openxmlformats.org/officeDocument/2006/relationships/slide" Target="slides/slide59.xml"/><Relationship Id="rId69" Type="http://schemas.openxmlformats.org/officeDocument/2006/relationships/slide" Target="slides/slide64.xml"/><Relationship Id="rId113" Type="http://schemas.openxmlformats.org/officeDocument/2006/relationships/slide" Target="slides/slide108.xml"/><Relationship Id="rId118" Type="http://schemas.openxmlformats.org/officeDocument/2006/relationships/slide" Target="slides/slide113.xml"/><Relationship Id="rId134" Type="http://schemas.openxmlformats.org/officeDocument/2006/relationships/slide" Target="slides/slide129.xml"/><Relationship Id="rId139" Type="http://schemas.openxmlformats.org/officeDocument/2006/relationships/slide" Target="slides/slide134.xml"/><Relationship Id="rId80" Type="http://schemas.openxmlformats.org/officeDocument/2006/relationships/slide" Target="slides/slide75.xml"/><Relationship Id="rId85" Type="http://schemas.openxmlformats.org/officeDocument/2006/relationships/slide" Target="slides/slide80.xml"/><Relationship Id="rId150" Type="http://schemas.openxmlformats.org/officeDocument/2006/relationships/slide" Target="slides/slide145.xml"/><Relationship Id="rId155" Type="http://schemas.openxmlformats.org/officeDocument/2006/relationships/slide" Target="slides/slide150.xml"/><Relationship Id="rId171" Type="http://schemas.openxmlformats.org/officeDocument/2006/relationships/slide" Target="slides/slide166.xml"/><Relationship Id="rId176" Type="http://schemas.openxmlformats.org/officeDocument/2006/relationships/slide" Target="slides/slide171.xml"/><Relationship Id="rId192" Type="http://schemas.openxmlformats.org/officeDocument/2006/relationships/slide" Target="slides/slide187.xml"/><Relationship Id="rId197" Type="http://schemas.openxmlformats.org/officeDocument/2006/relationships/slide" Target="slides/slide192.xml"/><Relationship Id="rId206" Type="http://schemas.openxmlformats.org/officeDocument/2006/relationships/slide" Target="slides/slide201.xml"/><Relationship Id="rId201" Type="http://schemas.openxmlformats.org/officeDocument/2006/relationships/slide" Target="slides/slide196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33" Type="http://schemas.openxmlformats.org/officeDocument/2006/relationships/slide" Target="slides/slide28.xml"/><Relationship Id="rId38" Type="http://schemas.openxmlformats.org/officeDocument/2006/relationships/slide" Target="slides/slide33.xml"/><Relationship Id="rId59" Type="http://schemas.openxmlformats.org/officeDocument/2006/relationships/slide" Target="slides/slide54.xml"/><Relationship Id="rId103" Type="http://schemas.openxmlformats.org/officeDocument/2006/relationships/slide" Target="slides/slide98.xml"/><Relationship Id="rId108" Type="http://schemas.openxmlformats.org/officeDocument/2006/relationships/slide" Target="slides/slide103.xml"/><Relationship Id="rId124" Type="http://schemas.openxmlformats.org/officeDocument/2006/relationships/slide" Target="slides/slide119.xml"/><Relationship Id="rId129" Type="http://schemas.openxmlformats.org/officeDocument/2006/relationships/slide" Target="slides/slide124.xml"/><Relationship Id="rId54" Type="http://schemas.openxmlformats.org/officeDocument/2006/relationships/slide" Target="slides/slide49.xml"/><Relationship Id="rId70" Type="http://schemas.openxmlformats.org/officeDocument/2006/relationships/slide" Target="slides/slide65.xml"/><Relationship Id="rId75" Type="http://schemas.openxmlformats.org/officeDocument/2006/relationships/slide" Target="slides/slide70.xml"/><Relationship Id="rId91" Type="http://schemas.openxmlformats.org/officeDocument/2006/relationships/slide" Target="slides/slide86.xml"/><Relationship Id="rId96" Type="http://schemas.openxmlformats.org/officeDocument/2006/relationships/slide" Target="slides/slide91.xml"/><Relationship Id="rId140" Type="http://schemas.openxmlformats.org/officeDocument/2006/relationships/slide" Target="slides/slide135.xml"/><Relationship Id="rId145" Type="http://schemas.openxmlformats.org/officeDocument/2006/relationships/slide" Target="slides/slide140.xml"/><Relationship Id="rId161" Type="http://schemas.openxmlformats.org/officeDocument/2006/relationships/slide" Target="slides/slide156.xml"/><Relationship Id="rId166" Type="http://schemas.openxmlformats.org/officeDocument/2006/relationships/slide" Target="slides/slide161.xml"/><Relationship Id="rId182" Type="http://schemas.openxmlformats.org/officeDocument/2006/relationships/slide" Target="slides/slide177.xml"/><Relationship Id="rId187" Type="http://schemas.openxmlformats.org/officeDocument/2006/relationships/slide" Target="slides/slide182.xml"/><Relationship Id="rId217" Type="http://schemas.microsoft.com/office/2015/10/relationships/revisionInfo" Target="revisionInfo.xml"/><Relationship Id="rId1" Type="http://schemas.openxmlformats.org/officeDocument/2006/relationships/customXml" Target="../customXml/item1.xml"/><Relationship Id="rId6" Type="http://schemas.openxmlformats.org/officeDocument/2006/relationships/slide" Target="slides/slide1.xml"/><Relationship Id="rId212" Type="http://schemas.openxmlformats.org/officeDocument/2006/relationships/presProps" Target="presProps.xml"/><Relationship Id="rId23" Type="http://schemas.openxmlformats.org/officeDocument/2006/relationships/slide" Target="slides/slide18.xml"/><Relationship Id="rId28" Type="http://schemas.openxmlformats.org/officeDocument/2006/relationships/slide" Target="slides/slide23.xml"/><Relationship Id="rId49" Type="http://schemas.openxmlformats.org/officeDocument/2006/relationships/slide" Target="slides/slide44.xml"/><Relationship Id="rId114" Type="http://schemas.openxmlformats.org/officeDocument/2006/relationships/slide" Target="slides/slide109.xml"/><Relationship Id="rId119" Type="http://schemas.openxmlformats.org/officeDocument/2006/relationships/slide" Target="slides/slide114.xml"/><Relationship Id="rId44" Type="http://schemas.openxmlformats.org/officeDocument/2006/relationships/slide" Target="slides/slide39.xml"/><Relationship Id="rId60" Type="http://schemas.openxmlformats.org/officeDocument/2006/relationships/slide" Target="slides/slide55.xml"/><Relationship Id="rId65" Type="http://schemas.openxmlformats.org/officeDocument/2006/relationships/slide" Target="slides/slide60.xml"/><Relationship Id="rId81" Type="http://schemas.openxmlformats.org/officeDocument/2006/relationships/slide" Target="slides/slide76.xml"/><Relationship Id="rId86" Type="http://schemas.openxmlformats.org/officeDocument/2006/relationships/slide" Target="slides/slide81.xml"/><Relationship Id="rId130" Type="http://schemas.openxmlformats.org/officeDocument/2006/relationships/slide" Target="slides/slide125.xml"/><Relationship Id="rId135" Type="http://schemas.openxmlformats.org/officeDocument/2006/relationships/slide" Target="slides/slide130.xml"/><Relationship Id="rId151" Type="http://schemas.openxmlformats.org/officeDocument/2006/relationships/slide" Target="slides/slide146.xml"/><Relationship Id="rId156" Type="http://schemas.openxmlformats.org/officeDocument/2006/relationships/slide" Target="slides/slide151.xml"/><Relationship Id="rId177" Type="http://schemas.openxmlformats.org/officeDocument/2006/relationships/slide" Target="slides/slide172.xml"/><Relationship Id="rId198" Type="http://schemas.openxmlformats.org/officeDocument/2006/relationships/slide" Target="slides/slide193.xml"/><Relationship Id="rId172" Type="http://schemas.openxmlformats.org/officeDocument/2006/relationships/slide" Target="slides/slide167.xml"/><Relationship Id="rId193" Type="http://schemas.openxmlformats.org/officeDocument/2006/relationships/slide" Target="slides/slide188.xml"/><Relationship Id="rId202" Type="http://schemas.openxmlformats.org/officeDocument/2006/relationships/slide" Target="slides/slide197.xml"/><Relationship Id="rId207" Type="http://schemas.openxmlformats.org/officeDocument/2006/relationships/slide" Target="slides/slide202.xml"/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39" Type="http://schemas.openxmlformats.org/officeDocument/2006/relationships/slide" Target="slides/slide34.xml"/><Relationship Id="rId109" Type="http://schemas.openxmlformats.org/officeDocument/2006/relationships/slide" Target="slides/slide104.xml"/><Relationship Id="rId34" Type="http://schemas.openxmlformats.org/officeDocument/2006/relationships/slide" Target="slides/slide29.xml"/><Relationship Id="rId50" Type="http://schemas.openxmlformats.org/officeDocument/2006/relationships/slide" Target="slides/slide45.xml"/><Relationship Id="rId55" Type="http://schemas.openxmlformats.org/officeDocument/2006/relationships/slide" Target="slides/slide50.xml"/><Relationship Id="rId76" Type="http://schemas.openxmlformats.org/officeDocument/2006/relationships/slide" Target="slides/slide71.xml"/><Relationship Id="rId97" Type="http://schemas.openxmlformats.org/officeDocument/2006/relationships/slide" Target="slides/slide92.xml"/><Relationship Id="rId104" Type="http://schemas.openxmlformats.org/officeDocument/2006/relationships/slide" Target="slides/slide99.xml"/><Relationship Id="rId120" Type="http://schemas.openxmlformats.org/officeDocument/2006/relationships/slide" Target="slides/slide115.xml"/><Relationship Id="rId125" Type="http://schemas.openxmlformats.org/officeDocument/2006/relationships/slide" Target="slides/slide120.xml"/><Relationship Id="rId141" Type="http://schemas.openxmlformats.org/officeDocument/2006/relationships/slide" Target="slides/slide136.xml"/><Relationship Id="rId146" Type="http://schemas.openxmlformats.org/officeDocument/2006/relationships/slide" Target="slides/slide141.xml"/><Relationship Id="rId167" Type="http://schemas.openxmlformats.org/officeDocument/2006/relationships/slide" Target="slides/slide162.xml"/><Relationship Id="rId188" Type="http://schemas.openxmlformats.org/officeDocument/2006/relationships/slide" Target="slides/slide183.xml"/><Relationship Id="rId7" Type="http://schemas.openxmlformats.org/officeDocument/2006/relationships/slide" Target="slides/slide2.xml"/><Relationship Id="rId71" Type="http://schemas.openxmlformats.org/officeDocument/2006/relationships/slide" Target="slides/slide66.xml"/><Relationship Id="rId92" Type="http://schemas.openxmlformats.org/officeDocument/2006/relationships/slide" Target="slides/slide87.xml"/><Relationship Id="rId162" Type="http://schemas.openxmlformats.org/officeDocument/2006/relationships/slide" Target="slides/slide157.xml"/><Relationship Id="rId183" Type="http://schemas.openxmlformats.org/officeDocument/2006/relationships/slide" Target="slides/slide178.xml"/><Relationship Id="rId213" Type="http://schemas.openxmlformats.org/officeDocument/2006/relationships/viewProps" Target="viewProps.xml"/><Relationship Id="rId2" Type="http://schemas.openxmlformats.org/officeDocument/2006/relationships/customXml" Target="../customXml/item2.xml"/><Relationship Id="rId29" Type="http://schemas.openxmlformats.org/officeDocument/2006/relationships/slide" Target="slides/slide24.xml"/><Relationship Id="rId24" Type="http://schemas.openxmlformats.org/officeDocument/2006/relationships/slide" Target="slides/slide19.xml"/><Relationship Id="rId40" Type="http://schemas.openxmlformats.org/officeDocument/2006/relationships/slide" Target="slides/slide35.xml"/><Relationship Id="rId45" Type="http://schemas.openxmlformats.org/officeDocument/2006/relationships/slide" Target="slides/slide40.xml"/><Relationship Id="rId66" Type="http://schemas.openxmlformats.org/officeDocument/2006/relationships/slide" Target="slides/slide61.xml"/><Relationship Id="rId87" Type="http://schemas.openxmlformats.org/officeDocument/2006/relationships/slide" Target="slides/slide82.xml"/><Relationship Id="rId110" Type="http://schemas.openxmlformats.org/officeDocument/2006/relationships/slide" Target="slides/slide105.xml"/><Relationship Id="rId115" Type="http://schemas.openxmlformats.org/officeDocument/2006/relationships/slide" Target="slides/slide110.xml"/><Relationship Id="rId131" Type="http://schemas.openxmlformats.org/officeDocument/2006/relationships/slide" Target="slides/slide126.xml"/><Relationship Id="rId136" Type="http://schemas.openxmlformats.org/officeDocument/2006/relationships/slide" Target="slides/slide131.xml"/><Relationship Id="rId157" Type="http://schemas.openxmlformats.org/officeDocument/2006/relationships/slide" Target="slides/slide152.xml"/><Relationship Id="rId178" Type="http://schemas.openxmlformats.org/officeDocument/2006/relationships/slide" Target="slides/slide173.xml"/><Relationship Id="rId61" Type="http://schemas.openxmlformats.org/officeDocument/2006/relationships/slide" Target="slides/slide56.xml"/><Relationship Id="rId82" Type="http://schemas.openxmlformats.org/officeDocument/2006/relationships/slide" Target="slides/slide77.xml"/><Relationship Id="rId152" Type="http://schemas.openxmlformats.org/officeDocument/2006/relationships/slide" Target="slides/slide147.xml"/><Relationship Id="rId173" Type="http://schemas.openxmlformats.org/officeDocument/2006/relationships/slide" Target="slides/slide168.xml"/><Relationship Id="rId194" Type="http://schemas.openxmlformats.org/officeDocument/2006/relationships/slide" Target="slides/slide189.xml"/><Relationship Id="rId199" Type="http://schemas.openxmlformats.org/officeDocument/2006/relationships/slide" Target="slides/slide194.xml"/><Relationship Id="rId203" Type="http://schemas.openxmlformats.org/officeDocument/2006/relationships/slide" Target="slides/slide198.xml"/><Relationship Id="rId208" Type="http://schemas.openxmlformats.org/officeDocument/2006/relationships/slide" Target="slides/slide203.xml"/><Relationship Id="rId19" Type="http://schemas.openxmlformats.org/officeDocument/2006/relationships/slide" Target="slides/slide14.xml"/><Relationship Id="rId14" Type="http://schemas.openxmlformats.org/officeDocument/2006/relationships/slide" Target="slides/slide9.xml"/><Relationship Id="rId30" Type="http://schemas.openxmlformats.org/officeDocument/2006/relationships/slide" Target="slides/slide25.xml"/><Relationship Id="rId35" Type="http://schemas.openxmlformats.org/officeDocument/2006/relationships/slide" Target="slides/slide30.xml"/><Relationship Id="rId56" Type="http://schemas.openxmlformats.org/officeDocument/2006/relationships/slide" Target="slides/slide51.xml"/><Relationship Id="rId77" Type="http://schemas.openxmlformats.org/officeDocument/2006/relationships/slide" Target="slides/slide72.xml"/><Relationship Id="rId100" Type="http://schemas.openxmlformats.org/officeDocument/2006/relationships/slide" Target="slides/slide95.xml"/><Relationship Id="rId105" Type="http://schemas.openxmlformats.org/officeDocument/2006/relationships/slide" Target="slides/slide100.xml"/><Relationship Id="rId126" Type="http://schemas.openxmlformats.org/officeDocument/2006/relationships/slide" Target="slides/slide121.xml"/><Relationship Id="rId147" Type="http://schemas.openxmlformats.org/officeDocument/2006/relationships/slide" Target="slides/slide142.xml"/><Relationship Id="rId168" Type="http://schemas.openxmlformats.org/officeDocument/2006/relationships/slide" Target="slides/slide163.xml"/><Relationship Id="rId8" Type="http://schemas.openxmlformats.org/officeDocument/2006/relationships/slide" Target="slides/slide3.xml"/><Relationship Id="rId51" Type="http://schemas.openxmlformats.org/officeDocument/2006/relationships/slide" Target="slides/slide46.xml"/><Relationship Id="rId72" Type="http://schemas.openxmlformats.org/officeDocument/2006/relationships/slide" Target="slides/slide67.xml"/><Relationship Id="rId93" Type="http://schemas.openxmlformats.org/officeDocument/2006/relationships/slide" Target="slides/slide88.xml"/><Relationship Id="rId98" Type="http://schemas.openxmlformats.org/officeDocument/2006/relationships/slide" Target="slides/slide93.xml"/><Relationship Id="rId121" Type="http://schemas.openxmlformats.org/officeDocument/2006/relationships/slide" Target="slides/slide116.xml"/><Relationship Id="rId142" Type="http://schemas.openxmlformats.org/officeDocument/2006/relationships/slide" Target="slides/slide137.xml"/><Relationship Id="rId163" Type="http://schemas.openxmlformats.org/officeDocument/2006/relationships/slide" Target="slides/slide158.xml"/><Relationship Id="rId184" Type="http://schemas.openxmlformats.org/officeDocument/2006/relationships/slide" Target="slides/slide179.xml"/><Relationship Id="rId189" Type="http://schemas.openxmlformats.org/officeDocument/2006/relationships/slide" Target="slides/slide184.xml"/><Relationship Id="rId3" Type="http://schemas.openxmlformats.org/officeDocument/2006/relationships/customXml" Target="../customXml/item3.xml"/><Relationship Id="rId214" Type="http://schemas.openxmlformats.org/officeDocument/2006/relationships/theme" Target="theme/theme1.xml"/><Relationship Id="rId25" Type="http://schemas.openxmlformats.org/officeDocument/2006/relationships/slide" Target="slides/slide20.xml"/><Relationship Id="rId46" Type="http://schemas.openxmlformats.org/officeDocument/2006/relationships/slide" Target="slides/slide41.xml"/><Relationship Id="rId67" Type="http://schemas.openxmlformats.org/officeDocument/2006/relationships/slide" Target="slides/slide62.xml"/><Relationship Id="rId116" Type="http://schemas.openxmlformats.org/officeDocument/2006/relationships/slide" Target="slides/slide111.xml"/><Relationship Id="rId137" Type="http://schemas.openxmlformats.org/officeDocument/2006/relationships/slide" Target="slides/slide132.xml"/><Relationship Id="rId158" Type="http://schemas.openxmlformats.org/officeDocument/2006/relationships/slide" Target="slides/slide153.xml"/><Relationship Id="rId20" Type="http://schemas.openxmlformats.org/officeDocument/2006/relationships/slide" Target="slides/slide15.xml"/><Relationship Id="rId41" Type="http://schemas.openxmlformats.org/officeDocument/2006/relationships/slide" Target="slides/slide36.xml"/><Relationship Id="rId62" Type="http://schemas.openxmlformats.org/officeDocument/2006/relationships/slide" Target="slides/slide57.xml"/><Relationship Id="rId83" Type="http://schemas.openxmlformats.org/officeDocument/2006/relationships/slide" Target="slides/slide78.xml"/><Relationship Id="rId88" Type="http://schemas.openxmlformats.org/officeDocument/2006/relationships/slide" Target="slides/slide83.xml"/><Relationship Id="rId111" Type="http://schemas.openxmlformats.org/officeDocument/2006/relationships/slide" Target="slides/slide106.xml"/><Relationship Id="rId132" Type="http://schemas.openxmlformats.org/officeDocument/2006/relationships/slide" Target="slides/slide127.xml"/><Relationship Id="rId153" Type="http://schemas.openxmlformats.org/officeDocument/2006/relationships/slide" Target="slides/slide148.xml"/><Relationship Id="rId174" Type="http://schemas.openxmlformats.org/officeDocument/2006/relationships/slide" Target="slides/slide169.xml"/><Relationship Id="rId179" Type="http://schemas.openxmlformats.org/officeDocument/2006/relationships/slide" Target="slides/slide174.xml"/><Relationship Id="rId195" Type="http://schemas.openxmlformats.org/officeDocument/2006/relationships/slide" Target="slides/slide190.xml"/><Relationship Id="rId209" Type="http://schemas.openxmlformats.org/officeDocument/2006/relationships/notesMaster" Target="notesMasters/notesMaster1.xml"/><Relationship Id="rId190" Type="http://schemas.openxmlformats.org/officeDocument/2006/relationships/slide" Target="slides/slide185.xml"/><Relationship Id="rId204" Type="http://schemas.openxmlformats.org/officeDocument/2006/relationships/slide" Target="slides/slide199.xml"/><Relationship Id="rId15" Type="http://schemas.openxmlformats.org/officeDocument/2006/relationships/slide" Target="slides/slide10.xml"/><Relationship Id="rId36" Type="http://schemas.openxmlformats.org/officeDocument/2006/relationships/slide" Target="slides/slide31.xml"/><Relationship Id="rId57" Type="http://schemas.openxmlformats.org/officeDocument/2006/relationships/slide" Target="slides/slide52.xml"/><Relationship Id="rId106" Type="http://schemas.openxmlformats.org/officeDocument/2006/relationships/slide" Target="slides/slide101.xml"/><Relationship Id="rId127" Type="http://schemas.openxmlformats.org/officeDocument/2006/relationships/slide" Target="slides/slide122.xml"/><Relationship Id="rId10" Type="http://schemas.openxmlformats.org/officeDocument/2006/relationships/slide" Target="slides/slide5.xml"/><Relationship Id="rId31" Type="http://schemas.openxmlformats.org/officeDocument/2006/relationships/slide" Target="slides/slide26.xml"/><Relationship Id="rId52" Type="http://schemas.openxmlformats.org/officeDocument/2006/relationships/slide" Target="slides/slide47.xml"/><Relationship Id="rId73" Type="http://schemas.openxmlformats.org/officeDocument/2006/relationships/slide" Target="slides/slide68.xml"/><Relationship Id="rId78" Type="http://schemas.openxmlformats.org/officeDocument/2006/relationships/slide" Target="slides/slide73.xml"/><Relationship Id="rId94" Type="http://schemas.openxmlformats.org/officeDocument/2006/relationships/slide" Target="slides/slide89.xml"/><Relationship Id="rId99" Type="http://schemas.openxmlformats.org/officeDocument/2006/relationships/slide" Target="slides/slide94.xml"/><Relationship Id="rId101" Type="http://schemas.openxmlformats.org/officeDocument/2006/relationships/slide" Target="slides/slide96.xml"/><Relationship Id="rId122" Type="http://schemas.openxmlformats.org/officeDocument/2006/relationships/slide" Target="slides/slide117.xml"/><Relationship Id="rId143" Type="http://schemas.openxmlformats.org/officeDocument/2006/relationships/slide" Target="slides/slide138.xml"/><Relationship Id="rId148" Type="http://schemas.openxmlformats.org/officeDocument/2006/relationships/slide" Target="slides/slide143.xml"/><Relationship Id="rId164" Type="http://schemas.openxmlformats.org/officeDocument/2006/relationships/slide" Target="slides/slide159.xml"/><Relationship Id="rId169" Type="http://schemas.openxmlformats.org/officeDocument/2006/relationships/slide" Target="slides/slide164.xml"/><Relationship Id="rId185" Type="http://schemas.openxmlformats.org/officeDocument/2006/relationships/slide" Target="slides/slide180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180" Type="http://schemas.openxmlformats.org/officeDocument/2006/relationships/slide" Target="slides/slide175.xml"/><Relationship Id="rId210" Type="http://schemas.openxmlformats.org/officeDocument/2006/relationships/handoutMaster" Target="handoutMasters/handoutMaster1.xml"/><Relationship Id="rId215" Type="http://schemas.openxmlformats.org/officeDocument/2006/relationships/tableStyles" Target="tableStyles.xml"/><Relationship Id="rId26" Type="http://schemas.openxmlformats.org/officeDocument/2006/relationships/slide" Target="slides/slide21.xml"/><Relationship Id="rId47" Type="http://schemas.openxmlformats.org/officeDocument/2006/relationships/slide" Target="slides/slide42.xml"/><Relationship Id="rId68" Type="http://schemas.openxmlformats.org/officeDocument/2006/relationships/slide" Target="slides/slide63.xml"/><Relationship Id="rId89" Type="http://schemas.openxmlformats.org/officeDocument/2006/relationships/slide" Target="slides/slide84.xml"/><Relationship Id="rId112" Type="http://schemas.openxmlformats.org/officeDocument/2006/relationships/slide" Target="slides/slide107.xml"/><Relationship Id="rId133" Type="http://schemas.openxmlformats.org/officeDocument/2006/relationships/slide" Target="slides/slide128.xml"/><Relationship Id="rId154" Type="http://schemas.openxmlformats.org/officeDocument/2006/relationships/slide" Target="slides/slide149.xml"/><Relationship Id="rId175" Type="http://schemas.openxmlformats.org/officeDocument/2006/relationships/slide" Target="slides/slide170.xml"/><Relationship Id="rId196" Type="http://schemas.openxmlformats.org/officeDocument/2006/relationships/slide" Target="slides/slide191.xml"/><Relationship Id="rId200" Type="http://schemas.openxmlformats.org/officeDocument/2006/relationships/slide" Target="slides/slide195.xml"/><Relationship Id="rId16" Type="http://schemas.openxmlformats.org/officeDocument/2006/relationships/slide" Target="slides/slide11.xml"/><Relationship Id="rId37" Type="http://schemas.openxmlformats.org/officeDocument/2006/relationships/slide" Target="slides/slide32.xml"/><Relationship Id="rId58" Type="http://schemas.openxmlformats.org/officeDocument/2006/relationships/slide" Target="slides/slide53.xml"/><Relationship Id="rId79" Type="http://schemas.openxmlformats.org/officeDocument/2006/relationships/slide" Target="slides/slide74.xml"/><Relationship Id="rId102" Type="http://schemas.openxmlformats.org/officeDocument/2006/relationships/slide" Target="slides/slide97.xml"/><Relationship Id="rId123" Type="http://schemas.openxmlformats.org/officeDocument/2006/relationships/slide" Target="slides/slide118.xml"/><Relationship Id="rId144" Type="http://schemas.openxmlformats.org/officeDocument/2006/relationships/slide" Target="slides/slide139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Kim, Dong-Kyu (KR/IA)" userId="6e7f3708-565e-40b8-b64f-f7a0cc2b0746" providerId="ADAL" clId="{517D220C-4B45-4025-9516-1F6454511FEF}"/>
    <pc:docChg chg="undo redo custSel addSld delSld modSld">
      <pc:chgData name="Kim, Dong-Kyu (KR/IA)" userId="6e7f3708-565e-40b8-b64f-f7a0cc2b0746" providerId="ADAL" clId="{517D220C-4B45-4025-9516-1F6454511FEF}" dt="2023-12-18T08:53:52.883" v="1738"/>
      <pc:docMkLst>
        <pc:docMk/>
      </pc:docMkLst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3006704393" sldId="683"/>
        </pc:sldMkLst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2740503397" sldId="711"/>
        </pc:sldMkLst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973378930" sldId="721"/>
        </pc:sldMkLst>
      </pc:sldChg>
      <pc:sldChg chg="addSp delSp modSp mod setBg">
        <pc:chgData name="Kim, Dong-Kyu (KR/IA)" userId="6e7f3708-565e-40b8-b64f-f7a0cc2b0746" providerId="ADAL" clId="{517D220C-4B45-4025-9516-1F6454511FEF}" dt="2023-12-18T08:24:10.323" v="274" actId="1076"/>
        <pc:sldMkLst>
          <pc:docMk/>
          <pc:sldMk cId="3734075097" sldId="3479"/>
        </pc:sldMkLst>
        <pc:spChg chg="add del mod">
          <ac:chgData name="Kim, Dong-Kyu (KR/IA)" userId="6e7f3708-565e-40b8-b64f-f7a0cc2b0746" providerId="ADAL" clId="{517D220C-4B45-4025-9516-1F6454511FEF}" dt="2023-12-18T08:21:53.008" v="248" actId="207"/>
          <ac:spMkLst>
            <pc:docMk/>
            <pc:sldMk cId="3734075097" sldId="3479"/>
            <ac:spMk id="3" creationId="{37B56414-4249-EDB2-CC5A-BE6547C4D5CD}"/>
          </ac:spMkLst>
        </pc:spChg>
        <pc:spChg chg="add del mod">
          <ac:chgData name="Kim, Dong-Kyu (KR/IA)" userId="6e7f3708-565e-40b8-b64f-f7a0cc2b0746" providerId="ADAL" clId="{517D220C-4B45-4025-9516-1F6454511FEF}" dt="2023-12-18T08:22:24.894" v="250" actId="553"/>
          <ac:spMkLst>
            <pc:docMk/>
            <pc:sldMk cId="3734075097" sldId="3479"/>
            <ac:spMk id="4" creationId="{BEC04869-A604-D9CD-6864-8F1EFC98001C}"/>
          </ac:spMkLst>
        </pc:spChg>
        <pc:spChg chg="mod">
          <ac:chgData name="Kim, Dong-Kyu (KR/IA)" userId="6e7f3708-565e-40b8-b64f-f7a0cc2b0746" providerId="ADAL" clId="{517D220C-4B45-4025-9516-1F6454511FEF}" dt="2023-12-18T08:20:51.522" v="245" actId="1076"/>
          <ac:spMkLst>
            <pc:docMk/>
            <pc:sldMk cId="3734075097" sldId="3479"/>
            <ac:spMk id="5" creationId="{7BAF301B-1088-B8EE-B349-959F09EA8240}"/>
          </ac:spMkLst>
        </pc:spChg>
        <pc:spChg chg="mod">
          <ac:chgData name="Kim, Dong-Kyu (KR/IA)" userId="6e7f3708-565e-40b8-b64f-f7a0cc2b0746" providerId="ADAL" clId="{517D220C-4B45-4025-9516-1F6454511FEF}" dt="2023-12-18T08:24:10.323" v="274" actId="1076"/>
          <ac:spMkLst>
            <pc:docMk/>
            <pc:sldMk cId="3734075097" sldId="3479"/>
            <ac:spMk id="6" creationId="{5CA27500-9D00-4A4E-A3DC-61FA410155B4}"/>
          </ac:spMkLst>
        </pc:spChg>
        <pc:spChg chg="add del">
          <ac:chgData name="Kim, Dong-Kyu (KR/IA)" userId="6e7f3708-565e-40b8-b64f-f7a0cc2b0746" providerId="ADAL" clId="{517D220C-4B45-4025-9516-1F6454511FEF}" dt="2023-12-18T08:15:05.979" v="60" actId="22"/>
          <ac:spMkLst>
            <pc:docMk/>
            <pc:sldMk cId="3734075097" sldId="3479"/>
            <ac:spMk id="8" creationId="{EC269143-609F-3878-64D2-064EBC77E5AC}"/>
          </ac:spMkLst>
        </pc:spChg>
        <pc:spChg chg="add del">
          <ac:chgData name="Kim, Dong-Kyu (KR/IA)" userId="6e7f3708-565e-40b8-b64f-f7a0cc2b0746" providerId="ADAL" clId="{517D220C-4B45-4025-9516-1F6454511FEF}" dt="2023-12-18T08:15:07.367" v="62" actId="22"/>
          <ac:spMkLst>
            <pc:docMk/>
            <pc:sldMk cId="3734075097" sldId="3479"/>
            <ac:spMk id="10" creationId="{7671E5E0-B11E-DA4B-3D82-EF9866592EDA}"/>
          </ac:spMkLst>
        </pc:spChg>
        <pc:spChg chg="add del mod">
          <ac:chgData name="Kim, Dong-Kyu (KR/IA)" userId="6e7f3708-565e-40b8-b64f-f7a0cc2b0746" providerId="ADAL" clId="{517D220C-4B45-4025-9516-1F6454511FEF}" dt="2023-12-18T08:18:55.178" v="124" actId="478"/>
          <ac:spMkLst>
            <pc:docMk/>
            <pc:sldMk cId="3734075097" sldId="3479"/>
            <ac:spMk id="12" creationId="{F40C195B-DFC5-F720-ECDB-94DB04AF5EE1}"/>
          </ac:spMkLst>
        </pc:spChg>
        <pc:picChg chg="add del mod ord">
          <ac:chgData name="Kim, Dong-Kyu (KR/IA)" userId="6e7f3708-565e-40b8-b64f-f7a0cc2b0746" providerId="ADAL" clId="{517D220C-4B45-4025-9516-1F6454511FEF}" dt="2023-12-18T08:16:49.784" v="75" actId="478"/>
          <ac:picMkLst>
            <pc:docMk/>
            <pc:sldMk cId="3734075097" sldId="3479"/>
            <ac:picMk id="14" creationId="{F1969D8D-E740-442E-69E9-7891CE1362C3}"/>
          </ac:picMkLst>
        </pc:picChg>
        <pc:picChg chg="add del mod ord">
          <ac:chgData name="Kim, Dong-Kyu (KR/IA)" userId="6e7f3708-565e-40b8-b64f-f7a0cc2b0746" providerId="ADAL" clId="{517D220C-4B45-4025-9516-1F6454511FEF}" dt="2023-12-18T08:19:29.295" v="129" actId="478"/>
          <ac:picMkLst>
            <pc:docMk/>
            <pc:sldMk cId="3734075097" sldId="3479"/>
            <ac:picMk id="16" creationId="{767CAD60-DB08-E161-07B8-6A05F05CBC4E}"/>
          </ac:picMkLst>
        </pc:picChg>
        <pc:picChg chg="add del mod ord">
          <ac:chgData name="Kim, Dong-Kyu (KR/IA)" userId="6e7f3708-565e-40b8-b64f-f7a0cc2b0746" providerId="ADAL" clId="{517D220C-4B45-4025-9516-1F6454511FEF}" dt="2023-12-18T08:22:58.978" v="254" actId="478"/>
          <ac:picMkLst>
            <pc:docMk/>
            <pc:sldMk cId="3734075097" sldId="3479"/>
            <ac:picMk id="18" creationId="{D805DDE2-41B8-B654-4983-EBEC44DE24CE}"/>
          </ac:picMkLst>
        </pc:picChg>
        <pc:picChg chg="add del mod">
          <ac:chgData name="Kim, Dong-Kyu (KR/IA)" userId="6e7f3708-565e-40b8-b64f-f7a0cc2b0746" providerId="ADAL" clId="{517D220C-4B45-4025-9516-1F6454511FEF}" dt="2023-12-18T08:23:11.743" v="264" actId="478"/>
          <ac:picMkLst>
            <pc:docMk/>
            <pc:sldMk cId="3734075097" sldId="3479"/>
            <ac:picMk id="20" creationId="{654D471D-D11F-0309-3F65-3C3BF6BEDBC7}"/>
          </ac:picMkLst>
        </pc:picChg>
        <pc:picChg chg="add mod modCrop">
          <ac:chgData name="Kim, Dong-Kyu (KR/IA)" userId="6e7f3708-565e-40b8-b64f-f7a0cc2b0746" providerId="ADAL" clId="{517D220C-4B45-4025-9516-1F6454511FEF}" dt="2023-12-18T08:23:40.740" v="273" actId="1076"/>
          <ac:picMkLst>
            <pc:docMk/>
            <pc:sldMk cId="3734075097" sldId="3479"/>
            <ac:picMk id="22" creationId="{360E8363-FBB9-F5F8-70C8-5F6AA2053500}"/>
          </ac:picMkLst>
        </pc:picChg>
        <pc:picChg chg="del">
          <ac:chgData name="Kim, Dong-Kyu (KR/IA)" userId="6e7f3708-565e-40b8-b64f-f7a0cc2b0746" providerId="ADAL" clId="{517D220C-4B45-4025-9516-1F6454511FEF}" dt="2023-12-18T08:16:07.231" v="68" actId="478"/>
          <ac:picMkLst>
            <pc:docMk/>
            <pc:sldMk cId="3734075097" sldId="3479"/>
            <ac:picMk id="1032" creationId="{13A751AA-2448-B880-3A75-AA3FC7AADB31}"/>
          </ac:picMkLst>
        </pc:picChg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156436166" sldId="2146849070"/>
        </pc:sldMkLst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709276375" sldId="2147475883"/>
        </pc:sldMkLst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1269692747" sldId="2147475886"/>
        </pc:sldMkLst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2359331561" sldId="2147475901"/>
        </pc:sldMkLst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2933887164" sldId="2147476606"/>
        </pc:sldMkLst>
      </pc:sldChg>
      <pc:sldChg chg="del">
        <pc:chgData name="Kim, Dong-Kyu (KR/IA)" userId="6e7f3708-565e-40b8-b64f-f7a0cc2b0746" providerId="ADAL" clId="{517D220C-4B45-4025-9516-1F6454511FEF}" dt="2023-12-18T08:11:52.896" v="43" actId="2696"/>
        <pc:sldMkLst>
          <pc:docMk/>
          <pc:sldMk cId="2523505636" sldId="2147476690"/>
        </pc:sldMkLst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2558537876" sldId="2147476703"/>
        </pc:sldMkLst>
      </pc:sldChg>
      <pc:sldChg chg="modSp mod">
        <pc:chgData name="Kim, Dong-Kyu (KR/IA)" userId="6e7f3708-565e-40b8-b64f-f7a0cc2b0746" providerId="ADAL" clId="{517D220C-4B45-4025-9516-1F6454511FEF}" dt="2023-12-18T08:51:52.671" v="1736" actId="20577"/>
        <pc:sldMkLst>
          <pc:docMk/>
          <pc:sldMk cId="1555203232" sldId="2147476814"/>
        </pc:sldMkLst>
        <pc:spChg chg="mod">
          <ac:chgData name="Kim, Dong-Kyu (KR/IA)" userId="6e7f3708-565e-40b8-b64f-f7a0cc2b0746" providerId="ADAL" clId="{517D220C-4B45-4025-9516-1F6454511FEF}" dt="2023-12-18T08:51:52.671" v="1736" actId="20577"/>
          <ac:spMkLst>
            <pc:docMk/>
            <pc:sldMk cId="1555203232" sldId="2147476814"/>
            <ac:spMk id="6" creationId="{23D0ED71-899B-5709-DCA0-49547302A9E4}"/>
          </ac:spMkLst>
        </pc:spChg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3434919542" sldId="2147476844"/>
        </pc:sldMkLst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2837607139" sldId="2147476931"/>
        </pc:sldMkLst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988243311" sldId="2147476932"/>
        </pc:sldMkLst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1367463360" sldId="2147476936"/>
        </pc:sldMkLst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1623487380" sldId="2147476963"/>
        </pc:sldMkLst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3868712702" sldId="2147476978"/>
        </pc:sldMkLst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3703365105" sldId="2147476979"/>
        </pc:sldMkLst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1902548062" sldId="2147476982"/>
        </pc:sldMkLst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1452449081" sldId="2147477001"/>
        </pc:sldMkLst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300333994" sldId="2147477011"/>
        </pc:sldMkLst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1639569048" sldId="2147477038"/>
        </pc:sldMkLst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3550344784" sldId="2147477040"/>
        </pc:sldMkLst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1274930077" sldId="2147477046"/>
        </pc:sldMkLst>
      </pc:sldChg>
      <pc:sldChg chg="delSp modSp mod">
        <pc:chgData name="Kim, Dong-Kyu (KR/IA)" userId="6e7f3708-565e-40b8-b64f-f7a0cc2b0746" providerId="ADAL" clId="{517D220C-4B45-4025-9516-1F6454511FEF}" dt="2023-12-18T08:35:07.195" v="571" actId="20577"/>
        <pc:sldMkLst>
          <pc:docMk/>
          <pc:sldMk cId="1301067441" sldId="2147477053"/>
        </pc:sldMkLst>
        <pc:spChg chg="del">
          <ac:chgData name="Kim, Dong-Kyu (KR/IA)" userId="6e7f3708-565e-40b8-b64f-f7a0cc2b0746" providerId="ADAL" clId="{517D220C-4B45-4025-9516-1F6454511FEF}" dt="2023-12-18T08:11:56.299" v="44" actId="478"/>
          <ac:spMkLst>
            <pc:docMk/>
            <pc:sldMk cId="1301067441" sldId="2147477053"/>
            <ac:spMk id="2" creationId="{F5370CA9-BC26-D24F-797A-845805B46CEA}"/>
          </ac:spMkLst>
        </pc:spChg>
        <pc:spChg chg="del">
          <ac:chgData name="Kim, Dong-Kyu (KR/IA)" userId="6e7f3708-565e-40b8-b64f-f7a0cc2b0746" providerId="ADAL" clId="{517D220C-4B45-4025-9516-1F6454511FEF}" dt="2023-12-18T08:11:56.299" v="44" actId="478"/>
          <ac:spMkLst>
            <pc:docMk/>
            <pc:sldMk cId="1301067441" sldId="2147477053"/>
            <ac:spMk id="3" creationId="{4586B1B5-E372-0587-C4A1-4691211E1834}"/>
          </ac:spMkLst>
        </pc:spChg>
        <pc:spChg chg="del">
          <ac:chgData name="Kim, Dong-Kyu (KR/IA)" userId="6e7f3708-565e-40b8-b64f-f7a0cc2b0746" providerId="ADAL" clId="{517D220C-4B45-4025-9516-1F6454511FEF}" dt="2023-12-18T08:11:56.299" v="44" actId="478"/>
          <ac:spMkLst>
            <pc:docMk/>
            <pc:sldMk cId="1301067441" sldId="2147477053"/>
            <ac:spMk id="4" creationId="{1DF77A1B-1A46-93C8-0522-EFBA17303D6D}"/>
          </ac:spMkLst>
        </pc:spChg>
        <pc:spChg chg="mod">
          <ac:chgData name="Kim, Dong-Kyu (KR/IA)" userId="6e7f3708-565e-40b8-b64f-f7a0cc2b0746" providerId="ADAL" clId="{517D220C-4B45-4025-9516-1F6454511FEF}" dt="2023-12-18T08:34:54.486" v="527" actId="20577"/>
          <ac:spMkLst>
            <pc:docMk/>
            <pc:sldMk cId="1301067441" sldId="2147477053"/>
            <ac:spMk id="5" creationId="{33242B2C-7956-4A94-5F03-B2F844027D77}"/>
          </ac:spMkLst>
        </pc:spChg>
        <pc:spChg chg="mod">
          <ac:chgData name="Kim, Dong-Kyu (KR/IA)" userId="6e7f3708-565e-40b8-b64f-f7a0cc2b0746" providerId="ADAL" clId="{517D220C-4B45-4025-9516-1F6454511FEF}" dt="2023-12-18T08:35:07.195" v="571" actId="20577"/>
          <ac:spMkLst>
            <pc:docMk/>
            <pc:sldMk cId="1301067441" sldId="2147477053"/>
            <ac:spMk id="6" creationId="{1F517FD0-BFA5-1E48-EAED-F2B536016D9C}"/>
          </ac:spMkLst>
        </pc:spChg>
        <pc:spChg chg="del">
          <ac:chgData name="Kim, Dong-Kyu (KR/IA)" userId="6e7f3708-565e-40b8-b64f-f7a0cc2b0746" providerId="ADAL" clId="{517D220C-4B45-4025-9516-1F6454511FEF}" dt="2023-12-18T08:11:56.299" v="44" actId="478"/>
          <ac:spMkLst>
            <pc:docMk/>
            <pc:sldMk cId="1301067441" sldId="2147477053"/>
            <ac:spMk id="7" creationId="{ED6E1FD1-B276-B595-CED3-A79AF8A89560}"/>
          </ac:spMkLst>
        </pc:spChg>
        <pc:spChg chg="del">
          <ac:chgData name="Kim, Dong-Kyu (KR/IA)" userId="6e7f3708-565e-40b8-b64f-f7a0cc2b0746" providerId="ADAL" clId="{517D220C-4B45-4025-9516-1F6454511FEF}" dt="2023-12-18T08:11:56.299" v="44" actId="478"/>
          <ac:spMkLst>
            <pc:docMk/>
            <pc:sldMk cId="1301067441" sldId="2147477053"/>
            <ac:spMk id="8" creationId="{C89391B4-1B55-7B36-D8B1-2D62561369EB}"/>
          </ac:spMkLst>
        </pc:spChg>
        <pc:spChg chg="del">
          <ac:chgData name="Kim, Dong-Kyu (KR/IA)" userId="6e7f3708-565e-40b8-b64f-f7a0cc2b0746" providerId="ADAL" clId="{517D220C-4B45-4025-9516-1F6454511FEF}" dt="2023-12-18T08:11:56.299" v="44" actId="478"/>
          <ac:spMkLst>
            <pc:docMk/>
            <pc:sldMk cId="1301067441" sldId="2147477053"/>
            <ac:spMk id="9" creationId="{6F48612D-CFC3-A286-4092-23487FCF96D5}"/>
          </ac:spMkLst>
        </pc:spChg>
        <pc:spChg chg="mod">
          <ac:chgData name="Kim, Dong-Kyu (KR/IA)" userId="6e7f3708-565e-40b8-b64f-f7a0cc2b0746" providerId="ADAL" clId="{517D220C-4B45-4025-9516-1F6454511FEF}" dt="2023-12-18T08:34:11.613" v="507"/>
          <ac:spMkLst>
            <pc:docMk/>
            <pc:sldMk cId="1301067441" sldId="2147477053"/>
            <ac:spMk id="10" creationId="{A67F4C72-5A6E-C59A-2F1C-1B3512D93A10}"/>
          </ac:spMkLst>
        </pc:spChg>
        <pc:spChg chg="del">
          <ac:chgData name="Kim, Dong-Kyu (KR/IA)" userId="6e7f3708-565e-40b8-b64f-f7a0cc2b0746" providerId="ADAL" clId="{517D220C-4B45-4025-9516-1F6454511FEF}" dt="2023-12-18T08:11:56.299" v="44" actId="478"/>
          <ac:spMkLst>
            <pc:docMk/>
            <pc:sldMk cId="1301067441" sldId="2147477053"/>
            <ac:spMk id="12" creationId="{3729E6B6-35EF-B47C-B4D3-A3E4D480B536}"/>
          </ac:spMkLst>
        </pc:spChg>
        <pc:spChg chg="del">
          <ac:chgData name="Kim, Dong-Kyu (KR/IA)" userId="6e7f3708-565e-40b8-b64f-f7a0cc2b0746" providerId="ADAL" clId="{517D220C-4B45-4025-9516-1F6454511FEF}" dt="2023-12-18T08:11:56.299" v="44" actId="478"/>
          <ac:spMkLst>
            <pc:docMk/>
            <pc:sldMk cId="1301067441" sldId="2147477053"/>
            <ac:spMk id="13" creationId="{A6596247-2A16-7C78-268A-BEA6BB702773}"/>
          </ac:spMkLst>
        </pc:spChg>
        <pc:spChg chg="del">
          <ac:chgData name="Kim, Dong-Kyu (KR/IA)" userId="6e7f3708-565e-40b8-b64f-f7a0cc2b0746" providerId="ADAL" clId="{517D220C-4B45-4025-9516-1F6454511FEF}" dt="2023-12-18T08:11:56.299" v="44" actId="478"/>
          <ac:spMkLst>
            <pc:docMk/>
            <pc:sldMk cId="1301067441" sldId="2147477053"/>
            <ac:spMk id="14" creationId="{D5B8FC26-EFC9-B7C2-580D-C798FF1E911B}"/>
          </ac:spMkLst>
        </pc:spChg>
        <pc:spChg chg="del">
          <ac:chgData name="Kim, Dong-Kyu (KR/IA)" userId="6e7f3708-565e-40b8-b64f-f7a0cc2b0746" providerId="ADAL" clId="{517D220C-4B45-4025-9516-1F6454511FEF}" dt="2023-12-18T08:11:56.299" v="44" actId="478"/>
          <ac:spMkLst>
            <pc:docMk/>
            <pc:sldMk cId="1301067441" sldId="2147477053"/>
            <ac:spMk id="25" creationId="{ED660216-7490-D002-4B9D-BDA0CBAE664D}"/>
          </ac:spMkLst>
        </pc:spChg>
        <pc:spChg chg="del">
          <ac:chgData name="Kim, Dong-Kyu (KR/IA)" userId="6e7f3708-565e-40b8-b64f-f7a0cc2b0746" providerId="ADAL" clId="{517D220C-4B45-4025-9516-1F6454511FEF}" dt="2023-12-18T08:11:56.299" v="44" actId="478"/>
          <ac:spMkLst>
            <pc:docMk/>
            <pc:sldMk cId="1301067441" sldId="2147477053"/>
            <ac:spMk id="26" creationId="{7A344821-AB19-A471-FAFE-4A346E6EB406}"/>
          </ac:spMkLst>
        </pc:spChg>
        <pc:spChg chg="del">
          <ac:chgData name="Kim, Dong-Kyu (KR/IA)" userId="6e7f3708-565e-40b8-b64f-f7a0cc2b0746" providerId="ADAL" clId="{517D220C-4B45-4025-9516-1F6454511FEF}" dt="2023-12-18T08:11:56.299" v="44" actId="478"/>
          <ac:spMkLst>
            <pc:docMk/>
            <pc:sldMk cId="1301067441" sldId="2147477053"/>
            <ac:spMk id="27" creationId="{BF3BA82E-0A6F-6E8E-1B13-A47E66BE6D39}"/>
          </ac:spMkLst>
        </pc:spChg>
        <pc:spChg chg="del">
          <ac:chgData name="Kim, Dong-Kyu (KR/IA)" userId="6e7f3708-565e-40b8-b64f-f7a0cc2b0746" providerId="ADAL" clId="{517D220C-4B45-4025-9516-1F6454511FEF}" dt="2023-12-18T08:11:56.299" v="44" actId="478"/>
          <ac:spMkLst>
            <pc:docMk/>
            <pc:sldMk cId="1301067441" sldId="2147477053"/>
            <ac:spMk id="29" creationId="{9C6B8888-B49A-9883-D569-D5BABB9AF684}"/>
          </ac:spMkLst>
        </pc:spChg>
        <pc:spChg chg="mod">
          <ac:chgData name="Kim, Dong-Kyu (KR/IA)" userId="6e7f3708-565e-40b8-b64f-f7a0cc2b0746" providerId="ADAL" clId="{517D220C-4B45-4025-9516-1F6454511FEF}" dt="2023-12-18T08:12:01.422" v="55" actId="20577"/>
          <ac:spMkLst>
            <pc:docMk/>
            <pc:sldMk cId="1301067441" sldId="2147477053"/>
            <ac:spMk id="32" creationId="{5C483DF7-1D24-6F4F-5694-43A65A68ACB5}"/>
          </ac:spMkLst>
        </pc:spChg>
        <pc:picChg chg="del">
          <ac:chgData name="Kim, Dong-Kyu (KR/IA)" userId="6e7f3708-565e-40b8-b64f-f7a0cc2b0746" providerId="ADAL" clId="{517D220C-4B45-4025-9516-1F6454511FEF}" dt="2023-12-18T08:11:56.299" v="44" actId="478"/>
          <ac:picMkLst>
            <pc:docMk/>
            <pc:sldMk cId="1301067441" sldId="2147477053"/>
            <ac:picMk id="15" creationId="{6A5569FC-7CEC-0AE5-F345-62A5C6E03A73}"/>
          </ac:picMkLst>
        </pc:picChg>
        <pc:picChg chg="del">
          <ac:chgData name="Kim, Dong-Kyu (KR/IA)" userId="6e7f3708-565e-40b8-b64f-f7a0cc2b0746" providerId="ADAL" clId="{517D220C-4B45-4025-9516-1F6454511FEF}" dt="2023-12-18T08:11:56.299" v="44" actId="478"/>
          <ac:picMkLst>
            <pc:docMk/>
            <pc:sldMk cId="1301067441" sldId="2147477053"/>
            <ac:picMk id="16" creationId="{D2D8B514-E6A1-E044-64BF-47A2B318A2EF}"/>
          </ac:picMkLst>
        </pc:picChg>
        <pc:picChg chg="del">
          <ac:chgData name="Kim, Dong-Kyu (KR/IA)" userId="6e7f3708-565e-40b8-b64f-f7a0cc2b0746" providerId="ADAL" clId="{517D220C-4B45-4025-9516-1F6454511FEF}" dt="2023-12-18T08:11:56.299" v="44" actId="478"/>
          <ac:picMkLst>
            <pc:docMk/>
            <pc:sldMk cId="1301067441" sldId="2147477053"/>
            <ac:picMk id="24" creationId="{B06F8425-9648-5B5E-7A2E-4D7F35753F55}"/>
          </ac:picMkLst>
        </pc:picChg>
        <pc:picChg chg="del">
          <ac:chgData name="Kim, Dong-Kyu (KR/IA)" userId="6e7f3708-565e-40b8-b64f-f7a0cc2b0746" providerId="ADAL" clId="{517D220C-4B45-4025-9516-1F6454511FEF}" dt="2023-12-18T08:11:56.299" v="44" actId="478"/>
          <ac:picMkLst>
            <pc:docMk/>
            <pc:sldMk cId="1301067441" sldId="2147477053"/>
            <ac:picMk id="28" creationId="{B3FEDB54-62E6-24CA-EA29-53E6554F8E26}"/>
          </ac:picMkLst>
        </pc:picChg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3240295117" sldId="2147477054"/>
        </pc:sldMkLst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1659846567" sldId="2147477055"/>
        </pc:sldMkLst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2601891490" sldId="2147477056"/>
        </pc:sldMkLst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4186925048" sldId="2147477059"/>
        </pc:sldMkLst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4211482637" sldId="2147477060"/>
        </pc:sldMkLst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3927810949" sldId="2147477062"/>
        </pc:sldMkLst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2743261955" sldId="2147477064"/>
        </pc:sldMkLst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3203519786" sldId="2147477070"/>
        </pc:sldMkLst>
      </pc:sldChg>
      <pc:sldChg chg="del">
        <pc:chgData name="Kim, Dong-Kyu (KR/IA)" userId="6e7f3708-565e-40b8-b64f-f7a0cc2b0746" providerId="ADAL" clId="{517D220C-4B45-4025-9516-1F6454511FEF}" dt="2023-12-18T08:11:52.896" v="43" actId="2696"/>
        <pc:sldMkLst>
          <pc:docMk/>
          <pc:sldMk cId="4049486184" sldId="2147477072"/>
        </pc:sldMkLst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1746384051" sldId="2147477079"/>
        </pc:sldMkLst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4163539704" sldId="2147477080"/>
        </pc:sldMkLst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526914609" sldId="2147477081"/>
        </pc:sldMkLst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2954609608" sldId="2147477082"/>
        </pc:sldMkLst>
      </pc:sldChg>
      <pc:sldChg chg="add del">
        <pc:chgData name="Kim, Dong-Kyu (KR/IA)" userId="6e7f3708-565e-40b8-b64f-f7a0cc2b0746" providerId="ADAL" clId="{517D220C-4B45-4025-9516-1F6454511FEF}" dt="2023-12-18T08:35:09.933" v="572" actId="2696"/>
        <pc:sldMkLst>
          <pc:docMk/>
          <pc:sldMk cId="871984479" sldId="2147477087"/>
        </pc:sldMkLst>
      </pc:sldChg>
      <pc:sldChg chg="modSp add mod">
        <pc:chgData name="Kim, Dong-Kyu (KR/IA)" userId="6e7f3708-565e-40b8-b64f-f7a0cc2b0746" providerId="ADAL" clId="{517D220C-4B45-4025-9516-1F6454511FEF}" dt="2023-12-18T08:36:02.581" v="676"/>
        <pc:sldMkLst>
          <pc:docMk/>
          <pc:sldMk cId="1791125449" sldId="2147477087"/>
        </pc:sldMkLst>
        <pc:spChg chg="mod">
          <ac:chgData name="Kim, Dong-Kyu (KR/IA)" userId="6e7f3708-565e-40b8-b64f-f7a0cc2b0746" providerId="ADAL" clId="{517D220C-4B45-4025-9516-1F6454511FEF}" dt="2023-12-18T08:35:44.909" v="614" actId="20577"/>
          <ac:spMkLst>
            <pc:docMk/>
            <pc:sldMk cId="1791125449" sldId="2147477087"/>
            <ac:spMk id="5" creationId="{33242B2C-7956-4A94-5F03-B2F844027D77}"/>
          </ac:spMkLst>
        </pc:spChg>
        <pc:spChg chg="mod">
          <ac:chgData name="Kim, Dong-Kyu (KR/IA)" userId="6e7f3708-565e-40b8-b64f-f7a0cc2b0746" providerId="ADAL" clId="{517D220C-4B45-4025-9516-1F6454511FEF}" dt="2023-12-18T08:36:02.581" v="676"/>
          <ac:spMkLst>
            <pc:docMk/>
            <pc:sldMk cId="1791125449" sldId="2147477087"/>
            <ac:spMk id="6" creationId="{1F517FD0-BFA5-1E48-EAED-F2B536016D9C}"/>
          </ac:spMkLst>
        </pc:spChg>
        <pc:spChg chg="mod">
          <ac:chgData name="Kim, Dong-Kyu (KR/IA)" userId="6e7f3708-565e-40b8-b64f-f7a0cc2b0746" providerId="ADAL" clId="{517D220C-4B45-4025-9516-1F6454511FEF}" dt="2023-12-18T08:35:36.425" v="607" actId="20577"/>
          <ac:spMkLst>
            <pc:docMk/>
            <pc:sldMk cId="1791125449" sldId="2147477087"/>
            <ac:spMk id="10" creationId="{A67F4C72-5A6E-C59A-2F1C-1B3512D93A10}"/>
          </ac:spMkLst>
        </pc:spChg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3951802750" sldId="2147477087"/>
        </pc:sldMkLst>
      </pc:sldChg>
      <pc:sldChg chg="modSp add mod">
        <pc:chgData name="Kim, Dong-Kyu (KR/IA)" userId="6e7f3708-565e-40b8-b64f-f7a0cc2b0746" providerId="ADAL" clId="{517D220C-4B45-4025-9516-1F6454511FEF}" dt="2023-12-18T08:36:37.016" v="763"/>
        <pc:sldMkLst>
          <pc:docMk/>
          <pc:sldMk cId="2276435837" sldId="2147477088"/>
        </pc:sldMkLst>
        <pc:spChg chg="mod">
          <ac:chgData name="Kim, Dong-Kyu (KR/IA)" userId="6e7f3708-565e-40b8-b64f-f7a0cc2b0746" providerId="ADAL" clId="{517D220C-4B45-4025-9516-1F6454511FEF}" dt="2023-12-18T08:36:37.016" v="763"/>
          <ac:spMkLst>
            <pc:docMk/>
            <pc:sldMk cId="2276435837" sldId="2147477088"/>
            <ac:spMk id="5" creationId="{33242B2C-7956-4A94-5F03-B2F844027D77}"/>
          </ac:spMkLst>
        </pc:spChg>
        <pc:spChg chg="mod">
          <ac:chgData name="Kim, Dong-Kyu (KR/IA)" userId="6e7f3708-565e-40b8-b64f-f7a0cc2b0746" providerId="ADAL" clId="{517D220C-4B45-4025-9516-1F6454511FEF}" dt="2023-12-18T08:36:18.632" v="726"/>
          <ac:spMkLst>
            <pc:docMk/>
            <pc:sldMk cId="2276435837" sldId="2147477088"/>
            <ac:spMk id="6" creationId="{1F517FD0-BFA5-1E48-EAED-F2B536016D9C}"/>
          </ac:spMkLst>
        </pc:spChg>
      </pc:sldChg>
      <pc:sldChg chg="del">
        <pc:chgData name="Kim, Dong-Kyu (KR/IA)" userId="6e7f3708-565e-40b8-b64f-f7a0cc2b0746" providerId="ADAL" clId="{517D220C-4B45-4025-9516-1F6454511FEF}" dt="2023-12-18T08:11:52.896" v="43" actId="2696"/>
        <pc:sldMkLst>
          <pc:docMk/>
          <pc:sldMk cId="4249422692" sldId="2147477088"/>
        </pc:sldMkLst>
      </pc:sldChg>
      <pc:sldChg chg="modSp add mod">
        <pc:chgData name="Kim, Dong-Kyu (KR/IA)" userId="6e7f3708-565e-40b8-b64f-f7a0cc2b0746" providerId="ADAL" clId="{517D220C-4B45-4025-9516-1F6454511FEF}" dt="2023-12-18T08:36:45.297" v="771" actId="20577"/>
        <pc:sldMkLst>
          <pc:docMk/>
          <pc:sldMk cId="2191350126" sldId="2147477089"/>
        </pc:sldMkLst>
        <pc:spChg chg="mod">
          <ac:chgData name="Kim, Dong-Kyu (KR/IA)" userId="6e7f3708-565e-40b8-b64f-f7a0cc2b0746" providerId="ADAL" clId="{517D220C-4B45-4025-9516-1F6454511FEF}" dt="2023-12-18T08:36:45.297" v="771" actId="20577"/>
          <ac:spMkLst>
            <pc:docMk/>
            <pc:sldMk cId="2191350126" sldId="2147477089"/>
            <ac:spMk id="5" creationId="{33242B2C-7956-4A94-5F03-B2F844027D77}"/>
          </ac:spMkLst>
        </pc:spChg>
        <pc:spChg chg="mod">
          <ac:chgData name="Kim, Dong-Kyu (KR/IA)" userId="6e7f3708-565e-40b8-b64f-f7a0cc2b0746" providerId="ADAL" clId="{517D220C-4B45-4025-9516-1F6454511FEF}" dt="2023-12-18T08:36:26.102" v="740"/>
          <ac:spMkLst>
            <pc:docMk/>
            <pc:sldMk cId="2191350126" sldId="2147477089"/>
            <ac:spMk id="6" creationId="{1F517FD0-BFA5-1E48-EAED-F2B536016D9C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53:52.883" v="1738"/>
        <pc:sldMkLst>
          <pc:docMk/>
          <pc:sldMk cId="1932920362" sldId="2147477090"/>
        </pc:sldMkLst>
        <pc:spChg chg="mod">
          <ac:chgData name="Kim, Dong-Kyu (KR/IA)" userId="6e7f3708-565e-40b8-b64f-f7a0cc2b0746" providerId="ADAL" clId="{517D220C-4B45-4025-9516-1F6454511FEF}" dt="2023-12-18T08:37:55.454" v="883" actId="1036"/>
          <ac:spMkLst>
            <pc:docMk/>
            <pc:sldMk cId="1932920362" sldId="2147477090"/>
            <ac:spMk id="4" creationId="{486ABDD8-4B2A-333B-AD5E-04AF88509D74}"/>
          </ac:spMkLst>
        </pc:spChg>
        <pc:spChg chg="mod">
          <ac:chgData name="Kim, Dong-Kyu (KR/IA)" userId="6e7f3708-565e-40b8-b64f-f7a0cc2b0746" providerId="ADAL" clId="{517D220C-4B45-4025-9516-1F6454511FEF}" dt="2023-12-18T08:53:52.883" v="1738"/>
          <ac:spMkLst>
            <pc:docMk/>
            <pc:sldMk cId="1932920362" sldId="2147477090"/>
            <ac:spMk id="6" creationId="{23D0ED71-899B-5709-DCA0-49547302A9E4}"/>
          </ac:spMkLst>
        </pc:spChg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2756752183" sldId="2147477090"/>
        </pc:sldMkLst>
      </pc:sldChg>
      <pc:sldChg chg="modSp add mod">
        <pc:chgData name="Kim, Dong-Kyu (KR/IA)" userId="6e7f3708-565e-40b8-b64f-f7a0cc2b0746" providerId="ADAL" clId="{517D220C-4B45-4025-9516-1F6454511FEF}" dt="2023-12-18T08:53:52.883" v="1738"/>
        <pc:sldMkLst>
          <pc:docMk/>
          <pc:sldMk cId="79562826" sldId="2147477091"/>
        </pc:sldMkLst>
        <pc:spChg chg="mod">
          <ac:chgData name="Kim, Dong-Kyu (KR/IA)" userId="6e7f3708-565e-40b8-b64f-f7a0cc2b0746" providerId="ADAL" clId="{517D220C-4B45-4025-9516-1F6454511FEF}" dt="2023-12-18T08:38:13.571" v="916" actId="1035"/>
          <ac:spMkLst>
            <pc:docMk/>
            <pc:sldMk cId="79562826" sldId="2147477091"/>
            <ac:spMk id="4" creationId="{486ABDD8-4B2A-333B-AD5E-04AF88509D74}"/>
          </ac:spMkLst>
        </pc:spChg>
        <pc:spChg chg="mod">
          <ac:chgData name="Kim, Dong-Kyu (KR/IA)" userId="6e7f3708-565e-40b8-b64f-f7a0cc2b0746" providerId="ADAL" clId="{517D220C-4B45-4025-9516-1F6454511FEF}" dt="2023-12-18T08:53:52.883" v="1738"/>
          <ac:spMkLst>
            <pc:docMk/>
            <pc:sldMk cId="79562826" sldId="2147477091"/>
            <ac:spMk id="6" creationId="{23D0ED71-899B-5709-DCA0-49547302A9E4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53:52.883" v="1738"/>
        <pc:sldMkLst>
          <pc:docMk/>
          <pc:sldMk cId="3465445973" sldId="2147477092"/>
        </pc:sldMkLst>
        <pc:spChg chg="mod">
          <ac:chgData name="Kim, Dong-Kyu (KR/IA)" userId="6e7f3708-565e-40b8-b64f-f7a0cc2b0746" providerId="ADAL" clId="{517D220C-4B45-4025-9516-1F6454511FEF}" dt="2023-12-18T08:38:33.236" v="939" actId="1035"/>
          <ac:spMkLst>
            <pc:docMk/>
            <pc:sldMk cId="3465445973" sldId="2147477092"/>
            <ac:spMk id="4" creationId="{486ABDD8-4B2A-333B-AD5E-04AF88509D74}"/>
          </ac:spMkLst>
        </pc:spChg>
        <pc:spChg chg="mod">
          <ac:chgData name="Kim, Dong-Kyu (KR/IA)" userId="6e7f3708-565e-40b8-b64f-f7a0cc2b0746" providerId="ADAL" clId="{517D220C-4B45-4025-9516-1F6454511FEF}" dt="2023-12-18T08:53:52.883" v="1738"/>
          <ac:spMkLst>
            <pc:docMk/>
            <pc:sldMk cId="3465445973" sldId="2147477092"/>
            <ac:spMk id="6" creationId="{23D0ED71-899B-5709-DCA0-49547302A9E4}"/>
          </ac:spMkLst>
        </pc:spChg>
      </pc:sldChg>
      <pc:sldChg chg="del">
        <pc:chgData name="Kim, Dong-Kyu (KR/IA)" userId="6e7f3708-565e-40b8-b64f-f7a0cc2b0746" providerId="ADAL" clId="{517D220C-4B45-4025-9516-1F6454511FEF}" dt="2023-12-18T08:09:03.295" v="0" actId="2696"/>
        <pc:sldMkLst>
          <pc:docMk/>
          <pc:sldMk cId="1342326993" sldId="2147477093"/>
        </pc:sldMkLst>
      </pc:sldChg>
      <pc:sldChg chg="modSp add mod">
        <pc:chgData name="Kim, Dong-Kyu (KR/IA)" userId="6e7f3708-565e-40b8-b64f-f7a0cc2b0746" providerId="ADAL" clId="{517D220C-4B45-4025-9516-1F6454511FEF}" dt="2023-12-18T08:53:52.883" v="1738"/>
        <pc:sldMkLst>
          <pc:docMk/>
          <pc:sldMk cId="3931058006" sldId="2147477093"/>
        </pc:sldMkLst>
        <pc:spChg chg="mod">
          <ac:chgData name="Kim, Dong-Kyu (KR/IA)" userId="6e7f3708-565e-40b8-b64f-f7a0cc2b0746" providerId="ADAL" clId="{517D220C-4B45-4025-9516-1F6454511FEF}" dt="2023-12-18T08:39:04.612" v="965" actId="1036"/>
          <ac:spMkLst>
            <pc:docMk/>
            <pc:sldMk cId="3931058006" sldId="2147477093"/>
            <ac:spMk id="4" creationId="{486ABDD8-4B2A-333B-AD5E-04AF88509D74}"/>
          </ac:spMkLst>
        </pc:spChg>
        <pc:spChg chg="mod">
          <ac:chgData name="Kim, Dong-Kyu (KR/IA)" userId="6e7f3708-565e-40b8-b64f-f7a0cc2b0746" providerId="ADAL" clId="{517D220C-4B45-4025-9516-1F6454511FEF}" dt="2023-12-18T08:53:52.883" v="1738"/>
          <ac:spMkLst>
            <pc:docMk/>
            <pc:sldMk cId="3931058006" sldId="2147477093"/>
            <ac:spMk id="6" creationId="{23D0ED71-899B-5709-DCA0-49547302A9E4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53:52.883" v="1738"/>
        <pc:sldMkLst>
          <pc:docMk/>
          <pc:sldMk cId="3029948763" sldId="2147477094"/>
        </pc:sldMkLst>
        <pc:spChg chg="mod">
          <ac:chgData name="Kim, Dong-Kyu (KR/IA)" userId="6e7f3708-565e-40b8-b64f-f7a0cc2b0746" providerId="ADAL" clId="{517D220C-4B45-4025-9516-1F6454511FEF}" dt="2023-12-18T08:48:44.933" v="1703" actId="1036"/>
          <ac:spMkLst>
            <pc:docMk/>
            <pc:sldMk cId="3029948763" sldId="2147477094"/>
            <ac:spMk id="4" creationId="{486ABDD8-4B2A-333B-AD5E-04AF88509D74}"/>
          </ac:spMkLst>
        </pc:spChg>
        <pc:spChg chg="mod">
          <ac:chgData name="Kim, Dong-Kyu (KR/IA)" userId="6e7f3708-565e-40b8-b64f-f7a0cc2b0746" providerId="ADAL" clId="{517D220C-4B45-4025-9516-1F6454511FEF}" dt="2023-12-18T08:53:52.883" v="1738"/>
          <ac:spMkLst>
            <pc:docMk/>
            <pc:sldMk cId="3029948763" sldId="2147477094"/>
            <ac:spMk id="6" creationId="{23D0ED71-899B-5709-DCA0-49547302A9E4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53:37.923" v="1737"/>
        <pc:sldMkLst>
          <pc:docMk/>
          <pc:sldMk cId="1121478834" sldId="2147477095"/>
        </pc:sldMkLst>
        <pc:spChg chg="mod">
          <ac:chgData name="Kim, Dong-Kyu (KR/IA)" userId="6e7f3708-565e-40b8-b64f-f7a0cc2b0746" providerId="ADAL" clId="{517D220C-4B45-4025-9516-1F6454511FEF}" dt="2023-12-18T08:39:54.672" v="1050"/>
          <ac:spMkLst>
            <pc:docMk/>
            <pc:sldMk cId="1121478834" sldId="2147477095"/>
            <ac:spMk id="5" creationId="{33242B2C-7956-4A94-5F03-B2F844027D77}"/>
          </ac:spMkLst>
        </pc:spChg>
        <pc:spChg chg="mod">
          <ac:chgData name="Kim, Dong-Kyu (KR/IA)" userId="6e7f3708-565e-40b8-b64f-f7a0cc2b0746" providerId="ADAL" clId="{517D220C-4B45-4025-9516-1F6454511FEF}" dt="2023-12-18T08:40:00.957" v="1063"/>
          <ac:spMkLst>
            <pc:docMk/>
            <pc:sldMk cId="1121478834" sldId="2147477095"/>
            <ac:spMk id="6" creationId="{1F517FD0-BFA5-1E48-EAED-F2B536016D9C}"/>
          </ac:spMkLst>
        </pc:spChg>
        <pc:spChg chg="mod">
          <ac:chgData name="Kim, Dong-Kyu (KR/IA)" userId="6e7f3708-565e-40b8-b64f-f7a0cc2b0746" providerId="ADAL" clId="{517D220C-4B45-4025-9516-1F6454511FEF}" dt="2023-12-18T08:53:37.923" v="1737"/>
          <ac:spMkLst>
            <pc:docMk/>
            <pc:sldMk cId="1121478834" sldId="2147477095"/>
            <ac:spMk id="10" creationId="{A67F4C72-5A6E-C59A-2F1C-1B3512D93A10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53:37.923" v="1737"/>
        <pc:sldMkLst>
          <pc:docMk/>
          <pc:sldMk cId="391559963" sldId="2147477096"/>
        </pc:sldMkLst>
        <pc:spChg chg="mod">
          <ac:chgData name="Kim, Dong-Kyu (KR/IA)" userId="6e7f3708-565e-40b8-b64f-f7a0cc2b0746" providerId="ADAL" clId="{517D220C-4B45-4025-9516-1F6454511FEF}" dt="2023-12-18T08:40:15.022" v="1079"/>
          <ac:spMkLst>
            <pc:docMk/>
            <pc:sldMk cId="391559963" sldId="2147477096"/>
            <ac:spMk id="6" creationId="{1F517FD0-BFA5-1E48-EAED-F2B536016D9C}"/>
          </ac:spMkLst>
        </pc:spChg>
        <pc:spChg chg="mod">
          <ac:chgData name="Kim, Dong-Kyu (KR/IA)" userId="6e7f3708-565e-40b8-b64f-f7a0cc2b0746" providerId="ADAL" clId="{517D220C-4B45-4025-9516-1F6454511FEF}" dt="2023-12-18T08:53:37.923" v="1737"/>
          <ac:spMkLst>
            <pc:docMk/>
            <pc:sldMk cId="391559963" sldId="2147477096"/>
            <ac:spMk id="10" creationId="{A67F4C72-5A6E-C59A-2F1C-1B3512D93A10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53:37.923" v="1737"/>
        <pc:sldMkLst>
          <pc:docMk/>
          <pc:sldMk cId="427087737" sldId="2147477097"/>
        </pc:sldMkLst>
        <pc:spChg chg="mod">
          <ac:chgData name="Kim, Dong-Kyu (KR/IA)" userId="6e7f3708-565e-40b8-b64f-f7a0cc2b0746" providerId="ADAL" clId="{517D220C-4B45-4025-9516-1F6454511FEF}" dt="2023-12-18T08:40:33.198" v="1144" actId="20577"/>
          <ac:spMkLst>
            <pc:docMk/>
            <pc:sldMk cId="427087737" sldId="2147477097"/>
            <ac:spMk id="5" creationId="{33242B2C-7956-4A94-5F03-B2F844027D77}"/>
          </ac:spMkLst>
        </pc:spChg>
        <pc:spChg chg="mod">
          <ac:chgData name="Kim, Dong-Kyu (KR/IA)" userId="6e7f3708-565e-40b8-b64f-f7a0cc2b0746" providerId="ADAL" clId="{517D220C-4B45-4025-9516-1F6454511FEF}" dt="2023-12-18T08:40:24.488" v="1125" actId="20577"/>
          <ac:spMkLst>
            <pc:docMk/>
            <pc:sldMk cId="427087737" sldId="2147477097"/>
            <ac:spMk id="6" creationId="{1F517FD0-BFA5-1E48-EAED-F2B536016D9C}"/>
          </ac:spMkLst>
        </pc:spChg>
        <pc:spChg chg="mod">
          <ac:chgData name="Kim, Dong-Kyu (KR/IA)" userId="6e7f3708-565e-40b8-b64f-f7a0cc2b0746" providerId="ADAL" clId="{517D220C-4B45-4025-9516-1F6454511FEF}" dt="2023-12-18T08:53:37.923" v="1737"/>
          <ac:spMkLst>
            <pc:docMk/>
            <pc:sldMk cId="427087737" sldId="2147477097"/>
            <ac:spMk id="10" creationId="{A67F4C72-5A6E-C59A-2F1C-1B3512D93A10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53:37.923" v="1737"/>
        <pc:sldMkLst>
          <pc:docMk/>
          <pc:sldMk cId="1243279913" sldId="2147477098"/>
        </pc:sldMkLst>
        <pc:spChg chg="mod">
          <ac:chgData name="Kim, Dong-Kyu (KR/IA)" userId="6e7f3708-565e-40b8-b64f-f7a0cc2b0746" providerId="ADAL" clId="{517D220C-4B45-4025-9516-1F6454511FEF}" dt="2023-12-18T08:41:01.720" v="1166" actId="20577"/>
          <ac:spMkLst>
            <pc:docMk/>
            <pc:sldMk cId="1243279913" sldId="2147477098"/>
            <ac:spMk id="5" creationId="{33242B2C-7956-4A94-5F03-B2F844027D77}"/>
          </ac:spMkLst>
        </pc:spChg>
        <pc:spChg chg="mod">
          <ac:chgData name="Kim, Dong-Kyu (KR/IA)" userId="6e7f3708-565e-40b8-b64f-f7a0cc2b0746" providerId="ADAL" clId="{517D220C-4B45-4025-9516-1F6454511FEF}" dt="2023-12-18T08:40:53.316" v="1162"/>
          <ac:spMkLst>
            <pc:docMk/>
            <pc:sldMk cId="1243279913" sldId="2147477098"/>
            <ac:spMk id="6" creationId="{1F517FD0-BFA5-1E48-EAED-F2B536016D9C}"/>
          </ac:spMkLst>
        </pc:spChg>
        <pc:spChg chg="mod">
          <ac:chgData name="Kim, Dong-Kyu (KR/IA)" userId="6e7f3708-565e-40b8-b64f-f7a0cc2b0746" providerId="ADAL" clId="{517D220C-4B45-4025-9516-1F6454511FEF}" dt="2023-12-18T08:53:37.923" v="1737"/>
          <ac:spMkLst>
            <pc:docMk/>
            <pc:sldMk cId="1243279913" sldId="2147477098"/>
            <ac:spMk id="10" creationId="{A67F4C72-5A6E-C59A-2F1C-1B3512D93A10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53:37.923" v="1737"/>
        <pc:sldMkLst>
          <pc:docMk/>
          <pc:sldMk cId="1197832167" sldId="2147477099"/>
        </pc:sldMkLst>
        <pc:spChg chg="mod">
          <ac:chgData name="Kim, Dong-Kyu (KR/IA)" userId="6e7f3708-565e-40b8-b64f-f7a0cc2b0746" providerId="ADAL" clId="{517D220C-4B45-4025-9516-1F6454511FEF}" dt="2023-12-18T08:41:19.490" v="1187"/>
          <ac:spMkLst>
            <pc:docMk/>
            <pc:sldMk cId="1197832167" sldId="2147477099"/>
            <ac:spMk id="5" creationId="{33242B2C-7956-4A94-5F03-B2F844027D77}"/>
          </ac:spMkLst>
        </pc:spChg>
        <pc:spChg chg="mod">
          <ac:chgData name="Kim, Dong-Kyu (KR/IA)" userId="6e7f3708-565e-40b8-b64f-f7a0cc2b0746" providerId="ADAL" clId="{517D220C-4B45-4025-9516-1F6454511FEF}" dt="2023-12-18T08:41:27.425" v="1223"/>
          <ac:spMkLst>
            <pc:docMk/>
            <pc:sldMk cId="1197832167" sldId="2147477099"/>
            <ac:spMk id="6" creationId="{1F517FD0-BFA5-1E48-EAED-F2B536016D9C}"/>
          </ac:spMkLst>
        </pc:spChg>
        <pc:spChg chg="mod">
          <ac:chgData name="Kim, Dong-Kyu (KR/IA)" userId="6e7f3708-565e-40b8-b64f-f7a0cc2b0746" providerId="ADAL" clId="{517D220C-4B45-4025-9516-1F6454511FEF}" dt="2023-12-18T08:53:37.923" v="1737"/>
          <ac:spMkLst>
            <pc:docMk/>
            <pc:sldMk cId="1197832167" sldId="2147477099"/>
            <ac:spMk id="10" creationId="{A67F4C72-5A6E-C59A-2F1C-1B3512D93A10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53:37.923" v="1737"/>
        <pc:sldMkLst>
          <pc:docMk/>
          <pc:sldMk cId="1494195918" sldId="2147477100"/>
        </pc:sldMkLst>
        <pc:spChg chg="mod">
          <ac:chgData name="Kim, Dong-Kyu (KR/IA)" userId="6e7f3708-565e-40b8-b64f-f7a0cc2b0746" providerId="ADAL" clId="{517D220C-4B45-4025-9516-1F6454511FEF}" dt="2023-12-18T08:41:34.201" v="1245"/>
          <ac:spMkLst>
            <pc:docMk/>
            <pc:sldMk cId="1494195918" sldId="2147477100"/>
            <ac:spMk id="6" creationId="{1F517FD0-BFA5-1E48-EAED-F2B536016D9C}"/>
          </ac:spMkLst>
        </pc:spChg>
        <pc:spChg chg="mod">
          <ac:chgData name="Kim, Dong-Kyu (KR/IA)" userId="6e7f3708-565e-40b8-b64f-f7a0cc2b0746" providerId="ADAL" clId="{517D220C-4B45-4025-9516-1F6454511FEF}" dt="2023-12-18T08:53:37.923" v="1737"/>
          <ac:spMkLst>
            <pc:docMk/>
            <pc:sldMk cId="1494195918" sldId="2147477100"/>
            <ac:spMk id="10" creationId="{A67F4C72-5A6E-C59A-2F1C-1B3512D93A10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42:13.303" v="1298" actId="20577"/>
        <pc:sldMkLst>
          <pc:docMk/>
          <pc:sldMk cId="758237072" sldId="2147477101"/>
        </pc:sldMkLst>
        <pc:spChg chg="mod">
          <ac:chgData name="Kim, Dong-Kyu (KR/IA)" userId="6e7f3708-565e-40b8-b64f-f7a0cc2b0746" providerId="ADAL" clId="{517D220C-4B45-4025-9516-1F6454511FEF}" dt="2023-12-18T08:42:11.489" v="1295" actId="20577"/>
          <ac:spMkLst>
            <pc:docMk/>
            <pc:sldMk cId="758237072" sldId="2147477101"/>
            <ac:spMk id="5" creationId="{33242B2C-7956-4A94-5F03-B2F844027D77}"/>
          </ac:spMkLst>
        </pc:spChg>
        <pc:spChg chg="mod">
          <ac:chgData name="Kim, Dong-Kyu (KR/IA)" userId="6e7f3708-565e-40b8-b64f-f7a0cc2b0746" providerId="ADAL" clId="{517D220C-4B45-4025-9516-1F6454511FEF}" dt="2023-12-18T08:42:13.303" v="1298" actId="20577"/>
          <ac:spMkLst>
            <pc:docMk/>
            <pc:sldMk cId="758237072" sldId="2147477101"/>
            <ac:spMk id="10" creationId="{A67F4C72-5A6E-C59A-2F1C-1B3512D93A10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42:24.415" v="1314"/>
        <pc:sldMkLst>
          <pc:docMk/>
          <pc:sldMk cId="4115723967" sldId="2147477102"/>
        </pc:sldMkLst>
        <pc:spChg chg="mod">
          <ac:chgData name="Kim, Dong-Kyu (KR/IA)" userId="6e7f3708-565e-40b8-b64f-f7a0cc2b0746" providerId="ADAL" clId="{517D220C-4B45-4025-9516-1F6454511FEF}" dt="2023-12-18T08:42:24.415" v="1314"/>
          <ac:spMkLst>
            <pc:docMk/>
            <pc:sldMk cId="4115723967" sldId="2147477102"/>
            <ac:spMk id="6" creationId="{1F517FD0-BFA5-1E48-EAED-F2B536016D9C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42:42.453" v="1371"/>
        <pc:sldMkLst>
          <pc:docMk/>
          <pc:sldMk cId="1505596840" sldId="2147477103"/>
        </pc:sldMkLst>
        <pc:spChg chg="mod">
          <ac:chgData name="Kim, Dong-Kyu (KR/IA)" userId="6e7f3708-565e-40b8-b64f-f7a0cc2b0746" providerId="ADAL" clId="{517D220C-4B45-4025-9516-1F6454511FEF}" dt="2023-12-18T08:42:42.453" v="1371"/>
          <ac:spMkLst>
            <pc:docMk/>
            <pc:sldMk cId="1505596840" sldId="2147477103"/>
            <ac:spMk id="5" creationId="{33242B2C-7956-4A94-5F03-B2F844027D77}"/>
          </ac:spMkLst>
        </pc:spChg>
        <pc:spChg chg="mod">
          <ac:chgData name="Kim, Dong-Kyu (KR/IA)" userId="6e7f3708-565e-40b8-b64f-f7a0cc2b0746" providerId="ADAL" clId="{517D220C-4B45-4025-9516-1F6454511FEF}" dt="2023-12-18T08:42:35.597" v="1352"/>
          <ac:spMkLst>
            <pc:docMk/>
            <pc:sldMk cId="1505596840" sldId="2147477103"/>
            <ac:spMk id="6" creationId="{1F517FD0-BFA5-1E48-EAED-F2B536016D9C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42:51.837" v="1409" actId="20577"/>
        <pc:sldMkLst>
          <pc:docMk/>
          <pc:sldMk cId="3911520950" sldId="2147477104"/>
        </pc:sldMkLst>
        <pc:spChg chg="mod">
          <ac:chgData name="Kim, Dong-Kyu (KR/IA)" userId="6e7f3708-565e-40b8-b64f-f7a0cc2b0746" providerId="ADAL" clId="{517D220C-4B45-4025-9516-1F6454511FEF}" dt="2023-12-18T08:42:51.837" v="1409" actId="20577"/>
          <ac:spMkLst>
            <pc:docMk/>
            <pc:sldMk cId="3911520950" sldId="2147477104"/>
            <ac:spMk id="6" creationId="{1F517FD0-BFA5-1E48-EAED-F2B536016D9C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43:06.025" v="1446" actId="20577"/>
        <pc:sldMkLst>
          <pc:docMk/>
          <pc:sldMk cId="1456069937" sldId="2147477105"/>
        </pc:sldMkLst>
        <pc:spChg chg="mod">
          <ac:chgData name="Kim, Dong-Kyu (KR/IA)" userId="6e7f3708-565e-40b8-b64f-f7a0cc2b0746" providerId="ADAL" clId="{517D220C-4B45-4025-9516-1F6454511FEF}" dt="2023-12-18T08:43:06.025" v="1446" actId="20577"/>
          <ac:spMkLst>
            <pc:docMk/>
            <pc:sldMk cId="1456069937" sldId="2147477105"/>
            <ac:spMk id="6" creationId="{1F517FD0-BFA5-1E48-EAED-F2B536016D9C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43:15.711" v="1464"/>
        <pc:sldMkLst>
          <pc:docMk/>
          <pc:sldMk cId="1783533602" sldId="2147477106"/>
        </pc:sldMkLst>
        <pc:spChg chg="mod">
          <ac:chgData name="Kim, Dong-Kyu (KR/IA)" userId="6e7f3708-565e-40b8-b64f-f7a0cc2b0746" providerId="ADAL" clId="{517D220C-4B45-4025-9516-1F6454511FEF}" dt="2023-12-18T08:43:15.711" v="1464"/>
          <ac:spMkLst>
            <pc:docMk/>
            <pc:sldMk cId="1783533602" sldId="2147477106"/>
            <ac:spMk id="6" creationId="{1F517FD0-BFA5-1E48-EAED-F2B536016D9C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43:21.382" v="1481"/>
        <pc:sldMkLst>
          <pc:docMk/>
          <pc:sldMk cId="3753553430" sldId="2147477107"/>
        </pc:sldMkLst>
        <pc:spChg chg="mod">
          <ac:chgData name="Kim, Dong-Kyu (KR/IA)" userId="6e7f3708-565e-40b8-b64f-f7a0cc2b0746" providerId="ADAL" clId="{517D220C-4B45-4025-9516-1F6454511FEF}" dt="2023-12-18T08:43:21.382" v="1481"/>
          <ac:spMkLst>
            <pc:docMk/>
            <pc:sldMk cId="3753553430" sldId="2147477107"/>
            <ac:spMk id="6" creationId="{1F517FD0-BFA5-1E48-EAED-F2B536016D9C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43:35.495" v="1528"/>
        <pc:sldMkLst>
          <pc:docMk/>
          <pc:sldMk cId="3793360095" sldId="2147477108"/>
        </pc:sldMkLst>
        <pc:spChg chg="mod">
          <ac:chgData name="Kim, Dong-Kyu (KR/IA)" userId="6e7f3708-565e-40b8-b64f-f7a0cc2b0746" providerId="ADAL" clId="{517D220C-4B45-4025-9516-1F6454511FEF}" dt="2023-12-18T08:43:30.056" v="1502"/>
          <ac:spMkLst>
            <pc:docMk/>
            <pc:sldMk cId="3793360095" sldId="2147477108"/>
            <ac:spMk id="5" creationId="{33242B2C-7956-4A94-5F03-B2F844027D77}"/>
          </ac:spMkLst>
        </pc:spChg>
        <pc:spChg chg="mod">
          <ac:chgData name="Kim, Dong-Kyu (KR/IA)" userId="6e7f3708-565e-40b8-b64f-f7a0cc2b0746" providerId="ADAL" clId="{517D220C-4B45-4025-9516-1F6454511FEF}" dt="2023-12-18T08:43:35.495" v="1528"/>
          <ac:spMkLst>
            <pc:docMk/>
            <pc:sldMk cId="3793360095" sldId="2147477108"/>
            <ac:spMk id="6" creationId="{1F517FD0-BFA5-1E48-EAED-F2B536016D9C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43:44.900" v="1563"/>
        <pc:sldMkLst>
          <pc:docMk/>
          <pc:sldMk cId="950230612" sldId="2147477109"/>
        </pc:sldMkLst>
        <pc:spChg chg="mod">
          <ac:chgData name="Kim, Dong-Kyu (KR/IA)" userId="6e7f3708-565e-40b8-b64f-f7a0cc2b0746" providerId="ADAL" clId="{517D220C-4B45-4025-9516-1F6454511FEF}" dt="2023-12-18T08:43:44.900" v="1563"/>
          <ac:spMkLst>
            <pc:docMk/>
            <pc:sldMk cId="950230612" sldId="2147477109"/>
            <ac:spMk id="6" creationId="{1F517FD0-BFA5-1E48-EAED-F2B536016D9C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43:54.450" v="1588" actId="20577"/>
        <pc:sldMkLst>
          <pc:docMk/>
          <pc:sldMk cId="2468302105" sldId="2147477110"/>
        </pc:sldMkLst>
        <pc:spChg chg="mod">
          <ac:chgData name="Kim, Dong-Kyu (KR/IA)" userId="6e7f3708-565e-40b8-b64f-f7a0cc2b0746" providerId="ADAL" clId="{517D220C-4B45-4025-9516-1F6454511FEF}" dt="2023-12-18T08:43:54.450" v="1588" actId="20577"/>
          <ac:spMkLst>
            <pc:docMk/>
            <pc:sldMk cId="2468302105" sldId="2147477110"/>
            <ac:spMk id="6" creationId="{1F517FD0-BFA5-1E48-EAED-F2B536016D9C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53:52.883" v="1738"/>
        <pc:sldMkLst>
          <pc:docMk/>
          <pc:sldMk cId="1269841610" sldId="2147477111"/>
        </pc:sldMkLst>
        <pc:spChg chg="mod">
          <ac:chgData name="Kim, Dong-Kyu (KR/IA)" userId="6e7f3708-565e-40b8-b64f-f7a0cc2b0746" providerId="ADAL" clId="{517D220C-4B45-4025-9516-1F6454511FEF}" dt="2023-12-18T08:53:52.883" v="1738"/>
          <ac:spMkLst>
            <pc:docMk/>
            <pc:sldMk cId="1269841610" sldId="2147477111"/>
            <ac:spMk id="10" creationId="{A67F4C72-5A6E-C59A-2F1C-1B3512D93A10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53:52.883" v="1738"/>
        <pc:sldMkLst>
          <pc:docMk/>
          <pc:sldMk cId="2212866278" sldId="2147477112"/>
        </pc:sldMkLst>
        <pc:spChg chg="mod">
          <ac:chgData name="Kim, Dong-Kyu (KR/IA)" userId="6e7f3708-565e-40b8-b64f-f7a0cc2b0746" providerId="ADAL" clId="{517D220C-4B45-4025-9516-1F6454511FEF}" dt="2023-12-18T08:53:52.883" v="1738"/>
          <ac:spMkLst>
            <pc:docMk/>
            <pc:sldMk cId="2212866278" sldId="2147477112"/>
            <ac:spMk id="10" creationId="{A67F4C72-5A6E-C59A-2F1C-1B3512D93A10}"/>
          </ac:spMkLst>
        </pc:spChg>
      </pc:sldChg>
      <pc:sldChg chg="modSp add del mod">
        <pc:chgData name="Kim, Dong-Kyu (KR/IA)" userId="6e7f3708-565e-40b8-b64f-f7a0cc2b0746" providerId="ADAL" clId="{517D220C-4B45-4025-9516-1F6454511FEF}" dt="2023-12-18T08:46:10.774" v="1609" actId="2696"/>
        <pc:sldMkLst>
          <pc:docMk/>
          <pc:sldMk cId="3295657849" sldId="2147477113"/>
        </pc:sldMkLst>
        <pc:spChg chg="mod">
          <ac:chgData name="Kim, Dong-Kyu (KR/IA)" userId="6e7f3708-565e-40b8-b64f-f7a0cc2b0746" providerId="ADAL" clId="{517D220C-4B45-4025-9516-1F6454511FEF}" dt="2023-12-18T08:46:06.242" v="1608"/>
          <ac:spMkLst>
            <pc:docMk/>
            <pc:sldMk cId="3295657849" sldId="2147477113"/>
            <ac:spMk id="10" creationId="{A67F4C72-5A6E-C59A-2F1C-1B3512D93A10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53:52.883" v="1738"/>
        <pc:sldMkLst>
          <pc:docMk/>
          <pc:sldMk cId="176541670" sldId="2147477114"/>
        </pc:sldMkLst>
        <pc:spChg chg="mod">
          <ac:chgData name="Kim, Dong-Kyu (KR/IA)" userId="6e7f3708-565e-40b8-b64f-f7a0cc2b0746" providerId="ADAL" clId="{517D220C-4B45-4025-9516-1F6454511FEF}" dt="2023-12-18T08:53:52.883" v="1738"/>
          <ac:spMkLst>
            <pc:docMk/>
            <pc:sldMk cId="176541670" sldId="2147477114"/>
            <ac:spMk id="10" creationId="{A67F4C72-5A6E-C59A-2F1C-1B3512D93A10}"/>
          </ac:spMkLst>
        </pc:spChg>
      </pc:sldChg>
      <pc:sldChg chg="add del">
        <pc:chgData name="Kim, Dong-Kyu (KR/IA)" userId="6e7f3708-565e-40b8-b64f-f7a0cc2b0746" providerId="ADAL" clId="{517D220C-4B45-4025-9516-1F6454511FEF}" dt="2023-12-18T08:46:16.635" v="1611" actId="2696"/>
        <pc:sldMkLst>
          <pc:docMk/>
          <pc:sldMk cId="766338143" sldId="2147477115"/>
        </pc:sldMkLst>
      </pc:sldChg>
      <pc:sldChg chg="modSp add mod">
        <pc:chgData name="Kim, Dong-Kyu (KR/IA)" userId="6e7f3708-565e-40b8-b64f-f7a0cc2b0746" providerId="ADAL" clId="{517D220C-4B45-4025-9516-1F6454511FEF}" dt="2023-12-18T08:53:52.883" v="1738"/>
        <pc:sldMkLst>
          <pc:docMk/>
          <pc:sldMk cId="2964393613" sldId="2147477116"/>
        </pc:sldMkLst>
        <pc:spChg chg="mod">
          <ac:chgData name="Kim, Dong-Kyu (KR/IA)" userId="6e7f3708-565e-40b8-b64f-f7a0cc2b0746" providerId="ADAL" clId="{517D220C-4B45-4025-9516-1F6454511FEF}" dt="2023-12-18T08:53:52.883" v="1738"/>
          <ac:spMkLst>
            <pc:docMk/>
            <pc:sldMk cId="2964393613" sldId="2147477116"/>
            <ac:spMk id="10" creationId="{A67F4C72-5A6E-C59A-2F1C-1B3512D93A10}"/>
          </ac:spMkLst>
        </pc:spChg>
      </pc:sldChg>
      <pc:sldChg chg="add del">
        <pc:chgData name="Kim, Dong-Kyu (KR/IA)" userId="6e7f3708-565e-40b8-b64f-f7a0cc2b0746" providerId="ADAL" clId="{517D220C-4B45-4025-9516-1F6454511FEF}" dt="2023-12-18T08:46:26.892" v="1613" actId="2696"/>
        <pc:sldMkLst>
          <pc:docMk/>
          <pc:sldMk cId="1677344334" sldId="2147477117"/>
        </pc:sldMkLst>
      </pc:sldChg>
      <pc:sldChg chg="add del">
        <pc:chgData name="Kim, Dong-Kyu (KR/IA)" userId="6e7f3708-565e-40b8-b64f-f7a0cc2b0746" providerId="ADAL" clId="{517D220C-4B45-4025-9516-1F6454511FEF}" dt="2023-12-18T08:46:36.132" v="1614" actId="2696"/>
        <pc:sldMkLst>
          <pc:docMk/>
          <pc:sldMk cId="594074167" sldId="2147477118"/>
        </pc:sldMkLst>
      </pc:sldChg>
      <pc:sldChg chg="modSp add mod">
        <pc:chgData name="Kim, Dong-Kyu (KR/IA)" userId="6e7f3708-565e-40b8-b64f-f7a0cc2b0746" providerId="ADAL" clId="{517D220C-4B45-4025-9516-1F6454511FEF}" dt="2023-12-18T08:53:52.883" v="1738"/>
        <pc:sldMkLst>
          <pc:docMk/>
          <pc:sldMk cId="1526120742" sldId="2147477119"/>
        </pc:sldMkLst>
        <pc:spChg chg="mod">
          <ac:chgData name="Kim, Dong-Kyu (KR/IA)" userId="6e7f3708-565e-40b8-b64f-f7a0cc2b0746" providerId="ADAL" clId="{517D220C-4B45-4025-9516-1F6454511FEF}" dt="2023-12-18T08:53:52.883" v="1738"/>
          <ac:spMkLst>
            <pc:docMk/>
            <pc:sldMk cId="1526120742" sldId="2147477119"/>
            <ac:spMk id="10" creationId="{A67F4C72-5A6E-C59A-2F1C-1B3512D93A10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53:52.883" v="1738"/>
        <pc:sldMkLst>
          <pc:docMk/>
          <pc:sldMk cId="1319799983" sldId="2147477120"/>
        </pc:sldMkLst>
        <pc:spChg chg="mod">
          <ac:chgData name="Kim, Dong-Kyu (KR/IA)" userId="6e7f3708-565e-40b8-b64f-f7a0cc2b0746" providerId="ADAL" clId="{517D220C-4B45-4025-9516-1F6454511FEF}" dt="2023-12-18T08:53:52.883" v="1738"/>
          <ac:spMkLst>
            <pc:docMk/>
            <pc:sldMk cId="1319799983" sldId="2147477120"/>
            <ac:spMk id="10" creationId="{A67F4C72-5A6E-C59A-2F1C-1B3512D93A10}"/>
          </ac:spMkLst>
        </pc:spChg>
      </pc:sldChg>
      <pc:sldChg chg="modSp add del mod">
        <pc:chgData name="Kim, Dong-Kyu (KR/IA)" userId="6e7f3708-565e-40b8-b64f-f7a0cc2b0746" providerId="ADAL" clId="{517D220C-4B45-4025-9516-1F6454511FEF}" dt="2023-12-18T08:47:49.330" v="1659" actId="2696"/>
        <pc:sldMkLst>
          <pc:docMk/>
          <pc:sldMk cId="1353527708" sldId="2147477121"/>
        </pc:sldMkLst>
        <pc:spChg chg="mod">
          <ac:chgData name="Kim, Dong-Kyu (KR/IA)" userId="6e7f3708-565e-40b8-b64f-f7a0cc2b0746" providerId="ADAL" clId="{517D220C-4B45-4025-9516-1F6454511FEF}" dt="2023-12-18T08:47:20.293" v="1658" actId="14100"/>
          <ac:spMkLst>
            <pc:docMk/>
            <pc:sldMk cId="1353527708" sldId="2147477121"/>
            <ac:spMk id="10" creationId="{A67F4C72-5A6E-C59A-2F1C-1B3512D93A10}"/>
          </ac:spMkLst>
        </pc:spChg>
      </pc:sldChg>
      <pc:sldChg chg="add del">
        <pc:chgData name="Kim, Dong-Kyu (KR/IA)" userId="6e7f3708-565e-40b8-b64f-f7a0cc2b0746" providerId="ADAL" clId="{517D220C-4B45-4025-9516-1F6454511FEF}" dt="2023-12-18T08:47:49.330" v="1659" actId="2696"/>
        <pc:sldMkLst>
          <pc:docMk/>
          <pc:sldMk cId="591175720" sldId="2147477122"/>
        </pc:sldMkLst>
      </pc:sldChg>
      <pc:sldChg chg="add del">
        <pc:chgData name="Kim, Dong-Kyu (KR/IA)" userId="6e7f3708-565e-40b8-b64f-f7a0cc2b0746" providerId="ADAL" clId="{517D220C-4B45-4025-9516-1F6454511FEF}" dt="2023-12-18T08:47:49.330" v="1659" actId="2696"/>
        <pc:sldMkLst>
          <pc:docMk/>
          <pc:sldMk cId="1874185210" sldId="2147477123"/>
        </pc:sldMkLst>
      </pc:sldChg>
      <pc:sldChg chg="add del">
        <pc:chgData name="Kim, Dong-Kyu (KR/IA)" userId="6e7f3708-565e-40b8-b64f-f7a0cc2b0746" providerId="ADAL" clId="{517D220C-4B45-4025-9516-1F6454511FEF}" dt="2023-12-18T08:47:49.330" v="1659" actId="2696"/>
        <pc:sldMkLst>
          <pc:docMk/>
          <pc:sldMk cId="3051445811" sldId="2147477124"/>
        </pc:sldMkLst>
      </pc:sldChg>
      <pc:sldChg chg="add del">
        <pc:chgData name="Kim, Dong-Kyu (KR/IA)" userId="6e7f3708-565e-40b8-b64f-f7a0cc2b0746" providerId="ADAL" clId="{517D220C-4B45-4025-9516-1F6454511FEF}" dt="2023-12-18T08:47:49.330" v="1659" actId="2696"/>
        <pc:sldMkLst>
          <pc:docMk/>
          <pc:sldMk cId="2220746805" sldId="2147477125"/>
        </pc:sldMkLst>
      </pc:sldChg>
      <pc:sldChg chg="add del">
        <pc:chgData name="Kim, Dong-Kyu (KR/IA)" userId="6e7f3708-565e-40b8-b64f-f7a0cc2b0746" providerId="ADAL" clId="{517D220C-4B45-4025-9516-1F6454511FEF}" dt="2023-12-18T08:47:49.330" v="1659" actId="2696"/>
        <pc:sldMkLst>
          <pc:docMk/>
          <pc:sldMk cId="4135912598" sldId="2147477126"/>
        </pc:sldMkLst>
      </pc:sldChg>
      <pc:sldChg chg="add del">
        <pc:chgData name="Kim, Dong-Kyu (KR/IA)" userId="6e7f3708-565e-40b8-b64f-f7a0cc2b0746" providerId="ADAL" clId="{517D220C-4B45-4025-9516-1F6454511FEF}" dt="2023-12-18T08:47:49.330" v="1659" actId="2696"/>
        <pc:sldMkLst>
          <pc:docMk/>
          <pc:sldMk cId="848694498" sldId="2147477127"/>
        </pc:sldMkLst>
      </pc:sldChg>
      <pc:sldChg chg="add del">
        <pc:chgData name="Kim, Dong-Kyu (KR/IA)" userId="6e7f3708-565e-40b8-b64f-f7a0cc2b0746" providerId="ADAL" clId="{517D220C-4B45-4025-9516-1F6454511FEF}" dt="2023-12-18T08:47:49.330" v="1659" actId="2696"/>
        <pc:sldMkLst>
          <pc:docMk/>
          <pc:sldMk cId="1442819238" sldId="2147477128"/>
        </pc:sldMkLst>
      </pc:sldChg>
      <pc:sldChg chg="add del">
        <pc:chgData name="Kim, Dong-Kyu (KR/IA)" userId="6e7f3708-565e-40b8-b64f-f7a0cc2b0746" providerId="ADAL" clId="{517D220C-4B45-4025-9516-1F6454511FEF}" dt="2023-12-18T08:47:49.330" v="1659" actId="2696"/>
        <pc:sldMkLst>
          <pc:docMk/>
          <pc:sldMk cId="3207970647" sldId="2147477129"/>
        </pc:sldMkLst>
      </pc:sldChg>
      <pc:sldChg chg="add del">
        <pc:chgData name="Kim, Dong-Kyu (KR/IA)" userId="6e7f3708-565e-40b8-b64f-f7a0cc2b0746" providerId="ADAL" clId="{517D220C-4B45-4025-9516-1F6454511FEF}" dt="2023-12-18T08:47:49.330" v="1659" actId="2696"/>
        <pc:sldMkLst>
          <pc:docMk/>
          <pc:sldMk cId="2012706031" sldId="2147477130"/>
        </pc:sldMkLst>
      </pc:sldChg>
      <pc:sldChg chg="modSp add mod">
        <pc:chgData name="Kim, Dong-Kyu (KR/IA)" userId="6e7f3708-565e-40b8-b64f-f7a0cc2b0746" providerId="ADAL" clId="{517D220C-4B45-4025-9516-1F6454511FEF}" dt="2023-12-18T08:48:56.757" v="1721" actId="20577"/>
        <pc:sldMkLst>
          <pc:docMk/>
          <pc:sldMk cId="54830371" sldId="2147477131"/>
        </pc:sldMkLst>
        <pc:spChg chg="mod">
          <ac:chgData name="Kim, Dong-Kyu (KR/IA)" userId="6e7f3708-565e-40b8-b64f-f7a0cc2b0746" providerId="ADAL" clId="{517D220C-4B45-4025-9516-1F6454511FEF}" dt="2023-12-18T08:48:56.757" v="1721" actId="20577"/>
          <ac:spMkLst>
            <pc:docMk/>
            <pc:sldMk cId="54830371" sldId="2147477131"/>
            <ac:spMk id="10" creationId="{A67F4C72-5A6E-C59A-2F1C-1B3512D93A10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49:09.399" v="1722"/>
        <pc:sldMkLst>
          <pc:docMk/>
          <pc:sldMk cId="1797379356" sldId="2147477132"/>
        </pc:sldMkLst>
        <pc:spChg chg="mod">
          <ac:chgData name="Kim, Dong-Kyu (KR/IA)" userId="6e7f3708-565e-40b8-b64f-f7a0cc2b0746" providerId="ADAL" clId="{517D220C-4B45-4025-9516-1F6454511FEF}" dt="2023-12-18T08:49:09.399" v="1722"/>
          <ac:spMkLst>
            <pc:docMk/>
            <pc:sldMk cId="1797379356" sldId="2147477132"/>
            <ac:spMk id="10" creationId="{A67F4C72-5A6E-C59A-2F1C-1B3512D93A10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49:13.716" v="1723"/>
        <pc:sldMkLst>
          <pc:docMk/>
          <pc:sldMk cId="19048034" sldId="2147477133"/>
        </pc:sldMkLst>
        <pc:spChg chg="mod">
          <ac:chgData name="Kim, Dong-Kyu (KR/IA)" userId="6e7f3708-565e-40b8-b64f-f7a0cc2b0746" providerId="ADAL" clId="{517D220C-4B45-4025-9516-1F6454511FEF}" dt="2023-12-18T08:49:13.716" v="1723"/>
          <ac:spMkLst>
            <pc:docMk/>
            <pc:sldMk cId="19048034" sldId="2147477133"/>
            <ac:spMk id="10" creationId="{A67F4C72-5A6E-C59A-2F1C-1B3512D93A10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49:20.686" v="1724"/>
        <pc:sldMkLst>
          <pc:docMk/>
          <pc:sldMk cId="2904855883" sldId="2147477134"/>
        </pc:sldMkLst>
        <pc:spChg chg="mod">
          <ac:chgData name="Kim, Dong-Kyu (KR/IA)" userId="6e7f3708-565e-40b8-b64f-f7a0cc2b0746" providerId="ADAL" clId="{517D220C-4B45-4025-9516-1F6454511FEF}" dt="2023-12-18T08:49:20.686" v="1724"/>
          <ac:spMkLst>
            <pc:docMk/>
            <pc:sldMk cId="2904855883" sldId="2147477134"/>
            <ac:spMk id="10" creationId="{A67F4C72-5A6E-C59A-2F1C-1B3512D93A10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49:24.598" v="1725"/>
        <pc:sldMkLst>
          <pc:docMk/>
          <pc:sldMk cId="1737804072" sldId="2147477135"/>
        </pc:sldMkLst>
        <pc:spChg chg="mod">
          <ac:chgData name="Kim, Dong-Kyu (KR/IA)" userId="6e7f3708-565e-40b8-b64f-f7a0cc2b0746" providerId="ADAL" clId="{517D220C-4B45-4025-9516-1F6454511FEF}" dt="2023-12-18T08:49:24.598" v="1725"/>
          <ac:spMkLst>
            <pc:docMk/>
            <pc:sldMk cId="1737804072" sldId="2147477135"/>
            <ac:spMk id="10" creationId="{A67F4C72-5A6E-C59A-2F1C-1B3512D93A10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49:28.284" v="1726"/>
        <pc:sldMkLst>
          <pc:docMk/>
          <pc:sldMk cId="3656018915" sldId="2147477136"/>
        </pc:sldMkLst>
        <pc:spChg chg="mod">
          <ac:chgData name="Kim, Dong-Kyu (KR/IA)" userId="6e7f3708-565e-40b8-b64f-f7a0cc2b0746" providerId="ADAL" clId="{517D220C-4B45-4025-9516-1F6454511FEF}" dt="2023-12-18T08:49:28.284" v="1726"/>
          <ac:spMkLst>
            <pc:docMk/>
            <pc:sldMk cId="3656018915" sldId="2147477136"/>
            <ac:spMk id="10" creationId="{A67F4C72-5A6E-C59A-2F1C-1B3512D93A10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49:32.680" v="1727"/>
        <pc:sldMkLst>
          <pc:docMk/>
          <pc:sldMk cId="1585908058" sldId="2147477137"/>
        </pc:sldMkLst>
        <pc:spChg chg="mod">
          <ac:chgData name="Kim, Dong-Kyu (KR/IA)" userId="6e7f3708-565e-40b8-b64f-f7a0cc2b0746" providerId="ADAL" clId="{517D220C-4B45-4025-9516-1F6454511FEF}" dt="2023-12-18T08:49:32.680" v="1727"/>
          <ac:spMkLst>
            <pc:docMk/>
            <pc:sldMk cId="1585908058" sldId="2147477137"/>
            <ac:spMk id="10" creationId="{A67F4C72-5A6E-C59A-2F1C-1B3512D93A10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49:39.018" v="1728"/>
        <pc:sldMkLst>
          <pc:docMk/>
          <pc:sldMk cId="2438146340" sldId="2147477138"/>
        </pc:sldMkLst>
        <pc:spChg chg="mod">
          <ac:chgData name="Kim, Dong-Kyu (KR/IA)" userId="6e7f3708-565e-40b8-b64f-f7a0cc2b0746" providerId="ADAL" clId="{517D220C-4B45-4025-9516-1F6454511FEF}" dt="2023-12-18T08:49:39.018" v="1728"/>
          <ac:spMkLst>
            <pc:docMk/>
            <pc:sldMk cId="2438146340" sldId="2147477138"/>
            <ac:spMk id="10" creationId="{A67F4C72-5A6E-C59A-2F1C-1B3512D93A10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49:44.163" v="1729"/>
        <pc:sldMkLst>
          <pc:docMk/>
          <pc:sldMk cId="3375771579" sldId="2147477139"/>
        </pc:sldMkLst>
        <pc:spChg chg="mod">
          <ac:chgData name="Kim, Dong-Kyu (KR/IA)" userId="6e7f3708-565e-40b8-b64f-f7a0cc2b0746" providerId="ADAL" clId="{517D220C-4B45-4025-9516-1F6454511FEF}" dt="2023-12-18T08:49:44.163" v="1729"/>
          <ac:spMkLst>
            <pc:docMk/>
            <pc:sldMk cId="3375771579" sldId="2147477139"/>
            <ac:spMk id="10" creationId="{A67F4C72-5A6E-C59A-2F1C-1B3512D93A10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49:48.387" v="1730"/>
        <pc:sldMkLst>
          <pc:docMk/>
          <pc:sldMk cId="2635596253" sldId="2147477140"/>
        </pc:sldMkLst>
        <pc:spChg chg="mod">
          <ac:chgData name="Kim, Dong-Kyu (KR/IA)" userId="6e7f3708-565e-40b8-b64f-f7a0cc2b0746" providerId="ADAL" clId="{517D220C-4B45-4025-9516-1F6454511FEF}" dt="2023-12-18T08:49:48.387" v="1730"/>
          <ac:spMkLst>
            <pc:docMk/>
            <pc:sldMk cId="2635596253" sldId="2147477140"/>
            <ac:spMk id="10" creationId="{A67F4C72-5A6E-C59A-2F1C-1B3512D93A10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48:06.506" v="1690" actId="14100"/>
        <pc:sldMkLst>
          <pc:docMk/>
          <pc:sldMk cId="3948118400" sldId="2147477141"/>
        </pc:sldMkLst>
        <pc:spChg chg="mod">
          <ac:chgData name="Kim, Dong-Kyu (KR/IA)" userId="6e7f3708-565e-40b8-b64f-f7a0cc2b0746" providerId="ADAL" clId="{517D220C-4B45-4025-9516-1F6454511FEF}" dt="2023-12-18T08:48:06.506" v="1690" actId="14100"/>
          <ac:spMkLst>
            <pc:docMk/>
            <pc:sldMk cId="3948118400" sldId="2147477141"/>
            <ac:spMk id="10" creationId="{A67F4C72-5A6E-C59A-2F1C-1B3512D93A10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48:15.945" v="1692" actId="14100"/>
        <pc:sldMkLst>
          <pc:docMk/>
          <pc:sldMk cId="3403206639" sldId="2147477142"/>
        </pc:sldMkLst>
        <pc:spChg chg="mod">
          <ac:chgData name="Kim, Dong-Kyu (KR/IA)" userId="6e7f3708-565e-40b8-b64f-f7a0cc2b0746" providerId="ADAL" clId="{517D220C-4B45-4025-9516-1F6454511FEF}" dt="2023-12-18T08:48:15.945" v="1692" actId="14100"/>
          <ac:spMkLst>
            <pc:docMk/>
            <pc:sldMk cId="3403206639" sldId="2147477142"/>
            <ac:spMk id="10" creationId="{A67F4C72-5A6E-C59A-2F1C-1B3512D93A10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48:20.259" v="1694" actId="14100"/>
        <pc:sldMkLst>
          <pc:docMk/>
          <pc:sldMk cId="3513720434" sldId="2147477143"/>
        </pc:sldMkLst>
        <pc:spChg chg="mod">
          <ac:chgData name="Kim, Dong-Kyu (KR/IA)" userId="6e7f3708-565e-40b8-b64f-f7a0cc2b0746" providerId="ADAL" clId="{517D220C-4B45-4025-9516-1F6454511FEF}" dt="2023-12-18T08:48:20.259" v="1694" actId="14100"/>
          <ac:spMkLst>
            <pc:docMk/>
            <pc:sldMk cId="3513720434" sldId="2147477143"/>
            <ac:spMk id="10" creationId="{A67F4C72-5A6E-C59A-2F1C-1B3512D93A10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48:24.226" v="1696" actId="14100"/>
        <pc:sldMkLst>
          <pc:docMk/>
          <pc:sldMk cId="4210378015" sldId="2147477144"/>
        </pc:sldMkLst>
        <pc:spChg chg="mod">
          <ac:chgData name="Kim, Dong-Kyu (KR/IA)" userId="6e7f3708-565e-40b8-b64f-f7a0cc2b0746" providerId="ADAL" clId="{517D220C-4B45-4025-9516-1F6454511FEF}" dt="2023-12-18T08:48:24.226" v="1696" actId="14100"/>
          <ac:spMkLst>
            <pc:docMk/>
            <pc:sldMk cId="4210378015" sldId="2147477144"/>
            <ac:spMk id="10" creationId="{A67F4C72-5A6E-C59A-2F1C-1B3512D93A10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48:28.013" v="1698" actId="14100"/>
        <pc:sldMkLst>
          <pc:docMk/>
          <pc:sldMk cId="3618925808" sldId="2147477145"/>
        </pc:sldMkLst>
        <pc:spChg chg="mod">
          <ac:chgData name="Kim, Dong-Kyu (KR/IA)" userId="6e7f3708-565e-40b8-b64f-f7a0cc2b0746" providerId="ADAL" clId="{517D220C-4B45-4025-9516-1F6454511FEF}" dt="2023-12-18T08:48:28.013" v="1698" actId="14100"/>
          <ac:spMkLst>
            <pc:docMk/>
            <pc:sldMk cId="3618925808" sldId="2147477145"/>
            <ac:spMk id="10" creationId="{A67F4C72-5A6E-C59A-2F1C-1B3512D93A10}"/>
          </ac:spMkLst>
        </pc:spChg>
      </pc:sldChg>
      <pc:sldChg chg="modSp add mod">
        <pc:chgData name="Kim, Dong-Kyu (KR/IA)" userId="6e7f3708-565e-40b8-b64f-f7a0cc2b0746" providerId="ADAL" clId="{517D220C-4B45-4025-9516-1F6454511FEF}" dt="2023-12-18T08:48:31.671" v="1700" actId="14100"/>
        <pc:sldMkLst>
          <pc:docMk/>
          <pc:sldMk cId="4045123550" sldId="2147477146"/>
        </pc:sldMkLst>
        <pc:spChg chg="mod">
          <ac:chgData name="Kim, Dong-Kyu (KR/IA)" userId="6e7f3708-565e-40b8-b64f-f7a0cc2b0746" providerId="ADAL" clId="{517D220C-4B45-4025-9516-1F6454511FEF}" dt="2023-12-18T08:48:31.671" v="1700" actId="14100"/>
          <ac:spMkLst>
            <pc:docMk/>
            <pc:sldMk cId="4045123550" sldId="2147477146"/>
            <ac:spMk id="10" creationId="{A67F4C72-5A6E-C59A-2F1C-1B3512D93A10}"/>
          </ac:spMkLst>
        </pc:spChg>
      </pc:sldChg>
    </pc:docChg>
  </pc:docChgLst>
</pc:chgInfo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5.xlsx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7"/>
    </mc:Choice>
    <mc:Fallback>
      <c:style val="7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9340161808133353"/>
          <c:y val="0.23918290628957078"/>
          <c:w val="0.4381313661015625"/>
          <c:h val="0.5069935976446837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L2/L3/L4</c:v>
                </c:pt>
              </c:strCache>
            </c:strRef>
          </c:tx>
          <c:spPr>
            <a:solidFill>
              <a:schemeClr val="accent5">
                <a:tint val="6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Sheet1!$A$2:$A$4</c:f>
              <c:strCache>
                <c:ptCount val="3"/>
                <c:pt idx="0">
                  <c:v>PB고객담당</c:v>
                </c:pt>
                <c:pt idx="1">
                  <c:v>개인고객담당</c:v>
                </c:pt>
                <c:pt idx="2">
                  <c:v>기업고객담당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6</c:v>
                </c:pt>
                <c:pt idx="1">
                  <c:v>5</c:v>
                </c:pt>
                <c:pt idx="2">
                  <c:v>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BAE-4F9D-8ABD-0D241C88F32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L1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cat>
            <c:strRef>
              <c:f>Sheet1!$A$2:$A$4</c:f>
              <c:strCache>
                <c:ptCount val="3"/>
                <c:pt idx="0">
                  <c:v>PB고객담당</c:v>
                </c:pt>
                <c:pt idx="1">
                  <c:v>개인고객담당</c:v>
                </c:pt>
                <c:pt idx="2">
                  <c:v>기업고객담당</c:v>
                </c:pt>
              </c:strCache>
            </c:strRef>
          </c:cat>
          <c:val>
            <c:numRef>
              <c:f>Sheet1!$C$2:$C$4</c:f>
              <c:numCache>
                <c:formatCode>General</c:formatCode>
                <c:ptCount val="3"/>
                <c:pt idx="0">
                  <c:v>2</c:v>
                </c:pt>
                <c:pt idx="1">
                  <c:v>9</c:v>
                </c:pt>
                <c:pt idx="2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BAE-4F9D-8ABD-0D241C88F32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L0</c:v>
                </c:pt>
              </c:strCache>
            </c:strRef>
          </c:tx>
          <c:spPr>
            <a:solidFill>
              <a:schemeClr val="accent5">
                <a:shade val="6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Sheet1!$A$2:$A$4</c:f>
              <c:strCache>
                <c:ptCount val="3"/>
                <c:pt idx="0">
                  <c:v>PB고객담당</c:v>
                </c:pt>
                <c:pt idx="1">
                  <c:v>개인고객담당</c:v>
                </c:pt>
                <c:pt idx="2">
                  <c:v>기업고객담당</c:v>
                </c:pt>
              </c:strCache>
            </c:strRef>
          </c:cat>
          <c:val>
            <c:numRef>
              <c:f>Sheet1!$D$2:$D$4</c:f>
              <c:numCache>
                <c:formatCode>General</c:formatCode>
                <c:ptCount val="3"/>
                <c:pt idx="0">
                  <c:v>5</c:v>
                </c:pt>
                <c:pt idx="1">
                  <c:v>4</c:v>
                </c:pt>
                <c:pt idx="2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BAE-4F9D-8ABD-0D241C88F32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36"/>
        <c:axId val="574494952"/>
        <c:axId val="574496264"/>
      </c:barChart>
      <c:catAx>
        <c:axId val="57449495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defRPr>
            </a:pPr>
            <a:endParaRPr lang="ko-KR"/>
          </a:p>
        </c:txPr>
        <c:crossAx val="574496264"/>
        <c:crosses val="autoZero"/>
        <c:auto val="1"/>
        <c:lblAlgn val="ctr"/>
        <c:lblOffset val="100"/>
        <c:noMultiLvlLbl val="0"/>
      </c:catAx>
      <c:valAx>
        <c:axId val="574496264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57449495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defRPr>
          </a:pPr>
          <a:endParaRPr lang="ko-KR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/>
      </a:pPr>
      <a:endParaRPr lang="ko-KR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160652643922743E-2"/>
          <c:y val="0.17603305957698276"/>
          <c:w val="0.95678694712154511"/>
          <c:h val="0.45192349856857378"/>
        </c:manualLayout>
      </c:layout>
      <c:barChart>
        <c:barDir val="col"/>
        <c:grouping val="clustered"/>
        <c:varyColors val="0"/>
        <c:ser>
          <c:idx val="1"/>
          <c:order val="1"/>
          <c:tx>
            <c:strRef>
              <c:f>Sheet1!$B$1</c:f>
              <c:strCache>
                <c:ptCount val="1"/>
                <c:pt idx="0">
                  <c:v>전월</c:v>
                </c:pt>
              </c:strCache>
            </c:strRef>
          </c:tx>
          <c:spPr>
            <a:solidFill>
              <a:srgbClr val="FFBF0D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강남</c:v>
                </c:pt>
                <c:pt idx="1">
                  <c:v>동부</c:v>
                </c:pt>
                <c:pt idx="2">
                  <c:v>강서</c:v>
                </c:pt>
                <c:pt idx="3">
                  <c:v>남부</c:v>
                </c:pt>
                <c:pt idx="4">
                  <c:v>…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21</c:v>
                </c:pt>
                <c:pt idx="1">
                  <c:v>18</c:v>
                </c:pt>
                <c:pt idx="2">
                  <c:v>17</c:v>
                </c:pt>
                <c:pt idx="3">
                  <c:v>13</c:v>
                </c:pt>
                <c:pt idx="4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349-4325-A217-FADDABBB306F}"/>
            </c:ext>
          </c:extLst>
        </c:ser>
        <c:ser>
          <c:idx val="2"/>
          <c:order val="2"/>
          <c:tx>
            <c:strRef>
              <c:f>Sheet1!$C$1</c:f>
              <c:strCache>
                <c:ptCount val="1"/>
                <c:pt idx="0">
                  <c:v>당월</c:v>
                </c:pt>
              </c:strCache>
            </c:strRef>
          </c:tx>
          <c:spPr>
            <a:solidFill>
              <a:srgbClr val="FF5050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강남</c:v>
                </c:pt>
                <c:pt idx="1">
                  <c:v>동부</c:v>
                </c:pt>
                <c:pt idx="2">
                  <c:v>강서</c:v>
                </c:pt>
                <c:pt idx="3">
                  <c:v>남부</c:v>
                </c:pt>
                <c:pt idx="4">
                  <c:v>…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25</c:v>
                </c:pt>
                <c:pt idx="1">
                  <c:v>15</c:v>
                </c:pt>
                <c:pt idx="2">
                  <c:v>10</c:v>
                </c:pt>
                <c:pt idx="3">
                  <c:v>28</c:v>
                </c:pt>
                <c:pt idx="4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349-4325-A217-FADDABBB306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14"/>
        <c:axId val="584244303"/>
        <c:axId val="883072688"/>
        <c:extLst>
          <c:ext xmlns:c15="http://schemas.microsoft.com/office/drawing/2012/chart" uri="{02D57815-91ED-43cb-92C2-25804820EDAC}">
            <c15:filteredBar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Sheet1!#REF!</c15:sqref>
                        </c15:formulaRef>
                      </c:ext>
                    </c:extLst>
                    <c:strCache>
                      <c:ptCount val="1"/>
                      <c:pt idx="0">
                        <c:v>#REF!</c:v>
                      </c:pt>
                    </c:strCache>
                  </c:strRef>
                </c:tx>
                <c:spPr>
                  <a:solidFill>
                    <a:schemeClr val="accent6"/>
                  </a:solidFill>
                  <a:ln>
                    <a:noFill/>
                  </a:ln>
                  <a:effectLst/>
                </c:spPr>
                <c:invertIfNegative val="0"/>
                <c:cat>
                  <c:strRef>
                    <c:extLst>
                      <c:ext uri="{02D57815-91ED-43cb-92C2-25804820EDAC}">
                        <c15:formulaRef>
                          <c15:sqref>Sheet1!$A$2:$A$6</c15:sqref>
                        </c15:formulaRef>
                      </c:ext>
                    </c:extLst>
                    <c:strCache>
                      <c:ptCount val="5"/>
                      <c:pt idx="0">
                        <c:v>강남</c:v>
                      </c:pt>
                      <c:pt idx="1">
                        <c:v>동부</c:v>
                      </c:pt>
                      <c:pt idx="2">
                        <c:v>강서</c:v>
                      </c:pt>
                      <c:pt idx="3">
                        <c:v>남부</c:v>
                      </c:pt>
                      <c:pt idx="4">
                        <c:v>…</c:v>
                      </c:pt>
                    </c:strCache>
                  </c:strRef>
                </c:cat>
                <c:val>
                  <c:numRef>
                    <c:extLst>
                      <c:ext uri="{02D57815-91ED-43cb-92C2-25804820EDAC}">
                        <c15:formulaRef>
                          <c15:sqref>Sheet1!#REF!</c15:sqref>
                        </c15:formulaRef>
                      </c:ext>
                    </c:extLst>
                    <c:numCache>
                      <c:formatCode>General</c:formatCode>
                      <c:ptCount val="1"/>
                      <c:pt idx="0">
                        <c:v>1</c:v>
                      </c:pt>
                    </c:numCache>
                  </c:numRef>
                </c:val>
                <c:extLst>
                  <c:ext xmlns:c16="http://schemas.microsoft.com/office/drawing/2014/chart" uri="{C3380CC4-5D6E-409C-BE32-E72D297353CC}">
                    <c16:uniqueId val="{00000002-3349-4325-A217-FADDABBB306F}"/>
                  </c:ext>
                </c:extLst>
              </c15:ser>
            </c15:filteredBarSeries>
          </c:ext>
        </c:extLst>
      </c:barChart>
      <c:catAx>
        <c:axId val="5842443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defRPr>
            </a:pPr>
            <a:endParaRPr lang="ko-KR"/>
          </a:p>
        </c:txPr>
        <c:crossAx val="883072688"/>
        <c:crosses val="autoZero"/>
        <c:auto val="1"/>
        <c:lblAlgn val="ctr"/>
        <c:lblOffset val="100"/>
        <c:noMultiLvlLbl val="0"/>
      </c:catAx>
      <c:valAx>
        <c:axId val="883072688"/>
        <c:scaling>
          <c:orientation val="minMax"/>
          <c:max val="30"/>
          <c:min val="0"/>
        </c:scaling>
        <c:delete val="1"/>
        <c:axPos val="l"/>
        <c:minorGridlines>
          <c:spPr>
            <a:ln w="6350" cap="flat" cmpd="sng" algn="ctr">
              <a:solidFill>
                <a:schemeClr val="tx1">
                  <a:lumMod val="5000"/>
                  <a:lumOff val="95000"/>
                </a:schemeClr>
              </a:solidFill>
              <a:round/>
            </a:ln>
            <a:effectLst/>
          </c:spPr>
        </c:minorGridlines>
        <c:numFmt formatCode="General" sourceLinked="1"/>
        <c:majorTickMark val="none"/>
        <c:minorTickMark val="none"/>
        <c:tickLblPos val="none"/>
        <c:crossAx val="584244303"/>
        <c:crosses val="autoZero"/>
        <c:crossBetween val="between"/>
        <c:majorUnit val="30"/>
        <c:minorUnit val="5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29237213496407399"/>
          <c:y val="0.74662890195674769"/>
          <c:w val="0.40664575777867229"/>
          <c:h val="0.1276271999812726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defRPr>
          </a:pPr>
          <a:endParaRPr lang="ko-K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3886459546678376"/>
          <c:y val="0.39701513374657954"/>
          <c:w val="0.27855315167370009"/>
          <c:h val="0.54308557175033967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총원</c:v>
                </c:pt>
              </c:strCache>
            </c:strRef>
          </c:tx>
          <c:spPr>
            <a:ln w="3175"/>
          </c:spPr>
          <c:dPt>
            <c:idx val="0"/>
            <c:bubble3D val="0"/>
            <c:spPr>
              <a:solidFill>
                <a:srgbClr val="F1A600"/>
              </a:solidFill>
              <a:ln w="3175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3EBA-46AC-8891-D94865B63E91}"/>
              </c:ext>
            </c:extLst>
          </c:dPt>
          <c:dPt>
            <c:idx val="1"/>
            <c:bubble3D val="0"/>
            <c:spPr>
              <a:solidFill>
                <a:srgbClr val="DFC891"/>
              </a:solidFill>
              <a:ln w="3175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3EBA-46AC-8891-D94865B63E91}"/>
              </c:ext>
            </c:extLst>
          </c:dPt>
          <c:dPt>
            <c:idx val="2"/>
            <c:bubble3D val="0"/>
            <c:spPr>
              <a:solidFill>
                <a:srgbClr val="755500"/>
              </a:solidFill>
              <a:ln w="3175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3EBA-46AC-8891-D94865B63E91}"/>
              </c:ext>
            </c:extLst>
          </c:dPt>
          <c:dPt>
            <c:idx val="3"/>
            <c:bubble3D val="0"/>
            <c:spPr>
              <a:solidFill>
                <a:srgbClr val="D9D9D9"/>
              </a:solidFill>
              <a:ln w="3175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3EBA-46AC-8891-D94865B63E91}"/>
              </c:ext>
            </c:extLst>
          </c:dPt>
          <c:dLbls>
            <c:dLbl>
              <c:idx val="0"/>
              <c:layout>
                <c:manualLayout>
                  <c:x val="6.9721591017586626E-2"/>
                  <c:y val="-2.9550827423167794E-2"/>
                </c:manualLayout>
              </c:layout>
              <c:tx>
                <c:rich>
                  <a:bodyPr/>
                  <a:lstStyle/>
                  <a:p>
                    <a:fld id="{D5FD9049-ADEE-4CAC-9ED8-A9B2888FDA4A}" type="VALUE">
                      <a:rPr lang="en-US" altLang="ko-KR">
                        <a:ea typeface="KB금융 본문체 Medium" panose="020B0603000000000000" pitchFamily="50" charset="-127"/>
                      </a:rPr>
                      <a:pPr/>
                      <a:t>[값]</a:t>
                    </a:fld>
                    <a:endParaRPr lang="ko-KR" altLang="en-US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1-3EBA-46AC-8891-D94865B63E91}"/>
                </c:ext>
              </c:extLst>
            </c:dLbl>
            <c:dLbl>
              <c:idx val="1"/>
              <c:layout>
                <c:manualLayout>
                  <c:x val="-3.0634429991140202E-2"/>
                  <c:y val="8.2742316784869971E-2"/>
                </c:manualLayout>
              </c:layout>
              <c:tx>
                <c:rich>
                  <a:bodyPr/>
                  <a:lstStyle/>
                  <a:p>
                    <a:fld id="{C477BF3C-BCC2-4332-BF1E-81A11F959C4E}" type="VALUE">
                      <a:rPr lang="en-US" altLang="ko-KR">
                        <a:ea typeface="KB금융 본문체 Medium" panose="020B0603000000000000" pitchFamily="50" charset="-127"/>
                      </a:rPr>
                      <a:pPr/>
                      <a:t>[값]</a:t>
                    </a:fld>
                    <a:endParaRPr lang="ko-KR" altLang="en-US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3EBA-46AC-8891-D94865B63E91}"/>
                </c:ext>
              </c:extLst>
            </c:dLbl>
            <c:dLbl>
              <c:idx val="2"/>
              <c:layout>
                <c:manualLayout>
                  <c:x val="-5.7916815317313713E-2"/>
                  <c:y val="-6.5011820330969319E-2"/>
                </c:manualLayout>
              </c:layout>
              <c:tx>
                <c:rich>
                  <a:bodyPr/>
                  <a:lstStyle/>
                  <a:p>
                    <a:fld id="{DC0E7E0E-2C67-4CBA-9EBB-1039D6045853}" type="VALUE">
                      <a:rPr lang="en-US" altLang="ko-KR">
                        <a:ea typeface="KB금융 본문체 Medium" panose="020B0603000000000000" pitchFamily="50" charset="-127"/>
                      </a:rPr>
                      <a:pPr/>
                      <a:t>[값]</a:t>
                    </a:fld>
                    <a:endParaRPr lang="ko-KR" altLang="en-US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3EBA-46AC-8891-D94865B63E91}"/>
                </c:ext>
              </c:extLst>
            </c:dLbl>
            <c:dLbl>
              <c:idx val="3"/>
              <c:layout>
                <c:manualLayout>
                  <c:x val="-1.1711586588398536E-2"/>
                  <c:y val="-0.10047281323877073"/>
                </c:manualLayout>
              </c:layout>
              <c:tx>
                <c:rich>
                  <a:bodyPr/>
                  <a:lstStyle/>
                  <a:p>
                    <a:fld id="{7DF48A7C-0CBE-461D-A6A1-77BAB7C21BA4}" type="VALUE">
                      <a:rPr lang="en-US" altLang="ko-KR">
                        <a:ea typeface="KB금융 본문체 Medium" panose="020B0603000000000000" pitchFamily="50" charset="-127"/>
                      </a:rPr>
                      <a:pPr/>
                      <a:t>[값]</a:t>
                    </a:fld>
                    <a:endParaRPr lang="ko-KR" altLang="en-US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3EBA-46AC-8891-D94865B63E9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B금융 본문체 Medium" panose="020B0603000000000000" pitchFamily="50" charset="-127"/>
                    <a:ea typeface="KB금융 본문체 Medium" panose="020B0603000000000000" pitchFamily="50" charset="-127"/>
                    <a:cs typeface="+mn-cs"/>
                  </a:defRPr>
                </a:pPr>
                <a:endParaRPr lang="ko-K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Sheet1!$A$2:$A$5</c:f>
              <c:strCache>
                <c:ptCount val="4"/>
                <c:pt idx="0">
                  <c:v>: 감사의견</c:v>
                </c:pt>
                <c:pt idx="1">
                  <c:v>: 심의의견</c:v>
                </c:pt>
                <c:pt idx="2">
                  <c:v>: 수정조치</c:v>
                </c:pt>
                <c:pt idx="3">
                  <c:v>: 감사착안사항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3</c:v>
                </c:pt>
                <c:pt idx="1">
                  <c:v>2</c:v>
                </c:pt>
                <c:pt idx="2">
                  <c:v>1</c:v>
                </c:pt>
                <c:pt idx="3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3EBA-46AC-8891-D94865B63E91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0"/>
        </c:dLbls>
        <c:firstSliceAng val="0"/>
        <c:holeSize val="50"/>
      </c:doughnutChart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48735174977718859"/>
          <c:y val="0.42353456124982675"/>
          <c:w val="0.31498917410946642"/>
          <c:h val="0.47258239201568608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조치대상</c:v>
                </c:pt>
              </c:strCache>
            </c:strRef>
          </c:tx>
          <c:dPt>
            <c:idx val="0"/>
            <c:bubble3D val="0"/>
            <c:spPr>
              <a:solidFill>
                <a:srgbClr val="F1A6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60B-400A-B35E-B557C91FA6A0}"/>
              </c:ext>
            </c:extLst>
          </c:dPt>
          <c:dPt>
            <c:idx val="1"/>
            <c:bubble3D val="0"/>
            <c:spPr>
              <a:solidFill>
                <a:srgbClr val="7555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60B-400A-B35E-B557C91FA6A0}"/>
              </c:ext>
            </c:extLst>
          </c:dPt>
          <c:cat>
            <c:strRef>
              <c:f>Sheet1!$A$2:$A$3</c:f>
              <c:strCache>
                <c:ptCount val="2"/>
                <c:pt idx="0">
                  <c:v>사전감사</c:v>
                </c:pt>
                <c:pt idx="1">
                  <c:v>사후감사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84</c:v>
                </c:pt>
                <c:pt idx="1">
                  <c:v>13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60B-400A-B35E-B557C91FA6A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생략문서</c:v>
                </c:pt>
              </c:strCache>
            </c:strRef>
          </c:tx>
          <c:spPr>
            <a:solidFill>
              <a:srgbClr val="F1A600"/>
            </a:solidFill>
            <a:ln>
              <a:noFill/>
            </a:ln>
            <a:effectLst/>
          </c:spPr>
          <c:invertIfNegative val="0"/>
          <c:cat>
            <c:strRef>
              <c:f>Sheet1!$A$2:$A$4</c:f>
              <c:strCache>
                <c:ptCount val="3"/>
                <c:pt idx="0">
                  <c:v>M-2</c:v>
                </c:pt>
                <c:pt idx="1">
                  <c:v>M-1</c:v>
                </c:pt>
                <c:pt idx="2">
                  <c:v>기준월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3.3</c:v>
                </c:pt>
                <c:pt idx="1">
                  <c:v>1.2</c:v>
                </c:pt>
                <c:pt idx="2">
                  <c:v>3.8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480-42B4-9EC6-A5164B691BF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감사대상</c:v>
                </c:pt>
              </c:strCache>
            </c:strRef>
          </c:tx>
          <c:spPr>
            <a:solidFill>
              <a:srgbClr val="DFC891"/>
            </a:solidFill>
            <a:ln>
              <a:noFill/>
            </a:ln>
            <a:effectLst/>
          </c:spPr>
          <c:invertIfNegative val="0"/>
          <c:cat>
            <c:strRef>
              <c:f>Sheet1!$A$2:$A$4</c:f>
              <c:strCache>
                <c:ptCount val="3"/>
                <c:pt idx="0">
                  <c:v>M-2</c:v>
                </c:pt>
                <c:pt idx="1">
                  <c:v>M-1</c:v>
                </c:pt>
                <c:pt idx="2">
                  <c:v>기준월</c:v>
                </c:pt>
              </c:strCache>
            </c:strRef>
          </c:cat>
          <c:val>
            <c:numRef>
              <c:f>Sheet1!$C$2:$C$4</c:f>
              <c:numCache>
                <c:formatCode>General</c:formatCode>
                <c:ptCount val="3"/>
                <c:pt idx="0">
                  <c:v>4.5</c:v>
                </c:pt>
                <c:pt idx="1">
                  <c:v>2.5</c:v>
                </c:pt>
                <c:pt idx="2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480-42B4-9EC6-A5164B691BF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100"/>
        <c:axId val="584244303"/>
        <c:axId val="883072688"/>
      </c:barChart>
      <c:catAx>
        <c:axId val="5842443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883072688"/>
        <c:crosses val="autoZero"/>
        <c:auto val="1"/>
        <c:lblAlgn val="ctr"/>
        <c:lblOffset val="100"/>
        <c:noMultiLvlLbl val="0"/>
      </c:catAx>
      <c:valAx>
        <c:axId val="88307268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one"/>
        <c:spPr>
          <a:noFill/>
          <a:ln>
            <a:solidFill>
              <a:schemeClr val="lt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58424430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8572977691501349"/>
          <c:y val="0.77769010185745002"/>
          <c:w val="0.56065277241594302"/>
          <c:h val="0.1395165343214854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8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160652643922743E-2"/>
          <c:y val="1.0286449263506432E-2"/>
          <c:w val="0.95678694712154511"/>
          <c:h val="0.51933690470212224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생략문서</c:v>
                </c:pt>
              </c:strCache>
            </c:strRef>
          </c:tx>
          <c:spPr>
            <a:solidFill>
              <a:srgbClr val="F1A600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경영기획그룹</c:v>
                </c:pt>
                <c:pt idx="1">
                  <c:v>영업그룹</c:v>
                </c:pt>
                <c:pt idx="2">
                  <c:v>디지털사업그룹</c:v>
                </c:pt>
                <c:pt idx="3">
                  <c:v>기업고객그룹</c:v>
                </c:pt>
                <c:pt idx="4">
                  <c:v>CIB영업그룹</c:v>
                </c:pt>
                <c:pt idx="5">
                  <c:v>자본시장사업그룹</c:v>
                </c:pt>
                <c:pt idx="6">
                  <c:v>기관영업그룹</c:v>
                </c:pt>
                <c:pt idx="7">
                  <c:v>·  ·  ·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21</c:v>
                </c:pt>
                <c:pt idx="1">
                  <c:v>10</c:v>
                </c:pt>
                <c:pt idx="2">
                  <c:v>5</c:v>
                </c:pt>
                <c:pt idx="3">
                  <c:v>24</c:v>
                </c:pt>
                <c:pt idx="4">
                  <c:v>7</c:v>
                </c:pt>
                <c:pt idx="5">
                  <c:v>8</c:v>
                </c:pt>
                <c:pt idx="6">
                  <c:v>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F66-4B91-94DA-EC42997CAF5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감사대상</c:v>
                </c:pt>
              </c:strCache>
            </c:strRef>
          </c:tx>
          <c:spPr>
            <a:solidFill>
              <a:srgbClr val="DFC891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경영기획그룹</c:v>
                </c:pt>
                <c:pt idx="1">
                  <c:v>영업그룹</c:v>
                </c:pt>
                <c:pt idx="2">
                  <c:v>디지털사업그룹</c:v>
                </c:pt>
                <c:pt idx="3">
                  <c:v>기업고객그룹</c:v>
                </c:pt>
                <c:pt idx="4">
                  <c:v>CIB영업그룹</c:v>
                </c:pt>
                <c:pt idx="5">
                  <c:v>자본시장사업그룹</c:v>
                </c:pt>
                <c:pt idx="6">
                  <c:v>기관영업그룹</c:v>
                </c:pt>
                <c:pt idx="7">
                  <c:v>·  ·  ·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0">
                  <c:v>30</c:v>
                </c:pt>
                <c:pt idx="1">
                  <c:v>25</c:v>
                </c:pt>
                <c:pt idx="2">
                  <c:v>9</c:v>
                </c:pt>
                <c:pt idx="3">
                  <c:v>5</c:v>
                </c:pt>
                <c:pt idx="4">
                  <c:v>3</c:v>
                </c:pt>
                <c:pt idx="5">
                  <c:v>18</c:v>
                </c:pt>
                <c:pt idx="6">
                  <c:v>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F66-4B91-94DA-EC42997CAF5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14"/>
        <c:overlap val="100"/>
        <c:axId val="584244303"/>
        <c:axId val="883072688"/>
      </c:barChart>
      <c:lineChart>
        <c:grouping val="standard"/>
        <c:varyColors val="0"/>
        <c:ser>
          <c:idx val="2"/>
          <c:order val="2"/>
          <c:tx>
            <c:strRef>
              <c:f>Sheet1!$D$1</c:f>
              <c:strCache>
                <c:ptCount val="1"/>
                <c:pt idx="0">
                  <c:v>의견등록</c:v>
                </c:pt>
              </c:strCache>
            </c:strRef>
          </c:tx>
          <c:spPr>
            <a:ln w="952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strRef>
              <c:f>Sheet1!$A$2:$A$9</c:f>
              <c:strCache>
                <c:ptCount val="8"/>
                <c:pt idx="0">
                  <c:v>경영기획그룹</c:v>
                </c:pt>
                <c:pt idx="1">
                  <c:v>영업그룹</c:v>
                </c:pt>
                <c:pt idx="2">
                  <c:v>디지털사업그룹</c:v>
                </c:pt>
                <c:pt idx="3">
                  <c:v>기업고객그룹</c:v>
                </c:pt>
                <c:pt idx="4">
                  <c:v>CIB영업그룹</c:v>
                </c:pt>
                <c:pt idx="5">
                  <c:v>자본시장사업그룹</c:v>
                </c:pt>
                <c:pt idx="6">
                  <c:v>기관영업그룹</c:v>
                </c:pt>
                <c:pt idx="7">
                  <c:v>·  ·  ·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0">
                  <c:v>5</c:v>
                </c:pt>
                <c:pt idx="1">
                  <c:v>4</c:v>
                </c:pt>
                <c:pt idx="2">
                  <c:v>0</c:v>
                </c:pt>
                <c:pt idx="3">
                  <c:v>2</c:v>
                </c:pt>
                <c:pt idx="4">
                  <c:v>0</c:v>
                </c:pt>
                <c:pt idx="5">
                  <c:v>3</c:v>
                </c:pt>
                <c:pt idx="6">
                  <c:v>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F66-4B91-94DA-EC42997CAF5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584244303"/>
        <c:axId val="883072688"/>
      </c:lineChart>
      <c:catAx>
        <c:axId val="5842443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883072688"/>
        <c:crosses val="autoZero"/>
        <c:auto val="1"/>
        <c:lblAlgn val="ctr"/>
        <c:lblOffset val="100"/>
        <c:noMultiLvlLbl val="0"/>
      </c:catAx>
      <c:valAx>
        <c:axId val="883072688"/>
        <c:scaling>
          <c:orientation val="minMax"/>
          <c:max val="50"/>
        </c:scaling>
        <c:delete val="0"/>
        <c:axPos val="l"/>
        <c:numFmt formatCode="General" sourceLinked="1"/>
        <c:majorTickMark val="none"/>
        <c:minorTickMark val="none"/>
        <c:tickLblPos val="none"/>
        <c:spPr>
          <a:noFill/>
          <a:ln>
            <a:solidFill>
              <a:schemeClr val="lt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584244303"/>
        <c:crosses val="autoZero"/>
        <c:crossBetween val="between"/>
        <c:majorUnit val="50"/>
        <c:minorUnit val="10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29965514622761957"/>
          <c:y val="0.80854974024690729"/>
          <c:w val="0.39598870274074999"/>
          <c:h val="0.1589718086493649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8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withinLinearReversed" id="25">
  <a:schemeClr val="accent5"/>
</cs:colorStyle>
</file>

<file path=ppt/charts/colors2.xml><?xml version="1.0" encoding="utf-8"?>
<cs:colorStyle xmlns:cs="http://schemas.microsoft.com/office/drawing/2012/chartStyle" xmlns:a="http://schemas.openxmlformats.org/drawingml/2006/main" meth="cycle" id="13">
  <a:schemeClr val="accent6"/>
  <a:schemeClr val="accent5"/>
  <a:schemeClr val="accent4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55">
  <cs:axisTitle>
    <cs:lnRef idx="0"/>
    <cs:fillRef idx="0"/>
    <cs:effectRef idx="0"/>
    <cs:fontRef idx="minor">
      <a:schemeClr val="tx2"/>
    </cs:fontRef>
    <cs:defRPr sz="1197" b="1" kern="1200"/>
  </cs:axisTitle>
  <cs:categoryAxis>
    <cs:lnRef idx="0"/>
    <cs:fillRef idx="0"/>
    <cs:effectRef idx="0"/>
    <cs:fontRef idx="minor">
      <a:schemeClr val="tx2"/>
    </cs:fontRef>
    <cs:spPr>
      <a:ln w="9525" cap="flat" cmpd="sng" algn="ctr">
        <a:solidFill>
          <a:schemeClr val="tx2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2"/>
    </cs:fontRef>
    <cs:spPr>
      <a:solidFill>
        <a:schemeClr val="bg1"/>
      </a:solidFill>
      <a:ln w="9525" cap="flat" cmpd="sng" algn="ctr">
        <a:solidFill>
          <a:schemeClr val="tx2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2"/>
    </cs:fontRef>
    <cs:defRPr sz="1197" kern="1200"/>
  </cs:dataLabel>
  <cs:dataLabelCallout>
    <cs:lnRef idx="0"/>
    <cs:fillRef idx="0"/>
    <cs:effectRef idx="0"/>
    <cs:fontRef idx="minor">
      <a:schemeClr val="dk2">
        <a:lumMod val="7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3">
      <cs:styleClr val="auto"/>
    </cs:fillRef>
    <cs:effectRef idx="2"/>
    <cs:fontRef idx="minor">
      <a:schemeClr val="tx2"/>
    </cs:fontRef>
  </cs:dataPoint>
  <cs:dataPoint3D>
    <cs:lnRef idx="0"/>
    <cs:fillRef idx="3">
      <cs:styleClr val="auto"/>
    </cs:fillRef>
    <cs:effectRef idx="2"/>
    <cs:fontRef idx="minor">
      <a:schemeClr val="tx2"/>
    </cs:fontRef>
  </cs:dataPoint3D>
  <cs:dataPointLine>
    <cs:lnRef idx="0">
      <cs:styleClr val="auto"/>
    </cs:lnRef>
    <cs:fillRef idx="3"/>
    <cs:effectRef idx="2"/>
    <cs:fontRef idx="minor">
      <a:schemeClr val="tx2"/>
    </cs:fontRef>
    <cs:spPr>
      <a:ln w="31750" cap="rnd">
        <a:solidFill>
          <a:schemeClr val="phClr"/>
        </a:solidFill>
        <a:round/>
      </a:ln>
    </cs:spPr>
  </cs:dataPointLine>
  <cs:dataPointMarker>
    <cs:lnRef idx="0"/>
    <cs:fillRef idx="3">
      <cs:styleClr val="auto"/>
    </cs:fillRef>
    <cs:effectRef idx="2"/>
    <cs:fontRef idx="minor">
      <a:schemeClr val="tx2"/>
    </cs:fontRef>
    <cs:spPr>
      <a:ln w="12700">
        <a:solidFill>
          <a:schemeClr val="lt2"/>
        </a:solidFill>
        <a:round/>
      </a:ln>
    </cs:spPr>
  </cs:dataPointMarker>
  <cs:dataPointMarkerLayout symbol="circle" size="6"/>
  <cs:dataPointWireframe>
    <cs:lnRef idx="0">
      <cs:styleClr val="auto"/>
    </cs:lnRef>
    <cs:fillRef idx="3"/>
    <cs:effectRef idx="2"/>
    <cs:fontRef idx="minor">
      <a:schemeClr val="tx2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2"/>
    </cs:fontRef>
    <cs:spPr>
      <a:ln w="9525">
        <a:solidFill>
          <a:schemeClr val="tx2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2"/>
    </cs:fontRef>
    <cs:spPr>
      <a:ln w="9525">
        <a:solidFill>
          <a:schemeClr val="tx2">
            <a:lumMod val="60000"/>
            <a:lumOff val="40000"/>
          </a:schemeClr>
        </a:solidFill>
        <a:prstDash val="dash"/>
      </a:ln>
    </cs:spPr>
  </cs:dropLine>
  <cs:errorBar>
    <cs:lnRef idx="0"/>
    <cs:fillRef idx="0"/>
    <cs:effectRef idx="0"/>
    <cs:fontRef idx="minor">
      <a:schemeClr val="tx2"/>
    </cs:fontRef>
    <cs:spPr>
      <a:ln w="9525">
        <a:solidFill>
          <a:schemeClr val="tx2">
            <a:lumMod val="75000"/>
          </a:schemeClr>
        </a:solidFill>
        <a:round/>
      </a:ln>
    </cs:spPr>
  </cs:errorBar>
  <cs:floor>
    <cs:lnRef idx="0"/>
    <cs:fillRef idx="0"/>
    <cs:effectRef idx="0"/>
    <cs:fontRef idx="minor">
      <a:schemeClr val="tx2"/>
    </cs:fontRef>
  </cs:floor>
  <cs:gridlineMajor>
    <cs:lnRef idx="0"/>
    <cs:fillRef idx="0"/>
    <cs:effectRef idx="0"/>
    <cs:fontRef idx="minor">
      <a:schemeClr val="tx2"/>
    </cs:fontRef>
    <cs:spPr>
      <a:ln w="9525" cap="flat" cmpd="sng" algn="ctr">
        <a:solidFill>
          <a:schemeClr val="tx2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2"/>
    </cs:fontRef>
    <cs:spPr>
      <a:ln>
        <a:solidFill>
          <a:schemeClr val="tx2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tx2"/>
    </cs:fontRef>
    <cs:spPr>
      <a:ln w="9525">
        <a:solidFill>
          <a:schemeClr val="tx2">
            <a:lumMod val="60000"/>
            <a:lumOff val="40000"/>
          </a:schemeClr>
        </a:solidFill>
        <a:prstDash val="dash"/>
      </a:ln>
    </cs:spPr>
  </cs:hiLoLine>
  <cs:leaderLine>
    <cs:lnRef idx="0"/>
    <cs:fillRef idx="0"/>
    <cs:effectRef idx="0"/>
    <cs:fontRef idx="minor">
      <a:schemeClr val="tx2"/>
    </cs:fontRef>
    <cs:spPr>
      <a:ln w="9525">
        <a:solidFill>
          <a:schemeClr val="tx2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2"/>
    </cs:fontRef>
    <cs:defRPr sz="1197" kern="1200"/>
  </cs:legend>
  <cs:plotArea>
    <cs:lnRef idx="0"/>
    <cs:fillRef idx="0"/>
    <cs:effectRef idx="0"/>
    <cs:fontRef idx="minor">
      <a:schemeClr val="tx2"/>
    </cs:fontRef>
  </cs:plotArea>
  <cs:plotArea3D>
    <cs:lnRef idx="0"/>
    <cs:fillRef idx="0"/>
    <cs:effectRef idx="0"/>
    <cs:fontRef idx="minor">
      <a:schemeClr val="tx2"/>
    </cs:fontRef>
  </cs:plotArea3D>
  <cs:seriesAxis>
    <cs:lnRef idx="0"/>
    <cs:fillRef idx="0"/>
    <cs:effectRef idx="0"/>
    <cs:fontRef idx="minor">
      <a:schemeClr val="tx2"/>
    </cs:fontRef>
    <cs:spPr>
      <a:ln w="9525" cap="flat" cmpd="sng" algn="ctr">
        <a:solidFill>
          <a:schemeClr val="tx2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2"/>
    </cs:fontRef>
    <cs:spPr>
      <a:ln w="9525">
        <a:solidFill>
          <a:schemeClr val="tx2">
            <a:lumMod val="60000"/>
            <a:lumOff val="40000"/>
          </a:schemeClr>
        </a:solidFill>
        <a:prstDash val="dash"/>
      </a:ln>
    </cs:spPr>
  </cs:seriesLine>
  <cs:title>
    <cs:lnRef idx="0"/>
    <cs:fillRef idx="0"/>
    <cs:effectRef idx="0"/>
    <cs:fontRef idx="minor">
      <a:schemeClr val="tx2"/>
    </cs:fontRef>
    <cs:defRPr sz="2128" b="1" kern="1200"/>
  </cs:title>
  <cs:trendline>
    <cs:lnRef idx="0">
      <cs:styleClr val="auto"/>
    </cs:lnRef>
    <cs:fillRef idx="0"/>
    <cs:effectRef idx="0"/>
    <cs:fontRef idx="minor">
      <a:schemeClr val="tx2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2"/>
    </cs:fontRef>
    <cs:defRPr sz="1197" kern="1200"/>
  </cs:trendlineLabel>
  <cs:upBar>
    <cs:lnRef idx="0"/>
    <cs:fillRef idx="0"/>
    <cs:effectRef idx="0"/>
    <cs:fontRef idx="minor">
      <a:schemeClr val="tx2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2"/>
    </cs:fontRef>
    <cs:defRPr sz="1197" kern="1200"/>
  </cs:valueAxis>
  <cs:wall>
    <cs:lnRef idx="0"/>
    <cs:fillRef idx="0"/>
    <cs:effectRef idx="0"/>
    <cs:fontRef idx="minor">
      <a:schemeClr val="tx2"/>
    </cs:fontRef>
  </cs:wall>
</cs:chartStyle>
</file>

<file path=ppt/charts/style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6" y="1"/>
            <a:ext cx="2950262" cy="496968"/>
          </a:xfrm>
          <a:prstGeom prst="rect">
            <a:avLst/>
          </a:prstGeom>
        </p:spPr>
        <p:txBody>
          <a:bodyPr vert="horz" lIns="91436" tIns="45717" rIns="91436" bIns="45717" rtlCol="0"/>
          <a:lstStyle>
            <a:lvl1pPr algn="l">
              <a:defRPr sz="1200"/>
            </a:lvl1pPr>
          </a:lstStyle>
          <a:p>
            <a:endParaRPr lang="ko-KR" altLang="en-US">
              <a:ea typeface="KoPub돋움체 Medium" panose="00000600000000000000" pitchFamily="2" charset="-127"/>
            </a:endParaRPr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56943" y="1"/>
            <a:ext cx="2950262" cy="496968"/>
          </a:xfrm>
          <a:prstGeom prst="rect">
            <a:avLst/>
          </a:prstGeom>
        </p:spPr>
        <p:txBody>
          <a:bodyPr vert="horz" lIns="91436" tIns="45717" rIns="91436" bIns="45717" rtlCol="0"/>
          <a:lstStyle>
            <a:lvl1pPr algn="r">
              <a:defRPr sz="1200"/>
            </a:lvl1pPr>
          </a:lstStyle>
          <a:p>
            <a:fld id="{B847FDA9-9F7C-413D-B610-D6F83F462202}" type="datetimeFigureOut">
              <a:rPr lang="ko-KR" altLang="en-US" smtClean="0">
                <a:ea typeface="KoPub돋움체 Medium" panose="00000600000000000000" pitchFamily="2" charset="-127"/>
              </a:rPr>
              <a:pPr/>
              <a:t>2025-04-21</a:t>
            </a:fld>
            <a:endParaRPr lang="ko-KR" altLang="en-US">
              <a:ea typeface="KoPub돋움체 Medium" panose="00000600000000000000" pitchFamily="2" charset="-127"/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6" y="9442373"/>
            <a:ext cx="2950262" cy="496967"/>
          </a:xfrm>
          <a:prstGeom prst="rect">
            <a:avLst/>
          </a:prstGeom>
        </p:spPr>
        <p:txBody>
          <a:bodyPr vert="horz" lIns="91436" tIns="45717" rIns="91436" bIns="45717" rtlCol="0" anchor="b"/>
          <a:lstStyle>
            <a:lvl1pPr algn="l">
              <a:defRPr sz="1200"/>
            </a:lvl1pPr>
          </a:lstStyle>
          <a:p>
            <a:endParaRPr lang="ko-KR" altLang="en-US">
              <a:ea typeface="KoPub돋움체 Medium" panose="00000600000000000000" pitchFamily="2" charset="-127"/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56943" y="9442373"/>
            <a:ext cx="2950262" cy="496967"/>
          </a:xfrm>
          <a:prstGeom prst="rect">
            <a:avLst/>
          </a:prstGeom>
        </p:spPr>
        <p:txBody>
          <a:bodyPr vert="horz" lIns="91436" tIns="45717" rIns="91436" bIns="45717" rtlCol="0" anchor="b"/>
          <a:lstStyle>
            <a:lvl1pPr algn="r">
              <a:defRPr sz="1200"/>
            </a:lvl1pPr>
          </a:lstStyle>
          <a:p>
            <a:fld id="{8E2347C6-8D75-43E2-83AB-4DA33C3F36A1}" type="slidenum">
              <a:rPr lang="ko-KR" altLang="en-US" smtClean="0">
                <a:ea typeface="KoPub돋움체 Medium" panose="00000600000000000000" pitchFamily="2" charset="-127"/>
              </a:rPr>
              <a:pPr/>
              <a:t>‹#›</a:t>
            </a:fld>
            <a:endParaRPr lang="ko-KR" altLang="en-US">
              <a:ea typeface="KoPub돋움체 Medium" panose="000006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59726996"/>
      </p:ext>
    </p:extLst>
  </p:cSld>
  <p:clrMap bg1="lt1" tx1="dk1" bg2="lt2" tx2="dk2" accent1="accent1" accent2="accent2" accent3="accent3" accent4="accent4" accent5="accent5" accent6="accent6" hlink="hlink" folHlink="folHlink"/>
  <p:hf hd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3" y="3"/>
            <a:ext cx="2951217" cy="4976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2414" tIns="46206" rIns="92414" bIns="46206" numCol="1" anchor="t" anchorCtr="0" compatLnSpc="1">
            <a:prstTxWarp prst="textNoShape">
              <a:avLst/>
            </a:prstTxWarp>
          </a:bodyPr>
          <a:lstStyle>
            <a:lvl1pPr defTabSz="924851" latinLnBrk="1">
              <a:spcBef>
                <a:spcPct val="0"/>
              </a:spcBef>
              <a:defRPr sz="1200">
                <a:latin typeface="KoPub돋움체 Medium" panose="00000600000000000000" pitchFamily="2" charset="-127"/>
                <a:ea typeface="KoPub돋움체 Medium" panose="00000600000000000000" pitchFamily="2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147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55983" y="3"/>
            <a:ext cx="2951217" cy="4976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2414" tIns="46206" rIns="92414" bIns="46206" numCol="1" anchor="t" anchorCtr="0" compatLnSpc="1">
            <a:prstTxWarp prst="textNoShape">
              <a:avLst/>
            </a:prstTxWarp>
          </a:bodyPr>
          <a:lstStyle>
            <a:lvl1pPr algn="r" defTabSz="924851" latinLnBrk="1">
              <a:spcBef>
                <a:spcPct val="0"/>
              </a:spcBef>
              <a:defRPr sz="1200">
                <a:latin typeface="KoPub돋움체 Medium" panose="00000600000000000000" pitchFamily="2" charset="-127"/>
                <a:ea typeface="KoPub돋움체 Medium" panose="00000600000000000000" pitchFamily="2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14340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714375" y="744538"/>
            <a:ext cx="5384800" cy="3729037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 val="1"/>
            </a:ext>
          </a:extLst>
        </p:spPr>
      </p:sp>
      <p:sp>
        <p:nvSpPr>
          <p:cNvPr id="6149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80563" y="4721663"/>
            <a:ext cx="5447666" cy="44752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2414" tIns="46206" rIns="92414" bIns="46206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 noProof="0"/>
              <a:t>마스터 텍스트 스타일을 편집합니다</a:t>
            </a:r>
          </a:p>
          <a:p>
            <a:pPr lvl="1"/>
            <a:r>
              <a:rPr lang="ko-KR" altLang="en-US" noProof="0"/>
              <a:t>둘째 수준</a:t>
            </a:r>
          </a:p>
          <a:p>
            <a:pPr lvl="2"/>
            <a:r>
              <a:rPr lang="ko-KR" altLang="en-US" noProof="0"/>
              <a:t>셋째 수준</a:t>
            </a:r>
          </a:p>
          <a:p>
            <a:pPr lvl="3"/>
            <a:r>
              <a:rPr lang="ko-KR" altLang="en-US" noProof="0"/>
              <a:t>넷째 수준</a:t>
            </a:r>
          </a:p>
          <a:p>
            <a:pPr lvl="4"/>
            <a:r>
              <a:rPr lang="ko-KR" altLang="en-US" noProof="0"/>
              <a:t>다섯째 수준</a:t>
            </a:r>
          </a:p>
        </p:txBody>
      </p:sp>
      <p:sp>
        <p:nvSpPr>
          <p:cNvPr id="6150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3" y="9441736"/>
            <a:ext cx="2951217" cy="49760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2414" tIns="46206" rIns="92414" bIns="46206" numCol="1" anchor="b" anchorCtr="0" compatLnSpc="1">
            <a:prstTxWarp prst="textNoShape">
              <a:avLst/>
            </a:prstTxWarp>
          </a:bodyPr>
          <a:lstStyle>
            <a:lvl1pPr defTabSz="924851" latinLnBrk="1">
              <a:spcBef>
                <a:spcPct val="0"/>
              </a:spcBef>
              <a:defRPr sz="1200">
                <a:latin typeface="KoPub돋움체 Medium" panose="00000600000000000000" pitchFamily="2" charset="-127"/>
                <a:ea typeface="KoPub돋움체 Medium" panose="00000600000000000000" pitchFamily="2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151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55983" y="9441736"/>
            <a:ext cx="2951217" cy="49760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2414" tIns="46206" rIns="92414" bIns="46206" numCol="1" anchor="b" anchorCtr="0" compatLnSpc="1">
            <a:prstTxWarp prst="textNoShape">
              <a:avLst/>
            </a:prstTxWarp>
          </a:bodyPr>
          <a:lstStyle>
            <a:lvl1pPr algn="r" defTabSz="924851" latinLnBrk="1">
              <a:spcBef>
                <a:spcPct val="0"/>
              </a:spcBef>
              <a:defRPr sz="1200">
                <a:latin typeface="KoPub돋움체 Medium" panose="00000600000000000000" pitchFamily="2" charset="-127"/>
                <a:ea typeface="KoPub돋움체 Medium" panose="00000600000000000000" pitchFamily="2" charset="-127"/>
              </a:defRPr>
            </a:lvl1pPr>
          </a:lstStyle>
          <a:p>
            <a:pPr>
              <a:defRPr/>
            </a:pPr>
            <a:fld id="{9EB6472E-2A23-43FE-BF71-7E23ED9A9D6F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552805858"/>
      </p:ext>
    </p:extLst>
  </p:cSld>
  <p:clrMap bg1="lt1" tx1="dk1" bg2="lt2" tx2="dk2" accent1="accent1" accent2="accent2" accent3="accent3" accent4="accent4" accent5="accent5" accent6="accent6" hlink="hlink" folHlink="folHlink"/>
  <p:hf hdr="0" dt="0"/>
  <p:notesStyle>
    <a:lvl1pPr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KoPub돋움체 Medium" panose="00000600000000000000" pitchFamily="2" charset="-127"/>
        <a:ea typeface="KoPub돋움체 Medium" panose="00000600000000000000" pitchFamily="2" charset="-127"/>
        <a:cs typeface="+mn-cs"/>
      </a:defRPr>
    </a:lvl1pPr>
    <a:lvl2pPr marL="457200"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KoPub돋움체 Medium" panose="00000600000000000000" pitchFamily="2" charset="-127"/>
        <a:ea typeface="KoPub돋움체 Medium" panose="00000600000000000000" pitchFamily="2" charset="-127"/>
        <a:cs typeface="+mn-cs"/>
      </a:defRPr>
    </a:lvl2pPr>
    <a:lvl3pPr marL="914400"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KoPub돋움체 Medium" panose="00000600000000000000" pitchFamily="2" charset="-127"/>
        <a:ea typeface="KoPub돋움체 Medium" panose="00000600000000000000" pitchFamily="2" charset="-127"/>
        <a:cs typeface="+mn-cs"/>
      </a:defRPr>
    </a:lvl3pPr>
    <a:lvl4pPr marL="1371600"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KoPub돋움체 Medium" panose="00000600000000000000" pitchFamily="2" charset="-127"/>
        <a:ea typeface="KoPub돋움체 Medium" panose="00000600000000000000" pitchFamily="2" charset="-127"/>
        <a:cs typeface="+mn-cs"/>
      </a:defRPr>
    </a:lvl4pPr>
    <a:lvl5pPr marL="1828800"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KoPub돋움체 Medium" panose="00000600000000000000" pitchFamily="2" charset="-127"/>
        <a:ea typeface="KoPub돋움체 Medium" panose="00000600000000000000" pitchFamily="2" charset="-127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 bwMode="auto"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 bwMode="auto"/>
        <p:txBody>
          <a:bodyPr/>
          <a:lstStyle/>
          <a:p>
            <a:pPr>
              <a:defRPr/>
            </a:pPr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 bwMode="auto"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95CE376-780B-A676-4C04-2399FA35D41F}" type="slidenum">
              <a:rPr kumimoji="0" sz="1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KoPub돋움체 Medium" panose="00000600000000000000" pitchFamily="2" charset="-127"/>
                <a:cs typeface="Arial"/>
                <a:sym typeface="+mn-lt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0</a:t>
            </a:fld>
            <a:endParaRPr kumimoji="0" sz="12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KoPub돋움체 Medium" panose="00000600000000000000" pitchFamily="2" charset="-127"/>
              <a:cs typeface="Arial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424826541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type="objOnly" preserve="1" userDrawn="1">
  <p:cSld name="내용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내용 개체 틀 1"/>
          <p:cNvSpPr>
            <a:spLocks noGrp="1"/>
          </p:cNvSpPr>
          <p:nvPr>
            <p:ph/>
          </p:nvPr>
        </p:nvSpPr>
        <p:spPr bwMode="auto">
          <a:xfrm>
            <a:off x="495301" y="274640"/>
            <a:ext cx="8915400" cy="5851525"/>
          </a:xfrm>
          <a:prstGeom prst="rect">
            <a:avLst/>
          </a:prstGeom>
        </p:spPr>
        <p:txBody>
          <a:bodyPr/>
          <a:lstStyle/>
          <a:p>
            <a:pPr lvl="0">
              <a:defRPr/>
            </a:pPr>
            <a:r>
              <a:rPr lang="ko-KR"/>
              <a:t>마스터 텍스트 스타일을 편집합니다</a:t>
            </a:r>
            <a:endParaRPr/>
          </a:p>
          <a:p>
            <a:pPr lvl="1">
              <a:defRPr/>
            </a:pPr>
            <a:r>
              <a:rPr lang="ko-KR"/>
              <a:t>둘째 수준</a:t>
            </a:r>
            <a:endParaRPr/>
          </a:p>
          <a:p>
            <a:pPr lvl="2">
              <a:defRPr/>
            </a:pPr>
            <a:r>
              <a:rPr lang="ko-KR"/>
              <a:t>셋째 수준</a:t>
            </a:r>
            <a:endParaRPr/>
          </a:p>
          <a:p>
            <a:pPr lvl="3">
              <a:defRPr/>
            </a:pPr>
            <a:r>
              <a:rPr lang="ko-KR"/>
              <a:t>넷째 수준</a:t>
            </a:r>
            <a:endParaRPr/>
          </a:p>
          <a:p>
            <a:pPr lvl="4">
              <a:defRPr/>
            </a:pPr>
            <a:r>
              <a:rPr lang="ko-KR"/>
              <a:t>다섯째 수준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95380" y="6245225"/>
            <a:ext cx="2311770" cy="47625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 algn="ctr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defRPr/>
            </a:pPr>
            <a:endParaRPr lang="en-US" sz="1100" b="1">
              <a:solidFill>
                <a:srgbClr val="000000"/>
              </a:solidFill>
              <a:latin typeface="Arial"/>
              <a:ea typeface="가는각진제목체"/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 bwMode="auto">
          <a:xfrm>
            <a:off x="3385093" y="6245225"/>
            <a:ext cx="3135815" cy="47625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 algn="ctr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defRPr/>
            </a:pPr>
            <a:endParaRPr lang="en-US" sz="1100" b="1">
              <a:solidFill>
                <a:srgbClr val="000000"/>
              </a:solidFill>
              <a:latin typeface="Arial"/>
              <a:ea typeface="가는각진제목체"/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 bwMode="auto">
          <a:xfrm>
            <a:off x="7098850" y="6245225"/>
            <a:ext cx="2311770" cy="47625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 algn="ctr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defRPr/>
            </a:pPr>
            <a:fld id="{D724FCBA-60F2-4979-BDC8-4B2A6D7825A4}" type="slidenum">
              <a:rPr lang="en-US" sz="1100" b="1">
                <a:solidFill>
                  <a:srgbClr val="000000"/>
                </a:solidFill>
                <a:latin typeface="Arial"/>
                <a:ea typeface="가는각진제목체"/>
              </a:rPr>
              <a:t>‹#›</a:t>
            </a:fld>
            <a:endParaRPr lang="en-US" sz="1100" b="1">
              <a:solidFill>
                <a:srgbClr val="000000"/>
              </a:solidFill>
              <a:latin typeface="Arial"/>
              <a:ea typeface="가는각진제목체"/>
            </a:endParaRPr>
          </a:p>
        </p:txBody>
      </p:sp>
    </p:spTree>
    <p:extLst>
      <p:ext uri="{BB962C8B-B14F-4D97-AF65-F5344CB8AC3E}">
        <p14:creationId xmlns:p14="http://schemas.microsoft.com/office/powerpoint/2010/main" val="23695724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별첨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표 4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18544484"/>
              </p:ext>
            </p:extLst>
          </p:nvPr>
        </p:nvGraphicFramePr>
        <p:xfrm>
          <a:off x="92075" y="663233"/>
          <a:ext cx="7042150" cy="578850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42150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</a:tblGrid>
              <a:tr h="28050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화면 레이아웃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5508000">
                <a:tc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64582423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595" userDrawn="1">
          <p15:clr>
            <a:srgbClr val="FBAE40"/>
          </p15:clr>
        </p15:guide>
        <p15:guide id="6" orient="horz" pos="4065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ba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7">
            <a:extLst>
              <a:ext uri="{FF2B5EF4-FFF2-40B4-BE49-F238E27FC236}">
                <a16:creationId xmlns:a16="http://schemas.microsoft.com/office/drawing/2014/main" id="{2C8C2C22-DE1E-4669-88C0-0D3114E7AB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6701" y="100295"/>
            <a:ext cx="8829674" cy="528637"/>
          </a:xfrm>
          <a:prstGeom prst="rect">
            <a:avLst/>
          </a:prstGeom>
        </p:spPr>
        <p:txBody>
          <a:bodyPr/>
          <a:lstStyle/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0" y="651625"/>
            <a:ext cx="9905999" cy="708047"/>
          </a:xfrm>
          <a:prstGeom prst="rect">
            <a:avLst/>
          </a:prstGeom>
          <a:solidFill>
            <a:schemeClr val="bg2"/>
          </a:solidFill>
        </p:spPr>
        <p:txBody>
          <a:bodyPr lIns="288000" tIns="72000" rIns="144000"/>
          <a:lstStyle>
            <a:lvl1pPr>
              <a:defRPr sz="1800" spc="0">
                <a:solidFill>
                  <a:schemeClr val="tx1">
                    <a:lumMod val="75000"/>
                    <a:lumOff val="25000"/>
                  </a:schemeClr>
                </a:solidFill>
                <a:latin typeface="KB금융 제목체 Bold" panose="020B0803000000000000" pitchFamily="50" charset="-127"/>
                <a:ea typeface="KB금융 제목체 Bold" panose="020B0803000000000000" pitchFamily="50" charset="-127"/>
              </a:defRPr>
            </a:lvl1pPr>
            <a:lvl2pPr>
              <a:defRPr sz="1600" spc="0">
                <a:solidFill>
                  <a:schemeClr val="tx1">
                    <a:lumMod val="75000"/>
                    <a:lumOff val="25000"/>
                  </a:schemeClr>
                </a:solidFill>
                <a:latin typeface="KB금융 제목체 Bold" panose="020B0803000000000000" pitchFamily="50" charset="-127"/>
                <a:ea typeface="KB금융 제목체 Bold" panose="020B0803000000000000" pitchFamily="50" charset="-127"/>
              </a:defRPr>
            </a:lvl2pPr>
            <a:lvl3pPr>
              <a:defRPr sz="1600" spc="0">
                <a:solidFill>
                  <a:schemeClr val="tx1">
                    <a:lumMod val="75000"/>
                    <a:lumOff val="25000"/>
                  </a:schemeClr>
                </a:solidFill>
                <a:latin typeface="KB금융 제목체 Bold" panose="020B0803000000000000" pitchFamily="50" charset="-127"/>
                <a:ea typeface="KB금융 제목체 Bold" panose="020B0803000000000000" pitchFamily="50" charset="-127"/>
              </a:defRPr>
            </a:lvl3pPr>
            <a:lvl4pPr>
              <a:defRPr sz="1400" spc="0">
                <a:solidFill>
                  <a:schemeClr val="tx1">
                    <a:lumMod val="75000"/>
                    <a:lumOff val="25000"/>
                  </a:schemeClr>
                </a:solidFill>
                <a:latin typeface="KB금융 제목체 Bold" panose="020B0803000000000000" pitchFamily="50" charset="-127"/>
                <a:ea typeface="KB금융 제목체 Bold" panose="020B0803000000000000" pitchFamily="50" charset="-127"/>
              </a:defRPr>
            </a:lvl4pPr>
            <a:lvl5pPr>
              <a:defRPr sz="1050" spc="0">
                <a:solidFill>
                  <a:schemeClr val="tx1">
                    <a:lumMod val="75000"/>
                    <a:lumOff val="25000"/>
                  </a:schemeClr>
                </a:solidFill>
                <a:latin typeface="KB금융 제목체 Bold" panose="020B0803000000000000" pitchFamily="50" charset="-127"/>
                <a:ea typeface="KB금융 제목체 Bold" panose="020B0803000000000000" pitchFamily="50" charset="-127"/>
              </a:defRPr>
            </a:lvl5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</p:spTree>
    <p:extLst>
      <p:ext uri="{BB962C8B-B14F-4D97-AF65-F5344CB8AC3E}">
        <p14:creationId xmlns:p14="http://schemas.microsoft.com/office/powerpoint/2010/main" val="207551086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822">
          <p15:clr>
            <a:srgbClr val="FBAE40"/>
          </p15:clr>
        </p15:guide>
        <p15:guide id="2" orient="horz" pos="1185">
          <p15:clr>
            <a:srgbClr val="FBAE40"/>
          </p15:clr>
        </p15:guide>
        <p15:guide id="3" orient="horz" pos="3974">
          <p15:clr>
            <a:srgbClr val="FBAE40"/>
          </p15:clr>
        </p15:guide>
        <p15:guide id="4" orient="horz" pos="3816">
          <p15:clr>
            <a:srgbClr val="FBAE40"/>
          </p15:clr>
        </p15:guide>
        <p15:guide id="5" orient="horz" pos="1593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type="objOnly" userDrawn="1">
  <p:cSld name="내용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내용 개체 틀 1"/>
          <p:cNvSpPr>
            <a:spLocks noGrp="1"/>
          </p:cNvSpPr>
          <p:nvPr>
            <p:ph/>
          </p:nvPr>
        </p:nvSpPr>
        <p:spPr bwMode="auto">
          <a:xfrm>
            <a:off x="495301" y="274640"/>
            <a:ext cx="8915400" cy="5851525"/>
          </a:xfrm>
          <a:prstGeom prst="rect">
            <a:avLst/>
          </a:prstGeom>
        </p:spPr>
        <p:txBody>
          <a:bodyPr/>
          <a:lstStyle/>
          <a:p>
            <a:pPr lvl="0">
              <a:defRPr/>
            </a:pPr>
            <a:r>
              <a:rPr lang="ko-KR"/>
              <a:t>마스터 텍스트 스타일을 편집합니다</a:t>
            </a:r>
            <a:endParaRPr/>
          </a:p>
          <a:p>
            <a:pPr lvl="1">
              <a:defRPr/>
            </a:pPr>
            <a:r>
              <a:rPr lang="ko-KR"/>
              <a:t>둘째 수준</a:t>
            </a:r>
            <a:endParaRPr/>
          </a:p>
          <a:p>
            <a:pPr lvl="2">
              <a:defRPr/>
            </a:pPr>
            <a:r>
              <a:rPr lang="ko-KR"/>
              <a:t>셋째 수준</a:t>
            </a:r>
            <a:endParaRPr/>
          </a:p>
          <a:p>
            <a:pPr lvl="3">
              <a:defRPr/>
            </a:pPr>
            <a:r>
              <a:rPr lang="ko-KR"/>
              <a:t>넷째 수준</a:t>
            </a:r>
            <a:endParaRPr/>
          </a:p>
          <a:p>
            <a:pPr lvl="4">
              <a:defRPr/>
            </a:pPr>
            <a:r>
              <a:rPr lang="ko-KR"/>
              <a:t>다섯째 수준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95380" y="6245225"/>
            <a:ext cx="2311770" cy="47625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 algn="ctr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defRPr/>
            </a:pPr>
            <a:endParaRPr lang="en-US" sz="1100" b="1">
              <a:solidFill>
                <a:srgbClr val="000000"/>
              </a:solidFill>
              <a:latin typeface="Arial"/>
              <a:ea typeface="가는각진제목체"/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 bwMode="auto">
          <a:xfrm>
            <a:off x="3385093" y="6245225"/>
            <a:ext cx="3135815" cy="47625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 algn="ctr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defRPr/>
            </a:pPr>
            <a:endParaRPr lang="en-US" sz="1100" b="1">
              <a:solidFill>
                <a:srgbClr val="000000"/>
              </a:solidFill>
              <a:latin typeface="Arial"/>
              <a:ea typeface="가는각진제목체"/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 bwMode="auto">
          <a:xfrm>
            <a:off x="7098850" y="6245225"/>
            <a:ext cx="2311770" cy="47625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 algn="ctr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defRPr/>
            </a:pPr>
            <a:fld id="{D724FCBA-60F2-4979-BDC8-4B2A6D7825A4}" type="slidenum">
              <a:rPr lang="en-US" sz="1100" b="1">
                <a:solidFill>
                  <a:srgbClr val="000000"/>
                </a:solidFill>
                <a:latin typeface="Arial"/>
                <a:ea typeface="가는각진제목체"/>
              </a:rPr>
              <a:t>‹#›</a:t>
            </a:fld>
            <a:endParaRPr lang="en-US" sz="1100" b="1">
              <a:solidFill>
                <a:srgbClr val="000000"/>
              </a:solidFill>
              <a:latin typeface="Arial"/>
              <a:ea typeface="가는각진제목체"/>
            </a:endParaRPr>
          </a:p>
        </p:txBody>
      </p:sp>
    </p:spTree>
    <p:extLst>
      <p:ext uri="{BB962C8B-B14F-4D97-AF65-F5344CB8AC3E}">
        <p14:creationId xmlns:p14="http://schemas.microsoft.com/office/powerpoint/2010/main" val="82463503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V_감사정보_1_요구사항 명세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14954709"/>
      </p:ext>
    </p:extLst>
  </p:cSld>
  <p:clrMapOvr>
    <a:masterClrMapping/>
  </p:clrMapOvr>
  <p:timing>
    <p:tnLst>
      <p:par>
        <p:cTn id="1" dur="indefinite" restart="never" nodeType="tmRoot"/>
      </p:par>
    </p:tnLst>
  </p:timing>
  <p:extLst mod="1">
    <p:ext uri="{DCECCB84-F9BA-43D5-87BE-67443E8EF086}">
      <p15:sldGuideLst xmlns:p15="http://schemas.microsoft.com/office/powerpoint/2012/main">
        <p15:guide id="1" orient="horz" pos="822">
          <p15:clr>
            <a:srgbClr val="FBAE40"/>
          </p15:clr>
        </p15:guide>
        <p15:guide id="2" orient="horz" pos="1185">
          <p15:clr>
            <a:srgbClr val="FBAE40"/>
          </p15:clr>
        </p15:guide>
        <p15:guide id="3" orient="horz" pos="3974">
          <p15:clr>
            <a:srgbClr val="FBAE40"/>
          </p15:clr>
        </p15:guide>
        <p15:guide id="4" orient="horz" pos="3816">
          <p15:clr>
            <a:srgbClr val="FBAE40"/>
          </p15:clr>
        </p15:guide>
        <p15:guide id="5" orient="horz" pos="1593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.png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.xml"/><Relationship Id="rId2" Type="http://schemas.openxmlformats.org/officeDocument/2006/relationships/slideLayout" Target="../slideLayouts/slideLayout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.jpeg"/><Relationship Id="rId5" Type="http://schemas.openxmlformats.org/officeDocument/2006/relationships/theme" Target="../theme/theme2.xml"/><Relationship Id="rId4" Type="http://schemas.openxmlformats.org/officeDocument/2006/relationships/slideLayout" Target="../slideLayouts/slideLayout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pic>
        <p:nvPicPr>
          <p:cNvPr id="7" name="그림 6"/>
          <p:cNvPicPr>
            <a:picLocks noChangeAspect="1"/>
          </p:cNvPicPr>
          <p:nvPr userDrawn="1"/>
        </p:nvPicPr>
        <p:blipFill>
          <a:blip r:embed="rId3"/>
          <a:stretch/>
        </p:blipFill>
        <p:spPr bwMode="auto">
          <a:xfrm>
            <a:off x="0" y="724"/>
            <a:ext cx="9907587" cy="6856552"/>
          </a:xfrm>
          <a:prstGeom prst="rect">
            <a:avLst/>
          </a:prstGeom>
        </p:spPr>
      </p:pic>
      <p:pic>
        <p:nvPicPr>
          <p:cNvPr id="9" name="그림 8"/>
          <p:cNvPicPr>
            <a:picLocks noChangeAspect="1"/>
          </p:cNvPicPr>
          <p:nvPr userDrawn="1"/>
        </p:nvPicPr>
        <p:blipFill>
          <a:blip r:embed="rId4"/>
          <a:stretch/>
        </p:blipFill>
        <p:spPr bwMode="auto">
          <a:xfrm>
            <a:off x="390063" y="324000"/>
            <a:ext cx="2130200" cy="396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985916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00" r:id="rId1"/>
  </p:sldLayoutIdLst>
  <p:timing>
    <p:tnLst>
      <p:par>
        <p:cTn id="1" dur="indefinite" restart="never" nodeType="tmRoot"/>
      </p:par>
    </p:tnLst>
  </p:timing>
  <p:txStyles>
    <p:titleStyle>
      <a:lvl1pPr algn="ctr" defTabSz="914400">
        <a:spcBef>
          <a:spcPts val="0"/>
        </a:spcBef>
        <a:buNone/>
        <a:defRPr sz="44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>
        <a:spcBef>
          <a:spcPts val="0"/>
        </a:spcBef>
        <a:buFont typeface="Arial"/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>
        <a:spcBef>
          <a:spcPts val="0"/>
        </a:spcBef>
        <a:buFont typeface="Arial"/>
        <a:buChar char="–"/>
        <a:defRPr sz="28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>
        <a:spcBef>
          <a:spcPts val="0"/>
        </a:spcBef>
        <a:buFont typeface="Arial"/>
        <a:buChar char="•"/>
        <a:defRPr sz="24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>
        <a:spcBef>
          <a:spcPts val="0"/>
        </a:spcBef>
        <a:buFont typeface="Arial"/>
        <a:buChar char="–"/>
        <a:defRPr sz="20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>
        <a:spcBef>
          <a:spcPts val="0"/>
        </a:spcBef>
        <a:buFont typeface="Arial"/>
        <a:buChar char="»"/>
        <a:defRPr sz="20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>
        <a:spcBef>
          <a:spcPts val="0"/>
        </a:spcBef>
        <a:buFont typeface="Arial"/>
        <a:buChar char="•"/>
        <a:defRPr sz="20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>
        <a:spcBef>
          <a:spcPts val="0"/>
        </a:spcBef>
        <a:buFont typeface="Arial"/>
        <a:buChar char="•"/>
        <a:defRPr sz="20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>
        <a:spcBef>
          <a:spcPts val="0"/>
        </a:spcBef>
        <a:buFont typeface="Arial"/>
        <a:buChar char="•"/>
        <a:defRPr sz="20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>
        <a:spcBef>
          <a:spcPts val="0"/>
        </a:spcBef>
        <a:buFont typeface="Arial"/>
        <a:buChar char="•"/>
        <a:defRPr sz="20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>
        <a:defRPr sz="18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>
        <a:defRPr sz="18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>
        <a:defRPr sz="18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>
        <a:defRPr sz="18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>
        <a:defRPr sz="18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>
        <a:defRPr sz="18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>
        <a:defRPr sz="18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>
        <a:defRPr sz="18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>
        <a:defRPr sz="18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 bwMode="ltGray"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hape 8">
            <a:extLst>
              <a:ext uri="{FF2B5EF4-FFF2-40B4-BE49-F238E27FC236}">
                <a16:creationId xmlns:a16="http://schemas.microsoft.com/office/drawing/2014/main" id="{B8A41256-83F0-BC25-F70A-0F838157ADB2}"/>
              </a:ext>
            </a:extLst>
          </p:cNvPr>
          <p:cNvSpPr txBox="1">
            <a:spLocks/>
          </p:cNvSpPr>
          <p:nvPr userDrawn="1"/>
        </p:nvSpPr>
        <p:spPr>
          <a:xfrm>
            <a:off x="8454040" y="6615134"/>
            <a:ext cx="1301311" cy="149412"/>
          </a:xfrm>
          <a:prstGeom prst="rect">
            <a:avLst/>
          </a:prstGeom>
        </p:spPr>
        <p:txBody>
          <a:bodyPr lIns="0" tIns="0" rIns="0" bIns="0" anchor="b" anchorCtr="0"/>
          <a:lstStyle>
            <a:defPPr>
              <a:defRPr lang="en-US"/>
            </a:defPPr>
            <a:lvl1pPr marL="0" algn="l" defTabSz="457200" rtl="0" eaLnBrk="1" latinLnBrk="0" hangingPunct="1">
              <a:defRPr sz="1000" kern="1200">
                <a:solidFill>
                  <a:srgbClr val="0061A8"/>
                </a:solidFill>
                <a:latin typeface="Univers for KPMG"/>
                <a:ea typeface="Univers for KPMG"/>
                <a:cs typeface="Univers for KPMG"/>
                <a:sym typeface="Univers for KPMG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fld id="{86CB4B4D-7CA3-9044-876B-883B54F8677D}" type="slidenum">
              <a:rPr lang="en-US" sz="915" b="1" baseline="0" smtClean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  <a:cs typeface="Univers for KPMG"/>
              </a:rPr>
              <a:pPr algn="r"/>
              <a:t>‹#›</a:t>
            </a:fld>
            <a:endParaRPr lang="en-US" sz="915" b="1" baseline="0" dirty="0">
              <a:solidFill>
                <a:schemeClr val="tx1"/>
              </a:solidFill>
              <a:latin typeface="KB금융 본문체 Light" panose="020B0303000000000000" pitchFamily="50" charset="-127"/>
              <a:ea typeface="KB금융 본문체 Light" panose="020B0303000000000000" pitchFamily="50" charset="-127"/>
              <a:cs typeface="Univers for KPMG"/>
            </a:endParaRPr>
          </a:p>
        </p:txBody>
      </p:sp>
      <p:pic>
        <p:nvPicPr>
          <p:cNvPr id="5" name="그림 4" descr="텍스트, 폰트, 로고, 상징이(가) 표시된 사진&#10;&#10;자동 생성된 설명">
            <a:extLst>
              <a:ext uri="{FF2B5EF4-FFF2-40B4-BE49-F238E27FC236}">
                <a16:creationId xmlns:a16="http://schemas.microsoft.com/office/drawing/2014/main" id="{A98F5744-0E3D-B876-2F51-0F38349C87A1}"/>
              </a:ext>
            </a:extLst>
          </p:cNvPr>
          <p:cNvPicPr>
            <a:picLocks noChangeAspect="1"/>
          </p:cNvPicPr>
          <p:nvPr userDrawn="1"/>
        </p:nvPicPr>
        <p:blipFill>
          <a:blip r:embed="rId6"/>
          <a:stretch>
            <a:fillRect/>
          </a:stretch>
        </p:blipFill>
        <p:spPr>
          <a:xfrm>
            <a:off x="138758" y="6389951"/>
            <a:ext cx="758825" cy="419615"/>
          </a:xfrm>
          <a:prstGeom prst="rect">
            <a:avLst/>
          </a:prstGeom>
        </p:spPr>
      </p:pic>
      <p:sp>
        <p:nvSpPr>
          <p:cNvPr id="6" name="직사각형 5">
            <a:extLst>
              <a:ext uri="{FF2B5EF4-FFF2-40B4-BE49-F238E27FC236}">
                <a16:creationId xmlns:a16="http://schemas.microsoft.com/office/drawing/2014/main" id="{13D67BC6-FE5A-5BC5-FA84-CEAFD1728441}"/>
              </a:ext>
            </a:extLst>
          </p:cNvPr>
          <p:cNvSpPr/>
          <p:nvPr userDrawn="1"/>
        </p:nvSpPr>
        <p:spPr>
          <a:xfrm>
            <a:off x="-971771" y="585061"/>
            <a:ext cx="360000" cy="360000"/>
          </a:xfrm>
          <a:prstGeom prst="rect">
            <a:avLst/>
          </a:prstGeom>
          <a:solidFill>
            <a:srgbClr val="00338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18000" tIns="10800" rIns="18000" bIns="108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Bold" panose="00000800000000000000" pitchFamily="2" charset="-127"/>
              <a:ea typeface="KoPub돋움체 Bold" panose="00000800000000000000" pitchFamily="2" charset="-127"/>
              <a:cs typeface="+mn-cs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AB2D52D-84BF-CE6A-915D-91FD426405FA}"/>
              </a:ext>
            </a:extLst>
          </p:cNvPr>
          <p:cNvSpPr/>
          <p:nvPr userDrawn="1"/>
        </p:nvSpPr>
        <p:spPr>
          <a:xfrm>
            <a:off x="-971771" y="2745301"/>
            <a:ext cx="360000" cy="360000"/>
          </a:xfrm>
          <a:prstGeom prst="rect">
            <a:avLst/>
          </a:prstGeom>
          <a:solidFill>
            <a:srgbClr val="00A3A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18000" tIns="10800" rIns="18000" bIns="108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800" b="1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Bold" panose="00000800000000000000" pitchFamily="2" charset="-127"/>
              <a:ea typeface="KoPub돋움체 Bold" panose="00000800000000000000" pitchFamily="2" charset="-127"/>
              <a:cs typeface="+mn-cs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766B257A-6E3A-92EE-F794-29807F2F5DC7}"/>
              </a:ext>
            </a:extLst>
          </p:cNvPr>
          <p:cNvSpPr/>
          <p:nvPr userDrawn="1"/>
        </p:nvSpPr>
        <p:spPr>
          <a:xfrm>
            <a:off x="-521510" y="2745301"/>
            <a:ext cx="360000" cy="360000"/>
          </a:xfrm>
          <a:prstGeom prst="rect">
            <a:avLst/>
          </a:prstGeom>
          <a:solidFill>
            <a:srgbClr val="6D2077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18000" tIns="10800" rIns="18000" bIns="108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Bold" panose="00000800000000000000" pitchFamily="2" charset="-127"/>
              <a:ea typeface="KoPub돋움체 Bold" panose="00000800000000000000" pitchFamily="2" charset="-127"/>
              <a:cs typeface="+mn-cs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5F807B4-8058-FA85-A1A5-641162ED81A2}"/>
              </a:ext>
            </a:extLst>
          </p:cNvPr>
          <p:cNvSpPr/>
          <p:nvPr userDrawn="1"/>
        </p:nvSpPr>
        <p:spPr>
          <a:xfrm>
            <a:off x="-971771" y="1016317"/>
            <a:ext cx="360000" cy="360000"/>
          </a:xfrm>
          <a:prstGeom prst="rect">
            <a:avLst/>
          </a:prstGeom>
          <a:solidFill>
            <a:srgbClr val="0091DA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18000" tIns="10800" rIns="18000" bIns="108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Bold" panose="00000800000000000000" pitchFamily="2" charset="-127"/>
              <a:ea typeface="KoPub돋움체 Bold" panose="00000800000000000000" pitchFamily="2" charset="-127"/>
              <a:cs typeface="+mn-cs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AE5683FD-47EA-4570-80F0-6196D4C1632F}"/>
              </a:ext>
            </a:extLst>
          </p:cNvPr>
          <p:cNvSpPr/>
          <p:nvPr userDrawn="1"/>
        </p:nvSpPr>
        <p:spPr>
          <a:xfrm>
            <a:off x="-971771" y="2304826"/>
            <a:ext cx="360000" cy="360000"/>
          </a:xfrm>
          <a:prstGeom prst="rect">
            <a:avLst/>
          </a:prstGeom>
          <a:solidFill>
            <a:srgbClr val="B5D0F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18000" tIns="10800" rIns="18000" bIns="108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Bold" panose="00000800000000000000" pitchFamily="2" charset="-127"/>
              <a:ea typeface="KoPub돋움체 Bold" panose="00000800000000000000" pitchFamily="2" charset="-127"/>
              <a:cs typeface="+mn-cs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B19BA49B-DEF1-6B8D-5E5A-A03EECF30236}"/>
              </a:ext>
            </a:extLst>
          </p:cNvPr>
          <p:cNvSpPr/>
          <p:nvPr userDrawn="1"/>
        </p:nvSpPr>
        <p:spPr>
          <a:xfrm>
            <a:off x="-971771" y="1877552"/>
            <a:ext cx="360000" cy="360000"/>
          </a:xfrm>
          <a:prstGeom prst="rect">
            <a:avLst/>
          </a:prstGeom>
          <a:solidFill>
            <a:srgbClr val="2272F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18000" tIns="10800" rIns="18000" bIns="108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Bold" panose="00000800000000000000" pitchFamily="2" charset="-127"/>
              <a:ea typeface="KoPub돋움체 Bold" panose="00000800000000000000" pitchFamily="2" charset="-127"/>
              <a:cs typeface="+mn-cs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A7C8D42-7B7F-2D0B-F783-80864A8CD35B}"/>
              </a:ext>
            </a:extLst>
          </p:cNvPr>
          <p:cNvSpPr/>
          <p:nvPr userDrawn="1"/>
        </p:nvSpPr>
        <p:spPr>
          <a:xfrm>
            <a:off x="-521510" y="585061"/>
            <a:ext cx="360000" cy="360000"/>
          </a:xfrm>
          <a:prstGeom prst="rect">
            <a:avLst/>
          </a:prstGeom>
          <a:solidFill>
            <a:srgbClr val="000000">
              <a:lumMod val="75000"/>
              <a:lumOff val="2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18000" tIns="10800" rIns="18000" bIns="108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Bold" panose="00000800000000000000" pitchFamily="2" charset="-127"/>
              <a:ea typeface="KoPub돋움체 Bold" panose="00000800000000000000" pitchFamily="2" charset="-127"/>
              <a:cs typeface="+mn-cs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13A2E4E4-51E4-711B-C1E3-A755D3FBC8E5}"/>
              </a:ext>
            </a:extLst>
          </p:cNvPr>
          <p:cNvSpPr/>
          <p:nvPr userDrawn="1"/>
        </p:nvSpPr>
        <p:spPr>
          <a:xfrm>
            <a:off x="-521510" y="1016317"/>
            <a:ext cx="360000" cy="360000"/>
          </a:xfrm>
          <a:prstGeom prst="rect">
            <a:avLst/>
          </a:prstGeom>
          <a:solidFill>
            <a:srgbClr val="000000">
              <a:lumMod val="50000"/>
              <a:lumOff val="5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18000" tIns="10800" rIns="18000" bIns="108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Bold" panose="00000800000000000000" pitchFamily="2" charset="-127"/>
              <a:ea typeface="KoPub돋움체 Bold" panose="00000800000000000000" pitchFamily="2" charset="-127"/>
              <a:cs typeface="+mn-cs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3FB1B516-8374-E5BC-9824-82FBEE01D408}"/>
              </a:ext>
            </a:extLst>
          </p:cNvPr>
          <p:cNvSpPr/>
          <p:nvPr userDrawn="1"/>
        </p:nvSpPr>
        <p:spPr>
          <a:xfrm>
            <a:off x="-521510" y="2313253"/>
            <a:ext cx="360000" cy="360000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18000" tIns="10800" rIns="18000" bIns="108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Bold" panose="00000800000000000000" pitchFamily="2" charset="-127"/>
              <a:ea typeface="KoPub돋움체 Bold" panose="00000800000000000000" pitchFamily="2" charset="-127"/>
              <a:cs typeface="+mn-cs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525FD23-A8FE-25B4-9CD5-FB2A406DCA7F}"/>
              </a:ext>
            </a:extLst>
          </p:cNvPr>
          <p:cNvSpPr/>
          <p:nvPr userDrawn="1"/>
        </p:nvSpPr>
        <p:spPr>
          <a:xfrm>
            <a:off x="-521510" y="1875147"/>
            <a:ext cx="360000" cy="360000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18000" tIns="10800" rIns="18000" bIns="108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Bold" panose="00000800000000000000" pitchFamily="2" charset="-127"/>
              <a:ea typeface="KoPub돋움체 Bold" panose="00000800000000000000" pitchFamily="2" charset="-127"/>
              <a:cs typeface="+mn-cs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03D8D7EA-8F12-1026-7B0B-F2BE07D572B9}"/>
              </a:ext>
            </a:extLst>
          </p:cNvPr>
          <p:cNvSpPr/>
          <p:nvPr userDrawn="1"/>
        </p:nvSpPr>
        <p:spPr>
          <a:xfrm>
            <a:off x="-521510" y="1447873"/>
            <a:ext cx="360000" cy="360000"/>
          </a:xfrm>
          <a:prstGeom prst="rect">
            <a:avLst/>
          </a:prstGeom>
          <a:solidFill>
            <a:sysClr val="window" lastClr="FFFFFF">
              <a:lumMod val="75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18000" tIns="10800" rIns="18000" bIns="108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Bold" panose="00000800000000000000" pitchFamily="2" charset="-127"/>
              <a:ea typeface="KoPub돋움체 Bold" panose="00000800000000000000" pitchFamily="2" charset="-127"/>
              <a:cs typeface="+mn-cs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C619F5C4-39E9-6E7A-4E41-35EBFA5F909A}"/>
              </a:ext>
            </a:extLst>
          </p:cNvPr>
          <p:cNvSpPr/>
          <p:nvPr userDrawn="1"/>
        </p:nvSpPr>
        <p:spPr>
          <a:xfrm>
            <a:off x="-972625" y="1449157"/>
            <a:ext cx="360000" cy="360000"/>
          </a:xfrm>
          <a:prstGeom prst="rect">
            <a:avLst/>
          </a:prstGeom>
          <a:solidFill>
            <a:srgbClr val="005EB8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18000" tIns="10800" rIns="18000" bIns="108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Bold" panose="00000800000000000000" pitchFamily="2" charset="-127"/>
              <a:ea typeface="KoPub돋움체 Bold" panose="00000800000000000000" pitchFamily="2" charset="-127"/>
              <a:cs typeface="+mn-cs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8F11BBFB-8AF0-18BF-7389-2008D7D9B4C6}"/>
              </a:ext>
            </a:extLst>
          </p:cNvPr>
          <p:cNvSpPr/>
          <p:nvPr userDrawn="1"/>
        </p:nvSpPr>
        <p:spPr bwMode="auto">
          <a:xfrm>
            <a:off x="-506284" y="3247929"/>
            <a:ext cx="344774" cy="172386"/>
          </a:xfrm>
          <a:prstGeom prst="rect">
            <a:avLst/>
          </a:prstGeom>
          <a:solidFill>
            <a:srgbClr val="755500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lang="ko-KR" altLang="en-US">
              <a:ea typeface="KB금융 본문체 Medium" panose="020B0603000000000000" pitchFamily="50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36BEE81E-F9CF-B45A-13C8-3430D404266C}"/>
              </a:ext>
            </a:extLst>
          </p:cNvPr>
          <p:cNvSpPr/>
          <p:nvPr userDrawn="1"/>
        </p:nvSpPr>
        <p:spPr bwMode="auto">
          <a:xfrm>
            <a:off x="-506284" y="3450139"/>
            <a:ext cx="344774" cy="172386"/>
          </a:xfrm>
          <a:prstGeom prst="rect">
            <a:avLst/>
          </a:prstGeom>
          <a:solidFill>
            <a:srgbClr val="FFBF0D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lang="ko-KR" altLang="en-US">
              <a:ea typeface="KB금융 본문체 Medium" panose="020B0603000000000000" pitchFamily="50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5F53E172-4D9B-50B3-F6EC-1DB61C39F421}"/>
              </a:ext>
            </a:extLst>
          </p:cNvPr>
          <p:cNvSpPr/>
          <p:nvPr userDrawn="1"/>
        </p:nvSpPr>
        <p:spPr bwMode="auto">
          <a:xfrm>
            <a:off x="-506284" y="3652349"/>
            <a:ext cx="344774" cy="172386"/>
          </a:xfrm>
          <a:prstGeom prst="rect">
            <a:avLst/>
          </a:prstGeom>
          <a:solidFill>
            <a:srgbClr val="858587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lang="ko-KR" altLang="en-US">
              <a:ea typeface="KB금융 본문체 Medium" panose="020B0603000000000000" pitchFamily="50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A162068C-1D36-A218-27E5-0FB155578128}"/>
              </a:ext>
            </a:extLst>
          </p:cNvPr>
          <p:cNvSpPr/>
          <p:nvPr userDrawn="1"/>
        </p:nvSpPr>
        <p:spPr bwMode="auto">
          <a:xfrm>
            <a:off x="-506284" y="4258978"/>
            <a:ext cx="344774" cy="172386"/>
          </a:xfrm>
          <a:prstGeom prst="rect">
            <a:avLst/>
          </a:prstGeom>
          <a:solidFill>
            <a:srgbClr val="D9D9D9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lang="ko-KR" altLang="en-US">
              <a:ea typeface="KB금융 본문체 Medium" panose="020B0603000000000000" pitchFamily="50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54161361-4EE4-C0AE-1D48-EF13E902C04A}"/>
              </a:ext>
            </a:extLst>
          </p:cNvPr>
          <p:cNvSpPr/>
          <p:nvPr userDrawn="1"/>
        </p:nvSpPr>
        <p:spPr bwMode="auto">
          <a:xfrm>
            <a:off x="-919034" y="3247929"/>
            <a:ext cx="344774" cy="172386"/>
          </a:xfrm>
          <a:prstGeom prst="rect">
            <a:avLst/>
          </a:prstGeom>
          <a:solidFill>
            <a:srgbClr val="F1A600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lang="ko-KR" altLang="en-US">
              <a:ea typeface="KB금융 본문체 Medium" panose="020B0603000000000000" pitchFamily="50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0705B076-EB48-FAF1-1E4B-7D0A33E93D2B}"/>
              </a:ext>
            </a:extLst>
          </p:cNvPr>
          <p:cNvSpPr/>
          <p:nvPr userDrawn="1"/>
        </p:nvSpPr>
        <p:spPr bwMode="auto">
          <a:xfrm>
            <a:off x="-919034" y="3450139"/>
            <a:ext cx="344774" cy="172386"/>
          </a:xfrm>
          <a:prstGeom prst="rect">
            <a:avLst/>
          </a:prstGeom>
          <a:solidFill>
            <a:srgbClr val="F4B700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lang="ko-KR" altLang="en-US">
              <a:ea typeface="KB금융 본문체 Medium" panose="020B0603000000000000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D688C6D5-469D-10F4-5B55-F8F1AA180475}"/>
              </a:ext>
            </a:extLst>
          </p:cNvPr>
          <p:cNvSpPr/>
          <p:nvPr userDrawn="1"/>
        </p:nvSpPr>
        <p:spPr bwMode="auto">
          <a:xfrm>
            <a:off x="-919034" y="3652349"/>
            <a:ext cx="344774" cy="172386"/>
          </a:xfrm>
          <a:prstGeom prst="rect">
            <a:avLst/>
          </a:prstGeom>
          <a:solidFill>
            <a:srgbClr val="6D6052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lang="ko-KR" altLang="en-US">
              <a:ea typeface="KB금융 본문체 Medium" panose="020B0603000000000000" pitchFamily="50" charset="-127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164E2CC1-A9E9-AE5C-13F3-27578D06AC85}"/>
              </a:ext>
            </a:extLst>
          </p:cNvPr>
          <p:cNvSpPr/>
          <p:nvPr userDrawn="1"/>
        </p:nvSpPr>
        <p:spPr bwMode="auto">
          <a:xfrm>
            <a:off x="-919034" y="3854559"/>
            <a:ext cx="344774" cy="172386"/>
          </a:xfrm>
          <a:prstGeom prst="rect">
            <a:avLst/>
          </a:prstGeom>
          <a:solidFill>
            <a:srgbClr val="7F6841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lang="ko-KR" altLang="en-US">
              <a:ea typeface="KB금융 본문체 Medium" panose="020B0603000000000000" pitchFamily="50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484D3D43-F7B3-F4DB-1922-CEE37683198F}"/>
              </a:ext>
            </a:extLst>
          </p:cNvPr>
          <p:cNvSpPr/>
          <p:nvPr userDrawn="1"/>
        </p:nvSpPr>
        <p:spPr bwMode="auto">
          <a:xfrm>
            <a:off x="-917318" y="4056769"/>
            <a:ext cx="344774" cy="172386"/>
          </a:xfrm>
          <a:prstGeom prst="rect">
            <a:avLst/>
          </a:prstGeom>
          <a:solidFill>
            <a:srgbClr val="4A483F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lang="ko-KR" altLang="en-US">
              <a:ea typeface="KB금융 본문체 Medium" panose="020B0603000000000000" pitchFamily="50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8A5E09A2-F936-77B6-3472-DE1694B7B3CD}"/>
              </a:ext>
            </a:extLst>
          </p:cNvPr>
          <p:cNvSpPr/>
          <p:nvPr userDrawn="1"/>
        </p:nvSpPr>
        <p:spPr bwMode="auto">
          <a:xfrm>
            <a:off x="-506284" y="3854559"/>
            <a:ext cx="344774" cy="172386"/>
          </a:xfrm>
          <a:prstGeom prst="rect">
            <a:avLst/>
          </a:prstGeom>
          <a:solidFill>
            <a:srgbClr val="838687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lang="ko-KR" altLang="en-US">
              <a:ea typeface="KB금융 본문체 Medium" panose="020B0603000000000000" pitchFamily="50" charset="-127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DB0C5BAF-9DBA-8D34-4096-055E3780C7BB}"/>
              </a:ext>
            </a:extLst>
          </p:cNvPr>
          <p:cNvSpPr/>
          <p:nvPr userDrawn="1"/>
        </p:nvSpPr>
        <p:spPr bwMode="auto">
          <a:xfrm>
            <a:off x="-506284" y="4056769"/>
            <a:ext cx="344774" cy="172386"/>
          </a:xfrm>
          <a:prstGeom prst="rect">
            <a:avLst/>
          </a:prstGeom>
          <a:solidFill>
            <a:srgbClr val="D1D1D1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lang="ko-KR" altLang="en-US">
              <a:ea typeface="KB금융 본문체 Medium" panose="020B0603000000000000" pitchFamily="50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C551F734-92C8-A377-41E3-BDFEDD1CB52F}"/>
              </a:ext>
            </a:extLst>
          </p:cNvPr>
          <p:cNvSpPr/>
          <p:nvPr userDrawn="1"/>
        </p:nvSpPr>
        <p:spPr bwMode="auto">
          <a:xfrm>
            <a:off x="-917318" y="4258978"/>
            <a:ext cx="344774" cy="172386"/>
          </a:xfrm>
          <a:prstGeom prst="rect">
            <a:avLst/>
          </a:prstGeom>
          <a:solidFill>
            <a:srgbClr val="DFC891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lang="ko-KR" altLang="en-US">
              <a:ea typeface="KB금융 본문체 Medium" panose="020B06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806799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21" r:id="rId1"/>
    <p:sldLayoutId id="2147484022" r:id="rId2"/>
    <p:sldLayoutId id="2147484023" r:id="rId3"/>
    <p:sldLayoutId id="2147484024" r:id="rId4"/>
  </p:sldLayoutIdLst>
  <p:hf sldNum="0"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lang="ko-KR" altLang="en-US" sz="2000" b="1" kern="1200" spc="0" baseline="0" dirty="0" smtClean="0">
          <a:solidFill>
            <a:schemeClr val="tx1"/>
          </a:solidFill>
          <a:latin typeface="KB금융 제목체 Bold" panose="020B0803000000000000" pitchFamily="50" charset="-127"/>
          <a:ea typeface="KB금융 제목체 Bold" panose="020B0803000000000000" pitchFamily="50" charset="-127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1900" b="1">
          <a:solidFill>
            <a:schemeClr val="tx1"/>
          </a:solidFill>
          <a:latin typeface="맑은 고딕" panose="020B0503020000020004" pitchFamily="50" charset="-127"/>
          <a:ea typeface="맑은 고딕" panose="020B0503020000020004" pitchFamily="50" charset="-127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1900" b="1">
          <a:solidFill>
            <a:schemeClr val="tx1"/>
          </a:solidFill>
          <a:latin typeface="맑은 고딕" panose="020B0503020000020004" pitchFamily="50" charset="-127"/>
          <a:ea typeface="맑은 고딕" panose="020B0503020000020004" pitchFamily="50" charset="-127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1900" b="1">
          <a:solidFill>
            <a:schemeClr val="tx1"/>
          </a:solidFill>
          <a:latin typeface="맑은 고딕" panose="020B0503020000020004" pitchFamily="50" charset="-127"/>
          <a:ea typeface="맑은 고딕" panose="020B0503020000020004" pitchFamily="50" charset="-127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1900" b="1">
          <a:solidFill>
            <a:schemeClr val="tx1"/>
          </a:solidFill>
          <a:latin typeface="맑은 고딕" panose="020B0503020000020004" pitchFamily="50" charset="-127"/>
          <a:ea typeface="맑은 고딕" panose="020B0503020000020004" pitchFamily="50" charset="-127"/>
        </a:defRPr>
      </a:lvl5pPr>
      <a:lvl6pPr marL="457197" algn="l" rtl="0" fontAlgn="base">
        <a:spcBef>
          <a:spcPct val="0"/>
        </a:spcBef>
        <a:spcAft>
          <a:spcPct val="0"/>
        </a:spcAft>
        <a:defRPr sz="1900" b="1">
          <a:solidFill>
            <a:schemeClr val="tx1"/>
          </a:solidFill>
          <a:latin typeface="맑은 고딕" panose="020B0503020000020004" pitchFamily="50" charset="-127"/>
          <a:ea typeface="맑은 고딕" panose="020B0503020000020004" pitchFamily="50" charset="-127"/>
        </a:defRPr>
      </a:lvl6pPr>
      <a:lvl7pPr marL="914395" algn="l" rtl="0" fontAlgn="base">
        <a:spcBef>
          <a:spcPct val="0"/>
        </a:spcBef>
        <a:spcAft>
          <a:spcPct val="0"/>
        </a:spcAft>
        <a:defRPr sz="1900" b="1">
          <a:solidFill>
            <a:schemeClr val="tx1"/>
          </a:solidFill>
          <a:latin typeface="맑은 고딕" panose="020B0503020000020004" pitchFamily="50" charset="-127"/>
          <a:ea typeface="맑은 고딕" panose="020B0503020000020004" pitchFamily="50" charset="-127"/>
        </a:defRPr>
      </a:lvl7pPr>
      <a:lvl8pPr marL="1371592" algn="l" rtl="0" fontAlgn="base">
        <a:spcBef>
          <a:spcPct val="0"/>
        </a:spcBef>
        <a:spcAft>
          <a:spcPct val="0"/>
        </a:spcAft>
        <a:defRPr sz="1900" b="1">
          <a:solidFill>
            <a:schemeClr val="tx1"/>
          </a:solidFill>
          <a:latin typeface="맑은 고딕" panose="020B0503020000020004" pitchFamily="50" charset="-127"/>
          <a:ea typeface="맑은 고딕" panose="020B0503020000020004" pitchFamily="50" charset="-127"/>
        </a:defRPr>
      </a:lvl8pPr>
      <a:lvl9pPr marL="1828789" algn="l" rtl="0" fontAlgn="base">
        <a:spcBef>
          <a:spcPct val="0"/>
        </a:spcBef>
        <a:spcAft>
          <a:spcPct val="0"/>
        </a:spcAft>
        <a:defRPr sz="1900" b="1">
          <a:solidFill>
            <a:schemeClr val="tx1"/>
          </a:solidFill>
          <a:latin typeface="맑은 고딕" panose="020B0503020000020004" pitchFamily="50" charset="-127"/>
          <a:ea typeface="맑은 고딕" panose="020B0503020000020004" pitchFamily="50" charset="-127"/>
        </a:defRPr>
      </a:lvl9pPr>
    </p:titleStyle>
    <p:bodyStyle>
      <a:lvl1pPr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Font typeface="Wingdings" panose="05000000000000000000" pitchFamily="2" charset="2"/>
        <a:defRPr lang="ko-KR" altLang="en-US" sz="1600" b="0" kern="1200" spc="0" baseline="0" dirty="0" smtClean="0">
          <a:solidFill>
            <a:schemeClr val="tx1">
              <a:lumMod val="75000"/>
              <a:lumOff val="25000"/>
            </a:schemeClr>
          </a:solidFill>
          <a:latin typeface="KB금융 제목체 Bold" panose="020B0803000000000000" pitchFamily="50" charset="-127"/>
          <a:ea typeface="KB금융 제목체 Bold" panose="020B0803000000000000" pitchFamily="50" charset="-127"/>
          <a:cs typeface="+mn-cs"/>
        </a:defRPr>
      </a:lvl1pPr>
      <a:lvl2pPr marL="817558" indent="-285749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가는각진제목체" panose="020B0600000101010101" charset="-127"/>
          <a:cs typeface="+mn-cs"/>
        </a:defRPr>
      </a:lvl2pPr>
      <a:lvl3pPr marL="1225543" indent="-228599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Char char="•"/>
        <a:defRPr sz="1400" kern="1200">
          <a:solidFill>
            <a:schemeClr val="tx1"/>
          </a:solidFill>
          <a:latin typeface="+mn-lt"/>
          <a:ea typeface="가는각진제목체" panose="020B0600000101010101" charset="-127"/>
          <a:cs typeface="+mn-cs"/>
        </a:defRPr>
      </a:lvl3pPr>
      <a:lvl4pPr marL="1633529" indent="-228599" algn="l" rtl="0" eaLnBrk="0" fontAlgn="base" hangingPunct="0">
        <a:spcBef>
          <a:spcPct val="20000"/>
        </a:spcBef>
        <a:spcAft>
          <a:spcPct val="0"/>
        </a:spcAft>
        <a:buChar char="–"/>
        <a:defRPr sz="1200" kern="1200">
          <a:solidFill>
            <a:schemeClr val="tx1"/>
          </a:solidFill>
          <a:latin typeface="+mn-lt"/>
          <a:ea typeface="가는각진제목체" panose="020B0600000101010101" charset="-127"/>
          <a:cs typeface="+mn-cs"/>
        </a:defRPr>
      </a:lvl4pPr>
      <a:lvl5pPr marL="2057388" indent="-228599" algn="l" rtl="0" eaLnBrk="0" fontAlgn="base" hangingPunct="0">
        <a:spcBef>
          <a:spcPct val="20000"/>
        </a:spcBef>
        <a:spcAft>
          <a:spcPct val="0"/>
        </a:spcAft>
        <a:buChar char="»"/>
        <a:defRPr sz="1000" kern="1200">
          <a:solidFill>
            <a:schemeClr val="tx1"/>
          </a:solidFill>
          <a:latin typeface="+mn-lt"/>
          <a:ea typeface="가는각진제목체" panose="020B0600000101010101" charset="-127"/>
          <a:cs typeface="+mn-cs"/>
        </a:defRPr>
      </a:lvl5pPr>
      <a:lvl6pPr marL="2514585" indent="-228599" algn="l" defTabSz="914395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83" indent="-228599" algn="l" defTabSz="914395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80" indent="-228599" algn="l" defTabSz="914395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77" indent="-228599" algn="l" defTabSz="914395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39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97" algn="l" defTabSz="91439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95" algn="l" defTabSz="91439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92" algn="l" defTabSz="91439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89" algn="l" defTabSz="91439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87" algn="l" defTabSz="91439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84" algn="l" defTabSz="91439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81" algn="l" defTabSz="91439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79" algn="l" defTabSz="91439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:p15="http://schemas.microsoft.com/office/powerpoint/2012/main">
        <p15:guide id="1" pos="58" userDrawn="1">
          <p15:clr>
            <a:srgbClr val="F26B43"/>
          </p15:clr>
        </p15:guide>
        <p15:guide id="2" pos="6182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gi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2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tmp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6.png"/><Relationship Id="rId4" Type="http://schemas.openxmlformats.org/officeDocument/2006/relationships/image" Target="../media/image25.png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g"/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tmp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6.png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9.png"/><Relationship Id="rId4" Type="http://schemas.openxmlformats.org/officeDocument/2006/relationships/image" Target="../media/image38.png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3.pn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jpg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7.png"/><Relationship Id="rId4" Type="http://schemas.openxmlformats.org/officeDocument/2006/relationships/image" Target="../media/image56.png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png"/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0.png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.png"/><Relationship Id="rId5" Type="http://schemas.openxmlformats.org/officeDocument/2006/relationships/image" Target="../media/image64.png"/><Relationship Id="rId4" Type="http://schemas.openxmlformats.org/officeDocument/2006/relationships/image" Target="../media/image63.png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6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png"/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0.png"/><Relationship Id="rId4" Type="http://schemas.openxmlformats.org/officeDocument/2006/relationships/image" Target="../media/image69.png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png"/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1.png"/><Relationship Id="rId4" Type="http://schemas.openxmlformats.org/officeDocument/2006/relationships/image" Target="../media/image69.png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png"/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1.png"/><Relationship Id="rId4" Type="http://schemas.openxmlformats.org/officeDocument/2006/relationships/image" Target="../media/image69.png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4.png"/><Relationship Id="rId4" Type="http://schemas.openxmlformats.org/officeDocument/2006/relationships/image" Target="../media/image73.png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png"/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8.png"/><Relationship Id="rId5" Type="http://schemas.openxmlformats.org/officeDocument/2006/relationships/image" Target="../media/image77.png"/><Relationship Id="rId4" Type="http://schemas.openxmlformats.org/officeDocument/2006/relationships/image" Target="../media/image76.png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8.png"/><Relationship Id="rId4" Type="http://schemas.openxmlformats.org/officeDocument/2006/relationships/image" Target="../media/image79.png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png"/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8.png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png"/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7" Type="http://schemas.openxmlformats.org/officeDocument/2006/relationships/image" Target="../media/image85.png"/><Relationship Id="rId2" Type="http://schemas.openxmlformats.org/officeDocument/2006/relationships/image" Target="../media/image8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4.png"/><Relationship Id="rId5" Type="http://schemas.openxmlformats.org/officeDocument/2006/relationships/image" Target="../media/image83.png"/><Relationship Id="rId4" Type="http://schemas.openxmlformats.org/officeDocument/2006/relationships/image" Target="../media/image82.png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png"/><Relationship Id="rId2" Type="http://schemas.openxmlformats.org/officeDocument/2006/relationships/image" Target="../media/image86.png"/><Relationship Id="rId1" Type="http://schemas.openxmlformats.org/officeDocument/2006/relationships/slideLayout" Target="../slideLayouts/slideLayout2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png"/><Relationship Id="rId2" Type="http://schemas.openxmlformats.org/officeDocument/2006/relationships/image" Target="../media/image8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0.png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png"/><Relationship Id="rId2" Type="http://schemas.openxmlformats.org/officeDocument/2006/relationships/image" Target="../media/image87.png"/><Relationship Id="rId1" Type="http://schemas.openxmlformats.org/officeDocument/2006/relationships/slideLayout" Target="../slideLayouts/slideLayout2.xml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image" Target="../media/image89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2.png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chart" Target="../charts/chart6.xml"/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chart" Target="../charts/chart5.xml"/><Relationship Id="rId4" Type="http://schemas.openxmlformats.org/officeDocument/2006/relationships/chart" Target="../charts/chart4.xml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6.png"/><Relationship Id="rId4" Type="http://schemas.openxmlformats.org/officeDocument/2006/relationships/image" Target="../media/image95.png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png"/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9.png"/><Relationship Id="rId4" Type="http://schemas.openxmlformats.org/officeDocument/2006/relationships/image" Target="../media/image98.png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png"/><Relationship Id="rId7" Type="http://schemas.openxmlformats.org/officeDocument/2006/relationships/image" Target="../media/image70.png"/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1.png"/><Relationship Id="rId5" Type="http://schemas.openxmlformats.org/officeDocument/2006/relationships/image" Target="../media/image100.png"/><Relationship Id="rId4" Type="http://schemas.openxmlformats.org/officeDocument/2006/relationships/image" Target="../media/image98.png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png"/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2.png"/><Relationship Id="rId5" Type="http://schemas.openxmlformats.org/officeDocument/2006/relationships/image" Target="../media/image99.png"/><Relationship Id="rId4" Type="http://schemas.openxmlformats.org/officeDocument/2006/relationships/image" Target="../media/image98.png"/></Relationships>
</file>

<file path=ppt/slides/_rels/slide1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.png"/><Relationship Id="rId3" Type="http://schemas.openxmlformats.org/officeDocument/2006/relationships/image" Target="../media/image97.png"/><Relationship Id="rId7" Type="http://schemas.openxmlformats.org/officeDocument/2006/relationships/image" Target="../media/image103.png"/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0.png"/><Relationship Id="rId5" Type="http://schemas.openxmlformats.org/officeDocument/2006/relationships/image" Target="../media/image99.png"/><Relationship Id="rId4" Type="http://schemas.openxmlformats.org/officeDocument/2006/relationships/image" Target="../media/image98.png"/><Relationship Id="rId9" Type="http://schemas.openxmlformats.org/officeDocument/2006/relationships/image" Target="../media/image70.png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10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06.png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107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10.png"/><Relationship Id="rId4" Type="http://schemas.openxmlformats.org/officeDocument/2006/relationships/image" Target="../media/image109.png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png"/><Relationship Id="rId2" Type="http://schemas.openxmlformats.org/officeDocument/2006/relationships/image" Target="../media/image111.png"/><Relationship Id="rId1" Type="http://schemas.openxmlformats.org/officeDocument/2006/relationships/slideLayout" Target="../slideLayouts/slideLayout2.xml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png"/><Relationship Id="rId2" Type="http://schemas.openxmlformats.org/officeDocument/2006/relationships/image" Target="../media/image113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15.png"/><Relationship Id="rId4" Type="http://schemas.openxmlformats.org/officeDocument/2006/relationships/image" Target="../media/image114.png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116.png"/><Relationship Id="rId1" Type="http://schemas.openxmlformats.org/officeDocument/2006/relationships/slideLayout" Target="../slideLayouts/slideLayout2.xml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png"/><Relationship Id="rId2" Type="http://schemas.openxmlformats.org/officeDocument/2006/relationships/image" Target="../media/image118.png"/><Relationship Id="rId1" Type="http://schemas.openxmlformats.org/officeDocument/2006/relationships/slideLayout" Target="../slideLayouts/slideLayout2.xml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11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21.png"/></Relationships>
</file>

<file path=ppt/slides/_rels/slide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png"/><Relationship Id="rId2" Type="http://schemas.openxmlformats.org/officeDocument/2006/relationships/image" Target="../media/image122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24.png"/></Relationships>
</file>

<file path=ppt/slides/_rels/slide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png"/><Relationship Id="rId2" Type="http://schemas.openxmlformats.org/officeDocument/2006/relationships/image" Target="../media/image125.png"/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7.png"/><Relationship Id="rId2" Type="http://schemas.openxmlformats.org/officeDocument/2006/relationships/image" Target="../media/image126.png"/><Relationship Id="rId1" Type="http://schemas.openxmlformats.org/officeDocument/2006/relationships/slideLayout" Target="../slideLayouts/slideLayout2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7.png"/><Relationship Id="rId1" Type="http://schemas.openxmlformats.org/officeDocument/2006/relationships/slideLayout" Target="../slideLayouts/slideLayout2.xml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png"/><Relationship Id="rId2" Type="http://schemas.openxmlformats.org/officeDocument/2006/relationships/image" Target="../media/image127.png"/><Relationship Id="rId1" Type="http://schemas.openxmlformats.org/officeDocument/2006/relationships/slideLayout" Target="../slideLayouts/slideLayout2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9.png"/><Relationship Id="rId1" Type="http://schemas.openxmlformats.org/officeDocument/2006/relationships/slideLayout" Target="../slideLayouts/slideLayout2.xml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0.png"/><Relationship Id="rId1" Type="http://schemas.openxmlformats.org/officeDocument/2006/relationships/slideLayout" Target="../slideLayouts/slideLayout2.xml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tmp"/><Relationship Id="rId2" Type="http://schemas.openxmlformats.org/officeDocument/2006/relationships/image" Target="../media/image13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3.tmp"/></Relationships>
</file>

<file path=ppt/slides/_rels/slide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1.png"/><Relationship Id="rId1" Type="http://schemas.openxmlformats.org/officeDocument/2006/relationships/slideLayout" Target="../slideLayouts/slideLayout2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4.png"/><Relationship Id="rId1" Type="http://schemas.openxmlformats.org/officeDocument/2006/relationships/slideLayout" Target="../slideLayouts/slideLayout2.xml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6.tmp"/><Relationship Id="rId2" Type="http://schemas.openxmlformats.org/officeDocument/2006/relationships/image" Target="../media/image135.png"/><Relationship Id="rId1" Type="http://schemas.openxmlformats.org/officeDocument/2006/relationships/slideLayout" Target="../slideLayouts/slideLayout2.xml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7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7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8.png"/><Relationship Id="rId1" Type="http://schemas.openxmlformats.org/officeDocument/2006/relationships/slideLayout" Target="../slideLayouts/slideLayout2.xml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0.png"/><Relationship Id="rId2" Type="http://schemas.openxmlformats.org/officeDocument/2006/relationships/image" Target="../media/image139.png"/><Relationship Id="rId1" Type="http://schemas.openxmlformats.org/officeDocument/2006/relationships/slideLayout" Target="../slideLayouts/slideLayout2.xml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2.tmp"/><Relationship Id="rId2" Type="http://schemas.openxmlformats.org/officeDocument/2006/relationships/image" Target="../media/image14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3.tmp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4.png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5.png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7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8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9.png"/></Relationships>
</file>

<file path=ppt/slides/_rels/slide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0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51.png"/><Relationship Id="rId4" Type="http://schemas.openxmlformats.org/officeDocument/2006/relationships/image" Target="../media/image5.png"/></Relationships>
</file>

<file path=ppt/slides/_rels/slide1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3.tmp"/></Relationships>
</file>

<file path=ppt/slides/_rels/slide1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3.tmp"/></Relationships>
</file>

<file path=ppt/slides/_rels/slide1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3.tmp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3.tmp"/></Relationships>
</file>

<file path=ppt/slides/_rels/slide1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3.tmp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3.tmp"/></Relationships>
</file>

<file path=ppt/slides/_rels/slide1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tmp"/><Relationship Id="rId2" Type="http://schemas.openxmlformats.org/officeDocument/2006/relationships/image" Target="../media/image152.png"/><Relationship Id="rId1" Type="http://schemas.openxmlformats.org/officeDocument/2006/relationships/slideLayout" Target="../slideLayouts/slideLayout2.xml"/></Relationships>
</file>

<file path=ppt/slides/_rels/slide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tmp"/><Relationship Id="rId2" Type="http://schemas.openxmlformats.org/officeDocument/2006/relationships/image" Target="../media/image152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54.png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tmp"/><Relationship Id="rId2" Type="http://schemas.openxmlformats.org/officeDocument/2006/relationships/image" Target="../media/image152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54.png"/></Relationships>
</file>

<file path=ppt/slides/_rels/slide1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png"/><Relationship Id="rId2" Type="http://schemas.openxmlformats.org/officeDocument/2006/relationships/image" Target="../media/image152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56.jpg"/></Relationships>
</file>

<file path=ppt/slides/_rels/slide1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png"/><Relationship Id="rId2" Type="http://schemas.openxmlformats.org/officeDocument/2006/relationships/image" Target="../media/image152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56.jpg"/></Relationships>
</file>

<file path=ppt/slides/_rels/slide1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7.png"/><Relationship Id="rId2" Type="http://schemas.openxmlformats.org/officeDocument/2006/relationships/image" Target="../media/image152.png"/><Relationship Id="rId1" Type="http://schemas.openxmlformats.org/officeDocument/2006/relationships/slideLayout" Target="../slideLayouts/slideLayout2.xml"/></Relationships>
</file>

<file path=ppt/slides/_rels/slide1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7.png"/><Relationship Id="rId2" Type="http://schemas.openxmlformats.org/officeDocument/2006/relationships/image" Target="../media/image152.png"/><Relationship Id="rId1" Type="http://schemas.openxmlformats.org/officeDocument/2006/relationships/slideLayout" Target="../slideLayouts/slideLayout2.xml"/></Relationships>
</file>

<file path=ppt/slides/_rels/slide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52.png"/></Relationships>
</file>

<file path=ppt/slides/_rels/slide1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3.tmp"/><Relationship Id="rId4" Type="http://schemas.openxmlformats.org/officeDocument/2006/relationships/image" Target="../media/image152.png"/></Relationships>
</file>

<file path=ppt/slides/_rels/slide1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3.tmp"/><Relationship Id="rId4" Type="http://schemas.openxmlformats.org/officeDocument/2006/relationships/image" Target="../media/image152.png"/></Relationships>
</file>

<file path=ppt/slides/_rels/slide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8.tmp"/><Relationship Id="rId2" Type="http://schemas.openxmlformats.org/officeDocument/2006/relationships/image" Target="../media/image152.png"/><Relationship Id="rId1" Type="http://schemas.openxmlformats.org/officeDocument/2006/relationships/slideLayout" Target="../slideLayouts/slideLayout2.xml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9.jpg"/><Relationship Id="rId2" Type="http://schemas.openxmlformats.org/officeDocument/2006/relationships/image" Target="../media/image152.png"/><Relationship Id="rId1" Type="http://schemas.openxmlformats.org/officeDocument/2006/relationships/slideLayout" Target="../slideLayouts/slideLayout2.xml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9.jpg"/><Relationship Id="rId2" Type="http://schemas.openxmlformats.org/officeDocument/2006/relationships/image" Target="../media/image152.png"/><Relationship Id="rId1" Type="http://schemas.openxmlformats.org/officeDocument/2006/relationships/slideLayout" Target="../slideLayouts/slideLayout2.xml"/></Relationships>
</file>

<file path=ppt/slides/_rels/slide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52.png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3.tmp"/><Relationship Id="rId4" Type="http://schemas.openxmlformats.org/officeDocument/2006/relationships/image" Target="../media/image152.png"/></Relationships>
</file>

<file path=ppt/slides/_rels/slide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3.tmp"/><Relationship Id="rId4" Type="http://schemas.openxmlformats.org/officeDocument/2006/relationships/image" Target="../media/image99.png"/></Relationships>
</file>

<file path=ppt/slides/_rels/slide1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3.tmp"/><Relationship Id="rId4" Type="http://schemas.openxmlformats.org/officeDocument/2006/relationships/image" Target="../media/image99.png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60.png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61.png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2.png"/><Relationship Id="rId2" Type="http://schemas.openxmlformats.org/officeDocument/2006/relationships/image" Target="../media/image100.png"/><Relationship Id="rId1" Type="http://schemas.openxmlformats.org/officeDocument/2006/relationships/slideLayout" Target="../slideLayouts/slideLayout2.xml"/></Relationships>
</file>

<file path=ppt/slides/_rels/slide2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0.png"/><Relationship Id="rId1" Type="http://schemas.openxmlformats.org/officeDocument/2006/relationships/slideLayout" Target="../slideLayouts/slideLayout2.xml"/></Relationships>
</file>

<file path=ppt/slides/_rels/slide2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3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pic>
        <p:nvPicPr>
          <p:cNvPr id="8" name="그림 7"/>
          <p:cNvPicPr>
            <a:picLocks noChangeAspect="1"/>
          </p:cNvPicPr>
          <p:nvPr/>
        </p:nvPicPr>
        <p:blipFill>
          <a:blip r:embed="rId3"/>
          <a:stretch/>
        </p:blipFill>
        <p:spPr bwMode="auto">
          <a:xfrm>
            <a:off x="7459194" y="5865530"/>
            <a:ext cx="1943289" cy="321712"/>
          </a:xfrm>
          <a:prstGeom prst="rect">
            <a:avLst/>
          </a:prstGeom>
        </p:spPr>
      </p:pic>
      <p:sp>
        <p:nvSpPr>
          <p:cNvPr id="6" name="Text Box 6"/>
          <p:cNvSpPr txBox="1">
            <a:spLocks noChangeArrowheads="1"/>
          </p:cNvSpPr>
          <p:nvPr/>
        </p:nvSpPr>
        <p:spPr bwMode="auto">
          <a:xfrm>
            <a:off x="2705233" y="431142"/>
            <a:ext cx="7200767" cy="2680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54000" tIns="10800" rIns="54000" bIns="10800" anchor="t" anchorCtr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C0504D"/>
              </a:buClr>
              <a:buSzTx/>
              <a:buFontTx/>
              <a:buNone/>
              <a:tabLst/>
              <a:defRPr/>
            </a:pPr>
            <a:r>
              <a:rPr kumimoji="1" lang="ko-KR" altLang="en-US" sz="160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KB금융 제목체 Bold"/>
                <a:ea typeface="KB금융 제목체 Bold"/>
                <a:cs typeface="Arial"/>
              </a:rPr>
              <a:t>「 </a:t>
            </a:r>
            <a:r>
              <a:rPr kumimoji="1" lang="ko-KR" altLang="en-US" sz="1600" i="0" u="none" strike="noStrike" kern="1200" cap="none" spc="0" normalizeH="0" baseline="0" noProof="0" dirty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KB금융 제목체 Bold"/>
                <a:ea typeface="KB금융 제목체 Bold"/>
                <a:cs typeface="Arial"/>
              </a:rPr>
              <a:t>감사정보시스템 고도화 및 클라우드 전환 구축 」</a:t>
            </a:r>
            <a:endParaRPr kumimoji="1" lang="en-US" sz="160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KB금융 제목체 Bold"/>
              <a:ea typeface="KB금융 제목체 Bold"/>
              <a:cs typeface="Arial"/>
            </a:endParaRPr>
          </a:p>
        </p:txBody>
      </p:sp>
      <p:sp>
        <p:nvSpPr>
          <p:cNvPr id="7" name="TextBox 6"/>
          <p:cNvSpPr txBox="1"/>
          <p:nvPr/>
        </p:nvSpPr>
        <p:spPr bwMode="auto">
          <a:xfrm>
            <a:off x="359979" y="5864077"/>
            <a:ext cx="1765227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sz="150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제목체 Bold"/>
                <a:ea typeface="KB금융 제목체 Bold"/>
                <a:cs typeface="Arial"/>
              </a:rPr>
              <a:t>2025</a:t>
            </a:r>
            <a:r>
              <a:rPr kumimoji="1" lang="ko-KR" altLang="en-US" sz="150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제목체 Bold"/>
                <a:ea typeface="KB금융 제목체 Bold"/>
                <a:cs typeface="Arial"/>
              </a:rPr>
              <a:t>년 </a:t>
            </a:r>
            <a:r>
              <a:rPr lang="en-US" altLang="ko-KR" sz="1500" dirty="0" smtClean="0">
                <a:solidFill>
                  <a:srgbClr val="000000"/>
                </a:solidFill>
                <a:latin typeface="KB금융 제목체 Bold"/>
                <a:ea typeface="KB금융 제목체 Bold"/>
                <a:cs typeface="Arial"/>
              </a:rPr>
              <a:t>04</a:t>
            </a:r>
            <a:r>
              <a:rPr kumimoji="1" lang="ko-KR" altLang="en-US" sz="150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제목체 Bold"/>
                <a:ea typeface="KB금융 제목체 Bold"/>
                <a:cs typeface="Arial"/>
              </a:rPr>
              <a:t>월 </a:t>
            </a:r>
            <a:r>
              <a:rPr lang="en-US" altLang="ko-KR" sz="1500" dirty="0" smtClean="0">
                <a:solidFill>
                  <a:srgbClr val="000000"/>
                </a:solidFill>
                <a:latin typeface="KB금융 제목체 Bold"/>
                <a:ea typeface="KB금융 제목체 Bold"/>
                <a:cs typeface="Arial"/>
              </a:rPr>
              <a:t>18</a:t>
            </a:r>
            <a:r>
              <a:rPr kumimoji="1" lang="ko-KR" altLang="en-US" sz="150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제목체 Bold"/>
                <a:ea typeface="KB금융 제목체 Bold"/>
                <a:cs typeface="Arial"/>
              </a:rPr>
              <a:t>일</a:t>
            </a:r>
            <a:endParaRPr kumimoji="1" lang="ko-KR" altLang="en-US" sz="15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제목체 Bold"/>
              <a:ea typeface="KB금융 제목체 Bold"/>
              <a:cs typeface="Arial"/>
            </a:endParaRPr>
          </a:p>
        </p:txBody>
      </p:sp>
      <p:sp>
        <p:nvSpPr>
          <p:cNvPr id="9" name="Text Box 6"/>
          <p:cNvSpPr txBox="1">
            <a:spLocks noChangeArrowheads="1"/>
          </p:cNvSpPr>
          <p:nvPr/>
        </p:nvSpPr>
        <p:spPr bwMode="auto">
          <a:xfrm>
            <a:off x="359979" y="1658194"/>
            <a:ext cx="7348921" cy="3911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54000" tIns="10800" rIns="54000" bIns="10800" anchor="t" anchorCtr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C0504D"/>
              </a:buClr>
              <a:buSzTx/>
              <a:buFontTx/>
              <a:buNone/>
              <a:tabLst/>
              <a:defRPr/>
            </a:pPr>
            <a:r>
              <a:rPr kumimoji="1" lang="en-US" altLang="ko-KR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B금융 제목체 Bold"/>
                <a:ea typeface="KB금융 제목체 Bold"/>
                <a:cs typeface="Arial"/>
              </a:rPr>
              <a:t>[</a:t>
            </a:r>
            <a:r>
              <a:rPr lang="ko-KR" altLang="en-US" sz="2400" err="1" smtClean="0">
                <a:solidFill>
                  <a:prstClr val="black"/>
                </a:solidFill>
                <a:latin typeface="KB금융 제목체 Bold"/>
                <a:ea typeface="KB금융 제목체 Bold"/>
                <a:cs typeface="Arial"/>
              </a:rPr>
              <a:t>감사정보</a:t>
            </a:r>
            <a:r>
              <a:rPr kumimoji="1" lang="ko-KR" altLang="en-US" sz="24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B금융 제목체 Bold"/>
                <a:ea typeface="KB금융 제목체 Bold"/>
                <a:cs typeface="Arial"/>
              </a:rPr>
              <a:t>시스템 </a:t>
            </a:r>
            <a:r>
              <a:rPr kumimoji="1" lang="ko-KR" altLang="en-US" sz="24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B금융 제목체 Bold"/>
                <a:ea typeface="KB금융 제목체 Bold"/>
                <a:cs typeface="Arial"/>
              </a:rPr>
              <a:t>스토리보드</a:t>
            </a:r>
            <a:r>
              <a:rPr kumimoji="1" lang="en-US" altLang="ko-KR" sz="24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B금융 제목체 Bold"/>
                <a:ea typeface="KB금융 제목체 Bold"/>
                <a:cs typeface="Arial"/>
              </a:rPr>
              <a:t>]</a:t>
            </a:r>
            <a:endParaRPr kumimoji="1" lang="en-US" altLang="ko-KR" sz="2400" b="0" i="0" u="none" strike="noStrike" kern="120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B금융 제목체 Bold"/>
              <a:ea typeface="KB금융 제목체 Bold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9538500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840140"/>
              </p:ext>
            </p:extLst>
          </p:nvPr>
        </p:nvGraphicFramePr>
        <p:xfrm>
          <a:off x="384175" y="1318260"/>
          <a:ext cx="9360000" cy="237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44000">
                  <a:extLst>
                    <a:ext uri="{9D8B030D-6E8A-4147-A177-3AD203B41FA5}">
                      <a16:colId xmlns:a16="http://schemas.microsoft.com/office/drawing/2014/main" val="725910090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3551166682"/>
                    </a:ext>
                  </a:extLst>
                </a:gridCol>
                <a:gridCol w="5904000">
                  <a:extLst>
                    <a:ext uri="{9D8B030D-6E8A-4147-A177-3AD203B41FA5}">
                      <a16:colId xmlns:a16="http://schemas.microsoft.com/office/drawing/2014/main" val="26363677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901555070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4269724683"/>
                    </a:ext>
                  </a:extLst>
                </a:gridCol>
              </a:tblGrid>
              <a:tr h="396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4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일자</a:t>
                      </a:r>
                      <a:endParaRPr lang="ko-KR" altLang="en-US" sz="14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4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버전</a:t>
                      </a:r>
                      <a:endParaRPr lang="ko-KR" altLang="en-US" sz="14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4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주요내용</a:t>
                      </a:r>
                      <a:endParaRPr lang="ko-KR" altLang="en-US" sz="14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4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작성자</a:t>
                      </a:r>
                      <a:endParaRPr lang="ko-KR" altLang="en-US" sz="14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400" dirty="0" err="1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승인자</a:t>
                      </a:r>
                      <a:endParaRPr lang="ko-KR" altLang="en-US" sz="14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2108991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2024.11.26</a:t>
                      </a:r>
                      <a:endParaRPr lang="ko-KR" altLang="en-US" sz="1200" dirty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0.1</a:t>
                      </a:r>
                      <a:endParaRPr lang="ko-KR" altLang="en-US" sz="1200" dirty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2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최초 작성</a:t>
                      </a:r>
                      <a:endParaRPr lang="ko-KR" altLang="en-US" sz="1200" dirty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김병원</a:t>
                      </a:r>
                      <a:endParaRPr lang="ko-KR" altLang="en-US" sz="1200" dirty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915821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2024.12.13</a:t>
                      </a:r>
                      <a:endParaRPr lang="ko-KR" altLang="en-US" sz="1200" dirty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0.7</a:t>
                      </a:r>
                      <a:endParaRPr lang="ko-KR" altLang="en-US" sz="1200" dirty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2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1</a:t>
                      </a:r>
                      <a:r>
                        <a:rPr lang="ko-KR" altLang="en-US" sz="12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차 작성 완료</a:t>
                      </a:r>
                      <a:endParaRPr lang="ko-KR" altLang="en-US" sz="1200" dirty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김병원</a:t>
                      </a:r>
                      <a:endParaRPr lang="ko-KR" altLang="en-US" sz="1200" dirty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3123717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2024.12.27</a:t>
                      </a:r>
                      <a:endParaRPr lang="ko-KR" altLang="en-US" sz="1200" dirty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0.8</a:t>
                      </a:r>
                      <a:endParaRPr lang="ko-KR" altLang="en-US" sz="1200" dirty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2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현업 </a:t>
                      </a:r>
                      <a:r>
                        <a:rPr lang="en-US" altLang="ko-KR" sz="12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review </a:t>
                      </a:r>
                      <a:r>
                        <a:rPr lang="ko-KR" altLang="en-US" sz="12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후 수정 작성</a:t>
                      </a:r>
                      <a:endParaRPr lang="ko-KR" altLang="en-US" sz="1200" dirty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김병원</a:t>
                      </a:r>
                      <a:endParaRPr lang="ko-KR" altLang="en-US" sz="1200" dirty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1881501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2025.01.03</a:t>
                      </a:r>
                      <a:endParaRPr lang="ko-KR" altLang="en-US" sz="1200" dirty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0.9</a:t>
                      </a:r>
                      <a:endParaRPr lang="ko-KR" altLang="en-US" sz="1200" dirty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2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현업 협의 수정</a:t>
                      </a:r>
                      <a:endParaRPr lang="ko-KR" altLang="en-US" sz="1200" dirty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김병원</a:t>
                      </a:r>
                      <a:endParaRPr lang="ko-KR" altLang="en-US" sz="1200" dirty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0969746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2025.04.18</a:t>
                      </a:r>
                      <a:endParaRPr lang="ko-KR" altLang="en-US" sz="1200" dirty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1.0</a:t>
                      </a:r>
                      <a:endParaRPr lang="ko-KR" altLang="en-US" sz="1200" dirty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2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최종 수정</a:t>
                      </a:r>
                      <a:endParaRPr lang="ko-KR" altLang="en-US" sz="1200" dirty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83062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15F0961-B800-FC05-05E5-3ADD07D424DB}"/>
              </a:ext>
            </a:extLst>
          </p:cNvPr>
          <p:cNvSpPr/>
          <p:nvPr/>
        </p:nvSpPr>
        <p:spPr>
          <a:xfrm>
            <a:off x="384175" y="908050"/>
            <a:ext cx="1757495" cy="288000"/>
          </a:xfrm>
          <a:prstGeom prst="rect">
            <a:avLst/>
          </a:prstGeom>
          <a:solidFill>
            <a:srgbClr val="755500"/>
          </a:solidFill>
          <a:ln w="9525">
            <a:solidFill>
              <a:srgbClr val="00338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8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/>
                <a:ea typeface="KB금융 본문체 Medium"/>
                <a:cs typeface="+mn-cs"/>
              </a:rPr>
              <a:t>개정이력</a:t>
            </a:r>
            <a:endParaRPr kumimoji="1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/>
              <a:ea typeface="KB금융 본문체 Medium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1646041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" name="표 3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2518984"/>
              </p:ext>
            </p:extLst>
          </p:nvPr>
        </p:nvGraphicFramePr>
        <p:xfrm>
          <a:off x="92077" y="58190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32650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MDD-00096, MDD-00097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MDD75A16000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8339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본부상시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점검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상시점검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본부상시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점검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(P17, P24: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이미선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endParaRPr lang="ko-KR" altLang="en-US" sz="105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69" name="표 6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2287114"/>
              </p:ext>
            </p:extLst>
          </p:nvPr>
        </p:nvGraphicFramePr>
        <p:xfrm>
          <a:off x="7207250" y="662793"/>
          <a:ext cx="2606675" cy="5645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상시감사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상시점검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본부상시점검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자료관리하는 화면이다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오른쪽 세부 목록에 개별 항목 체크박스 추가한다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오른쪽 세부 목록에 전체 선택 체크박스는 지원하지 않는다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오른쪽 선택된 항목에 대한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또는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점검취소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기능 처리를 제공한다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오른쪽 선택 항목이 존재하고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버튼이 눌린 경우 선택된 항목의 금액을 합산하여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"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선택한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건의 총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123,456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원의 점검을 진행하시겠습니까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?"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확인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]/[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팝업 창이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오른쪽 선택 항목이 존재하고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점검취소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버튼이 눌린 경우 선택된 항목의 금액을 합산하여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"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선택한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건의 총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123,456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원의 점검 취소를 진행하시겠습니까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?"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확인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]/[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팝업 창이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점검취소기능은 기존점검등록 감사역만 가능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 등록자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Tx/>
                        <a:buNone/>
                      </a:pPr>
                      <a:endParaRPr lang="ko-KR" altLang="en-US" sz="800" dirty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532828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3027427"/>
                  </a:ext>
                </a:extLst>
              </a:tr>
            </a:tbl>
          </a:graphicData>
        </a:graphic>
      </p:graphicFrame>
      <p:sp>
        <p:nvSpPr>
          <p:cNvPr id="4" name="양쪽 모서리가 둥근 사각형 3"/>
          <p:cNvSpPr/>
          <p:nvPr/>
        </p:nvSpPr>
        <p:spPr bwMode="auto">
          <a:xfrm>
            <a:off x="222924" y="1171102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본부상시 </a:t>
            </a:r>
            <a:r>
              <a:rPr lang="ko-KR" altLang="en-US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점검</a:t>
            </a:r>
            <a:endParaRPr lang="ko-KR" altLang="en-US" sz="8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25" y="1356837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7" name="내용 개체 틀 121"/>
          <p:cNvGraphicFramePr>
            <a:graphicFrameLocks/>
          </p:cNvGraphicFramePr>
          <p:nvPr>
            <p:extLst/>
          </p:nvPr>
        </p:nvGraphicFramePr>
        <p:xfrm>
          <a:off x="222922" y="1438351"/>
          <a:ext cx="6726398" cy="25899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671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6249688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</a:tblGrid>
              <a:tr h="258993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baseline="0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baseline="0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거래일자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767347" y="1471034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2024-03-04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9" name="그림 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07747" y="1478800"/>
            <a:ext cx="181098" cy="173224"/>
          </a:xfrm>
          <a:prstGeom prst="rect">
            <a:avLst/>
          </a:prstGeom>
        </p:spPr>
      </p:pic>
      <p:sp>
        <p:nvSpPr>
          <p:cNvPr id="1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813713" y="1463035"/>
            <a:ext cx="1202746" cy="188914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헤지비율</a:t>
            </a:r>
            <a:r>
              <a:rPr kumimoji="0" lang="en-US" altLang="ko-KR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(</a:t>
            </a: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자본시장</a:t>
            </a:r>
            <a:r>
              <a:rPr kumimoji="0" lang="en-US" altLang="ko-KR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) </a:t>
            </a: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일괄점검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051362" y="1463035"/>
            <a:ext cx="1202746" cy="188914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환리스크</a:t>
            </a:r>
            <a:r>
              <a:rPr kumimoji="0" lang="en-US" altLang="ko-KR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(</a:t>
            </a: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자본시장</a:t>
            </a:r>
            <a:r>
              <a:rPr kumimoji="0" lang="en-US" altLang="ko-KR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) </a:t>
            </a: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일괄점검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289011" y="1463035"/>
            <a:ext cx="629647" cy="188914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미점검내역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5872610" y="1478800"/>
            <a:ext cx="1144865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[</a:t>
            </a:r>
            <a:r>
              <a:rPr lang="ko-KR" altLang="en-US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단위</a:t>
            </a:r>
            <a:r>
              <a:rPr lang="en-US" altLang="ko-KR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</a:t>
            </a:r>
            <a:r>
              <a:rPr lang="ko-KR" altLang="en-US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천원</a:t>
            </a:r>
            <a:r>
              <a:rPr lang="en-US" altLang="ko-KR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lang="ko-KR" altLang="en-US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가국통화단위</a:t>
            </a:r>
            <a:r>
              <a:rPr lang="en-US" altLang="ko-KR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]</a:t>
            </a:r>
            <a:endParaRPr lang="ko-KR" altLang="en-US" sz="700" dirty="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4" name="Text Box 39">
            <a:extLst>
              <a:ext uri="{FF2B5EF4-FFF2-40B4-BE49-F238E27FC236}">
                <a16:creationId xmlns:a16="http://schemas.microsoft.com/office/drawing/2014/main" id="{0C6A76A4-9FDA-D68A-AF81-090FF3653C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524" y="1989851"/>
            <a:ext cx="1665840" cy="4136629"/>
          </a:xfrm>
          <a:prstGeom prst="rect">
            <a:avLst/>
          </a:prstGeom>
          <a:noFill/>
          <a:ln w="6350" algn="ctr">
            <a:solidFill>
              <a:schemeClr val="bg2">
                <a:lumMod val="90000"/>
              </a:schemeClr>
            </a:solidFill>
            <a:miter lim="800000"/>
            <a:headEnd/>
            <a:tailEnd/>
          </a:ln>
          <a:effectLst/>
        </p:spPr>
        <p:txBody>
          <a:bodyPr wrap="square" lIns="108000" tIns="144000" rIns="108000" bIns="72000" anchor="t" anchorCtr="0">
            <a:noAutofit/>
          </a:bodyPr>
          <a:lstStyle/>
          <a:p>
            <a:pPr marL="0" marR="0" lvl="0" indent="0" algn="l" defTabSz="101758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C2D83"/>
              </a:buClr>
              <a:buSzPct val="80000"/>
              <a:buFontTx/>
              <a:buNone/>
              <a:tabLst/>
              <a:defRPr/>
            </a:pPr>
            <a:endParaRPr kumimoji="1" lang="en-US" altLang="ko-KR" sz="1600" b="1" i="0" u="none" strike="noStrike" kern="0" cap="none" spc="-100" normalizeH="0" baseline="0" noProof="0" dirty="0">
              <a:ln w="12700">
                <a:solidFill>
                  <a:srgbClr val="005EB8">
                    <a:alpha val="0"/>
                  </a:srgbClr>
                </a:solidFill>
              </a:ln>
              <a:solidFill>
                <a:srgbClr val="4A483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5" name="Text Box 39">
            <a:extLst>
              <a:ext uri="{FF2B5EF4-FFF2-40B4-BE49-F238E27FC236}">
                <a16:creationId xmlns:a16="http://schemas.microsoft.com/office/drawing/2014/main" id="{0C6A76A4-9FDA-D68A-AF81-090FF3653C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0280" y="1989850"/>
            <a:ext cx="5029039" cy="4136629"/>
          </a:xfrm>
          <a:prstGeom prst="rect">
            <a:avLst/>
          </a:prstGeom>
          <a:noFill/>
          <a:ln w="6350" algn="ctr">
            <a:solidFill>
              <a:schemeClr val="bg2">
                <a:lumMod val="90000"/>
              </a:schemeClr>
            </a:solidFill>
            <a:miter lim="800000"/>
            <a:headEnd/>
            <a:tailEnd/>
          </a:ln>
          <a:effectLst/>
        </p:spPr>
        <p:txBody>
          <a:bodyPr wrap="square" lIns="108000" tIns="144000" rIns="108000" bIns="72000" anchor="t" anchorCtr="0">
            <a:noAutofit/>
          </a:bodyPr>
          <a:lstStyle/>
          <a:p>
            <a:pPr marL="0" marR="0" lvl="0" indent="0" algn="l" defTabSz="101758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C2D83"/>
              </a:buClr>
              <a:buSzPct val="80000"/>
              <a:buFontTx/>
              <a:buNone/>
              <a:tabLst/>
              <a:defRPr/>
            </a:pPr>
            <a:endParaRPr kumimoji="1" lang="en-US" altLang="ko-KR" sz="1600" b="1" i="0" u="none" strike="noStrike" kern="0" cap="none" spc="-100" normalizeH="0" baseline="0" noProof="0" dirty="0">
              <a:ln w="12700">
                <a:solidFill>
                  <a:srgbClr val="005EB8">
                    <a:alpha val="0"/>
                  </a:srgbClr>
                </a:solidFill>
              </a:ln>
              <a:solidFill>
                <a:srgbClr val="4A483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9" name="표 2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756661"/>
              </p:ext>
            </p:extLst>
          </p:nvPr>
        </p:nvGraphicFramePr>
        <p:xfrm>
          <a:off x="1944633" y="1997702"/>
          <a:ext cx="5004686" cy="1138912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3843">
                  <a:extLst>
                    <a:ext uri="{9D8B030D-6E8A-4147-A177-3AD203B41FA5}">
                      <a16:colId xmlns:a16="http://schemas.microsoft.com/office/drawing/2014/main" val="1288515344"/>
                    </a:ext>
                  </a:extLst>
                </a:gridCol>
                <a:gridCol w="248280">
                  <a:extLst>
                    <a:ext uri="{9D8B030D-6E8A-4147-A177-3AD203B41FA5}">
                      <a16:colId xmlns:a16="http://schemas.microsoft.com/office/drawing/2014/main" val="207685616"/>
                    </a:ext>
                  </a:extLst>
                </a:gridCol>
                <a:gridCol w="227910">
                  <a:extLst>
                    <a:ext uri="{9D8B030D-6E8A-4147-A177-3AD203B41FA5}">
                      <a16:colId xmlns:a16="http://schemas.microsoft.com/office/drawing/2014/main" val="4061814904"/>
                    </a:ext>
                  </a:extLst>
                </a:gridCol>
                <a:gridCol w="775363">
                  <a:extLst>
                    <a:ext uri="{9D8B030D-6E8A-4147-A177-3AD203B41FA5}">
                      <a16:colId xmlns:a16="http://schemas.microsoft.com/office/drawing/2014/main" val="1816160942"/>
                    </a:ext>
                  </a:extLst>
                </a:gridCol>
                <a:gridCol w="540327">
                  <a:extLst>
                    <a:ext uri="{9D8B030D-6E8A-4147-A177-3AD203B41FA5}">
                      <a16:colId xmlns:a16="http://schemas.microsoft.com/office/drawing/2014/main" val="3976159495"/>
                    </a:ext>
                  </a:extLst>
                </a:gridCol>
                <a:gridCol w="532015">
                  <a:extLst>
                    <a:ext uri="{9D8B030D-6E8A-4147-A177-3AD203B41FA5}">
                      <a16:colId xmlns:a16="http://schemas.microsoft.com/office/drawing/2014/main" val="4155671772"/>
                    </a:ext>
                  </a:extLst>
                </a:gridCol>
                <a:gridCol w="332509">
                  <a:extLst>
                    <a:ext uri="{9D8B030D-6E8A-4147-A177-3AD203B41FA5}">
                      <a16:colId xmlns:a16="http://schemas.microsoft.com/office/drawing/2014/main" val="1684914314"/>
                    </a:ext>
                  </a:extLst>
                </a:gridCol>
                <a:gridCol w="312553">
                  <a:extLst>
                    <a:ext uri="{9D8B030D-6E8A-4147-A177-3AD203B41FA5}">
                      <a16:colId xmlns:a16="http://schemas.microsoft.com/office/drawing/2014/main" val="2821263627"/>
                    </a:ext>
                  </a:extLst>
                </a:gridCol>
                <a:gridCol w="618472">
                  <a:extLst>
                    <a:ext uri="{9D8B030D-6E8A-4147-A177-3AD203B41FA5}">
                      <a16:colId xmlns:a16="http://schemas.microsoft.com/office/drawing/2014/main" val="3762451874"/>
                    </a:ext>
                  </a:extLst>
                </a:gridCol>
                <a:gridCol w="299259">
                  <a:extLst>
                    <a:ext uri="{9D8B030D-6E8A-4147-A177-3AD203B41FA5}">
                      <a16:colId xmlns:a16="http://schemas.microsoft.com/office/drawing/2014/main" val="3081625536"/>
                    </a:ext>
                  </a:extLst>
                </a:gridCol>
                <a:gridCol w="307571">
                  <a:extLst>
                    <a:ext uri="{9D8B030D-6E8A-4147-A177-3AD203B41FA5}">
                      <a16:colId xmlns:a16="http://schemas.microsoft.com/office/drawing/2014/main" val="3632356375"/>
                    </a:ext>
                  </a:extLst>
                </a:gridCol>
                <a:gridCol w="290945">
                  <a:extLst>
                    <a:ext uri="{9D8B030D-6E8A-4147-A177-3AD203B41FA5}">
                      <a16:colId xmlns:a16="http://schemas.microsoft.com/office/drawing/2014/main" val="1503135411"/>
                    </a:ext>
                  </a:extLst>
                </a:gridCol>
                <a:gridCol w="365639">
                  <a:extLst>
                    <a:ext uri="{9D8B030D-6E8A-4147-A177-3AD203B41FA5}">
                      <a16:colId xmlns:a16="http://schemas.microsoft.com/office/drawing/2014/main" val="2811500754"/>
                    </a:ext>
                  </a:extLst>
                </a:gridCol>
              </a:tblGrid>
              <a:tr h="199750">
                <a:tc>
                  <a:txBody>
                    <a:bodyPr/>
                    <a:lstStyle/>
                    <a:p>
                      <a:pPr algn="ctr" fontAlgn="ctr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번호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점검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항목명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관리점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취급점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계좌번호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고객명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금액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현대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입지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취소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감사역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839423"/>
                  </a:ext>
                </a:extLst>
              </a:tr>
              <a:tr h="203994">
                <a:tc>
                  <a:txBody>
                    <a:bodyPr/>
                    <a:lstStyle/>
                    <a:p>
                      <a:pPr algn="ctr" fontAlgn="b"/>
                      <a:endParaRPr lang="en-US" altLang="ko-KR" sz="600" b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766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점검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취소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/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정정거래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[41001]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(6167) 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원종동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(3377) ******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6-0-4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***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246,000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대체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입금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4677812"/>
                  </a:ext>
                </a:extLst>
              </a:tr>
              <a:tr h="200438">
                <a:tc>
                  <a:txBody>
                    <a:bodyPr/>
                    <a:lstStyle/>
                    <a:p>
                      <a:pPr algn="ctr" fontAlgn="b"/>
                      <a:endParaRPr lang="en-US" altLang="ko-KR" sz="600" b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취소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정정거래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[41001]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(3843) 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신탁부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(3843) ***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60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60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61,360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 sz="60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입금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0713588"/>
                  </a:ext>
                </a:extLst>
              </a:tr>
              <a:tr h="174287">
                <a:tc>
                  <a:txBody>
                    <a:bodyPr/>
                    <a:lstStyle/>
                    <a:p>
                      <a:pPr algn="ctr" fontAlgn="b"/>
                      <a:endParaRPr lang="en-US" altLang="ko-KR" sz="600" b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60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60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 sz="60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6148790"/>
                  </a:ext>
                </a:extLst>
              </a:tr>
              <a:tr h="156449">
                <a:tc>
                  <a:txBody>
                    <a:bodyPr/>
                    <a:lstStyle/>
                    <a:p>
                      <a:pPr algn="ctr" fontAlgn="b"/>
                      <a:endParaRPr lang="en-US" altLang="ko-KR" sz="600" b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60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60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 sz="60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9982549"/>
                  </a:ext>
                </a:extLst>
              </a:tr>
              <a:tr h="203994">
                <a:tc>
                  <a:txBody>
                    <a:bodyPr/>
                    <a:lstStyle/>
                    <a:p>
                      <a:pPr algn="ctr" fontAlgn="b"/>
                      <a:endParaRPr lang="en-US" altLang="ko-KR" sz="600" b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60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60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 sz="60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8319048"/>
                  </a:ext>
                </a:extLst>
              </a:tr>
            </a:tbl>
          </a:graphicData>
        </a:graphic>
      </p:graphicFrame>
      <p:sp>
        <p:nvSpPr>
          <p:cNvPr id="33" name="직사각형 3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974536" y="2443941"/>
            <a:ext cx="93916" cy="94996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34" name="Freeform 46">
            <a:extLst>
              <a:ext uri="{FF2B5EF4-FFF2-40B4-BE49-F238E27FC236}">
                <a16:creationId xmlns:a16="http://schemas.microsoft.com/office/drawing/2014/main" id="{36BBD547-1346-F115-36F1-EB48123B65CE}"/>
              </a:ext>
            </a:extLst>
          </p:cNvPr>
          <p:cNvSpPr>
            <a:spLocks noEditPoints="1"/>
          </p:cNvSpPr>
          <p:nvPr/>
        </p:nvSpPr>
        <p:spPr bwMode="auto">
          <a:xfrm>
            <a:off x="1976698" y="2238610"/>
            <a:ext cx="104613" cy="106042"/>
          </a:xfrm>
          <a:custGeom>
            <a:avLst/>
            <a:gdLst/>
            <a:ahLst/>
            <a:cxnLst>
              <a:cxn ang="0">
                <a:pos x="55" y="44"/>
              </a:cxn>
              <a:cxn ang="0">
                <a:pos x="44" y="55"/>
              </a:cxn>
              <a:cxn ang="0">
                <a:pos x="10" y="55"/>
              </a:cxn>
              <a:cxn ang="0">
                <a:pos x="0" y="44"/>
              </a:cxn>
              <a:cxn ang="0">
                <a:pos x="0" y="10"/>
              </a:cxn>
              <a:cxn ang="0">
                <a:pos x="10" y="0"/>
              </a:cxn>
              <a:cxn ang="0">
                <a:pos x="44" y="0"/>
              </a:cxn>
              <a:cxn ang="0">
                <a:pos x="55" y="10"/>
              </a:cxn>
              <a:cxn ang="0">
                <a:pos x="55" y="44"/>
              </a:cxn>
              <a:cxn ang="0">
                <a:pos x="46" y="20"/>
              </a:cxn>
              <a:cxn ang="0">
                <a:pos x="46" y="17"/>
              </a:cxn>
              <a:cxn ang="0">
                <a:pos x="42" y="13"/>
              </a:cxn>
              <a:cxn ang="0">
                <a:pos x="39" y="13"/>
              </a:cxn>
              <a:cxn ang="0">
                <a:pos x="23" y="30"/>
              </a:cxn>
              <a:cxn ang="0">
                <a:pos x="15" y="22"/>
              </a:cxn>
              <a:cxn ang="0">
                <a:pos x="12" y="22"/>
              </a:cxn>
              <a:cxn ang="0">
                <a:pos x="8" y="26"/>
              </a:cxn>
              <a:cxn ang="0">
                <a:pos x="8" y="29"/>
              </a:cxn>
              <a:cxn ang="0">
                <a:pos x="21" y="42"/>
              </a:cxn>
              <a:cxn ang="0">
                <a:pos x="24" y="42"/>
              </a:cxn>
              <a:cxn ang="0">
                <a:pos x="46" y="20"/>
              </a:cxn>
            </a:cxnLst>
            <a:rect l="0" t="0" r="r" b="b"/>
            <a:pathLst>
              <a:path w="55" h="55">
                <a:moveTo>
                  <a:pt x="55" y="44"/>
                </a:moveTo>
                <a:cubicBezTo>
                  <a:pt x="55" y="50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0"/>
                </a:cubicBezTo>
                <a:lnTo>
                  <a:pt x="55" y="44"/>
                </a:lnTo>
                <a:close/>
                <a:moveTo>
                  <a:pt x="46" y="20"/>
                </a:moveTo>
                <a:cubicBezTo>
                  <a:pt x="47" y="19"/>
                  <a:pt x="47" y="17"/>
                  <a:pt x="46" y="17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2"/>
                  <a:pt x="40" y="12"/>
                  <a:pt x="39" y="13"/>
                </a:cubicBezTo>
                <a:cubicBezTo>
                  <a:pt x="23" y="30"/>
                  <a:pt x="23" y="30"/>
                  <a:pt x="23" y="30"/>
                </a:cubicBezTo>
                <a:cubicBezTo>
                  <a:pt x="15" y="22"/>
                  <a:pt x="15" y="22"/>
                  <a:pt x="15" y="22"/>
                </a:cubicBezTo>
                <a:cubicBezTo>
                  <a:pt x="14" y="21"/>
                  <a:pt x="13" y="21"/>
                  <a:pt x="12" y="22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7"/>
                  <a:pt x="7" y="28"/>
                  <a:pt x="8" y="29"/>
                </a:cubicBezTo>
                <a:cubicBezTo>
                  <a:pt x="21" y="42"/>
                  <a:pt x="21" y="42"/>
                  <a:pt x="21" y="42"/>
                </a:cubicBezTo>
                <a:cubicBezTo>
                  <a:pt x="22" y="43"/>
                  <a:pt x="23" y="43"/>
                  <a:pt x="24" y="42"/>
                </a:cubicBezTo>
                <a:lnTo>
                  <a:pt x="46" y="20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100687" tIns="50343" rIns="100687" bIns="50343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135923" rtl="0" eaLnBrk="0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202" b="0" i="0" u="none" strike="noStrike" kern="0" cap="none" spc="0" normalizeH="0" baseline="0" noProof="0" dirty="0">
              <a:ln>
                <a:solidFill>
                  <a:srgbClr val="F9A84A"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8" name="그림 1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9429" y="1728423"/>
            <a:ext cx="1763383" cy="306573"/>
          </a:xfrm>
          <a:prstGeom prst="rect">
            <a:avLst/>
          </a:prstGeom>
        </p:spPr>
      </p:pic>
      <p:sp>
        <p:nvSpPr>
          <p:cNvPr id="3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319672" y="1757020"/>
            <a:ext cx="629647" cy="188914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점검분 제거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656773" y="1760938"/>
            <a:ext cx="629647" cy="188914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전체조회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778496" y="1768486"/>
            <a:ext cx="365163" cy="175969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점검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235635" y="1761351"/>
            <a:ext cx="629647" cy="188914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점검취소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977621" y="1763441"/>
            <a:ext cx="629647" cy="188914"/>
          </a:xfrm>
          <a:prstGeom prst="roundRect">
            <a:avLst>
              <a:gd name="adj" fmla="val 10228"/>
            </a:avLst>
          </a:prstGeom>
          <a:solidFill>
            <a:srgbClr val="FFC000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자동갱신 </a:t>
            </a:r>
            <a:r>
              <a:rPr kumimoji="0" lang="en-US" altLang="ko-KR" sz="800" spc="-1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ON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3" name="직사각형 42"/>
          <p:cNvSpPr/>
          <p:nvPr/>
        </p:nvSpPr>
        <p:spPr bwMode="auto">
          <a:xfrm>
            <a:off x="3725087" y="1727878"/>
            <a:ext cx="463507" cy="277731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674881" y="167921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5" name="직사각형 44"/>
          <p:cNvSpPr/>
          <p:nvPr/>
        </p:nvSpPr>
        <p:spPr bwMode="auto">
          <a:xfrm>
            <a:off x="4212332" y="1727878"/>
            <a:ext cx="693314" cy="277731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219009" y="167724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1742858" y="1796628"/>
            <a:ext cx="196560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 </a:t>
            </a:r>
            <a:r>
              <a:rPr lang="en-US" altLang="ko-KR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1000</a:t>
            </a:r>
            <a:r>
              <a:rPr lang="ko-KR" altLang="en-US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건 점검 </a:t>
            </a:r>
            <a:r>
              <a:rPr lang="en-US" altLang="ko-KR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1000</a:t>
            </a:r>
            <a:r>
              <a:rPr lang="ko-KR" altLang="en-US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건 보류  </a:t>
            </a:r>
            <a:r>
              <a:rPr lang="en-US" altLang="ko-KR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0</a:t>
            </a:r>
            <a:r>
              <a:rPr lang="ko-KR" altLang="en-US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건  미점검 </a:t>
            </a:r>
            <a:r>
              <a:rPr lang="en-US" altLang="ko-KR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0</a:t>
            </a:r>
            <a:r>
              <a:rPr lang="ko-KR" altLang="en-US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건</a:t>
            </a: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57663" y="99204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5" name="직사각형 34"/>
          <p:cNvSpPr/>
          <p:nvPr/>
        </p:nvSpPr>
        <p:spPr bwMode="auto">
          <a:xfrm>
            <a:off x="1911967" y="1977814"/>
            <a:ext cx="215821" cy="1239212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36" name="그림 3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012" y="2092755"/>
            <a:ext cx="1561408" cy="3947815"/>
          </a:xfrm>
          <a:prstGeom prst="rect">
            <a:avLst/>
          </a:prstGeom>
        </p:spPr>
      </p:pic>
      <p:sp>
        <p:nvSpPr>
          <p:cNvPr id="49" name="타원 4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867747" y="196335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977305" y="2637904"/>
            <a:ext cx="93916" cy="94996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980073" y="2806930"/>
            <a:ext cx="93916" cy="94996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980075" y="2998127"/>
            <a:ext cx="93916" cy="94996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20575339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" name="표 3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9911818"/>
              </p:ext>
            </p:extLst>
          </p:nvPr>
        </p:nvGraphicFramePr>
        <p:xfrm>
          <a:off x="92077" y="58190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32650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MDD-00091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MDD75A16001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8339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본부계정거래상세내역</a:t>
                      </a:r>
                      <a:endParaRPr lang="ko-KR" altLang="en-US" sz="120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상시점검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본부상시 점검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본부계정거래상세내역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(P22: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이미선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69" name="표 6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7276880"/>
              </p:ext>
            </p:extLst>
          </p:nvPr>
        </p:nvGraphicFramePr>
        <p:xfrm>
          <a:off x="7207250" y="662793"/>
          <a:ext cx="2606675" cy="5268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점검취소 기능을 제공한다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 등록자만 점검취소 가능하다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이력관리 하지않고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최종 점검자만 관리한다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점검취소는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결재 태우지 않는다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라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점검등록한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감사역이 </a:t>
                      </a:r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점검취소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후 다른 감사역이 점검 하였을 경우 점검한 감사역 </a:t>
                      </a:r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사번이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저장된다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기존 화면에서 점검 대상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클릭 시 자동 점검 처리되는 기능을 제거하고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담당 검사역의 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[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점검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버튼 클릭 시 점검 처리 되도록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기능 처리한다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착오 클릭 시 점검완료되는 문제 개선을 하기위함이다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.)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1,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2, 3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기능 추가해야하는 해당 연관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화면은 아래와 같다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본부상시 상세내역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(41)]: MDD75A16001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본부상시 상세내역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(45)]: MDD75A16002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본부상시 상세내역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(46)]: MDD75A16003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라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본부상시 상세내역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(41011)]: 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MDD75A16006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마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본부상시 상세내역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(41012)]: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 MDD75A16007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="1" dirty="0" smtClean="0">
                        <a:solidFill>
                          <a:srgbClr val="2272F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03156"/>
                  </a:ext>
                </a:extLst>
              </a:tr>
            </a:tbl>
          </a:graphicData>
        </a:graphic>
      </p:graphicFrame>
      <p:sp>
        <p:nvSpPr>
          <p:cNvPr id="4" name="양쪽 모서리가 둥근 사각형 3"/>
          <p:cNvSpPr/>
          <p:nvPr/>
        </p:nvSpPr>
        <p:spPr bwMode="auto">
          <a:xfrm>
            <a:off x="239550" y="1179414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본부상시 </a:t>
            </a:r>
            <a:r>
              <a:rPr lang="ko-KR" altLang="en-US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점검</a:t>
            </a:r>
            <a:endParaRPr lang="ko-KR" altLang="en-US" sz="8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39551" y="1365149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473684" y="1554428"/>
            <a:ext cx="2699950" cy="16250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" name="이등변 삼각형 6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3989917" y="1625981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015135" y="1821649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신규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421787" y="1821649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변경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1608483" y="1825073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834778" y="1816077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삭제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241429" y="1810165"/>
            <a:ext cx="634403" cy="185911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변경이력조회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927645" y="1818938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4" name="직사각형 13"/>
          <p:cNvSpPr/>
          <p:nvPr/>
        </p:nvSpPr>
        <p:spPr bwMode="auto">
          <a:xfrm>
            <a:off x="2002362" y="1761732"/>
            <a:ext cx="1239067" cy="303437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894073" y="168177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C7B6CEFD-186E-AC88-7979-44000562DD84}"/>
              </a:ext>
            </a:extLst>
          </p:cNvPr>
          <p:cNvSpPr/>
          <p:nvPr/>
        </p:nvSpPr>
        <p:spPr>
          <a:xfrm>
            <a:off x="261243" y="1461729"/>
            <a:ext cx="6704704" cy="4739565"/>
          </a:xfrm>
          <a:prstGeom prst="rect">
            <a:avLst/>
          </a:prstGeom>
          <a:solidFill>
            <a:schemeClr val="bg1"/>
          </a:solidFill>
          <a:ln w="15875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Calibri"/>
              <a:ea typeface="맑은 고딕"/>
              <a:cs typeface="+mn-cs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061CAA5C-4EB7-4E67-85DA-E29F266F438F}"/>
              </a:ext>
            </a:extLst>
          </p:cNvPr>
          <p:cNvSpPr/>
          <p:nvPr/>
        </p:nvSpPr>
        <p:spPr>
          <a:xfrm>
            <a:off x="265147" y="1469816"/>
            <a:ext cx="6696000" cy="217588"/>
          </a:xfrm>
          <a:prstGeom prst="rect">
            <a:avLst/>
          </a:prstGeom>
          <a:solidFill>
            <a:srgbClr val="625950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742856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1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D494E968-62DE-442C-9EE6-DD6B90DDF615}"/>
              </a:ext>
            </a:extLst>
          </p:cNvPr>
          <p:cNvSpPr/>
          <p:nvPr/>
        </p:nvSpPr>
        <p:spPr bwMode="auto">
          <a:xfrm>
            <a:off x="6761995" y="1506891"/>
            <a:ext cx="134368" cy="119770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lIns="0" tIns="0" rIns="0" bIns="0" rtlCol="0" anchor="ctr" anchorCtr="0">
            <a:noAutofit/>
          </a:bodyPr>
          <a:lstStyle/>
          <a:p>
            <a:pPr marL="0" marR="0" lvl="0" indent="0" algn="ctr" defTabSz="742856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6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X</a:t>
            </a:r>
            <a:endParaRPr kumimoji="1" lang="ko-KR" altLang="en-US" sz="6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0B97788-F115-4669-A08F-46D3A46FC7DA}"/>
              </a:ext>
            </a:extLst>
          </p:cNvPr>
          <p:cNvSpPr txBox="1"/>
          <p:nvPr/>
        </p:nvSpPr>
        <p:spPr>
          <a:xfrm>
            <a:off x="308353" y="1469816"/>
            <a:ext cx="1444242" cy="215444"/>
          </a:xfrm>
          <a:prstGeom prst="rect">
            <a:avLst/>
          </a:prstGeom>
          <a:noFill/>
        </p:spPr>
        <p:txBody>
          <a:bodyPr wrap="square" lIns="29250" rtlCol="0">
            <a:spAutoFit/>
          </a:bodyPr>
          <a:lstStyle/>
          <a:p>
            <a:pPr marL="0" marR="0" lvl="0" indent="0" algn="l" defTabSz="742856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본부계정거래상세내역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17431" y="5887513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닫기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530864" y="5887513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점검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084877" y="5887513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보류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5" name="표 34"/>
          <p:cNvGraphicFramePr>
            <a:graphicFrameLocks noGrp="1"/>
          </p:cNvGraphicFramePr>
          <p:nvPr>
            <p:extLst/>
          </p:nvPr>
        </p:nvGraphicFramePr>
        <p:xfrm>
          <a:off x="377156" y="4293345"/>
          <a:ext cx="6458677" cy="344907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502376">
                  <a:extLst>
                    <a:ext uri="{9D8B030D-6E8A-4147-A177-3AD203B41FA5}">
                      <a16:colId xmlns:a16="http://schemas.microsoft.com/office/drawing/2014/main" val="207685616"/>
                    </a:ext>
                  </a:extLst>
                </a:gridCol>
                <a:gridCol w="317500">
                  <a:extLst>
                    <a:ext uri="{9D8B030D-6E8A-4147-A177-3AD203B41FA5}">
                      <a16:colId xmlns:a16="http://schemas.microsoft.com/office/drawing/2014/main" val="4061814904"/>
                    </a:ext>
                  </a:extLst>
                </a:gridCol>
                <a:gridCol w="507077">
                  <a:extLst>
                    <a:ext uri="{9D8B030D-6E8A-4147-A177-3AD203B41FA5}">
                      <a16:colId xmlns:a16="http://schemas.microsoft.com/office/drawing/2014/main" val="1816160942"/>
                    </a:ext>
                  </a:extLst>
                </a:gridCol>
                <a:gridCol w="635923">
                  <a:extLst>
                    <a:ext uri="{9D8B030D-6E8A-4147-A177-3AD203B41FA5}">
                      <a16:colId xmlns:a16="http://schemas.microsoft.com/office/drawing/2014/main" val="3976159495"/>
                    </a:ext>
                  </a:extLst>
                </a:gridCol>
                <a:gridCol w="466725">
                  <a:extLst>
                    <a:ext uri="{9D8B030D-6E8A-4147-A177-3AD203B41FA5}">
                      <a16:colId xmlns:a16="http://schemas.microsoft.com/office/drawing/2014/main" val="4155671772"/>
                    </a:ext>
                  </a:extLst>
                </a:gridCol>
                <a:gridCol w="709613">
                  <a:extLst>
                    <a:ext uri="{9D8B030D-6E8A-4147-A177-3AD203B41FA5}">
                      <a16:colId xmlns:a16="http://schemas.microsoft.com/office/drawing/2014/main" val="1684914314"/>
                    </a:ext>
                  </a:extLst>
                </a:gridCol>
                <a:gridCol w="709613">
                  <a:extLst>
                    <a:ext uri="{9D8B030D-6E8A-4147-A177-3AD203B41FA5}">
                      <a16:colId xmlns:a16="http://schemas.microsoft.com/office/drawing/2014/main" val="2821263627"/>
                    </a:ext>
                  </a:extLst>
                </a:gridCol>
                <a:gridCol w="704850">
                  <a:extLst>
                    <a:ext uri="{9D8B030D-6E8A-4147-A177-3AD203B41FA5}">
                      <a16:colId xmlns:a16="http://schemas.microsoft.com/office/drawing/2014/main" val="3762451874"/>
                    </a:ext>
                  </a:extLst>
                </a:gridCol>
                <a:gridCol w="298450">
                  <a:extLst>
                    <a:ext uri="{9D8B030D-6E8A-4147-A177-3AD203B41FA5}">
                      <a16:colId xmlns:a16="http://schemas.microsoft.com/office/drawing/2014/main" val="1503135411"/>
                    </a:ext>
                  </a:extLst>
                </a:gridCol>
                <a:gridCol w="234950">
                  <a:extLst>
                    <a:ext uri="{9D8B030D-6E8A-4147-A177-3AD203B41FA5}">
                      <a16:colId xmlns:a16="http://schemas.microsoft.com/office/drawing/2014/main" val="281150075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821970342"/>
                    </a:ext>
                  </a:extLst>
                </a:gridCol>
                <a:gridCol w="450850">
                  <a:extLst>
                    <a:ext uri="{9D8B030D-6E8A-4147-A177-3AD203B41FA5}">
                      <a16:colId xmlns:a16="http://schemas.microsoft.com/office/drawing/2014/main" val="498478326"/>
                    </a:ext>
                  </a:extLst>
                </a:gridCol>
                <a:gridCol w="482600">
                  <a:extLst>
                    <a:ext uri="{9D8B030D-6E8A-4147-A177-3AD203B41FA5}">
                      <a16:colId xmlns:a16="http://schemas.microsoft.com/office/drawing/2014/main" val="1762175008"/>
                    </a:ext>
                  </a:extLst>
                </a:gridCol>
              </a:tblGrid>
              <a:tr h="17064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거래시간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업무구분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계좌번호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KB-PIN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고객명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전번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전구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현대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입지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취소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거래금액</a:t>
                      </a:r>
                      <a:r>
                        <a:rPr lang="en-US" altLang="ko-KR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천</a:t>
                      </a:r>
                      <a:r>
                        <a:rPr lang="en-US" altLang="ko-KR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현금출금</a:t>
                      </a:r>
                      <a:r>
                        <a:rPr lang="en-US" altLang="ko-KR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천</a:t>
                      </a:r>
                      <a:r>
                        <a:rPr lang="en-US" altLang="ko-KR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spc="-100" baseline="0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대체출금</a:t>
                      </a:r>
                      <a:r>
                        <a:rPr lang="en-US" altLang="ko-KR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천</a:t>
                      </a:r>
                      <a:r>
                        <a:rPr lang="en-US" altLang="ko-KR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600" b="0" i="0" u="none" strike="noStrike" spc="-100" baseline="0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839423"/>
                  </a:ext>
                </a:extLst>
              </a:tr>
              <a:tr h="174266">
                <a:tc>
                  <a:txBody>
                    <a:bodyPr/>
                    <a:lstStyle/>
                    <a:p>
                      <a:pPr algn="ctr" fontAlgn="b"/>
                      <a:endParaRPr lang="en-US" altLang="ko-KR" sz="600" b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4677812"/>
                  </a:ext>
                </a:extLst>
              </a:tr>
            </a:tbl>
          </a:graphicData>
        </a:graphic>
      </p:graphicFrame>
      <p:sp>
        <p:nvSpPr>
          <p:cNvPr id="38" name="타원 3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495626" y="569063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9" name="직사각형 38"/>
          <p:cNvSpPr/>
          <p:nvPr/>
        </p:nvSpPr>
        <p:spPr bwMode="auto">
          <a:xfrm>
            <a:off x="5482635" y="5850187"/>
            <a:ext cx="462838" cy="277731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65147" y="100579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7" name="직사각형 36"/>
          <p:cNvSpPr/>
          <p:nvPr/>
        </p:nvSpPr>
        <p:spPr bwMode="auto">
          <a:xfrm>
            <a:off x="5958464" y="5850187"/>
            <a:ext cx="538077" cy="273926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984539" y="5893479"/>
            <a:ext cx="472935" cy="165658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점검 취소</a:t>
            </a:r>
            <a:endParaRPr kumimoji="0" lang="ko-KR" altLang="en-US" sz="7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955816" y="569943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1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34" name="그림 3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52930" y="1724479"/>
            <a:ext cx="6712278" cy="24508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064877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" name="표 3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7079938"/>
              </p:ext>
            </p:extLst>
          </p:nvPr>
        </p:nvGraphicFramePr>
        <p:xfrm>
          <a:off x="92077" y="58190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32650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MDD-00091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MDD75A16004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8339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점검내용등록</a:t>
                      </a:r>
                      <a:endParaRPr lang="ko-KR" altLang="en-US" sz="120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상시점검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본부상시 점검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본부계정거래상세내역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점검내용등록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(P22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이미선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69" name="표 6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4072906"/>
              </p:ext>
            </p:extLst>
          </p:nvPr>
        </p:nvGraphicFramePr>
        <p:xfrm>
          <a:off x="7207250" y="662793"/>
          <a:ext cx="2606675" cy="5401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점검내용등록 버튼 클릭 시 제공하는 기능으로 점검하는것과 점검 내용 등록은 별개의 프로세스로 진행한다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1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번  해당 기능 추가해야하는 연관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화면은 아래와 같다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국외점포 점검내용등록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: MDD75A15003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글로벌상시 점검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국외상시감사상세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점검내용등록 버튼 클릭 시 나타나는 팝업화면이다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.)</a:t>
                      </a:r>
                    </a:p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 내용 작성되어 있는 경우 수정 가능</a:t>
                      </a:r>
                      <a:endParaRPr lang="en-US" altLang="ko-KR" sz="8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 내용이 작성 되어 있지 않은 경우 등록</a:t>
                      </a:r>
                      <a:endParaRPr lang="en-US" altLang="ko-KR" sz="8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다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b="1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기존에 점검 내용이 등록되어 있는 내용이 보여지지 않은 현상이</a:t>
                      </a:r>
                      <a:r>
                        <a:rPr lang="ko-KR" altLang="en-US" sz="800" b="1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발생 했으므로 </a:t>
                      </a:r>
                      <a:r>
                        <a:rPr lang="ko-KR" altLang="en-US" sz="800" b="1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해당 부분 개발 수정 필요하다</a:t>
                      </a:r>
                      <a:r>
                        <a:rPr lang="en-US" altLang="ko-KR" sz="800" b="1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5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031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6523019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79426514"/>
                  </a:ext>
                </a:extLst>
              </a:tr>
            </a:tbl>
          </a:graphicData>
        </a:graphic>
      </p:graphicFrame>
      <p:sp>
        <p:nvSpPr>
          <p:cNvPr id="4" name="양쪽 모서리가 둥근 사각형 3"/>
          <p:cNvSpPr/>
          <p:nvPr/>
        </p:nvSpPr>
        <p:spPr bwMode="auto">
          <a:xfrm>
            <a:off x="239550" y="1179414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본부상시 </a:t>
            </a:r>
            <a:r>
              <a:rPr lang="ko-KR" altLang="en-US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점검</a:t>
            </a:r>
            <a:endParaRPr lang="ko-KR" altLang="en-US" sz="8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39551" y="1365149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473684" y="1554428"/>
            <a:ext cx="2699950" cy="16250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" name="이등변 삼각형 6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3989917" y="1625981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015135" y="1821649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신규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421787" y="1821649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변경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1608483" y="1825073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834778" y="1816077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삭제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241429" y="1810165"/>
            <a:ext cx="634403" cy="185911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변경이력조회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927645" y="1818938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4" name="직사각형 13"/>
          <p:cNvSpPr/>
          <p:nvPr/>
        </p:nvSpPr>
        <p:spPr bwMode="auto">
          <a:xfrm>
            <a:off x="2002362" y="1761732"/>
            <a:ext cx="1239067" cy="303437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894073" y="168177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C7B6CEFD-186E-AC88-7979-44000562DD84}"/>
              </a:ext>
            </a:extLst>
          </p:cNvPr>
          <p:cNvSpPr/>
          <p:nvPr/>
        </p:nvSpPr>
        <p:spPr>
          <a:xfrm>
            <a:off x="261243" y="1461729"/>
            <a:ext cx="6704704" cy="4739565"/>
          </a:xfrm>
          <a:prstGeom prst="rect">
            <a:avLst/>
          </a:prstGeom>
          <a:solidFill>
            <a:schemeClr val="bg1"/>
          </a:solidFill>
          <a:ln w="15875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Calibri"/>
              <a:ea typeface="맑은 고딕"/>
              <a:cs typeface="+mn-cs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061CAA5C-4EB7-4E67-85DA-E29F266F438F}"/>
              </a:ext>
            </a:extLst>
          </p:cNvPr>
          <p:cNvSpPr/>
          <p:nvPr/>
        </p:nvSpPr>
        <p:spPr>
          <a:xfrm>
            <a:off x="265147" y="1469816"/>
            <a:ext cx="6696000" cy="217588"/>
          </a:xfrm>
          <a:prstGeom prst="rect">
            <a:avLst/>
          </a:prstGeom>
          <a:solidFill>
            <a:srgbClr val="625950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742856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1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D494E968-62DE-442C-9EE6-DD6B90DDF615}"/>
              </a:ext>
            </a:extLst>
          </p:cNvPr>
          <p:cNvSpPr/>
          <p:nvPr/>
        </p:nvSpPr>
        <p:spPr bwMode="auto">
          <a:xfrm>
            <a:off x="6761995" y="1506891"/>
            <a:ext cx="134368" cy="119770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lIns="0" tIns="0" rIns="0" bIns="0" rtlCol="0" anchor="ctr" anchorCtr="0">
            <a:noAutofit/>
          </a:bodyPr>
          <a:lstStyle/>
          <a:p>
            <a:pPr marL="0" marR="0" lvl="0" indent="0" algn="ctr" defTabSz="742856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6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X</a:t>
            </a:r>
            <a:endParaRPr kumimoji="1" lang="ko-KR" altLang="en-US" sz="6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0B97788-F115-4669-A08F-46D3A46FC7DA}"/>
              </a:ext>
            </a:extLst>
          </p:cNvPr>
          <p:cNvSpPr txBox="1"/>
          <p:nvPr/>
        </p:nvSpPr>
        <p:spPr>
          <a:xfrm>
            <a:off x="308353" y="1469816"/>
            <a:ext cx="1444242" cy="215444"/>
          </a:xfrm>
          <a:prstGeom prst="rect">
            <a:avLst/>
          </a:prstGeom>
          <a:noFill/>
        </p:spPr>
        <p:txBody>
          <a:bodyPr wrap="square" lIns="29250" rtlCol="0">
            <a:spAutoFit/>
          </a:bodyPr>
          <a:lstStyle/>
          <a:p>
            <a:pPr marL="0" marR="0" lvl="0" indent="0" algn="l" defTabSz="742856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본부계정거래상세내역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17431" y="5887513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닫기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613992" y="5887513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점검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184629" y="5887513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보류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5" name="표 34"/>
          <p:cNvGraphicFramePr>
            <a:graphicFrameLocks noGrp="1"/>
          </p:cNvGraphicFramePr>
          <p:nvPr>
            <p:extLst/>
          </p:nvPr>
        </p:nvGraphicFramePr>
        <p:xfrm>
          <a:off x="377156" y="4293345"/>
          <a:ext cx="6458677" cy="344907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502376">
                  <a:extLst>
                    <a:ext uri="{9D8B030D-6E8A-4147-A177-3AD203B41FA5}">
                      <a16:colId xmlns:a16="http://schemas.microsoft.com/office/drawing/2014/main" val="207685616"/>
                    </a:ext>
                  </a:extLst>
                </a:gridCol>
                <a:gridCol w="317500">
                  <a:extLst>
                    <a:ext uri="{9D8B030D-6E8A-4147-A177-3AD203B41FA5}">
                      <a16:colId xmlns:a16="http://schemas.microsoft.com/office/drawing/2014/main" val="4061814904"/>
                    </a:ext>
                  </a:extLst>
                </a:gridCol>
                <a:gridCol w="507077">
                  <a:extLst>
                    <a:ext uri="{9D8B030D-6E8A-4147-A177-3AD203B41FA5}">
                      <a16:colId xmlns:a16="http://schemas.microsoft.com/office/drawing/2014/main" val="1816160942"/>
                    </a:ext>
                  </a:extLst>
                </a:gridCol>
                <a:gridCol w="635923">
                  <a:extLst>
                    <a:ext uri="{9D8B030D-6E8A-4147-A177-3AD203B41FA5}">
                      <a16:colId xmlns:a16="http://schemas.microsoft.com/office/drawing/2014/main" val="3976159495"/>
                    </a:ext>
                  </a:extLst>
                </a:gridCol>
                <a:gridCol w="466725">
                  <a:extLst>
                    <a:ext uri="{9D8B030D-6E8A-4147-A177-3AD203B41FA5}">
                      <a16:colId xmlns:a16="http://schemas.microsoft.com/office/drawing/2014/main" val="4155671772"/>
                    </a:ext>
                  </a:extLst>
                </a:gridCol>
                <a:gridCol w="709613">
                  <a:extLst>
                    <a:ext uri="{9D8B030D-6E8A-4147-A177-3AD203B41FA5}">
                      <a16:colId xmlns:a16="http://schemas.microsoft.com/office/drawing/2014/main" val="1684914314"/>
                    </a:ext>
                  </a:extLst>
                </a:gridCol>
                <a:gridCol w="709613">
                  <a:extLst>
                    <a:ext uri="{9D8B030D-6E8A-4147-A177-3AD203B41FA5}">
                      <a16:colId xmlns:a16="http://schemas.microsoft.com/office/drawing/2014/main" val="2821263627"/>
                    </a:ext>
                  </a:extLst>
                </a:gridCol>
                <a:gridCol w="704850">
                  <a:extLst>
                    <a:ext uri="{9D8B030D-6E8A-4147-A177-3AD203B41FA5}">
                      <a16:colId xmlns:a16="http://schemas.microsoft.com/office/drawing/2014/main" val="3762451874"/>
                    </a:ext>
                  </a:extLst>
                </a:gridCol>
                <a:gridCol w="298450">
                  <a:extLst>
                    <a:ext uri="{9D8B030D-6E8A-4147-A177-3AD203B41FA5}">
                      <a16:colId xmlns:a16="http://schemas.microsoft.com/office/drawing/2014/main" val="1503135411"/>
                    </a:ext>
                  </a:extLst>
                </a:gridCol>
                <a:gridCol w="234950">
                  <a:extLst>
                    <a:ext uri="{9D8B030D-6E8A-4147-A177-3AD203B41FA5}">
                      <a16:colId xmlns:a16="http://schemas.microsoft.com/office/drawing/2014/main" val="281150075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821970342"/>
                    </a:ext>
                  </a:extLst>
                </a:gridCol>
                <a:gridCol w="450850">
                  <a:extLst>
                    <a:ext uri="{9D8B030D-6E8A-4147-A177-3AD203B41FA5}">
                      <a16:colId xmlns:a16="http://schemas.microsoft.com/office/drawing/2014/main" val="498478326"/>
                    </a:ext>
                  </a:extLst>
                </a:gridCol>
                <a:gridCol w="482600">
                  <a:extLst>
                    <a:ext uri="{9D8B030D-6E8A-4147-A177-3AD203B41FA5}">
                      <a16:colId xmlns:a16="http://schemas.microsoft.com/office/drawing/2014/main" val="1762175008"/>
                    </a:ext>
                  </a:extLst>
                </a:gridCol>
              </a:tblGrid>
              <a:tr h="17064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거래시간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업무구분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계좌번호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KB-PIN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고객명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전번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전구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현대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입지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취소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거래금액</a:t>
                      </a:r>
                      <a:r>
                        <a:rPr lang="en-US" altLang="ko-KR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천</a:t>
                      </a:r>
                      <a:r>
                        <a:rPr lang="en-US" altLang="ko-KR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현금출금</a:t>
                      </a:r>
                      <a:r>
                        <a:rPr lang="en-US" altLang="ko-KR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천</a:t>
                      </a:r>
                      <a:r>
                        <a:rPr lang="en-US" altLang="ko-KR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spc="-100" baseline="0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대체출금</a:t>
                      </a:r>
                      <a:r>
                        <a:rPr lang="en-US" altLang="ko-KR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천</a:t>
                      </a:r>
                      <a:r>
                        <a:rPr lang="en-US" altLang="ko-KR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600" b="0" i="0" u="none" strike="noStrike" spc="-100" baseline="0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839423"/>
                  </a:ext>
                </a:extLst>
              </a:tr>
              <a:tr h="174266">
                <a:tc>
                  <a:txBody>
                    <a:bodyPr/>
                    <a:lstStyle/>
                    <a:p>
                      <a:pPr algn="ctr" fontAlgn="b"/>
                      <a:endParaRPr lang="en-US" altLang="ko-KR" sz="600" b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4677812"/>
                  </a:ext>
                </a:extLst>
              </a:tr>
            </a:tbl>
          </a:graphicData>
        </a:graphic>
      </p:graphicFrame>
      <p:sp>
        <p:nvSpPr>
          <p:cNvPr id="3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016029" y="5887513"/>
            <a:ext cx="45445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점검취소</a:t>
            </a:r>
          </a:p>
        </p:txBody>
      </p:sp>
      <p:pic>
        <p:nvPicPr>
          <p:cNvPr id="36" name="그림 3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54000" y="1687404"/>
            <a:ext cx="6712278" cy="3724979"/>
          </a:xfrm>
          <a:prstGeom prst="rect">
            <a:avLst/>
          </a:prstGeom>
        </p:spPr>
      </p:pic>
      <p:sp>
        <p:nvSpPr>
          <p:cNvPr id="37" name="직사각형 36"/>
          <p:cNvSpPr/>
          <p:nvPr/>
        </p:nvSpPr>
        <p:spPr bwMode="auto">
          <a:xfrm>
            <a:off x="5597402" y="1680395"/>
            <a:ext cx="628831" cy="235181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497370" y="210491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841395" y="349606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42" name="구부러진 연결선 41"/>
          <p:cNvCxnSpPr>
            <a:stCxn id="37" idx="2"/>
          </p:cNvCxnSpPr>
          <p:nvPr/>
        </p:nvCxnSpPr>
        <p:spPr bwMode="auto">
          <a:xfrm rot="5400000">
            <a:off x="4803482" y="1285728"/>
            <a:ext cx="478489" cy="1738184"/>
          </a:xfrm>
          <a:prstGeom prst="curvedConnector2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26701003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" name="표 3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5106574"/>
              </p:ext>
            </p:extLst>
          </p:nvPr>
        </p:nvGraphicFramePr>
        <p:xfrm>
          <a:off x="92077" y="58190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32650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MDD-00098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MDD72A1I000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8339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본부상시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점검내역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조회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상시점검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본부상시 점검 내용 조회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(P22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이미선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endParaRPr lang="ko-KR" altLang="en-US" sz="105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69" name="표 6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0160646"/>
              </p:ext>
            </p:extLst>
          </p:nvPr>
        </p:nvGraphicFramePr>
        <p:xfrm>
          <a:off x="7207250" y="662793"/>
          <a:ext cx="2606675" cy="4741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본인이 등록한 점검 내용 조회 목록이다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본부상시 점검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 점검 내용 등록 시 작성한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"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 내용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"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 출력되는 목록 화면이다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 구분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으로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 일자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감사역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 항목을 선택하여 조회한 내용이 출력된다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57225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8846583"/>
                  </a:ext>
                </a:extLst>
              </a:tr>
            </a:tbl>
          </a:graphicData>
        </a:graphic>
      </p:graphicFrame>
      <p:sp>
        <p:nvSpPr>
          <p:cNvPr id="4" name="양쪽 모서리가 둥근 사각형 3"/>
          <p:cNvSpPr/>
          <p:nvPr/>
        </p:nvSpPr>
        <p:spPr bwMode="auto">
          <a:xfrm>
            <a:off x="239550" y="1179414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본부상시 </a:t>
            </a:r>
            <a:r>
              <a:rPr lang="ko-KR" altLang="en-US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점검내역 조회</a:t>
            </a:r>
            <a:endParaRPr lang="ko-KR" altLang="en-US" sz="8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39551" y="1365149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67114" y="98926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08690" y="2213632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조회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0" name="표 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65595"/>
              </p:ext>
            </p:extLst>
          </p:nvPr>
        </p:nvGraphicFramePr>
        <p:xfrm>
          <a:off x="258699" y="2428613"/>
          <a:ext cx="6718304" cy="97501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597512">
                  <a:extLst>
                    <a:ext uri="{9D8B030D-6E8A-4147-A177-3AD203B41FA5}">
                      <a16:colId xmlns:a16="http://schemas.microsoft.com/office/drawing/2014/main" val="2435042835"/>
                    </a:ext>
                  </a:extLst>
                </a:gridCol>
                <a:gridCol w="906087">
                  <a:extLst>
                    <a:ext uri="{9D8B030D-6E8A-4147-A177-3AD203B41FA5}">
                      <a16:colId xmlns:a16="http://schemas.microsoft.com/office/drawing/2014/main" val="4259443528"/>
                    </a:ext>
                  </a:extLst>
                </a:gridCol>
                <a:gridCol w="856211">
                  <a:extLst>
                    <a:ext uri="{9D8B030D-6E8A-4147-A177-3AD203B41FA5}">
                      <a16:colId xmlns:a16="http://schemas.microsoft.com/office/drawing/2014/main" val="2119051089"/>
                    </a:ext>
                  </a:extLst>
                </a:gridCol>
                <a:gridCol w="606829">
                  <a:extLst>
                    <a:ext uri="{9D8B030D-6E8A-4147-A177-3AD203B41FA5}">
                      <a16:colId xmlns:a16="http://schemas.microsoft.com/office/drawing/2014/main" val="927822105"/>
                    </a:ext>
                  </a:extLst>
                </a:gridCol>
                <a:gridCol w="473826">
                  <a:extLst>
                    <a:ext uri="{9D8B030D-6E8A-4147-A177-3AD203B41FA5}">
                      <a16:colId xmlns:a16="http://schemas.microsoft.com/office/drawing/2014/main" val="3124131066"/>
                    </a:ext>
                  </a:extLst>
                </a:gridCol>
                <a:gridCol w="561758">
                  <a:extLst>
                    <a:ext uri="{9D8B030D-6E8A-4147-A177-3AD203B41FA5}">
                      <a16:colId xmlns:a16="http://schemas.microsoft.com/office/drawing/2014/main" val="597960295"/>
                    </a:ext>
                  </a:extLst>
                </a:gridCol>
                <a:gridCol w="490402">
                  <a:extLst>
                    <a:ext uri="{9D8B030D-6E8A-4147-A177-3AD203B41FA5}">
                      <a16:colId xmlns:a16="http://schemas.microsoft.com/office/drawing/2014/main" val="330745891"/>
                    </a:ext>
                  </a:extLst>
                </a:gridCol>
                <a:gridCol w="2225679">
                  <a:extLst>
                    <a:ext uri="{9D8B030D-6E8A-4147-A177-3AD203B41FA5}">
                      <a16:colId xmlns:a16="http://schemas.microsoft.com/office/drawing/2014/main" val="476208228"/>
                    </a:ext>
                  </a:extLst>
                </a:gridCol>
              </a:tblGrid>
              <a:tr h="27704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점검일시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점검항목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관련부점</a:t>
                      </a:r>
                      <a:endParaRPr lang="en-US" altLang="ko-KR" sz="700" b="0" i="0" u="none" strike="noStrike" dirty="0" smtClean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점검부점</a:t>
                      </a:r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고객명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통화코드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거래금액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감사역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점검 내용</a:t>
                      </a:r>
                    </a:p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541704"/>
                  </a:ext>
                </a:extLst>
              </a:tr>
              <a:tr h="201318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2024-12-11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41001</a:t>
                      </a:r>
                      <a:r>
                        <a:rPr lang="en-US" altLang="ko-KR" sz="700" b="0" i="0" u="none" strike="noStrike" baseline="0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baseline="0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취소</a:t>
                      </a:r>
                      <a:r>
                        <a:rPr lang="en-US" altLang="ko-KR" sz="700" b="0" i="0" u="none" strike="noStrike" baseline="0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baseline="0" dirty="0" err="1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정정거래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(7564)</a:t>
                      </a:r>
                      <a:r>
                        <a:rPr lang="ko-KR" altLang="en-US" sz="7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인후동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i="0" u="none" strike="noStrike" dirty="0" smtClean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i="0" u="none" strike="noStrike" dirty="0" smtClean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i="0" u="none" strike="noStrike" dirty="0" smtClean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...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점검 </a:t>
                      </a:r>
                      <a:r>
                        <a:rPr lang="ko-KR" altLang="en-US" sz="7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내용점검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내용점검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내용점검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내용점검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내용점검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내용점검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내용점검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내용점검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내용점검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내용점검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내용점검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내용점검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내용점검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내용내용</a:t>
                      </a:r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…..</a:t>
                      </a:r>
                      <a:endParaRPr lang="ko-KR" altLang="en-US" sz="700" b="0" i="0" u="none" strike="noStrike" dirty="0" smtClean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4588187"/>
                  </a:ext>
                </a:extLst>
              </a:tr>
              <a:tr h="201318"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0130473"/>
                  </a:ext>
                </a:extLst>
              </a:tr>
              <a:tr h="167085"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435405"/>
                  </a:ext>
                </a:extLst>
              </a:tr>
            </a:tbl>
          </a:graphicData>
        </a:graphic>
      </p:graphicFrame>
      <p:graphicFrame>
        <p:nvGraphicFramePr>
          <p:cNvPr id="21" name="내용 개체 틀 12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83372838"/>
              </p:ext>
            </p:extLst>
          </p:nvPr>
        </p:nvGraphicFramePr>
        <p:xfrm>
          <a:off x="256174" y="1438349"/>
          <a:ext cx="6726398" cy="50975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671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2101756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594360">
                  <a:extLst>
                    <a:ext uri="{9D8B030D-6E8A-4147-A177-3AD203B41FA5}">
                      <a16:colId xmlns:a16="http://schemas.microsoft.com/office/drawing/2014/main" val="2740985992"/>
                    </a:ext>
                  </a:extLst>
                </a:gridCol>
                <a:gridCol w="3553572">
                  <a:extLst>
                    <a:ext uri="{9D8B030D-6E8A-4147-A177-3AD203B41FA5}">
                      <a16:colId xmlns:a16="http://schemas.microsoft.com/office/drawing/2014/main" val="157568090"/>
                    </a:ext>
                  </a:extLst>
                </a:gridCol>
              </a:tblGrid>
              <a:tr h="254878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baseline="0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baseline="0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감사역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54878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관련부점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점검항목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6439094"/>
                  </a:ext>
                </a:extLst>
              </a:tr>
            </a:tbl>
          </a:graphicData>
        </a:graphic>
      </p:graphicFrame>
      <p:grpSp>
        <p:nvGrpSpPr>
          <p:cNvPr id="22" name="그룹 21"/>
          <p:cNvGrpSpPr/>
          <p:nvPr/>
        </p:nvGrpSpPr>
        <p:grpSpPr>
          <a:xfrm>
            <a:off x="767347" y="1471034"/>
            <a:ext cx="1848303" cy="180990"/>
            <a:chOff x="767347" y="1471034"/>
            <a:chExt cx="1848303" cy="180990"/>
          </a:xfrm>
        </p:grpSpPr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767347" y="1471034"/>
              <a:ext cx="82149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2024-03-04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24" name="그림 23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407747" y="1478800"/>
              <a:ext cx="181098" cy="173224"/>
            </a:xfrm>
            <a:prstGeom prst="rect">
              <a:avLst/>
            </a:prstGeom>
          </p:spPr>
        </p:pic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794152" y="1471034"/>
              <a:ext cx="82149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2024-03-04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26" name="그림 25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2434552" y="1478800"/>
              <a:ext cx="181098" cy="173224"/>
            </a:xfrm>
            <a:prstGeom prst="rect">
              <a:avLst/>
            </a:prstGeom>
          </p:spPr>
        </p:pic>
        <p:cxnSp>
          <p:nvCxnSpPr>
            <p:cNvPr id="27" name="직선 연결선 26"/>
            <p:cNvCxnSpPr/>
            <p:nvPr/>
          </p:nvCxnSpPr>
          <p:spPr bwMode="auto">
            <a:xfrm>
              <a:off x="1642358" y="1559548"/>
              <a:ext cx="8647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rgbClr val="4D4D4D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28398" dir="1593903" algn="ctr" rotWithShape="0">
                      <a:schemeClr val="tx1"/>
                    </a:outerShdw>
                  </a:effectLst>
                </a14:hiddenEffects>
              </a:ext>
            </a:extLst>
          </p:spPr>
        </p:cxnSp>
      </p:grpSp>
      <p:sp>
        <p:nvSpPr>
          <p:cNvPr id="28" name="타원 2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67114" y="224300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501547" y="1471034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홍</a:t>
            </a:r>
            <a:endParaRPr kumimoji="0" lang="ko-KR" altLang="en-US" sz="8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767347" y="1732596"/>
            <a:ext cx="406322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0587</a:t>
            </a:r>
            <a:endParaRPr kumimoji="0" lang="ko-KR" altLang="en-US" sz="7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184470" y="1731680"/>
            <a:ext cx="754602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수탁사업부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34" name="그림 33"/>
          <p:cNvPicPr>
            <a:picLocks noChangeAspect="1"/>
          </p:cNvPicPr>
          <p:nvPr/>
        </p:nvPicPr>
        <p:blipFill rotWithShape="1">
          <a:blip r:embed="rId3"/>
          <a:srcRect r="73540"/>
          <a:stretch/>
        </p:blipFill>
        <p:spPr>
          <a:xfrm>
            <a:off x="1191887" y="1743252"/>
            <a:ext cx="183595" cy="164228"/>
          </a:xfrm>
          <a:prstGeom prst="rect">
            <a:avLst/>
          </a:prstGeom>
        </p:spPr>
      </p:pic>
      <p:sp>
        <p:nvSpPr>
          <p:cNvPr id="35" name="직사각형 3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473343" y="1767190"/>
            <a:ext cx="2993960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>
            <a:defPPr>
              <a:defRPr lang="ko-KR"/>
            </a:defPPr>
            <a:lvl1pPr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1pPr>
            <a:lvl2pPr marL="4572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2pPr>
            <a:lvl3pPr marL="9144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3pPr>
            <a:lvl4pPr marL="13716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4pPr>
            <a:lvl5pPr marL="18288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9pPr>
          </a:lstStyle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8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473342" y="1945765"/>
            <a:ext cx="2993960" cy="482848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>
            <a:defPPr>
              <a:defRPr lang="ko-KR"/>
            </a:defPPr>
            <a:lvl1pPr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1pPr>
            <a:lvl2pPr marL="4572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2pPr>
            <a:lvl3pPr marL="9144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3pPr>
            <a:lvl4pPr marL="13716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4pPr>
            <a:lvl5pPr marL="18288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9pPr>
          </a:lstStyle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7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[41004] </a:t>
            </a:r>
            <a:r>
              <a:rPr kumimoji="0" lang="ko-KR" altLang="en-US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7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고액 입금거래</a:t>
            </a:r>
            <a:endParaRPr kumimoji="0" lang="en-US" altLang="ko-KR" sz="80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75000"/>
                </a:schemeClr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[41006] </a:t>
            </a:r>
            <a:r>
              <a:rPr kumimoji="0" lang="ko-KR" altLang="en-US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7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고액</a:t>
            </a:r>
            <a:r>
              <a:rPr kumimoji="0" lang="ko-KR" altLang="en-US" sz="8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출금거래</a:t>
            </a:r>
            <a:endParaRPr kumimoji="0" lang="en-US" altLang="ko-KR" sz="800" b="0" i="0" u="none" strike="noStrike" kern="1200" cap="none" normalizeH="0" noProof="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7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[41005] </a:t>
            </a:r>
            <a:r>
              <a:rPr kumimoji="0" lang="ko-KR" altLang="en-US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7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타행환 송금거래</a:t>
            </a:r>
            <a:endParaRPr kumimoji="0" lang="en-US" altLang="ko-KR" sz="80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75000"/>
                </a:schemeClr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7" name="이등변 삼각형 36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6260196" y="1852518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85410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" name="내용 개체 틀 121"/>
          <p:cNvGraphicFramePr>
            <a:graphicFrameLocks/>
          </p:cNvGraphicFramePr>
          <p:nvPr>
            <p:extLst/>
          </p:nvPr>
        </p:nvGraphicFramePr>
        <p:xfrm>
          <a:off x="214331" y="1413204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7313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3133898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507076">
                  <a:extLst>
                    <a:ext uri="{9D8B030D-6E8A-4147-A177-3AD203B41FA5}">
                      <a16:colId xmlns:a16="http://schemas.microsoft.com/office/drawing/2014/main" val="2674446659"/>
                    </a:ext>
                  </a:extLst>
                </a:gridCol>
                <a:gridCol w="2618111">
                  <a:extLst>
                    <a:ext uri="{9D8B030D-6E8A-4147-A177-3AD203B41FA5}">
                      <a16:colId xmlns:a16="http://schemas.microsoft.com/office/drawing/2014/main" val="2165246359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u="none" strike="noStrike" baseline="0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거래일자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u="none" strike="noStrike" kern="1200" baseline="0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휴일정보</a:t>
                      </a:r>
                      <a:endParaRPr lang="ko-KR" altLang="en-US" sz="700" u="none" strike="noStrike" kern="1200" dirty="0" smtClean="0">
                        <a:solidFill>
                          <a:schemeClr val="dk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8760484"/>
              </p:ext>
            </p:extLst>
          </p:nvPr>
        </p:nvGraphicFramePr>
        <p:xfrm>
          <a:off x="92077" y="58190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32650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MDD-00096, MDD-00097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MDD75A1A000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8339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글로벌상시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점검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상시점검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글로벌상시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점검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(P17, P24: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이미선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69" name="표 6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1300585"/>
              </p:ext>
            </p:extLst>
          </p:nvPr>
        </p:nvGraphicFramePr>
        <p:xfrm>
          <a:off x="7207250" y="662793"/>
          <a:ext cx="2606675" cy="5401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상시감사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상시점검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글로벌상시점검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자료관리하는 화면이다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오른쪽 세부 목록에 개별 항목 체크박스 추가한다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오른쪽 세부 목록에 전체 선택 체크박스는 지원하지 않는다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>
                        <a:buFontTx/>
                        <a:buNone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오른쪽 선택된 항목에 대한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또는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점검취소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기능 처리를 제공한다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오른쪽 선택 항목이 존재하고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버튼이 눌린 경우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"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점검을 진행하시겠습니까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?"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확인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]/[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팝업 창이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오른쪽 선택 항목이 존재하고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점검취소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버튼이 눌린 경우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"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 취소를 진행하시겠습니까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?"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확인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]/[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팝업 창이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점검취소기능은 기존점건등록 감사역만 가능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 등록자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57225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8846583"/>
                  </a:ext>
                </a:extLst>
              </a:tr>
            </a:tbl>
          </a:graphicData>
        </a:graphic>
      </p:graphicFrame>
      <p:sp>
        <p:nvSpPr>
          <p:cNvPr id="4" name="양쪽 모서리가 둥근 사각형 3"/>
          <p:cNvSpPr/>
          <p:nvPr/>
        </p:nvSpPr>
        <p:spPr bwMode="auto">
          <a:xfrm>
            <a:off x="222924" y="1171102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글로벌상시 점검</a:t>
            </a:r>
            <a:endParaRPr lang="ko-KR" altLang="en-US" sz="8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25" y="1356837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767347" y="1454408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2024-03-04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9" name="그림 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07747" y="1462174"/>
            <a:ext cx="181098" cy="173224"/>
          </a:xfrm>
          <a:prstGeom prst="rect">
            <a:avLst/>
          </a:prstGeom>
        </p:spPr>
      </p:pic>
      <p:sp>
        <p:nvSpPr>
          <p:cNvPr id="14" name="Text Box 39">
            <a:extLst>
              <a:ext uri="{FF2B5EF4-FFF2-40B4-BE49-F238E27FC236}">
                <a16:creationId xmlns:a16="http://schemas.microsoft.com/office/drawing/2014/main" id="{0C6A76A4-9FDA-D68A-AF81-090FF3653C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525" y="1957941"/>
            <a:ext cx="1433008" cy="4136629"/>
          </a:xfrm>
          <a:prstGeom prst="rect">
            <a:avLst/>
          </a:prstGeom>
          <a:noFill/>
          <a:ln w="6350" algn="ctr">
            <a:solidFill>
              <a:schemeClr val="bg2">
                <a:lumMod val="90000"/>
              </a:schemeClr>
            </a:solidFill>
            <a:miter lim="800000"/>
            <a:headEnd/>
            <a:tailEnd/>
          </a:ln>
          <a:effectLst/>
        </p:spPr>
        <p:txBody>
          <a:bodyPr wrap="square" lIns="108000" tIns="144000" rIns="108000" bIns="72000" anchor="t" anchorCtr="0">
            <a:noAutofit/>
          </a:bodyPr>
          <a:lstStyle/>
          <a:p>
            <a:pPr marL="0" marR="0" lvl="0" indent="0" algn="l" defTabSz="101758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C2D83"/>
              </a:buClr>
              <a:buSzPct val="80000"/>
              <a:buFontTx/>
              <a:buNone/>
              <a:tabLst/>
              <a:defRPr/>
            </a:pPr>
            <a:endParaRPr kumimoji="1" lang="en-US" altLang="ko-KR" sz="1600" b="1" i="0" u="none" strike="noStrike" kern="0" cap="none" spc="-100" normalizeH="0" baseline="0" noProof="0" dirty="0">
              <a:ln w="12700">
                <a:solidFill>
                  <a:srgbClr val="005EB8">
                    <a:alpha val="0"/>
                  </a:srgbClr>
                </a:solidFill>
              </a:ln>
              <a:solidFill>
                <a:srgbClr val="4A483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5" name="Text Box 39">
            <a:extLst>
              <a:ext uri="{FF2B5EF4-FFF2-40B4-BE49-F238E27FC236}">
                <a16:creationId xmlns:a16="http://schemas.microsoft.com/office/drawing/2014/main" id="{0C6A76A4-9FDA-D68A-AF81-090FF3653C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3914" y="1968288"/>
            <a:ext cx="5179024" cy="4136629"/>
          </a:xfrm>
          <a:prstGeom prst="rect">
            <a:avLst/>
          </a:prstGeom>
          <a:noFill/>
          <a:ln w="6350" algn="ctr">
            <a:solidFill>
              <a:schemeClr val="bg2">
                <a:lumMod val="90000"/>
              </a:schemeClr>
            </a:solidFill>
            <a:miter lim="800000"/>
            <a:headEnd/>
            <a:tailEnd/>
          </a:ln>
          <a:effectLst/>
        </p:spPr>
        <p:txBody>
          <a:bodyPr wrap="square" lIns="108000" tIns="144000" rIns="108000" bIns="72000" anchor="t" anchorCtr="0">
            <a:noAutofit/>
          </a:bodyPr>
          <a:lstStyle/>
          <a:p>
            <a:pPr marL="0" marR="0" lvl="0" indent="0" algn="l" defTabSz="101758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C2D83"/>
              </a:buClr>
              <a:buSzPct val="80000"/>
              <a:buFontTx/>
              <a:buNone/>
              <a:tabLst/>
              <a:defRPr/>
            </a:pPr>
            <a:endParaRPr kumimoji="1" lang="en-US" altLang="ko-KR" sz="1600" b="1" i="0" u="none" strike="noStrike" kern="0" cap="none" spc="-100" normalizeH="0" baseline="0" noProof="0" dirty="0">
              <a:ln w="12700">
                <a:solidFill>
                  <a:srgbClr val="005EB8">
                    <a:alpha val="0"/>
                  </a:srgbClr>
                </a:solidFill>
              </a:ln>
              <a:solidFill>
                <a:srgbClr val="4A483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54676" y="98060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380807" y="1452758"/>
            <a:ext cx="2427316" cy="165939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1" name="이등변 삼각형 30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6631164" y="1524311"/>
            <a:ext cx="60178" cy="4571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3" name="표 32"/>
          <p:cNvGraphicFramePr>
            <a:graphicFrameLocks noGrp="1"/>
          </p:cNvGraphicFramePr>
          <p:nvPr>
            <p:extLst/>
          </p:nvPr>
        </p:nvGraphicFramePr>
        <p:xfrm>
          <a:off x="1703913" y="1972087"/>
          <a:ext cx="5179021" cy="811732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43952">
                  <a:extLst>
                    <a:ext uri="{9D8B030D-6E8A-4147-A177-3AD203B41FA5}">
                      <a16:colId xmlns:a16="http://schemas.microsoft.com/office/drawing/2014/main" val="1288515344"/>
                    </a:ext>
                  </a:extLst>
                </a:gridCol>
                <a:gridCol w="180440">
                  <a:extLst>
                    <a:ext uri="{9D8B030D-6E8A-4147-A177-3AD203B41FA5}">
                      <a16:colId xmlns:a16="http://schemas.microsoft.com/office/drawing/2014/main" val="207685616"/>
                    </a:ext>
                  </a:extLst>
                </a:gridCol>
                <a:gridCol w="265135">
                  <a:extLst>
                    <a:ext uri="{9D8B030D-6E8A-4147-A177-3AD203B41FA5}">
                      <a16:colId xmlns:a16="http://schemas.microsoft.com/office/drawing/2014/main" val="4061814904"/>
                    </a:ext>
                  </a:extLst>
                </a:gridCol>
                <a:gridCol w="923585">
                  <a:extLst>
                    <a:ext uri="{9D8B030D-6E8A-4147-A177-3AD203B41FA5}">
                      <a16:colId xmlns:a16="http://schemas.microsoft.com/office/drawing/2014/main" val="1816160942"/>
                    </a:ext>
                  </a:extLst>
                </a:gridCol>
                <a:gridCol w="274320">
                  <a:extLst>
                    <a:ext uri="{9D8B030D-6E8A-4147-A177-3AD203B41FA5}">
                      <a16:colId xmlns:a16="http://schemas.microsoft.com/office/drawing/2014/main" val="3976159495"/>
                    </a:ext>
                  </a:extLst>
                </a:gridCol>
                <a:gridCol w="332510">
                  <a:extLst>
                    <a:ext uri="{9D8B030D-6E8A-4147-A177-3AD203B41FA5}">
                      <a16:colId xmlns:a16="http://schemas.microsoft.com/office/drawing/2014/main" val="4155671772"/>
                    </a:ext>
                  </a:extLst>
                </a:gridCol>
                <a:gridCol w="432261">
                  <a:extLst>
                    <a:ext uri="{9D8B030D-6E8A-4147-A177-3AD203B41FA5}">
                      <a16:colId xmlns:a16="http://schemas.microsoft.com/office/drawing/2014/main" val="1684914314"/>
                    </a:ext>
                  </a:extLst>
                </a:gridCol>
                <a:gridCol w="369832">
                  <a:extLst>
                    <a:ext uri="{9D8B030D-6E8A-4147-A177-3AD203B41FA5}">
                      <a16:colId xmlns:a16="http://schemas.microsoft.com/office/drawing/2014/main" val="2821263627"/>
                    </a:ext>
                  </a:extLst>
                </a:gridCol>
                <a:gridCol w="227541">
                  <a:extLst>
                    <a:ext uri="{9D8B030D-6E8A-4147-A177-3AD203B41FA5}">
                      <a16:colId xmlns:a16="http://schemas.microsoft.com/office/drawing/2014/main" val="3762451874"/>
                    </a:ext>
                  </a:extLst>
                </a:gridCol>
                <a:gridCol w="496087">
                  <a:extLst>
                    <a:ext uri="{9D8B030D-6E8A-4147-A177-3AD203B41FA5}">
                      <a16:colId xmlns:a16="http://schemas.microsoft.com/office/drawing/2014/main" val="3112050322"/>
                    </a:ext>
                  </a:extLst>
                </a:gridCol>
                <a:gridCol w="496087">
                  <a:extLst>
                    <a:ext uri="{9D8B030D-6E8A-4147-A177-3AD203B41FA5}">
                      <a16:colId xmlns:a16="http://schemas.microsoft.com/office/drawing/2014/main" val="3081625536"/>
                    </a:ext>
                  </a:extLst>
                </a:gridCol>
                <a:gridCol w="278109">
                  <a:extLst>
                    <a:ext uri="{9D8B030D-6E8A-4147-A177-3AD203B41FA5}">
                      <a16:colId xmlns:a16="http://schemas.microsoft.com/office/drawing/2014/main" val="3632356375"/>
                    </a:ext>
                  </a:extLst>
                </a:gridCol>
                <a:gridCol w="315126">
                  <a:extLst>
                    <a:ext uri="{9D8B030D-6E8A-4147-A177-3AD203B41FA5}">
                      <a16:colId xmlns:a16="http://schemas.microsoft.com/office/drawing/2014/main" val="1503135411"/>
                    </a:ext>
                  </a:extLst>
                </a:gridCol>
                <a:gridCol w="444036">
                  <a:extLst>
                    <a:ext uri="{9D8B030D-6E8A-4147-A177-3AD203B41FA5}">
                      <a16:colId xmlns:a16="http://schemas.microsoft.com/office/drawing/2014/main" val="2811500754"/>
                    </a:ext>
                  </a:extLst>
                </a:gridCol>
              </a:tblGrid>
              <a:tr h="199750">
                <a:tc>
                  <a:txBody>
                    <a:bodyPr/>
                    <a:lstStyle/>
                    <a:p>
                      <a:pPr algn="ctr" fontAlgn="ctr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처리번호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항목명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관리부점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거래부점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계좌번호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고객명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통화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거래금액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원화환산금액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입출구분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취소구분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점검감사역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839423"/>
                  </a:ext>
                </a:extLst>
              </a:tr>
              <a:tr h="203994">
                <a:tc>
                  <a:txBody>
                    <a:bodyPr/>
                    <a:lstStyle/>
                    <a:p>
                      <a:pPr algn="ctr" fontAlgn="b"/>
                      <a:endParaRPr lang="en-US" altLang="ko-KR" sz="600" b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6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점검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중요증서재고수정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[10401]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9300-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93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USD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altLang="ko-KR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0-</a:t>
                      </a:r>
                    </a:p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서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4677812"/>
                  </a:ext>
                </a:extLst>
              </a:tr>
              <a:tr h="203994">
                <a:tc>
                  <a:txBody>
                    <a:bodyPr/>
                    <a:lstStyle/>
                    <a:p>
                      <a:pPr algn="ctr" fontAlgn="b"/>
                      <a:endParaRPr lang="en-US" altLang="ko-KR" sz="600" b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6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기산일거래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[30404]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9200-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9200-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R92</a:t>
                      </a:r>
                      <a:endParaRPr 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 sz="6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USD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52778.88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52778.88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00-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1939469"/>
                  </a:ext>
                </a:extLst>
              </a:tr>
              <a:tr h="203994">
                <a:tc>
                  <a:txBody>
                    <a:bodyPr/>
                    <a:lstStyle/>
                    <a:p>
                      <a:pPr algn="ctr" fontAlgn="b"/>
                      <a:endParaRPr lang="en-US" altLang="ko-KR" sz="600" b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6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인터넷뱅킹제신고적정성</a:t>
                      </a:r>
                      <a:r>
                        <a:rPr lang="en-US" altLang="ko-KR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[10602]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9200-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9200-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 sz="6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0-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4329196"/>
                  </a:ext>
                </a:extLst>
              </a:tr>
            </a:tbl>
          </a:graphicData>
        </a:graphic>
      </p:graphicFrame>
      <p:sp>
        <p:nvSpPr>
          <p:cNvPr id="38" name="직사각형 3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725369" y="2419635"/>
            <a:ext cx="93916" cy="94996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39" name="Freeform 46">
            <a:extLst>
              <a:ext uri="{FF2B5EF4-FFF2-40B4-BE49-F238E27FC236}">
                <a16:creationId xmlns:a16="http://schemas.microsoft.com/office/drawing/2014/main" id="{36BBD547-1346-F115-36F1-EB48123B65CE}"/>
              </a:ext>
            </a:extLst>
          </p:cNvPr>
          <p:cNvSpPr>
            <a:spLocks noEditPoints="1"/>
          </p:cNvSpPr>
          <p:nvPr/>
        </p:nvSpPr>
        <p:spPr bwMode="auto">
          <a:xfrm>
            <a:off x="1719218" y="2214304"/>
            <a:ext cx="104613" cy="106042"/>
          </a:xfrm>
          <a:custGeom>
            <a:avLst/>
            <a:gdLst/>
            <a:ahLst/>
            <a:cxnLst>
              <a:cxn ang="0">
                <a:pos x="55" y="44"/>
              </a:cxn>
              <a:cxn ang="0">
                <a:pos x="44" y="55"/>
              </a:cxn>
              <a:cxn ang="0">
                <a:pos x="10" y="55"/>
              </a:cxn>
              <a:cxn ang="0">
                <a:pos x="0" y="44"/>
              </a:cxn>
              <a:cxn ang="0">
                <a:pos x="0" y="10"/>
              </a:cxn>
              <a:cxn ang="0">
                <a:pos x="10" y="0"/>
              </a:cxn>
              <a:cxn ang="0">
                <a:pos x="44" y="0"/>
              </a:cxn>
              <a:cxn ang="0">
                <a:pos x="55" y="10"/>
              </a:cxn>
              <a:cxn ang="0">
                <a:pos x="55" y="44"/>
              </a:cxn>
              <a:cxn ang="0">
                <a:pos x="46" y="20"/>
              </a:cxn>
              <a:cxn ang="0">
                <a:pos x="46" y="17"/>
              </a:cxn>
              <a:cxn ang="0">
                <a:pos x="42" y="13"/>
              </a:cxn>
              <a:cxn ang="0">
                <a:pos x="39" y="13"/>
              </a:cxn>
              <a:cxn ang="0">
                <a:pos x="23" y="30"/>
              </a:cxn>
              <a:cxn ang="0">
                <a:pos x="15" y="22"/>
              </a:cxn>
              <a:cxn ang="0">
                <a:pos x="12" y="22"/>
              </a:cxn>
              <a:cxn ang="0">
                <a:pos x="8" y="26"/>
              </a:cxn>
              <a:cxn ang="0">
                <a:pos x="8" y="29"/>
              </a:cxn>
              <a:cxn ang="0">
                <a:pos x="21" y="42"/>
              </a:cxn>
              <a:cxn ang="0">
                <a:pos x="24" y="42"/>
              </a:cxn>
              <a:cxn ang="0">
                <a:pos x="46" y="20"/>
              </a:cxn>
            </a:cxnLst>
            <a:rect l="0" t="0" r="r" b="b"/>
            <a:pathLst>
              <a:path w="55" h="55">
                <a:moveTo>
                  <a:pt x="55" y="44"/>
                </a:moveTo>
                <a:cubicBezTo>
                  <a:pt x="55" y="50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0"/>
                </a:cubicBezTo>
                <a:lnTo>
                  <a:pt x="55" y="44"/>
                </a:lnTo>
                <a:close/>
                <a:moveTo>
                  <a:pt x="46" y="20"/>
                </a:moveTo>
                <a:cubicBezTo>
                  <a:pt x="47" y="19"/>
                  <a:pt x="47" y="17"/>
                  <a:pt x="46" y="17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2"/>
                  <a:pt x="40" y="12"/>
                  <a:pt x="39" y="13"/>
                </a:cubicBezTo>
                <a:cubicBezTo>
                  <a:pt x="23" y="30"/>
                  <a:pt x="23" y="30"/>
                  <a:pt x="23" y="30"/>
                </a:cubicBezTo>
                <a:cubicBezTo>
                  <a:pt x="15" y="22"/>
                  <a:pt x="15" y="22"/>
                  <a:pt x="15" y="22"/>
                </a:cubicBezTo>
                <a:cubicBezTo>
                  <a:pt x="14" y="21"/>
                  <a:pt x="13" y="21"/>
                  <a:pt x="12" y="22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7"/>
                  <a:pt x="7" y="28"/>
                  <a:pt x="8" y="29"/>
                </a:cubicBezTo>
                <a:cubicBezTo>
                  <a:pt x="21" y="42"/>
                  <a:pt x="21" y="42"/>
                  <a:pt x="21" y="42"/>
                </a:cubicBezTo>
                <a:cubicBezTo>
                  <a:pt x="22" y="43"/>
                  <a:pt x="23" y="43"/>
                  <a:pt x="24" y="42"/>
                </a:cubicBezTo>
                <a:lnTo>
                  <a:pt x="46" y="20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100687" tIns="50343" rIns="100687" bIns="50343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135923" rtl="0" eaLnBrk="0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202" b="0" i="0" u="none" strike="noStrike" kern="0" cap="none" spc="0" normalizeH="0" baseline="0" noProof="0" dirty="0">
              <a:ln>
                <a:solidFill>
                  <a:srgbClr val="F9A84A"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341721" y="1727284"/>
            <a:ext cx="389419" cy="181779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점검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797439" y="1728463"/>
            <a:ext cx="629647" cy="188914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점검취소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5" name="직사각형 34"/>
          <p:cNvSpPr/>
          <p:nvPr/>
        </p:nvSpPr>
        <p:spPr bwMode="auto">
          <a:xfrm>
            <a:off x="3303517" y="1686677"/>
            <a:ext cx="463507" cy="277731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297130" y="166915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7" name="직사각형 36"/>
          <p:cNvSpPr/>
          <p:nvPr/>
        </p:nvSpPr>
        <p:spPr bwMode="auto">
          <a:xfrm>
            <a:off x="3780174" y="1686677"/>
            <a:ext cx="703902" cy="277731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797439" y="167035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968575" y="1453600"/>
            <a:ext cx="164981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 </a:t>
            </a:r>
            <a:r>
              <a:rPr lang="en-US" altLang="ko-KR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11</a:t>
            </a:r>
            <a:r>
              <a:rPr lang="ko-KR" altLang="en-US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건 점검 </a:t>
            </a:r>
            <a:r>
              <a:rPr lang="en-US" altLang="ko-KR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r>
              <a:rPr lang="ko-KR" altLang="en-US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건 보류 </a:t>
            </a:r>
            <a:r>
              <a:rPr lang="en-US" altLang="ko-KR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0</a:t>
            </a:r>
            <a:r>
              <a:rPr lang="ko-KR" altLang="en-US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건 미점검 </a:t>
            </a:r>
            <a:r>
              <a:rPr lang="en-US" altLang="ko-KR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9</a:t>
            </a:r>
            <a:r>
              <a:rPr lang="ko-KR" altLang="en-US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건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71272" y="1634047"/>
            <a:ext cx="1514693" cy="354151"/>
          </a:xfrm>
          <a:prstGeom prst="rect">
            <a:avLst/>
          </a:prstGeom>
        </p:spPr>
      </p:pic>
      <p:sp>
        <p:nvSpPr>
          <p:cNvPr id="4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261481" y="1732081"/>
            <a:ext cx="629647" cy="188914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점검분 제거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182938" y="1727686"/>
            <a:ext cx="629647" cy="188914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전체조회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503786" y="1730189"/>
            <a:ext cx="629647" cy="188914"/>
          </a:xfrm>
          <a:prstGeom prst="roundRect">
            <a:avLst>
              <a:gd name="adj" fmla="val 10228"/>
            </a:avLst>
          </a:prstGeom>
          <a:solidFill>
            <a:srgbClr val="FFC000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자동갱신 </a:t>
            </a:r>
            <a:r>
              <a:rPr kumimoji="0" lang="en-US" altLang="ko-KR" sz="800" spc="-1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ON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847123" y="1730751"/>
            <a:ext cx="389419" cy="185849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728135" y="2638539"/>
            <a:ext cx="93916" cy="94996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pic>
        <p:nvPicPr>
          <p:cNvPr id="6" name="그림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0939" y="2009235"/>
            <a:ext cx="1337905" cy="4025805"/>
          </a:xfrm>
          <a:prstGeom prst="rect">
            <a:avLst/>
          </a:prstGeom>
        </p:spPr>
      </p:pic>
      <p:sp>
        <p:nvSpPr>
          <p:cNvPr id="40" name="직사각형 39"/>
          <p:cNvSpPr/>
          <p:nvPr/>
        </p:nvSpPr>
        <p:spPr bwMode="auto">
          <a:xfrm>
            <a:off x="1671114" y="1936882"/>
            <a:ext cx="216304" cy="938198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674123" y="175079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41682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" name="표 3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5843381"/>
              </p:ext>
            </p:extLst>
          </p:nvPr>
        </p:nvGraphicFramePr>
        <p:xfrm>
          <a:off x="92077" y="58190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32650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MDD-00096, MDD-00088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MDD75A1A001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8339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국외상시감사상세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상시점검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글로벌상시 점검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국외상시감사상세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(P17, P24: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이미선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69" name="표 6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1741603"/>
              </p:ext>
            </p:extLst>
          </p:nvPr>
        </p:nvGraphicFramePr>
        <p:xfrm>
          <a:off x="7207250" y="662793"/>
          <a:ext cx="2606675" cy="5548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점검취소 기능을 제공한다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 등록자만 점검취소 가능하다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이력관리 하지않고 최종 점검자만 관리한다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점검검취소는 결재 태우지 않는다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기존 화면에서 점검 대상 클릭 시 자동 점검 처리되는 기능을 제거하고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담당 검사역의 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[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점검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버튼 클릭 시 점검 처리 되도록 기능 처리한다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착오 클릭 시 점검완료되는 문제 개선을 하기위함이다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.)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1,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2, 3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기능 추가해야하는 해당 연관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화면은 아래와 같다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국외상시감사상세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]: MDD75A1A001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[(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국외점포 점검 상세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]: MDD75A17001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국외점포 상세내역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]: MDD75A15002</a:t>
                      </a:r>
                      <a:endParaRPr kumimoji="1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글로벌 상시 점검 항목 점검 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개별부에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보여지는 정보 항목 추가 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※  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항목은 미정의 상태이므로 추후 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출력 항목 재정의 필요하다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57225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8846583"/>
                  </a:ext>
                </a:extLst>
              </a:tr>
            </a:tbl>
          </a:graphicData>
        </a:graphic>
      </p:graphicFrame>
      <p:sp>
        <p:nvSpPr>
          <p:cNvPr id="4" name="양쪽 모서리가 둥근 사각형 3"/>
          <p:cNvSpPr/>
          <p:nvPr/>
        </p:nvSpPr>
        <p:spPr bwMode="auto">
          <a:xfrm>
            <a:off x="239550" y="1179414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글로벌상시 점검</a:t>
            </a:r>
            <a:endParaRPr lang="ko-KR" altLang="en-US" sz="8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39551" y="1365149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473684" y="1554428"/>
            <a:ext cx="2699950" cy="16250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" name="이등변 삼각형 6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3989917" y="1625981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015135" y="1821649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신규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421787" y="1821649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변경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1608483" y="1825073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834778" y="1816077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삭제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241429" y="1810165"/>
            <a:ext cx="634403" cy="185911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변경이력조회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927645" y="1818938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4" name="직사각형 13"/>
          <p:cNvSpPr/>
          <p:nvPr/>
        </p:nvSpPr>
        <p:spPr bwMode="auto">
          <a:xfrm>
            <a:off x="2002362" y="1761732"/>
            <a:ext cx="1239067" cy="303437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894073" y="168177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C7B6CEFD-186E-AC88-7979-44000562DD84}"/>
              </a:ext>
            </a:extLst>
          </p:cNvPr>
          <p:cNvSpPr/>
          <p:nvPr/>
        </p:nvSpPr>
        <p:spPr>
          <a:xfrm>
            <a:off x="261243" y="1461729"/>
            <a:ext cx="6704704" cy="4739565"/>
          </a:xfrm>
          <a:prstGeom prst="rect">
            <a:avLst/>
          </a:prstGeom>
          <a:solidFill>
            <a:schemeClr val="bg1"/>
          </a:solidFill>
          <a:ln w="15875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Calibri"/>
              <a:ea typeface="맑은 고딕"/>
              <a:cs typeface="+mn-cs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061CAA5C-4EB7-4E67-85DA-E29F266F438F}"/>
              </a:ext>
            </a:extLst>
          </p:cNvPr>
          <p:cNvSpPr/>
          <p:nvPr/>
        </p:nvSpPr>
        <p:spPr>
          <a:xfrm>
            <a:off x="265147" y="1469816"/>
            <a:ext cx="6696000" cy="217588"/>
          </a:xfrm>
          <a:prstGeom prst="rect">
            <a:avLst/>
          </a:prstGeom>
          <a:solidFill>
            <a:srgbClr val="625950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742856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1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D494E968-62DE-442C-9EE6-DD6B90DDF615}"/>
              </a:ext>
            </a:extLst>
          </p:cNvPr>
          <p:cNvSpPr/>
          <p:nvPr/>
        </p:nvSpPr>
        <p:spPr bwMode="auto">
          <a:xfrm>
            <a:off x="6761995" y="1506891"/>
            <a:ext cx="134368" cy="119770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lIns="0" tIns="0" rIns="0" bIns="0" rtlCol="0" anchor="ctr" anchorCtr="0">
            <a:noAutofit/>
          </a:bodyPr>
          <a:lstStyle/>
          <a:p>
            <a:pPr marL="0" marR="0" lvl="0" indent="0" algn="ctr" defTabSz="742856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6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X</a:t>
            </a:r>
            <a:endParaRPr kumimoji="1" lang="ko-KR" altLang="en-US" sz="6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0B97788-F115-4669-A08F-46D3A46FC7DA}"/>
              </a:ext>
            </a:extLst>
          </p:cNvPr>
          <p:cNvSpPr txBox="1"/>
          <p:nvPr/>
        </p:nvSpPr>
        <p:spPr>
          <a:xfrm>
            <a:off x="308353" y="1469816"/>
            <a:ext cx="1444242" cy="215444"/>
          </a:xfrm>
          <a:prstGeom prst="rect">
            <a:avLst/>
          </a:prstGeom>
          <a:noFill/>
        </p:spPr>
        <p:txBody>
          <a:bodyPr wrap="square" lIns="29250" rtlCol="0">
            <a:spAutoFit/>
          </a:bodyPr>
          <a:lstStyle/>
          <a:p>
            <a:pPr marL="0" marR="0" lvl="0" indent="0" algn="l" defTabSz="742856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국외상시감사상세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877320" y="5849280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점검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447957" y="5849280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보류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5" name="표 34"/>
          <p:cNvGraphicFramePr>
            <a:graphicFrameLocks noGrp="1"/>
          </p:cNvGraphicFramePr>
          <p:nvPr>
            <p:extLst/>
          </p:nvPr>
        </p:nvGraphicFramePr>
        <p:xfrm>
          <a:off x="399508" y="4051878"/>
          <a:ext cx="6458677" cy="344907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502376">
                  <a:extLst>
                    <a:ext uri="{9D8B030D-6E8A-4147-A177-3AD203B41FA5}">
                      <a16:colId xmlns:a16="http://schemas.microsoft.com/office/drawing/2014/main" val="207685616"/>
                    </a:ext>
                  </a:extLst>
                </a:gridCol>
                <a:gridCol w="317500">
                  <a:extLst>
                    <a:ext uri="{9D8B030D-6E8A-4147-A177-3AD203B41FA5}">
                      <a16:colId xmlns:a16="http://schemas.microsoft.com/office/drawing/2014/main" val="4061814904"/>
                    </a:ext>
                  </a:extLst>
                </a:gridCol>
                <a:gridCol w="507077">
                  <a:extLst>
                    <a:ext uri="{9D8B030D-6E8A-4147-A177-3AD203B41FA5}">
                      <a16:colId xmlns:a16="http://schemas.microsoft.com/office/drawing/2014/main" val="1816160942"/>
                    </a:ext>
                  </a:extLst>
                </a:gridCol>
                <a:gridCol w="635923">
                  <a:extLst>
                    <a:ext uri="{9D8B030D-6E8A-4147-A177-3AD203B41FA5}">
                      <a16:colId xmlns:a16="http://schemas.microsoft.com/office/drawing/2014/main" val="3976159495"/>
                    </a:ext>
                  </a:extLst>
                </a:gridCol>
                <a:gridCol w="466725">
                  <a:extLst>
                    <a:ext uri="{9D8B030D-6E8A-4147-A177-3AD203B41FA5}">
                      <a16:colId xmlns:a16="http://schemas.microsoft.com/office/drawing/2014/main" val="4155671772"/>
                    </a:ext>
                  </a:extLst>
                </a:gridCol>
                <a:gridCol w="709613">
                  <a:extLst>
                    <a:ext uri="{9D8B030D-6E8A-4147-A177-3AD203B41FA5}">
                      <a16:colId xmlns:a16="http://schemas.microsoft.com/office/drawing/2014/main" val="1684914314"/>
                    </a:ext>
                  </a:extLst>
                </a:gridCol>
                <a:gridCol w="709613">
                  <a:extLst>
                    <a:ext uri="{9D8B030D-6E8A-4147-A177-3AD203B41FA5}">
                      <a16:colId xmlns:a16="http://schemas.microsoft.com/office/drawing/2014/main" val="2821263627"/>
                    </a:ext>
                  </a:extLst>
                </a:gridCol>
                <a:gridCol w="704850">
                  <a:extLst>
                    <a:ext uri="{9D8B030D-6E8A-4147-A177-3AD203B41FA5}">
                      <a16:colId xmlns:a16="http://schemas.microsoft.com/office/drawing/2014/main" val="3762451874"/>
                    </a:ext>
                  </a:extLst>
                </a:gridCol>
                <a:gridCol w="957164">
                  <a:extLst>
                    <a:ext uri="{9D8B030D-6E8A-4147-A177-3AD203B41FA5}">
                      <a16:colId xmlns:a16="http://schemas.microsoft.com/office/drawing/2014/main" val="1503135411"/>
                    </a:ext>
                  </a:extLst>
                </a:gridCol>
                <a:gridCol w="947836">
                  <a:extLst>
                    <a:ext uri="{9D8B030D-6E8A-4147-A177-3AD203B41FA5}">
                      <a16:colId xmlns:a16="http://schemas.microsoft.com/office/drawing/2014/main" val="2811500754"/>
                    </a:ext>
                  </a:extLst>
                </a:gridCol>
              </a:tblGrid>
              <a:tr h="17064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분개번호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차대구분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분개내용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통합식별번호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상대식별번호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통화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거래금액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고객명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통합계정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거래금액구분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839423"/>
                  </a:ext>
                </a:extLst>
              </a:tr>
              <a:tr h="174266">
                <a:tc>
                  <a:txBody>
                    <a:bodyPr/>
                    <a:lstStyle/>
                    <a:p>
                      <a:pPr algn="ctr" fontAlgn="b"/>
                      <a:endParaRPr lang="en-US" altLang="ko-KR" sz="600" b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4677812"/>
                  </a:ext>
                </a:extLst>
              </a:tr>
            </a:tbl>
          </a:graphicData>
        </a:graphic>
      </p:graphicFrame>
      <p:graphicFrame>
        <p:nvGraphicFramePr>
          <p:cNvPr id="43" name="표 42"/>
          <p:cNvGraphicFramePr>
            <a:graphicFrameLocks noGrp="1"/>
          </p:cNvGraphicFramePr>
          <p:nvPr>
            <p:extLst/>
          </p:nvPr>
        </p:nvGraphicFramePr>
        <p:xfrm>
          <a:off x="383808" y="4795468"/>
          <a:ext cx="6452025" cy="344907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547036">
                  <a:extLst>
                    <a:ext uri="{9D8B030D-6E8A-4147-A177-3AD203B41FA5}">
                      <a16:colId xmlns:a16="http://schemas.microsoft.com/office/drawing/2014/main" val="207685616"/>
                    </a:ext>
                  </a:extLst>
                </a:gridCol>
                <a:gridCol w="345725">
                  <a:extLst>
                    <a:ext uri="{9D8B030D-6E8A-4147-A177-3AD203B41FA5}">
                      <a16:colId xmlns:a16="http://schemas.microsoft.com/office/drawing/2014/main" val="4061814904"/>
                    </a:ext>
                  </a:extLst>
                </a:gridCol>
                <a:gridCol w="552155">
                  <a:extLst>
                    <a:ext uri="{9D8B030D-6E8A-4147-A177-3AD203B41FA5}">
                      <a16:colId xmlns:a16="http://schemas.microsoft.com/office/drawing/2014/main" val="1816160942"/>
                    </a:ext>
                  </a:extLst>
                </a:gridCol>
                <a:gridCol w="692456">
                  <a:extLst>
                    <a:ext uri="{9D8B030D-6E8A-4147-A177-3AD203B41FA5}">
                      <a16:colId xmlns:a16="http://schemas.microsoft.com/office/drawing/2014/main" val="3976159495"/>
                    </a:ext>
                  </a:extLst>
                </a:gridCol>
                <a:gridCol w="508216">
                  <a:extLst>
                    <a:ext uri="{9D8B030D-6E8A-4147-A177-3AD203B41FA5}">
                      <a16:colId xmlns:a16="http://schemas.microsoft.com/office/drawing/2014/main" val="4155671772"/>
                    </a:ext>
                  </a:extLst>
                </a:gridCol>
                <a:gridCol w="772697">
                  <a:extLst>
                    <a:ext uri="{9D8B030D-6E8A-4147-A177-3AD203B41FA5}">
                      <a16:colId xmlns:a16="http://schemas.microsoft.com/office/drawing/2014/main" val="1684914314"/>
                    </a:ext>
                  </a:extLst>
                </a:gridCol>
                <a:gridCol w="772697">
                  <a:extLst>
                    <a:ext uri="{9D8B030D-6E8A-4147-A177-3AD203B41FA5}">
                      <a16:colId xmlns:a16="http://schemas.microsoft.com/office/drawing/2014/main" val="2821263627"/>
                    </a:ext>
                  </a:extLst>
                </a:gridCol>
                <a:gridCol w="767510">
                  <a:extLst>
                    <a:ext uri="{9D8B030D-6E8A-4147-A177-3AD203B41FA5}">
                      <a16:colId xmlns:a16="http://schemas.microsoft.com/office/drawing/2014/main" val="3762451874"/>
                    </a:ext>
                  </a:extLst>
                </a:gridCol>
                <a:gridCol w="477101">
                  <a:extLst>
                    <a:ext uri="{9D8B030D-6E8A-4147-A177-3AD203B41FA5}">
                      <a16:colId xmlns:a16="http://schemas.microsoft.com/office/drawing/2014/main" val="3821970342"/>
                    </a:ext>
                  </a:extLst>
                </a:gridCol>
                <a:gridCol w="490930">
                  <a:extLst>
                    <a:ext uri="{9D8B030D-6E8A-4147-A177-3AD203B41FA5}">
                      <a16:colId xmlns:a16="http://schemas.microsoft.com/office/drawing/2014/main" val="498478326"/>
                    </a:ext>
                  </a:extLst>
                </a:gridCol>
                <a:gridCol w="525502">
                  <a:extLst>
                    <a:ext uri="{9D8B030D-6E8A-4147-A177-3AD203B41FA5}">
                      <a16:colId xmlns:a16="http://schemas.microsoft.com/office/drawing/2014/main" val="1762175008"/>
                    </a:ext>
                  </a:extLst>
                </a:gridCol>
              </a:tblGrid>
              <a:tr h="17064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거래시간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업무구분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식별번호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고객식별자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고객명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전표번호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입출구분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취소구분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거래금액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원화환산금액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spc="-100" baseline="0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사용자</a:t>
                      </a:r>
                      <a:endParaRPr lang="ko-KR" altLang="en-US" sz="600" b="0" i="0" u="none" strike="noStrike" spc="-100" baseline="0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839423"/>
                  </a:ext>
                </a:extLst>
              </a:tr>
              <a:tr h="174266">
                <a:tc>
                  <a:txBody>
                    <a:bodyPr/>
                    <a:lstStyle/>
                    <a:p>
                      <a:pPr algn="ctr" fontAlgn="b"/>
                      <a:endParaRPr lang="en-US" altLang="ko-KR" sz="600" b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4677812"/>
                  </a:ext>
                </a:extLst>
              </a:tr>
            </a:tbl>
          </a:graphicData>
        </a:graphic>
      </p:graphicFrame>
      <p:sp>
        <p:nvSpPr>
          <p:cNvPr id="4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831978" y="5849280"/>
            <a:ext cx="546616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보류사유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83806" y="5857593"/>
            <a:ext cx="1238391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상세점검 화면 레이아웃관리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308224" y="5850224"/>
            <a:ext cx="472935" cy="165658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점검 취소</a:t>
            </a:r>
            <a:endParaRPr kumimoji="0" lang="ko-KR" altLang="en-US" sz="7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7" name="직사각형 36"/>
          <p:cNvSpPr/>
          <p:nvPr/>
        </p:nvSpPr>
        <p:spPr bwMode="auto">
          <a:xfrm>
            <a:off x="6282637" y="5806390"/>
            <a:ext cx="533104" cy="280068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266455" y="562491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383806" y="3806326"/>
            <a:ext cx="57259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분개정보</a:t>
            </a:r>
          </a:p>
        </p:txBody>
      </p:sp>
      <p:pic>
        <p:nvPicPr>
          <p:cNvPr id="21" name="그림 2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94953" y="3839579"/>
            <a:ext cx="103811" cy="125666"/>
          </a:xfrm>
          <a:prstGeom prst="rect">
            <a:avLst/>
          </a:prstGeom>
        </p:spPr>
      </p:pic>
      <p:sp>
        <p:nvSpPr>
          <p:cNvPr id="38" name="타원 3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854201" y="564085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9" name="직사각형 38"/>
          <p:cNvSpPr/>
          <p:nvPr/>
        </p:nvSpPr>
        <p:spPr bwMode="auto">
          <a:xfrm>
            <a:off x="5832897" y="5808727"/>
            <a:ext cx="463507" cy="277731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57347" y="100324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941356" y="382263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7" name="모서리가 둥근 사각형 설명선 46"/>
          <p:cNvSpPr/>
          <p:nvPr/>
        </p:nvSpPr>
        <p:spPr bwMode="auto">
          <a:xfrm>
            <a:off x="2002362" y="4375426"/>
            <a:ext cx="2475304" cy="598516"/>
          </a:xfrm>
          <a:prstGeom prst="wedgeRoundRectCallout">
            <a:avLst>
              <a:gd name="adj1" fmla="val -17707"/>
              <a:gd name="adj2" fmla="val -68219"/>
              <a:gd name="adj3" fmla="val 16667"/>
            </a:avLst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indent="-85725" algn="ctr"/>
            <a:r>
              <a:rPr lang="ko-KR" altLang="en-US" dirty="0" err="1" smtClean="0">
                <a:solidFill>
                  <a:srgbClr val="FF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개별부</a:t>
            </a:r>
            <a:r>
              <a:rPr lang="ko-KR" altLang="en-US" dirty="0" smtClean="0">
                <a:solidFill>
                  <a:srgbClr val="FF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 항목 파일 전달 받음</a:t>
            </a:r>
            <a:endParaRPr kumimoji="0" lang="ko-KR" altLang="en-US" sz="1400" b="1" i="0" u="none" strike="noStrike" kern="0" cap="none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48" name="그림 4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0816" y="1756919"/>
            <a:ext cx="6706181" cy="20606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874487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" name="표 3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330942"/>
              </p:ext>
            </p:extLst>
          </p:nvPr>
        </p:nvGraphicFramePr>
        <p:xfrm>
          <a:off x="92077" y="58190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32650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MDD75A19300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8339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본부상시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메시지전송현황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상시점검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점검현황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본부상시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메시지전송현황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(P27: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이미선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69" name="표 6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6832245"/>
              </p:ext>
            </p:extLst>
          </p:nvPr>
        </p:nvGraphicFramePr>
        <p:xfrm>
          <a:off x="7207250" y="662793"/>
          <a:ext cx="2606675" cy="5629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본부상시 메시지전송현황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 기존 화면 기능은 유지한다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메시지 전송 현황은 본부 상시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글로벌 상시 별도로 구현한다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 코드 조회 시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 부서 취소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정정 거래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외 전체 항목 코드에 대해서 메시지 전송 현황 확인가능하도록 항목 코드 목록을 조회 표시한다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취소정정거래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거래입력시간 초과 거래</a:t>
                      </a:r>
                      <a:endParaRPr lang="ko-KR" altLang="en-US" sz="800" dirty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Tx/>
                        <a:buNone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 코드 참고 화면과 테이블은 아래와 같다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marL="0" indent="0" latinLnBrk="1">
                        <a:buFontTx/>
                        <a:buNone/>
                      </a:pP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참고 화면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상시점검내역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)]:MDD72A1B000,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본부상시점검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]: MDD75A16000</a:t>
                      </a:r>
                    </a:p>
                    <a:p>
                      <a:pPr marL="0" indent="0" latinLnBrk="1">
                        <a:buFontTx/>
                        <a:buNone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테이블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:TSMDDA900</a:t>
                      </a:r>
                    </a:p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회신여부</a:t>
                      </a:r>
                      <a:r>
                        <a:rPr lang="ko-KR" altLang="en-US" sz="800" b="1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추가</a:t>
                      </a:r>
                      <a:r>
                        <a:rPr lang="en-US" altLang="ko-KR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해당 화면과 </a:t>
                      </a:r>
                      <a:r>
                        <a:rPr lang="en-US" altLang="ko-KR" sz="800" b="1" dirty="0" err="1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worKB</a:t>
                      </a:r>
                      <a:r>
                        <a:rPr lang="ko-KR" altLang="en-US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연계 가능 여부 확인 필요</a:t>
                      </a:r>
                      <a:r>
                        <a:rPr lang="en-US" altLang="ko-KR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):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메신저 담당자에 메시지 회신 여부 등 기능 확인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(IT, 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개발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), 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글로벌의 지원여부 추가 확인</a:t>
                      </a:r>
                      <a:r>
                        <a:rPr lang="ko-KR" altLang="en-US" sz="80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필요하다</a:t>
                      </a:r>
                      <a:r>
                        <a:rPr lang="en-US" altLang="ko-KR" sz="80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ko-KR" altLang="en-US" sz="800" b="1" dirty="0">
                        <a:solidFill>
                          <a:srgbClr val="2272F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시스템 연계 쪽지는 회신이 불가능한 구조이기 때문에 회신 전용 화면 및 링크를 삽입하고 감사정보시스템에서 별도 관리하게 해야 함 </a:t>
                      </a:r>
                      <a:r>
                        <a:rPr lang="en-US" altLang="ko-KR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-&gt; SI</a:t>
                      </a:r>
                      <a:r>
                        <a:rPr lang="ko-KR" altLang="en-US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단계에서 의사결정하여 진행 필요하다</a:t>
                      </a:r>
                      <a:r>
                        <a:rPr lang="en-US" altLang="ko-KR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※ </a:t>
                      </a:r>
                      <a:r>
                        <a:rPr lang="en-US" altLang="ko-KR" sz="800" dirty="0" err="1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workB</a:t>
                      </a:r>
                      <a:r>
                        <a:rPr lang="ko-KR" altLang="en-US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담당자</a:t>
                      </a:r>
                      <a:r>
                        <a:rPr lang="en-US" altLang="ko-KR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: </a:t>
                      </a:r>
                      <a:r>
                        <a:rPr lang="ko-KR" altLang="en-US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경영정보개발부 </a:t>
                      </a:r>
                      <a:r>
                        <a:rPr lang="ko-KR" altLang="en-US" sz="800" dirty="0" err="1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박태주수석</a:t>
                      </a:r>
                      <a:r>
                        <a:rPr lang="en-US" altLang="ko-KR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572254"/>
                  </a:ext>
                </a:extLst>
              </a:tr>
            </a:tbl>
          </a:graphicData>
        </a:graphic>
      </p:graphicFrame>
      <p:sp>
        <p:nvSpPr>
          <p:cNvPr id="4" name="양쪽 모서리가 둥근 사각형 3"/>
          <p:cNvSpPr/>
          <p:nvPr/>
        </p:nvSpPr>
        <p:spPr bwMode="auto">
          <a:xfrm>
            <a:off x="267114" y="1176942"/>
            <a:ext cx="16036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>
            <a:defPPr>
              <a:defRPr lang="ko-KR"/>
            </a:defPPr>
            <a:lvl1pPr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1pPr>
            <a:lvl2pPr marL="4572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2pPr>
            <a:lvl3pPr marL="9144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3pPr>
            <a:lvl4pPr marL="13716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4pPr>
            <a:lvl5pPr marL="18288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9pPr>
          </a:lstStyle>
          <a:p>
            <a:pPr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본부상시 </a:t>
            </a:r>
            <a:r>
              <a:rPr lang="ko-KR" altLang="en-US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메시지전송현황</a:t>
            </a:r>
            <a:endParaRPr lang="ko-KR" altLang="en-US" sz="8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67115" y="1362677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>
            <a:defPPr>
              <a:defRPr lang="ko-KR"/>
            </a:defPPr>
            <a:lvl1pPr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1pPr>
            <a:lvl2pPr marL="4572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2pPr>
            <a:lvl3pPr marL="9144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3pPr>
            <a:lvl4pPr marL="13716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4pPr>
            <a:lvl5pPr marL="18288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9pPr>
          </a:lstStyle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99582" y="1702145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조회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67114" y="98926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7" name="표 1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5150947"/>
              </p:ext>
            </p:extLst>
          </p:nvPr>
        </p:nvGraphicFramePr>
        <p:xfrm>
          <a:off x="271161" y="1953088"/>
          <a:ext cx="6718303" cy="612717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591930">
                  <a:extLst>
                    <a:ext uri="{9D8B030D-6E8A-4147-A177-3AD203B41FA5}">
                      <a16:colId xmlns:a16="http://schemas.microsoft.com/office/drawing/2014/main" val="2435042835"/>
                    </a:ext>
                  </a:extLst>
                </a:gridCol>
                <a:gridCol w="786464">
                  <a:extLst>
                    <a:ext uri="{9D8B030D-6E8A-4147-A177-3AD203B41FA5}">
                      <a16:colId xmlns:a16="http://schemas.microsoft.com/office/drawing/2014/main" val="4259443528"/>
                    </a:ext>
                  </a:extLst>
                </a:gridCol>
                <a:gridCol w="740203">
                  <a:extLst>
                    <a:ext uri="{9D8B030D-6E8A-4147-A177-3AD203B41FA5}">
                      <a16:colId xmlns:a16="http://schemas.microsoft.com/office/drawing/2014/main" val="2119051089"/>
                    </a:ext>
                  </a:extLst>
                </a:gridCol>
                <a:gridCol w="1147313">
                  <a:extLst>
                    <a:ext uri="{9D8B030D-6E8A-4147-A177-3AD203B41FA5}">
                      <a16:colId xmlns:a16="http://schemas.microsoft.com/office/drawing/2014/main" val="2668963363"/>
                    </a:ext>
                  </a:extLst>
                </a:gridCol>
                <a:gridCol w="1663328">
                  <a:extLst>
                    <a:ext uri="{9D8B030D-6E8A-4147-A177-3AD203B41FA5}">
                      <a16:colId xmlns:a16="http://schemas.microsoft.com/office/drawing/2014/main" val="2532418022"/>
                    </a:ext>
                  </a:extLst>
                </a:gridCol>
                <a:gridCol w="922713">
                  <a:extLst>
                    <a:ext uri="{9D8B030D-6E8A-4147-A177-3AD203B41FA5}">
                      <a16:colId xmlns:a16="http://schemas.microsoft.com/office/drawing/2014/main" val="3024964874"/>
                    </a:ext>
                  </a:extLst>
                </a:gridCol>
                <a:gridCol w="433176">
                  <a:extLst>
                    <a:ext uri="{9D8B030D-6E8A-4147-A177-3AD203B41FA5}">
                      <a16:colId xmlns:a16="http://schemas.microsoft.com/office/drawing/2014/main" val="2999402366"/>
                    </a:ext>
                  </a:extLst>
                </a:gridCol>
                <a:gridCol w="433176">
                  <a:extLst>
                    <a:ext uri="{9D8B030D-6E8A-4147-A177-3AD203B41FA5}">
                      <a16:colId xmlns:a16="http://schemas.microsoft.com/office/drawing/2014/main" val="1375537712"/>
                    </a:ext>
                  </a:extLst>
                </a:gridCol>
              </a:tblGrid>
              <a:tr h="19267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처리번호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수신직원내용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수신직원명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제목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내용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발송일시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발송상태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 err="1" smtClean="0">
                          <a:solidFill>
                            <a:srgbClr val="2272FF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회신여부</a:t>
                      </a:r>
                      <a:endParaRPr lang="ko-KR" altLang="en-US" sz="700" b="1" i="0" u="none" strike="noStrike" dirty="0">
                        <a:solidFill>
                          <a:srgbClr val="2272FF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541704"/>
                  </a:ext>
                </a:extLst>
              </a:tr>
              <a:tr h="140013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21683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1650083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김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취소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정정거래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자본시장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...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2023-11-09 09:30:41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발송완료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회신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4588187"/>
                  </a:ext>
                </a:extLst>
              </a:tr>
              <a:tr h="140013"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rgbClr val="2272FF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0130473"/>
                  </a:ext>
                </a:extLst>
              </a:tr>
              <a:tr h="140013"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u="none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u="none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2272FF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435405"/>
                  </a:ext>
                </a:extLst>
              </a:tr>
            </a:tbl>
          </a:graphicData>
        </a:graphic>
      </p:graphicFrame>
      <p:sp>
        <p:nvSpPr>
          <p:cNvPr id="21" name="타원 2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696335" y="254643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506337" y="203378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5" name="내용 개체 틀 12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019701034"/>
              </p:ext>
            </p:extLst>
          </p:nvPr>
        </p:nvGraphicFramePr>
        <p:xfrm>
          <a:off x="267114" y="1424987"/>
          <a:ext cx="6726398" cy="25899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05971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06829">
                  <a:extLst>
                    <a:ext uri="{9D8B030D-6E8A-4147-A177-3AD203B41FA5}">
                      <a16:colId xmlns:a16="http://schemas.microsoft.com/office/drawing/2014/main" val="2466580378"/>
                    </a:ext>
                  </a:extLst>
                </a:gridCol>
                <a:gridCol w="2188873">
                  <a:extLst>
                    <a:ext uri="{9D8B030D-6E8A-4147-A177-3AD203B41FA5}">
                      <a16:colId xmlns:a16="http://schemas.microsoft.com/office/drawing/2014/main" val="1009435546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3020172459"/>
                    </a:ext>
                  </a:extLst>
                </a:gridCol>
                <a:gridCol w="1230165">
                  <a:extLst>
                    <a:ext uri="{9D8B030D-6E8A-4147-A177-3AD203B41FA5}">
                      <a16:colId xmlns:a16="http://schemas.microsoft.com/office/drawing/2014/main" val="1509079620"/>
                    </a:ext>
                  </a:extLst>
                </a:gridCol>
              </a:tblGrid>
              <a:tr h="258993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baseline="0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baseline="0" dirty="0" err="1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전송일자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항목코드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spc="-1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</a:t>
                      </a:r>
                      <a:endParaRPr lang="ko-KR" altLang="en-US" dirty="0"/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회신여부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pc="-1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◎ 전체   ○ 회신 ○ 미회신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15" name="타원 1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005371" y="127999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2" name="그룹 1"/>
          <p:cNvGrpSpPr/>
          <p:nvPr/>
        </p:nvGrpSpPr>
        <p:grpSpPr>
          <a:xfrm>
            <a:off x="843152" y="1460106"/>
            <a:ext cx="1012458" cy="180990"/>
            <a:chOff x="1074238" y="1460013"/>
            <a:chExt cx="1012458" cy="180990"/>
          </a:xfrm>
        </p:grpSpPr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074238" y="1460013"/>
              <a:ext cx="1012458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>
              <a:defPPr>
                <a:defRPr lang="ko-KR"/>
              </a:defPPr>
              <a:lvl1pPr algn="l" rtl="0" fontAlgn="base">
                <a:spcBef>
                  <a:spcPct val="50000"/>
                </a:spcBef>
                <a:spcAft>
                  <a:spcPct val="0"/>
                </a:spcAft>
                <a:defRPr kumimoji="1" sz="1400" kern="1200">
                  <a:solidFill>
                    <a:schemeClr val="tx1"/>
                  </a:solidFill>
                  <a:latin typeface="Arial" charset="0"/>
                  <a:ea typeface="가는각진제목체" pitchFamily="18" charset="-127"/>
                  <a:cs typeface="+mn-cs"/>
                </a:defRPr>
              </a:lvl1pPr>
              <a:lvl2pPr marL="457200" algn="l" rtl="0" fontAlgn="base">
                <a:spcBef>
                  <a:spcPct val="50000"/>
                </a:spcBef>
                <a:spcAft>
                  <a:spcPct val="0"/>
                </a:spcAft>
                <a:defRPr kumimoji="1" sz="1400" kern="1200">
                  <a:solidFill>
                    <a:schemeClr val="tx1"/>
                  </a:solidFill>
                  <a:latin typeface="Arial" charset="0"/>
                  <a:ea typeface="가는각진제목체" pitchFamily="18" charset="-127"/>
                  <a:cs typeface="+mn-cs"/>
                </a:defRPr>
              </a:lvl2pPr>
              <a:lvl3pPr marL="914400" algn="l" rtl="0" fontAlgn="base">
                <a:spcBef>
                  <a:spcPct val="50000"/>
                </a:spcBef>
                <a:spcAft>
                  <a:spcPct val="0"/>
                </a:spcAft>
                <a:defRPr kumimoji="1" sz="1400" kern="1200">
                  <a:solidFill>
                    <a:schemeClr val="tx1"/>
                  </a:solidFill>
                  <a:latin typeface="Arial" charset="0"/>
                  <a:ea typeface="가는각진제목체" pitchFamily="18" charset="-127"/>
                  <a:cs typeface="+mn-cs"/>
                </a:defRPr>
              </a:lvl3pPr>
              <a:lvl4pPr marL="1371600" algn="l" rtl="0" fontAlgn="base">
                <a:spcBef>
                  <a:spcPct val="50000"/>
                </a:spcBef>
                <a:spcAft>
                  <a:spcPct val="0"/>
                </a:spcAft>
                <a:defRPr kumimoji="1" sz="1400" kern="1200">
                  <a:solidFill>
                    <a:schemeClr val="tx1"/>
                  </a:solidFill>
                  <a:latin typeface="Arial" charset="0"/>
                  <a:ea typeface="가는각진제목체" pitchFamily="18" charset="-127"/>
                  <a:cs typeface="+mn-cs"/>
                </a:defRPr>
              </a:lvl4pPr>
              <a:lvl5pPr marL="1828800" algn="l" rtl="0" fontAlgn="base">
                <a:spcBef>
                  <a:spcPct val="50000"/>
                </a:spcBef>
                <a:spcAft>
                  <a:spcPct val="0"/>
                </a:spcAft>
                <a:defRPr kumimoji="1" sz="1400" kern="1200">
                  <a:solidFill>
                    <a:schemeClr val="tx1"/>
                  </a:solidFill>
                  <a:latin typeface="Arial" charset="0"/>
                  <a:ea typeface="가는각진제목체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sz="1400" kern="1200">
                  <a:solidFill>
                    <a:schemeClr val="tx1"/>
                  </a:solidFill>
                  <a:latin typeface="Arial" charset="0"/>
                  <a:ea typeface="가는각진제목체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sz="1400" kern="1200">
                  <a:solidFill>
                    <a:schemeClr val="tx1"/>
                  </a:solidFill>
                  <a:latin typeface="Arial" charset="0"/>
                  <a:ea typeface="가는각진제목체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sz="1400" kern="1200">
                  <a:solidFill>
                    <a:schemeClr val="tx1"/>
                  </a:solidFill>
                  <a:latin typeface="Arial" charset="0"/>
                  <a:ea typeface="가는각진제목체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sz="1400" kern="1200">
                  <a:solidFill>
                    <a:schemeClr val="tx1"/>
                  </a:solidFill>
                  <a:latin typeface="Arial" charset="0"/>
                  <a:ea typeface="가는각진제목체" pitchFamily="18" charset="-127"/>
                  <a:cs typeface="+mn-cs"/>
                </a:defRPr>
              </a:lvl9pPr>
            </a:lstStyle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2024-04-04 </a:t>
              </a:r>
              <a:r>
                <a:rPr kumimoji="0" lang="ko-KR" altLang="en-US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목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9" name="그림 8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905598" y="1467779"/>
              <a:ext cx="181098" cy="173224"/>
            </a:xfrm>
            <a:prstGeom prst="rect">
              <a:avLst/>
            </a:prstGeom>
          </p:spPr>
        </p:pic>
      </p:grpSp>
      <p:sp>
        <p:nvSpPr>
          <p:cNvPr id="10" name="직사각형 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974841" y="1455765"/>
            <a:ext cx="1823687" cy="18516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>
            <a:defPPr>
              <a:defRPr lang="ko-KR"/>
            </a:defPPr>
            <a:lvl1pPr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1pPr>
            <a:lvl2pPr marL="4572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2pPr>
            <a:lvl3pPr marL="9144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3pPr>
            <a:lvl4pPr marL="13716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4pPr>
            <a:lvl5pPr marL="18288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400" kern="1200">
                <a:solidFill>
                  <a:schemeClr val="tx1"/>
                </a:solidFill>
                <a:latin typeface="Arial" charset="0"/>
                <a:ea typeface="가는각진제목체" pitchFamily="18" charset="-127"/>
                <a:cs typeface="+mn-cs"/>
              </a:defRPr>
            </a:lvl9pPr>
          </a:lstStyle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8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" name="이등변 삼각형 10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4622587" y="1520008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>
              <a:spcBef>
                <a:spcPct val="50000"/>
              </a:spcBef>
              <a:spcAft>
                <a:spcPct val="0"/>
              </a:spcAft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18" name="구부러진 연결선 17"/>
          <p:cNvCxnSpPr/>
          <p:nvPr/>
        </p:nvCxnSpPr>
        <p:spPr bwMode="auto">
          <a:xfrm flipH="1" flipV="1">
            <a:off x="4238456" y="1653674"/>
            <a:ext cx="240164" cy="993164"/>
          </a:xfrm>
          <a:prstGeom prst="curvedConnector3">
            <a:avLst>
              <a:gd name="adj1" fmla="val -115015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graphicFrame>
        <p:nvGraphicFramePr>
          <p:cNvPr id="19" name="표 1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3458028"/>
              </p:ext>
            </p:extLst>
          </p:nvPr>
        </p:nvGraphicFramePr>
        <p:xfrm>
          <a:off x="3814401" y="2686624"/>
          <a:ext cx="1429515" cy="72799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429515">
                  <a:extLst>
                    <a:ext uri="{9D8B030D-6E8A-4147-A177-3AD203B41FA5}">
                      <a16:colId xmlns:a16="http://schemas.microsoft.com/office/drawing/2014/main" val="4259443528"/>
                    </a:ext>
                  </a:extLst>
                </a:gridCol>
              </a:tblGrid>
              <a:tr h="24372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</a:t>
                      </a:r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[41001]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취소</a:t>
                      </a:r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정정거래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541704"/>
                  </a:ext>
                </a:extLst>
              </a:tr>
              <a:tr h="24372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7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[45010] 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거래입력시간 초과 거래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4588187"/>
                  </a:ext>
                </a:extLst>
              </a:tr>
              <a:tr h="240550">
                <a:tc>
                  <a:txBody>
                    <a:bodyPr/>
                    <a:lstStyle/>
                    <a:p>
                      <a:pPr algn="l" fontAlgn="b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1985873"/>
                  </a:ext>
                </a:extLst>
              </a:tr>
            </a:tbl>
          </a:graphicData>
        </a:graphic>
      </p:graphicFrame>
      <p:sp>
        <p:nvSpPr>
          <p:cNvPr id="20" name="이등변 삼각형 19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5027842" y="2766762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791337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" name="표 3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2445581"/>
              </p:ext>
            </p:extLst>
          </p:nvPr>
        </p:nvGraphicFramePr>
        <p:xfrm>
          <a:off x="92077" y="58190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32650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MDD-00095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MDD72A1J000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8339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본부상시점검내역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부점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항목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상시점검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점검현황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본부상시점검내역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부점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항목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(P28: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이미선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69" name="표 6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1295667"/>
              </p:ext>
            </p:extLst>
          </p:nvPr>
        </p:nvGraphicFramePr>
        <p:xfrm>
          <a:off x="7207250" y="662793"/>
          <a:ext cx="2606675" cy="47402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상시점검내역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 기존 화면 기능은 유지하고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영업점 관련 기능 제외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본부상시기능 구성한다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거래 일자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 부점을 기본값으로 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취급자를 입력하지 않은 경우 대상 부점의 모든 취급자를 표시한다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취급자를 입력한 경우 대상 부점 해당 취급자의 정보만 표기된다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본부상시점검내역에 맞춰 기존 화면 기능 개선을 위해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계정거래유형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취급자 검색조건 추가한다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b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</a:b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계정거래유형 참고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본부의 경우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[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본부상시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점검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]-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본부별점검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탭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:</a:t>
                      </a:r>
                      <a:r>
                        <a:rPr lang="en-US" altLang="ko-KR" sz="800" kern="1200" baseline="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본부별점검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조회</a:t>
                      </a: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171450" indent="-171450" latinLnBrk="1">
                        <a:buFontTx/>
                        <a:buChar char="-"/>
                      </a:pP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본부계정거래점검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상시점검항목코드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: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41)</a:t>
                      </a:r>
                    </a:p>
                    <a:p>
                      <a:pPr marL="171450" indent="-171450" latinLnBrk="1">
                        <a:buFontTx/>
                        <a:buChar char="-"/>
                      </a:pP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자본시장거래점검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상시점검항목코드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: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45)</a:t>
                      </a:r>
                    </a:p>
                    <a:p>
                      <a:pPr marL="171450" marR="0" lvl="0" indent="-17145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IT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원장수정점검</a:t>
                      </a:r>
                      <a:r>
                        <a:rPr lang="en-US" altLang="ko-KR" sz="800" kern="1200" baseline="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상시점검항목코드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: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46)</a:t>
                      </a:r>
                      <a:endParaRPr lang="ko-KR" altLang="en-US" sz="800" kern="1200" dirty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검색조건 추가에 따른 조회 목록에 거래유형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취급자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컬럼 정보 추가 표시한다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참고 테이블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INST1.TSMBNA410@MBNDB: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취급자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sp>
        <p:nvSpPr>
          <p:cNvPr id="4" name="양쪽 모서리가 둥근 사각형 3"/>
          <p:cNvSpPr/>
          <p:nvPr/>
        </p:nvSpPr>
        <p:spPr bwMode="auto">
          <a:xfrm>
            <a:off x="247863" y="1171101"/>
            <a:ext cx="16036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829361" fontAlgn="ctr"/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상시점검내역</a:t>
            </a:r>
            <a:r>
              <a:rPr lang="en-US" altLang="ko-KR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부점</a:t>
            </a:r>
            <a:r>
              <a:rPr lang="en-US" altLang="ko-KR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/</a:t>
            </a:r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항목</a:t>
            </a:r>
            <a:r>
              <a:rPr lang="en-US" altLang="ko-KR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endParaRPr lang="ko-KR" altLang="en-US" sz="8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47864" y="1359472"/>
            <a:ext cx="672639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30748" y="98648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7" name="내용 개체 틀 121"/>
          <p:cNvGraphicFramePr>
            <a:graphicFrameLocks/>
          </p:cNvGraphicFramePr>
          <p:nvPr>
            <p:extLst/>
          </p:nvPr>
        </p:nvGraphicFramePr>
        <p:xfrm>
          <a:off x="250885" y="1467983"/>
          <a:ext cx="6726398" cy="5179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671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908052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473313">
                  <a:extLst>
                    <a:ext uri="{9D8B030D-6E8A-4147-A177-3AD203B41FA5}">
                      <a16:colId xmlns:a16="http://schemas.microsoft.com/office/drawing/2014/main" val="2466580378"/>
                    </a:ext>
                  </a:extLst>
                </a:gridCol>
                <a:gridCol w="330085">
                  <a:extLst>
                    <a:ext uri="{9D8B030D-6E8A-4147-A177-3AD203B41FA5}">
                      <a16:colId xmlns:a16="http://schemas.microsoft.com/office/drawing/2014/main" val="3613381167"/>
                    </a:ext>
                  </a:extLst>
                </a:gridCol>
                <a:gridCol w="946150">
                  <a:extLst>
                    <a:ext uri="{9D8B030D-6E8A-4147-A177-3AD203B41FA5}">
                      <a16:colId xmlns:a16="http://schemas.microsoft.com/office/drawing/2014/main" val="1009435546"/>
                    </a:ext>
                  </a:extLst>
                </a:gridCol>
                <a:gridCol w="711200">
                  <a:extLst>
                    <a:ext uri="{9D8B030D-6E8A-4147-A177-3AD203B41FA5}">
                      <a16:colId xmlns:a16="http://schemas.microsoft.com/office/drawing/2014/main" val="3020172459"/>
                    </a:ext>
                  </a:extLst>
                </a:gridCol>
                <a:gridCol w="1880888">
                  <a:extLst>
                    <a:ext uri="{9D8B030D-6E8A-4147-A177-3AD203B41FA5}">
                      <a16:colId xmlns:a16="http://schemas.microsoft.com/office/drawing/2014/main" val="1509079620"/>
                    </a:ext>
                  </a:extLst>
                </a:gridCol>
              </a:tblGrid>
              <a:tr h="258993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baseline="0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baseline="0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거래일자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대상부점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항목코드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58993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spc="-100" baseline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계정거래유형</a:t>
                      </a:r>
                      <a:endParaRPr lang="ko-KR" altLang="en-US" sz="700" b="0" i="0" u="none" strike="noStrike" spc="-100" baseline="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취급자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53392747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762058" y="1500666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2024-03-04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9" name="그림 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02458" y="1508432"/>
            <a:ext cx="181098" cy="173224"/>
          </a:xfrm>
          <a:prstGeom prst="rect">
            <a:avLst/>
          </a:prstGeom>
        </p:spPr>
      </p:pic>
      <p:sp>
        <p:nvSpPr>
          <p:cNvPr id="10" name="직사각형 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735871" y="1500667"/>
            <a:ext cx="821497" cy="183298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2024-04-04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1" name="그림 1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76271" y="1506889"/>
            <a:ext cx="181098" cy="173224"/>
          </a:xfrm>
          <a:prstGeom prst="rect">
            <a:avLst/>
          </a:prstGeom>
        </p:spPr>
      </p:pic>
      <p:cxnSp>
        <p:nvCxnSpPr>
          <p:cNvPr id="12" name="직선 연결선 11"/>
          <p:cNvCxnSpPr/>
          <p:nvPr/>
        </p:nvCxnSpPr>
        <p:spPr bwMode="auto">
          <a:xfrm>
            <a:off x="1612130" y="1589180"/>
            <a:ext cx="86477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117674" y="1505229"/>
            <a:ext cx="406322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0587</a:t>
            </a:r>
            <a:endParaRPr kumimoji="0" lang="ko-KR" altLang="en-US" sz="7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534797" y="1504313"/>
            <a:ext cx="754602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수탁사업부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3"/>
          <a:srcRect r="73540"/>
          <a:stretch/>
        </p:blipFill>
        <p:spPr>
          <a:xfrm>
            <a:off x="3542214" y="1515885"/>
            <a:ext cx="183595" cy="164228"/>
          </a:xfrm>
          <a:prstGeom prst="rect">
            <a:avLst/>
          </a:prstGeom>
        </p:spPr>
      </p:pic>
      <p:grpSp>
        <p:nvGrpSpPr>
          <p:cNvPr id="16" name="그룹 15"/>
          <p:cNvGrpSpPr/>
          <p:nvPr/>
        </p:nvGrpSpPr>
        <p:grpSpPr>
          <a:xfrm>
            <a:off x="5110486" y="1492422"/>
            <a:ext cx="531215" cy="180915"/>
            <a:chOff x="3888573" y="3542054"/>
            <a:chExt cx="531215" cy="180915"/>
          </a:xfrm>
        </p:grpSpPr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3888573" y="3542054"/>
              <a:ext cx="531215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실시간</a:t>
              </a:r>
              <a:endParaRPr kumimoji="0" lang="ko-KR" altLang="en-US" sz="1000" b="0" i="0" u="none" strike="noStrike" kern="1200" cap="none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18" name="이등변 삼각형 17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4311022" y="3622344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706146" y="1492748"/>
            <a:ext cx="119838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고액 입금거래</a:t>
            </a:r>
            <a:endParaRPr kumimoji="0" lang="ko-KR" altLang="en-US" sz="1000" b="0" i="0" u="none" strike="noStrike" kern="1200" cap="none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461819" y="1759205"/>
            <a:ext cx="917026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21" name="그림 20"/>
          <p:cNvPicPr>
            <a:picLocks noChangeAspect="1"/>
          </p:cNvPicPr>
          <p:nvPr/>
        </p:nvPicPr>
        <p:blipFill rotWithShape="1">
          <a:blip r:embed="rId3"/>
          <a:srcRect r="73540"/>
          <a:stretch/>
        </p:blipFill>
        <p:spPr>
          <a:xfrm>
            <a:off x="4185065" y="1767548"/>
            <a:ext cx="183595" cy="164228"/>
          </a:xfrm>
          <a:prstGeom prst="rect">
            <a:avLst/>
          </a:prstGeom>
        </p:spPr>
      </p:pic>
      <p:grpSp>
        <p:nvGrpSpPr>
          <p:cNvPr id="22" name="그룹 21"/>
          <p:cNvGrpSpPr/>
          <p:nvPr/>
        </p:nvGrpSpPr>
        <p:grpSpPr>
          <a:xfrm>
            <a:off x="762058" y="1773098"/>
            <a:ext cx="1559387" cy="180915"/>
            <a:chOff x="3888573" y="3542054"/>
            <a:chExt cx="531215" cy="180915"/>
          </a:xfrm>
        </p:grpSpPr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3888573" y="3542054"/>
              <a:ext cx="531215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본부계정거래점검</a:t>
              </a:r>
              <a:endParaRPr kumimoji="0" lang="ko-KR" altLang="en-US" sz="1000" b="0" i="0" u="none" strike="noStrike" kern="1200" cap="none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24" name="이등변 삼각형 23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4384099" y="3609651"/>
              <a:ext cx="21173" cy="4571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graphicFrame>
        <p:nvGraphicFramePr>
          <p:cNvPr id="25" name="표 2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8551645"/>
              </p:ext>
            </p:extLst>
          </p:nvPr>
        </p:nvGraphicFramePr>
        <p:xfrm>
          <a:off x="225219" y="2261416"/>
          <a:ext cx="6765180" cy="717258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502376">
                  <a:extLst>
                    <a:ext uri="{9D8B030D-6E8A-4147-A177-3AD203B41FA5}">
                      <a16:colId xmlns:a16="http://schemas.microsoft.com/office/drawing/2014/main" val="207685616"/>
                    </a:ext>
                  </a:extLst>
                </a:gridCol>
                <a:gridCol w="317500">
                  <a:extLst>
                    <a:ext uri="{9D8B030D-6E8A-4147-A177-3AD203B41FA5}">
                      <a16:colId xmlns:a16="http://schemas.microsoft.com/office/drawing/2014/main" val="4061814904"/>
                    </a:ext>
                  </a:extLst>
                </a:gridCol>
                <a:gridCol w="317500">
                  <a:extLst>
                    <a:ext uri="{9D8B030D-6E8A-4147-A177-3AD203B41FA5}">
                      <a16:colId xmlns:a16="http://schemas.microsoft.com/office/drawing/2014/main" val="1816160942"/>
                    </a:ext>
                  </a:extLst>
                </a:gridCol>
                <a:gridCol w="825500">
                  <a:extLst>
                    <a:ext uri="{9D8B030D-6E8A-4147-A177-3AD203B41FA5}">
                      <a16:colId xmlns:a16="http://schemas.microsoft.com/office/drawing/2014/main" val="3976159495"/>
                    </a:ext>
                  </a:extLst>
                </a:gridCol>
                <a:gridCol w="466725">
                  <a:extLst>
                    <a:ext uri="{9D8B030D-6E8A-4147-A177-3AD203B41FA5}">
                      <a16:colId xmlns:a16="http://schemas.microsoft.com/office/drawing/2014/main" val="4155671772"/>
                    </a:ext>
                  </a:extLst>
                </a:gridCol>
                <a:gridCol w="709613">
                  <a:extLst>
                    <a:ext uri="{9D8B030D-6E8A-4147-A177-3AD203B41FA5}">
                      <a16:colId xmlns:a16="http://schemas.microsoft.com/office/drawing/2014/main" val="1684914314"/>
                    </a:ext>
                  </a:extLst>
                </a:gridCol>
                <a:gridCol w="709613">
                  <a:extLst>
                    <a:ext uri="{9D8B030D-6E8A-4147-A177-3AD203B41FA5}">
                      <a16:colId xmlns:a16="http://schemas.microsoft.com/office/drawing/2014/main" val="2821263627"/>
                    </a:ext>
                  </a:extLst>
                </a:gridCol>
                <a:gridCol w="704850">
                  <a:extLst>
                    <a:ext uri="{9D8B030D-6E8A-4147-A177-3AD203B41FA5}">
                      <a16:colId xmlns:a16="http://schemas.microsoft.com/office/drawing/2014/main" val="3762451874"/>
                    </a:ext>
                  </a:extLst>
                </a:gridCol>
                <a:gridCol w="298450">
                  <a:extLst>
                    <a:ext uri="{9D8B030D-6E8A-4147-A177-3AD203B41FA5}">
                      <a16:colId xmlns:a16="http://schemas.microsoft.com/office/drawing/2014/main" val="1503135411"/>
                    </a:ext>
                  </a:extLst>
                </a:gridCol>
                <a:gridCol w="234950">
                  <a:extLst>
                    <a:ext uri="{9D8B030D-6E8A-4147-A177-3AD203B41FA5}">
                      <a16:colId xmlns:a16="http://schemas.microsoft.com/office/drawing/2014/main" val="281150075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821970342"/>
                    </a:ext>
                  </a:extLst>
                </a:gridCol>
                <a:gridCol w="450850">
                  <a:extLst>
                    <a:ext uri="{9D8B030D-6E8A-4147-A177-3AD203B41FA5}">
                      <a16:colId xmlns:a16="http://schemas.microsoft.com/office/drawing/2014/main" val="498478326"/>
                    </a:ext>
                  </a:extLst>
                </a:gridCol>
                <a:gridCol w="152400">
                  <a:extLst>
                    <a:ext uri="{9D8B030D-6E8A-4147-A177-3AD203B41FA5}">
                      <a16:colId xmlns:a16="http://schemas.microsoft.com/office/drawing/2014/main" val="1762175008"/>
                    </a:ext>
                  </a:extLst>
                </a:gridCol>
                <a:gridCol w="171450">
                  <a:extLst>
                    <a:ext uri="{9D8B030D-6E8A-4147-A177-3AD203B41FA5}">
                      <a16:colId xmlns:a16="http://schemas.microsoft.com/office/drawing/2014/main" val="1659881722"/>
                    </a:ext>
                  </a:extLst>
                </a:gridCol>
                <a:gridCol w="158750">
                  <a:extLst>
                    <a:ext uri="{9D8B030D-6E8A-4147-A177-3AD203B41FA5}">
                      <a16:colId xmlns:a16="http://schemas.microsoft.com/office/drawing/2014/main" val="977020740"/>
                    </a:ext>
                  </a:extLst>
                </a:gridCol>
                <a:gridCol w="306503">
                  <a:extLst>
                    <a:ext uri="{9D8B030D-6E8A-4147-A177-3AD203B41FA5}">
                      <a16:colId xmlns:a16="http://schemas.microsoft.com/office/drawing/2014/main" val="980098235"/>
                    </a:ext>
                  </a:extLst>
                </a:gridCol>
              </a:tblGrid>
              <a:tr h="17460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거래일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번호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항목명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거래유형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관리점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취급점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계좌번호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고객명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출생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취급자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금액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 spc="-100" baseline="0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현대</a:t>
                      </a:r>
                      <a:endParaRPr lang="ko-KR" altLang="en-US" sz="600" b="0" i="0" u="none" strike="noStrike" spc="-100" baseline="0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입지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취소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 spc="-100" baseline="0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감사역</a:t>
                      </a:r>
                      <a:endParaRPr lang="ko-KR" altLang="en-US" sz="600" b="0" i="0" u="none" strike="noStrike" spc="-100" baseline="0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839423"/>
                  </a:ext>
                </a:extLst>
              </a:tr>
              <a:tr h="271327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6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2024-03-04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2158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6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고액 입금거래</a:t>
                      </a:r>
                      <a:r>
                        <a:rPr lang="en-US" altLang="ko-KR" sz="6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[41004]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본부계정기타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6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(0587)</a:t>
                      </a:r>
                      <a:r>
                        <a:rPr lang="ko-KR" altLang="en-US" sz="6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수탁사업부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(0587)</a:t>
                      </a:r>
                      <a:r>
                        <a:rPr lang="ko-KR" altLang="en-US" sz="6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수탁사업부</a:t>
                      </a:r>
                      <a:endParaRPr lang="ko-KR" altLang="en-US" sz="6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817*****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6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㈜ 기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[L2]</a:t>
                      </a:r>
                      <a:r>
                        <a:rPr lang="en-US" altLang="ko-KR" sz="600" b="0" i="0" u="none" strike="noStrike" baseline="0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600" b="0" i="0" u="none" strike="noStrike" baseline="0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6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49,200,000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대체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지급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4677812"/>
                  </a:ext>
                </a:extLst>
              </a:tr>
              <a:tr h="271327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6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3740427"/>
                  </a:ext>
                </a:extLst>
              </a:tr>
            </a:tbl>
          </a:graphicData>
        </a:graphic>
      </p:graphicFrame>
      <p:sp>
        <p:nvSpPr>
          <p:cNvPr id="2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58085" y="1768433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조회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7" name="직사각형 26"/>
          <p:cNvSpPr/>
          <p:nvPr/>
        </p:nvSpPr>
        <p:spPr bwMode="auto">
          <a:xfrm>
            <a:off x="225218" y="1704178"/>
            <a:ext cx="4429909" cy="289302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8" name="직사각형 27"/>
          <p:cNvSpPr/>
          <p:nvPr/>
        </p:nvSpPr>
        <p:spPr bwMode="auto">
          <a:xfrm>
            <a:off x="225218" y="2229869"/>
            <a:ext cx="6765181" cy="800192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27205" y="164464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20624" y="207841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20624" y="139679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33" name="구부러진 연결선 32"/>
          <p:cNvCxnSpPr/>
          <p:nvPr/>
        </p:nvCxnSpPr>
        <p:spPr bwMode="auto">
          <a:xfrm flipH="1" flipV="1">
            <a:off x="2278834" y="1902907"/>
            <a:ext cx="240164" cy="993164"/>
          </a:xfrm>
          <a:prstGeom prst="curvedConnector3">
            <a:avLst>
              <a:gd name="adj1" fmla="val -115015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graphicFrame>
        <p:nvGraphicFramePr>
          <p:cNvPr id="35" name="표 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4429766"/>
              </p:ext>
            </p:extLst>
          </p:nvPr>
        </p:nvGraphicFramePr>
        <p:xfrm>
          <a:off x="1612130" y="2912610"/>
          <a:ext cx="1047944" cy="627481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047944">
                  <a:extLst>
                    <a:ext uri="{9D8B030D-6E8A-4147-A177-3AD203B41FA5}">
                      <a16:colId xmlns:a16="http://schemas.microsoft.com/office/drawing/2014/main" val="4259443528"/>
                    </a:ext>
                  </a:extLst>
                </a:gridCol>
              </a:tblGrid>
              <a:tr h="21232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본부계정거래점검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541704"/>
                  </a:ext>
                </a:extLst>
              </a:tr>
              <a:tr h="207577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자본시장거래점검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4588187"/>
                  </a:ext>
                </a:extLst>
              </a:tr>
              <a:tr h="207577"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IT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원장수정점검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1442022"/>
                  </a:ext>
                </a:extLst>
              </a:tr>
            </a:tbl>
          </a:graphicData>
        </a:graphic>
      </p:graphicFrame>
      <p:sp>
        <p:nvSpPr>
          <p:cNvPr id="36" name="이등변 삼각형 35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2485562" y="3001435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98227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" name="표 3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0577822"/>
              </p:ext>
            </p:extLst>
          </p:nvPr>
        </p:nvGraphicFramePr>
        <p:xfrm>
          <a:off x="92077" y="58190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32650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MDD-00089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MDD72A98000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8339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상시감사보고서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</a:t>
                      </a:r>
                      <a:r>
                        <a:rPr lang="en-US" altLang="ko-KR" sz="105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1050" kern="120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상시운영</a:t>
                      </a:r>
                      <a:r>
                        <a:rPr lang="en-US" altLang="ko-KR" sz="105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105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감사보고서관리</a:t>
                      </a:r>
                      <a:r>
                        <a:rPr lang="en-US" altLang="ko-KR" sz="105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105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상시감사보고서</a:t>
                      </a:r>
                      <a:r>
                        <a:rPr lang="en-US" altLang="ko-KR" sz="105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</a:t>
                      </a:r>
                      <a:r>
                        <a:rPr lang="en-US" altLang="ko-KR" sz="105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(P31: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이미선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정용욱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69" name="표 6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2959015"/>
              </p:ext>
            </p:extLst>
          </p:nvPr>
        </p:nvGraphicFramePr>
        <p:xfrm>
          <a:off x="7207250" y="662793"/>
          <a:ext cx="2606675" cy="4619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[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상시감사보고서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 기존 화면 기능은 유지한다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보고서 출력 내용 변경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차트 포함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※ 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보고서 양식 세부내용은 현업 추가 제공 필요하다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보고서 양식 변경은 추후 현업 전달 예정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57225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8846583"/>
                  </a:ext>
                </a:extLst>
              </a:tr>
            </a:tbl>
          </a:graphicData>
        </a:graphic>
      </p:graphicFrame>
      <p:sp>
        <p:nvSpPr>
          <p:cNvPr id="4" name="양쪽 모서리가 둥근 사각형 3"/>
          <p:cNvSpPr/>
          <p:nvPr/>
        </p:nvSpPr>
        <p:spPr bwMode="auto">
          <a:xfrm>
            <a:off x="247863" y="1196039"/>
            <a:ext cx="148180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829361" fontAlgn="ctr"/>
            <a:r>
              <a:rPr lang="ko-KR" altLang="en-US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상시감사보고서</a:t>
            </a:r>
            <a:r>
              <a:rPr lang="en-US" altLang="ko-KR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lang="ko-KR" altLang="en-US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본부</a:t>
            </a:r>
            <a:r>
              <a:rPr lang="en-US" altLang="ko-KR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endParaRPr lang="ko-KR" altLang="en-US" sz="8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47864" y="1384410"/>
            <a:ext cx="672639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47862" y="101886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7" name="내용 개체 틀 12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824839955"/>
              </p:ext>
            </p:extLst>
          </p:nvPr>
        </p:nvGraphicFramePr>
        <p:xfrm>
          <a:off x="247862" y="1492138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5788848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u="none" strike="noStrike" dirty="0" err="1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    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33389" y="1538206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04905" y="1538206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2024-04-04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0" name="그림 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45305" y="1545972"/>
            <a:ext cx="181098" cy="173224"/>
          </a:xfrm>
          <a:prstGeom prst="rect">
            <a:avLst/>
          </a:prstGeom>
        </p:spPr>
      </p:pic>
      <p:sp>
        <p:nvSpPr>
          <p:cNvPr id="14" name="Text Box 39">
            <a:extLst>
              <a:ext uri="{FF2B5EF4-FFF2-40B4-BE49-F238E27FC236}">
                <a16:creationId xmlns:a16="http://schemas.microsoft.com/office/drawing/2014/main" id="{0C6A76A4-9FDA-D68A-AF81-090FF3653C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7862" y="1825800"/>
            <a:ext cx="6744797" cy="3934920"/>
          </a:xfrm>
          <a:prstGeom prst="rect">
            <a:avLst/>
          </a:prstGeom>
          <a:noFill/>
          <a:ln w="6350" algn="ctr">
            <a:solidFill>
              <a:schemeClr val="bg2">
                <a:lumMod val="90000"/>
              </a:schemeClr>
            </a:solidFill>
            <a:miter lim="800000"/>
            <a:headEnd/>
            <a:tailEnd/>
          </a:ln>
          <a:effectLst/>
        </p:spPr>
        <p:txBody>
          <a:bodyPr wrap="square" lIns="108000" tIns="144000" rIns="108000" bIns="72000" anchor="t" anchorCtr="0">
            <a:noAutofit/>
          </a:bodyPr>
          <a:lstStyle/>
          <a:p>
            <a:pPr marL="0" marR="0" lvl="0" indent="0" algn="l" defTabSz="101758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C2D83"/>
              </a:buClr>
              <a:buSzPct val="80000"/>
              <a:buFontTx/>
              <a:buNone/>
              <a:tabLst/>
              <a:defRPr/>
            </a:pPr>
            <a:endParaRPr kumimoji="1" lang="en-US" altLang="ko-KR" sz="1600" b="1" i="0" u="none" strike="noStrike" kern="0" cap="none" spc="-100" normalizeH="0" baseline="0" noProof="0" dirty="0">
              <a:ln w="12700">
                <a:solidFill>
                  <a:srgbClr val="005EB8">
                    <a:alpha val="0"/>
                  </a:srgbClr>
                </a:solidFill>
              </a:ln>
              <a:solidFill>
                <a:srgbClr val="4A483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6665" y="1915515"/>
            <a:ext cx="6588791" cy="3260538"/>
          </a:xfrm>
          <a:prstGeom prst="rect">
            <a:avLst/>
          </a:prstGeom>
        </p:spPr>
      </p:pic>
      <p:sp>
        <p:nvSpPr>
          <p:cNvPr id="20" name="타원 1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49152" y="185132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5" name="모서리가 둥근 직사각형 24"/>
          <p:cNvSpPr/>
          <p:nvPr/>
        </p:nvSpPr>
        <p:spPr bwMode="auto">
          <a:xfrm>
            <a:off x="1472853" y="2269719"/>
            <a:ext cx="4276413" cy="1030778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indent="-85725" algn="ctr"/>
            <a:r>
              <a:rPr kumimoji="0" lang="ko-KR" altLang="en-US" sz="1200" b="1" i="0" u="none" strike="noStrike" kern="0" cap="none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해당 </a:t>
            </a:r>
            <a:r>
              <a:rPr kumimoji="0" lang="en-US" altLang="ko-KR" sz="1200" b="1" i="0" u="none" strike="noStrike" kern="0" cap="none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lang="ko-KR" altLang="en-US" sz="1200" dirty="0" err="1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점검건수</a:t>
            </a:r>
            <a:r>
              <a:rPr lang="ko-KR" altLang="en-US" sz="1200" dirty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 및 </a:t>
            </a:r>
            <a:r>
              <a:rPr lang="ko-KR" altLang="en-US" sz="1200" dirty="0" err="1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점검률</a:t>
            </a:r>
            <a:r>
              <a:rPr lang="en-US" altLang="ko-KR" sz="1200" dirty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(</a:t>
            </a:r>
            <a:r>
              <a:rPr lang="ko-KR" altLang="en-US" sz="1200" dirty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차트</a:t>
            </a:r>
            <a:r>
              <a:rPr lang="en-US" altLang="ko-KR" sz="1200" dirty="0" smtClean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))</a:t>
            </a:r>
            <a:r>
              <a:rPr kumimoji="0" lang="ko-KR" altLang="en-US" sz="1200" b="1" i="0" u="none" strike="noStrike" kern="0" cap="none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페이지 개발하지 않고</a:t>
            </a:r>
            <a:endParaRPr kumimoji="0" lang="en-US" altLang="ko-KR" sz="1200" b="1" i="0" u="none" strike="noStrike" kern="0" cap="none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85725" indent="-85725" algn="ctr"/>
            <a:r>
              <a:rPr lang="ko-KR" altLang="en-US" sz="1200" dirty="0" err="1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상시감사</a:t>
            </a:r>
            <a:r>
              <a:rPr lang="ko-KR" altLang="en-US" sz="1200" dirty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 </a:t>
            </a:r>
            <a:r>
              <a:rPr lang="en-US" altLang="ko-KR" sz="1200" dirty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&gt; </a:t>
            </a:r>
            <a:r>
              <a:rPr lang="ko-KR" altLang="en-US" sz="1200" dirty="0" err="1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상시운영</a:t>
            </a:r>
            <a:r>
              <a:rPr lang="ko-KR" altLang="en-US" sz="1200" dirty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 </a:t>
            </a:r>
            <a:r>
              <a:rPr lang="en-US" altLang="ko-KR" sz="1200" dirty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&gt; </a:t>
            </a:r>
            <a:r>
              <a:rPr lang="ko-KR" altLang="en-US" sz="1200" dirty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감사보고서관리 </a:t>
            </a:r>
            <a:r>
              <a:rPr lang="en-US" altLang="ko-KR" sz="1200" dirty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&gt; </a:t>
            </a:r>
            <a:r>
              <a:rPr lang="ko-KR" altLang="en-US" sz="1200" dirty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상시감사보고서</a:t>
            </a:r>
            <a:r>
              <a:rPr lang="en-US" altLang="ko-KR" sz="1200" dirty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(</a:t>
            </a:r>
            <a:r>
              <a:rPr lang="ko-KR" altLang="en-US" sz="1200" dirty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본부</a:t>
            </a:r>
            <a:r>
              <a:rPr lang="en-US" altLang="ko-KR" sz="1200" dirty="0" smtClean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) </a:t>
            </a:r>
            <a:r>
              <a:rPr lang="ko-KR" altLang="en-US" sz="1200" dirty="0" smtClean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화면으로 대체 </a:t>
            </a:r>
            <a:r>
              <a:rPr lang="en-US" altLang="ko-KR" sz="1200" dirty="0" smtClean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– </a:t>
            </a:r>
            <a:r>
              <a:rPr lang="ko-KR" altLang="en-US" sz="1200" dirty="0" smtClean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해당 화면은 조회 기간 입력하고 조회 클릭하면 보고서로 출력 함 </a:t>
            </a:r>
            <a:r>
              <a:rPr lang="en-US" altLang="ko-KR" sz="1200" dirty="0" smtClean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–</a:t>
            </a:r>
            <a:r>
              <a:rPr lang="ko-KR" altLang="en-US" sz="1200" dirty="0" smtClean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보고서 양식은 변경</a:t>
            </a:r>
            <a:r>
              <a:rPr lang="en-US" altLang="ko-KR" sz="1200" dirty="0" smtClean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(</a:t>
            </a:r>
            <a:r>
              <a:rPr lang="ko-KR" altLang="en-US" sz="1200" dirty="0" smtClean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추후 전달 예정</a:t>
            </a:r>
            <a:r>
              <a:rPr lang="en-US" altLang="ko-KR" sz="1200" dirty="0" smtClean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)</a:t>
            </a:r>
            <a:endParaRPr lang="en-US" altLang="ko-KR" sz="1200" dirty="0">
              <a:solidFill>
                <a:schemeClr val="bg1"/>
              </a:solidFill>
              <a:latin typeface="KB금융 본문체 Bold" panose="020B0803000000000000" pitchFamily="50" charset="-127"/>
              <a:ea typeface="KB금융 본문체 Bold" panose="020B08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007858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" name="표 3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5265878"/>
              </p:ext>
            </p:extLst>
          </p:nvPr>
        </p:nvGraphicFramePr>
        <p:xfrm>
          <a:off x="92077" y="58190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32650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MDD-00092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MDD72A98000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8339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글로벌상시감사보고서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(22.02~)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</a:t>
                      </a:r>
                      <a:r>
                        <a:rPr lang="en-US" altLang="ko-KR" sz="105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1050" kern="120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상시운영</a:t>
                      </a:r>
                      <a:r>
                        <a:rPr lang="en-US" altLang="ko-KR" sz="105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105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감사보고서관리</a:t>
                      </a:r>
                      <a:r>
                        <a:rPr lang="en-US" altLang="ko-KR" sz="105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105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글로벌상시감사보고서</a:t>
                      </a:r>
                      <a:r>
                        <a:rPr lang="en-US" altLang="ko-KR" sz="105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(22.02~) (P31:</a:t>
                      </a:r>
                      <a:r>
                        <a:rPr lang="ko-KR" altLang="en-US" sz="1050" kern="120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이미선정용욱</a:t>
                      </a:r>
                      <a:r>
                        <a:rPr lang="en-US" altLang="ko-KR" sz="105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69" name="표 6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2442079"/>
              </p:ext>
            </p:extLst>
          </p:nvPr>
        </p:nvGraphicFramePr>
        <p:xfrm>
          <a:off x="7207250" y="662793"/>
          <a:ext cx="2606675" cy="4619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글로벌 상시는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글로벌상시감사보고서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(22.02~)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화면은 유지한다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보고서 출력 내용 변경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차트 포함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※ 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보고서 양식 세부내용은 현업 추가 제공 필요하다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보고서 양식 변경은 추후 현업 전달 예정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57225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8846583"/>
                  </a:ext>
                </a:extLst>
              </a:tr>
            </a:tbl>
          </a:graphicData>
        </a:graphic>
      </p:graphicFrame>
      <p:sp>
        <p:nvSpPr>
          <p:cNvPr id="4" name="양쪽 모서리가 둥근 사각형 3"/>
          <p:cNvSpPr/>
          <p:nvPr/>
        </p:nvSpPr>
        <p:spPr bwMode="auto">
          <a:xfrm>
            <a:off x="247863" y="1196039"/>
            <a:ext cx="148180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829361" fontAlgn="ctr"/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글로벌상시감사보고서</a:t>
            </a:r>
            <a:r>
              <a:rPr lang="en-US" altLang="ko-KR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(22.02~)</a:t>
            </a:r>
            <a:endParaRPr lang="ko-KR" altLang="en-US" sz="8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47864" y="1384410"/>
            <a:ext cx="672639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47862" y="101886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7" name="내용 개체 틀 12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654915804"/>
              </p:ext>
            </p:extLst>
          </p:nvPr>
        </p:nvGraphicFramePr>
        <p:xfrm>
          <a:off x="247862" y="1492138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5788848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u="none" strike="noStrike" dirty="0" err="1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    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33389" y="1538206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04905" y="1538206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2024-11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0" name="그림 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45305" y="1545972"/>
            <a:ext cx="181098" cy="173224"/>
          </a:xfrm>
          <a:prstGeom prst="rect">
            <a:avLst/>
          </a:prstGeom>
        </p:spPr>
      </p:pic>
      <p:pic>
        <p:nvPicPr>
          <p:cNvPr id="3" name="그림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6665" y="1948995"/>
            <a:ext cx="6576724" cy="3459408"/>
          </a:xfrm>
          <a:prstGeom prst="rect">
            <a:avLst/>
          </a:prstGeom>
        </p:spPr>
      </p:pic>
      <p:sp>
        <p:nvSpPr>
          <p:cNvPr id="20" name="타원 1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49152" y="185132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5" name="모서리가 둥근 직사각형 14"/>
          <p:cNvSpPr/>
          <p:nvPr/>
        </p:nvSpPr>
        <p:spPr bwMode="auto">
          <a:xfrm>
            <a:off x="1472853" y="2269719"/>
            <a:ext cx="4276413" cy="1030778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indent="-85725" algn="ctr"/>
            <a:r>
              <a:rPr kumimoji="0" lang="ko-KR" altLang="en-US" sz="1200" b="1" i="0" u="none" strike="noStrike" kern="0" cap="none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해당 </a:t>
            </a:r>
            <a:r>
              <a:rPr kumimoji="0" lang="en-US" altLang="ko-KR" sz="1200" b="1" i="0" u="none" strike="noStrike" kern="0" cap="none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lang="ko-KR" altLang="en-US" sz="1200" dirty="0" err="1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점검건수</a:t>
            </a:r>
            <a:r>
              <a:rPr lang="ko-KR" altLang="en-US" sz="1200" dirty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 및 </a:t>
            </a:r>
            <a:r>
              <a:rPr lang="ko-KR" altLang="en-US" sz="1200" dirty="0" err="1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점검률</a:t>
            </a:r>
            <a:r>
              <a:rPr lang="en-US" altLang="ko-KR" sz="1200" dirty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(</a:t>
            </a:r>
            <a:r>
              <a:rPr lang="ko-KR" altLang="en-US" sz="1200" dirty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차트</a:t>
            </a:r>
            <a:r>
              <a:rPr lang="en-US" altLang="ko-KR" sz="1200" dirty="0" smtClean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))</a:t>
            </a:r>
            <a:r>
              <a:rPr kumimoji="0" lang="ko-KR" altLang="en-US" sz="1200" b="1" i="0" u="none" strike="noStrike" kern="0" cap="none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페이지 개발하지 않고</a:t>
            </a:r>
            <a:endParaRPr kumimoji="0" lang="en-US" altLang="ko-KR" sz="1200" b="1" i="0" u="none" strike="noStrike" kern="0" cap="none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85725" indent="-85725" algn="ctr"/>
            <a:r>
              <a:rPr lang="ko-KR" altLang="en-US" sz="1200" dirty="0" err="1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상시감사</a:t>
            </a:r>
            <a:r>
              <a:rPr lang="ko-KR" altLang="en-US" sz="1200" dirty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 </a:t>
            </a:r>
            <a:r>
              <a:rPr lang="en-US" altLang="ko-KR" sz="1200" dirty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&gt; </a:t>
            </a:r>
            <a:r>
              <a:rPr lang="ko-KR" altLang="en-US" sz="1200" dirty="0" err="1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상시운영</a:t>
            </a:r>
            <a:r>
              <a:rPr lang="ko-KR" altLang="en-US" sz="1200" dirty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 </a:t>
            </a:r>
            <a:r>
              <a:rPr lang="en-US" altLang="ko-KR" sz="1200" dirty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&gt; </a:t>
            </a:r>
            <a:r>
              <a:rPr lang="ko-KR" altLang="en-US" sz="1200" dirty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감사보고서관리 </a:t>
            </a:r>
            <a:r>
              <a:rPr lang="en-US" altLang="ko-KR" sz="1200" dirty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&gt; </a:t>
            </a:r>
            <a:r>
              <a:rPr lang="ko-KR" altLang="en-US" sz="1200" dirty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상시감사보고서</a:t>
            </a:r>
            <a:r>
              <a:rPr lang="en-US" altLang="ko-KR" sz="1200" dirty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(</a:t>
            </a:r>
            <a:r>
              <a:rPr lang="ko-KR" altLang="en-US" sz="1200" dirty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본부</a:t>
            </a:r>
            <a:r>
              <a:rPr lang="en-US" altLang="ko-KR" sz="1200" dirty="0" smtClean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) </a:t>
            </a:r>
            <a:r>
              <a:rPr lang="ko-KR" altLang="en-US" sz="1200" dirty="0" smtClean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화면으로 대체 </a:t>
            </a:r>
            <a:r>
              <a:rPr lang="en-US" altLang="ko-KR" sz="1200" dirty="0" smtClean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– </a:t>
            </a:r>
            <a:r>
              <a:rPr lang="ko-KR" altLang="en-US" sz="1200" dirty="0" smtClean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해당 화면은 조회 기간 입력하고 조회 클릭하면 보고서로 출력 함 </a:t>
            </a:r>
            <a:r>
              <a:rPr lang="en-US" altLang="ko-KR" sz="1200" dirty="0" smtClean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–</a:t>
            </a:r>
            <a:r>
              <a:rPr lang="ko-KR" altLang="en-US" sz="1200" dirty="0" smtClean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보고서 양식은 변경</a:t>
            </a:r>
            <a:r>
              <a:rPr lang="en-US" altLang="ko-KR" sz="1200" dirty="0" smtClean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(</a:t>
            </a:r>
            <a:r>
              <a:rPr lang="ko-KR" altLang="en-US" sz="1200" dirty="0" smtClean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추후 전달 예정</a:t>
            </a:r>
            <a:r>
              <a:rPr lang="en-US" altLang="ko-KR" sz="1200" dirty="0" smtClean="0">
                <a:solidFill>
                  <a:schemeClr val="bg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)</a:t>
            </a:r>
            <a:endParaRPr lang="en-US" altLang="ko-KR" sz="1200" dirty="0">
              <a:solidFill>
                <a:schemeClr val="bg1"/>
              </a:solidFill>
              <a:latin typeface="KB금융 본문체 Bold" panose="020B0803000000000000" pitchFamily="50" charset="-127"/>
              <a:ea typeface="KB금융 본문체 Bold" panose="020B08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328641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" name="표 3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0550441"/>
              </p:ext>
            </p:extLst>
          </p:nvPr>
        </p:nvGraphicFramePr>
        <p:xfrm>
          <a:off x="92077" y="58190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32650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MDD-00087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MDD75A86000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8339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 점검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매뉴얼관리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상시운영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매뉴얼관리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 점검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매뉴얼관리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(P19, P32~37: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이미선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69" name="표 6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4753237"/>
              </p:ext>
            </p:extLst>
          </p:nvPr>
        </p:nvGraphicFramePr>
        <p:xfrm>
          <a:off x="7207250" y="662793"/>
          <a:ext cx="2606675" cy="5390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 매뉴얼관리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 기존 화면 동일한 구성으로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글로벌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통합 신규 화면을 만든다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참고 화면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상시감사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상시운영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매뉴얼관리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 매뉴얼관리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]: MDD75A80000</a:t>
                      </a:r>
                      <a:endParaRPr lang="ko-KR" altLang="en-US" sz="80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 조건의 점검 과목은 아래와 같이 구성한다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점검과목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글로벌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각 버튼의 참고 화면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ID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는 아래와 같다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]: MDD75A80005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변경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]: MDD75A80006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]: MDD75A80003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라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변경이력조회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]:MDD75A80004</a:t>
                      </a:r>
                    </a:p>
                    <a:p>
                      <a:pPr marL="0" indent="0" latinLnBrk="1">
                        <a:buFontTx/>
                        <a:buNone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마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첨부파일이력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]:MDD75A80007</a:t>
                      </a:r>
                    </a:p>
                    <a:p>
                      <a:pPr marL="0" indent="0" latinLnBrk="1">
                        <a:buFontTx/>
                        <a:buNone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 이력 화면은 변경이력조회 화면에서 첨부파일이 있는 경우 호출 가능하다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.)</a:t>
                      </a:r>
                    </a:p>
                    <a:p>
                      <a:pPr marL="0" indent="0" latinLnBrk="1">
                        <a:buFontTx/>
                        <a:buNone/>
                      </a:pP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메뉴얼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관리 내용을 보고서 형식으로 전체 출력한다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출력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내용 항목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추출 요건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체크포인트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관련규정 및 지침 등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※ 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보고서 출력 항목 재정의 필요하다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※ </a:t>
                      </a:r>
                      <a:r>
                        <a:rPr lang="ko-KR" altLang="en-US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추가 요건 후속 </a:t>
                      </a:r>
                      <a:r>
                        <a:rPr lang="ko-KR" altLang="en-US" sz="800" dirty="0" err="1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장표에서</a:t>
                      </a:r>
                      <a:r>
                        <a:rPr lang="ko-KR" altLang="en-US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계속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sp>
        <p:nvSpPr>
          <p:cNvPr id="4" name="양쪽 모서리가 둥근 사각형 3"/>
          <p:cNvSpPr/>
          <p:nvPr/>
        </p:nvSpPr>
        <p:spPr bwMode="auto">
          <a:xfrm>
            <a:off x="239550" y="1179414"/>
            <a:ext cx="16036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829361" fontAlgn="ctr"/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점검 매뉴얼관리</a:t>
            </a:r>
          </a:p>
        </p:txBody>
      </p:sp>
      <p:sp>
        <p:nvSpPr>
          <p:cNvPr id="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39551" y="1367785"/>
            <a:ext cx="672639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30747" y="100310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8" name="표 17"/>
          <p:cNvGraphicFramePr>
            <a:graphicFrameLocks noGrp="1"/>
          </p:cNvGraphicFramePr>
          <p:nvPr>
            <p:extLst/>
          </p:nvPr>
        </p:nvGraphicFramePr>
        <p:xfrm>
          <a:off x="239549" y="2057429"/>
          <a:ext cx="6761561" cy="147040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7404">
                  <a:extLst>
                    <a:ext uri="{9D8B030D-6E8A-4147-A177-3AD203B41FA5}">
                      <a16:colId xmlns:a16="http://schemas.microsoft.com/office/drawing/2014/main" val="765845881"/>
                    </a:ext>
                  </a:extLst>
                </a:gridCol>
                <a:gridCol w="440574">
                  <a:extLst>
                    <a:ext uri="{9D8B030D-6E8A-4147-A177-3AD203B41FA5}">
                      <a16:colId xmlns:a16="http://schemas.microsoft.com/office/drawing/2014/main" val="3972239332"/>
                    </a:ext>
                  </a:extLst>
                </a:gridCol>
                <a:gridCol w="395252">
                  <a:extLst>
                    <a:ext uri="{9D8B030D-6E8A-4147-A177-3AD203B41FA5}">
                      <a16:colId xmlns:a16="http://schemas.microsoft.com/office/drawing/2014/main" val="2426106912"/>
                    </a:ext>
                  </a:extLst>
                </a:gridCol>
                <a:gridCol w="1516676">
                  <a:extLst>
                    <a:ext uri="{9D8B030D-6E8A-4147-A177-3AD203B41FA5}">
                      <a16:colId xmlns:a16="http://schemas.microsoft.com/office/drawing/2014/main" val="157696043"/>
                    </a:ext>
                  </a:extLst>
                </a:gridCol>
                <a:gridCol w="376921">
                  <a:extLst>
                    <a:ext uri="{9D8B030D-6E8A-4147-A177-3AD203B41FA5}">
                      <a16:colId xmlns:a16="http://schemas.microsoft.com/office/drawing/2014/main" val="1421297000"/>
                    </a:ext>
                  </a:extLst>
                </a:gridCol>
                <a:gridCol w="576651">
                  <a:extLst>
                    <a:ext uri="{9D8B030D-6E8A-4147-A177-3AD203B41FA5}">
                      <a16:colId xmlns:a16="http://schemas.microsoft.com/office/drawing/2014/main" val="3582745889"/>
                    </a:ext>
                  </a:extLst>
                </a:gridCol>
                <a:gridCol w="654577">
                  <a:extLst>
                    <a:ext uri="{9D8B030D-6E8A-4147-A177-3AD203B41FA5}">
                      <a16:colId xmlns:a16="http://schemas.microsoft.com/office/drawing/2014/main" val="461435787"/>
                    </a:ext>
                  </a:extLst>
                </a:gridCol>
                <a:gridCol w="471451">
                  <a:extLst>
                    <a:ext uri="{9D8B030D-6E8A-4147-A177-3AD203B41FA5}">
                      <a16:colId xmlns:a16="http://schemas.microsoft.com/office/drawing/2014/main" val="2502540127"/>
                    </a:ext>
                  </a:extLst>
                </a:gridCol>
                <a:gridCol w="471451">
                  <a:extLst>
                    <a:ext uri="{9D8B030D-6E8A-4147-A177-3AD203B41FA5}">
                      <a16:colId xmlns:a16="http://schemas.microsoft.com/office/drawing/2014/main" val="1440062905"/>
                    </a:ext>
                  </a:extLst>
                </a:gridCol>
                <a:gridCol w="584443">
                  <a:extLst>
                    <a:ext uri="{9D8B030D-6E8A-4147-A177-3AD203B41FA5}">
                      <a16:colId xmlns:a16="http://schemas.microsoft.com/office/drawing/2014/main" val="1447650789"/>
                    </a:ext>
                  </a:extLst>
                </a:gridCol>
                <a:gridCol w="411843">
                  <a:extLst>
                    <a:ext uri="{9D8B030D-6E8A-4147-A177-3AD203B41FA5}">
                      <a16:colId xmlns:a16="http://schemas.microsoft.com/office/drawing/2014/main" val="611776971"/>
                    </a:ext>
                  </a:extLst>
                </a:gridCol>
                <a:gridCol w="544318">
                  <a:extLst>
                    <a:ext uri="{9D8B030D-6E8A-4147-A177-3AD203B41FA5}">
                      <a16:colId xmlns:a16="http://schemas.microsoft.com/office/drawing/2014/main" val="457614486"/>
                    </a:ext>
                  </a:extLst>
                </a:gridCol>
              </a:tblGrid>
              <a:tr h="24748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업무구분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항목코드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항목명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신규일자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적용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변경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점검구분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해제일자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결재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변경구분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7910169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41001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취소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정정거래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2009-05-01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9999-12-31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결재중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 수정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3076989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41002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기산일거래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2009-05-01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2024-06-19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9999-12-31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 수정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480346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41003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가수금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가지급금거래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2009-05-01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2024-06-17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9999-12-31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 수정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8229297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41004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고액 입금거래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2009-05-01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2018-01-30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9999-12-31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요건수정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5496841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41005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타행환 송금거래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2009-05-01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2024-06-19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9999-12-31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 수정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6592906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4309710"/>
                  </a:ext>
                </a:extLst>
              </a:tr>
            </a:tbl>
          </a:graphicData>
        </a:graphic>
      </p:graphicFrame>
      <p:graphicFrame>
        <p:nvGraphicFramePr>
          <p:cNvPr id="23" name="내용 개체 틀 12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94524434"/>
              </p:ext>
            </p:extLst>
          </p:nvPr>
        </p:nvGraphicFramePr>
        <p:xfrm>
          <a:off x="265605" y="1504515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447212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1447212">
                  <a:extLst>
                    <a:ext uri="{9D8B030D-6E8A-4147-A177-3AD203B41FA5}">
                      <a16:colId xmlns:a16="http://schemas.microsoft.com/office/drawing/2014/main" val="2674446659"/>
                    </a:ext>
                  </a:extLst>
                </a:gridCol>
                <a:gridCol w="2894424">
                  <a:extLst>
                    <a:ext uri="{9D8B030D-6E8A-4147-A177-3AD203B41FA5}">
                      <a16:colId xmlns:a16="http://schemas.microsoft.com/office/drawing/2014/main" val="2165246359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점검과목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spc="-1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◎  본부    ○ 글로벌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u="none" strike="noStrike" kern="1200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점검항목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49737" y="1546688"/>
            <a:ext cx="2699950" cy="16250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5" name="이등변 삼각형 24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6665970" y="1618241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125919" y="1813909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신규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532571" y="1813909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변경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719267" y="1817333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945562" y="1808337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삭제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352213" y="1802425"/>
            <a:ext cx="634403" cy="185911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변경이력조회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03698" y="1811198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39549" y="134766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5" name="직사각형 34"/>
          <p:cNvSpPr/>
          <p:nvPr/>
        </p:nvSpPr>
        <p:spPr bwMode="auto">
          <a:xfrm>
            <a:off x="4105323" y="1765043"/>
            <a:ext cx="1933106" cy="292386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043649" y="167403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066143" y="1802425"/>
            <a:ext cx="485742" cy="177598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일괄 출력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055150" y="164286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394259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" name="표 3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5767881"/>
              </p:ext>
            </p:extLst>
          </p:nvPr>
        </p:nvGraphicFramePr>
        <p:xfrm>
          <a:off x="92077" y="58190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32650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MDD-00087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MDD75A86000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8339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일괄출력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상시운영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매뉴얼관리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 점검 </a:t>
                      </a:r>
                      <a:r>
                        <a:rPr lang="ko-KR" altLang="en-US" sz="9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매뉴얼관리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일괄출력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(P19, P32~37: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정용욱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90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69" name="표 6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8471997"/>
              </p:ext>
            </p:extLst>
          </p:nvPr>
        </p:nvGraphicFramePr>
        <p:xfrm>
          <a:off x="7207250" y="662793"/>
          <a:ext cx="2606675" cy="4365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메뉴얼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관리 내용을 보고서 형식으로 전체 출력한다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출력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내용 항목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추출 요건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체크포인트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 방법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관련규정 및 지침 등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※ 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보고서 출력 항목 재정의 필요하다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ko-KR" altLang="en-US" sz="80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sp>
        <p:nvSpPr>
          <p:cNvPr id="4" name="양쪽 모서리가 둥근 사각형 3"/>
          <p:cNvSpPr/>
          <p:nvPr/>
        </p:nvSpPr>
        <p:spPr bwMode="auto">
          <a:xfrm>
            <a:off x="239550" y="1179414"/>
            <a:ext cx="16036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829361" fontAlgn="ctr"/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점검 매뉴얼관리</a:t>
            </a:r>
          </a:p>
        </p:txBody>
      </p:sp>
      <p:sp>
        <p:nvSpPr>
          <p:cNvPr id="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39551" y="1367785"/>
            <a:ext cx="672639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8" name="표 17"/>
          <p:cNvGraphicFramePr>
            <a:graphicFrameLocks noGrp="1"/>
          </p:cNvGraphicFramePr>
          <p:nvPr>
            <p:extLst/>
          </p:nvPr>
        </p:nvGraphicFramePr>
        <p:xfrm>
          <a:off x="239549" y="2057429"/>
          <a:ext cx="6761561" cy="147040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7404">
                  <a:extLst>
                    <a:ext uri="{9D8B030D-6E8A-4147-A177-3AD203B41FA5}">
                      <a16:colId xmlns:a16="http://schemas.microsoft.com/office/drawing/2014/main" val="765845881"/>
                    </a:ext>
                  </a:extLst>
                </a:gridCol>
                <a:gridCol w="440574">
                  <a:extLst>
                    <a:ext uri="{9D8B030D-6E8A-4147-A177-3AD203B41FA5}">
                      <a16:colId xmlns:a16="http://schemas.microsoft.com/office/drawing/2014/main" val="3972239332"/>
                    </a:ext>
                  </a:extLst>
                </a:gridCol>
                <a:gridCol w="395252">
                  <a:extLst>
                    <a:ext uri="{9D8B030D-6E8A-4147-A177-3AD203B41FA5}">
                      <a16:colId xmlns:a16="http://schemas.microsoft.com/office/drawing/2014/main" val="2426106912"/>
                    </a:ext>
                  </a:extLst>
                </a:gridCol>
                <a:gridCol w="1516676">
                  <a:extLst>
                    <a:ext uri="{9D8B030D-6E8A-4147-A177-3AD203B41FA5}">
                      <a16:colId xmlns:a16="http://schemas.microsoft.com/office/drawing/2014/main" val="157696043"/>
                    </a:ext>
                  </a:extLst>
                </a:gridCol>
                <a:gridCol w="376921">
                  <a:extLst>
                    <a:ext uri="{9D8B030D-6E8A-4147-A177-3AD203B41FA5}">
                      <a16:colId xmlns:a16="http://schemas.microsoft.com/office/drawing/2014/main" val="1421297000"/>
                    </a:ext>
                  </a:extLst>
                </a:gridCol>
                <a:gridCol w="576651">
                  <a:extLst>
                    <a:ext uri="{9D8B030D-6E8A-4147-A177-3AD203B41FA5}">
                      <a16:colId xmlns:a16="http://schemas.microsoft.com/office/drawing/2014/main" val="3582745889"/>
                    </a:ext>
                  </a:extLst>
                </a:gridCol>
                <a:gridCol w="654577">
                  <a:extLst>
                    <a:ext uri="{9D8B030D-6E8A-4147-A177-3AD203B41FA5}">
                      <a16:colId xmlns:a16="http://schemas.microsoft.com/office/drawing/2014/main" val="461435787"/>
                    </a:ext>
                  </a:extLst>
                </a:gridCol>
                <a:gridCol w="471451">
                  <a:extLst>
                    <a:ext uri="{9D8B030D-6E8A-4147-A177-3AD203B41FA5}">
                      <a16:colId xmlns:a16="http://schemas.microsoft.com/office/drawing/2014/main" val="2502540127"/>
                    </a:ext>
                  </a:extLst>
                </a:gridCol>
                <a:gridCol w="471451">
                  <a:extLst>
                    <a:ext uri="{9D8B030D-6E8A-4147-A177-3AD203B41FA5}">
                      <a16:colId xmlns:a16="http://schemas.microsoft.com/office/drawing/2014/main" val="1440062905"/>
                    </a:ext>
                  </a:extLst>
                </a:gridCol>
                <a:gridCol w="584443">
                  <a:extLst>
                    <a:ext uri="{9D8B030D-6E8A-4147-A177-3AD203B41FA5}">
                      <a16:colId xmlns:a16="http://schemas.microsoft.com/office/drawing/2014/main" val="1447650789"/>
                    </a:ext>
                  </a:extLst>
                </a:gridCol>
                <a:gridCol w="411843">
                  <a:extLst>
                    <a:ext uri="{9D8B030D-6E8A-4147-A177-3AD203B41FA5}">
                      <a16:colId xmlns:a16="http://schemas.microsoft.com/office/drawing/2014/main" val="611776971"/>
                    </a:ext>
                  </a:extLst>
                </a:gridCol>
                <a:gridCol w="544318">
                  <a:extLst>
                    <a:ext uri="{9D8B030D-6E8A-4147-A177-3AD203B41FA5}">
                      <a16:colId xmlns:a16="http://schemas.microsoft.com/office/drawing/2014/main" val="457614486"/>
                    </a:ext>
                  </a:extLst>
                </a:gridCol>
              </a:tblGrid>
              <a:tr h="24748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업무구분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항목코드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항목명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신규일자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적용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변경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점검구분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해제일자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결재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변경구분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7910169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41001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취소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정정거래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2009-05-01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9999-12-31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결재중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 수정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3076989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41002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기산일거래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2009-05-01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2024-06-19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9999-12-31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 수정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480346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41003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가수금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가지급금거래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2009-05-01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2024-06-17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9999-12-31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 수정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8229297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41004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고액 입금거래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2009-05-01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2018-01-30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9999-12-31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요건수정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5496841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41005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타행환 송금거래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2009-05-01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2024-06-19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9999-12-31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 수정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6592906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4309710"/>
                  </a:ext>
                </a:extLst>
              </a:tr>
            </a:tbl>
          </a:graphicData>
        </a:graphic>
      </p:graphicFrame>
      <p:graphicFrame>
        <p:nvGraphicFramePr>
          <p:cNvPr id="23" name="내용 개체 틀 121"/>
          <p:cNvGraphicFramePr>
            <a:graphicFrameLocks/>
          </p:cNvGraphicFramePr>
          <p:nvPr>
            <p:extLst/>
          </p:nvPr>
        </p:nvGraphicFramePr>
        <p:xfrm>
          <a:off x="265605" y="1504515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447212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1447212">
                  <a:extLst>
                    <a:ext uri="{9D8B030D-6E8A-4147-A177-3AD203B41FA5}">
                      <a16:colId xmlns:a16="http://schemas.microsoft.com/office/drawing/2014/main" val="2674446659"/>
                    </a:ext>
                  </a:extLst>
                </a:gridCol>
                <a:gridCol w="2894424">
                  <a:extLst>
                    <a:ext uri="{9D8B030D-6E8A-4147-A177-3AD203B41FA5}">
                      <a16:colId xmlns:a16="http://schemas.microsoft.com/office/drawing/2014/main" val="2165246359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점검과목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spc="-1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◎  본부    ○ 글로벌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u="none" strike="noStrike" kern="1200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점검항목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49737" y="1546688"/>
            <a:ext cx="2699950" cy="16250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5" name="이등변 삼각형 24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6665970" y="1618241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125919" y="1813909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신규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532571" y="1813909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변경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719267" y="1817333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945562" y="1808337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삭제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352213" y="1802425"/>
            <a:ext cx="634403" cy="185911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변경이력조회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03698" y="1811198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066143" y="1802425"/>
            <a:ext cx="485742" cy="177598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일괄 출력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058746" y="163743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37" name="그림 3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429270" y="2038014"/>
            <a:ext cx="3045614" cy="3158154"/>
          </a:xfrm>
          <a:prstGeom prst="rect">
            <a:avLst/>
          </a:prstGeom>
        </p:spPr>
      </p:pic>
      <p:sp>
        <p:nvSpPr>
          <p:cNvPr id="20" name="모서리가 둥근 직사각형 19"/>
          <p:cNvSpPr/>
          <p:nvPr/>
        </p:nvSpPr>
        <p:spPr bwMode="auto">
          <a:xfrm>
            <a:off x="3974884" y="3882366"/>
            <a:ext cx="2073727" cy="319757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indent="-85725" algn="ctr"/>
            <a:r>
              <a:rPr kumimoji="0" lang="ko-KR" altLang="en-US" sz="1200" b="1" i="0" u="none" strike="noStrike" kern="0" cap="none" normalizeH="0" baseline="0" noProof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보고서 양식 파일 전달 예정</a:t>
            </a:r>
            <a:endParaRPr lang="en-US" altLang="ko-KR" sz="1200" dirty="0">
              <a:solidFill>
                <a:schemeClr val="bg1"/>
              </a:solidFill>
              <a:latin typeface="KB금융 본문체 Bold" panose="020B0803000000000000" pitchFamily="50" charset="-127"/>
              <a:ea typeface="KB금융 본문체 Bold" panose="020B08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102817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" name="표 3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1934746"/>
              </p:ext>
            </p:extLst>
          </p:nvPr>
        </p:nvGraphicFramePr>
        <p:xfrm>
          <a:off x="92077" y="58190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32650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MDD-00087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MDD75A86005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8339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점검 매뉴얼 신규 등록</a:t>
                      </a:r>
                      <a:endParaRPr lang="ko-KR" altLang="en-US" sz="120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상시운영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매뉴얼관리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 점검 </a:t>
                      </a:r>
                      <a:r>
                        <a:rPr lang="ko-KR" altLang="en-US" sz="9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매뉴얼관리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점검</a:t>
                      </a:r>
                      <a:r>
                        <a:rPr lang="en-US" altLang="ko-KR" sz="90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매뉴얼 신규 등록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(P19, P32~37: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이미선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90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69" name="표 6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8228647"/>
              </p:ext>
            </p:extLst>
          </p:nvPr>
        </p:nvGraphicFramePr>
        <p:xfrm>
          <a:off x="7207250" y="662793"/>
          <a:ext cx="2606675" cy="4888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 매뉴얼관리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 본부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클릭 시 호출 되는 팝업 화면 동일한 구성으로 신규 화면을 만든다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참고 화면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메뉴얼 신규 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]: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MDD75A80005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기존 본부 점검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메뉴얼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관리 테이블에 본부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글로벌 구분 여부 컬럼 추가해 동일 테이블에 해당 내용들을 저장한다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57225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8846583"/>
                  </a:ext>
                </a:extLst>
              </a:tr>
            </a:tbl>
          </a:graphicData>
        </a:graphic>
      </p:graphicFrame>
      <p:sp>
        <p:nvSpPr>
          <p:cNvPr id="4" name="양쪽 모서리가 둥근 사각형 3"/>
          <p:cNvSpPr/>
          <p:nvPr/>
        </p:nvSpPr>
        <p:spPr bwMode="auto">
          <a:xfrm>
            <a:off x="239550" y="1179414"/>
            <a:ext cx="16036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829361" fontAlgn="ctr"/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점검 매뉴얼관리</a:t>
            </a:r>
          </a:p>
        </p:txBody>
      </p:sp>
      <p:sp>
        <p:nvSpPr>
          <p:cNvPr id="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39551" y="1367785"/>
            <a:ext cx="672639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8" name="표 17"/>
          <p:cNvGraphicFramePr>
            <a:graphicFrameLocks noGrp="1"/>
          </p:cNvGraphicFramePr>
          <p:nvPr>
            <p:extLst/>
          </p:nvPr>
        </p:nvGraphicFramePr>
        <p:xfrm>
          <a:off x="239549" y="2057429"/>
          <a:ext cx="6761561" cy="147040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7404">
                  <a:extLst>
                    <a:ext uri="{9D8B030D-6E8A-4147-A177-3AD203B41FA5}">
                      <a16:colId xmlns:a16="http://schemas.microsoft.com/office/drawing/2014/main" val="765845881"/>
                    </a:ext>
                  </a:extLst>
                </a:gridCol>
                <a:gridCol w="440574">
                  <a:extLst>
                    <a:ext uri="{9D8B030D-6E8A-4147-A177-3AD203B41FA5}">
                      <a16:colId xmlns:a16="http://schemas.microsoft.com/office/drawing/2014/main" val="3972239332"/>
                    </a:ext>
                  </a:extLst>
                </a:gridCol>
                <a:gridCol w="395252">
                  <a:extLst>
                    <a:ext uri="{9D8B030D-6E8A-4147-A177-3AD203B41FA5}">
                      <a16:colId xmlns:a16="http://schemas.microsoft.com/office/drawing/2014/main" val="2426106912"/>
                    </a:ext>
                  </a:extLst>
                </a:gridCol>
                <a:gridCol w="1516676">
                  <a:extLst>
                    <a:ext uri="{9D8B030D-6E8A-4147-A177-3AD203B41FA5}">
                      <a16:colId xmlns:a16="http://schemas.microsoft.com/office/drawing/2014/main" val="157696043"/>
                    </a:ext>
                  </a:extLst>
                </a:gridCol>
                <a:gridCol w="376921">
                  <a:extLst>
                    <a:ext uri="{9D8B030D-6E8A-4147-A177-3AD203B41FA5}">
                      <a16:colId xmlns:a16="http://schemas.microsoft.com/office/drawing/2014/main" val="1421297000"/>
                    </a:ext>
                  </a:extLst>
                </a:gridCol>
                <a:gridCol w="576651">
                  <a:extLst>
                    <a:ext uri="{9D8B030D-6E8A-4147-A177-3AD203B41FA5}">
                      <a16:colId xmlns:a16="http://schemas.microsoft.com/office/drawing/2014/main" val="3582745889"/>
                    </a:ext>
                  </a:extLst>
                </a:gridCol>
                <a:gridCol w="654577">
                  <a:extLst>
                    <a:ext uri="{9D8B030D-6E8A-4147-A177-3AD203B41FA5}">
                      <a16:colId xmlns:a16="http://schemas.microsoft.com/office/drawing/2014/main" val="461435787"/>
                    </a:ext>
                  </a:extLst>
                </a:gridCol>
                <a:gridCol w="471451">
                  <a:extLst>
                    <a:ext uri="{9D8B030D-6E8A-4147-A177-3AD203B41FA5}">
                      <a16:colId xmlns:a16="http://schemas.microsoft.com/office/drawing/2014/main" val="2502540127"/>
                    </a:ext>
                  </a:extLst>
                </a:gridCol>
                <a:gridCol w="471451">
                  <a:extLst>
                    <a:ext uri="{9D8B030D-6E8A-4147-A177-3AD203B41FA5}">
                      <a16:colId xmlns:a16="http://schemas.microsoft.com/office/drawing/2014/main" val="1440062905"/>
                    </a:ext>
                  </a:extLst>
                </a:gridCol>
                <a:gridCol w="584443">
                  <a:extLst>
                    <a:ext uri="{9D8B030D-6E8A-4147-A177-3AD203B41FA5}">
                      <a16:colId xmlns:a16="http://schemas.microsoft.com/office/drawing/2014/main" val="1447650789"/>
                    </a:ext>
                  </a:extLst>
                </a:gridCol>
                <a:gridCol w="411843">
                  <a:extLst>
                    <a:ext uri="{9D8B030D-6E8A-4147-A177-3AD203B41FA5}">
                      <a16:colId xmlns:a16="http://schemas.microsoft.com/office/drawing/2014/main" val="611776971"/>
                    </a:ext>
                  </a:extLst>
                </a:gridCol>
                <a:gridCol w="544318">
                  <a:extLst>
                    <a:ext uri="{9D8B030D-6E8A-4147-A177-3AD203B41FA5}">
                      <a16:colId xmlns:a16="http://schemas.microsoft.com/office/drawing/2014/main" val="457614486"/>
                    </a:ext>
                  </a:extLst>
                </a:gridCol>
              </a:tblGrid>
              <a:tr h="24748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업무구분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항목코드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항목명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신규일자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적용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변경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점검구분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해제일자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결재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변경구분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7910169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41001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취소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정정거래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2009-05-01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9999-12-31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결재중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 수정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3076989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41002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기산일거래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2009-05-01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2024-06-19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9999-12-31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 수정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480346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41003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가수금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가지급금거래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2009-05-01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2024-06-17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9999-12-31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 수정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8229297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41004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고액 입금거래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2009-05-01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2018-01-30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9999-12-31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요건수정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5496841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41005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타행환 송금거래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2009-05-01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2024-06-19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9999-12-31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 수정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6592906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4309710"/>
                  </a:ext>
                </a:extLst>
              </a:tr>
            </a:tbl>
          </a:graphicData>
        </a:graphic>
      </p:graphicFrame>
      <p:graphicFrame>
        <p:nvGraphicFramePr>
          <p:cNvPr id="23" name="내용 개체 틀 12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892195865"/>
              </p:ext>
            </p:extLst>
          </p:nvPr>
        </p:nvGraphicFramePr>
        <p:xfrm>
          <a:off x="265605" y="1504515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447212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1447212">
                  <a:extLst>
                    <a:ext uri="{9D8B030D-6E8A-4147-A177-3AD203B41FA5}">
                      <a16:colId xmlns:a16="http://schemas.microsoft.com/office/drawing/2014/main" val="2674446659"/>
                    </a:ext>
                  </a:extLst>
                </a:gridCol>
                <a:gridCol w="2894424">
                  <a:extLst>
                    <a:ext uri="{9D8B030D-6E8A-4147-A177-3AD203B41FA5}">
                      <a16:colId xmlns:a16="http://schemas.microsoft.com/office/drawing/2014/main" val="2165246359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점검과목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spc="-1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◎ 본부    ○ 글로벌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u="none" strike="noStrike" kern="1200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점검항목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927720" y="2105631"/>
            <a:ext cx="2699950" cy="16250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5" name="이등변 삼각형 24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6443953" y="2177184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469171" y="2372852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신규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875823" y="2372852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변경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062519" y="2376276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288814" y="2367280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삭제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695465" y="2361368"/>
            <a:ext cx="634403" cy="185911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변경이력조회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381681" y="2370141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9" name="직사각형 18"/>
          <p:cNvSpPr/>
          <p:nvPr/>
        </p:nvSpPr>
        <p:spPr bwMode="auto">
          <a:xfrm>
            <a:off x="4456398" y="2312935"/>
            <a:ext cx="1239067" cy="303437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348109" y="223297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C7B6CEFD-186E-AC88-7979-44000562DD84}"/>
              </a:ext>
            </a:extLst>
          </p:cNvPr>
          <p:cNvSpPr/>
          <p:nvPr/>
        </p:nvSpPr>
        <p:spPr>
          <a:xfrm>
            <a:off x="2715280" y="2012933"/>
            <a:ext cx="4282736" cy="4288114"/>
          </a:xfrm>
          <a:prstGeom prst="rect">
            <a:avLst/>
          </a:prstGeom>
          <a:solidFill>
            <a:schemeClr val="bg1"/>
          </a:solidFill>
          <a:ln w="15875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Calibri"/>
              <a:ea typeface="맑은 고딕"/>
              <a:cs typeface="+mn-cs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061CAA5C-4EB7-4E67-85DA-E29F266F438F}"/>
              </a:ext>
            </a:extLst>
          </p:cNvPr>
          <p:cNvSpPr/>
          <p:nvPr/>
        </p:nvSpPr>
        <p:spPr>
          <a:xfrm>
            <a:off x="2727496" y="2021019"/>
            <a:ext cx="4273614" cy="217588"/>
          </a:xfrm>
          <a:prstGeom prst="rect">
            <a:avLst/>
          </a:prstGeom>
          <a:solidFill>
            <a:srgbClr val="625950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742856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1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D494E968-62DE-442C-9EE6-DD6B90DDF615}"/>
              </a:ext>
            </a:extLst>
          </p:cNvPr>
          <p:cNvSpPr/>
          <p:nvPr/>
        </p:nvSpPr>
        <p:spPr bwMode="auto">
          <a:xfrm>
            <a:off x="6821723" y="2066778"/>
            <a:ext cx="134368" cy="119770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lIns="0" tIns="0" rIns="0" bIns="0" rtlCol="0" anchor="ctr" anchorCtr="0">
            <a:noAutofit/>
          </a:bodyPr>
          <a:lstStyle/>
          <a:p>
            <a:pPr marL="0" marR="0" lvl="0" indent="0" algn="ctr" defTabSz="742856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6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X</a:t>
            </a:r>
            <a:endParaRPr kumimoji="1" lang="ko-KR" altLang="en-US" sz="6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60B97788-F115-4669-A08F-46D3A46FC7DA}"/>
              </a:ext>
            </a:extLst>
          </p:cNvPr>
          <p:cNvSpPr txBox="1"/>
          <p:nvPr/>
        </p:nvSpPr>
        <p:spPr>
          <a:xfrm>
            <a:off x="2762389" y="2021019"/>
            <a:ext cx="1444242" cy="215444"/>
          </a:xfrm>
          <a:prstGeom prst="rect">
            <a:avLst/>
          </a:prstGeom>
          <a:noFill/>
        </p:spPr>
        <p:txBody>
          <a:bodyPr wrap="square" lIns="29250" rtlCol="0">
            <a:spAutoFit/>
          </a:bodyPr>
          <a:lstStyle/>
          <a:p>
            <a:pPr marL="0" marR="0" lvl="0" indent="0" algn="l" defTabSz="742856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매뉴얼</a:t>
            </a: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 </a:t>
            </a:r>
            <a:r>
              <a:rPr lang="ko-KR" altLang="en-US" sz="8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신규 등록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41" name="표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682169"/>
              </p:ext>
            </p:extLst>
          </p:nvPr>
        </p:nvGraphicFramePr>
        <p:xfrm>
          <a:off x="2854729" y="2376273"/>
          <a:ext cx="3991056" cy="45178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9579">
                  <a:extLst>
                    <a:ext uri="{9D8B030D-6E8A-4147-A177-3AD203B41FA5}">
                      <a16:colId xmlns:a16="http://schemas.microsoft.com/office/drawing/2014/main" val="3059750837"/>
                    </a:ext>
                  </a:extLst>
                </a:gridCol>
                <a:gridCol w="1013740">
                  <a:extLst>
                    <a:ext uri="{9D8B030D-6E8A-4147-A177-3AD203B41FA5}">
                      <a16:colId xmlns:a16="http://schemas.microsoft.com/office/drawing/2014/main" val="900260192"/>
                    </a:ext>
                  </a:extLst>
                </a:gridCol>
                <a:gridCol w="673331">
                  <a:extLst>
                    <a:ext uri="{9D8B030D-6E8A-4147-A177-3AD203B41FA5}">
                      <a16:colId xmlns:a16="http://schemas.microsoft.com/office/drawing/2014/main" val="3941245720"/>
                    </a:ext>
                  </a:extLst>
                </a:gridCol>
                <a:gridCol w="1714406">
                  <a:extLst>
                    <a:ext uri="{9D8B030D-6E8A-4147-A177-3AD203B41FA5}">
                      <a16:colId xmlns:a16="http://schemas.microsoft.com/office/drawing/2014/main" val="2662682093"/>
                    </a:ext>
                  </a:extLst>
                </a:gridCol>
              </a:tblGrid>
              <a:tr h="22589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최종적용일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7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등록감사역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8259913"/>
                  </a:ext>
                </a:extLst>
              </a:tr>
              <a:tr h="22589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등록구분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 </a:t>
                      </a:r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[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점검항목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[41014] 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증권대행배당금통장 관리 적정성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3494869"/>
                  </a:ext>
                </a:extLst>
              </a:tr>
            </a:tbl>
          </a:graphicData>
        </a:graphic>
      </p:graphicFrame>
      <p:graphicFrame>
        <p:nvGraphicFramePr>
          <p:cNvPr id="42" name="표 41"/>
          <p:cNvGraphicFramePr>
            <a:graphicFrameLocks noGrp="1"/>
          </p:cNvGraphicFramePr>
          <p:nvPr>
            <p:extLst/>
          </p:nvPr>
        </p:nvGraphicFramePr>
        <p:xfrm>
          <a:off x="2864985" y="2926109"/>
          <a:ext cx="3991059" cy="29431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9579">
                  <a:extLst>
                    <a:ext uri="{9D8B030D-6E8A-4147-A177-3AD203B41FA5}">
                      <a16:colId xmlns:a16="http://schemas.microsoft.com/office/drawing/2014/main" val="3059750837"/>
                    </a:ext>
                  </a:extLst>
                </a:gridCol>
                <a:gridCol w="271964">
                  <a:extLst>
                    <a:ext uri="{9D8B030D-6E8A-4147-A177-3AD203B41FA5}">
                      <a16:colId xmlns:a16="http://schemas.microsoft.com/office/drawing/2014/main" val="900260192"/>
                    </a:ext>
                  </a:extLst>
                </a:gridCol>
                <a:gridCol w="2161310">
                  <a:extLst>
                    <a:ext uri="{9D8B030D-6E8A-4147-A177-3AD203B41FA5}">
                      <a16:colId xmlns:a16="http://schemas.microsoft.com/office/drawing/2014/main" val="593288463"/>
                    </a:ext>
                  </a:extLst>
                </a:gridCol>
                <a:gridCol w="543021">
                  <a:extLst>
                    <a:ext uri="{9D8B030D-6E8A-4147-A177-3AD203B41FA5}">
                      <a16:colId xmlns:a16="http://schemas.microsoft.com/office/drawing/2014/main" val="670917232"/>
                    </a:ext>
                  </a:extLst>
                </a:gridCol>
                <a:gridCol w="425185">
                  <a:extLst>
                    <a:ext uri="{9D8B030D-6E8A-4147-A177-3AD203B41FA5}">
                      <a16:colId xmlns:a16="http://schemas.microsoft.com/office/drawing/2014/main" val="2341992573"/>
                    </a:ext>
                  </a:extLst>
                </a:gridCol>
              </a:tblGrid>
              <a:tr h="30153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배경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8259913"/>
                  </a:ext>
                </a:extLst>
              </a:tr>
              <a:tr h="30526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추출요건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l" latinLnBrk="1"/>
                      <a:endParaRPr lang="ko-KR" altLang="en-US" sz="4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11979977"/>
                  </a:ext>
                </a:extLst>
              </a:tr>
              <a:tr h="33250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체크포인트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l" latinLnBrk="1"/>
                      <a:endParaRPr lang="ko-KR" altLang="en-US" sz="4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75060019"/>
                  </a:ext>
                </a:extLst>
              </a:tr>
              <a:tr h="35744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l" latinLnBrk="1"/>
                      <a:endParaRPr lang="ko-KR" altLang="en-US" sz="4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82551172"/>
                  </a:ext>
                </a:extLst>
              </a:tr>
              <a:tr h="38039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관련규정 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및 지침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l" latinLnBrk="1"/>
                      <a:endParaRPr lang="ko-KR" altLang="en-US" sz="4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48673082"/>
                  </a:ext>
                </a:extLst>
              </a:tr>
              <a:tr h="30153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사고사례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8834894"/>
                  </a:ext>
                </a:extLst>
              </a:tr>
              <a:tr h="30153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사고유형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4135633"/>
                  </a:ext>
                </a:extLst>
              </a:tr>
              <a:tr h="180690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No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파일명 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 크기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9935475"/>
                  </a:ext>
                </a:extLst>
              </a:tr>
              <a:tr h="18069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30698527"/>
                  </a:ext>
                </a:extLst>
              </a:tr>
              <a:tr h="30153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사유입력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l" latinLnBrk="1"/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endParaRPr lang="ko-KR" altLang="en-US" sz="4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09289598"/>
                  </a:ext>
                </a:extLst>
              </a:tr>
            </a:tbl>
          </a:graphicData>
        </a:graphic>
      </p:graphicFrame>
      <p:sp>
        <p:nvSpPr>
          <p:cNvPr id="43" name="직사각형 4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493919" y="2408398"/>
            <a:ext cx="821497" cy="17365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2024-03-04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44" name="그림 4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34319" y="2399537"/>
            <a:ext cx="181098" cy="173224"/>
          </a:xfrm>
          <a:prstGeom prst="rect">
            <a:avLst/>
          </a:prstGeom>
        </p:spPr>
      </p:pic>
      <p:sp>
        <p:nvSpPr>
          <p:cNvPr id="4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001698" y="5401195"/>
            <a:ext cx="325819" cy="128759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noProof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첨부</a:t>
            </a:r>
            <a:endParaRPr kumimoji="0" lang="ko-KR" alt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691188" y="1813909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신규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097840" y="1813909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변경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284536" y="1817333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510831" y="1808337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삭제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917482" y="1802425"/>
            <a:ext cx="634403" cy="185911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변경이력조회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03698" y="1811198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281033" y="5949020"/>
            <a:ext cx="548138" cy="177459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신규 등록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499712" y="5945453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닫기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4" name="직사각형 53"/>
          <p:cNvSpPr/>
          <p:nvPr/>
        </p:nvSpPr>
        <p:spPr bwMode="auto">
          <a:xfrm>
            <a:off x="4640671" y="1771963"/>
            <a:ext cx="463507" cy="277731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55" name="구부러진 연결선 54"/>
          <p:cNvCxnSpPr>
            <a:stCxn id="54" idx="2"/>
          </p:cNvCxnSpPr>
          <p:nvPr/>
        </p:nvCxnSpPr>
        <p:spPr bwMode="auto">
          <a:xfrm rot="5400000">
            <a:off x="4186739" y="1470328"/>
            <a:ext cx="106321" cy="1265053"/>
          </a:xfrm>
          <a:prstGeom prst="curvedConnector2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56" name="타원 5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727496" y="183509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49737" y="1546688"/>
            <a:ext cx="2699950" cy="16250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8" name="이등변 삼각형 57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6665970" y="1618241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0" name="타원 5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298224" y="578946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2" name="모서리가 둥근 직사각형 61"/>
          <p:cNvSpPr/>
          <p:nvPr/>
        </p:nvSpPr>
        <p:spPr bwMode="auto">
          <a:xfrm>
            <a:off x="3697894" y="5151575"/>
            <a:ext cx="2852434" cy="536634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indent="-85725"/>
            <a:r>
              <a:rPr kumimoji="0" lang="ko-KR" altLang="en-US" sz="1200" b="1" kern="0" dirty="0" err="1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본부상시</a:t>
            </a:r>
            <a:r>
              <a:rPr kumimoji="0" lang="ko-KR" altLang="en-US" sz="1200" b="1" kern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및 </a:t>
            </a:r>
            <a:r>
              <a:rPr kumimoji="0" lang="ko-KR" altLang="en-US" sz="1200" b="1" kern="0" dirty="0" err="1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글로벌상시</a:t>
            </a:r>
            <a:r>
              <a:rPr kumimoji="0" lang="ko-KR" altLang="en-US" sz="1200" b="1" kern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메뉴 통합하여 사용</a:t>
            </a:r>
            <a:endParaRPr kumimoji="0" lang="en-US" altLang="ko-KR" sz="1200" b="1" kern="0" dirty="0" smtClean="0">
              <a:solidFill>
                <a:schemeClr val="bg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85725" indent="-85725"/>
            <a:r>
              <a:rPr kumimoji="0" lang="ko-KR" altLang="en-US" sz="1200" b="1" i="0" u="none" strike="noStrike" kern="0" cap="none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신규 및 변경 등록 시 </a:t>
            </a:r>
            <a:r>
              <a:rPr kumimoji="0" lang="ko-KR" altLang="en-US" sz="1200" b="1" kern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승인 요청 기능 추가</a:t>
            </a:r>
            <a:endParaRPr kumimoji="0" lang="en-US" altLang="ko-KR" sz="1200" b="1" kern="0" dirty="0" smtClean="0">
              <a:solidFill>
                <a:schemeClr val="bg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898480" y="5947994"/>
            <a:ext cx="548138" cy="177459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승인요청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164802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" name="표 3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5142552"/>
              </p:ext>
            </p:extLst>
          </p:nvPr>
        </p:nvGraphicFramePr>
        <p:xfrm>
          <a:off x="92077" y="58190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32650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MDD-00087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MDD75A86006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8339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점검 매뉴얼 변경등록</a:t>
                      </a:r>
                      <a:endParaRPr lang="ko-KR" altLang="en-US" sz="120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9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상시운영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매뉴얼관리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본부점검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매뉴얼관리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점검 매뉴얼 변경등록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(P19, P32~37: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이미선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9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69" name="표 6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1152821"/>
              </p:ext>
            </p:extLst>
          </p:nvPr>
        </p:nvGraphicFramePr>
        <p:xfrm>
          <a:off x="7207250" y="662793"/>
          <a:ext cx="2606675" cy="5279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 매뉴얼관리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 본부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변경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클릭 시 호출 되는 팝업 화면 동일한 구성으로 신규 화면을 만든다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참고 화면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메뉴얼 변경 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]: MDD75A80006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 매뉴얼관리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클릭 시 호출 되는 팝업 화면 동일한 구성으로 신규 화면을 만든다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참고 화면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메뉴얼 삭제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]: MDD75A80003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수정등록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클릭 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변경이력에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 하겠습니까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? YES/NO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팝업 생성하여 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[YES]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 경우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변경이력에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등록하고 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[NO]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 경우 변경 이력을 남기지 않는다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 요청 기능 추가한다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57225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8846583"/>
                  </a:ext>
                </a:extLst>
              </a:tr>
            </a:tbl>
          </a:graphicData>
        </a:graphic>
      </p:graphicFrame>
      <p:sp>
        <p:nvSpPr>
          <p:cNvPr id="4" name="양쪽 모서리가 둥근 사각형 3"/>
          <p:cNvSpPr/>
          <p:nvPr/>
        </p:nvSpPr>
        <p:spPr bwMode="auto">
          <a:xfrm>
            <a:off x="239550" y="1179414"/>
            <a:ext cx="16036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829361" fontAlgn="ctr"/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점검 매뉴얼관리</a:t>
            </a:r>
          </a:p>
        </p:txBody>
      </p:sp>
      <p:sp>
        <p:nvSpPr>
          <p:cNvPr id="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39551" y="1367785"/>
            <a:ext cx="672639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8" name="표 17"/>
          <p:cNvGraphicFramePr>
            <a:graphicFrameLocks noGrp="1"/>
          </p:cNvGraphicFramePr>
          <p:nvPr>
            <p:extLst/>
          </p:nvPr>
        </p:nvGraphicFramePr>
        <p:xfrm>
          <a:off x="239549" y="2057429"/>
          <a:ext cx="6761561" cy="147040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7404">
                  <a:extLst>
                    <a:ext uri="{9D8B030D-6E8A-4147-A177-3AD203B41FA5}">
                      <a16:colId xmlns:a16="http://schemas.microsoft.com/office/drawing/2014/main" val="765845881"/>
                    </a:ext>
                  </a:extLst>
                </a:gridCol>
                <a:gridCol w="440574">
                  <a:extLst>
                    <a:ext uri="{9D8B030D-6E8A-4147-A177-3AD203B41FA5}">
                      <a16:colId xmlns:a16="http://schemas.microsoft.com/office/drawing/2014/main" val="3972239332"/>
                    </a:ext>
                  </a:extLst>
                </a:gridCol>
                <a:gridCol w="395252">
                  <a:extLst>
                    <a:ext uri="{9D8B030D-6E8A-4147-A177-3AD203B41FA5}">
                      <a16:colId xmlns:a16="http://schemas.microsoft.com/office/drawing/2014/main" val="2426106912"/>
                    </a:ext>
                  </a:extLst>
                </a:gridCol>
                <a:gridCol w="1516676">
                  <a:extLst>
                    <a:ext uri="{9D8B030D-6E8A-4147-A177-3AD203B41FA5}">
                      <a16:colId xmlns:a16="http://schemas.microsoft.com/office/drawing/2014/main" val="157696043"/>
                    </a:ext>
                  </a:extLst>
                </a:gridCol>
                <a:gridCol w="376921">
                  <a:extLst>
                    <a:ext uri="{9D8B030D-6E8A-4147-A177-3AD203B41FA5}">
                      <a16:colId xmlns:a16="http://schemas.microsoft.com/office/drawing/2014/main" val="1421297000"/>
                    </a:ext>
                  </a:extLst>
                </a:gridCol>
                <a:gridCol w="576651">
                  <a:extLst>
                    <a:ext uri="{9D8B030D-6E8A-4147-A177-3AD203B41FA5}">
                      <a16:colId xmlns:a16="http://schemas.microsoft.com/office/drawing/2014/main" val="3582745889"/>
                    </a:ext>
                  </a:extLst>
                </a:gridCol>
                <a:gridCol w="654577">
                  <a:extLst>
                    <a:ext uri="{9D8B030D-6E8A-4147-A177-3AD203B41FA5}">
                      <a16:colId xmlns:a16="http://schemas.microsoft.com/office/drawing/2014/main" val="461435787"/>
                    </a:ext>
                  </a:extLst>
                </a:gridCol>
                <a:gridCol w="471451">
                  <a:extLst>
                    <a:ext uri="{9D8B030D-6E8A-4147-A177-3AD203B41FA5}">
                      <a16:colId xmlns:a16="http://schemas.microsoft.com/office/drawing/2014/main" val="2502540127"/>
                    </a:ext>
                  </a:extLst>
                </a:gridCol>
                <a:gridCol w="471451">
                  <a:extLst>
                    <a:ext uri="{9D8B030D-6E8A-4147-A177-3AD203B41FA5}">
                      <a16:colId xmlns:a16="http://schemas.microsoft.com/office/drawing/2014/main" val="1440062905"/>
                    </a:ext>
                  </a:extLst>
                </a:gridCol>
                <a:gridCol w="584443">
                  <a:extLst>
                    <a:ext uri="{9D8B030D-6E8A-4147-A177-3AD203B41FA5}">
                      <a16:colId xmlns:a16="http://schemas.microsoft.com/office/drawing/2014/main" val="1447650789"/>
                    </a:ext>
                  </a:extLst>
                </a:gridCol>
                <a:gridCol w="411843">
                  <a:extLst>
                    <a:ext uri="{9D8B030D-6E8A-4147-A177-3AD203B41FA5}">
                      <a16:colId xmlns:a16="http://schemas.microsoft.com/office/drawing/2014/main" val="611776971"/>
                    </a:ext>
                  </a:extLst>
                </a:gridCol>
                <a:gridCol w="544318">
                  <a:extLst>
                    <a:ext uri="{9D8B030D-6E8A-4147-A177-3AD203B41FA5}">
                      <a16:colId xmlns:a16="http://schemas.microsoft.com/office/drawing/2014/main" val="457614486"/>
                    </a:ext>
                  </a:extLst>
                </a:gridCol>
              </a:tblGrid>
              <a:tr h="24748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업무구분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항목코드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항목명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신규일자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적용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변경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점검구분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해제일자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결재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변경구분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7910169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41001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취소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정정거래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2009-05-01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9999-12-31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결재중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 수정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3076989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41002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기산일거래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2009-05-01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2024-06-19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9999-12-31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 수정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480346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41003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가수금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가지급금거래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2009-05-01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2024-06-17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9999-12-31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 수정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8229297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41004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고액 입금거래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2009-05-01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2018-01-30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9999-12-31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요건수정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5496841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41005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타행환 송금거래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2009-05-01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2024-06-19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9999-12-31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 수정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6592906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4309710"/>
                  </a:ext>
                </a:extLst>
              </a:tr>
            </a:tbl>
          </a:graphicData>
        </a:graphic>
      </p:graphicFrame>
      <p:graphicFrame>
        <p:nvGraphicFramePr>
          <p:cNvPr id="23" name="내용 개체 틀 12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60774718"/>
              </p:ext>
            </p:extLst>
          </p:nvPr>
        </p:nvGraphicFramePr>
        <p:xfrm>
          <a:off x="265605" y="1504515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447212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1447212">
                  <a:extLst>
                    <a:ext uri="{9D8B030D-6E8A-4147-A177-3AD203B41FA5}">
                      <a16:colId xmlns:a16="http://schemas.microsoft.com/office/drawing/2014/main" val="2674446659"/>
                    </a:ext>
                  </a:extLst>
                </a:gridCol>
                <a:gridCol w="2894424">
                  <a:extLst>
                    <a:ext uri="{9D8B030D-6E8A-4147-A177-3AD203B41FA5}">
                      <a16:colId xmlns:a16="http://schemas.microsoft.com/office/drawing/2014/main" val="2165246359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점검과목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spc="-1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◎ 본부    ○ 글로벌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u="none" strike="noStrike" kern="1200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점검항목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742413" y="2150128"/>
            <a:ext cx="2699950" cy="16250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5" name="이등변 삼각형 24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6258646" y="2221681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283864" y="2417349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신규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690516" y="2417349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변경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877212" y="2420773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103507" y="2411777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삭제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510158" y="2405865"/>
            <a:ext cx="634403" cy="185911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변경이력조회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96374" y="2414638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9" name="직사각형 18"/>
          <p:cNvSpPr/>
          <p:nvPr/>
        </p:nvSpPr>
        <p:spPr bwMode="auto">
          <a:xfrm>
            <a:off x="4271091" y="2357432"/>
            <a:ext cx="1239067" cy="303437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162802" y="227747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C7B6CEFD-186E-AC88-7979-44000562DD84}"/>
              </a:ext>
            </a:extLst>
          </p:cNvPr>
          <p:cNvSpPr/>
          <p:nvPr/>
        </p:nvSpPr>
        <p:spPr>
          <a:xfrm>
            <a:off x="2529973" y="2057430"/>
            <a:ext cx="4282736" cy="4318432"/>
          </a:xfrm>
          <a:prstGeom prst="rect">
            <a:avLst/>
          </a:prstGeom>
          <a:solidFill>
            <a:schemeClr val="bg1"/>
          </a:solidFill>
          <a:ln w="15875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Calibri"/>
              <a:ea typeface="맑은 고딕"/>
              <a:cs typeface="+mn-cs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061CAA5C-4EB7-4E67-85DA-E29F266F438F}"/>
              </a:ext>
            </a:extLst>
          </p:cNvPr>
          <p:cNvSpPr/>
          <p:nvPr/>
        </p:nvSpPr>
        <p:spPr>
          <a:xfrm>
            <a:off x="2542189" y="2065516"/>
            <a:ext cx="4273614" cy="217588"/>
          </a:xfrm>
          <a:prstGeom prst="rect">
            <a:avLst/>
          </a:prstGeom>
          <a:solidFill>
            <a:srgbClr val="625950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742856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1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D494E968-62DE-442C-9EE6-DD6B90DDF615}"/>
              </a:ext>
            </a:extLst>
          </p:cNvPr>
          <p:cNvSpPr/>
          <p:nvPr/>
        </p:nvSpPr>
        <p:spPr bwMode="auto">
          <a:xfrm>
            <a:off x="6636416" y="2111275"/>
            <a:ext cx="134368" cy="119770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lIns="0" tIns="0" rIns="0" bIns="0" rtlCol="0" anchor="ctr" anchorCtr="0">
            <a:noAutofit/>
          </a:bodyPr>
          <a:lstStyle/>
          <a:p>
            <a:pPr marL="0" marR="0" lvl="0" indent="0" algn="ctr" defTabSz="742856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6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X</a:t>
            </a:r>
            <a:endParaRPr kumimoji="1" lang="ko-KR" altLang="en-US" sz="6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60B97788-F115-4669-A08F-46D3A46FC7DA}"/>
              </a:ext>
            </a:extLst>
          </p:cNvPr>
          <p:cNvSpPr txBox="1"/>
          <p:nvPr/>
        </p:nvSpPr>
        <p:spPr>
          <a:xfrm>
            <a:off x="2577082" y="2065516"/>
            <a:ext cx="1444242" cy="215444"/>
          </a:xfrm>
          <a:prstGeom prst="rect">
            <a:avLst/>
          </a:prstGeom>
          <a:noFill/>
        </p:spPr>
        <p:txBody>
          <a:bodyPr wrap="square" lIns="29250" rtlCol="0">
            <a:spAutoFit/>
          </a:bodyPr>
          <a:lstStyle/>
          <a:p>
            <a:pPr marL="0" marR="0" lvl="0" indent="0" algn="l" defTabSz="742856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매뉴얼</a:t>
            </a:r>
            <a:r>
              <a:rPr kumimoji="1" lang="ko-KR" altLang="en-US" sz="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 </a:t>
            </a:r>
            <a:r>
              <a:rPr lang="ko-KR" altLang="en-US" sz="8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변경</a:t>
            </a:r>
            <a:r>
              <a:rPr lang="ko-KR" altLang="en-US" sz="8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41" name="표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7310515"/>
              </p:ext>
            </p:extLst>
          </p:nvPr>
        </p:nvGraphicFramePr>
        <p:xfrm>
          <a:off x="2669422" y="2420770"/>
          <a:ext cx="3991056" cy="45178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9579">
                  <a:extLst>
                    <a:ext uri="{9D8B030D-6E8A-4147-A177-3AD203B41FA5}">
                      <a16:colId xmlns:a16="http://schemas.microsoft.com/office/drawing/2014/main" val="3059750837"/>
                    </a:ext>
                  </a:extLst>
                </a:gridCol>
                <a:gridCol w="1013740">
                  <a:extLst>
                    <a:ext uri="{9D8B030D-6E8A-4147-A177-3AD203B41FA5}">
                      <a16:colId xmlns:a16="http://schemas.microsoft.com/office/drawing/2014/main" val="900260192"/>
                    </a:ext>
                  </a:extLst>
                </a:gridCol>
                <a:gridCol w="673331">
                  <a:extLst>
                    <a:ext uri="{9D8B030D-6E8A-4147-A177-3AD203B41FA5}">
                      <a16:colId xmlns:a16="http://schemas.microsoft.com/office/drawing/2014/main" val="3941245720"/>
                    </a:ext>
                  </a:extLst>
                </a:gridCol>
                <a:gridCol w="1714406">
                  <a:extLst>
                    <a:ext uri="{9D8B030D-6E8A-4147-A177-3AD203B41FA5}">
                      <a16:colId xmlns:a16="http://schemas.microsoft.com/office/drawing/2014/main" val="2662682093"/>
                    </a:ext>
                  </a:extLst>
                </a:gridCol>
              </a:tblGrid>
              <a:tr h="22589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최종적용일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7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등록감사역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8259913"/>
                  </a:ext>
                </a:extLst>
              </a:tr>
              <a:tr h="22589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등록구분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 </a:t>
                      </a:r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[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점검항목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[41014] 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증권대행배당금통장 관리 적정성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3494869"/>
                  </a:ext>
                </a:extLst>
              </a:tr>
            </a:tbl>
          </a:graphicData>
        </a:graphic>
      </p:graphicFrame>
      <p:graphicFrame>
        <p:nvGraphicFramePr>
          <p:cNvPr id="42" name="표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9599084"/>
              </p:ext>
            </p:extLst>
          </p:nvPr>
        </p:nvGraphicFramePr>
        <p:xfrm>
          <a:off x="2679678" y="2970606"/>
          <a:ext cx="3991057" cy="30240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9579">
                  <a:extLst>
                    <a:ext uri="{9D8B030D-6E8A-4147-A177-3AD203B41FA5}">
                      <a16:colId xmlns:a16="http://schemas.microsoft.com/office/drawing/2014/main" val="3059750837"/>
                    </a:ext>
                  </a:extLst>
                </a:gridCol>
                <a:gridCol w="363405">
                  <a:extLst>
                    <a:ext uri="{9D8B030D-6E8A-4147-A177-3AD203B41FA5}">
                      <a16:colId xmlns:a16="http://schemas.microsoft.com/office/drawing/2014/main" val="900260192"/>
                    </a:ext>
                  </a:extLst>
                </a:gridCol>
                <a:gridCol w="1337334">
                  <a:extLst>
                    <a:ext uri="{9D8B030D-6E8A-4147-A177-3AD203B41FA5}">
                      <a16:colId xmlns:a16="http://schemas.microsoft.com/office/drawing/2014/main" val="2796846064"/>
                    </a:ext>
                  </a:extLst>
                </a:gridCol>
                <a:gridCol w="850370">
                  <a:extLst>
                    <a:ext uri="{9D8B030D-6E8A-4147-A177-3AD203B41FA5}">
                      <a16:colId xmlns:a16="http://schemas.microsoft.com/office/drawing/2014/main" val="497793496"/>
                    </a:ext>
                  </a:extLst>
                </a:gridCol>
                <a:gridCol w="850369">
                  <a:extLst>
                    <a:ext uri="{9D8B030D-6E8A-4147-A177-3AD203B41FA5}">
                      <a16:colId xmlns:a16="http://schemas.microsoft.com/office/drawing/2014/main" val="1073860581"/>
                    </a:ext>
                  </a:extLst>
                </a:gridCol>
              </a:tblGrid>
              <a:tr h="27135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배경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4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본부부서 고액 입금 거래의 적정성여부 점검</a:t>
                      </a:r>
                      <a:endParaRPr lang="ko-KR" altLang="en-US" sz="4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8259913"/>
                  </a:ext>
                </a:extLst>
              </a:tr>
              <a:tr h="332509"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추출요건</a:t>
                      </a:r>
                      <a:endParaRPr lang="ko-KR" altLang="en-US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l" latinLnBrk="1"/>
                      <a:r>
                        <a:rPr lang="en-US" altLang="ko-KR" sz="4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- 2009.08.31 </a:t>
                      </a:r>
                      <a:r>
                        <a:rPr lang="ko-KR" altLang="en-US" sz="4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 정의 </a:t>
                      </a:r>
                      <a:r>
                        <a:rPr lang="en-US" altLang="ko-KR" sz="4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- 2016.9.30 </a:t>
                      </a:r>
                      <a:r>
                        <a:rPr lang="ko-KR" altLang="en-US" sz="4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 변경 </a:t>
                      </a:r>
                      <a:endParaRPr lang="en-US" altLang="ko-KR" sz="400" b="0" baseline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l" latinLnBrk="1"/>
                      <a:r>
                        <a:rPr lang="en-US" altLang="ko-KR" sz="4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</a:t>
                      </a:r>
                      <a:r>
                        <a:rPr lang="ko-KR" altLang="en-US" sz="400" b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창구거래만</a:t>
                      </a:r>
                      <a:r>
                        <a:rPr lang="ko-KR" altLang="en-US" sz="4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4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400" b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채널구분</a:t>
                      </a:r>
                      <a:r>
                        <a:rPr lang="ko-KR" altLang="en-US" sz="4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4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01(</a:t>
                      </a:r>
                      <a:r>
                        <a:rPr lang="ko-KR" altLang="en-US" sz="4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단말</a:t>
                      </a:r>
                      <a:r>
                        <a:rPr lang="en-US" altLang="ko-KR" sz="4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  <a:p>
                      <a:pPr marL="171450" indent="-171450" algn="l" latinLnBrk="1">
                        <a:buFontTx/>
                        <a:buChar char="-"/>
                      </a:pPr>
                      <a:r>
                        <a:rPr lang="ko-KR" altLang="en-US" sz="4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입출금거래만</a:t>
                      </a:r>
                      <a:r>
                        <a:rPr lang="en-US" altLang="ko-KR" sz="4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</a:t>
                      </a:r>
                      <a:r>
                        <a:rPr lang="ko-KR" altLang="en-US" sz="4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부실점구분코드 </a:t>
                      </a:r>
                      <a:r>
                        <a:rPr lang="en-US" altLang="ko-KR" sz="4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01(</a:t>
                      </a:r>
                      <a:r>
                        <a:rPr lang="ko-KR" altLang="en-US" sz="400" b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본부부서</a:t>
                      </a:r>
                      <a:r>
                        <a:rPr lang="en-US" altLang="ko-KR" sz="4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), 02(</a:t>
                      </a:r>
                      <a:r>
                        <a:rPr lang="ko-KR" altLang="en-US" sz="4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지역본부</a:t>
                      </a:r>
                      <a:r>
                        <a:rPr lang="en-US" altLang="ko-KR" sz="4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), 08(</a:t>
                      </a:r>
                      <a:r>
                        <a:rPr lang="ko-KR" altLang="en-US" sz="400" b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지원센타</a:t>
                      </a:r>
                      <a:r>
                        <a:rPr lang="en-US" altLang="ko-KR" sz="4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), 14(</a:t>
                      </a:r>
                      <a:r>
                        <a:rPr lang="ko-KR" altLang="en-US" sz="400" b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지역심사센타</a:t>
                      </a:r>
                      <a:r>
                        <a:rPr lang="en-US" altLang="ko-KR" sz="4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), 15(</a:t>
                      </a:r>
                      <a:r>
                        <a:rPr lang="ko-KR" altLang="en-US" sz="4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국민카드사본부부서</a:t>
                      </a:r>
                      <a:r>
                        <a:rPr lang="en-US" altLang="ko-KR" sz="4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), 18(</a:t>
                      </a:r>
                      <a:r>
                        <a:rPr lang="ko-KR" altLang="en-US" sz="400" b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카드지원반</a:t>
                      </a:r>
                      <a:r>
                        <a:rPr lang="en-US" altLang="ko-KR" sz="4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),                          </a:t>
                      </a:r>
                    </a:p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4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......</a:t>
                      </a:r>
                    </a:p>
                  </a:txBody>
                  <a:tcPr marL="3600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11979977"/>
                  </a:ext>
                </a:extLst>
              </a:tr>
              <a:tr h="31054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체크포인트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l" latinLnBrk="1"/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√ 부당인출 여부</a:t>
                      </a:r>
                    </a:p>
                    <a:p>
                      <a:pPr algn="l" latinLnBrk="1"/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√ 고객과 약정없는 편의출금거래 여부</a:t>
                      </a:r>
                    </a:p>
                    <a:p>
                      <a:pPr algn="l" latinLnBrk="1"/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</a:t>
                      </a:r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취급 전후 관련 거래의 자금흐름</a:t>
                      </a:r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관련업무 정보조회</a:t>
                      </a:r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필요시 취급관련 전표 징구 등으로 위규 및 부당취급</a:t>
                      </a:r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횡령 등의 개연성 여부를 판단</a:t>
                      </a:r>
                      <a:endParaRPr lang="ko-KR" altLang="en-US" sz="4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75060019"/>
                  </a:ext>
                </a:extLst>
              </a:tr>
              <a:tr h="42868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l" latinLnBrk="1"/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√ 상시감사상세내역조회 및 사용자별거래내역을 조회하여 해당거래 전후 업무처리시 특이 내용여부 확인</a:t>
                      </a:r>
                    </a:p>
                    <a:p>
                      <a:pPr algn="l" latinLnBrk="1"/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√ 기타출금후 관련자금이 제</a:t>
                      </a:r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자 명의</a:t>
                      </a:r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직원 관련성</a:t>
                      </a:r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로 거래 연결여부 확인</a:t>
                      </a:r>
                    </a:p>
                    <a:p>
                      <a:pPr algn="l" latinLnBrk="1"/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√ 기타출금 취급 적정성여부 확인</a:t>
                      </a:r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가중</a:t>
                      </a:r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당좌 결제자금 금지업무 등</a:t>
                      </a:r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  <a:p>
                      <a:pPr algn="l" latinLnBrk="1"/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√ </a:t>
                      </a:r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절차미필예금지급을 기타출금으로 처리하였는지 여부 확인</a:t>
                      </a:r>
                    </a:p>
                    <a:p>
                      <a:pPr algn="l" latinLnBrk="1"/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√  대출금 입금 및 완제시 연동처리 가능한 계좡인지 확인</a:t>
                      </a:r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임의출금여부</a:t>
                      </a:r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4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82551172"/>
                  </a:ext>
                </a:extLst>
              </a:tr>
              <a:tr h="38085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관련규정 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및 지침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l" latinLnBrk="1"/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○금융사고관리등에 관한 지침 제</a:t>
                      </a:r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장 제</a:t>
                      </a:r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절</a:t>
                      </a:r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금지사항 및 특별관리 사항</a:t>
                      </a:r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  <a:p>
                      <a:pPr algn="l" latinLnBrk="1"/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○</a:t>
                      </a:r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점포재위임전결기준표</a:t>
                      </a:r>
                    </a:p>
                    <a:p>
                      <a:pPr algn="l" latinLnBrk="1"/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○업무매뉴얼 수신업무편 제</a:t>
                      </a:r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장</a:t>
                      </a:r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수신일반</a:t>
                      </a:r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</a:p>
                    <a:p>
                      <a:pPr algn="l" latinLnBrk="1"/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○</a:t>
                      </a:r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</a:t>
                      </a:r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절</a:t>
                      </a:r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총칙</a:t>
                      </a:r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</a:t>
                      </a:r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</a:t>
                      </a:r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예금업무일반</a:t>
                      </a:r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9</a:t>
                      </a:r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호</a:t>
                      </a:r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지급</a:t>
                      </a:r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  <a:p>
                      <a:pPr algn="l" latinLnBrk="1"/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○</a:t>
                      </a:r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월드종합서비스 업무처리지침</a:t>
                      </a:r>
                      <a:endParaRPr lang="ko-KR" altLang="en-US" sz="4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48673082"/>
                  </a:ext>
                </a:extLst>
              </a:tr>
              <a:tr h="30250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사고사례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8834894"/>
                  </a:ext>
                </a:extLst>
              </a:tr>
              <a:tr h="33251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사고유형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4135633"/>
                  </a:ext>
                </a:extLst>
              </a:tr>
              <a:tr h="166260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No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파일명 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 크기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9130866"/>
                  </a:ext>
                </a:extLst>
              </a:tr>
              <a:tr h="1662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98710704"/>
                  </a:ext>
                </a:extLst>
              </a:tr>
              <a:tr h="33251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등록변경 사유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l" latinLnBrk="1"/>
                      <a:r>
                        <a:rPr lang="en-US" altLang="ko-KR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2024.03.15 </a:t>
                      </a:r>
                      <a:r>
                        <a:rPr lang="ko-KR" altLang="en-US" sz="4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추출요건의 기타출금 거래 사유 변경</a:t>
                      </a:r>
                      <a:endParaRPr lang="ko-KR" altLang="en-US" sz="4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09289598"/>
                  </a:ext>
                </a:extLst>
              </a:tr>
            </a:tbl>
          </a:graphicData>
        </a:graphic>
      </p:graphicFrame>
      <p:sp>
        <p:nvSpPr>
          <p:cNvPr id="43" name="직사각형 4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316925" y="2452895"/>
            <a:ext cx="821497" cy="17365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2024-03-04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44" name="그림 4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957325" y="2444034"/>
            <a:ext cx="181098" cy="173224"/>
          </a:xfrm>
          <a:prstGeom prst="rect">
            <a:avLst/>
          </a:prstGeom>
        </p:spPr>
      </p:pic>
      <p:sp>
        <p:nvSpPr>
          <p:cNvPr id="3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097840" y="1813909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변경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284536" y="1817333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510831" y="1808337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삭제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917482" y="1802425"/>
            <a:ext cx="634403" cy="185911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변경이력조회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03698" y="1811198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cxnSp>
        <p:nvCxnSpPr>
          <p:cNvPr id="46" name="구부러진 연결선 45"/>
          <p:cNvCxnSpPr/>
          <p:nvPr/>
        </p:nvCxnSpPr>
        <p:spPr bwMode="auto">
          <a:xfrm rot="5400000">
            <a:off x="4580780" y="1488729"/>
            <a:ext cx="106321" cy="1265053"/>
          </a:xfrm>
          <a:prstGeom prst="curvedConnector2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47" name="타원 4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508279" y="189383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691188" y="1813909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신규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995469" y="6092515"/>
            <a:ext cx="459084" cy="17863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수정등록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992888" y="6092515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닫기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1" name="직사각형 50"/>
          <p:cNvSpPr/>
          <p:nvPr/>
        </p:nvSpPr>
        <p:spPr bwMode="auto">
          <a:xfrm>
            <a:off x="5039078" y="1763191"/>
            <a:ext cx="483864" cy="302324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965597" y="591265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49737" y="1546688"/>
            <a:ext cx="2699950" cy="16250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5" name="이등변 삼각형 54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6665970" y="1618241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522942" y="164835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499555" y="6092515"/>
            <a:ext cx="459084" cy="17863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승인요청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500379" y="593204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74726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" name="표 3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050118"/>
              </p:ext>
            </p:extLst>
          </p:nvPr>
        </p:nvGraphicFramePr>
        <p:xfrm>
          <a:off x="92077" y="58190"/>
          <a:ext cx="9720001" cy="6400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6121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MDD-00087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MDD75A86004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348287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점검 매뉴얼 변경이력조회</a:t>
                      </a:r>
                      <a:endParaRPr lang="ko-KR" altLang="en-US" sz="120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상시운영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매뉴얼관리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 점검 </a:t>
                      </a:r>
                      <a:r>
                        <a:rPr lang="ko-KR" altLang="en-US" sz="9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매뉴얼관리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점검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매뉴얼 변경이력조회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(P19, P32~37: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이미선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9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69" name="표 6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7270957"/>
              </p:ext>
            </p:extLst>
          </p:nvPr>
        </p:nvGraphicFramePr>
        <p:xfrm>
          <a:off x="7207250" y="662793"/>
          <a:ext cx="2606675" cy="5351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 매뉴얼관리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변경이력조회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클릭 시 호출 되는 팝업 화면 동일한 구성으로 신규 화면을 만든다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참고 화면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변경내역조회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]: MDD75A80004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변경 이력 조회는 기존 화면에서 제공하던 단순 비교기능으로만 유지하고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추출 항목 별 이력관리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2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건 비교 등의 기능은 미 제공한다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57225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8846583"/>
                  </a:ext>
                </a:extLst>
              </a:tr>
            </a:tbl>
          </a:graphicData>
        </a:graphic>
      </p:graphicFrame>
      <p:sp>
        <p:nvSpPr>
          <p:cNvPr id="4" name="양쪽 모서리가 둥근 사각형 3"/>
          <p:cNvSpPr/>
          <p:nvPr/>
        </p:nvSpPr>
        <p:spPr bwMode="auto">
          <a:xfrm>
            <a:off x="239550" y="1179414"/>
            <a:ext cx="16036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829361" fontAlgn="ctr"/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점검 매뉴얼관리</a:t>
            </a:r>
          </a:p>
        </p:txBody>
      </p:sp>
      <p:sp>
        <p:nvSpPr>
          <p:cNvPr id="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39551" y="1367785"/>
            <a:ext cx="672639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8" name="표 17"/>
          <p:cNvGraphicFramePr>
            <a:graphicFrameLocks noGrp="1"/>
          </p:cNvGraphicFramePr>
          <p:nvPr>
            <p:extLst/>
          </p:nvPr>
        </p:nvGraphicFramePr>
        <p:xfrm>
          <a:off x="239549" y="2057429"/>
          <a:ext cx="6761561" cy="147040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7404">
                  <a:extLst>
                    <a:ext uri="{9D8B030D-6E8A-4147-A177-3AD203B41FA5}">
                      <a16:colId xmlns:a16="http://schemas.microsoft.com/office/drawing/2014/main" val="765845881"/>
                    </a:ext>
                  </a:extLst>
                </a:gridCol>
                <a:gridCol w="440574">
                  <a:extLst>
                    <a:ext uri="{9D8B030D-6E8A-4147-A177-3AD203B41FA5}">
                      <a16:colId xmlns:a16="http://schemas.microsoft.com/office/drawing/2014/main" val="3972239332"/>
                    </a:ext>
                  </a:extLst>
                </a:gridCol>
                <a:gridCol w="395252">
                  <a:extLst>
                    <a:ext uri="{9D8B030D-6E8A-4147-A177-3AD203B41FA5}">
                      <a16:colId xmlns:a16="http://schemas.microsoft.com/office/drawing/2014/main" val="2426106912"/>
                    </a:ext>
                  </a:extLst>
                </a:gridCol>
                <a:gridCol w="1516676">
                  <a:extLst>
                    <a:ext uri="{9D8B030D-6E8A-4147-A177-3AD203B41FA5}">
                      <a16:colId xmlns:a16="http://schemas.microsoft.com/office/drawing/2014/main" val="157696043"/>
                    </a:ext>
                  </a:extLst>
                </a:gridCol>
                <a:gridCol w="376921">
                  <a:extLst>
                    <a:ext uri="{9D8B030D-6E8A-4147-A177-3AD203B41FA5}">
                      <a16:colId xmlns:a16="http://schemas.microsoft.com/office/drawing/2014/main" val="1421297000"/>
                    </a:ext>
                  </a:extLst>
                </a:gridCol>
                <a:gridCol w="576651">
                  <a:extLst>
                    <a:ext uri="{9D8B030D-6E8A-4147-A177-3AD203B41FA5}">
                      <a16:colId xmlns:a16="http://schemas.microsoft.com/office/drawing/2014/main" val="3582745889"/>
                    </a:ext>
                  </a:extLst>
                </a:gridCol>
                <a:gridCol w="654577">
                  <a:extLst>
                    <a:ext uri="{9D8B030D-6E8A-4147-A177-3AD203B41FA5}">
                      <a16:colId xmlns:a16="http://schemas.microsoft.com/office/drawing/2014/main" val="461435787"/>
                    </a:ext>
                  </a:extLst>
                </a:gridCol>
                <a:gridCol w="471451">
                  <a:extLst>
                    <a:ext uri="{9D8B030D-6E8A-4147-A177-3AD203B41FA5}">
                      <a16:colId xmlns:a16="http://schemas.microsoft.com/office/drawing/2014/main" val="2502540127"/>
                    </a:ext>
                  </a:extLst>
                </a:gridCol>
                <a:gridCol w="471451">
                  <a:extLst>
                    <a:ext uri="{9D8B030D-6E8A-4147-A177-3AD203B41FA5}">
                      <a16:colId xmlns:a16="http://schemas.microsoft.com/office/drawing/2014/main" val="1440062905"/>
                    </a:ext>
                  </a:extLst>
                </a:gridCol>
                <a:gridCol w="584443">
                  <a:extLst>
                    <a:ext uri="{9D8B030D-6E8A-4147-A177-3AD203B41FA5}">
                      <a16:colId xmlns:a16="http://schemas.microsoft.com/office/drawing/2014/main" val="1447650789"/>
                    </a:ext>
                  </a:extLst>
                </a:gridCol>
                <a:gridCol w="411843">
                  <a:extLst>
                    <a:ext uri="{9D8B030D-6E8A-4147-A177-3AD203B41FA5}">
                      <a16:colId xmlns:a16="http://schemas.microsoft.com/office/drawing/2014/main" val="611776971"/>
                    </a:ext>
                  </a:extLst>
                </a:gridCol>
                <a:gridCol w="544318">
                  <a:extLst>
                    <a:ext uri="{9D8B030D-6E8A-4147-A177-3AD203B41FA5}">
                      <a16:colId xmlns:a16="http://schemas.microsoft.com/office/drawing/2014/main" val="457614486"/>
                    </a:ext>
                  </a:extLst>
                </a:gridCol>
              </a:tblGrid>
              <a:tr h="24748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업무구분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항목코드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항목명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신규일자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적용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변경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점검구분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해제일자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결재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변경구분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7910169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41001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취소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정정거래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2009-05-01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9999-12-31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결재중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 수정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3076989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41002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기산일거래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2009-05-01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2024-06-19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9999-12-31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 수정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480346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41003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가수금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가지급금거래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2009-05-01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2024-06-17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9999-12-31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 수정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8229297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41004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고액 입금거래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2009-05-01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2018-01-30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9999-12-31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요건수정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5496841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41005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타행환 송금거래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2009-05-01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2024-06-19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9999-12-31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 수정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6592906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4309710"/>
                  </a:ext>
                </a:extLst>
              </a:tr>
            </a:tbl>
          </a:graphicData>
        </a:graphic>
      </p:graphicFrame>
      <p:graphicFrame>
        <p:nvGraphicFramePr>
          <p:cNvPr id="23" name="내용 개체 틀 121"/>
          <p:cNvGraphicFramePr>
            <a:graphicFrameLocks/>
          </p:cNvGraphicFramePr>
          <p:nvPr>
            <p:extLst/>
          </p:nvPr>
        </p:nvGraphicFramePr>
        <p:xfrm>
          <a:off x="265605" y="1504515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447212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1447212">
                  <a:extLst>
                    <a:ext uri="{9D8B030D-6E8A-4147-A177-3AD203B41FA5}">
                      <a16:colId xmlns:a16="http://schemas.microsoft.com/office/drawing/2014/main" val="2674446659"/>
                    </a:ext>
                  </a:extLst>
                </a:gridCol>
                <a:gridCol w="2894424">
                  <a:extLst>
                    <a:ext uri="{9D8B030D-6E8A-4147-A177-3AD203B41FA5}">
                      <a16:colId xmlns:a16="http://schemas.microsoft.com/office/drawing/2014/main" val="2165246359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점검과목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spc="-1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◎ 본부    ○ 글로벌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u="none" strike="noStrike" kern="1200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점검항목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49737" y="1546688"/>
            <a:ext cx="2699950" cy="16250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5" name="이등변 삼각형 24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6665970" y="1618241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691188" y="1813909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신규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097840" y="1813909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변경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284536" y="1817333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510831" y="1808337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삭제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917482" y="1802425"/>
            <a:ext cx="634403" cy="185911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변경이력조회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03698" y="1811198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C7B6CEFD-186E-AC88-7979-44000562DD84}"/>
              </a:ext>
            </a:extLst>
          </p:cNvPr>
          <p:cNvSpPr/>
          <p:nvPr/>
        </p:nvSpPr>
        <p:spPr>
          <a:xfrm>
            <a:off x="989215" y="2148797"/>
            <a:ext cx="5857378" cy="3719988"/>
          </a:xfrm>
          <a:prstGeom prst="rect">
            <a:avLst/>
          </a:prstGeom>
          <a:solidFill>
            <a:schemeClr val="bg1"/>
          </a:solidFill>
          <a:ln w="15875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Calibri"/>
              <a:ea typeface="맑은 고딕"/>
              <a:cs typeface="+mn-cs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61CAA5C-4EB7-4E67-85DA-E29F266F438F}"/>
              </a:ext>
            </a:extLst>
          </p:cNvPr>
          <p:cNvSpPr/>
          <p:nvPr/>
        </p:nvSpPr>
        <p:spPr>
          <a:xfrm>
            <a:off x="989215" y="2156884"/>
            <a:ext cx="5860472" cy="217588"/>
          </a:xfrm>
          <a:prstGeom prst="rect">
            <a:avLst/>
          </a:prstGeom>
          <a:solidFill>
            <a:srgbClr val="625950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742856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1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D494E968-62DE-442C-9EE6-DD6B90DDF615}"/>
              </a:ext>
            </a:extLst>
          </p:cNvPr>
          <p:cNvSpPr/>
          <p:nvPr/>
        </p:nvSpPr>
        <p:spPr bwMode="auto">
          <a:xfrm>
            <a:off x="6670300" y="2202643"/>
            <a:ext cx="134368" cy="119770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lIns="0" tIns="0" rIns="0" bIns="0" rtlCol="0" anchor="ctr" anchorCtr="0">
            <a:noAutofit/>
          </a:bodyPr>
          <a:lstStyle/>
          <a:p>
            <a:pPr marL="0" marR="0" lvl="0" indent="0" algn="ctr" defTabSz="742856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6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X</a:t>
            </a:r>
            <a:endParaRPr kumimoji="1" lang="ko-KR" altLang="en-US" sz="6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60B97788-F115-4669-A08F-46D3A46FC7DA}"/>
              </a:ext>
            </a:extLst>
          </p:cNvPr>
          <p:cNvSpPr txBox="1"/>
          <p:nvPr/>
        </p:nvSpPr>
        <p:spPr>
          <a:xfrm>
            <a:off x="1017525" y="2173670"/>
            <a:ext cx="1980511" cy="215444"/>
          </a:xfrm>
          <a:prstGeom prst="rect">
            <a:avLst/>
          </a:prstGeom>
          <a:noFill/>
        </p:spPr>
        <p:txBody>
          <a:bodyPr wrap="square" lIns="29250" rtlCol="0">
            <a:spAutoFit/>
          </a:bodyPr>
          <a:lstStyle/>
          <a:p>
            <a:pPr marL="0" marR="0" lvl="0" indent="0" algn="l" defTabSz="742856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변경내역 조회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38" name="표 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9082117"/>
              </p:ext>
            </p:extLst>
          </p:nvPr>
        </p:nvGraphicFramePr>
        <p:xfrm>
          <a:off x="1080655" y="2655351"/>
          <a:ext cx="5708546" cy="207870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90649">
                  <a:extLst>
                    <a:ext uri="{9D8B030D-6E8A-4147-A177-3AD203B41FA5}">
                      <a16:colId xmlns:a16="http://schemas.microsoft.com/office/drawing/2014/main" val="454098309"/>
                    </a:ext>
                  </a:extLst>
                </a:gridCol>
                <a:gridCol w="319731">
                  <a:extLst>
                    <a:ext uri="{9D8B030D-6E8A-4147-A177-3AD203B41FA5}">
                      <a16:colId xmlns:a16="http://schemas.microsoft.com/office/drawing/2014/main" val="1556703827"/>
                    </a:ext>
                  </a:extLst>
                </a:gridCol>
                <a:gridCol w="314364">
                  <a:extLst>
                    <a:ext uri="{9D8B030D-6E8A-4147-A177-3AD203B41FA5}">
                      <a16:colId xmlns:a16="http://schemas.microsoft.com/office/drawing/2014/main" val="1632442832"/>
                    </a:ext>
                  </a:extLst>
                </a:gridCol>
                <a:gridCol w="424594">
                  <a:extLst>
                    <a:ext uri="{9D8B030D-6E8A-4147-A177-3AD203B41FA5}">
                      <a16:colId xmlns:a16="http://schemas.microsoft.com/office/drawing/2014/main" val="2343794388"/>
                    </a:ext>
                  </a:extLst>
                </a:gridCol>
                <a:gridCol w="424594">
                  <a:extLst>
                    <a:ext uri="{9D8B030D-6E8A-4147-A177-3AD203B41FA5}">
                      <a16:colId xmlns:a16="http://schemas.microsoft.com/office/drawing/2014/main" val="862431375"/>
                    </a:ext>
                  </a:extLst>
                </a:gridCol>
                <a:gridCol w="424594">
                  <a:extLst>
                    <a:ext uri="{9D8B030D-6E8A-4147-A177-3AD203B41FA5}">
                      <a16:colId xmlns:a16="http://schemas.microsoft.com/office/drawing/2014/main" val="3223635042"/>
                    </a:ext>
                  </a:extLst>
                </a:gridCol>
                <a:gridCol w="1128529">
                  <a:extLst>
                    <a:ext uri="{9D8B030D-6E8A-4147-A177-3AD203B41FA5}">
                      <a16:colId xmlns:a16="http://schemas.microsoft.com/office/drawing/2014/main" val="3510693402"/>
                    </a:ext>
                  </a:extLst>
                </a:gridCol>
                <a:gridCol w="566784">
                  <a:extLst>
                    <a:ext uri="{9D8B030D-6E8A-4147-A177-3AD203B41FA5}">
                      <a16:colId xmlns:a16="http://schemas.microsoft.com/office/drawing/2014/main" val="2478210964"/>
                    </a:ext>
                  </a:extLst>
                </a:gridCol>
                <a:gridCol w="544053">
                  <a:extLst>
                    <a:ext uri="{9D8B030D-6E8A-4147-A177-3AD203B41FA5}">
                      <a16:colId xmlns:a16="http://schemas.microsoft.com/office/drawing/2014/main" val="2454332516"/>
                    </a:ext>
                  </a:extLst>
                </a:gridCol>
                <a:gridCol w="305136">
                  <a:extLst>
                    <a:ext uri="{9D8B030D-6E8A-4147-A177-3AD203B41FA5}">
                      <a16:colId xmlns:a16="http://schemas.microsoft.com/office/drawing/2014/main" val="2703567967"/>
                    </a:ext>
                  </a:extLst>
                </a:gridCol>
                <a:gridCol w="424594">
                  <a:extLst>
                    <a:ext uri="{9D8B030D-6E8A-4147-A177-3AD203B41FA5}">
                      <a16:colId xmlns:a16="http://schemas.microsoft.com/office/drawing/2014/main" val="3692181289"/>
                    </a:ext>
                  </a:extLst>
                </a:gridCol>
                <a:gridCol w="220462">
                  <a:extLst>
                    <a:ext uri="{9D8B030D-6E8A-4147-A177-3AD203B41FA5}">
                      <a16:colId xmlns:a16="http://schemas.microsoft.com/office/drawing/2014/main" val="881452358"/>
                    </a:ext>
                  </a:extLst>
                </a:gridCol>
                <a:gridCol w="220462">
                  <a:extLst>
                    <a:ext uri="{9D8B030D-6E8A-4147-A177-3AD203B41FA5}">
                      <a16:colId xmlns:a16="http://schemas.microsoft.com/office/drawing/2014/main" val="713599051"/>
                    </a:ext>
                  </a:extLst>
                </a:gridCol>
              </a:tblGrid>
              <a:tr h="35681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적용일자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처리구분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배경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추출요건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변경사유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체크포인트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관련규정지침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사고사례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사고유형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변경사유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7158008"/>
                  </a:ext>
                </a:extLst>
              </a:tr>
              <a:tr h="61858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2016-08-01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신규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본부부서 지준예치금 이체거래의 적정성여부 점검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- 2009. 8.31 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요건정의</a:t>
                      </a:r>
                      <a:b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en-US" altLang="ko-KR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- 2016. </a:t>
                      </a:r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9.30...</a:t>
                      </a:r>
                      <a:endParaRPr lang="en-US" altLang="ko-KR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√ 무자원 송금거래 여부 확인</a:t>
                      </a:r>
                      <a:b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- 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취급 전후 관련거래의 자금흐름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, 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관련업무 정보조회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, </a:t>
                      </a:r>
                      <a:r>
                        <a:rPr lang="ko-KR" altLang="en-US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필요시</a:t>
                      </a:r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√ 상시감사상세내역조회 및 </a:t>
                      </a:r>
                      <a:r>
                        <a:rPr lang="ko-KR" altLang="en-US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사용자별거래내역을</a:t>
                      </a:r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◎ 회계업무처리지침</a:t>
                      </a:r>
                      <a:b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◎ </a:t>
                      </a:r>
                      <a:r>
                        <a:rPr lang="ko-KR" altLang="en-US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금융사고예방업무지침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5016583"/>
                  </a:ext>
                </a:extLst>
              </a:tr>
              <a:tr h="55164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en-US" altLang="ko-KR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2010-05-11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신규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고객예금 </a:t>
                      </a:r>
                      <a:r>
                        <a:rPr lang="ko-KR" altLang="en-US" sz="700" b="0" i="0" u="none" strike="noStrike" dirty="0" err="1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부당인출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해지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 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여부 점검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&lt;</a:t>
                      </a:r>
                      <a:r>
                        <a:rPr lang="ko-KR" altLang="en-US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실시간 점검</a:t>
                      </a:r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&gt;</a:t>
                      </a:r>
                    </a:p>
                    <a:p>
                      <a:pPr algn="l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1. </a:t>
                      </a:r>
                      <a:r>
                        <a:rPr lang="ko-KR" altLang="en-US" sz="700" b="0" i="0" u="none" strike="noStrike" dirty="0" err="1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추출요건</a:t>
                      </a:r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√ 고객예금 </a:t>
                      </a:r>
                      <a:r>
                        <a:rPr lang="ko-KR" altLang="en-US" sz="700" b="0" i="0" u="none" strike="noStrike" dirty="0" err="1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부당인출</a:t>
                      </a:r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해지</a:t>
                      </a:r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 </a:t>
                      </a:r>
                      <a:r>
                        <a:rPr lang="ko-KR" altLang="en-US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여부</a:t>
                      </a:r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√ </a:t>
                      </a:r>
                      <a:r>
                        <a:rPr lang="ko-KR" altLang="en-US" sz="700" b="0" i="0" u="none" strike="noStrike" dirty="0" err="1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상시감사상세내역조회</a:t>
                      </a:r>
                      <a:r>
                        <a:rPr lang="ko-KR" altLang="en-US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및 </a:t>
                      </a:r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◎ </a:t>
                      </a:r>
                      <a:r>
                        <a:rPr lang="ko-KR" altLang="en-US" sz="700" b="0" i="0" u="none" strike="noStrike" dirty="0" err="1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금융사고관리등에관한지침</a:t>
                      </a:r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● 직원 ○○○는  □□□</a:t>
                      </a:r>
                      <a:r>
                        <a:rPr lang="ko-KR" altLang="en-US" sz="700" b="0" i="0" u="none" strike="noStrike" dirty="0" err="1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협회명</a:t>
                      </a:r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0177509"/>
                  </a:ext>
                </a:extLst>
              </a:tr>
              <a:tr h="55164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en-US" altLang="ko-KR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...</a:t>
                      </a:r>
                      <a:endParaRPr lang="en-US" altLang="ko-KR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...</a:t>
                      </a:r>
                      <a:endParaRPr lang="ko-KR" altLang="en-US" sz="9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...</a:t>
                      </a:r>
                      <a:endParaRPr lang="ko-KR" altLang="en-US" sz="9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2565153"/>
                  </a:ext>
                </a:extLst>
              </a:tr>
            </a:tbl>
          </a:graphicData>
        </a:graphic>
      </p:graphicFrame>
      <p:sp>
        <p:nvSpPr>
          <p:cNvPr id="3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414071" y="2407942"/>
            <a:ext cx="377507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닫기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0" name="직사각형 39"/>
          <p:cNvSpPr/>
          <p:nvPr/>
        </p:nvSpPr>
        <p:spPr bwMode="auto">
          <a:xfrm>
            <a:off x="5870831" y="1753549"/>
            <a:ext cx="732867" cy="277731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41" name="구부러진 연결선 40"/>
          <p:cNvCxnSpPr>
            <a:stCxn id="40" idx="2"/>
            <a:endCxn id="37" idx="2"/>
          </p:cNvCxnSpPr>
          <p:nvPr/>
        </p:nvCxnSpPr>
        <p:spPr bwMode="auto">
          <a:xfrm rot="5400000">
            <a:off x="4614652" y="749715"/>
            <a:ext cx="341048" cy="2904178"/>
          </a:xfrm>
          <a:prstGeom prst="curvedConnector3">
            <a:avLst>
              <a:gd name="adj1" fmla="val 167029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7" name="타원 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867098" y="157540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8" name="그림 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5229" y="3306223"/>
            <a:ext cx="151407" cy="16734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659755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" name="표 3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1623489"/>
              </p:ext>
            </p:extLst>
          </p:nvPr>
        </p:nvGraphicFramePr>
        <p:xfrm>
          <a:off x="92077" y="58190"/>
          <a:ext cx="9720001" cy="6400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32650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MDD-00087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MDD75A86007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8339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첨부파일이력</a:t>
                      </a:r>
                      <a:endParaRPr lang="ko-KR" altLang="en-US" sz="120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9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상시감사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상시운영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매뉴얼관리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 점검 </a:t>
                      </a:r>
                      <a:r>
                        <a:rPr lang="ko-KR" altLang="en-US" sz="9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매뉴얼관리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점검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매뉴얼 변경이력조회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첨부파일이력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(P19, P32~37: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이미선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9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69" name="표 6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8830165"/>
              </p:ext>
            </p:extLst>
          </p:nvPr>
        </p:nvGraphicFramePr>
        <p:xfrm>
          <a:off x="7207250" y="662793"/>
          <a:ext cx="2606675" cy="56200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 매뉴얼관리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변경이력조회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클릭 시 호출 된 후 첨부파일 아이콘을 클릭 시 호출되는 팝업 화면 동일한 구성으로 신규 화면을 만든다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참고 화면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변경내역조회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]: MDD75A80004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변경 이력 조회는 기존 화면에서 제공하던 단순 비교기능으로만 유지하고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추출 항목 별 이력관리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2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건 비교 등의 기능은 미 제공한다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첨부파일이 있는 경우 첨부파일 이력 팝업 화면 호출 할 수 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참고 화면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첨부파일이력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]: MDD75A80007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57225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8846583"/>
                  </a:ext>
                </a:extLst>
              </a:tr>
            </a:tbl>
          </a:graphicData>
        </a:graphic>
      </p:graphicFrame>
      <p:sp>
        <p:nvSpPr>
          <p:cNvPr id="4" name="양쪽 모서리가 둥근 사각형 3"/>
          <p:cNvSpPr/>
          <p:nvPr/>
        </p:nvSpPr>
        <p:spPr bwMode="auto">
          <a:xfrm>
            <a:off x="239550" y="1179414"/>
            <a:ext cx="16036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829361" fontAlgn="ctr"/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점검 매뉴얼관리</a:t>
            </a:r>
          </a:p>
        </p:txBody>
      </p:sp>
      <p:sp>
        <p:nvSpPr>
          <p:cNvPr id="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39551" y="1367785"/>
            <a:ext cx="672639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8" name="표 17"/>
          <p:cNvGraphicFramePr>
            <a:graphicFrameLocks noGrp="1"/>
          </p:cNvGraphicFramePr>
          <p:nvPr>
            <p:extLst/>
          </p:nvPr>
        </p:nvGraphicFramePr>
        <p:xfrm>
          <a:off x="239549" y="2057429"/>
          <a:ext cx="6761561" cy="147040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7404">
                  <a:extLst>
                    <a:ext uri="{9D8B030D-6E8A-4147-A177-3AD203B41FA5}">
                      <a16:colId xmlns:a16="http://schemas.microsoft.com/office/drawing/2014/main" val="765845881"/>
                    </a:ext>
                  </a:extLst>
                </a:gridCol>
                <a:gridCol w="440574">
                  <a:extLst>
                    <a:ext uri="{9D8B030D-6E8A-4147-A177-3AD203B41FA5}">
                      <a16:colId xmlns:a16="http://schemas.microsoft.com/office/drawing/2014/main" val="3972239332"/>
                    </a:ext>
                  </a:extLst>
                </a:gridCol>
                <a:gridCol w="395252">
                  <a:extLst>
                    <a:ext uri="{9D8B030D-6E8A-4147-A177-3AD203B41FA5}">
                      <a16:colId xmlns:a16="http://schemas.microsoft.com/office/drawing/2014/main" val="2426106912"/>
                    </a:ext>
                  </a:extLst>
                </a:gridCol>
                <a:gridCol w="1516676">
                  <a:extLst>
                    <a:ext uri="{9D8B030D-6E8A-4147-A177-3AD203B41FA5}">
                      <a16:colId xmlns:a16="http://schemas.microsoft.com/office/drawing/2014/main" val="157696043"/>
                    </a:ext>
                  </a:extLst>
                </a:gridCol>
                <a:gridCol w="376921">
                  <a:extLst>
                    <a:ext uri="{9D8B030D-6E8A-4147-A177-3AD203B41FA5}">
                      <a16:colId xmlns:a16="http://schemas.microsoft.com/office/drawing/2014/main" val="1421297000"/>
                    </a:ext>
                  </a:extLst>
                </a:gridCol>
                <a:gridCol w="576651">
                  <a:extLst>
                    <a:ext uri="{9D8B030D-6E8A-4147-A177-3AD203B41FA5}">
                      <a16:colId xmlns:a16="http://schemas.microsoft.com/office/drawing/2014/main" val="3582745889"/>
                    </a:ext>
                  </a:extLst>
                </a:gridCol>
                <a:gridCol w="654577">
                  <a:extLst>
                    <a:ext uri="{9D8B030D-6E8A-4147-A177-3AD203B41FA5}">
                      <a16:colId xmlns:a16="http://schemas.microsoft.com/office/drawing/2014/main" val="461435787"/>
                    </a:ext>
                  </a:extLst>
                </a:gridCol>
                <a:gridCol w="471451">
                  <a:extLst>
                    <a:ext uri="{9D8B030D-6E8A-4147-A177-3AD203B41FA5}">
                      <a16:colId xmlns:a16="http://schemas.microsoft.com/office/drawing/2014/main" val="2502540127"/>
                    </a:ext>
                  </a:extLst>
                </a:gridCol>
                <a:gridCol w="471451">
                  <a:extLst>
                    <a:ext uri="{9D8B030D-6E8A-4147-A177-3AD203B41FA5}">
                      <a16:colId xmlns:a16="http://schemas.microsoft.com/office/drawing/2014/main" val="1440062905"/>
                    </a:ext>
                  </a:extLst>
                </a:gridCol>
                <a:gridCol w="584443">
                  <a:extLst>
                    <a:ext uri="{9D8B030D-6E8A-4147-A177-3AD203B41FA5}">
                      <a16:colId xmlns:a16="http://schemas.microsoft.com/office/drawing/2014/main" val="1447650789"/>
                    </a:ext>
                  </a:extLst>
                </a:gridCol>
                <a:gridCol w="411843">
                  <a:extLst>
                    <a:ext uri="{9D8B030D-6E8A-4147-A177-3AD203B41FA5}">
                      <a16:colId xmlns:a16="http://schemas.microsoft.com/office/drawing/2014/main" val="611776971"/>
                    </a:ext>
                  </a:extLst>
                </a:gridCol>
                <a:gridCol w="544318">
                  <a:extLst>
                    <a:ext uri="{9D8B030D-6E8A-4147-A177-3AD203B41FA5}">
                      <a16:colId xmlns:a16="http://schemas.microsoft.com/office/drawing/2014/main" val="457614486"/>
                    </a:ext>
                  </a:extLst>
                </a:gridCol>
              </a:tblGrid>
              <a:tr h="24748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업무구분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항목코드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항목명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신규일자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적용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변경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점검구분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해제일자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결재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변경구분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7910169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41001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취소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정정거래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2009-05-01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9999-12-31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결재중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 수정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3076989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41002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기산일거래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2009-05-01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2024-06-19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9999-12-31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 수정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480346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41003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가수금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가지급금거래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2009-05-01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2024-06-17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9999-12-31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 수정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8229297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41004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고액 입금거래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2009-05-01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2018-01-30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9999-12-31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요건수정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5496841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41005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타행환 송금거래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2009-05-01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2024-06-19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9999-12-31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요건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 수정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6592906"/>
                  </a:ext>
                </a:extLst>
              </a:tr>
              <a:tr h="133261">
                <a:tc>
                  <a:txBody>
                    <a:bodyPr/>
                    <a:lstStyle/>
                    <a:p>
                      <a:pPr algn="ctr"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4309710"/>
                  </a:ext>
                </a:extLst>
              </a:tr>
            </a:tbl>
          </a:graphicData>
        </a:graphic>
      </p:graphicFrame>
      <p:graphicFrame>
        <p:nvGraphicFramePr>
          <p:cNvPr id="23" name="내용 개체 틀 121"/>
          <p:cNvGraphicFramePr>
            <a:graphicFrameLocks/>
          </p:cNvGraphicFramePr>
          <p:nvPr>
            <p:extLst/>
          </p:nvPr>
        </p:nvGraphicFramePr>
        <p:xfrm>
          <a:off x="265605" y="1504515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447212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1447212">
                  <a:extLst>
                    <a:ext uri="{9D8B030D-6E8A-4147-A177-3AD203B41FA5}">
                      <a16:colId xmlns:a16="http://schemas.microsoft.com/office/drawing/2014/main" val="2674446659"/>
                    </a:ext>
                  </a:extLst>
                </a:gridCol>
                <a:gridCol w="2894424">
                  <a:extLst>
                    <a:ext uri="{9D8B030D-6E8A-4147-A177-3AD203B41FA5}">
                      <a16:colId xmlns:a16="http://schemas.microsoft.com/office/drawing/2014/main" val="2165246359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점검과목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spc="-1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◎ 본부    ○ 글로벌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u="none" strike="noStrike" kern="1200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점검항목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49737" y="1546688"/>
            <a:ext cx="2699950" cy="16250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5" name="이등변 삼각형 24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6665970" y="1618241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691188" y="1813909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신규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097840" y="1813909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변경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284536" y="1817333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510831" y="1808337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삭제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917482" y="1802425"/>
            <a:ext cx="634403" cy="185911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변경이력조회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03698" y="1811198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C7B6CEFD-186E-AC88-7979-44000562DD84}"/>
              </a:ext>
            </a:extLst>
          </p:cNvPr>
          <p:cNvSpPr/>
          <p:nvPr/>
        </p:nvSpPr>
        <p:spPr>
          <a:xfrm>
            <a:off x="989215" y="2148797"/>
            <a:ext cx="5857378" cy="2829638"/>
          </a:xfrm>
          <a:prstGeom prst="rect">
            <a:avLst/>
          </a:prstGeom>
          <a:solidFill>
            <a:schemeClr val="bg1"/>
          </a:solidFill>
          <a:ln w="15875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Calibri"/>
              <a:ea typeface="맑은 고딕"/>
              <a:cs typeface="+mn-cs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61CAA5C-4EB7-4E67-85DA-E29F266F438F}"/>
              </a:ext>
            </a:extLst>
          </p:cNvPr>
          <p:cNvSpPr/>
          <p:nvPr/>
        </p:nvSpPr>
        <p:spPr>
          <a:xfrm>
            <a:off x="989215" y="2156884"/>
            <a:ext cx="5860472" cy="217588"/>
          </a:xfrm>
          <a:prstGeom prst="rect">
            <a:avLst/>
          </a:prstGeom>
          <a:solidFill>
            <a:srgbClr val="625950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742856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1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D494E968-62DE-442C-9EE6-DD6B90DDF615}"/>
              </a:ext>
            </a:extLst>
          </p:cNvPr>
          <p:cNvSpPr/>
          <p:nvPr/>
        </p:nvSpPr>
        <p:spPr bwMode="auto">
          <a:xfrm>
            <a:off x="6670300" y="2202643"/>
            <a:ext cx="134368" cy="119770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lIns="0" tIns="0" rIns="0" bIns="0" rtlCol="0" anchor="ctr" anchorCtr="0">
            <a:noAutofit/>
          </a:bodyPr>
          <a:lstStyle/>
          <a:p>
            <a:pPr marL="0" marR="0" lvl="0" indent="0" algn="ctr" defTabSz="742856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6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X</a:t>
            </a:r>
            <a:endParaRPr kumimoji="1" lang="ko-KR" altLang="en-US" sz="6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60B97788-F115-4669-A08F-46D3A46FC7DA}"/>
              </a:ext>
            </a:extLst>
          </p:cNvPr>
          <p:cNvSpPr txBox="1"/>
          <p:nvPr/>
        </p:nvSpPr>
        <p:spPr>
          <a:xfrm>
            <a:off x="1017525" y="2173670"/>
            <a:ext cx="1980511" cy="215444"/>
          </a:xfrm>
          <a:prstGeom prst="rect">
            <a:avLst/>
          </a:prstGeom>
          <a:noFill/>
        </p:spPr>
        <p:txBody>
          <a:bodyPr wrap="square" lIns="29250" rtlCol="0">
            <a:spAutoFit/>
          </a:bodyPr>
          <a:lstStyle/>
          <a:p>
            <a:pPr marL="0" marR="0" lvl="0" indent="0" algn="l" defTabSz="742856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변경내역 조회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38" name="표 37"/>
          <p:cNvGraphicFramePr>
            <a:graphicFrameLocks noGrp="1"/>
          </p:cNvGraphicFramePr>
          <p:nvPr>
            <p:extLst/>
          </p:nvPr>
        </p:nvGraphicFramePr>
        <p:xfrm>
          <a:off x="1080655" y="2655351"/>
          <a:ext cx="5708546" cy="207870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90649">
                  <a:extLst>
                    <a:ext uri="{9D8B030D-6E8A-4147-A177-3AD203B41FA5}">
                      <a16:colId xmlns:a16="http://schemas.microsoft.com/office/drawing/2014/main" val="454098309"/>
                    </a:ext>
                  </a:extLst>
                </a:gridCol>
                <a:gridCol w="319731">
                  <a:extLst>
                    <a:ext uri="{9D8B030D-6E8A-4147-A177-3AD203B41FA5}">
                      <a16:colId xmlns:a16="http://schemas.microsoft.com/office/drawing/2014/main" val="1556703827"/>
                    </a:ext>
                  </a:extLst>
                </a:gridCol>
                <a:gridCol w="314364">
                  <a:extLst>
                    <a:ext uri="{9D8B030D-6E8A-4147-A177-3AD203B41FA5}">
                      <a16:colId xmlns:a16="http://schemas.microsoft.com/office/drawing/2014/main" val="1632442832"/>
                    </a:ext>
                  </a:extLst>
                </a:gridCol>
                <a:gridCol w="424594">
                  <a:extLst>
                    <a:ext uri="{9D8B030D-6E8A-4147-A177-3AD203B41FA5}">
                      <a16:colId xmlns:a16="http://schemas.microsoft.com/office/drawing/2014/main" val="2343794388"/>
                    </a:ext>
                  </a:extLst>
                </a:gridCol>
                <a:gridCol w="424594">
                  <a:extLst>
                    <a:ext uri="{9D8B030D-6E8A-4147-A177-3AD203B41FA5}">
                      <a16:colId xmlns:a16="http://schemas.microsoft.com/office/drawing/2014/main" val="862431375"/>
                    </a:ext>
                  </a:extLst>
                </a:gridCol>
                <a:gridCol w="424594">
                  <a:extLst>
                    <a:ext uri="{9D8B030D-6E8A-4147-A177-3AD203B41FA5}">
                      <a16:colId xmlns:a16="http://schemas.microsoft.com/office/drawing/2014/main" val="3223635042"/>
                    </a:ext>
                  </a:extLst>
                </a:gridCol>
                <a:gridCol w="1128529">
                  <a:extLst>
                    <a:ext uri="{9D8B030D-6E8A-4147-A177-3AD203B41FA5}">
                      <a16:colId xmlns:a16="http://schemas.microsoft.com/office/drawing/2014/main" val="3510693402"/>
                    </a:ext>
                  </a:extLst>
                </a:gridCol>
                <a:gridCol w="566784">
                  <a:extLst>
                    <a:ext uri="{9D8B030D-6E8A-4147-A177-3AD203B41FA5}">
                      <a16:colId xmlns:a16="http://schemas.microsoft.com/office/drawing/2014/main" val="2478210964"/>
                    </a:ext>
                  </a:extLst>
                </a:gridCol>
                <a:gridCol w="544053">
                  <a:extLst>
                    <a:ext uri="{9D8B030D-6E8A-4147-A177-3AD203B41FA5}">
                      <a16:colId xmlns:a16="http://schemas.microsoft.com/office/drawing/2014/main" val="2454332516"/>
                    </a:ext>
                  </a:extLst>
                </a:gridCol>
                <a:gridCol w="305136">
                  <a:extLst>
                    <a:ext uri="{9D8B030D-6E8A-4147-A177-3AD203B41FA5}">
                      <a16:colId xmlns:a16="http://schemas.microsoft.com/office/drawing/2014/main" val="2703567967"/>
                    </a:ext>
                  </a:extLst>
                </a:gridCol>
                <a:gridCol w="424594">
                  <a:extLst>
                    <a:ext uri="{9D8B030D-6E8A-4147-A177-3AD203B41FA5}">
                      <a16:colId xmlns:a16="http://schemas.microsoft.com/office/drawing/2014/main" val="3692181289"/>
                    </a:ext>
                  </a:extLst>
                </a:gridCol>
                <a:gridCol w="220462">
                  <a:extLst>
                    <a:ext uri="{9D8B030D-6E8A-4147-A177-3AD203B41FA5}">
                      <a16:colId xmlns:a16="http://schemas.microsoft.com/office/drawing/2014/main" val="881452358"/>
                    </a:ext>
                  </a:extLst>
                </a:gridCol>
                <a:gridCol w="220462">
                  <a:extLst>
                    <a:ext uri="{9D8B030D-6E8A-4147-A177-3AD203B41FA5}">
                      <a16:colId xmlns:a16="http://schemas.microsoft.com/office/drawing/2014/main" val="713599051"/>
                    </a:ext>
                  </a:extLst>
                </a:gridCol>
              </a:tblGrid>
              <a:tr h="35681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적용일자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처리구분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배경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추출요건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변경사유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체크포인트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점검방법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관련규정지침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사고사례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사고유형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변경사유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7158008"/>
                  </a:ext>
                </a:extLst>
              </a:tr>
              <a:tr h="61858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2016-08-01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신규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본부부서 지준예치금 이체거래의 적정성여부 점검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- 2009. 8.31 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요건정의</a:t>
                      </a:r>
                      <a:b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en-US" altLang="ko-KR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- 2016. </a:t>
                      </a:r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9.30...</a:t>
                      </a:r>
                      <a:endParaRPr lang="en-US" altLang="ko-KR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√ 무자원 송금거래 여부 확인</a:t>
                      </a:r>
                      <a:b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- 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취급 전후 관련거래의 자금흐름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, 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관련업무 정보조회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, </a:t>
                      </a:r>
                      <a:r>
                        <a:rPr lang="ko-KR" altLang="en-US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필요시</a:t>
                      </a:r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√ 상시감사상세내역조회 및 </a:t>
                      </a:r>
                      <a:r>
                        <a:rPr lang="ko-KR" altLang="en-US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사용자별거래내역을</a:t>
                      </a:r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◎ 회계업무처리지침</a:t>
                      </a:r>
                      <a:b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◎ </a:t>
                      </a:r>
                      <a:r>
                        <a:rPr lang="ko-KR" altLang="en-US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금융사고예방업무지침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5016583"/>
                  </a:ext>
                </a:extLst>
              </a:tr>
              <a:tr h="55164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en-US" altLang="ko-KR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2010-05-11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신규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고객예금 </a:t>
                      </a:r>
                      <a:r>
                        <a:rPr lang="ko-KR" altLang="en-US" sz="700" b="0" i="0" u="none" strike="noStrike" dirty="0" err="1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부당인출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해지</a:t>
                      </a:r>
                      <a:r>
                        <a:rPr lang="en-US" altLang="ko-KR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 </a:t>
                      </a:r>
                      <a:r>
                        <a:rPr lang="ko-KR" altLang="en-US" sz="7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여부 점검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&lt;</a:t>
                      </a:r>
                      <a:r>
                        <a:rPr lang="ko-KR" altLang="en-US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실시간 점검</a:t>
                      </a:r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&gt;</a:t>
                      </a:r>
                    </a:p>
                    <a:p>
                      <a:pPr algn="l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1. </a:t>
                      </a:r>
                      <a:r>
                        <a:rPr lang="ko-KR" altLang="en-US" sz="700" b="0" i="0" u="none" strike="noStrike" dirty="0" err="1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추출요건</a:t>
                      </a:r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√ 고객예금 </a:t>
                      </a:r>
                      <a:r>
                        <a:rPr lang="ko-KR" altLang="en-US" sz="700" b="0" i="0" u="none" strike="noStrike" dirty="0" err="1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부당인출</a:t>
                      </a:r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해지</a:t>
                      </a:r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 </a:t>
                      </a:r>
                      <a:r>
                        <a:rPr lang="ko-KR" altLang="en-US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여부</a:t>
                      </a:r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√ </a:t>
                      </a:r>
                      <a:r>
                        <a:rPr lang="ko-KR" altLang="en-US" sz="700" b="0" i="0" u="none" strike="noStrike" dirty="0" err="1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상시감사상세내역조회</a:t>
                      </a:r>
                      <a:r>
                        <a:rPr lang="ko-KR" altLang="en-US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및 </a:t>
                      </a:r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◎ </a:t>
                      </a:r>
                      <a:r>
                        <a:rPr lang="ko-KR" altLang="en-US" sz="700" b="0" i="0" u="none" strike="noStrike" dirty="0" err="1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금융사고관리등에관한지침</a:t>
                      </a:r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● 직원 ○○○는  □□□</a:t>
                      </a:r>
                      <a:r>
                        <a:rPr lang="ko-KR" altLang="en-US" sz="700" b="0" i="0" u="none" strike="noStrike" dirty="0" err="1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협회명</a:t>
                      </a:r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0177509"/>
                  </a:ext>
                </a:extLst>
              </a:tr>
              <a:tr h="55164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en-US" altLang="ko-KR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...</a:t>
                      </a:r>
                      <a:endParaRPr lang="en-US" altLang="ko-KR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...</a:t>
                      </a:r>
                      <a:endParaRPr lang="ko-KR" altLang="en-US" sz="7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...</a:t>
                      </a:r>
                      <a:endParaRPr lang="ko-KR" altLang="en-US" sz="9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...</a:t>
                      </a:r>
                      <a:endParaRPr lang="ko-KR" altLang="en-US" sz="900" b="0" i="0" u="none" strike="noStrike" dirty="0"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2565153"/>
                  </a:ext>
                </a:extLst>
              </a:tr>
            </a:tbl>
          </a:graphicData>
        </a:graphic>
      </p:graphicFrame>
      <p:sp>
        <p:nvSpPr>
          <p:cNvPr id="3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414071" y="2407942"/>
            <a:ext cx="377507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닫기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0" name="직사각형 39"/>
          <p:cNvSpPr/>
          <p:nvPr/>
        </p:nvSpPr>
        <p:spPr bwMode="auto">
          <a:xfrm>
            <a:off x="5870831" y="1753549"/>
            <a:ext cx="732867" cy="277731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41" name="구부러진 연결선 40"/>
          <p:cNvCxnSpPr>
            <a:stCxn id="40" idx="2"/>
            <a:endCxn id="37" idx="2"/>
          </p:cNvCxnSpPr>
          <p:nvPr/>
        </p:nvCxnSpPr>
        <p:spPr bwMode="auto">
          <a:xfrm rot="5400000">
            <a:off x="4614652" y="749715"/>
            <a:ext cx="341048" cy="2904178"/>
          </a:xfrm>
          <a:prstGeom prst="curvedConnector3">
            <a:avLst>
              <a:gd name="adj1" fmla="val 167029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7" name="타원 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867098" y="157540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8" name="그림 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15229" y="3306223"/>
            <a:ext cx="151407" cy="167344"/>
          </a:xfrm>
          <a:prstGeom prst="rect">
            <a:avLst/>
          </a:prstGeom>
        </p:spPr>
      </p:pic>
      <p:sp>
        <p:nvSpPr>
          <p:cNvPr id="46" name="직사각형 45"/>
          <p:cNvSpPr/>
          <p:nvPr/>
        </p:nvSpPr>
        <p:spPr bwMode="auto">
          <a:xfrm>
            <a:off x="6572325" y="3250104"/>
            <a:ext cx="227637" cy="277731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618343" y="309648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48" name="구부러진 연결선 47"/>
          <p:cNvCxnSpPr/>
          <p:nvPr/>
        </p:nvCxnSpPr>
        <p:spPr bwMode="auto">
          <a:xfrm rot="10800000" flipV="1">
            <a:off x="3544813" y="3409660"/>
            <a:ext cx="2949278" cy="1443830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C7B6CEFD-186E-AC88-7979-44000562DD84}"/>
              </a:ext>
            </a:extLst>
          </p:cNvPr>
          <p:cNvSpPr/>
          <p:nvPr/>
        </p:nvSpPr>
        <p:spPr>
          <a:xfrm>
            <a:off x="358706" y="4752759"/>
            <a:ext cx="4282736" cy="1630723"/>
          </a:xfrm>
          <a:prstGeom prst="rect">
            <a:avLst/>
          </a:prstGeom>
          <a:solidFill>
            <a:schemeClr val="bg1"/>
          </a:solidFill>
          <a:ln w="15875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Calibri"/>
              <a:ea typeface="맑은 고딕"/>
              <a:cs typeface="+mn-cs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61CAA5C-4EB7-4E67-85DA-E29F266F438F}"/>
              </a:ext>
            </a:extLst>
          </p:cNvPr>
          <p:cNvSpPr/>
          <p:nvPr/>
        </p:nvSpPr>
        <p:spPr>
          <a:xfrm>
            <a:off x="370922" y="4760846"/>
            <a:ext cx="4273614" cy="217588"/>
          </a:xfrm>
          <a:prstGeom prst="rect">
            <a:avLst/>
          </a:prstGeom>
          <a:solidFill>
            <a:srgbClr val="625950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742856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81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D494E968-62DE-442C-9EE6-DD6B90DDF615}"/>
              </a:ext>
            </a:extLst>
          </p:cNvPr>
          <p:cNvSpPr/>
          <p:nvPr/>
        </p:nvSpPr>
        <p:spPr bwMode="auto">
          <a:xfrm>
            <a:off x="4465149" y="4806605"/>
            <a:ext cx="134368" cy="119770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lIns="0" tIns="0" rIns="0" bIns="0" rtlCol="0" anchor="ctr" anchorCtr="0">
            <a:noAutofit/>
          </a:bodyPr>
          <a:lstStyle/>
          <a:p>
            <a:pPr marL="0" marR="0" lvl="0" indent="0" algn="ctr" defTabSz="742856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6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X</a:t>
            </a:r>
            <a:endParaRPr kumimoji="1" lang="ko-KR" altLang="en-US" sz="6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3" name="표 12"/>
          <p:cNvGraphicFramePr>
            <a:graphicFrameLocks noGrp="1"/>
          </p:cNvGraphicFramePr>
          <p:nvPr>
            <p:extLst/>
          </p:nvPr>
        </p:nvGraphicFramePr>
        <p:xfrm>
          <a:off x="500419" y="5198408"/>
          <a:ext cx="3919820" cy="6066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4006">
                  <a:extLst>
                    <a:ext uri="{9D8B030D-6E8A-4147-A177-3AD203B41FA5}">
                      <a16:colId xmlns:a16="http://schemas.microsoft.com/office/drawing/2014/main" val="3966409628"/>
                    </a:ext>
                  </a:extLst>
                </a:gridCol>
                <a:gridCol w="3735814">
                  <a:extLst>
                    <a:ext uri="{9D8B030D-6E8A-4147-A177-3AD203B41FA5}">
                      <a16:colId xmlns:a16="http://schemas.microsoft.com/office/drawing/2014/main" val="142436174"/>
                    </a:ext>
                  </a:extLst>
                </a:gridCol>
              </a:tblGrid>
              <a:tr h="29208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4370825"/>
                  </a:ext>
                </a:extLst>
              </a:tr>
              <a:tr h="1572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2.png</a:t>
                      </a:r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1562577"/>
                  </a:ext>
                </a:extLst>
              </a:tr>
              <a:tr h="1572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제목없음</a:t>
                      </a:r>
                      <a:r>
                        <a:rPr lang="en-US" altLang="ko-KR" sz="700" b="0" i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.png</a:t>
                      </a:r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8631436"/>
                  </a:ext>
                </a:extLst>
              </a:tr>
            </a:tbl>
          </a:graphicData>
        </a:graphic>
      </p:graphicFrame>
      <p:sp>
        <p:nvSpPr>
          <p:cNvPr id="4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320074" y="6025014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닫기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166746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226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21259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계획조회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엑셀출력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기존 기능 유지한다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‘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미교부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운송서류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현황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매영업일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점검 여부’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‘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수입어음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대지급이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발생된 경우’ 신규 항목 명세 존재 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해당내용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추출하여 표시한다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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를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 더블클릭하면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해당하는 행의 화면으로 이동하며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, RAS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항목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조회내용을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 출력한다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MDD-00002,MDD-00007</a:t>
                      </a:r>
                      <a:endParaRPr lang="ko-KR" altLang="en-US" sz="10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MDD72R48000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RAS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자료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외환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RAS/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감사자료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RAS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업무별조회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RAS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자료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외환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(P38: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정용욱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118" name="표 117"/>
          <p:cNvGraphicFramePr>
            <a:graphicFrameLocks noGrp="1"/>
          </p:cNvGraphicFramePr>
          <p:nvPr>
            <p:extLst/>
          </p:nvPr>
        </p:nvGraphicFramePr>
        <p:xfrm>
          <a:off x="228964" y="2136574"/>
          <a:ext cx="6726395" cy="1167248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600230">
                  <a:extLst>
                    <a:ext uri="{9D8B030D-6E8A-4147-A177-3AD203B41FA5}">
                      <a16:colId xmlns:a16="http://schemas.microsoft.com/office/drawing/2014/main" val="3624654645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2871289063"/>
                    </a:ext>
                  </a:extLst>
                </a:gridCol>
                <a:gridCol w="2964180">
                  <a:extLst>
                    <a:ext uri="{9D8B030D-6E8A-4147-A177-3AD203B41FA5}">
                      <a16:colId xmlns:a16="http://schemas.microsoft.com/office/drawing/2014/main" val="1626178617"/>
                    </a:ext>
                  </a:extLst>
                </a:gridCol>
                <a:gridCol w="810155">
                  <a:extLst>
                    <a:ext uri="{9D8B030D-6E8A-4147-A177-3AD203B41FA5}">
                      <a16:colId xmlns:a16="http://schemas.microsoft.com/office/drawing/2014/main" val="808142443"/>
                    </a:ext>
                  </a:extLst>
                </a:gridCol>
                <a:gridCol w="810155">
                  <a:extLst>
                    <a:ext uri="{9D8B030D-6E8A-4147-A177-3AD203B41FA5}">
                      <a16:colId xmlns:a16="http://schemas.microsoft.com/office/drawing/2014/main" val="3686710118"/>
                    </a:ext>
                  </a:extLst>
                </a:gridCol>
                <a:gridCol w="810155">
                  <a:extLst>
                    <a:ext uri="{9D8B030D-6E8A-4147-A177-3AD203B41FA5}">
                      <a16:colId xmlns:a16="http://schemas.microsoft.com/office/drawing/2014/main" val="2538171718"/>
                    </a:ext>
                  </a:extLst>
                </a:gridCol>
              </a:tblGrid>
              <a:tr h="14590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선택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자료번호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자료명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대상시작일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대상종료일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자료건수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7035972"/>
                  </a:ext>
                </a:extLst>
              </a:tr>
              <a:tr h="145906"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7908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전문총괄표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(SWIFT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전문조회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매영업일 점검 여부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2024-02-25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2024-03-29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3125279"/>
                  </a:ext>
                </a:extLst>
              </a:tr>
              <a:tr h="145906"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7910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일정기간내에 증여성 외화당발송금이 발생한 경우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2024-02-25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2024-03-29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0507909"/>
                  </a:ext>
                </a:extLst>
              </a:tr>
              <a:tr h="145906"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7911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수출환어음 매입시 신용장개설은행이 채권보전 대상인 경우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2024-02-25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2024-03-29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4951374"/>
                  </a:ext>
                </a:extLst>
              </a:tr>
              <a:tr h="145906"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7912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하자있는 수출환어음 매입한 경우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2024-02-25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2024-03-29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6729722"/>
                  </a:ext>
                </a:extLst>
              </a:tr>
              <a:tr h="145906"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</a:t>
                      </a:r>
                      <a:r>
                        <a:rPr lang="en-US" altLang="ko-KR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미교부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운송서류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현황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매영업일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점검 여부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2024-02-25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2024-03-29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4386251"/>
                  </a:ext>
                </a:extLst>
              </a:tr>
              <a:tr h="145906"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</a:t>
                      </a:r>
                      <a:r>
                        <a:rPr lang="en-US" altLang="ko-KR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수입어음 대지급이 발생된 경우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2024-02-25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2024-03-29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7368002"/>
                  </a:ext>
                </a:extLst>
              </a:tr>
              <a:tr h="145906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5036972"/>
                  </a:ext>
                </a:extLst>
              </a:tr>
            </a:tbl>
          </a:graphicData>
        </a:graphic>
      </p:graphicFrame>
      <p:sp>
        <p:nvSpPr>
          <p:cNvPr id="139" name="양쪽 모서리가 둥근 사각형 138"/>
          <p:cNvSpPr/>
          <p:nvPr/>
        </p:nvSpPr>
        <p:spPr bwMode="auto">
          <a:xfrm>
            <a:off x="247862" y="1453734"/>
            <a:ext cx="12988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en-US" altLang="ko-KR" sz="8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RAS</a:t>
            </a:r>
            <a:r>
              <a:rPr kumimoji="0" lang="ko-KR" altLang="en-US" sz="8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자료</a:t>
            </a:r>
            <a:r>
              <a:rPr kumimoji="0" lang="en-US" altLang="ko-KR" sz="8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8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외환</a:t>
            </a:r>
            <a:r>
              <a:rPr kumimoji="0" lang="en-US" altLang="ko-KR" sz="8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endParaRPr kumimoji="0" lang="ko-KR" altLang="en-US" sz="80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40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47863" y="1639469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41" name="내용 개체 틀 121"/>
          <p:cNvGraphicFramePr>
            <a:graphicFrameLocks/>
          </p:cNvGraphicFramePr>
          <p:nvPr>
            <p:extLst/>
          </p:nvPr>
        </p:nvGraphicFramePr>
        <p:xfrm>
          <a:off x="241359" y="1724801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203153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752475">
                  <a:extLst>
                    <a:ext uri="{9D8B030D-6E8A-4147-A177-3AD203B41FA5}">
                      <a16:colId xmlns:a16="http://schemas.microsoft.com/office/drawing/2014/main" val="3089572302"/>
                    </a:ext>
                  </a:extLst>
                </a:gridCol>
                <a:gridCol w="3004838">
                  <a:extLst>
                    <a:ext uri="{9D8B030D-6E8A-4147-A177-3AD203B41FA5}">
                      <a16:colId xmlns:a16="http://schemas.microsoft.com/office/drawing/2014/main" val="566354469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부점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kumimoji="0" lang="ko-KR" altLang="en-US" sz="700" i="0" u="none" strike="noStrike" kern="1200" cap="none" spc="-100" normalizeH="0" baseline="0" noProof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기준년월일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14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256128" y="1936097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조회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25371" y="1768358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637760" y="1768392"/>
            <a:ext cx="625584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       </a:t>
            </a:r>
            <a:endParaRPr kumimoji="0" lang="ko-KR" altLang="en-US" sz="10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145" name="그림 144"/>
          <p:cNvPicPr>
            <a:picLocks noChangeAspect="1"/>
          </p:cNvPicPr>
          <p:nvPr/>
        </p:nvPicPr>
        <p:blipFill rotWithShape="1">
          <a:blip r:embed="rId2"/>
          <a:srcRect r="73540"/>
          <a:stretch/>
        </p:blipFill>
        <p:spPr>
          <a:xfrm>
            <a:off x="1650460" y="1784914"/>
            <a:ext cx="183595" cy="164228"/>
          </a:xfrm>
          <a:prstGeom prst="rect">
            <a:avLst/>
          </a:prstGeom>
        </p:spPr>
      </p:pic>
      <p:sp>
        <p:nvSpPr>
          <p:cNvPr id="14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21638" y="1935854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엑셀출력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47" name="타원 14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87399" y="137913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48" name="타원 14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45523" y="282498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032894" y="1771768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2024-02-25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107706" y="1768358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2024-03-29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51" name="그림 15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673294" y="1775608"/>
            <a:ext cx="181098" cy="173224"/>
          </a:xfrm>
          <a:prstGeom prst="rect">
            <a:avLst/>
          </a:prstGeom>
        </p:spPr>
      </p:pic>
      <p:pic>
        <p:nvPicPr>
          <p:cNvPr id="152" name="그림 15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62208" y="1776956"/>
            <a:ext cx="164611" cy="157454"/>
          </a:xfrm>
          <a:prstGeom prst="rect">
            <a:avLst/>
          </a:prstGeom>
        </p:spPr>
      </p:pic>
      <p:cxnSp>
        <p:nvCxnSpPr>
          <p:cNvPr id="153" name="직선 연결선 152"/>
          <p:cNvCxnSpPr/>
          <p:nvPr/>
        </p:nvCxnSpPr>
        <p:spPr bwMode="auto">
          <a:xfrm>
            <a:off x="4911541" y="1862220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154" name="직사각형 153"/>
          <p:cNvSpPr/>
          <p:nvPr/>
        </p:nvSpPr>
        <p:spPr bwMode="auto">
          <a:xfrm>
            <a:off x="470258" y="2299132"/>
            <a:ext cx="108111" cy="10278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55" name="직사각형 154"/>
          <p:cNvSpPr/>
          <p:nvPr/>
        </p:nvSpPr>
        <p:spPr bwMode="auto">
          <a:xfrm>
            <a:off x="470258" y="2443999"/>
            <a:ext cx="108111" cy="10278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56" name="직사각형 155"/>
          <p:cNvSpPr/>
          <p:nvPr/>
        </p:nvSpPr>
        <p:spPr bwMode="auto">
          <a:xfrm>
            <a:off x="470257" y="2595507"/>
            <a:ext cx="108111" cy="10278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57" name="직사각형 156"/>
          <p:cNvSpPr/>
          <p:nvPr/>
        </p:nvSpPr>
        <p:spPr bwMode="auto">
          <a:xfrm>
            <a:off x="470257" y="2740572"/>
            <a:ext cx="108111" cy="10278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58" name="직사각형 157"/>
          <p:cNvSpPr/>
          <p:nvPr/>
        </p:nvSpPr>
        <p:spPr bwMode="auto">
          <a:xfrm>
            <a:off x="470257" y="2883786"/>
            <a:ext cx="108111" cy="10278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59" name="직사각형 158"/>
          <p:cNvSpPr/>
          <p:nvPr/>
        </p:nvSpPr>
        <p:spPr bwMode="auto">
          <a:xfrm>
            <a:off x="470256" y="3026975"/>
            <a:ext cx="108111" cy="10278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60" name="직사각형 159"/>
          <p:cNvSpPr/>
          <p:nvPr/>
        </p:nvSpPr>
        <p:spPr bwMode="auto">
          <a:xfrm>
            <a:off x="828250" y="2843353"/>
            <a:ext cx="3704264" cy="332215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61" name="표 160"/>
          <p:cNvGraphicFramePr>
            <a:graphicFrameLocks noGrp="1"/>
          </p:cNvGraphicFramePr>
          <p:nvPr>
            <p:extLst/>
          </p:nvPr>
        </p:nvGraphicFramePr>
        <p:xfrm>
          <a:off x="241357" y="3480338"/>
          <a:ext cx="6726400" cy="56483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5557">
                  <a:extLst>
                    <a:ext uri="{9D8B030D-6E8A-4147-A177-3AD203B41FA5}">
                      <a16:colId xmlns:a16="http://schemas.microsoft.com/office/drawing/2014/main" val="3663630622"/>
                    </a:ext>
                  </a:extLst>
                </a:gridCol>
                <a:gridCol w="237852">
                  <a:extLst>
                    <a:ext uri="{9D8B030D-6E8A-4147-A177-3AD203B41FA5}">
                      <a16:colId xmlns:a16="http://schemas.microsoft.com/office/drawing/2014/main" val="1376266068"/>
                    </a:ext>
                  </a:extLst>
                </a:gridCol>
                <a:gridCol w="696567">
                  <a:extLst>
                    <a:ext uri="{9D8B030D-6E8A-4147-A177-3AD203B41FA5}">
                      <a16:colId xmlns:a16="http://schemas.microsoft.com/office/drawing/2014/main" val="2994684756"/>
                    </a:ext>
                  </a:extLst>
                </a:gridCol>
                <a:gridCol w="724883">
                  <a:extLst>
                    <a:ext uri="{9D8B030D-6E8A-4147-A177-3AD203B41FA5}">
                      <a16:colId xmlns:a16="http://schemas.microsoft.com/office/drawing/2014/main" val="3566279780"/>
                    </a:ext>
                  </a:extLst>
                </a:gridCol>
                <a:gridCol w="237852">
                  <a:extLst>
                    <a:ext uri="{9D8B030D-6E8A-4147-A177-3AD203B41FA5}">
                      <a16:colId xmlns:a16="http://schemas.microsoft.com/office/drawing/2014/main" val="3490793918"/>
                    </a:ext>
                  </a:extLst>
                </a:gridCol>
                <a:gridCol w="624361">
                  <a:extLst>
                    <a:ext uri="{9D8B030D-6E8A-4147-A177-3AD203B41FA5}">
                      <a16:colId xmlns:a16="http://schemas.microsoft.com/office/drawing/2014/main" val="1260625628"/>
                    </a:ext>
                  </a:extLst>
                </a:gridCol>
                <a:gridCol w="386510">
                  <a:extLst>
                    <a:ext uri="{9D8B030D-6E8A-4147-A177-3AD203B41FA5}">
                      <a16:colId xmlns:a16="http://schemas.microsoft.com/office/drawing/2014/main" val="2964570096"/>
                    </a:ext>
                  </a:extLst>
                </a:gridCol>
                <a:gridCol w="305810">
                  <a:extLst>
                    <a:ext uri="{9D8B030D-6E8A-4147-A177-3AD203B41FA5}">
                      <a16:colId xmlns:a16="http://schemas.microsoft.com/office/drawing/2014/main" val="3054792268"/>
                    </a:ext>
                  </a:extLst>
                </a:gridCol>
                <a:gridCol w="158568">
                  <a:extLst>
                    <a:ext uri="{9D8B030D-6E8A-4147-A177-3AD203B41FA5}">
                      <a16:colId xmlns:a16="http://schemas.microsoft.com/office/drawing/2014/main" val="999243298"/>
                    </a:ext>
                  </a:extLst>
                </a:gridCol>
                <a:gridCol w="492693">
                  <a:extLst>
                    <a:ext uri="{9D8B030D-6E8A-4147-A177-3AD203B41FA5}">
                      <a16:colId xmlns:a16="http://schemas.microsoft.com/office/drawing/2014/main" val="3839463540"/>
                    </a:ext>
                  </a:extLst>
                </a:gridCol>
                <a:gridCol w="305810">
                  <a:extLst>
                    <a:ext uri="{9D8B030D-6E8A-4147-A177-3AD203B41FA5}">
                      <a16:colId xmlns:a16="http://schemas.microsoft.com/office/drawing/2014/main" val="420844730"/>
                    </a:ext>
                  </a:extLst>
                </a:gridCol>
                <a:gridCol w="385094">
                  <a:extLst>
                    <a:ext uri="{9D8B030D-6E8A-4147-A177-3AD203B41FA5}">
                      <a16:colId xmlns:a16="http://schemas.microsoft.com/office/drawing/2014/main" val="2221216960"/>
                    </a:ext>
                  </a:extLst>
                </a:gridCol>
                <a:gridCol w="385094">
                  <a:extLst>
                    <a:ext uri="{9D8B030D-6E8A-4147-A177-3AD203B41FA5}">
                      <a16:colId xmlns:a16="http://schemas.microsoft.com/office/drawing/2014/main" val="96831538"/>
                    </a:ext>
                  </a:extLst>
                </a:gridCol>
                <a:gridCol w="385094">
                  <a:extLst>
                    <a:ext uri="{9D8B030D-6E8A-4147-A177-3AD203B41FA5}">
                      <a16:colId xmlns:a16="http://schemas.microsoft.com/office/drawing/2014/main" val="1929824774"/>
                    </a:ext>
                  </a:extLst>
                </a:gridCol>
                <a:gridCol w="385094">
                  <a:extLst>
                    <a:ext uri="{9D8B030D-6E8A-4147-A177-3AD203B41FA5}">
                      <a16:colId xmlns:a16="http://schemas.microsoft.com/office/drawing/2014/main" val="3832408757"/>
                    </a:ext>
                  </a:extLst>
                </a:gridCol>
                <a:gridCol w="385094">
                  <a:extLst>
                    <a:ext uri="{9D8B030D-6E8A-4147-A177-3AD203B41FA5}">
                      <a16:colId xmlns:a16="http://schemas.microsoft.com/office/drawing/2014/main" val="509082658"/>
                    </a:ext>
                  </a:extLst>
                </a:gridCol>
                <a:gridCol w="454467">
                  <a:extLst>
                    <a:ext uri="{9D8B030D-6E8A-4147-A177-3AD203B41FA5}">
                      <a16:colId xmlns:a16="http://schemas.microsoft.com/office/drawing/2014/main" val="2074738626"/>
                    </a:ext>
                  </a:extLst>
                </a:gridCol>
              </a:tblGrid>
              <a:tr h="18354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  <a:endParaRPr 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부점코드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부점명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신용장번호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인도번호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계좌번호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접수일자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고객명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통화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금액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구분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LG</a:t>
                      </a:r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번호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LG</a:t>
                      </a:r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발급일자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인수일자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만기일자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결제일자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상태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0601373"/>
                  </a:ext>
                </a:extLst>
              </a:tr>
              <a:tr h="18354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0688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충무로역종합금융센터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u="none" strike="noStrike" spc="-100" baseline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M07372401NS00089</a:t>
                      </a:r>
                      <a:endParaRPr lang="en-US" sz="600" b="0" i="0" u="none" strike="noStrike" spc="-100" baseline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068***********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2024-03-22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㈜ 일등무역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USD</a:t>
                      </a:r>
                      <a:endParaRPr 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75,278.99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AT SIGHT</a:t>
                      </a:r>
                      <a:endParaRPr 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2024-03-29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선적서류도착등록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1307827"/>
                  </a:ext>
                </a:extLst>
              </a:tr>
              <a:tr h="18354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0688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충무로역종합금융센터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u="none" strike="noStrike" spc="-100" baseline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M07372402NS00858</a:t>
                      </a:r>
                      <a:endParaRPr lang="en-US" sz="600" b="0" i="0" u="none" strike="noStrike" spc="-100" baseline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068***********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2024-03-27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㈜ 일등무역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USD</a:t>
                      </a:r>
                      <a:endParaRPr 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113,906.42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AT SIGHT</a:t>
                      </a:r>
                      <a:endParaRPr 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2024-04-03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선적서류도착등록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5398" marR="5398" marT="5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379461"/>
                  </a:ext>
                </a:extLst>
              </a:tr>
            </a:tbl>
          </a:graphicData>
        </a:graphic>
      </p:graphicFrame>
      <p:sp>
        <p:nvSpPr>
          <p:cNvPr id="162" name="타원 16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60160" y="344345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63" name="표 162"/>
          <p:cNvGraphicFramePr>
            <a:graphicFrameLocks noGrp="1"/>
          </p:cNvGraphicFramePr>
          <p:nvPr>
            <p:extLst/>
          </p:nvPr>
        </p:nvGraphicFramePr>
        <p:xfrm>
          <a:off x="241356" y="4372007"/>
          <a:ext cx="6732901" cy="4538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4130">
                  <a:extLst>
                    <a:ext uri="{9D8B030D-6E8A-4147-A177-3AD203B41FA5}">
                      <a16:colId xmlns:a16="http://schemas.microsoft.com/office/drawing/2014/main" val="3107206286"/>
                    </a:ext>
                  </a:extLst>
                </a:gridCol>
                <a:gridCol w="303658">
                  <a:extLst>
                    <a:ext uri="{9D8B030D-6E8A-4147-A177-3AD203B41FA5}">
                      <a16:colId xmlns:a16="http://schemas.microsoft.com/office/drawing/2014/main" val="1665598900"/>
                    </a:ext>
                  </a:extLst>
                </a:gridCol>
                <a:gridCol w="889285">
                  <a:extLst>
                    <a:ext uri="{9D8B030D-6E8A-4147-A177-3AD203B41FA5}">
                      <a16:colId xmlns:a16="http://schemas.microsoft.com/office/drawing/2014/main" val="198056399"/>
                    </a:ext>
                  </a:extLst>
                </a:gridCol>
                <a:gridCol w="601895">
                  <a:extLst>
                    <a:ext uri="{9D8B030D-6E8A-4147-A177-3AD203B41FA5}">
                      <a16:colId xmlns:a16="http://schemas.microsoft.com/office/drawing/2014/main" val="412405632"/>
                    </a:ext>
                  </a:extLst>
                </a:gridCol>
                <a:gridCol w="580205">
                  <a:extLst>
                    <a:ext uri="{9D8B030D-6E8A-4147-A177-3AD203B41FA5}">
                      <a16:colId xmlns:a16="http://schemas.microsoft.com/office/drawing/2014/main" val="1654470391"/>
                    </a:ext>
                  </a:extLst>
                </a:gridCol>
                <a:gridCol w="797103">
                  <a:extLst>
                    <a:ext uri="{9D8B030D-6E8A-4147-A177-3AD203B41FA5}">
                      <a16:colId xmlns:a16="http://schemas.microsoft.com/office/drawing/2014/main" val="3587899568"/>
                    </a:ext>
                  </a:extLst>
                </a:gridCol>
                <a:gridCol w="493444">
                  <a:extLst>
                    <a:ext uri="{9D8B030D-6E8A-4147-A177-3AD203B41FA5}">
                      <a16:colId xmlns:a16="http://schemas.microsoft.com/office/drawing/2014/main" val="2038284474"/>
                    </a:ext>
                  </a:extLst>
                </a:gridCol>
                <a:gridCol w="390418">
                  <a:extLst>
                    <a:ext uri="{9D8B030D-6E8A-4147-A177-3AD203B41FA5}">
                      <a16:colId xmlns:a16="http://schemas.microsoft.com/office/drawing/2014/main" val="2135017651"/>
                    </a:ext>
                  </a:extLst>
                </a:gridCol>
                <a:gridCol w="1041114">
                  <a:extLst>
                    <a:ext uri="{9D8B030D-6E8A-4147-A177-3AD203B41FA5}">
                      <a16:colId xmlns:a16="http://schemas.microsoft.com/office/drawing/2014/main" val="621597418"/>
                    </a:ext>
                  </a:extLst>
                </a:gridCol>
                <a:gridCol w="883862">
                  <a:extLst>
                    <a:ext uri="{9D8B030D-6E8A-4147-A177-3AD203B41FA5}">
                      <a16:colId xmlns:a16="http://schemas.microsoft.com/office/drawing/2014/main" val="327193864"/>
                    </a:ext>
                  </a:extLst>
                </a:gridCol>
                <a:gridCol w="527787">
                  <a:extLst>
                    <a:ext uri="{9D8B030D-6E8A-4147-A177-3AD203B41FA5}">
                      <a16:colId xmlns:a16="http://schemas.microsoft.com/office/drawing/2014/main" val="3996552984"/>
                    </a:ext>
                  </a:extLst>
                </a:gridCol>
              </a:tblGrid>
              <a:tr h="15129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  <a:endParaRPr 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부점코드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부점명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대지급발생년월일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취급년월일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KB-PIN</a:t>
                      </a:r>
                      <a:endParaRPr 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고객명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계좌번호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대지급금액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대지급잔액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정리여부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0394523"/>
                  </a:ext>
                </a:extLst>
              </a:tr>
              <a:tr h="15129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0688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충무로역종합금융센터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2024-03-25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2024-03-25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123456789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********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45,123,000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정리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4426174"/>
                  </a:ext>
                </a:extLst>
              </a:tr>
              <a:tr h="15129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0688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충무로역종합금융센터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2024-03-25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2024-03-25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123456789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********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123,123,000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6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123,000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 err="1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미정리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450" marR="4450" marT="445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7910742"/>
                  </a:ext>
                </a:extLst>
              </a:tr>
            </a:tbl>
          </a:graphicData>
        </a:graphic>
      </p:graphicFrame>
      <p:cxnSp>
        <p:nvCxnSpPr>
          <p:cNvPr id="164" name="구부러진 연결선 163"/>
          <p:cNvCxnSpPr>
            <a:endCxn id="161" idx="0"/>
          </p:cNvCxnSpPr>
          <p:nvPr/>
        </p:nvCxnSpPr>
        <p:spPr bwMode="auto">
          <a:xfrm>
            <a:off x="3046415" y="2935176"/>
            <a:ext cx="558142" cy="545162"/>
          </a:xfrm>
          <a:prstGeom prst="curvedConnector2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cxnSp>
        <p:nvCxnSpPr>
          <p:cNvPr id="165" name="구부러진 연결선 164"/>
          <p:cNvCxnSpPr/>
          <p:nvPr/>
        </p:nvCxnSpPr>
        <p:spPr bwMode="auto">
          <a:xfrm>
            <a:off x="2635132" y="3104817"/>
            <a:ext cx="1271930" cy="1242251"/>
          </a:xfrm>
          <a:prstGeom prst="curvedConnector2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16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886452" y="1937828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계획조회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427412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226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21259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계획조회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엑셀출력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기존 기능 유지한다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‘(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방카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불완전판매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품질보증해지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민원해지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발생 건수’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‘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상시감사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지적 및 교육 현황’ 신규 항목 명세 존재 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해당내용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추출하여 표시한다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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를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 더블클릭하면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해당하는 행의 화면으로 이동하며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, RAS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항목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조회내용을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 출력한다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MDD-00002,MDD-00007</a:t>
                      </a:r>
                      <a:endParaRPr lang="ko-KR" altLang="en-US" sz="10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MDD72R48000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RAS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자료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내부통제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b="1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b="1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RAS/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감사자료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RAS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업무별조회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RAS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자료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내부통제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(P38: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정용욱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4" name="표 33"/>
          <p:cNvGraphicFramePr>
            <a:graphicFrameLocks noGrp="1"/>
          </p:cNvGraphicFramePr>
          <p:nvPr>
            <p:extLst/>
          </p:nvPr>
        </p:nvGraphicFramePr>
        <p:xfrm>
          <a:off x="245590" y="2153200"/>
          <a:ext cx="6726395" cy="1167248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600230">
                  <a:extLst>
                    <a:ext uri="{9D8B030D-6E8A-4147-A177-3AD203B41FA5}">
                      <a16:colId xmlns:a16="http://schemas.microsoft.com/office/drawing/2014/main" val="3624654645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2871289063"/>
                    </a:ext>
                  </a:extLst>
                </a:gridCol>
                <a:gridCol w="2964180">
                  <a:extLst>
                    <a:ext uri="{9D8B030D-6E8A-4147-A177-3AD203B41FA5}">
                      <a16:colId xmlns:a16="http://schemas.microsoft.com/office/drawing/2014/main" val="1626178617"/>
                    </a:ext>
                  </a:extLst>
                </a:gridCol>
                <a:gridCol w="810155">
                  <a:extLst>
                    <a:ext uri="{9D8B030D-6E8A-4147-A177-3AD203B41FA5}">
                      <a16:colId xmlns:a16="http://schemas.microsoft.com/office/drawing/2014/main" val="808142443"/>
                    </a:ext>
                  </a:extLst>
                </a:gridCol>
                <a:gridCol w="810155">
                  <a:extLst>
                    <a:ext uri="{9D8B030D-6E8A-4147-A177-3AD203B41FA5}">
                      <a16:colId xmlns:a16="http://schemas.microsoft.com/office/drawing/2014/main" val="3686710118"/>
                    </a:ext>
                  </a:extLst>
                </a:gridCol>
                <a:gridCol w="810155">
                  <a:extLst>
                    <a:ext uri="{9D8B030D-6E8A-4147-A177-3AD203B41FA5}">
                      <a16:colId xmlns:a16="http://schemas.microsoft.com/office/drawing/2014/main" val="2538171718"/>
                    </a:ext>
                  </a:extLst>
                </a:gridCol>
              </a:tblGrid>
              <a:tr h="14590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선택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자료번호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자료명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대상시작일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대상종료일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자료건수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7035972"/>
                  </a:ext>
                </a:extLst>
              </a:tr>
              <a:tr h="145906"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7908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전문총괄표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(SWIFT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전문조회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매영업일 점검 여부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2024-02-25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2024-03-29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3125279"/>
                  </a:ext>
                </a:extLst>
              </a:tr>
              <a:tr h="145906"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7910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일정기간내에 증여성 외화당발송금이 발생한 경우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2024-02-25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2024-03-29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0507909"/>
                  </a:ext>
                </a:extLst>
              </a:tr>
              <a:tr h="145906"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7911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수출환어음 매입시 신용장개설은행이 채권보전 대상인 경우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2024-02-25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2024-03-29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4951374"/>
                  </a:ext>
                </a:extLst>
              </a:tr>
              <a:tr h="145906"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7912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하자있는 수출환어음 매입한 경우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2024-02-25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2024-03-29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6729722"/>
                  </a:ext>
                </a:extLst>
              </a:tr>
              <a:tr h="145906"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</a:t>
                      </a:r>
                      <a:r>
                        <a:rPr lang="en-US" altLang="ko-KR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방카</a:t>
                      </a:r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불완전판매</a:t>
                      </a:r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품질보증해지</a:t>
                      </a:r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민원해지</a:t>
                      </a:r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발생 건수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2024-02-25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2024-03-29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4386251"/>
                  </a:ext>
                </a:extLst>
              </a:tr>
              <a:tr h="145906"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</a:t>
                      </a:r>
                      <a:r>
                        <a:rPr lang="en-US" altLang="ko-KR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상시감사 지적 및 교육 현황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2024-02-25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2024-03-29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7368002"/>
                  </a:ext>
                </a:extLst>
              </a:tr>
              <a:tr h="145906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5036972"/>
                  </a:ext>
                </a:extLst>
              </a:tr>
            </a:tbl>
          </a:graphicData>
        </a:graphic>
      </p:graphicFrame>
      <p:sp>
        <p:nvSpPr>
          <p:cNvPr id="39" name="양쪽 모서리가 둥근 사각형 38"/>
          <p:cNvSpPr/>
          <p:nvPr/>
        </p:nvSpPr>
        <p:spPr bwMode="auto">
          <a:xfrm>
            <a:off x="264488" y="1470360"/>
            <a:ext cx="12988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en-US" altLang="ko-KR" sz="8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RAS</a:t>
            </a:r>
            <a:r>
              <a:rPr kumimoji="0" lang="ko-KR" altLang="en-US" sz="8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자료</a:t>
            </a:r>
            <a:r>
              <a:rPr kumimoji="0" lang="en-US" altLang="ko-KR" sz="8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8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내부통제</a:t>
            </a:r>
            <a:r>
              <a:rPr kumimoji="0" lang="en-US" altLang="ko-KR" sz="8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endParaRPr kumimoji="0" lang="ko-KR" altLang="en-US" sz="80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0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64489" y="1656095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41" name="내용 개체 틀 121"/>
          <p:cNvGraphicFramePr>
            <a:graphicFrameLocks/>
          </p:cNvGraphicFramePr>
          <p:nvPr>
            <p:extLst/>
          </p:nvPr>
        </p:nvGraphicFramePr>
        <p:xfrm>
          <a:off x="257985" y="1741427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203153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752475">
                  <a:extLst>
                    <a:ext uri="{9D8B030D-6E8A-4147-A177-3AD203B41FA5}">
                      <a16:colId xmlns:a16="http://schemas.microsoft.com/office/drawing/2014/main" val="3089572302"/>
                    </a:ext>
                  </a:extLst>
                </a:gridCol>
                <a:gridCol w="3004838">
                  <a:extLst>
                    <a:ext uri="{9D8B030D-6E8A-4147-A177-3AD203B41FA5}">
                      <a16:colId xmlns:a16="http://schemas.microsoft.com/office/drawing/2014/main" val="566354469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부점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kumimoji="0" lang="ko-KR" altLang="en-US" sz="700" i="0" u="none" strike="noStrike" kern="1200" cap="none" spc="-100" normalizeH="0" baseline="0" noProof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기준년월일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43" name="직사각형 4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41997" y="1784984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654386" y="1785018"/>
            <a:ext cx="625584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       </a:t>
            </a:r>
            <a:endParaRPr kumimoji="0" lang="ko-KR" altLang="en-US" sz="10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45" name="그림 44"/>
          <p:cNvPicPr>
            <a:picLocks noChangeAspect="1"/>
          </p:cNvPicPr>
          <p:nvPr/>
        </p:nvPicPr>
        <p:blipFill rotWithShape="1">
          <a:blip r:embed="rId2"/>
          <a:srcRect r="73540"/>
          <a:stretch/>
        </p:blipFill>
        <p:spPr>
          <a:xfrm>
            <a:off x="1667086" y="1801540"/>
            <a:ext cx="183595" cy="164228"/>
          </a:xfrm>
          <a:prstGeom prst="rect">
            <a:avLst/>
          </a:prstGeom>
        </p:spPr>
      </p:pic>
      <p:sp>
        <p:nvSpPr>
          <p:cNvPr id="47" name="타원 4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04025" y="139576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62149" y="284160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049520" y="1788394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2024-02-25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124332" y="1784984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2024-03-29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51" name="그림 5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689920" y="1792234"/>
            <a:ext cx="181098" cy="173224"/>
          </a:xfrm>
          <a:prstGeom prst="rect">
            <a:avLst/>
          </a:prstGeom>
        </p:spPr>
      </p:pic>
      <p:pic>
        <p:nvPicPr>
          <p:cNvPr id="52" name="그림 5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78834" y="1793582"/>
            <a:ext cx="164611" cy="157454"/>
          </a:xfrm>
          <a:prstGeom prst="rect">
            <a:avLst/>
          </a:prstGeom>
        </p:spPr>
      </p:pic>
      <p:cxnSp>
        <p:nvCxnSpPr>
          <p:cNvPr id="53" name="직선 연결선 52"/>
          <p:cNvCxnSpPr/>
          <p:nvPr/>
        </p:nvCxnSpPr>
        <p:spPr bwMode="auto">
          <a:xfrm>
            <a:off x="4928167" y="1878846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54" name="직사각형 53"/>
          <p:cNvSpPr/>
          <p:nvPr/>
        </p:nvSpPr>
        <p:spPr bwMode="auto">
          <a:xfrm>
            <a:off x="486884" y="2315758"/>
            <a:ext cx="108111" cy="10278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5" name="직사각형 54"/>
          <p:cNvSpPr/>
          <p:nvPr/>
        </p:nvSpPr>
        <p:spPr bwMode="auto">
          <a:xfrm>
            <a:off x="486884" y="2460625"/>
            <a:ext cx="108111" cy="10278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6" name="직사각형 55"/>
          <p:cNvSpPr/>
          <p:nvPr/>
        </p:nvSpPr>
        <p:spPr bwMode="auto">
          <a:xfrm>
            <a:off x="486883" y="2612133"/>
            <a:ext cx="108111" cy="10278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7" name="직사각형 56"/>
          <p:cNvSpPr/>
          <p:nvPr/>
        </p:nvSpPr>
        <p:spPr bwMode="auto">
          <a:xfrm>
            <a:off x="486883" y="2757198"/>
            <a:ext cx="108111" cy="10278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8" name="직사각형 57"/>
          <p:cNvSpPr/>
          <p:nvPr/>
        </p:nvSpPr>
        <p:spPr bwMode="auto">
          <a:xfrm>
            <a:off x="486883" y="2900412"/>
            <a:ext cx="108111" cy="10278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9" name="직사각형 58"/>
          <p:cNvSpPr/>
          <p:nvPr/>
        </p:nvSpPr>
        <p:spPr bwMode="auto">
          <a:xfrm>
            <a:off x="486882" y="3043601"/>
            <a:ext cx="108111" cy="10278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0" name="직사각형 59"/>
          <p:cNvSpPr/>
          <p:nvPr/>
        </p:nvSpPr>
        <p:spPr bwMode="auto">
          <a:xfrm>
            <a:off x="844876" y="2859979"/>
            <a:ext cx="3704264" cy="332215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61" name="구부러진 연결선 60"/>
          <p:cNvCxnSpPr/>
          <p:nvPr/>
        </p:nvCxnSpPr>
        <p:spPr bwMode="auto">
          <a:xfrm>
            <a:off x="3510770" y="2951802"/>
            <a:ext cx="558142" cy="545162"/>
          </a:xfrm>
          <a:prstGeom prst="curvedConnector2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graphicFrame>
        <p:nvGraphicFramePr>
          <p:cNvPr id="62" name="표 61"/>
          <p:cNvGraphicFramePr>
            <a:graphicFrameLocks noGrp="1"/>
          </p:cNvGraphicFramePr>
          <p:nvPr>
            <p:extLst/>
          </p:nvPr>
        </p:nvGraphicFramePr>
        <p:xfrm>
          <a:off x="257982" y="3539013"/>
          <a:ext cx="6698974" cy="53236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6182">
                  <a:extLst>
                    <a:ext uri="{9D8B030D-6E8A-4147-A177-3AD203B41FA5}">
                      <a16:colId xmlns:a16="http://schemas.microsoft.com/office/drawing/2014/main" val="1187032902"/>
                    </a:ext>
                  </a:extLst>
                </a:gridCol>
                <a:gridCol w="414827">
                  <a:extLst>
                    <a:ext uri="{9D8B030D-6E8A-4147-A177-3AD203B41FA5}">
                      <a16:colId xmlns:a16="http://schemas.microsoft.com/office/drawing/2014/main" val="2983181622"/>
                    </a:ext>
                  </a:extLst>
                </a:gridCol>
                <a:gridCol w="1214853">
                  <a:extLst>
                    <a:ext uri="{9D8B030D-6E8A-4147-A177-3AD203B41FA5}">
                      <a16:colId xmlns:a16="http://schemas.microsoft.com/office/drawing/2014/main" val="2033292488"/>
                    </a:ext>
                  </a:extLst>
                </a:gridCol>
                <a:gridCol w="819778">
                  <a:extLst>
                    <a:ext uri="{9D8B030D-6E8A-4147-A177-3AD203B41FA5}">
                      <a16:colId xmlns:a16="http://schemas.microsoft.com/office/drawing/2014/main" val="1151518008"/>
                    </a:ext>
                  </a:extLst>
                </a:gridCol>
                <a:gridCol w="632118">
                  <a:extLst>
                    <a:ext uri="{9D8B030D-6E8A-4147-A177-3AD203B41FA5}">
                      <a16:colId xmlns:a16="http://schemas.microsoft.com/office/drawing/2014/main" val="3883357001"/>
                    </a:ext>
                  </a:extLst>
                </a:gridCol>
                <a:gridCol w="827804">
                  <a:extLst>
                    <a:ext uri="{9D8B030D-6E8A-4147-A177-3AD203B41FA5}">
                      <a16:colId xmlns:a16="http://schemas.microsoft.com/office/drawing/2014/main" val="1121756539"/>
                    </a:ext>
                  </a:extLst>
                </a:gridCol>
                <a:gridCol w="827804">
                  <a:extLst>
                    <a:ext uri="{9D8B030D-6E8A-4147-A177-3AD203B41FA5}">
                      <a16:colId xmlns:a16="http://schemas.microsoft.com/office/drawing/2014/main" val="4137758265"/>
                    </a:ext>
                  </a:extLst>
                </a:gridCol>
                <a:gridCol w="827804">
                  <a:extLst>
                    <a:ext uri="{9D8B030D-6E8A-4147-A177-3AD203B41FA5}">
                      <a16:colId xmlns:a16="http://schemas.microsoft.com/office/drawing/2014/main" val="1543820198"/>
                    </a:ext>
                  </a:extLst>
                </a:gridCol>
                <a:gridCol w="827804">
                  <a:extLst>
                    <a:ext uri="{9D8B030D-6E8A-4147-A177-3AD203B41FA5}">
                      <a16:colId xmlns:a16="http://schemas.microsoft.com/office/drawing/2014/main" val="3369882117"/>
                    </a:ext>
                  </a:extLst>
                </a:gridCol>
              </a:tblGrid>
              <a:tr h="20542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8589" marR="8589" marT="858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부점코드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8589" marR="8589" marT="858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부점명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8589" marR="8589" marT="858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기준분기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8589" marR="8589" marT="858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전체계약건수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8589" marR="8589" marT="858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품질보증해지건수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8589" marR="8589" marT="858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민원해지건수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8589" marR="8589" marT="858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Alarm</a:t>
                      </a:r>
                      <a:r>
                        <a:rPr lang="ko-KR" alt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발생</a:t>
                      </a:r>
                      <a:br>
                        <a:rPr lang="ko-KR" alt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</a:br>
                      <a:r>
                        <a:rPr lang="ko-KR" alt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판매인 수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8589" marR="8589" marT="858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자격정지</a:t>
                      </a:r>
                      <a:br>
                        <a:rPr lang="ko-KR" alt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</a:br>
                      <a:r>
                        <a:rPr lang="ko-KR" alt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판매인 수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8589" marR="8589" marT="858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133823"/>
                  </a:ext>
                </a:extLst>
              </a:tr>
              <a:tr h="15520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8589" marR="8589" marT="858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0688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8589" marR="8589" marT="858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충무로역종합금융센터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8589" marR="8589" marT="858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2024-1</a:t>
                      </a:r>
                      <a:r>
                        <a:rPr lang="ko-KR" alt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분기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8589" marR="8589" marT="858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25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8589" marR="8589" marT="858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8589" marR="8589" marT="858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8589" marR="8589" marT="858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8589" marR="8589" marT="858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8589" marR="8589" marT="858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9434447"/>
                  </a:ext>
                </a:extLst>
              </a:tr>
              <a:tr h="15520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8589" marR="8589" marT="858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0688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8589" marR="8589" marT="858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충무로역종합금융센터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8589" marR="8589" marT="858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2023-4</a:t>
                      </a:r>
                      <a:r>
                        <a:rPr lang="ko-KR" alt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분기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8589" marR="8589" marT="858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19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8589" marR="8589" marT="858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8589" marR="8589" marT="858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8589" marR="8589" marT="858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8589" marR="8589" marT="858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8589" marR="8589" marT="858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446016"/>
                  </a:ext>
                </a:extLst>
              </a:tr>
            </a:tbl>
          </a:graphicData>
        </a:graphic>
      </p:graphicFrame>
      <p:sp>
        <p:nvSpPr>
          <p:cNvPr id="63" name="타원 6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76786" y="346008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64" name="표 63"/>
          <p:cNvGraphicFramePr>
            <a:graphicFrameLocks noGrp="1"/>
          </p:cNvGraphicFramePr>
          <p:nvPr>
            <p:extLst/>
          </p:nvPr>
        </p:nvGraphicFramePr>
        <p:xfrm>
          <a:off x="244224" y="4323305"/>
          <a:ext cx="6727760" cy="89673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6769">
                  <a:extLst>
                    <a:ext uri="{9D8B030D-6E8A-4147-A177-3AD203B41FA5}">
                      <a16:colId xmlns:a16="http://schemas.microsoft.com/office/drawing/2014/main" val="952738370"/>
                    </a:ext>
                  </a:extLst>
                </a:gridCol>
                <a:gridCol w="347880">
                  <a:extLst>
                    <a:ext uri="{9D8B030D-6E8A-4147-A177-3AD203B41FA5}">
                      <a16:colId xmlns:a16="http://schemas.microsoft.com/office/drawing/2014/main" val="2618643413"/>
                    </a:ext>
                  </a:extLst>
                </a:gridCol>
                <a:gridCol w="1018793">
                  <a:extLst>
                    <a:ext uri="{9D8B030D-6E8A-4147-A177-3AD203B41FA5}">
                      <a16:colId xmlns:a16="http://schemas.microsoft.com/office/drawing/2014/main" val="564684811"/>
                    </a:ext>
                  </a:extLst>
                </a:gridCol>
                <a:gridCol w="687479">
                  <a:extLst>
                    <a:ext uri="{9D8B030D-6E8A-4147-A177-3AD203B41FA5}">
                      <a16:colId xmlns:a16="http://schemas.microsoft.com/office/drawing/2014/main" val="2452434507"/>
                    </a:ext>
                  </a:extLst>
                </a:gridCol>
                <a:gridCol w="530104">
                  <a:extLst>
                    <a:ext uri="{9D8B030D-6E8A-4147-A177-3AD203B41FA5}">
                      <a16:colId xmlns:a16="http://schemas.microsoft.com/office/drawing/2014/main" val="2970572334"/>
                    </a:ext>
                  </a:extLst>
                </a:gridCol>
                <a:gridCol w="695761">
                  <a:extLst>
                    <a:ext uri="{9D8B030D-6E8A-4147-A177-3AD203B41FA5}">
                      <a16:colId xmlns:a16="http://schemas.microsoft.com/office/drawing/2014/main" val="2543040427"/>
                    </a:ext>
                  </a:extLst>
                </a:gridCol>
                <a:gridCol w="565305">
                  <a:extLst>
                    <a:ext uri="{9D8B030D-6E8A-4147-A177-3AD203B41FA5}">
                      <a16:colId xmlns:a16="http://schemas.microsoft.com/office/drawing/2014/main" val="2609465967"/>
                    </a:ext>
                  </a:extLst>
                </a:gridCol>
                <a:gridCol w="565305">
                  <a:extLst>
                    <a:ext uri="{9D8B030D-6E8A-4147-A177-3AD203B41FA5}">
                      <a16:colId xmlns:a16="http://schemas.microsoft.com/office/drawing/2014/main" val="661310167"/>
                    </a:ext>
                  </a:extLst>
                </a:gridCol>
                <a:gridCol w="950460">
                  <a:extLst>
                    <a:ext uri="{9D8B030D-6E8A-4147-A177-3AD203B41FA5}">
                      <a16:colId xmlns:a16="http://schemas.microsoft.com/office/drawing/2014/main" val="3439882379"/>
                    </a:ext>
                  </a:extLst>
                </a:gridCol>
                <a:gridCol w="554952">
                  <a:extLst>
                    <a:ext uri="{9D8B030D-6E8A-4147-A177-3AD203B41FA5}">
                      <a16:colId xmlns:a16="http://schemas.microsoft.com/office/drawing/2014/main" val="1196573795"/>
                    </a:ext>
                  </a:extLst>
                </a:gridCol>
                <a:gridCol w="554952">
                  <a:extLst>
                    <a:ext uri="{9D8B030D-6E8A-4147-A177-3AD203B41FA5}">
                      <a16:colId xmlns:a16="http://schemas.microsoft.com/office/drawing/2014/main" val="1886718597"/>
                    </a:ext>
                  </a:extLst>
                </a:gridCol>
              </a:tblGrid>
              <a:tr h="15165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부점코드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부점명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기준월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상시추출건수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추출현황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지적현황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93913217"/>
                  </a:ext>
                </a:extLst>
              </a:tr>
              <a:tr h="296714">
                <a:tc v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익영업일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메시지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자동점검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지적건수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교육사항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567051"/>
                  </a:ext>
                </a:extLst>
              </a:tr>
              <a:tr h="22418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0688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충무로역종합금융센터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25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15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6175069"/>
                  </a:ext>
                </a:extLst>
              </a:tr>
              <a:tr h="22418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0688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충무로역종합금융센터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2024-02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19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12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892" marR="7892" marT="78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8056123"/>
                  </a:ext>
                </a:extLst>
              </a:tr>
            </a:tbl>
          </a:graphicData>
        </a:graphic>
      </p:graphicFrame>
      <p:cxnSp>
        <p:nvCxnSpPr>
          <p:cNvPr id="65" name="구부러진 연결선 64"/>
          <p:cNvCxnSpPr/>
          <p:nvPr/>
        </p:nvCxnSpPr>
        <p:spPr bwMode="auto">
          <a:xfrm>
            <a:off x="2554293" y="3105830"/>
            <a:ext cx="1328132" cy="1209162"/>
          </a:xfrm>
          <a:prstGeom prst="curvedConnector2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6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256128" y="1969349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조회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21638" y="1969106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엑셀출력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886452" y="1971080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계획조회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305640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MDD-00017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MDD72C50000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en-US" altLang="ko-KR" sz="12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부점현황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임점감사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부점현황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(P42: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298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거래년월일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대상부점을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선택후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해당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부점현황이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출력되며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추가로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PG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장 인적사항 오즈 리포트 내용추가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sp>
        <p:nvSpPr>
          <p:cNvPr id="16" name="양쪽 모서리가 둥근 사각형 15"/>
          <p:cNvSpPr/>
          <p:nvPr/>
        </p:nvSpPr>
        <p:spPr bwMode="auto">
          <a:xfrm>
            <a:off x="164726" y="1079654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부점현황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7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158223" y="1005058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8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164727" y="1265389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19" name="그림 1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4725" y="1292979"/>
            <a:ext cx="6726397" cy="470752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1977610" y="1879672"/>
            <a:ext cx="356615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u="sng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[0688] </a:t>
            </a:r>
            <a:r>
              <a:rPr lang="ko-KR" altLang="en-US" sz="1600" u="sng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충무로역종합금융센터</a:t>
            </a:r>
            <a:r>
              <a:rPr lang="ko-KR" altLang="en-US" sz="1600" u="sng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현황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977609" y="2169098"/>
            <a:ext cx="356615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2024.02 </a:t>
            </a:r>
            <a:r>
              <a:rPr lang="ko-KR" altLang="en-US" sz="10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월 현재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291739" y="2356993"/>
            <a:ext cx="227688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▣ 점포현황</a:t>
            </a:r>
          </a:p>
        </p:txBody>
      </p:sp>
      <p:graphicFrame>
        <p:nvGraphicFramePr>
          <p:cNvPr id="23" name="표 22"/>
          <p:cNvGraphicFramePr>
            <a:graphicFrameLocks noGrp="1"/>
          </p:cNvGraphicFramePr>
          <p:nvPr>
            <p:extLst/>
          </p:nvPr>
        </p:nvGraphicFramePr>
        <p:xfrm>
          <a:off x="291739" y="2571505"/>
          <a:ext cx="6565454" cy="7315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257357">
                  <a:extLst>
                    <a:ext uri="{9D8B030D-6E8A-4147-A177-3AD203B41FA5}">
                      <a16:colId xmlns:a16="http://schemas.microsoft.com/office/drawing/2014/main" val="3203214728"/>
                    </a:ext>
                  </a:extLst>
                </a:gridCol>
                <a:gridCol w="5308097">
                  <a:extLst>
                    <a:ext uri="{9D8B030D-6E8A-4147-A177-3AD203B41FA5}">
                      <a16:colId xmlns:a16="http://schemas.microsoft.com/office/drawing/2014/main" val="2968355012"/>
                    </a:ext>
                  </a:extLst>
                </a:gridCol>
              </a:tblGrid>
              <a:tr h="144355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개점일자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1977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 </a:t>
                      </a:r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12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 </a:t>
                      </a:r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12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 </a:t>
                      </a:r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(46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 </a:t>
                      </a:r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개월</a:t>
                      </a:r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51048157"/>
                  </a:ext>
                </a:extLst>
              </a:tr>
              <a:tr h="14636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소재지</a:t>
                      </a:r>
                      <a:endParaRPr lang="ko-KR" altLang="en-US" sz="10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서울시 중구 </a:t>
                      </a:r>
                      <a:r>
                        <a:rPr lang="en-US" altLang="ko-KR" sz="10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*** ** (****)</a:t>
                      </a:r>
                      <a:endParaRPr lang="ko-KR" altLang="en-US" sz="10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471906"/>
                  </a:ext>
                </a:extLst>
              </a:tr>
              <a:tr h="14636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출장소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[2976] 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동국대학교</a:t>
                      </a:r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</a:t>
                      </a:r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4169148"/>
                  </a:ext>
                </a:extLst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291739" y="3377663"/>
            <a:ext cx="227688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▣ </a:t>
            </a:r>
            <a:r>
              <a:rPr lang="en-US" altLang="ko-KR" sz="10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PG</a:t>
            </a:r>
            <a:r>
              <a:rPr lang="ko-KR" altLang="en-US" sz="10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장 인적사항 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91739" y="4603107"/>
            <a:ext cx="227688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▣ 부점장 인적사항</a:t>
            </a:r>
          </a:p>
        </p:txBody>
      </p:sp>
      <p:graphicFrame>
        <p:nvGraphicFramePr>
          <p:cNvPr id="26" name="표 25"/>
          <p:cNvGraphicFramePr>
            <a:graphicFrameLocks noGrp="1"/>
          </p:cNvGraphicFramePr>
          <p:nvPr>
            <p:extLst/>
          </p:nvPr>
        </p:nvGraphicFramePr>
        <p:xfrm>
          <a:off x="291739" y="3605539"/>
          <a:ext cx="6565455" cy="91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257357">
                  <a:extLst>
                    <a:ext uri="{9D8B030D-6E8A-4147-A177-3AD203B41FA5}">
                      <a16:colId xmlns:a16="http://schemas.microsoft.com/office/drawing/2014/main" val="3203214728"/>
                    </a:ext>
                  </a:extLst>
                </a:gridCol>
                <a:gridCol w="884683">
                  <a:extLst>
                    <a:ext uri="{9D8B030D-6E8A-4147-A177-3AD203B41FA5}">
                      <a16:colId xmlns:a16="http://schemas.microsoft.com/office/drawing/2014/main" val="2968355012"/>
                    </a:ext>
                  </a:extLst>
                </a:gridCol>
                <a:gridCol w="884683">
                  <a:extLst>
                    <a:ext uri="{9D8B030D-6E8A-4147-A177-3AD203B41FA5}">
                      <a16:colId xmlns:a16="http://schemas.microsoft.com/office/drawing/2014/main" val="2579667254"/>
                    </a:ext>
                  </a:extLst>
                </a:gridCol>
                <a:gridCol w="884683">
                  <a:extLst>
                    <a:ext uri="{9D8B030D-6E8A-4147-A177-3AD203B41FA5}">
                      <a16:colId xmlns:a16="http://schemas.microsoft.com/office/drawing/2014/main" val="1764900058"/>
                    </a:ext>
                  </a:extLst>
                </a:gridCol>
                <a:gridCol w="884683">
                  <a:extLst>
                    <a:ext uri="{9D8B030D-6E8A-4147-A177-3AD203B41FA5}">
                      <a16:colId xmlns:a16="http://schemas.microsoft.com/office/drawing/2014/main" val="2449094113"/>
                    </a:ext>
                  </a:extLst>
                </a:gridCol>
                <a:gridCol w="884683">
                  <a:extLst>
                    <a:ext uri="{9D8B030D-6E8A-4147-A177-3AD203B41FA5}">
                      <a16:colId xmlns:a16="http://schemas.microsoft.com/office/drawing/2014/main" val="1964667329"/>
                    </a:ext>
                  </a:extLst>
                </a:gridCol>
                <a:gridCol w="884683">
                  <a:extLst>
                    <a:ext uri="{9D8B030D-6E8A-4147-A177-3AD203B41FA5}">
                      <a16:colId xmlns:a16="http://schemas.microsoft.com/office/drawing/2014/main" val="1246783537"/>
                    </a:ext>
                  </a:extLst>
                </a:gridCol>
              </a:tblGrid>
              <a:tr h="20004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PG</a:t>
                      </a:r>
                      <a:r>
                        <a:rPr lang="ko-KR" altLang="en-US" sz="9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장명</a:t>
                      </a:r>
                      <a:endParaRPr lang="ko-KR" altLang="en-US" sz="9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생일</a:t>
                      </a:r>
                      <a:endParaRPr lang="ko-KR" altLang="en-US" sz="9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급호</a:t>
                      </a:r>
                      <a:endParaRPr lang="ko-KR" altLang="en-US" sz="9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입행일</a:t>
                      </a:r>
                      <a:endParaRPr lang="ko-KR" altLang="en-US" sz="9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승격일</a:t>
                      </a:r>
                      <a:endParaRPr lang="ko-KR" altLang="en-US" sz="9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전입일</a:t>
                      </a:r>
                      <a:endParaRPr lang="ko-KR" altLang="en-US" sz="9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전출일</a:t>
                      </a:r>
                      <a:endParaRPr lang="ko-KR" altLang="en-US" sz="9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1048157"/>
                  </a:ext>
                </a:extLst>
              </a:tr>
              <a:tr h="20004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PG</a:t>
                      </a:r>
                      <a:r>
                        <a:rPr lang="ko-KR" altLang="en-US" sz="9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장 </a:t>
                      </a:r>
                      <a:r>
                        <a:rPr lang="ko-KR" altLang="en-US" sz="9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개인번호</a:t>
                      </a:r>
                      <a:endParaRPr lang="ko-KR" altLang="en-US" sz="9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출신고교</a:t>
                      </a:r>
                      <a:endParaRPr lang="ko-KR" altLang="en-US" sz="9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출신대학</a:t>
                      </a:r>
                      <a:endParaRPr lang="ko-KR" altLang="en-US" sz="9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 </a:t>
                      </a:r>
                      <a:r>
                        <a:rPr lang="en-US" altLang="ko-KR" sz="9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PG</a:t>
                      </a:r>
                      <a:r>
                        <a:rPr lang="ko-KR" altLang="en-US" sz="9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명</a:t>
                      </a:r>
                      <a:endParaRPr lang="ko-KR" altLang="en-US" sz="9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15471906"/>
                  </a:ext>
                </a:extLst>
              </a:tr>
              <a:tr h="20004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endParaRPr lang="ko-KR" altLang="en-US" sz="9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1976-02-03</a:t>
                      </a:r>
                      <a:endParaRPr lang="ko-KR" altLang="en-US" sz="9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L4-12</a:t>
                      </a:r>
                      <a:endParaRPr lang="ko-KR" altLang="en-US" sz="9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1991-01-08</a:t>
                      </a:r>
                      <a:endParaRPr lang="ko-KR" altLang="en-US" sz="9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2018-01-02</a:t>
                      </a:r>
                      <a:endParaRPr lang="ko-KR" altLang="en-US" sz="9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2023-01-02</a:t>
                      </a:r>
                      <a:endParaRPr lang="ko-KR" altLang="en-US" sz="9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</a:t>
                      </a:r>
                      <a:endParaRPr lang="ko-KR" altLang="en-US" sz="9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4169148"/>
                  </a:ext>
                </a:extLst>
              </a:tr>
              <a:tr h="20004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1604001</a:t>
                      </a:r>
                      <a:endParaRPr lang="ko-KR" altLang="en-US" sz="9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서울 고등학교</a:t>
                      </a:r>
                      <a:endParaRPr lang="ko-KR" altLang="en-US" sz="9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충무로 대학교</a:t>
                      </a:r>
                      <a:endParaRPr lang="ko-KR" altLang="en-US" sz="9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충무로역종합금융센터</a:t>
                      </a:r>
                      <a:endParaRPr lang="ko-KR" altLang="en-US" sz="9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90822011"/>
                  </a:ext>
                </a:extLst>
              </a:tr>
            </a:tbl>
          </a:graphicData>
        </a:graphic>
      </p:graphicFrame>
      <p:sp>
        <p:nvSpPr>
          <p:cNvPr id="29" name="타원 2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468086" y="152835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0" name="직사각형 29"/>
          <p:cNvSpPr/>
          <p:nvPr/>
        </p:nvSpPr>
        <p:spPr bwMode="auto">
          <a:xfrm>
            <a:off x="244615" y="3392575"/>
            <a:ext cx="6612577" cy="1145843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82464" y="332788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8" name="표 27"/>
          <p:cNvGraphicFramePr>
            <a:graphicFrameLocks noGrp="1"/>
          </p:cNvGraphicFramePr>
          <p:nvPr>
            <p:extLst/>
          </p:nvPr>
        </p:nvGraphicFramePr>
        <p:xfrm>
          <a:off x="241946" y="4849328"/>
          <a:ext cx="6565454" cy="7315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257357">
                  <a:extLst>
                    <a:ext uri="{9D8B030D-6E8A-4147-A177-3AD203B41FA5}">
                      <a16:colId xmlns:a16="http://schemas.microsoft.com/office/drawing/2014/main" val="3203214728"/>
                    </a:ext>
                  </a:extLst>
                </a:gridCol>
                <a:gridCol w="5308097">
                  <a:extLst>
                    <a:ext uri="{9D8B030D-6E8A-4147-A177-3AD203B41FA5}">
                      <a16:colId xmlns:a16="http://schemas.microsoft.com/office/drawing/2014/main" val="2968355012"/>
                    </a:ext>
                  </a:extLst>
                </a:gridCol>
              </a:tblGrid>
              <a:tr h="144355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기존동일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51048157"/>
                  </a:ext>
                </a:extLst>
              </a:tr>
              <a:tr h="146360">
                <a:tc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471906"/>
                  </a:ext>
                </a:extLst>
              </a:tr>
              <a:tr h="146360">
                <a:tc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416914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56253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1961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기존 기능 유지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감시일지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작성여부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노출항목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추가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알림기능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추가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 Daily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체크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16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시기준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감사일보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미작성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(N)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감사역에게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workB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를 통한 쪽지 알림 발송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다</a:t>
                      </a:r>
                      <a:r>
                        <a:rPr lang="en-US" altLang="ko-KR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 Daily 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신규 배치로 전송할 예정</a:t>
                      </a:r>
                      <a:endParaRPr lang="en-US" altLang="ko-KR" sz="800" b="0" baseline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라</a:t>
                      </a:r>
                      <a:r>
                        <a:rPr lang="en-US" altLang="ko-KR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 </a:t>
                      </a:r>
                      <a:r>
                        <a:rPr lang="ko-KR" altLang="en-US" sz="800" b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영업일에만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회 전송 </a:t>
                      </a:r>
                      <a:r>
                        <a:rPr lang="en-US" altLang="ko-KR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16:00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에 전송</a:t>
                      </a:r>
                      <a:endParaRPr lang="en-US" altLang="ko-KR" sz="800" b="0" baseline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번 목록 대상에서 </a:t>
                      </a:r>
                      <a:r>
                        <a:rPr lang="en-US" altLang="ko-KR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[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등록</a:t>
                      </a:r>
                      <a:r>
                        <a:rPr lang="en-US" altLang="ko-KR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버튼을 클릭하지 않은 감사역을 대상으로 쪽지 발송</a:t>
                      </a:r>
                      <a:endParaRPr lang="en-US" altLang="ko-KR" sz="800" b="0" baseline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5219305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MDD-00018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MDD75G28000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감사일보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임점감사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종합감사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감사일보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(P43: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유성용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43" name="양쪽 모서리가 둥근 사각형 42"/>
          <p:cNvSpPr/>
          <p:nvPr/>
        </p:nvSpPr>
        <p:spPr bwMode="auto">
          <a:xfrm>
            <a:off x="214611" y="1003726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감사일보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4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08108" y="929130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14612" y="1189461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46" name="그림 4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8108" y="1189461"/>
            <a:ext cx="6732899" cy="1701272"/>
          </a:xfrm>
          <a:prstGeom prst="rect">
            <a:avLst/>
          </a:prstGeom>
        </p:spPr>
      </p:pic>
      <p:sp>
        <p:nvSpPr>
          <p:cNvPr id="47" name="타원 4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00052" y="100594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48" name="표 47"/>
          <p:cNvGraphicFramePr>
            <a:graphicFrameLocks noGrp="1"/>
          </p:cNvGraphicFramePr>
          <p:nvPr>
            <p:extLst/>
          </p:nvPr>
        </p:nvGraphicFramePr>
        <p:xfrm>
          <a:off x="214608" y="2967372"/>
          <a:ext cx="6692470" cy="125270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981385">
                  <a:extLst>
                    <a:ext uri="{9D8B030D-6E8A-4147-A177-3AD203B41FA5}">
                      <a16:colId xmlns:a16="http://schemas.microsoft.com/office/drawing/2014/main" val="3847035099"/>
                    </a:ext>
                  </a:extLst>
                </a:gridCol>
                <a:gridCol w="733425">
                  <a:extLst>
                    <a:ext uri="{9D8B030D-6E8A-4147-A177-3AD203B41FA5}">
                      <a16:colId xmlns:a16="http://schemas.microsoft.com/office/drawing/2014/main" val="3575983402"/>
                    </a:ext>
                  </a:extLst>
                </a:gridCol>
                <a:gridCol w="2300672">
                  <a:extLst>
                    <a:ext uri="{9D8B030D-6E8A-4147-A177-3AD203B41FA5}">
                      <a16:colId xmlns:a16="http://schemas.microsoft.com/office/drawing/2014/main" val="1370939472"/>
                    </a:ext>
                  </a:extLst>
                </a:gridCol>
                <a:gridCol w="1995103">
                  <a:extLst>
                    <a:ext uri="{9D8B030D-6E8A-4147-A177-3AD203B41FA5}">
                      <a16:colId xmlns:a16="http://schemas.microsoft.com/office/drawing/2014/main" val="141908262"/>
                    </a:ext>
                  </a:extLst>
                </a:gridCol>
                <a:gridCol w="681885">
                  <a:extLst>
                    <a:ext uri="{9D8B030D-6E8A-4147-A177-3AD203B41FA5}">
                      <a16:colId xmlns:a16="http://schemas.microsoft.com/office/drawing/2014/main" val="581818842"/>
                    </a:ext>
                  </a:extLst>
                </a:gridCol>
              </a:tblGrid>
              <a:tr h="28299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기준년월일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감사역</a:t>
                      </a:r>
                      <a:endParaRPr lang="ko-KR" altLang="en-US" sz="10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활동내용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지시사항내용</a:t>
                      </a:r>
                      <a:endParaRPr lang="ko-KR" altLang="en-US" sz="10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감사일지 작성여부</a:t>
                      </a:r>
                      <a:endParaRPr lang="ko-KR" altLang="en-US" sz="10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7689119"/>
                  </a:ext>
                </a:extLst>
              </a:tr>
              <a:tr h="2854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2023-03-27</a:t>
                      </a:r>
                      <a:endParaRPr lang="ko-KR" altLang="en-US" sz="10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</a:t>
                      </a:r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지점장 면담</a:t>
                      </a:r>
                      <a:r>
                        <a:rPr lang="en-US" altLang="ko-KR" sz="10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en-US" altLang="ko-KR" sz="10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10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 현황 파악</a:t>
                      </a:r>
                      <a:endParaRPr lang="ko-KR" altLang="en-US" sz="10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전반적인 </a:t>
                      </a:r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업무실태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파악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Y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12555445"/>
                  </a:ext>
                </a:extLst>
              </a:tr>
              <a:tr h="2854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2023-03-27</a:t>
                      </a:r>
                      <a:endParaRPr lang="ko-KR" altLang="en-US" sz="10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</a:t>
                      </a:r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책임자 승인거래내역 명세표 점검</a:t>
                      </a:r>
                      <a:endParaRPr lang="ko-KR" altLang="en-US" sz="10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업무처리 적정성 점검</a:t>
                      </a:r>
                      <a:endParaRPr lang="ko-KR" altLang="en-US" sz="10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</a:t>
                      </a:r>
                      <a:endParaRPr lang="ko-KR" altLang="en-US" sz="1000" dirty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2416211"/>
                  </a:ext>
                </a:extLst>
              </a:tr>
              <a:tr h="2854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10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548517"/>
                  </a:ext>
                </a:extLst>
              </a:tr>
            </a:tbl>
          </a:graphicData>
        </a:graphic>
      </p:graphicFrame>
      <p:sp>
        <p:nvSpPr>
          <p:cNvPr id="49" name="직사각형 48"/>
          <p:cNvSpPr/>
          <p:nvPr/>
        </p:nvSpPr>
        <p:spPr bwMode="auto">
          <a:xfrm>
            <a:off x="6218715" y="2967372"/>
            <a:ext cx="683139" cy="1252704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124674" y="288759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75548" y="294023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95945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123782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26246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저장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출력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기존 기능 유지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종합감사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감사조서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내용 작성시 자동 줄 맞춤 기능 추가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나</a:t>
                      </a:r>
                      <a:r>
                        <a:rPr lang="en-US" altLang="ko-KR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 </a:t>
                      </a:r>
                      <a:r>
                        <a:rPr lang="ko-KR" altLang="en-US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첫 문장에 일정 공백을 입력하고 줄 바꿈 시 직전 첫 문장 공백을 승계 </a:t>
                      </a:r>
                      <a:r>
                        <a:rPr lang="en-US" altLang="ko-KR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b="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b="0" baseline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구현가능</a:t>
                      </a:r>
                      <a:r>
                        <a:rPr lang="ko-KR" altLang="en-US" sz="800" b="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b="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en-US" altLang="ko-KR" sz="800" b="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</a:tbl>
          </a:graphicData>
        </a:graphic>
      </p:graphicFrame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MDD-00019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MDD75G37000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감사조서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(1/2)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임점감사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종합감사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감사조서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(P44: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유성용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5" name="양쪽 모서리가 둥근 사각형 4"/>
          <p:cNvSpPr/>
          <p:nvPr/>
        </p:nvSpPr>
        <p:spPr bwMode="auto">
          <a:xfrm>
            <a:off x="206299" y="1146163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감사조서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199796" y="1071567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06300" y="1331898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91740" y="114838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9796" y="1493676"/>
            <a:ext cx="6716728" cy="4618175"/>
          </a:xfrm>
          <a:prstGeom prst="rect">
            <a:avLst/>
          </a:prstGeom>
        </p:spPr>
      </p:pic>
      <p:sp>
        <p:nvSpPr>
          <p:cNvPr id="19" name="직사각형 18"/>
          <p:cNvSpPr/>
          <p:nvPr/>
        </p:nvSpPr>
        <p:spPr bwMode="auto">
          <a:xfrm>
            <a:off x="889462" y="2676698"/>
            <a:ext cx="5951913" cy="3366655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820659" y="260820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176143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96878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26246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</a:tbl>
          </a:graphicData>
        </a:graphic>
      </p:graphicFrame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MDD-00019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MDD75G37000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감사조서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(2/2)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임점감사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종합감사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감사조서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(P44: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정용욱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pSp>
        <p:nvGrpSpPr>
          <p:cNvPr id="16" name="그룹 15"/>
          <p:cNvGrpSpPr/>
          <p:nvPr/>
        </p:nvGrpSpPr>
        <p:grpSpPr>
          <a:xfrm>
            <a:off x="0" y="1119757"/>
            <a:ext cx="7324666" cy="493432"/>
            <a:chOff x="675132" y="3346391"/>
            <a:chExt cx="2540508" cy="268024"/>
          </a:xfrm>
        </p:grpSpPr>
        <p:sp>
          <p:nvSpPr>
            <p:cNvPr id="17" name="TextBox 16"/>
            <p:cNvSpPr txBox="1"/>
            <p:nvPr/>
          </p:nvSpPr>
          <p:spPr>
            <a:xfrm>
              <a:off x="675132" y="3346391"/>
              <a:ext cx="2540508" cy="11702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ko-KR" altLang="en-US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702970" y="3522467"/>
              <a:ext cx="2484830" cy="919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ko-KR" altLang="en-US" sz="5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cxnSp>
          <p:nvCxnSpPr>
            <p:cNvPr id="21" name="직선 연결선 20"/>
            <p:cNvCxnSpPr/>
            <p:nvPr/>
          </p:nvCxnSpPr>
          <p:spPr bwMode="auto">
            <a:xfrm>
              <a:off x="777240" y="3536898"/>
              <a:ext cx="2337435" cy="0"/>
            </a:xfrm>
            <a:prstGeom prst="line">
              <a:avLst/>
            </a:prstGeom>
            <a:solidFill>
              <a:schemeClr val="accent1"/>
            </a:solidFill>
            <a:ln w="349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28398" dir="1593903" algn="ctr" rotWithShape="0">
                      <a:schemeClr val="tx1"/>
                    </a:outerShdw>
                  </a:effectLst>
                </a14:hiddenEffects>
              </a:ext>
            </a:extLst>
          </p:spPr>
        </p:cxnSp>
        <p:cxnSp>
          <p:nvCxnSpPr>
            <p:cNvPr id="22" name="직선 연결선 21"/>
            <p:cNvCxnSpPr/>
            <p:nvPr/>
          </p:nvCxnSpPr>
          <p:spPr bwMode="auto">
            <a:xfrm>
              <a:off x="777240" y="3355914"/>
              <a:ext cx="2337435" cy="0"/>
            </a:xfrm>
            <a:prstGeom prst="line">
              <a:avLst/>
            </a:prstGeom>
            <a:solidFill>
              <a:schemeClr val="accent1"/>
            </a:solidFill>
            <a:ln w="349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28398" dir="1593903" algn="ctr" rotWithShape="0">
                      <a:schemeClr val="tx1"/>
                    </a:outerShdw>
                  </a:effectLst>
                </a14:hiddenEffects>
              </a:ext>
            </a:extLst>
          </p:spPr>
        </p:cxnSp>
      </p:grpSp>
      <p:sp>
        <p:nvSpPr>
          <p:cNvPr id="26" name="타원 2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25590" y="107148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11" name="그림 10" descr="화면 캡처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7273" y="1848772"/>
            <a:ext cx="5830114" cy="3086531"/>
          </a:xfrm>
          <a:prstGeom prst="rect">
            <a:avLst/>
          </a:prstGeom>
        </p:spPr>
      </p:pic>
      <p:graphicFrame>
        <p:nvGraphicFramePr>
          <p:cNvPr id="12" name="표 11"/>
          <p:cNvGraphicFramePr>
            <a:graphicFrameLocks noGrp="1"/>
          </p:cNvGraphicFramePr>
          <p:nvPr>
            <p:extLst/>
          </p:nvPr>
        </p:nvGraphicFramePr>
        <p:xfrm>
          <a:off x="688568" y="1503379"/>
          <a:ext cx="5830114" cy="21853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830114">
                  <a:extLst>
                    <a:ext uri="{9D8B030D-6E8A-4147-A177-3AD203B41FA5}">
                      <a16:colId xmlns:a16="http://schemas.microsoft.com/office/drawing/2014/main" val="814781478"/>
                    </a:ext>
                  </a:extLst>
                </a:gridCol>
              </a:tblGrid>
              <a:tr h="218531"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 </a:t>
                      </a: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레포트출력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3543530"/>
                  </a:ext>
                </a:extLst>
              </a:tr>
            </a:tbl>
          </a:graphicData>
        </a:graphic>
      </p:graphicFrame>
      <p:sp>
        <p:nvSpPr>
          <p:cNvPr id="23" name="직사각형 22"/>
          <p:cNvSpPr/>
          <p:nvPr/>
        </p:nvSpPr>
        <p:spPr bwMode="auto">
          <a:xfrm>
            <a:off x="2673047" y="1223674"/>
            <a:ext cx="2243441" cy="498236"/>
          </a:xfrm>
          <a:prstGeom prst="rect">
            <a:avLst/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1000" b="1" i="0" u="none" strike="noStrike" kern="0" cap="none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감사조서보고서 양식 전달 받음</a:t>
            </a:r>
            <a:endParaRPr kumimoji="0" lang="ko-KR" altLang="en-US" sz="1000" b="1" i="0" u="none" strike="noStrike" kern="0" cap="none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356101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332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21259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보고서출력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기존 기능 유지한다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선택된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종합적인 현황과 감사 관련 내용에 대해 컨설팅 보고서를 제공하도록 기능 개선한다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신규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)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선택된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부점의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 종합적인 현황과 감사 관련 내용에 대해 컨설팅 보고서를 제공하도록 기능 개선한다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본 내용은 모듈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2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제공 데이터 형태에 따라 변동 가능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)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 지적 현황 및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KPI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감점 현황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RAS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전산평가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현황 등 기 적재 데이터를 활용하여 보고서 형식으로 화면 출력한다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감사보고서에서 감사역이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직접입력한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종합의견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및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부점현황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지적현황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,KPI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현황 등을 토대로 기본 양식에 맞춰 보고서 작성 및 출력한다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b="1" dirty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MDD-00020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MDD72G45000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 및 내부통제 현황 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(1/2)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임점감사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종합감사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전자설문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 및 내부통제 현황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(P45: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정용욱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36" name="양쪽 모서리가 둥근 사각형 35"/>
          <p:cNvSpPr/>
          <p:nvPr/>
        </p:nvSpPr>
        <p:spPr bwMode="auto">
          <a:xfrm>
            <a:off x="264488" y="1462047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감사 및 내부통제 현황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7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57985" y="1387451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8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64489" y="1647782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57985" y="144474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40" name="표 39"/>
          <p:cNvGraphicFramePr>
            <a:graphicFrameLocks noGrp="1"/>
          </p:cNvGraphicFramePr>
          <p:nvPr>
            <p:extLst/>
          </p:nvPr>
        </p:nvGraphicFramePr>
        <p:xfrm>
          <a:off x="257987" y="1765927"/>
          <a:ext cx="6698968" cy="243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06908">
                  <a:extLst>
                    <a:ext uri="{9D8B030D-6E8A-4147-A177-3AD203B41FA5}">
                      <a16:colId xmlns:a16="http://schemas.microsoft.com/office/drawing/2014/main" val="2816117376"/>
                    </a:ext>
                  </a:extLst>
                </a:gridCol>
                <a:gridCol w="485775">
                  <a:extLst>
                    <a:ext uri="{9D8B030D-6E8A-4147-A177-3AD203B41FA5}">
                      <a16:colId xmlns:a16="http://schemas.microsoft.com/office/drawing/2014/main" val="1315945688"/>
                    </a:ext>
                  </a:extLst>
                </a:gridCol>
                <a:gridCol w="647700">
                  <a:extLst>
                    <a:ext uri="{9D8B030D-6E8A-4147-A177-3AD203B41FA5}">
                      <a16:colId xmlns:a16="http://schemas.microsoft.com/office/drawing/2014/main" val="1415517543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924254518"/>
                    </a:ext>
                  </a:extLst>
                </a:gridCol>
                <a:gridCol w="904875">
                  <a:extLst>
                    <a:ext uri="{9D8B030D-6E8A-4147-A177-3AD203B41FA5}">
                      <a16:colId xmlns:a16="http://schemas.microsoft.com/office/drawing/2014/main" val="1508395074"/>
                    </a:ext>
                  </a:extLst>
                </a:gridCol>
                <a:gridCol w="409575">
                  <a:extLst>
                    <a:ext uri="{9D8B030D-6E8A-4147-A177-3AD203B41FA5}">
                      <a16:colId xmlns:a16="http://schemas.microsoft.com/office/drawing/2014/main" val="2489001949"/>
                    </a:ext>
                  </a:extLst>
                </a:gridCol>
                <a:gridCol w="866775">
                  <a:extLst>
                    <a:ext uri="{9D8B030D-6E8A-4147-A177-3AD203B41FA5}">
                      <a16:colId xmlns:a16="http://schemas.microsoft.com/office/drawing/2014/main" val="1907794040"/>
                    </a:ext>
                  </a:extLst>
                </a:gridCol>
                <a:gridCol w="2053485">
                  <a:extLst>
                    <a:ext uri="{9D8B030D-6E8A-4147-A177-3AD203B41FA5}">
                      <a16:colId xmlns:a16="http://schemas.microsoft.com/office/drawing/2014/main" val="4116009228"/>
                    </a:ext>
                  </a:extLst>
                </a:gridCol>
              </a:tblGrid>
              <a:tr h="20899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감사계획년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감사종류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종합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감사계획차수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감사대상부점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4998078"/>
                  </a:ext>
                </a:extLst>
              </a:tr>
            </a:tbl>
          </a:graphicData>
        </a:graphic>
      </p:graphicFrame>
      <p:grpSp>
        <p:nvGrpSpPr>
          <p:cNvPr id="41" name="그룹 40"/>
          <p:cNvGrpSpPr/>
          <p:nvPr/>
        </p:nvGrpSpPr>
        <p:grpSpPr>
          <a:xfrm>
            <a:off x="4949960" y="1785056"/>
            <a:ext cx="1045710" cy="180915"/>
            <a:chOff x="3888573" y="3542054"/>
            <a:chExt cx="1045710" cy="180915"/>
          </a:xfrm>
        </p:grpSpPr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3888573" y="3542054"/>
              <a:ext cx="1045710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dirty="0" err="1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충무로역종합금융센터</a:t>
              </a:r>
              <a:endParaRPr kumimoji="0" lang="ko-KR" altLang="en-US" sz="1000" b="0" i="0" u="none" strike="noStrike" kern="1200" cap="none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43" name="이등변 삼각형 42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4811035" y="3622344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4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384608" y="2046724"/>
            <a:ext cx="572347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보고서 출력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250583" y="2827547"/>
            <a:ext cx="6706372" cy="3099084"/>
          </a:xfrm>
          <a:prstGeom prst="rect">
            <a:avLst/>
          </a:prstGeom>
          <a:noFill/>
          <a:ln w="6350">
            <a:solidFill>
              <a:schemeClr val="bg2">
                <a:lumMod val="90000"/>
              </a:schemeClr>
            </a:solidFill>
          </a:ln>
        </p:spPr>
        <p:txBody>
          <a:bodyPr wrap="square" rtlCol="0">
            <a:spAutoFit/>
          </a:bodyPr>
          <a:lstStyle/>
          <a:p>
            <a:endParaRPr lang="ko-KR" altLang="en-US" sz="90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48" name="그룹 47"/>
          <p:cNvGrpSpPr/>
          <p:nvPr/>
        </p:nvGrpSpPr>
        <p:grpSpPr>
          <a:xfrm>
            <a:off x="250583" y="2898847"/>
            <a:ext cx="2527045" cy="345355"/>
            <a:chOff x="675132" y="3346389"/>
            <a:chExt cx="2540508" cy="345355"/>
          </a:xfrm>
        </p:grpSpPr>
        <p:sp>
          <p:nvSpPr>
            <p:cNvPr id="49" name="TextBox 48"/>
            <p:cNvSpPr txBox="1"/>
            <p:nvPr/>
          </p:nvSpPr>
          <p:spPr>
            <a:xfrm>
              <a:off x="675132" y="3346389"/>
              <a:ext cx="254050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충무로역종합금융센터</a:t>
              </a:r>
              <a:r>
                <a:rPr lang="en-US" altLang="ko-KR" sz="8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[0688]</a:t>
              </a:r>
              <a:r>
                <a:rPr lang="ko-KR" altLang="en-US" sz="8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 감사 및 내부통제 업무 현황</a:t>
              </a: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702970" y="3522467"/>
              <a:ext cx="248483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(2024.03.27</a:t>
              </a:r>
              <a:r>
                <a:rPr lang="ko-KR" altLang="en-US" sz="5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 현재</a:t>
              </a:r>
              <a:r>
                <a:rPr lang="en-US" altLang="ko-KR" sz="5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)</a:t>
              </a:r>
              <a:endParaRPr lang="ko-KR" altLang="en-US" sz="5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cxnSp>
          <p:nvCxnSpPr>
            <p:cNvPr id="51" name="직선 연결선 50"/>
            <p:cNvCxnSpPr/>
            <p:nvPr/>
          </p:nvCxnSpPr>
          <p:spPr bwMode="auto">
            <a:xfrm>
              <a:off x="777240" y="3536898"/>
              <a:ext cx="2337435" cy="0"/>
            </a:xfrm>
            <a:prstGeom prst="line">
              <a:avLst/>
            </a:prstGeom>
            <a:solidFill>
              <a:schemeClr val="accent1"/>
            </a:solidFill>
            <a:ln w="349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28398" dir="1593903" algn="ctr" rotWithShape="0">
                      <a:schemeClr val="tx1"/>
                    </a:outerShdw>
                  </a:effectLst>
                </a14:hiddenEffects>
              </a:ext>
            </a:extLst>
          </p:spPr>
        </p:cxnSp>
        <p:cxnSp>
          <p:nvCxnSpPr>
            <p:cNvPr id="52" name="직선 연결선 51"/>
            <p:cNvCxnSpPr/>
            <p:nvPr/>
          </p:nvCxnSpPr>
          <p:spPr bwMode="auto">
            <a:xfrm>
              <a:off x="777240" y="3355914"/>
              <a:ext cx="2337435" cy="0"/>
            </a:xfrm>
            <a:prstGeom prst="line">
              <a:avLst/>
            </a:prstGeom>
            <a:solidFill>
              <a:schemeClr val="accent1"/>
            </a:solidFill>
            <a:ln w="349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28398" dir="1593903" algn="ctr" rotWithShape="0">
                      <a:schemeClr val="tx1"/>
                    </a:outerShdw>
                  </a:effectLst>
                </a14:hiddenEffects>
              </a:ext>
            </a:extLst>
          </p:spPr>
        </p:cxnSp>
      </p:grpSp>
      <p:sp>
        <p:nvSpPr>
          <p:cNvPr id="53" name="TextBox 52"/>
          <p:cNvSpPr txBox="1"/>
          <p:nvPr/>
        </p:nvSpPr>
        <p:spPr>
          <a:xfrm>
            <a:off x="326788" y="3241477"/>
            <a:ext cx="2471662" cy="28469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1. </a:t>
            </a:r>
            <a:r>
              <a:rPr lang="ko-KR" altLang="en-US" sz="5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감사기간 </a:t>
            </a:r>
            <a:r>
              <a:rPr lang="en-US" altLang="ko-KR" sz="5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2024.03.25 (</a:t>
            </a:r>
            <a:r>
              <a:rPr lang="ko-KR" altLang="en-US" sz="5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월</a:t>
            </a:r>
            <a:r>
              <a:rPr lang="en-US" altLang="ko-KR" sz="5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 ~ 2024.03.27 (</a:t>
            </a:r>
            <a:r>
              <a:rPr lang="ko-KR" altLang="en-US" sz="5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수</a:t>
            </a:r>
            <a:r>
              <a:rPr lang="en-US" altLang="ko-KR" sz="5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</a:p>
          <a:p>
            <a:r>
              <a:rPr lang="en-US" altLang="ko-KR" sz="5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2. </a:t>
            </a:r>
            <a:r>
              <a:rPr lang="ko-KR" altLang="en-US" sz="5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부점 위험 유형 분석 결과 요약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52150" y="4958633"/>
            <a:ext cx="2471662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0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r>
              <a:rPr lang="en-US" altLang="ko-KR" sz="5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. </a:t>
            </a:r>
            <a:r>
              <a:rPr lang="ko-KR" altLang="en-US" sz="5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임점감사 지적현황</a:t>
            </a:r>
          </a:p>
        </p:txBody>
      </p:sp>
      <p:pic>
        <p:nvPicPr>
          <p:cNvPr id="56" name="그림 5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95591" y="5084076"/>
            <a:ext cx="2207481" cy="801205"/>
          </a:xfrm>
          <a:prstGeom prst="rect">
            <a:avLst/>
          </a:prstGeom>
        </p:spPr>
      </p:pic>
      <p:cxnSp>
        <p:nvCxnSpPr>
          <p:cNvPr id="57" name="직선 연결선 56"/>
          <p:cNvCxnSpPr/>
          <p:nvPr/>
        </p:nvCxnSpPr>
        <p:spPr bwMode="auto">
          <a:xfrm>
            <a:off x="2773511" y="2900059"/>
            <a:ext cx="0" cy="2976909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pic>
        <p:nvPicPr>
          <p:cNvPr id="58" name="그림 5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87122" y="3053030"/>
            <a:ext cx="1947170" cy="1565932"/>
          </a:xfrm>
          <a:prstGeom prst="rect">
            <a:avLst/>
          </a:prstGeom>
        </p:spPr>
      </p:pic>
      <p:pic>
        <p:nvPicPr>
          <p:cNvPr id="59" name="그림 58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67924" y="4652206"/>
            <a:ext cx="1966368" cy="1224761"/>
          </a:xfrm>
          <a:prstGeom prst="rect">
            <a:avLst/>
          </a:prstGeom>
        </p:spPr>
      </p:pic>
      <p:cxnSp>
        <p:nvCxnSpPr>
          <p:cNvPr id="60" name="직선 연결선 59"/>
          <p:cNvCxnSpPr/>
          <p:nvPr/>
        </p:nvCxnSpPr>
        <p:spPr bwMode="auto">
          <a:xfrm>
            <a:off x="4966416" y="2900059"/>
            <a:ext cx="0" cy="2976909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61" name="TextBox 60"/>
          <p:cNvSpPr txBox="1"/>
          <p:nvPr/>
        </p:nvSpPr>
        <p:spPr>
          <a:xfrm>
            <a:off x="5049794" y="3048809"/>
            <a:ext cx="1808205" cy="1323439"/>
          </a:xfrm>
          <a:prstGeom prst="rect">
            <a:avLst/>
          </a:prstGeom>
          <a:noFill/>
          <a:ln w="6350">
            <a:solidFill>
              <a:schemeClr val="bg2">
                <a:lumMod val="90000"/>
              </a:schemeClr>
            </a:solidFill>
          </a:ln>
        </p:spPr>
        <p:txBody>
          <a:bodyPr wrap="square" rtlCol="0">
            <a:spAutoFit/>
          </a:bodyPr>
          <a:lstStyle/>
          <a:p>
            <a:r>
              <a:rPr lang="ko-KR" altLang="en-US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중부 지역그룹 소속의 </a:t>
            </a:r>
            <a:r>
              <a:rPr lang="ko-KR" altLang="en-US" sz="4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충무로역종합금융센터에</a:t>
            </a:r>
            <a:r>
              <a:rPr lang="ko-KR" altLang="en-US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대한 금번 감사는 </a:t>
            </a:r>
            <a:r>
              <a:rPr lang="en-US" altLang="ko-KR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r>
              <a:rPr lang="ko-KR" altLang="en-US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월 </a:t>
            </a:r>
            <a:r>
              <a:rPr lang="en-US" altLang="ko-KR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25</a:t>
            </a:r>
            <a:r>
              <a:rPr lang="ko-KR" altLang="en-US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일부터 </a:t>
            </a:r>
            <a:r>
              <a:rPr lang="en-US" altLang="ko-KR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r>
              <a:rPr lang="ko-KR" altLang="en-US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월 </a:t>
            </a:r>
            <a:r>
              <a:rPr lang="en-US" altLang="ko-KR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27</a:t>
            </a:r>
            <a:r>
              <a:rPr lang="ko-KR" altLang="en-US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일 기간 중 </a:t>
            </a:r>
            <a:r>
              <a:rPr lang="ko-KR" altLang="en-US" sz="4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종합감사로</a:t>
            </a:r>
            <a:r>
              <a:rPr lang="ko-KR" altLang="en-US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실시되었습니다</a:t>
            </a:r>
            <a:r>
              <a:rPr lang="en-US" altLang="ko-KR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.</a:t>
            </a:r>
          </a:p>
          <a:p>
            <a:endParaRPr lang="en-US" altLang="ko-KR" sz="4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r>
              <a:rPr lang="ko-KR" altLang="en-US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금번 </a:t>
            </a:r>
            <a:r>
              <a:rPr lang="ko-KR" altLang="en-US" sz="4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임점감사</a:t>
            </a:r>
            <a:r>
              <a:rPr lang="ko-KR" altLang="en-US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결과 </a:t>
            </a:r>
            <a:r>
              <a:rPr lang="en-US" altLang="ko-KR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“OOO OO OOOO”, “OO </a:t>
            </a:r>
            <a:r>
              <a:rPr lang="en-US" altLang="ko-KR" sz="4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OO</a:t>
            </a:r>
            <a:r>
              <a:rPr lang="en-US" altLang="ko-KR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OOOO OO” </a:t>
            </a:r>
            <a:r>
              <a:rPr lang="ko-KR" altLang="en-US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등이 미흡한 것으로 파악되었으며</a:t>
            </a:r>
            <a:r>
              <a:rPr lang="en-US" altLang="ko-KR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lang="ko-KR" altLang="en-US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현재 동 지점의 준법상시모니터링에 의한 지적은 </a:t>
            </a:r>
            <a:r>
              <a:rPr lang="en-US" altLang="ko-KR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X</a:t>
            </a:r>
            <a:r>
              <a:rPr lang="ko-KR" altLang="en-US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건 입니다</a:t>
            </a:r>
            <a:r>
              <a:rPr lang="en-US" altLang="ko-KR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.</a:t>
            </a:r>
          </a:p>
          <a:p>
            <a:endParaRPr lang="en-US" altLang="ko-KR" sz="4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r>
              <a:rPr lang="ko-KR" altLang="en-US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 관련 </a:t>
            </a:r>
            <a:r>
              <a:rPr lang="en-US" altLang="ko-KR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KPI</a:t>
            </a:r>
            <a:r>
              <a:rPr lang="ko-KR" altLang="en-US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에 대한 최근 </a:t>
            </a:r>
            <a:r>
              <a:rPr lang="en-US" altLang="ko-KR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r>
              <a:rPr lang="ko-KR" altLang="en-US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개년 </a:t>
            </a:r>
            <a:r>
              <a:rPr lang="ko-KR" altLang="en-US" sz="4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지적현황은</a:t>
            </a:r>
            <a:r>
              <a:rPr lang="ko-KR" altLang="en-US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lang="en-US" altLang="ko-KR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-0.05</a:t>
            </a:r>
            <a:r>
              <a:rPr lang="ko-KR" altLang="en-US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점으로 은행 </a:t>
            </a:r>
            <a:r>
              <a:rPr lang="ko-KR" altLang="en-US" sz="4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평균대비</a:t>
            </a:r>
            <a:r>
              <a:rPr lang="ko-KR" altLang="en-US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lang="en-US" altLang="ko-KR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0.33</a:t>
            </a:r>
            <a:r>
              <a:rPr lang="ko-KR" altLang="en-US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점 우위를 득하고 있는 것으로 파악되고 있습니다</a:t>
            </a:r>
            <a:r>
              <a:rPr lang="en-US" altLang="ko-KR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.</a:t>
            </a:r>
          </a:p>
          <a:p>
            <a:r>
              <a:rPr lang="en-US" altLang="ko-KR" sz="4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lang="en-US" altLang="ko-KR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- </a:t>
            </a:r>
            <a:r>
              <a:rPr lang="ko-KR" altLang="en-US" sz="4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감사부문</a:t>
            </a:r>
            <a:r>
              <a:rPr lang="ko-KR" altLang="en-US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lang="en-US" altLang="ko-KR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KPI</a:t>
            </a:r>
            <a:r>
              <a:rPr lang="ko-KR" altLang="en-US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와 관련하여 </a:t>
            </a:r>
            <a:r>
              <a:rPr lang="ko-KR" altLang="en-US" sz="4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감점현황은</a:t>
            </a:r>
            <a:r>
              <a:rPr lang="ko-KR" altLang="en-US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lang="ko-KR" altLang="en-US" sz="4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심의확정</a:t>
            </a:r>
            <a:r>
              <a:rPr lang="ko-KR" altLang="en-US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시 감사정보시스템 에서 조회 가능</a:t>
            </a:r>
            <a:endParaRPr lang="en-US" altLang="ko-KR" sz="400" dirty="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endParaRPr lang="en-US" altLang="ko-KR" sz="4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r>
              <a:rPr lang="en-US" altLang="ko-KR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RAS</a:t>
            </a:r>
            <a:r>
              <a:rPr lang="ko-KR" altLang="en-US" sz="4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전산평가</a:t>
            </a:r>
            <a:r>
              <a:rPr lang="ko-KR" altLang="en-US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항목은 지침</a:t>
            </a:r>
            <a:r>
              <a:rPr lang="en-US" altLang="ko-KR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/</a:t>
            </a:r>
            <a:r>
              <a:rPr lang="ko-KR" altLang="en-US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매뉴얼 등을 근거로 </a:t>
            </a:r>
            <a:r>
              <a:rPr lang="ko-KR" altLang="en-US" sz="4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업무취급시</a:t>
            </a:r>
            <a:r>
              <a:rPr lang="ko-KR" altLang="en-US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주기적으로 확인해야 할 사항으로 </a:t>
            </a:r>
            <a:r>
              <a:rPr lang="ko-KR" altLang="en-US" sz="4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소속직원에</a:t>
            </a:r>
            <a:r>
              <a:rPr lang="ko-KR" altLang="en-US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대한 교육을 통해 동일 유형의 </a:t>
            </a:r>
            <a:r>
              <a:rPr lang="ko-KR" altLang="en-US" sz="4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지적사례가</a:t>
            </a:r>
            <a:r>
              <a:rPr lang="ko-KR" altLang="en-US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재발되지 않도록 각별히 유의하여 주시기 바랍니다</a:t>
            </a:r>
            <a:r>
              <a:rPr lang="en-US" altLang="ko-KR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.</a:t>
            </a:r>
          </a:p>
          <a:p>
            <a:r>
              <a:rPr lang="en-US" altLang="ko-KR" sz="4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…...</a:t>
            </a:r>
            <a:endParaRPr lang="ko-KR" altLang="en-US" sz="400" dirty="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09470" y="272147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4" name="타원 6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34032" y="333928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5" name="직사각형 64"/>
          <p:cNvSpPr/>
          <p:nvPr/>
        </p:nvSpPr>
        <p:spPr bwMode="auto">
          <a:xfrm>
            <a:off x="5000840" y="2908618"/>
            <a:ext cx="1898724" cy="1522070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6" name="자유형 65"/>
          <p:cNvSpPr/>
          <p:nvPr/>
        </p:nvSpPr>
        <p:spPr bwMode="auto">
          <a:xfrm>
            <a:off x="352149" y="2972785"/>
            <a:ext cx="4520817" cy="2953846"/>
          </a:xfrm>
          <a:custGeom>
            <a:avLst/>
            <a:gdLst>
              <a:gd name="connsiteX0" fmla="*/ 2490857 w 4520817"/>
              <a:gd name="connsiteY0" fmla="*/ 0 h 2953846"/>
              <a:gd name="connsiteX1" fmla="*/ 4520817 w 4520817"/>
              <a:gd name="connsiteY1" fmla="*/ 0 h 2953846"/>
              <a:gd name="connsiteX2" fmla="*/ 4520817 w 4520817"/>
              <a:gd name="connsiteY2" fmla="*/ 2953846 h 2953846"/>
              <a:gd name="connsiteX3" fmla="*/ 2511659 w 4520817"/>
              <a:gd name="connsiteY3" fmla="*/ 2953846 h 2953846"/>
              <a:gd name="connsiteX4" fmla="*/ 2490857 w 4520817"/>
              <a:gd name="connsiteY4" fmla="*/ 2953846 h 2953846"/>
              <a:gd name="connsiteX5" fmla="*/ 0 w 4520817"/>
              <a:gd name="connsiteY5" fmla="*/ 2953846 h 2953846"/>
              <a:gd name="connsiteX6" fmla="*/ 0 w 4520817"/>
              <a:gd name="connsiteY6" fmla="*/ 2035682 h 2953846"/>
              <a:gd name="connsiteX7" fmla="*/ 2490857 w 4520817"/>
              <a:gd name="connsiteY7" fmla="*/ 2035682 h 29538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520817" h="2953846">
                <a:moveTo>
                  <a:pt x="2490857" y="0"/>
                </a:moveTo>
                <a:lnTo>
                  <a:pt x="4520817" y="0"/>
                </a:lnTo>
                <a:lnTo>
                  <a:pt x="4520817" y="2953846"/>
                </a:lnTo>
                <a:lnTo>
                  <a:pt x="2511659" y="2953846"/>
                </a:lnTo>
                <a:lnTo>
                  <a:pt x="2490857" y="2953846"/>
                </a:lnTo>
                <a:lnTo>
                  <a:pt x="0" y="2953846"/>
                </a:lnTo>
                <a:lnTo>
                  <a:pt x="0" y="2035682"/>
                </a:lnTo>
                <a:lnTo>
                  <a:pt x="2490857" y="2035682"/>
                </a:lnTo>
                <a:close/>
              </a:path>
            </a:pathLst>
          </a:cu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wrap="square" lIns="35999" tIns="35999" rIns="35999" bIns="35999" rtlCol="0" anchor="ctr" anchorCtr="1">
            <a:noAutofit/>
          </a:bodyPr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822435" y="289884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8" name="타원 6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974602" y="283476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71" name="표 70"/>
          <p:cNvGraphicFramePr>
            <a:graphicFrameLocks noGrp="1"/>
          </p:cNvGraphicFramePr>
          <p:nvPr>
            <p:extLst/>
          </p:nvPr>
        </p:nvGraphicFramePr>
        <p:xfrm>
          <a:off x="253334" y="2117075"/>
          <a:ext cx="5981211" cy="48122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452">
                  <a:extLst>
                    <a:ext uri="{9D8B030D-6E8A-4147-A177-3AD203B41FA5}">
                      <a16:colId xmlns:a16="http://schemas.microsoft.com/office/drawing/2014/main" val="2816117376"/>
                    </a:ext>
                  </a:extLst>
                </a:gridCol>
                <a:gridCol w="5260759">
                  <a:extLst>
                    <a:ext uri="{9D8B030D-6E8A-4147-A177-3AD203B41FA5}">
                      <a16:colId xmlns:a16="http://schemas.microsoft.com/office/drawing/2014/main" val="1315945688"/>
                    </a:ext>
                  </a:extLst>
                </a:gridCol>
              </a:tblGrid>
              <a:tr h="481226">
                <a:tc>
                  <a:txBody>
                    <a:bodyPr/>
                    <a:lstStyle/>
                    <a:p>
                      <a:pPr latinLnBrk="1"/>
                      <a:endParaRPr lang="en-US" altLang="ko-KR" sz="9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9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종합의견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금번 </a:t>
                      </a:r>
                      <a:r>
                        <a:rPr lang="ko-KR" altLang="en-US" sz="9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임점감사</a:t>
                      </a:r>
                      <a:r>
                        <a:rPr lang="ko-KR" altLang="en-US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결과 “</a:t>
                      </a:r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OOOO </a:t>
                      </a:r>
                      <a:r>
                        <a:rPr lang="en-US" altLang="ko-KR" sz="9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OOOO</a:t>
                      </a:r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OO”, “OOOO OO” </a:t>
                      </a:r>
                      <a:r>
                        <a:rPr lang="ko-KR" altLang="en-US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등이 </a:t>
                      </a:r>
                      <a:endParaRPr lang="en-US" altLang="ko-KR" sz="9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미흡한것으로 파악되었습니다</a:t>
                      </a:r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4998078"/>
                  </a:ext>
                </a:extLst>
              </a:tr>
            </a:tbl>
          </a:graphicData>
        </a:graphic>
      </p:graphicFrame>
      <p:cxnSp>
        <p:nvCxnSpPr>
          <p:cNvPr id="44" name="구부러진 연결선 43"/>
          <p:cNvCxnSpPr>
            <a:stCxn id="45" idx="2"/>
          </p:cNvCxnSpPr>
          <p:nvPr/>
        </p:nvCxnSpPr>
        <p:spPr bwMode="auto">
          <a:xfrm rot="5400000">
            <a:off x="4616231" y="1359533"/>
            <a:ext cx="1187361" cy="2921742"/>
          </a:xfrm>
          <a:prstGeom prst="curvedConnector2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pic>
        <p:nvPicPr>
          <p:cNvPr id="72" name="그림 71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78273" y="3571564"/>
            <a:ext cx="2406565" cy="13560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05614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11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21259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kern="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★</a:t>
                      </a:r>
                      <a:r>
                        <a:rPr lang="en-US" altLang="ko-KR" sz="800" b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AI</a:t>
                      </a:r>
                      <a:r>
                        <a:rPr lang="ko-KR" altLang="en-US" sz="800" b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위험결과</a:t>
                      </a:r>
                      <a:r>
                        <a:rPr lang="ko-KR" altLang="en-US" sz="800" b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협의 후 보고서 양식 제공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MDD-00020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MDD72G45000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 및 내부통제 현황 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(2/2)</a:t>
                      </a:r>
                      <a:endParaRPr lang="ko-KR" altLang="en-US" sz="12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임점감사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종합감사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전자설문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 및 내부통제 현황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(P45: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정용욱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pSp>
        <p:nvGrpSpPr>
          <p:cNvPr id="70" name="그룹 69"/>
          <p:cNvGrpSpPr/>
          <p:nvPr/>
        </p:nvGrpSpPr>
        <p:grpSpPr>
          <a:xfrm>
            <a:off x="0" y="1119760"/>
            <a:ext cx="7324666" cy="635799"/>
            <a:chOff x="675132" y="3346389"/>
            <a:chExt cx="2540508" cy="345355"/>
          </a:xfrm>
        </p:grpSpPr>
        <p:sp>
          <p:nvSpPr>
            <p:cNvPr id="72" name="TextBox 71"/>
            <p:cNvSpPr txBox="1"/>
            <p:nvPr/>
          </p:nvSpPr>
          <p:spPr>
            <a:xfrm>
              <a:off x="675132" y="3346389"/>
              <a:ext cx="254050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00" dirty="0" err="1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충무로역종합금융센터</a:t>
              </a:r>
              <a:r>
                <a:rPr lang="en-US" altLang="ko-KR" sz="800" dirty="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[0688]</a:t>
              </a:r>
              <a:r>
                <a:rPr lang="ko-KR" altLang="en-US" sz="800" dirty="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 감사 및 내부통제 업무 현황</a:t>
              </a: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702970" y="3522467"/>
              <a:ext cx="248483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(2024.03.27</a:t>
              </a:r>
              <a:r>
                <a:rPr lang="ko-KR" altLang="en-US" sz="5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 현재</a:t>
              </a:r>
              <a:r>
                <a:rPr lang="en-US" altLang="ko-KR" sz="5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)</a:t>
              </a:r>
              <a:endParaRPr lang="ko-KR" altLang="en-US" sz="5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cxnSp>
          <p:nvCxnSpPr>
            <p:cNvPr id="74" name="직선 연결선 73"/>
            <p:cNvCxnSpPr/>
            <p:nvPr/>
          </p:nvCxnSpPr>
          <p:spPr bwMode="auto">
            <a:xfrm>
              <a:off x="777240" y="3536898"/>
              <a:ext cx="2337435" cy="0"/>
            </a:xfrm>
            <a:prstGeom prst="line">
              <a:avLst/>
            </a:prstGeom>
            <a:solidFill>
              <a:schemeClr val="accent1"/>
            </a:solidFill>
            <a:ln w="349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28398" dir="1593903" algn="ctr" rotWithShape="0">
                      <a:schemeClr val="tx1"/>
                    </a:outerShdw>
                  </a:effectLst>
                </a14:hiddenEffects>
              </a:ext>
            </a:extLst>
          </p:spPr>
        </p:cxnSp>
        <p:cxnSp>
          <p:nvCxnSpPr>
            <p:cNvPr id="75" name="직선 연결선 74"/>
            <p:cNvCxnSpPr/>
            <p:nvPr/>
          </p:nvCxnSpPr>
          <p:spPr bwMode="auto">
            <a:xfrm>
              <a:off x="777240" y="3355914"/>
              <a:ext cx="2337435" cy="0"/>
            </a:xfrm>
            <a:prstGeom prst="line">
              <a:avLst/>
            </a:prstGeom>
            <a:solidFill>
              <a:schemeClr val="accent1"/>
            </a:solidFill>
            <a:ln w="349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28398" dir="1593903" algn="ctr" rotWithShape="0">
                      <a:schemeClr val="tx1"/>
                    </a:outerShdw>
                  </a:effectLst>
                </a14:hiddenEffects>
              </a:ext>
            </a:extLst>
          </p:spPr>
        </p:cxnSp>
      </p:grpSp>
      <p:sp>
        <p:nvSpPr>
          <p:cNvPr id="76" name="TextBox 75"/>
          <p:cNvSpPr txBox="1"/>
          <p:nvPr/>
        </p:nvSpPr>
        <p:spPr>
          <a:xfrm>
            <a:off x="209394" y="1470866"/>
            <a:ext cx="7164137" cy="28469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1. </a:t>
            </a:r>
            <a:r>
              <a:rPr lang="ko-KR" altLang="en-US" sz="5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감사기간 </a:t>
            </a:r>
            <a:r>
              <a:rPr lang="en-US" altLang="ko-KR" sz="5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2024.03.25 (</a:t>
            </a:r>
            <a:r>
              <a:rPr lang="ko-KR" altLang="en-US" sz="5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월</a:t>
            </a:r>
            <a:r>
              <a:rPr lang="en-US" altLang="ko-KR" sz="5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 ~ 2024.03.27 (</a:t>
            </a:r>
            <a:r>
              <a:rPr lang="ko-KR" altLang="en-US" sz="5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수</a:t>
            </a:r>
            <a:r>
              <a:rPr lang="en-US" altLang="ko-KR" sz="5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</a:p>
          <a:p>
            <a:r>
              <a:rPr lang="en-US" altLang="ko-KR" sz="5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2. </a:t>
            </a:r>
            <a:r>
              <a:rPr lang="ko-KR" altLang="en-US" sz="5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부점</a:t>
            </a:r>
            <a:r>
              <a:rPr lang="ko-KR" altLang="en-US" sz="5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위험 유형 분석 결과 요약</a:t>
            </a:r>
          </a:p>
        </p:txBody>
      </p:sp>
      <p:sp>
        <p:nvSpPr>
          <p:cNvPr id="92" name="타원 9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25590" y="107148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14" name="그림 1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61797" y="1826669"/>
            <a:ext cx="3899153" cy="29999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077118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616658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7455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99220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24584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[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기존 화면 기능 유지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1148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b="1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="1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출력</a:t>
                      </a:r>
                      <a:r>
                        <a:rPr lang="en-US" altLang="ko-KR" sz="800" b="1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1]</a:t>
                      </a:r>
                      <a:r>
                        <a:rPr lang="ko-KR" altLang="en-US" sz="800" b="1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위험평가</a:t>
                      </a:r>
                      <a:r>
                        <a:rPr lang="en-US" altLang="ko-KR" sz="800" b="1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b="1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월별</a:t>
                      </a:r>
                      <a:r>
                        <a:rPr lang="en-US" altLang="ko-KR" sz="800" b="1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집계 산출을 위해서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전체부점에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공통적으로 적용할 위험산출비율을 입력 받는다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b="1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="1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출력</a:t>
                      </a:r>
                      <a:r>
                        <a:rPr lang="en-US" altLang="ko-KR" sz="800" b="1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1]</a:t>
                      </a:r>
                      <a:r>
                        <a:rPr lang="ko-KR" altLang="en-US" sz="800" b="1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위험평가</a:t>
                      </a:r>
                      <a:r>
                        <a:rPr lang="en-US" altLang="ko-KR" sz="800" b="1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b="1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월별</a:t>
                      </a:r>
                      <a:r>
                        <a:rPr lang="en-US" altLang="ko-KR" sz="800" b="1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집계 산출을 위해서</a:t>
                      </a: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b="1" baseline="0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사용할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내부통제이행수준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en-US" altLang="ko-KR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CleanKB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[KRI]  </a:t>
                      </a:r>
                    </a:p>
                    <a:p>
                      <a:pPr latinLnBrk="1"/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에 대한 임의 값을 입력 받는다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33528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과       을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입력받아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배치에서 산출된 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위험평가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월별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데이터를 산출하여 표시한다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9888328"/>
                  </a:ext>
                </a:extLst>
              </a:tr>
              <a:tr h="2385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kumimoji="0" lang="ko-KR" altLang="en-US" sz="800" b="1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 내용으로 확인후 재협의</a:t>
                      </a:r>
                      <a:r>
                        <a:rPr kumimoji="0" lang="en-US" altLang="ko-KR" sz="800" b="1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kumimoji="0" lang="ko-KR" altLang="en-US" sz="800" b="1" kern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r>
                        <a:rPr kumimoji="0" lang="en-US" altLang="ko-KR" sz="800" b="1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en-US" altLang="ko-KR" sz="800" baseline="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9762118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업로드 양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식 다운로드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버튼으로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전체부점에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대해서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그리드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 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내부통제이행수준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en-US" altLang="ko-KR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CleanKB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[KRI]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컬럼을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입력받는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양식을 제공한다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전체부점에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대해서 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내부통제이행수준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en-US" altLang="ko-KR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CleanKB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[KRI]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를  엑셀에 작성하고 </a:t>
                      </a: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일괄등록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버튼으로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저장한다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3526128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.[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저장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버튼은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그리드의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내부통제이행수준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en-US" altLang="ko-KR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CleanKB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[KRI]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컬럼을 그리드에서 직접 입력 수정 후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저장시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사용한다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76477791"/>
                  </a:ext>
                </a:extLst>
              </a:tr>
              <a:tr h="24155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Tx/>
                        <a:buNone/>
                      </a:pP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적용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클릭시</a:t>
                      </a: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indent="0" latinLnBrk="1">
                        <a:buFontTx/>
                        <a:buNone/>
                      </a:pP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 위험평가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월별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데이터 생성 처리</a:t>
                      </a: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171450" indent="-171450" latinLnBrk="1">
                        <a:buFontTx/>
                        <a:buChar char="-"/>
                      </a:pP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배치로 데이터 생성 예정</a:t>
                      </a: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171450" indent="-171450" latinLnBrk="1">
                        <a:buFontTx/>
                        <a:buChar char="-"/>
                      </a:pP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데이터 생성 시간이 필요할 것을 예상 </a:t>
                      </a: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171450" indent="-171450" latinLnBrk="1">
                        <a:buFontTx/>
                        <a:buChar char="-"/>
                      </a:pP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적용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클릭시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“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데이터 생성에 시간이 소요됩니다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.”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메시지 처리</a:t>
                      </a: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indent="0" latinLnBrk="1">
                        <a:buFontTx/>
                        <a:buNone/>
                      </a:pP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[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버튼으로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조회시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   영역에 데이터가 표시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marL="0" indent="0" latinLnBrk="1">
                        <a:buFontTx/>
                        <a:buNone/>
                      </a:pP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● 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en-US" altLang="ko-KR" sz="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 시 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–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데이터 생성 </a:t>
                      </a:r>
                      <a:r>
                        <a:rPr lang="ko-KR" altLang="en-US" sz="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미완료 상태</a:t>
                      </a:r>
                      <a:endParaRPr lang="en-US" altLang="ko-KR" sz="800" b="0" i="0" u="none" strike="noStrike" baseline="0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171450" marR="0" lvl="0" indent="-17145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     영역에 </a:t>
                      </a:r>
                      <a:r>
                        <a:rPr lang="ko-KR" altLang="en-US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데이터가 표시되지 않는다</a:t>
                      </a:r>
                      <a:r>
                        <a:rPr lang="en-US" altLang="ko-KR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</a:t>
                      </a:r>
                    </a:p>
                    <a:p>
                      <a:pPr marL="171450" marR="0" lvl="0" indent="-17145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endParaRPr lang="en-US" altLang="ko-KR" sz="800" dirty="0" smtClean="0">
                        <a:solidFill>
                          <a:srgbClr val="2272F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● 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버튼 조회 시</a:t>
                      </a:r>
                      <a:r>
                        <a:rPr lang="en-US" altLang="ko-KR" sz="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데이터 생성  완료</a:t>
                      </a:r>
                      <a:endParaRPr lang="en-US" altLang="ko-KR" sz="800" b="0" i="0" u="none" strike="noStrike" baseline="0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171450" marR="0" lvl="0" indent="-17145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      영역에 </a:t>
                      </a:r>
                      <a:r>
                        <a:rPr lang="ko-KR" altLang="en-US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생성된 데이터가 표시된다</a:t>
                      </a:r>
                      <a:r>
                        <a:rPr lang="en-US" altLang="ko-KR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※</a:t>
                      </a:r>
                      <a:r>
                        <a:rPr lang="en-US" altLang="ko-KR" sz="800" baseline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[</a:t>
                      </a:r>
                      <a:r>
                        <a:rPr lang="ko-KR" altLang="en-US" sz="800" baseline="0" dirty="0" err="1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일괄등록</a:t>
                      </a:r>
                      <a:r>
                        <a:rPr lang="en-US" altLang="ko-KR" sz="800" baseline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][</a:t>
                      </a:r>
                      <a:r>
                        <a:rPr lang="ko-KR" altLang="en-US" sz="800" baseline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적용</a:t>
                      </a:r>
                      <a:r>
                        <a:rPr lang="en-US" altLang="ko-KR" sz="800" baseline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][</a:t>
                      </a:r>
                      <a:r>
                        <a:rPr lang="ko-KR" altLang="en-US" sz="800" baseline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저장</a:t>
                      </a:r>
                      <a:r>
                        <a:rPr lang="en-US" altLang="ko-KR" sz="800" baseline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][</a:t>
                      </a:r>
                      <a:r>
                        <a:rPr lang="ko-KR" altLang="en-US" sz="800" baseline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엑셀</a:t>
                      </a:r>
                      <a:r>
                        <a:rPr lang="en-US" altLang="ko-KR" sz="800" baseline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 </a:t>
                      </a:r>
                      <a:r>
                        <a:rPr lang="ko-KR" altLang="en-US" sz="800" baseline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클릭 시</a:t>
                      </a:r>
                      <a:endParaRPr lang="en-US" altLang="ko-KR" sz="800" baseline="0" dirty="0" smtClean="0">
                        <a:solidFill>
                          <a:srgbClr val="2272F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aseline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위험평가</a:t>
                      </a:r>
                      <a:r>
                        <a:rPr lang="en-US" altLang="ko-KR" sz="800" baseline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baseline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월별</a:t>
                      </a:r>
                      <a:r>
                        <a:rPr lang="en-US" altLang="ko-KR" sz="800" baseline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 </a:t>
                      </a:r>
                      <a:r>
                        <a:rPr lang="ko-KR" altLang="en-US" sz="800" baseline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데이터 생성 배치가  이미 실행 중  이거나 미완료 시  </a:t>
                      </a:r>
                      <a:r>
                        <a:rPr lang="en-US" altLang="ko-KR" sz="800" baseline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“</a:t>
                      </a:r>
                      <a:r>
                        <a:rPr lang="ko-KR" altLang="en-US" sz="800" baseline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위험평가</a:t>
                      </a:r>
                      <a:r>
                        <a:rPr lang="en-US" altLang="ko-KR" sz="800" baseline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baseline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월별</a:t>
                      </a:r>
                      <a:r>
                        <a:rPr lang="en-US" altLang="ko-KR" sz="800" baseline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aseline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데이터 생성 중입니다</a:t>
                      </a:r>
                      <a:r>
                        <a:rPr lang="en-US" altLang="ko-KR" sz="800" baseline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 </a:t>
                      </a:r>
                      <a:r>
                        <a:rPr lang="ko-KR" altLang="en-US" sz="800" baseline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완료 후 진행할 수 있습니다</a:t>
                      </a:r>
                      <a:r>
                        <a:rPr lang="en-US" altLang="ko-KR" sz="800" baseline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 </a:t>
                      </a:r>
                      <a:r>
                        <a:rPr lang="ko-KR" altLang="en-US" sz="800" baseline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잠시 후 다시 시도하세요</a:t>
                      </a:r>
                      <a:r>
                        <a:rPr lang="en-US" altLang="ko-KR" sz="800" baseline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.” </a:t>
                      </a:r>
                      <a:r>
                        <a:rPr lang="ko-KR" altLang="en-US" sz="800" baseline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메시지 출력</a:t>
                      </a: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689227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Symbol" panose="05050102010706020507" pitchFamily="18" charset="2"/>
                        <a:buNone/>
                        <a:tabLst/>
                        <a:defRPr/>
                      </a:pPr>
                      <a:r>
                        <a:rPr lang="en-US" altLang="ko-KR" sz="80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엑셀</a:t>
                      </a:r>
                      <a:r>
                        <a:rPr lang="en-US" altLang="ko-KR" sz="80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클릭 시 엑셀다운로드</a:t>
                      </a:r>
                      <a:endParaRPr lang="en-US" altLang="ko-KR" sz="800" baseline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171450" marR="0" lvl="0" indent="-17145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검색조건의</a:t>
                      </a:r>
                      <a:r>
                        <a:rPr lang="ko-KR" altLang="en-US" sz="80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 결과 목록만 출력</a:t>
                      </a:r>
                      <a:endParaRPr lang="en-US" altLang="ko-KR" sz="800" baseline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02885492"/>
                  </a:ext>
                </a:extLst>
              </a:tr>
            </a:tbl>
          </a:graphicData>
        </a:graphic>
      </p:graphicFrame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2242141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678180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716280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624840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898906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MDD-00009 / MDD-00011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MDD72G21000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영업점별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위험수준 평가결과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영업점별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위험수준 평가결과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(P47,P48,P49: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유성용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7" name="내용 개체 틀 121"/>
          <p:cNvGraphicFramePr>
            <a:graphicFrameLocks/>
          </p:cNvGraphicFramePr>
          <p:nvPr>
            <p:extLst/>
          </p:nvPr>
        </p:nvGraphicFramePr>
        <p:xfrm>
          <a:off x="185096" y="1457455"/>
          <a:ext cx="6726396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911894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853440">
                  <a:extLst>
                    <a:ext uri="{9D8B030D-6E8A-4147-A177-3AD203B41FA5}">
                      <a16:colId xmlns:a16="http://schemas.microsoft.com/office/drawing/2014/main" val="2535278390"/>
                    </a:ext>
                  </a:extLst>
                </a:gridCol>
                <a:gridCol w="1021080">
                  <a:extLst>
                    <a:ext uri="{9D8B030D-6E8A-4147-A177-3AD203B41FA5}">
                      <a16:colId xmlns:a16="http://schemas.microsoft.com/office/drawing/2014/main" val="3302780014"/>
                    </a:ext>
                  </a:extLst>
                </a:gridCol>
                <a:gridCol w="1072817">
                  <a:extLst>
                    <a:ext uri="{9D8B030D-6E8A-4147-A177-3AD203B41FA5}">
                      <a16:colId xmlns:a16="http://schemas.microsoft.com/office/drawing/2014/main" val="94145996"/>
                    </a:ext>
                  </a:extLst>
                </a:gridCol>
                <a:gridCol w="1929615">
                  <a:extLst>
                    <a:ext uri="{9D8B030D-6E8A-4147-A177-3AD203B41FA5}">
                      <a16:colId xmlns:a16="http://schemas.microsoft.com/office/drawing/2014/main" val="1330087638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err="1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감사기준년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 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 smtClean="0">
                          <a:latin typeface="+mj-ea"/>
                          <a:ea typeface="+mj-ea"/>
                        </a:rPr>
                        <a:t> PG/</a:t>
                      </a:r>
                      <a:r>
                        <a:rPr lang="ko-KR" altLang="en-US" sz="900" b="1" dirty="0" smtClean="0">
                          <a:latin typeface="+mj-ea"/>
                          <a:ea typeface="+mj-ea"/>
                        </a:rPr>
                        <a:t>지점 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8" name="양쪽 모서리가 둥근 사각형 7"/>
          <p:cNvSpPr/>
          <p:nvPr/>
        </p:nvSpPr>
        <p:spPr bwMode="auto">
          <a:xfrm>
            <a:off x="185097" y="1162789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영업점별 위험수준 평가결과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9" name="내용 개체 틀 121"/>
          <p:cNvGraphicFramePr>
            <a:graphicFrameLocks/>
          </p:cNvGraphicFramePr>
          <p:nvPr>
            <p:extLst/>
          </p:nvPr>
        </p:nvGraphicFramePr>
        <p:xfrm>
          <a:off x="188963" y="1762447"/>
          <a:ext cx="6727092" cy="428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26716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5800376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</a:tblGrid>
              <a:tr h="428279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baseline="0" dirty="0" smtClean="0">
                          <a:solidFill>
                            <a:schemeClr val="dk1"/>
                          </a:solidFill>
                          <a:effectLst/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900" b="0" i="0" u="none" strike="noStrike" baseline="0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지역영업그룹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10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178594" y="1088193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185098" y="1348524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090986" y="1505831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조회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494021" y="1505831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엑셀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15" name="그룹 14"/>
          <p:cNvGrpSpPr/>
          <p:nvPr/>
        </p:nvGrpSpPr>
        <p:grpSpPr>
          <a:xfrm>
            <a:off x="1210283" y="1498740"/>
            <a:ext cx="688047" cy="180915"/>
            <a:chOff x="3888573" y="3542054"/>
            <a:chExt cx="688047" cy="180915"/>
          </a:xfrm>
        </p:grpSpPr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3888573" y="3542054"/>
              <a:ext cx="68804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normalizeH="0" baseline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2023</a:t>
              </a:r>
              <a:endParaRPr kumimoji="0" lang="ko-KR" altLang="en-US" sz="1000" b="0" i="0" u="none" strike="noStrike" kern="1200" cap="none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17" name="이등변 삼각형 16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4455435" y="3622344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18" name="직사각형 17"/>
          <p:cNvSpPr/>
          <p:nvPr/>
        </p:nvSpPr>
        <p:spPr bwMode="auto">
          <a:xfrm>
            <a:off x="3753738" y="1507296"/>
            <a:ext cx="1041848" cy="175410"/>
          </a:xfrm>
          <a:prstGeom prst="rect">
            <a:avLst/>
          </a:prstGeom>
          <a:noFill/>
          <a:ln w="12701">
            <a:noFill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defTabSz="914395" fontAlgn="ctr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 dirty="0">
                <a:latin typeface="+mj-ea"/>
              </a:rPr>
              <a:t> </a:t>
            </a:r>
            <a:r>
              <a:rPr lang="ko-KR" altLang="en-US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○ 전체  ◎ 숨김</a:t>
            </a:r>
            <a:endParaRPr lang="ko-KR" altLang="en-US" sz="8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19" name="그룹 18"/>
          <p:cNvGrpSpPr/>
          <p:nvPr/>
        </p:nvGrpSpPr>
        <p:grpSpPr>
          <a:xfrm>
            <a:off x="1200842" y="1764949"/>
            <a:ext cx="557839" cy="230832"/>
            <a:chOff x="1463113" y="2946569"/>
            <a:chExt cx="557839" cy="230832"/>
          </a:xfrm>
        </p:grpSpPr>
        <p:sp>
          <p:nvSpPr>
            <p:cNvPr id="20" name="Freeform 46">
              <a:extLst>
                <a:ext uri="{FF2B5EF4-FFF2-40B4-BE49-F238E27FC236}">
                  <a16:creationId xmlns:a16="http://schemas.microsoft.com/office/drawing/2014/main" id="{36BBD547-1346-F115-36F1-EB48123B65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3113" y="2996510"/>
              <a:ext cx="120301" cy="120558"/>
            </a:xfrm>
            <a:custGeom>
              <a:avLst/>
              <a:gdLst/>
              <a:ahLst/>
              <a:cxnLst>
                <a:cxn ang="0">
                  <a:pos x="55" y="44"/>
                </a:cxn>
                <a:cxn ang="0">
                  <a:pos x="44" y="55"/>
                </a:cxn>
                <a:cxn ang="0">
                  <a:pos x="10" y="55"/>
                </a:cxn>
                <a:cxn ang="0">
                  <a:pos x="0" y="44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4"/>
                </a:cxn>
                <a:cxn ang="0">
                  <a:pos x="46" y="20"/>
                </a:cxn>
                <a:cxn ang="0">
                  <a:pos x="46" y="17"/>
                </a:cxn>
                <a:cxn ang="0">
                  <a:pos x="42" y="13"/>
                </a:cxn>
                <a:cxn ang="0">
                  <a:pos x="39" y="13"/>
                </a:cxn>
                <a:cxn ang="0">
                  <a:pos x="23" y="30"/>
                </a:cxn>
                <a:cxn ang="0">
                  <a:pos x="15" y="22"/>
                </a:cxn>
                <a:cxn ang="0">
                  <a:pos x="12" y="22"/>
                </a:cxn>
                <a:cxn ang="0">
                  <a:pos x="8" y="26"/>
                </a:cxn>
                <a:cxn ang="0">
                  <a:pos x="8" y="29"/>
                </a:cxn>
                <a:cxn ang="0">
                  <a:pos x="21" y="42"/>
                </a:cxn>
                <a:cxn ang="0">
                  <a:pos x="24" y="42"/>
                </a:cxn>
                <a:cxn ang="0">
                  <a:pos x="46" y="20"/>
                </a:cxn>
              </a:cxnLst>
              <a:rect l="0" t="0" r="r" b="b"/>
              <a:pathLst>
                <a:path w="55" h="55">
                  <a:moveTo>
                    <a:pt x="55" y="44"/>
                  </a:moveTo>
                  <a:cubicBezTo>
                    <a:pt x="55" y="50"/>
                    <a:pt x="50" y="55"/>
                    <a:pt x="44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lnTo>
                    <a:pt x="55" y="44"/>
                  </a:lnTo>
                  <a:close/>
                  <a:moveTo>
                    <a:pt x="46" y="20"/>
                  </a:moveTo>
                  <a:cubicBezTo>
                    <a:pt x="47" y="19"/>
                    <a:pt x="47" y="17"/>
                    <a:pt x="46" y="17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2" y="12"/>
                    <a:pt x="40" y="12"/>
                    <a:pt x="39" y="13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7"/>
                    <a:pt x="7" y="28"/>
                    <a:pt x="8" y="29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2" y="43"/>
                    <a:pt x="23" y="43"/>
                    <a:pt x="24" y="42"/>
                  </a:cubicBezTo>
                  <a:lnTo>
                    <a:pt x="46" y="2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100687" tIns="50343" rIns="100687" bIns="50343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135923" rtl="0" eaLnBrk="0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202" b="0" i="0" u="none" strike="noStrike" kern="0" cap="none" spc="0" normalizeH="0" baseline="0" noProof="0">
                <a:ln>
                  <a:solidFill>
                    <a:srgbClr val="F9A84A"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533272" y="2946569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전체</a:t>
              </a:r>
            </a:p>
          </p:txBody>
        </p:sp>
      </p:grpSp>
      <p:grpSp>
        <p:nvGrpSpPr>
          <p:cNvPr id="22" name="그룹 21"/>
          <p:cNvGrpSpPr/>
          <p:nvPr/>
        </p:nvGrpSpPr>
        <p:grpSpPr>
          <a:xfrm>
            <a:off x="3036191" y="1953104"/>
            <a:ext cx="557839" cy="230832"/>
            <a:chOff x="1463113" y="3140047"/>
            <a:chExt cx="557839" cy="230832"/>
          </a:xfrm>
        </p:grpSpPr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충청</a:t>
              </a:r>
            </a:p>
          </p:txBody>
        </p:sp>
      </p:grpSp>
      <p:grpSp>
        <p:nvGrpSpPr>
          <p:cNvPr id="26" name="그룹 25"/>
          <p:cNvGrpSpPr/>
          <p:nvPr/>
        </p:nvGrpSpPr>
        <p:grpSpPr>
          <a:xfrm>
            <a:off x="3518399" y="1953104"/>
            <a:ext cx="557839" cy="230832"/>
            <a:chOff x="1463113" y="3140047"/>
            <a:chExt cx="557839" cy="230832"/>
          </a:xfrm>
        </p:grpSpPr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호남</a:t>
              </a:r>
            </a:p>
          </p:txBody>
        </p:sp>
      </p:grpSp>
      <p:grpSp>
        <p:nvGrpSpPr>
          <p:cNvPr id="29" name="그룹 28"/>
          <p:cNvGrpSpPr/>
          <p:nvPr/>
        </p:nvGrpSpPr>
        <p:grpSpPr>
          <a:xfrm>
            <a:off x="1682602" y="1764949"/>
            <a:ext cx="951089" cy="230832"/>
            <a:chOff x="1463113" y="3140047"/>
            <a:chExt cx="951089" cy="23083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1533272" y="3140047"/>
              <a:ext cx="88093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CIB</a:t>
              </a:r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영업추진부</a:t>
              </a:r>
            </a:p>
          </p:txBody>
        </p:sp>
      </p:grpSp>
      <p:grpSp>
        <p:nvGrpSpPr>
          <p:cNvPr id="32" name="그룹 31"/>
          <p:cNvGrpSpPr/>
          <p:nvPr/>
        </p:nvGrpSpPr>
        <p:grpSpPr>
          <a:xfrm>
            <a:off x="2557612" y="1764949"/>
            <a:ext cx="557839" cy="230832"/>
            <a:chOff x="1463113" y="3140047"/>
            <a:chExt cx="557839" cy="23083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34" name="TextBox 33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강남</a:t>
              </a:r>
            </a:p>
          </p:txBody>
        </p:sp>
      </p:grpSp>
      <p:grpSp>
        <p:nvGrpSpPr>
          <p:cNvPr id="35" name="그룹 34"/>
          <p:cNvGrpSpPr/>
          <p:nvPr/>
        </p:nvGrpSpPr>
        <p:grpSpPr>
          <a:xfrm>
            <a:off x="3039372" y="1764949"/>
            <a:ext cx="557839" cy="230832"/>
            <a:chOff x="1463113" y="3140047"/>
            <a:chExt cx="557839" cy="230832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강서</a:t>
              </a:r>
            </a:p>
          </p:txBody>
        </p:sp>
      </p:grpSp>
      <p:grpSp>
        <p:nvGrpSpPr>
          <p:cNvPr id="38" name="그룹 37"/>
          <p:cNvGrpSpPr/>
          <p:nvPr/>
        </p:nvGrpSpPr>
        <p:grpSpPr>
          <a:xfrm>
            <a:off x="3521132" y="1764949"/>
            <a:ext cx="557839" cy="230832"/>
            <a:chOff x="1463113" y="3140047"/>
            <a:chExt cx="557839" cy="230832"/>
          </a:xfrm>
        </p:grpSpPr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경기</a:t>
              </a:r>
            </a:p>
          </p:txBody>
        </p:sp>
      </p:grpSp>
      <p:grpSp>
        <p:nvGrpSpPr>
          <p:cNvPr id="41" name="그룹 40"/>
          <p:cNvGrpSpPr/>
          <p:nvPr/>
        </p:nvGrpSpPr>
        <p:grpSpPr>
          <a:xfrm>
            <a:off x="4002892" y="1764949"/>
            <a:ext cx="557839" cy="230832"/>
            <a:chOff x="1463113" y="3140047"/>
            <a:chExt cx="557839" cy="230832"/>
          </a:xfrm>
        </p:grpSpPr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경인</a:t>
              </a:r>
            </a:p>
          </p:txBody>
        </p:sp>
      </p:grpSp>
      <p:grpSp>
        <p:nvGrpSpPr>
          <p:cNvPr id="44" name="그룹 43"/>
          <p:cNvGrpSpPr/>
          <p:nvPr/>
        </p:nvGrpSpPr>
        <p:grpSpPr>
          <a:xfrm>
            <a:off x="4484652" y="1764949"/>
            <a:ext cx="557839" cy="230832"/>
            <a:chOff x="1463113" y="3140047"/>
            <a:chExt cx="557839" cy="230832"/>
          </a:xfrm>
        </p:grpSpPr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남부</a:t>
              </a:r>
            </a:p>
          </p:txBody>
        </p:sp>
      </p:grpSp>
      <p:grpSp>
        <p:nvGrpSpPr>
          <p:cNvPr id="47" name="그룹 46"/>
          <p:cNvGrpSpPr/>
          <p:nvPr/>
        </p:nvGrpSpPr>
        <p:grpSpPr>
          <a:xfrm>
            <a:off x="4966412" y="1764949"/>
            <a:ext cx="726683" cy="230832"/>
            <a:chOff x="1463113" y="3140047"/>
            <a:chExt cx="726683" cy="230832"/>
          </a:xfrm>
        </p:grpSpPr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1533271" y="3140047"/>
              <a:ext cx="6565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대구경북</a:t>
              </a:r>
            </a:p>
          </p:txBody>
        </p:sp>
      </p:grpSp>
      <p:grpSp>
        <p:nvGrpSpPr>
          <p:cNvPr id="50" name="그룹 49"/>
          <p:cNvGrpSpPr/>
          <p:nvPr/>
        </p:nvGrpSpPr>
        <p:grpSpPr>
          <a:xfrm>
            <a:off x="5617016" y="1764949"/>
            <a:ext cx="557839" cy="230832"/>
            <a:chOff x="1463113" y="3140047"/>
            <a:chExt cx="557839" cy="230832"/>
          </a:xfrm>
        </p:grpSpPr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동부</a:t>
              </a:r>
            </a:p>
          </p:txBody>
        </p:sp>
      </p:grpSp>
      <p:grpSp>
        <p:nvGrpSpPr>
          <p:cNvPr id="53" name="그룹 52"/>
          <p:cNvGrpSpPr/>
          <p:nvPr/>
        </p:nvGrpSpPr>
        <p:grpSpPr>
          <a:xfrm>
            <a:off x="6098778" y="1764949"/>
            <a:ext cx="909563" cy="230832"/>
            <a:chOff x="1463113" y="3140047"/>
            <a:chExt cx="909563" cy="230832"/>
          </a:xfrm>
        </p:grpSpPr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1533271" y="3140047"/>
              <a:ext cx="83940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dirty="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부산울산경남</a:t>
              </a:r>
            </a:p>
          </p:txBody>
        </p:sp>
      </p:grpSp>
      <p:grpSp>
        <p:nvGrpSpPr>
          <p:cNvPr id="56" name="그룹 55"/>
          <p:cNvGrpSpPr/>
          <p:nvPr/>
        </p:nvGrpSpPr>
        <p:grpSpPr>
          <a:xfrm>
            <a:off x="1198802" y="1953104"/>
            <a:ext cx="557839" cy="230832"/>
            <a:chOff x="1463113" y="3140047"/>
            <a:chExt cx="557839" cy="230832"/>
          </a:xfrm>
        </p:grpSpPr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58" name="TextBox 57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북부</a:t>
              </a:r>
            </a:p>
          </p:txBody>
        </p:sp>
      </p:grpSp>
      <p:grpSp>
        <p:nvGrpSpPr>
          <p:cNvPr id="59" name="그룹 58"/>
          <p:cNvGrpSpPr/>
          <p:nvPr/>
        </p:nvGrpSpPr>
        <p:grpSpPr>
          <a:xfrm>
            <a:off x="1681010" y="1953104"/>
            <a:ext cx="557839" cy="230832"/>
            <a:chOff x="1463113" y="3140047"/>
            <a:chExt cx="557839" cy="230832"/>
          </a:xfrm>
        </p:grpSpPr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dirty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서</a:t>
              </a:r>
              <a:r>
                <a:rPr lang="ko-KR" altLang="en-US" sz="900" dirty="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부</a:t>
              </a:r>
            </a:p>
          </p:txBody>
        </p:sp>
      </p:grpSp>
      <p:grpSp>
        <p:nvGrpSpPr>
          <p:cNvPr id="62" name="그룹 61"/>
          <p:cNvGrpSpPr/>
          <p:nvPr/>
        </p:nvGrpSpPr>
        <p:grpSpPr>
          <a:xfrm>
            <a:off x="2113340" y="1953104"/>
            <a:ext cx="557839" cy="230832"/>
            <a:chOff x="1463113" y="3140047"/>
            <a:chExt cx="557839" cy="230832"/>
          </a:xfrm>
        </p:grpSpPr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영업</a:t>
              </a:r>
            </a:p>
          </p:txBody>
        </p:sp>
      </p:grpSp>
      <p:grpSp>
        <p:nvGrpSpPr>
          <p:cNvPr id="65" name="그룹 64"/>
          <p:cNvGrpSpPr/>
          <p:nvPr/>
        </p:nvGrpSpPr>
        <p:grpSpPr>
          <a:xfrm>
            <a:off x="2553983" y="1953104"/>
            <a:ext cx="557839" cy="230832"/>
            <a:chOff x="1463113" y="3140047"/>
            <a:chExt cx="557839" cy="230832"/>
          </a:xfrm>
        </p:grpSpPr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중앙</a:t>
              </a:r>
            </a:p>
          </p:txBody>
        </p:sp>
      </p:grpSp>
      <p:graphicFrame>
        <p:nvGraphicFramePr>
          <p:cNvPr id="85" name="표 84"/>
          <p:cNvGraphicFramePr>
            <a:graphicFrameLocks noGrp="1"/>
          </p:cNvGraphicFramePr>
          <p:nvPr>
            <p:extLst/>
          </p:nvPr>
        </p:nvGraphicFramePr>
        <p:xfrm>
          <a:off x="185096" y="2255962"/>
          <a:ext cx="6726791" cy="502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1019">
                  <a:extLst>
                    <a:ext uri="{9D8B030D-6E8A-4147-A177-3AD203B41FA5}">
                      <a16:colId xmlns:a16="http://schemas.microsoft.com/office/drawing/2014/main" val="1871099558"/>
                    </a:ext>
                  </a:extLst>
                </a:gridCol>
                <a:gridCol w="631019">
                  <a:extLst>
                    <a:ext uri="{9D8B030D-6E8A-4147-A177-3AD203B41FA5}">
                      <a16:colId xmlns:a16="http://schemas.microsoft.com/office/drawing/2014/main" val="1558743132"/>
                    </a:ext>
                  </a:extLst>
                </a:gridCol>
                <a:gridCol w="631019">
                  <a:extLst>
                    <a:ext uri="{9D8B030D-6E8A-4147-A177-3AD203B41FA5}">
                      <a16:colId xmlns:a16="http://schemas.microsoft.com/office/drawing/2014/main" val="3619971015"/>
                    </a:ext>
                  </a:extLst>
                </a:gridCol>
                <a:gridCol w="631019">
                  <a:extLst>
                    <a:ext uri="{9D8B030D-6E8A-4147-A177-3AD203B41FA5}">
                      <a16:colId xmlns:a16="http://schemas.microsoft.com/office/drawing/2014/main" val="2196222818"/>
                    </a:ext>
                  </a:extLst>
                </a:gridCol>
                <a:gridCol w="631019">
                  <a:extLst>
                    <a:ext uri="{9D8B030D-6E8A-4147-A177-3AD203B41FA5}">
                      <a16:colId xmlns:a16="http://schemas.microsoft.com/office/drawing/2014/main" val="3487047758"/>
                    </a:ext>
                  </a:extLst>
                </a:gridCol>
                <a:gridCol w="631019">
                  <a:extLst>
                    <a:ext uri="{9D8B030D-6E8A-4147-A177-3AD203B41FA5}">
                      <a16:colId xmlns:a16="http://schemas.microsoft.com/office/drawing/2014/main" val="1667671094"/>
                    </a:ext>
                  </a:extLst>
                </a:gridCol>
                <a:gridCol w="315510">
                  <a:extLst>
                    <a:ext uri="{9D8B030D-6E8A-4147-A177-3AD203B41FA5}">
                      <a16:colId xmlns:a16="http://schemas.microsoft.com/office/drawing/2014/main" val="910289205"/>
                    </a:ext>
                  </a:extLst>
                </a:gridCol>
                <a:gridCol w="2625167">
                  <a:extLst>
                    <a:ext uri="{9D8B030D-6E8A-4147-A177-3AD203B41FA5}">
                      <a16:colId xmlns:a16="http://schemas.microsoft.com/office/drawing/2014/main" val="2567026909"/>
                    </a:ext>
                  </a:extLst>
                </a:gridCol>
              </a:tblGrid>
              <a:tr h="11974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위험산출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비율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영업지수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RAS</a:t>
                      </a:r>
                    </a:p>
                    <a:p>
                      <a:pPr algn="ctr" latinLnBrk="1"/>
                      <a:r>
                        <a:rPr lang="ko-KR" altLang="en-US" sz="700" b="1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전산평가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C-RAS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내부통제</a:t>
                      </a:r>
                      <a:endParaRPr lang="en-US" altLang="ko-KR" sz="700" b="1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1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이행수준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CleanKB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KRI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5566810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총합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(100)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465783"/>
                  </a:ext>
                </a:extLst>
              </a:tr>
            </a:tbl>
          </a:graphicData>
        </a:graphic>
      </p:graphicFrame>
      <p:sp>
        <p:nvSpPr>
          <p:cNvPr id="86" name="직사각형 8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015257" y="2586162"/>
            <a:ext cx="225675" cy="120558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648276" y="2586162"/>
            <a:ext cx="225675" cy="120558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286058" y="2586162"/>
            <a:ext cx="225675" cy="120558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923840" y="2586162"/>
            <a:ext cx="225675" cy="120558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562655" y="2586162"/>
            <a:ext cx="225675" cy="120558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008446" y="2572850"/>
            <a:ext cx="225675" cy="120558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11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493762" y="2313845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적용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2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268051" y="1512187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dirty="0" err="1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일괄등록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2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673515" y="1512187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저장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82" name="직사각형 181"/>
          <p:cNvSpPr/>
          <p:nvPr/>
        </p:nvSpPr>
        <p:spPr bwMode="auto">
          <a:xfrm>
            <a:off x="157746" y="2226083"/>
            <a:ext cx="6817098" cy="574244"/>
          </a:xfrm>
          <a:prstGeom prst="rect">
            <a:avLst/>
          </a:prstGeom>
          <a:noFill/>
          <a:ln w="15875">
            <a:solidFill>
              <a:schemeClr val="accent1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07" name="타원 20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25799" y="216574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26" name="직사각형 125"/>
          <p:cNvSpPr/>
          <p:nvPr/>
        </p:nvSpPr>
        <p:spPr bwMode="auto">
          <a:xfrm>
            <a:off x="6072898" y="1481266"/>
            <a:ext cx="378088" cy="195506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91" name="타원 19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132573" y="134446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4" name="타원 10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7611191" y="211556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6" name="타원 10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7893791" y="211796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08" name="표 107"/>
          <p:cNvGraphicFramePr>
            <a:graphicFrameLocks noGrp="1"/>
          </p:cNvGraphicFramePr>
          <p:nvPr>
            <p:extLst/>
          </p:nvPr>
        </p:nvGraphicFramePr>
        <p:xfrm>
          <a:off x="195151" y="3558137"/>
          <a:ext cx="6786674" cy="899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1925">
                  <a:extLst>
                    <a:ext uri="{9D8B030D-6E8A-4147-A177-3AD203B41FA5}">
                      <a16:colId xmlns:a16="http://schemas.microsoft.com/office/drawing/2014/main" val="3641493654"/>
                    </a:ext>
                  </a:extLst>
                </a:gridCol>
                <a:gridCol w="493786">
                  <a:extLst>
                    <a:ext uri="{9D8B030D-6E8A-4147-A177-3AD203B41FA5}">
                      <a16:colId xmlns:a16="http://schemas.microsoft.com/office/drawing/2014/main" val="1251415092"/>
                    </a:ext>
                  </a:extLst>
                </a:gridCol>
                <a:gridCol w="614578">
                  <a:extLst>
                    <a:ext uri="{9D8B030D-6E8A-4147-A177-3AD203B41FA5}">
                      <a16:colId xmlns:a16="http://schemas.microsoft.com/office/drawing/2014/main" val="3328877934"/>
                    </a:ext>
                  </a:extLst>
                </a:gridCol>
                <a:gridCol w="365760">
                  <a:extLst>
                    <a:ext uri="{9D8B030D-6E8A-4147-A177-3AD203B41FA5}">
                      <a16:colId xmlns:a16="http://schemas.microsoft.com/office/drawing/2014/main" val="1342206199"/>
                    </a:ext>
                  </a:extLst>
                </a:gridCol>
                <a:gridCol w="663947">
                  <a:extLst>
                    <a:ext uri="{9D8B030D-6E8A-4147-A177-3AD203B41FA5}">
                      <a16:colId xmlns:a16="http://schemas.microsoft.com/office/drawing/2014/main" val="2557239201"/>
                    </a:ext>
                  </a:extLst>
                </a:gridCol>
                <a:gridCol w="555253">
                  <a:extLst>
                    <a:ext uri="{9D8B030D-6E8A-4147-A177-3AD203B41FA5}">
                      <a16:colId xmlns:a16="http://schemas.microsoft.com/office/drawing/2014/main" val="2614998680"/>
                    </a:ext>
                  </a:extLst>
                </a:gridCol>
                <a:gridCol w="699109">
                  <a:extLst>
                    <a:ext uri="{9D8B030D-6E8A-4147-A177-3AD203B41FA5}">
                      <a16:colId xmlns:a16="http://schemas.microsoft.com/office/drawing/2014/main" val="2088889323"/>
                    </a:ext>
                  </a:extLst>
                </a:gridCol>
                <a:gridCol w="602397">
                  <a:extLst>
                    <a:ext uri="{9D8B030D-6E8A-4147-A177-3AD203B41FA5}">
                      <a16:colId xmlns:a16="http://schemas.microsoft.com/office/drawing/2014/main" val="1115703475"/>
                    </a:ext>
                  </a:extLst>
                </a:gridCol>
                <a:gridCol w="565394">
                  <a:extLst>
                    <a:ext uri="{9D8B030D-6E8A-4147-A177-3AD203B41FA5}">
                      <a16:colId xmlns:a16="http://schemas.microsoft.com/office/drawing/2014/main" val="1216452104"/>
                    </a:ext>
                  </a:extLst>
                </a:gridCol>
                <a:gridCol w="639400">
                  <a:extLst>
                    <a:ext uri="{9D8B030D-6E8A-4147-A177-3AD203B41FA5}">
                      <a16:colId xmlns:a16="http://schemas.microsoft.com/office/drawing/2014/main" val="1427260383"/>
                    </a:ext>
                  </a:extLst>
                </a:gridCol>
                <a:gridCol w="602397">
                  <a:extLst>
                    <a:ext uri="{9D8B030D-6E8A-4147-A177-3AD203B41FA5}">
                      <a16:colId xmlns:a16="http://schemas.microsoft.com/office/drawing/2014/main" val="456799420"/>
                    </a:ext>
                  </a:extLst>
                </a:gridCol>
                <a:gridCol w="672728">
                  <a:extLst>
                    <a:ext uri="{9D8B030D-6E8A-4147-A177-3AD203B41FA5}">
                      <a16:colId xmlns:a16="http://schemas.microsoft.com/office/drawing/2014/main" val="1736729114"/>
                    </a:ext>
                  </a:extLst>
                </a:gridCol>
              </a:tblGrid>
              <a:tr h="11974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지역영업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그룹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거점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점포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영업지수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RAS</a:t>
                      </a:r>
                    </a:p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전산평가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C-RAS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내부통제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이행수준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CleanKB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KRI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3611104"/>
                  </a:ext>
                </a:extLst>
              </a:tr>
              <a:tr h="17774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서울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[3335]</a:t>
                      </a:r>
                      <a:r>
                        <a:rPr lang="ko-KR" altLang="en-US" sz="70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강남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[5294]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삼성동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…..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122.3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13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87.2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3290565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서울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[3335]</a:t>
                      </a:r>
                      <a:r>
                        <a:rPr lang="ko-KR" altLang="en-US" sz="70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강남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...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[5812]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삼성역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…..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84.5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97.5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30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9826935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서울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[3335]</a:t>
                      </a:r>
                      <a:r>
                        <a:rPr lang="ko-KR" altLang="en-US" sz="70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강남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[2073]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대청역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…..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100.5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60.2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30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5422849"/>
                  </a:ext>
                </a:extLst>
              </a:tr>
            </a:tbl>
          </a:graphicData>
        </a:graphic>
      </p:graphicFrame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273685" y="4107081"/>
            <a:ext cx="225675" cy="120558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907309" y="4103274"/>
            <a:ext cx="225675" cy="120558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6488594" y="4108360"/>
            <a:ext cx="225675" cy="120558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273685" y="3883406"/>
            <a:ext cx="225675" cy="120558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907309" y="3885949"/>
            <a:ext cx="225675" cy="120558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6488594" y="3884685"/>
            <a:ext cx="225675" cy="120558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278052" y="4285284"/>
            <a:ext cx="225675" cy="120558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911676" y="4275127"/>
            <a:ext cx="225675" cy="120558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6492961" y="4280213"/>
            <a:ext cx="225675" cy="120558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132" name="직사각형 131"/>
          <p:cNvSpPr/>
          <p:nvPr/>
        </p:nvSpPr>
        <p:spPr bwMode="auto">
          <a:xfrm>
            <a:off x="5075748" y="3559605"/>
            <a:ext cx="1899099" cy="897692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4" name="직사각형 133"/>
          <p:cNvSpPr/>
          <p:nvPr/>
        </p:nvSpPr>
        <p:spPr bwMode="auto">
          <a:xfrm>
            <a:off x="255292" y="4065275"/>
            <a:ext cx="6526214" cy="180526"/>
          </a:xfrm>
          <a:prstGeom prst="rect">
            <a:avLst/>
          </a:prstGeom>
          <a:noFill/>
          <a:ln w="15875">
            <a:solidFill>
              <a:schemeClr val="accent1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66" name="타원 16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237984" y="337072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7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268051" y="1512187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dirty="0" err="1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일괄등록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7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673515" y="1512187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저장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74" name="직사각형 173"/>
          <p:cNvSpPr/>
          <p:nvPr/>
        </p:nvSpPr>
        <p:spPr bwMode="auto">
          <a:xfrm>
            <a:off x="5258521" y="1498578"/>
            <a:ext cx="357524" cy="202453"/>
          </a:xfrm>
          <a:prstGeom prst="rect">
            <a:avLst/>
          </a:prstGeom>
          <a:noFill/>
          <a:ln w="15875">
            <a:solidFill>
              <a:schemeClr val="accent1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75" name="직사각형 174"/>
          <p:cNvSpPr/>
          <p:nvPr/>
        </p:nvSpPr>
        <p:spPr bwMode="auto">
          <a:xfrm>
            <a:off x="5675991" y="1497623"/>
            <a:ext cx="357524" cy="202453"/>
          </a:xfrm>
          <a:prstGeom prst="rect">
            <a:avLst/>
          </a:prstGeom>
          <a:noFill/>
          <a:ln w="15875">
            <a:solidFill>
              <a:schemeClr val="accent1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76" name="타원 17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265106" y="133289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6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77" name="타원 17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712315" y="1337333"/>
            <a:ext cx="139015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7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178" name="그룹 177"/>
          <p:cNvGrpSpPr/>
          <p:nvPr/>
        </p:nvGrpSpPr>
        <p:grpSpPr>
          <a:xfrm>
            <a:off x="1871695" y="2114278"/>
            <a:ext cx="2648775" cy="970921"/>
            <a:chOff x="428818" y="4254500"/>
            <a:chExt cx="2648775" cy="970921"/>
          </a:xfrm>
        </p:grpSpPr>
        <p:grpSp>
          <p:nvGrpSpPr>
            <p:cNvPr id="179" name="그룹 178"/>
            <p:cNvGrpSpPr/>
            <p:nvPr/>
          </p:nvGrpSpPr>
          <p:grpSpPr>
            <a:xfrm>
              <a:off x="444562" y="4254500"/>
              <a:ext cx="2633031" cy="970921"/>
              <a:chOff x="4615502" y="2898790"/>
              <a:chExt cx="2633031" cy="970921"/>
            </a:xfrm>
          </p:grpSpPr>
          <p:sp>
            <p:nvSpPr>
              <p:cNvPr id="186" name="직사각형 185">
                <a:extLst>
                  <a:ext uri="{FF2B5EF4-FFF2-40B4-BE49-F238E27FC236}">
                    <a16:creationId xmlns:a16="http://schemas.microsoft.com/office/drawing/2014/main" id="{68CB9370-D759-4248-8572-5FDA4EF6101B}"/>
                  </a:ext>
                </a:extLst>
              </p:cNvPr>
              <p:cNvSpPr/>
              <p:nvPr/>
            </p:nvSpPr>
            <p:spPr>
              <a:xfrm>
                <a:off x="4615502" y="2898790"/>
                <a:ext cx="2633031" cy="97092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742856">
                  <a:defRPr/>
                </a:pPr>
                <a:endParaRPr lang="ko-KR" altLang="en-US" sz="813" b="1">
                  <a:solidFill>
                    <a:srgbClr val="0070C0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endParaRPr>
              </a:p>
            </p:txBody>
          </p:sp>
          <p:sp>
            <p:nvSpPr>
              <p:cNvPr id="187" name="직사각형 186">
                <a:extLst>
                  <a:ext uri="{FF2B5EF4-FFF2-40B4-BE49-F238E27FC236}">
                    <a16:creationId xmlns:a16="http://schemas.microsoft.com/office/drawing/2014/main" id="{061CAA5C-4EB7-4E67-85DA-E29F266F438F}"/>
                  </a:ext>
                </a:extLst>
              </p:cNvPr>
              <p:cNvSpPr/>
              <p:nvPr/>
            </p:nvSpPr>
            <p:spPr>
              <a:xfrm>
                <a:off x="4626393" y="2914649"/>
                <a:ext cx="2614235" cy="217588"/>
              </a:xfrm>
              <a:prstGeom prst="rect">
                <a:avLst/>
              </a:prstGeom>
              <a:solidFill>
                <a:srgbClr val="62595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742856">
                  <a:defRPr/>
                </a:pPr>
                <a:endParaRPr lang="ko-KR" altLang="en-US" sz="813" dirty="0">
                  <a:solidFill>
                    <a:schemeClr val="bg1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endParaRPr>
              </a:p>
            </p:txBody>
          </p:sp>
          <p:sp>
            <p:nvSpPr>
              <p:cNvPr id="188" name="직사각형 187">
                <a:extLst>
                  <a:ext uri="{FF2B5EF4-FFF2-40B4-BE49-F238E27FC236}">
                    <a16:creationId xmlns:a16="http://schemas.microsoft.com/office/drawing/2014/main" id="{D494E968-62DE-442C-9EE6-DD6B90DDF615}"/>
                  </a:ext>
                </a:extLst>
              </p:cNvPr>
              <p:cNvSpPr/>
              <p:nvPr/>
            </p:nvSpPr>
            <p:spPr bwMode="auto">
              <a:xfrm>
                <a:off x="7053533" y="2951827"/>
                <a:ext cx="150351" cy="134016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none" lIns="0" tIns="0" rIns="0" bIns="0" rtlCol="0" anchor="ctr" anchorCtr="0">
                <a:noAutofit/>
              </a:bodyPr>
              <a:lstStyle/>
              <a:p>
                <a:pPr algn="ctr" defTabSz="742856">
                  <a:defRPr/>
                </a:pPr>
                <a:r>
                  <a:rPr lang="en-US" altLang="ko-KR" sz="516" b="1">
                    <a:ln>
                      <a:solidFill>
                        <a:prstClr val="black">
                          <a:alpha val="0"/>
                        </a:prstClr>
                      </a:solidFill>
                    </a:ln>
                    <a:solidFill>
                      <a:prstClr val="black"/>
                    </a:solidFill>
                    <a:latin typeface="KB금융 본문체 Medium" panose="020B0603000000000000" pitchFamily="50" charset="-127"/>
                    <a:ea typeface="KB금융 본문체 Medium" panose="020B0603000000000000" pitchFamily="50" charset="-127"/>
                  </a:rPr>
                  <a:t>X</a:t>
                </a:r>
                <a:endParaRPr lang="ko-KR" altLang="en-US" sz="516" b="1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endParaRPr>
              </a:p>
            </p:txBody>
          </p:sp>
          <p:sp>
            <p:nvSpPr>
              <p:cNvPr id="189" name="TextBox 188">
                <a:extLst>
                  <a:ext uri="{FF2B5EF4-FFF2-40B4-BE49-F238E27FC236}">
                    <a16:creationId xmlns:a16="http://schemas.microsoft.com/office/drawing/2014/main" id="{60B97788-F115-4669-A08F-46D3A46FC7DA}"/>
                  </a:ext>
                </a:extLst>
              </p:cNvPr>
              <p:cNvSpPr txBox="1"/>
              <p:nvPr/>
            </p:nvSpPr>
            <p:spPr>
              <a:xfrm>
                <a:off x="4661286" y="2914649"/>
                <a:ext cx="1444242" cy="215444"/>
              </a:xfrm>
              <a:prstGeom prst="rect">
                <a:avLst/>
              </a:prstGeom>
              <a:noFill/>
            </p:spPr>
            <p:txBody>
              <a:bodyPr wrap="square" lIns="29250" rtlCol="0">
                <a:spAutoFit/>
              </a:bodyPr>
              <a:lstStyle/>
              <a:p>
                <a:pPr defTabSz="742856">
                  <a:defRPr/>
                </a:pPr>
                <a:r>
                  <a:rPr lang="ko-KR" altLang="en-US" sz="800" smtClean="0">
                    <a:solidFill>
                      <a:schemeClr val="bg1"/>
                    </a:solidFill>
                    <a:latin typeface="KB금융 본문체 Medium" panose="020B0603000000000000" pitchFamily="50" charset="-127"/>
                    <a:ea typeface="KB금융 본문체 Medium" panose="020B0603000000000000" pitchFamily="50" charset="-127"/>
                  </a:rPr>
                  <a:t>일괄업로드</a:t>
                </a:r>
                <a:endParaRPr lang="ko-KR" altLang="en-US" sz="800">
                  <a:solidFill>
                    <a:schemeClr val="bg1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endParaRPr>
              </a:p>
            </p:txBody>
          </p:sp>
        </p:grpSp>
        <p:sp>
          <p:nvSpPr>
            <p:cNvPr id="180" name="직사각형 179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490346" y="4561606"/>
              <a:ext cx="2111545" cy="16964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normalizeH="0" baseline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+mj-ea"/>
                  <a:ea typeface="+mj-ea"/>
                </a:rPr>
                <a:t>업로드 파일</a:t>
              </a:r>
              <a:r>
                <a:rPr kumimoji="0" lang="en-US" altLang="ko-KR" sz="800" b="0" i="0" u="none" strike="noStrike" kern="1200" cap="none" normalizeH="0" baseline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+mj-ea"/>
                  <a:ea typeface="+mj-ea"/>
                </a:rPr>
                <a:t>.xlsx</a:t>
              </a:r>
              <a:endParaRPr kumimoji="0" lang="ko-KR" altLang="en-US" sz="800" b="0" i="0" u="none" strike="noStrike" kern="1200" cap="none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181" name="사각형: 둥근 모서리 19">
              <a:extLst>
                <a:ext uri="{FF2B5EF4-FFF2-40B4-BE49-F238E27FC236}">
                  <a16:creationId xmlns:a16="http://schemas.microsoft.com/office/drawing/2014/main" id="{52727207-08CB-A2FB-DFBD-131CEC779D94}"/>
                </a:ext>
              </a:extLst>
            </p:cNvPr>
            <p:cNvSpPr/>
            <p:nvPr/>
          </p:nvSpPr>
          <p:spPr>
            <a:xfrm>
              <a:off x="2643551" y="4565921"/>
              <a:ext cx="360000" cy="180000"/>
            </a:xfrm>
            <a:prstGeom prst="roundRect">
              <a:avLst>
                <a:gd name="adj" fmla="val 10228"/>
              </a:avLst>
            </a:prstGeom>
            <a:solidFill>
              <a:srgbClr val="E26C14"/>
            </a:solidFill>
            <a:ln w="9525">
              <a:solidFill>
                <a:schemeClr val="bg1">
                  <a:lumMod val="75000"/>
                </a:schemeClr>
              </a:solidFill>
            </a:ln>
            <a:effectLst>
              <a:outerShdw blurRad="50800" dist="38100" dir="2700000" sx="80000" sy="8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spc="-100" smtClean="0">
                  <a:solidFill>
                    <a:prstClr val="white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등록</a:t>
              </a:r>
              <a:endParaRPr kumimoji="0" lang="ko-KR" altLang="en-US" sz="800" b="0" i="0" u="none" strike="noStrike" kern="1200" cap="none" spc="-1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pic>
          <p:nvPicPr>
            <p:cNvPr id="183" name="그림 182"/>
            <p:cNvPicPr>
              <a:picLocks noChangeAspect="1"/>
            </p:cNvPicPr>
            <p:nvPr/>
          </p:nvPicPr>
          <p:blipFill rotWithShape="1">
            <a:blip r:embed="rId2"/>
            <a:srcRect r="73540"/>
            <a:stretch/>
          </p:blipFill>
          <p:spPr>
            <a:xfrm>
              <a:off x="2418296" y="4570804"/>
              <a:ext cx="183595" cy="164228"/>
            </a:xfrm>
            <a:prstGeom prst="rect">
              <a:avLst/>
            </a:prstGeom>
          </p:spPr>
        </p:pic>
        <p:sp>
          <p:nvSpPr>
            <p:cNvPr id="184" name="TextBox 183"/>
            <p:cNvSpPr txBox="1"/>
            <p:nvPr/>
          </p:nvSpPr>
          <p:spPr>
            <a:xfrm>
              <a:off x="428818" y="4984702"/>
              <a:ext cx="1140138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700" u="sng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업로드 양식 다운로드</a:t>
              </a:r>
            </a:p>
          </p:txBody>
        </p:sp>
        <p:sp>
          <p:nvSpPr>
            <p:cNvPr id="185" name="TextBox 184"/>
            <p:cNvSpPr txBox="1"/>
            <p:nvPr/>
          </p:nvSpPr>
          <p:spPr>
            <a:xfrm>
              <a:off x="428818" y="4741399"/>
              <a:ext cx="251320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※ </a:t>
              </a:r>
              <a:r>
                <a:rPr lang="ko-KR" altLang="en-US" sz="700" dirty="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지정된 양식만 업로드 가능합니다</a:t>
              </a:r>
              <a:r>
                <a:rPr lang="en-US" altLang="ko-KR" sz="700" dirty="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. </a:t>
              </a:r>
              <a:r>
                <a:rPr lang="ko-KR" altLang="en-US" sz="700" dirty="0" err="1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부점코드는</a:t>
              </a:r>
              <a:r>
                <a:rPr lang="ko-KR" altLang="en-US" sz="700" dirty="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 필수 값입니다</a:t>
              </a:r>
              <a:r>
                <a:rPr lang="en-US" altLang="ko-KR" sz="700" dirty="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.</a:t>
              </a:r>
              <a:endParaRPr lang="ko-KR" altLang="en-US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cxnSp>
        <p:nvCxnSpPr>
          <p:cNvPr id="190" name="구부러진 연결선 189"/>
          <p:cNvCxnSpPr>
            <a:endCxn id="186" idx="0"/>
          </p:cNvCxnSpPr>
          <p:nvPr/>
        </p:nvCxnSpPr>
        <p:spPr bwMode="auto">
          <a:xfrm rot="10800000" flipV="1">
            <a:off x="3203955" y="1599804"/>
            <a:ext cx="2054566" cy="514473"/>
          </a:xfrm>
          <a:prstGeom prst="curvedConnector2">
            <a:avLst/>
          </a:prstGeom>
          <a:solidFill>
            <a:schemeClr val="accent1"/>
          </a:solidFill>
          <a:ln w="12700" cap="flat" cmpd="sng" algn="ctr">
            <a:solidFill>
              <a:schemeClr val="accent1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cxnSp>
        <p:nvCxnSpPr>
          <p:cNvPr id="195" name="구부러진 연결선 194"/>
          <p:cNvCxnSpPr>
            <a:stCxn id="186" idx="3"/>
          </p:cNvCxnSpPr>
          <p:nvPr/>
        </p:nvCxnSpPr>
        <p:spPr bwMode="auto">
          <a:xfrm>
            <a:off x="4520470" y="2599739"/>
            <a:ext cx="1504828" cy="959866"/>
          </a:xfrm>
          <a:prstGeom prst="curvedConnector2">
            <a:avLst/>
          </a:prstGeom>
          <a:solidFill>
            <a:schemeClr val="accent1"/>
          </a:solidFill>
          <a:ln w="12700" cap="flat" cmpd="sng" algn="ctr">
            <a:solidFill>
              <a:schemeClr val="accent1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196" name="타원 19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492961" y="219313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8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97" name="타원 19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521516" y="133819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9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33" name="표 132"/>
          <p:cNvGraphicFramePr>
            <a:graphicFrameLocks noGrp="1"/>
          </p:cNvGraphicFramePr>
          <p:nvPr>
            <p:extLst/>
          </p:nvPr>
        </p:nvGraphicFramePr>
        <p:xfrm>
          <a:off x="172168" y="4606891"/>
          <a:ext cx="6802677" cy="103616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6444">
                  <a:extLst>
                    <a:ext uri="{9D8B030D-6E8A-4147-A177-3AD203B41FA5}">
                      <a16:colId xmlns:a16="http://schemas.microsoft.com/office/drawing/2014/main" val="3641493654"/>
                    </a:ext>
                  </a:extLst>
                </a:gridCol>
                <a:gridCol w="319476">
                  <a:extLst>
                    <a:ext uri="{9D8B030D-6E8A-4147-A177-3AD203B41FA5}">
                      <a16:colId xmlns:a16="http://schemas.microsoft.com/office/drawing/2014/main" val="1251415092"/>
                    </a:ext>
                  </a:extLst>
                </a:gridCol>
                <a:gridCol w="400923">
                  <a:extLst>
                    <a:ext uri="{9D8B030D-6E8A-4147-A177-3AD203B41FA5}">
                      <a16:colId xmlns:a16="http://schemas.microsoft.com/office/drawing/2014/main" val="3328877934"/>
                    </a:ext>
                  </a:extLst>
                </a:gridCol>
                <a:gridCol w="321166">
                  <a:extLst>
                    <a:ext uri="{9D8B030D-6E8A-4147-A177-3AD203B41FA5}">
                      <a16:colId xmlns:a16="http://schemas.microsoft.com/office/drawing/2014/main" val="1342206199"/>
                    </a:ext>
                  </a:extLst>
                </a:gridCol>
                <a:gridCol w="407333">
                  <a:extLst>
                    <a:ext uri="{9D8B030D-6E8A-4147-A177-3AD203B41FA5}">
                      <a16:colId xmlns:a16="http://schemas.microsoft.com/office/drawing/2014/main" val="2557239201"/>
                    </a:ext>
                  </a:extLst>
                </a:gridCol>
                <a:gridCol w="375999">
                  <a:extLst>
                    <a:ext uri="{9D8B030D-6E8A-4147-A177-3AD203B41FA5}">
                      <a16:colId xmlns:a16="http://schemas.microsoft.com/office/drawing/2014/main" val="2614998680"/>
                    </a:ext>
                  </a:extLst>
                </a:gridCol>
                <a:gridCol w="336833">
                  <a:extLst>
                    <a:ext uri="{9D8B030D-6E8A-4147-A177-3AD203B41FA5}">
                      <a16:colId xmlns:a16="http://schemas.microsoft.com/office/drawing/2014/main" val="2194819789"/>
                    </a:ext>
                  </a:extLst>
                </a:gridCol>
                <a:gridCol w="446499">
                  <a:extLst>
                    <a:ext uri="{9D8B030D-6E8A-4147-A177-3AD203B41FA5}">
                      <a16:colId xmlns:a16="http://schemas.microsoft.com/office/drawing/2014/main" val="3568075189"/>
                    </a:ext>
                  </a:extLst>
                </a:gridCol>
                <a:gridCol w="250666">
                  <a:extLst>
                    <a:ext uri="{9D8B030D-6E8A-4147-A177-3AD203B41FA5}">
                      <a16:colId xmlns:a16="http://schemas.microsoft.com/office/drawing/2014/main" val="965354579"/>
                    </a:ext>
                  </a:extLst>
                </a:gridCol>
                <a:gridCol w="407333">
                  <a:extLst>
                    <a:ext uri="{9D8B030D-6E8A-4147-A177-3AD203B41FA5}">
                      <a16:colId xmlns:a16="http://schemas.microsoft.com/office/drawing/2014/main" val="2613910409"/>
                    </a:ext>
                  </a:extLst>
                </a:gridCol>
                <a:gridCol w="204240">
                  <a:extLst>
                    <a:ext uri="{9D8B030D-6E8A-4147-A177-3AD203B41FA5}">
                      <a16:colId xmlns:a16="http://schemas.microsoft.com/office/drawing/2014/main" val="3306922292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135935417"/>
                    </a:ext>
                  </a:extLst>
                </a:gridCol>
                <a:gridCol w="403860">
                  <a:extLst>
                    <a:ext uri="{9D8B030D-6E8A-4147-A177-3AD203B41FA5}">
                      <a16:colId xmlns:a16="http://schemas.microsoft.com/office/drawing/2014/main" val="1873262483"/>
                    </a:ext>
                  </a:extLst>
                </a:gridCol>
                <a:gridCol w="426720">
                  <a:extLst>
                    <a:ext uri="{9D8B030D-6E8A-4147-A177-3AD203B41FA5}">
                      <a16:colId xmlns:a16="http://schemas.microsoft.com/office/drawing/2014/main" val="2862258309"/>
                    </a:ext>
                  </a:extLst>
                </a:gridCol>
                <a:gridCol w="426720">
                  <a:extLst>
                    <a:ext uri="{9D8B030D-6E8A-4147-A177-3AD203B41FA5}">
                      <a16:colId xmlns:a16="http://schemas.microsoft.com/office/drawing/2014/main" val="264119343"/>
                    </a:ext>
                  </a:extLst>
                </a:gridCol>
                <a:gridCol w="335280">
                  <a:extLst>
                    <a:ext uri="{9D8B030D-6E8A-4147-A177-3AD203B41FA5}">
                      <a16:colId xmlns:a16="http://schemas.microsoft.com/office/drawing/2014/main" val="2104866577"/>
                    </a:ext>
                  </a:extLst>
                </a:gridCol>
                <a:gridCol w="327660">
                  <a:extLst>
                    <a:ext uri="{9D8B030D-6E8A-4147-A177-3AD203B41FA5}">
                      <a16:colId xmlns:a16="http://schemas.microsoft.com/office/drawing/2014/main" val="861897969"/>
                    </a:ext>
                  </a:extLst>
                </a:gridCol>
                <a:gridCol w="423653">
                  <a:extLst>
                    <a:ext uri="{9D8B030D-6E8A-4147-A177-3AD203B41FA5}">
                      <a16:colId xmlns:a16="http://schemas.microsoft.com/office/drawing/2014/main" val="952354127"/>
                    </a:ext>
                  </a:extLst>
                </a:gridCol>
                <a:gridCol w="180872">
                  <a:extLst>
                    <a:ext uri="{9D8B030D-6E8A-4147-A177-3AD203B41FA5}">
                      <a16:colId xmlns:a16="http://schemas.microsoft.com/office/drawing/2014/main" val="2696647851"/>
                    </a:ext>
                  </a:extLst>
                </a:gridCol>
              </a:tblGrid>
              <a:tr h="119749">
                <a:tc gridSpan="7"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위험평가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(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년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위험평가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(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월별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)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위험평가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3611104"/>
                  </a:ext>
                </a:extLst>
              </a:tr>
              <a:tr h="218918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총계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 smtClean="0"/>
                        <a:t>전체</a:t>
                      </a:r>
                      <a:endParaRPr lang="en-US" altLang="ko-KR" sz="700" b="1" dirty="0" smtClean="0"/>
                    </a:p>
                    <a:p>
                      <a:pPr algn="ctr" latinLnBrk="1"/>
                      <a:r>
                        <a:rPr lang="ko-KR" altLang="en-US" sz="700" b="1" dirty="0" smtClean="0"/>
                        <a:t>순위</a:t>
                      </a:r>
                      <a:endParaRPr lang="ko-KR" altLang="en-US" sz="700" b="1" dirty="0"/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지역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PG</a:t>
                      </a: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운영모델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수준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예정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감사구분</a:t>
                      </a:r>
                      <a:endParaRPr lang="ko-KR" altLang="en-US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총계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 smtClean="0"/>
                        <a:t>전체</a:t>
                      </a:r>
                      <a:endParaRPr lang="en-US" altLang="ko-KR" sz="700" b="1" dirty="0" smtClean="0"/>
                    </a:p>
                    <a:p>
                      <a:pPr algn="ctr" latinLnBrk="1"/>
                      <a:r>
                        <a:rPr lang="ko-KR" altLang="en-US" sz="700" b="1" dirty="0" smtClean="0"/>
                        <a:t>순위</a:t>
                      </a:r>
                      <a:endParaRPr lang="ko-KR" altLang="en-US" sz="700" b="1" dirty="0"/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지역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PG</a:t>
                      </a: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운영모델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수준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예정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감사구분</a:t>
                      </a:r>
                      <a:endParaRPr lang="ko-KR" altLang="en-US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위험부점</a:t>
                      </a:r>
                      <a:endParaRPr lang="en-US" altLang="ko-KR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여부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평가</a:t>
                      </a:r>
                      <a:endParaRPr lang="en-US" altLang="ko-KR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점수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위험구분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1927622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4.194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고위험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종합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4.194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고위험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종합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N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144.59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고위험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826935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15.21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저위험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여신부문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15.21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저위험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여신부문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N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75.36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168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중위험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5422849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13.84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중위험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여신부문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13.84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중위험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여신부문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sng" strike="noStrike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Y</a:t>
                      </a:r>
                      <a:endParaRPr lang="ko-KR" altLang="en-US" sz="700" b="1" i="0" u="sng" strike="noStrike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159.23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8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고위험</a:t>
                      </a:r>
                      <a:endParaRPr lang="en-US" altLang="ko-KR" sz="700" b="0" i="0" u="none" strike="noStrike" dirty="0" smtClean="0">
                        <a:solidFill>
                          <a:srgbClr val="FF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(Alert)</a:t>
                      </a:r>
                      <a:endParaRPr lang="ko-KR" altLang="en-US" sz="700" b="0" i="0" u="none" strike="noStrike" dirty="0">
                        <a:solidFill>
                          <a:srgbClr val="FF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3961093"/>
                  </a:ext>
                </a:extLst>
              </a:tr>
            </a:tbl>
          </a:graphicData>
        </a:graphic>
      </p:graphicFrame>
      <p:sp>
        <p:nvSpPr>
          <p:cNvPr id="137" name="TextBox 136"/>
          <p:cNvSpPr txBox="1"/>
          <p:nvPr/>
        </p:nvSpPr>
        <p:spPr>
          <a:xfrm>
            <a:off x="3205639" y="3327425"/>
            <a:ext cx="625519" cy="230832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txBody>
          <a:bodyPr wrap="square" rtlCol="0">
            <a:spAutoFit/>
          </a:bodyPr>
          <a:lstStyle/>
          <a:p>
            <a:r>
              <a:rPr lang="ko-KR" altLang="en-US" sz="900" dirty="0" err="1" smtClean="0">
                <a:solidFill>
                  <a:schemeClr val="accent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신규컬럼</a:t>
            </a:r>
            <a:endParaRPr lang="ko-KR" altLang="en-US" sz="900" dirty="0" smtClean="0">
              <a:solidFill>
                <a:schemeClr val="accent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5075748" y="3327425"/>
            <a:ext cx="625519" cy="230832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txBody>
          <a:bodyPr wrap="square" rtlCol="0">
            <a:spAutoFit/>
          </a:bodyPr>
          <a:lstStyle/>
          <a:p>
            <a:r>
              <a:rPr lang="ko-KR" altLang="en-US" sz="900" dirty="0" err="1" smtClean="0">
                <a:solidFill>
                  <a:schemeClr val="accent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신규컬럼</a:t>
            </a:r>
            <a:endParaRPr lang="ko-KR" altLang="en-US" sz="900" dirty="0" smtClean="0">
              <a:solidFill>
                <a:schemeClr val="accent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39" name="TextBox 138"/>
          <p:cNvSpPr txBox="1"/>
          <p:nvPr/>
        </p:nvSpPr>
        <p:spPr>
          <a:xfrm>
            <a:off x="2777431" y="5683408"/>
            <a:ext cx="625519" cy="230832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txBody>
          <a:bodyPr wrap="square" rtlCol="0">
            <a:spAutoFit/>
          </a:bodyPr>
          <a:lstStyle/>
          <a:p>
            <a:r>
              <a:rPr lang="ko-KR" altLang="en-US" sz="900" dirty="0" err="1" smtClean="0">
                <a:solidFill>
                  <a:schemeClr val="accent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신규컬럼</a:t>
            </a:r>
            <a:endParaRPr lang="ko-KR" altLang="en-US" sz="900" dirty="0" smtClean="0">
              <a:solidFill>
                <a:schemeClr val="accent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42" name="TextBox 141"/>
          <p:cNvSpPr txBox="1"/>
          <p:nvPr/>
        </p:nvSpPr>
        <p:spPr>
          <a:xfrm>
            <a:off x="5296462" y="5695112"/>
            <a:ext cx="625519" cy="230832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txBody>
          <a:bodyPr wrap="square" rtlCol="0">
            <a:spAutoFit/>
          </a:bodyPr>
          <a:lstStyle/>
          <a:p>
            <a:r>
              <a:rPr lang="ko-KR" altLang="en-US" sz="900" dirty="0" err="1" smtClean="0">
                <a:solidFill>
                  <a:schemeClr val="accent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신규컬럼</a:t>
            </a:r>
            <a:endParaRPr lang="ko-KR" altLang="en-US" sz="900" dirty="0" smtClean="0">
              <a:solidFill>
                <a:schemeClr val="accent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44" name="직사각형 143"/>
          <p:cNvSpPr/>
          <p:nvPr/>
        </p:nvSpPr>
        <p:spPr bwMode="auto">
          <a:xfrm>
            <a:off x="2771492" y="4611298"/>
            <a:ext cx="2481517" cy="1031756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45" name="직사각형 144"/>
          <p:cNvSpPr/>
          <p:nvPr/>
        </p:nvSpPr>
        <p:spPr bwMode="auto">
          <a:xfrm>
            <a:off x="5280757" y="4611298"/>
            <a:ext cx="1500749" cy="1031756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48" name="타원 14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115451" y="451808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49" name="타원 14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533410" y="452677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50" name="타원 14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7596377" y="410327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1" name="타원 13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7782049" y="509248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7789437" y="544120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6" name="타원 13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8702267" y="471910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140" name="그룹 139"/>
          <p:cNvGrpSpPr/>
          <p:nvPr/>
        </p:nvGrpSpPr>
        <p:grpSpPr>
          <a:xfrm>
            <a:off x="3006727" y="1491668"/>
            <a:ext cx="688047" cy="180915"/>
            <a:chOff x="3888573" y="3542054"/>
            <a:chExt cx="688047" cy="180915"/>
          </a:xfrm>
        </p:grpSpPr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3888573" y="3542054"/>
              <a:ext cx="68804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normalizeH="0" baseline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PG</a:t>
              </a:r>
              <a:r>
                <a:rPr kumimoji="0" lang="ko-KR" altLang="en-US" sz="700" b="0" i="0" u="none" strike="noStrike" kern="1200" cap="none" normalizeH="0" baseline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별</a:t>
              </a:r>
              <a:endParaRPr kumimoji="0" lang="ko-KR" altLang="en-US" sz="1000" b="0" i="0" u="none" strike="noStrike" kern="1200" cap="none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143" name="이등변 삼각형 142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4455435" y="3622344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007200" y="1675402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지점별</a:t>
            </a:r>
            <a:endParaRPr kumimoji="0" lang="ko-KR" altLang="en-US" sz="1000" b="0" i="0" u="none" strike="noStrike" kern="1200" cap="none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" name="모서리가 둥근 사각형 설명선 2"/>
          <p:cNvSpPr/>
          <p:nvPr/>
        </p:nvSpPr>
        <p:spPr bwMode="auto">
          <a:xfrm>
            <a:off x="3106350" y="753626"/>
            <a:ext cx="1340078" cy="579264"/>
          </a:xfrm>
          <a:prstGeom prst="wedgeRoundRectCallout">
            <a:avLst/>
          </a:prstGeom>
          <a:solidFill>
            <a:srgbClr val="2272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ko-KR" sz="1400" b="1" i="0" u="none" strike="noStrike" kern="0" cap="none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PG</a:t>
            </a:r>
            <a:r>
              <a:rPr kumimoji="0" lang="ko-KR" altLang="en-US" sz="1400" b="1" i="0" u="none" strike="noStrike" kern="0" cap="none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별 </a:t>
            </a:r>
            <a:r>
              <a:rPr kumimoji="0" lang="ko-KR" altLang="en-US" sz="1400" b="1" i="0" u="none" strike="noStrike" kern="0" cap="none" normalizeH="0" baseline="0" noProof="0" dirty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평가지수</a:t>
            </a:r>
            <a:r>
              <a:rPr kumimoji="0" lang="ko-KR" altLang="en-US" sz="1400" b="1" i="0" u="none" strike="noStrike" kern="0" cap="none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정의 필요</a:t>
            </a:r>
          </a:p>
        </p:txBody>
      </p:sp>
    </p:spTree>
    <p:extLst>
      <p:ext uri="{BB962C8B-B14F-4D97-AF65-F5344CB8AC3E}">
        <p14:creationId xmlns:p14="http://schemas.microsoft.com/office/powerpoint/2010/main" val="17426020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22270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24584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AI</a:t>
                      </a:r>
                      <a:r>
                        <a:rPr lang="ko-KR" altLang="en-US" sz="8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부점위험평가 모델 결과를 반영하여 위험수준 평가결과 조회 시 참고할 수 있는 기능 제공 </a:t>
                      </a:r>
                      <a:r>
                        <a:rPr lang="en-US" altLang="ko-KR" sz="8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noProof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본 내용은 </a:t>
                      </a:r>
                      <a:r>
                        <a:rPr lang="en-US" altLang="ko-KR" sz="800" noProof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AI</a:t>
                      </a:r>
                      <a:r>
                        <a:rPr lang="ko-KR" altLang="en-US" sz="800" noProof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부점위험모델의 실제 결과값에 따라 화면 정의 변동 가능</a:t>
                      </a:r>
                      <a:r>
                        <a:rPr lang="en-US" altLang="ko-KR" sz="8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noProof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=&gt; </a:t>
                      </a:r>
                      <a:r>
                        <a:rPr kumimoji="0" lang="en-US" altLang="ko-KR" sz="800" b="1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kumimoji="0" lang="ko-KR" altLang="en-US" sz="800" b="1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 내용으로 확인후 재협의</a:t>
                      </a:r>
                      <a:r>
                        <a:rPr kumimoji="0" lang="en-US" altLang="ko-KR" sz="800" b="1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kumimoji="0" lang="ko-KR" altLang="en-US" sz="800" b="1" kern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r>
                        <a:rPr kumimoji="0" lang="en-US" altLang="ko-KR" sz="800" b="1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en-US" altLang="ko-KR" sz="800" baseline="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4584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7088033"/>
                  </a:ext>
                </a:extLst>
              </a:tr>
              <a:tr h="24584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2414037"/>
                  </a:ext>
                </a:extLst>
              </a:tr>
              <a:tr h="13154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65793126"/>
                  </a:ext>
                </a:extLst>
              </a:tr>
              <a:tr h="24584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8990169"/>
                  </a:ext>
                </a:extLst>
              </a:tr>
            </a:tbl>
          </a:graphicData>
        </a:graphic>
      </p:graphicFrame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MDD-00009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MDD72G21001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AI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부점위험평가 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영업점별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위험수준 평가결과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(P47,P48,P49: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유성용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8" name="양쪽 모서리가 둥근 사각형 7"/>
          <p:cNvSpPr/>
          <p:nvPr/>
        </p:nvSpPr>
        <p:spPr bwMode="auto">
          <a:xfrm>
            <a:off x="185097" y="1162789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영업점별 위험수준 평가결과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9" name="내용 개체 틀 121"/>
          <p:cNvGraphicFramePr>
            <a:graphicFrameLocks/>
          </p:cNvGraphicFramePr>
          <p:nvPr>
            <p:extLst/>
          </p:nvPr>
        </p:nvGraphicFramePr>
        <p:xfrm>
          <a:off x="188963" y="1762447"/>
          <a:ext cx="6727092" cy="428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26716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5800376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</a:tblGrid>
              <a:tr h="428279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baseline="0" dirty="0" smtClean="0">
                          <a:solidFill>
                            <a:schemeClr val="dk1"/>
                          </a:solidFill>
                          <a:effectLst/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900" b="0" i="0" u="none" strike="noStrike" baseline="0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지역영업그룹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10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178594" y="1088193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185098" y="1348524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090986" y="1505831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조회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494021" y="1505831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엑셀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8" name="직사각형 17"/>
          <p:cNvSpPr/>
          <p:nvPr/>
        </p:nvSpPr>
        <p:spPr bwMode="auto">
          <a:xfrm>
            <a:off x="3753738" y="1507296"/>
            <a:ext cx="1041848" cy="175410"/>
          </a:xfrm>
          <a:prstGeom prst="rect">
            <a:avLst/>
          </a:prstGeom>
          <a:noFill/>
          <a:ln w="12701">
            <a:noFill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defTabSz="914395" fontAlgn="ctr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 dirty="0">
                <a:latin typeface="+mj-ea"/>
              </a:rPr>
              <a:t> </a:t>
            </a:r>
            <a:r>
              <a:rPr lang="ko-KR" altLang="en-US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○ 전체  ◎ 숨김</a:t>
            </a:r>
            <a:endParaRPr lang="ko-KR" altLang="en-US" sz="8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19" name="그룹 18"/>
          <p:cNvGrpSpPr/>
          <p:nvPr/>
        </p:nvGrpSpPr>
        <p:grpSpPr>
          <a:xfrm>
            <a:off x="1200842" y="1764949"/>
            <a:ext cx="557839" cy="230832"/>
            <a:chOff x="1463113" y="2946569"/>
            <a:chExt cx="557839" cy="230832"/>
          </a:xfrm>
        </p:grpSpPr>
        <p:sp>
          <p:nvSpPr>
            <p:cNvPr id="20" name="Freeform 46">
              <a:extLst>
                <a:ext uri="{FF2B5EF4-FFF2-40B4-BE49-F238E27FC236}">
                  <a16:creationId xmlns:a16="http://schemas.microsoft.com/office/drawing/2014/main" id="{36BBD547-1346-F115-36F1-EB48123B65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3113" y="2996510"/>
              <a:ext cx="120301" cy="120558"/>
            </a:xfrm>
            <a:custGeom>
              <a:avLst/>
              <a:gdLst/>
              <a:ahLst/>
              <a:cxnLst>
                <a:cxn ang="0">
                  <a:pos x="55" y="44"/>
                </a:cxn>
                <a:cxn ang="0">
                  <a:pos x="44" y="55"/>
                </a:cxn>
                <a:cxn ang="0">
                  <a:pos x="10" y="55"/>
                </a:cxn>
                <a:cxn ang="0">
                  <a:pos x="0" y="44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4"/>
                </a:cxn>
                <a:cxn ang="0">
                  <a:pos x="46" y="20"/>
                </a:cxn>
                <a:cxn ang="0">
                  <a:pos x="46" y="17"/>
                </a:cxn>
                <a:cxn ang="0">
                  <a:pos x="42" y="13"/>
                </a:cxn>
                <a:cxn ang="0">
                  <a:pos x="39" y="13"/>
                </a:cxn>
                <a:cxn ang="0">
                  <a:pos x="23" y="30"/>
                </a:cxn>
                <a:cxn ang="0">
                  <a:pos x="15" y="22"/>
                </a:cxn>
                <a:cxn ang="0">
                  <a:pos x="12" y="22"/>
                </a:cxn>
                <a:cxn ang="0">
                  <a:pos x="8" y="26"/>
                </a:cxn>
                <a:cxn ang="0">
                  <a:pos x="8" y="29"/>
                </a:cxn>
                <a:cxn ang="0">
                  <a:pos x="21" y="42"/>
                </a:cxn>
                <a:cxn ang="0">
                  <a:pos x="24" y="42"/>
                </a:cxn>
                <a:cxn ang="0">
                  <a:pos x="46" y="20"/>
                </a:cxn>
              </a:cxnLst>
              <a:rect l="0" t="0" r="r" b="b"/>
              <a:pathLst>
                <a:path w="55" h="55">
                  <a:moveTo>
                    <a:pt x="55" y="44"/>
                  </a:moveTo>
                  <a:cubicBezTo>
                    <a:pt x="55" y="50"/>
                    <a:pt x="50" y="55"/>
                    <a:pt x="44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lnTo>
                    <a:pt x="55" y="44"/>
                  </a:lnTo>
                  <a:close/>
                  <a:moveTo>
                    <a:pt x="46" y="20"/>
                  </a:moveTo>
                  <a:cubicBezTo>
                    <a:pt x="47" y="19"/>
                    <a:pt x="47" y="17"/>
                    <a:pt x="46" y="17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2" y="12"/>
                    <a:pt x="40" y="12"/>
                    <a:pt x="39" y="13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7"/>
                    <a:pt x="7" y="28"/>
                    <a:pt x="8" y="29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2" y="43"/>
                    <a:pt x="23" y="43"/>
                    <a:pt x="24" y="42"/>
                  </a:cubicBezTo>
                  <a:lnTo>
                    <a:pt x="46" y="2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100687" tIns="50343" rIns="100687" bIns="50343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135923" rtl="0" eaLnBrk="0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202" b="0" i="0" u="none" strike="noStrike" kern="0" cap="none" spc="0" normalizeH="0" baseline="0" noProof="0">
                <a:ln>
                  <a:solidFill>
                    <a:srgbClr val="F9A84A"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533272" y="2946569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전체</a:t>
              </a:r>
            </a:p>
          </p:txBody>
        </p:sp>
      </p:grpSp>
      <p:grpSp>
        <p:nvGrpSpPr>
          <p:cNvPr id="22" name="그룹 21"/>
          <p:cNvGrpSpPr/>
          <p:nvPr/>
        </p:nvGrpSpPr>
        <p:grpSpPr>
          <a:xfrm>
            <a:off x="3036191" y="1953104"/>
            <a:ext cx="557839" cy="230832"/>
            <a:chOff x="1463113" y="3140047"/>
            <a:chExt cx="557839" cy="230832"/>
          </a:xfrm>
        </p:grpSpPr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충청</a:t>
              </a:r>
            </a:p>
          </p:txBody>
        </p:sp>
      </p:grpSp>
      <p:grpSp>
        <p:nvGrpSpPr>
          <p:cNvPr id="26" name="그룹 25"/>
          <p:cNvGrpSpPr/>
          <p:nvPr/>
        </p:nvGrpSpPr>
        <p:grpSpPr>
          <a:xfrm>
            <a:off x="3518399" y="1953104"/>
            <a:ext cx="557839" cy="230832"/>
            <a:chOff x="1463113" y="3140047"/>
            <a:chExt cx="557839" cy="230832"/>
          </a:xfrm>
        </p:grpSpPr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호남</a:t>
              </a:r>
            </a:p>
          </p:txBody>
        </p:sp>
      </p:grpSp>
      <p:grpSp>
        <p:nvGrpSpPr>
          <p:cNvPr id="29" name="그룹 28"/>
          <p:cNvGrpSpPr/>
          <p:nvPr/>
        </p:nvGrpSpPr>
        <p:grpSpPr>
          <a:xfrm>
            <a:off x="1682602" y="1764949"/>
            <a:ext cx="951089" cy="230832"/>
            <a:chOff x="1463113" y="3140047"/>
            <a:chExt cx="951089" cy="23083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1533272" y="3140047"/>
              <a:ext cx="88093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CIB</a:t>
              </a:r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영업추진부</a:t>
              </a:r>
            </a:p>
          </p:txBody>
        </p:sp>
      </p:grpSp>
      <p:grpSp>
        <p:nvGrpSpPr>
          <p:cNvPr id="32" name="그룹 31"/>
          <p:cNvGrpSpPr/>
          <p:nvPr/>
        </p:nvGrpSpPr>
        <p:grpSpPr>
          <a:xfrm>
            <a:off x="2557612" y="1764949"/>
            <a:ext cx="557839" cy="230832"/>
            <a:chOff x="1463113" y="3140047"/>
            <a:chExt cx="557839" cy="23083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34" name="TextBox 33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강남</a:t>
              </a:r>
            </a:p>
          </p:txBody>
        </p:sp>
      </p:grpSp>
      <p:grpSp>
        <p:nvGrpSpPr>
          <p:cNvPr id="35" name="그룹 34"/>
          <p:cNvGrpSpPr/>
          <p:nvPr/>
        </p:nvGrpSpPr>
        <p:grpSpPr>
          <a:xfrm>
            <a:off x="3039372" y="1764949"/>
            <a:ext cx="557839" cy="230832"/>
            <a:chOff x="1463113" y="3140047"/>
            <a:chExt cx="557839" cy="230832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강서</a:t>
              </a:r>
            </a:p>
          </p:txBody>
        </p:sp>
      </p:grpSp>
      <p:grpSp>
        <p:nvGrpSpPr>
          <p:cNvPr id="38" name="그룹 37"/>
          <p:cNvGrpSpPr/>
          <p:nvPr/>
        </p:nvGrpSpPr>
        <p:grpSpPr>
          <a:xfrm>
            <a:off x="3521132" y="1764949"/>
            <a:ext cx="557839" cy="230832"/>
            <a:chOff x="1463113" y="3140047"/>
            <a:chExt cx="557839" cy="230832"/>
          </a:xfrm>
        </p:grpSpPr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경기</a:t>
              </a:r>
            </a:p>
          </p:txBody>
        </p:sp>
      </p:grpSp>
      <p:grpSp>
        <p:nvGrpSpPr>
          <p:cNvPr id="41" name="그룹 40"/>
          <p:cNvGrpSpPr/>
          <p:nvPr/>
        </p:nvGrpSpPr>
        <p:grpSpPr>
          <a:xfrm>
            <a:off x="4002892" y="1764949"/>
            <a:ext cx="557839" cy="230832"/>
            <a:chOff x="1463113" y="3140047"/>
            <a:chExt cx="557839" cy="230832"/>
          </a:xfrm>
        </p:grpSpPr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경인</a:t>
              </a:r>
            </a:p>
          </p:txBody>
        </p:sp>
      </p:grpSp>
      <p:grpSp>
        <p:nvGrpSpPr>
          <p:cNvPr id="44" name="그룹 43"/>
          <p:cNvGrpSpPr/>
          <p:nvPr/>
        </p:nvGrpSpPr>
        <p:grpSpPr>
          <a:xfrm>
            <a:off x="4484652" y="1764949"/>
            <a:ext cx="557839" cy="230832"/>
            <a:chOff x="1463113" y="3140047"/>
            <a:chExt cx="557839" cy="230832"/>
          </a:xfrm>
        </p:grpSpPr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남부</a:t>
              </a:r>
            </a:p>
          </p:txBody>
        </p:sp>
      </p:grpSp>
      <p:grpSp>
        <p:nvGrpSpPr>
          <p:cNvPr id="47" name="그룹 46"/>
          <p:cNvGrpSpPr/>
          <p:nvPr/>
        </p:nvGrpSpPr>
        <p:grpSpPr>
          <a:xfrm>
            <a:off x="4966412" y="1764949"/>
            <a:ext cx="726683" cy="230832"/>
            <a:chOff x="1463113" y="3140047"/>
            <a:chExt cx="726683" cy="230832"/>
          </a:xfrm>
        </p:grpSpPr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1533271" y="3140047"/>
              <a:ext cx="6565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대구경북</a:t>
              </a:r>
            </a:p>
          </p:txBody>
        </p:sp>
      </p:grpSp>
      <p:grpSp>
        <p:nvGrpSpPr>
          <p:cNvPr id="50" name="그룹 49"/>
          <p:cNvGrpSpPr/>
          <p:nvPr/>
        </p:nvGrpSpPr>
        <p:grpSpPr>
          <a:xfrm>
            <a:off x="5617016" y="1764949"/>
            <a:ext cx="557839" cy="230832"/>
            <a:chOff x="1463113" y="3140047"/>
            <a:chExt cx="557839" cy="230832"/>
          </a:xfrm>
        </p:grpSpPr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동부</a:t>
              </a:r>
            </a:p>
          </p:txBody>
        </p:sp>
      </p:grpSp>
      <p:grpSp>
        <p:nvGrpSpPr>
          <p:cNvPr id="53" name="그룹 52"/>
          <p:cNvGrpSpPr/>
          <p:nvPr/>
        </p:nvGrpSpPr>
        <p:grpSpPr>
          <a:xfrm>
            <a:off x="6098778" y="1764949"/>
            <a:ext cx="909563" cy="230832"/>
            <a:chOff x="1463113" y="3140047"/>
            <a:chExt cx="909563" cy="230832"/>
          </a:xfrm>
        </p:grpSpPr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1533271" y="3140047"/>
              <a:ext cx="83940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dirty="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부산울산경남</a:t>
              </a:r>
            </a:p>
          </p:txBody>
        </p:sp>
      </p:grpSp>
      <p:grpSp>
        <p:nvGrpSpPr>
          <p:cNvPr id="56" name="그룹 55"/>
          <p:cNvGrpSpPr/>
          <p:nvPr/>
        </p:nvGrpSpPr>
        <p:grpSpPr>
          <a:xfrm>
            <a:off x="1198802" y="1953104"/>
            <a:ext cx="557839" cy="230832"/>
            <a:chOff x="1463113" y="3140047"/>
            <a:chExt cx="557839" cy="230832"/>
          </a:xfrm>
        </p:grpSpPr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58" name="TextBox 57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북부</a:t>
              </a:r>
            </a:p>
          </p:txBody>
        </p:sp>
      </p:grpSp>
      <p:grpSp>
        <p:nvGrpSpPr>
          <p:cNvPr id="59" name="그룹 58"/>
          <p:cNvGrpSpPr/>
          <p:nvPr/>
        </p:nvGrpSpPr>
        <p:grpSpPr>
          <a:xfrm>
            <a:off x="1681010" y="1953104"/>
            <a:ext cx="557839" cy="230832"/>
            <a:chOff x="1463113" y="3140047"/>
            <a:chExt cx="557839" cy="230832"/>
          </a:xfrm>
        </p:grpSpPr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dirty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서</a:t>
              </a:r>
              <a:r>
                <a:rPr lang="ko-KR" altLang="en-US" sz="900" dirty="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부</a:t>
              </a:r>
            </a:p>
          </p:txBody>
        </p:sp>
      </p:grpSp>
      <p:grpSp>
        <p:nvGrpSpPr>
          <p:cNvPr id="62" name="그룹 61"/>
          <p:cNvGrpSpPr/>
          <p:nvPr/>
        </p:nvGrpSpPr>
        <p:grpSpPr>
          <a:xfrm>
            <a:off x="2113340" y="1953104"/>
            <a:ext cx="557839" cy="230832"/>
            <a:chOff x="1463113" y="3140047"/>
            <a:chExt cx="557839" cy="230832"/>
          </a:xfrm>
        </p:grpSpPr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영업</a:t>
              </a:r>
            </a:p>
          </p:txBody>
        </p:sp>
      </p:grpSp>
      <p:grpSp>
        <p:nvGrpSpPr>
          <p:cNvPr id="65" name="그룹 64"/>
          <p:cNvGrpSpPr/>
          <p:nvPr/>
        </p:nvGrpSpPr>
        <p:grpSpPr>
          <a:xfrm>
            <a:off x="2553983" y="1953104"/>
            <a:ext cx="557839" cy="230832"/>
            <a:chOff x="1463113" y="3140047"/>
            <a:chExt cx="557839" cy="230832"/>
          </a:xfrm>
        </p:grpSpPr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중앙</a:t>
              </a:r>
            </a:p>
          </p:txBody>
        </p:sp>
      </p:grpSp>
      <p:graphicFrame>
        <p:nvGraphicFramePr>
          <p:cNvPr id="85" name="표 84"/>
          <p:cNvGraphicFramePr>
            <a:graphicFrameLocks noGrp="1"/>
          </p:cNvGraphicFramePr>
          <p:nvPr>
            <p:extLst/>
          </p:nvPr>
        </p:nvGraphicFramePr>
        <p:xfrm>
          <a:off x="185096" y="2255962"/>
          <a:ext cx="6726791" cy="502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1019">
                  <a:extLst>
                    <a:ext uri="{9D8B030D-6E8A-4147-A177-3AD203B41FA5}">
                      <a16:colId xmlns:a16="http://schemas.microsoft.com/office/drawing/2014/main" val="1871099558"/>
                    </a:ext>
                  </a:extLst>
                </a:gridCol>
                <a:gridCol w="631019">
                  <a:extLst>
                    <a:ext uri="{9D8B030D-6E8A-4147-A177-3AD203B41FA5}">
                      <a16:colId xmlns:a16="http://schemas.microsoft.com/office/drawing/2014/main" val="1558743132"/>
                    </a:ext>
                  </a:extLst>
                </a:gridCol>
                <a:gridCol w="631019">
                  <a:extLst>
                    <a:ext uri="{9D8B030D-6E8A-4147-A177-3AD203B41FA5}">
                      <a16:colId xmlns:a16="http://schemas.microsoft.com/office/drawing/2014/main" val="3619971015"/>
                    </a:ext>
                  </a:extLst>
                </a:gridCol>
                <a:gridCol w="631019">
                  <a:extLst>
                    <a:ext uri="{9D8B030D-6E8A-4147-A177-3AD203B41FA5}">
                      <a16:colId xmlns:a16="http://schemas.microsoft.com/office/drawing/2014/main" val="2196222818"/>
                    </a:ext>
                  </a:extLst>
                </a:gridCol>
                <a:gridCol w="631019">
                  <a:extLst>
                    <a:ext uri="{9D8B030D-6E8A-4147-A177-3AD203B41FA5}">
                      <a16:colId xmlns:a16="http://schemas.microsoft.com/office/drawing/2014/main" val="3487047758"/>
                    </a:ext>
                  </a:extLst>
                </a:gridCol>
                <a:gridCol w="631019">
                  <a:extLst>
                    <a:ext uri="{9D8B030D-6E8A-4147-A177-3AD203B41FA5}">
                      <a16:colId xmlns:a16="http://schemas.microsoft.com/office/drawing/2014/main" val="1667671094"/>
                    </a:ext>
                  </a:extLst>
                </a:gridCol>
                <a:gridCol w="315510">
                  <a:extLst>
                    <a:ext uri="{9D8B030D-6E8A-4147-A177-3AD203B41FA5}">
                      <a16:colId xmlns:a16="http://schemas.microsoft.com/office/drawing/2014/main" val="910289205"/>
                    </a:ext>
                  </a:extLst>
                </a:gridCol>
                <a:gridCol w="2625167">
                  <a:extLst>
                    <a:ext uri="{9D8B030D-6E8A-4147-A177-3AD203B41FA5}">
                      <a16:colId xmlns:a16="http://schemas.microsoft.com/office/drawing/2014/main" val="2567026909"/>
                    </a:ext>
                  </a:extLst>
                </a:gridCol>
              </a:tblGrid>
              <a:tr h="11974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위험산출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비율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영업지수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RAS</a:t>
                      </a:r>
                    </a:p>
                    <a:p>
                      <a:pPr algn="ctr" latinLnBrk="1"/>
                      <a:r>
                        <a:rPr lang="ko-KR" altLang="en-US" sz="700" b="1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전산평가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C-RAS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내부통제</a:t>
                      </a:r>
                      <a:endParaRPr lang="en-US" altLang="ko-KR" sz="700" b="1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1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이행수준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CleanKB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KRI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5566810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총합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(100)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2465783"/>
                  </a:ext>
                </a:extLst>
              </a:tr>
            </a:tbl>
          </a:graphicData>
        </a:graphic>
      </p:graphicFrame>
      <p:sp>
        <p:nvSpPr>
          <p:cNvPr id="86" name="직사각형 8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015257" y="2586162"/>
            <a:ext cx="225675" cy="120558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648276" y="2586162"/>
            <a:ext cx="225675" cy="120558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286058" y="2586162"/>
            <a:ext cx="225675" cy="120558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923840" y="2586162"/>
            <a:ext cx="225675" cy="120558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562655" y="2586162"/>
            <a:ext cx="225675" cy="120558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008446" y="2572850"/>
            <a:ext cx="225675" cy="120558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11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493762" y="2313845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적용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2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268051" y="1512187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dirty="0" err="1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일괄등록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2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673515" y="1512187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저장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1" name="직사각형 110"/>
          <p:cNvSpPr/>
          <p:nvPr/>
        </p:nvSpPr>
        <p:spPr bwMode="auto">
          <a:xfrm>
            <a:off x="5675991" y="1497623"/>
            <a:ext cx="357524" cy="202453"/>
          </a:xfrm>
          <a:prstGeom prst="rect">
            <a:avLst/>
          </a:prstGeom>
          <a:noFill/>
          <a:ln w="15875">
            <a:solidFill>
              <a:schemeClr val="accent1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20" name="직사각형 119"/>
          <p:cNvSpPr/>
          <p:nvPr/>
        </p:nvSpPr>
        <p:spPr bwMode="auto">
          <a:xfrm>
            <a:off x="6500633" y="1500005"/>
            <a:ext cx="357524" cy="202453"/>
          </a:xfrm>
          <a:prstGeom prst="rect">
            <a:avLst/>
          </a:prstGeom>
          <a:noFill/>
          <a:ln w="15875">
            <a:solidFill>
              <a:schemeClr val="accent1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92" name="표 91"/>
          <p:cNvGraphicFramePr>
            <a:graphicFrameLocks noGrp="1"/>
          </p:cNvGraphicFramePr>
          <p:nvPr>
            <p:extLst/>
          </p:nvPr>
        </p:nvGraphicFramePr>
        <p:xfrm>
          <a:off x="195151" y="3558137"/>
          <a:ext cx="6786674" cy="899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1925">
                  <a:extLst>
                    <a:ext uri="{9D8B030D-6E8A-4147-A177-3AD203B41FA5}">
                      <a16:colId xmlns:a16="http://schemas.microsoft.com/office/drawing/2014/main" val="3641493654"/>
                    </a:ext>
                  </a:extLst>
                </a:gridCol>
                <a:gridCol w="493786">
                  <a:extLst>
                    <a:ext uri="{9D8B030D-6E8A-4147-A177-3AD203B41FA5}">
                      <a16:colId xmlns:a16="http://schemas.microsoft.com/office/drawing/2014/main" val="1251415092"/>
                    </a:ext>
                  </a:extLst>
                </a:gridCol>
                <a:gridCol w="614578">
                  <a:extLst>
                    <a:ext uri="{9D8B030D-6E8A-4147-A177-3AD203B41FA5}">
                      <a16:colId xmlns:a16="http://schemas.microsoft.com/office/drawing/2014/main" val="3328877934"/>
                    </a:ext>
                  </a:extLst>
                </a:gridCol>
                <a:gridCol w="365760">
                  <a:extLst>
                    <a:ext uri="{9D8B030D-6E8A-4147-A177-3AD203B41FA5}">
                      <a16:colId xmlns:a16="http://schemas.microsoft.com/office/drawing/2014/main" val="1342206199"/>
                    </a:ext>
                  </a:extLst>
                </a:gridCol>
                <a:gridCol w="663947">
                  <a:extLst>
                    <a:ext uri="{9D8B030D-6E8A-4147-A177-3AD203B41FA5}">
                      <a16:colId xmlns:a16="http://schemas.microsoft.com/office/drawing/2014/main" val="2557239201"/>
                    </a:ext>
                  </a:extLst>
                </a:gridCol>
                <a:gridCol w="555253">
                  <a:extLst>
                    <a:ext uri="{9D8B030D-6E8A-4147-A177-3AD203B41FA5}">
                      <a16:colId xmlns:a16="http://schemas.microsoft.com/office/drawing/2014/main" val="2614998680"/>
                    </a:ext>
                  </a:extLst>
                </a:gridCol>
                <a:gridCol w="699109">
                  <a:extLst>
                    <a:ext uri="{9D8B030D-6E8A-4147-A177-3AD203B41FA5}">
                      <a16:colId xmlns:a16="http://schemas.microsoft.com/office/drawing/2014/main" val="2088889323"/>
                    </a:ext>
                  </a:extLst>
                </a:gridCol>
                <a:gridCol w="602397">
                  <a:extLst>
                    <a:ext uri="{9D8B030D-6E8A-4147-A177-3AD203B41FA5}">
                      <a16:colId xmlns:a16="http://schemas.microsoft.com/office/drawing/2014/main" val="1115703475"/>
                    </a:ext>
                  </a:extLst>
                </a:gridCol>
                <a:gridCol w="565394">
                  <a:extLst>
                    <a:ext uri="{9D8B030D-6E8A-4147-A177-3AD203B41FA5}">
                      <a16:colId xmlns:a16="http://schemas.microsoft.com/office/drawing/2014/main" val="1216452104"/>
                    </a:ext>
                  </a:extLst>
                </a:gridCol>
                <a:gridCol w="639400">
                  <a:extLst>
                    <a:ext uri="{9D8B030D-6E8A-4147-A177-3AD203B41FA5}">
                      <a16:colId xmlns:a16="http://schemas.microsoft.com/office/drawing/2014/main" val="1427260383"/>
                    </a:ext>
                  </a:extLst>
                </a:gridCol>
                <a:gridCol w="602397">
                  <a:extLst>
                    <a:ext uri="{9D8B030D-6E8A-4147-A177-3AD203B41FA5}">
                      <a16:colId xmlns:a16="http://schemas.microsoft.com/office/drawing/2014/main" val="456799420"/>
                    </a:ext>
                  </a:extLst>
                </a:gridCol>
                <a:gridCol w="672728">
                  <a:extLst>
                    <a:ext uri="{9D8B030D-6E8A-4147-A177-3AD203B41FA5}">
                      <a16:colId xmlns:a16="http://schemas.microsoft.com/office/drawing/2014/main" val="1736729114"/>
                    </a:ext>
                  </a:extLst>
                </a:gridCol>
              </a:tblGrid>
              <a:tr h="11974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지역영업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그룹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거점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점포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…..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영업지수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RAS</a:t>
                      </a:r>
                    </a:p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전산평가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C-RAS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내부통제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이행수준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CleanKB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KRI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3611104"/>
                  </a:ext>
                </a:extLst>
              </a:tr>
              <a:tr h="17774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서울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[3335]</a:t>
                      </a:r>
                      <a:r>
                        <a:rPr lang="ko-KR" altLang="en-US" sz="70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강남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[5294]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삼성동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…..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122.3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13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87.2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3290565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서울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[3335]</a:t>
                      </a:r>
                      <a:r>
                        <a:rPr lang="ko-KR" altLang="en-US" sz="70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강남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...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[5812]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삼성역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…..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84.5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97.5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30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9826935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서울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[3335]</a:t>
                      </a:r>
                      <a:r>
                        <a:rPr lang="ko-KR" altLang="en-US" sz="70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강남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[2073]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대청역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…..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100.5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60.2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30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5422849"/>
                  </a:ext>
                </a:extLst>
              </a:tr>
            </a:tbl>
          </a:graphicData>
        </a:graphic>
      </p:graphicFrame>
      <p:sp>
        <p:nvSpPr>
          <p:cNvPr id="93" name="직사각형 9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273685" y="4107081"/>
            <a:ext cx="225675" cy="120558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907309" y="4103274"/>
            <a:ext cx="225675" cy="120558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6488594" y="4108360"/>
            <a:ext cx="225675" cy="120558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273685" y="3883406"/>
            <a:ext cx="225675" cy="120558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907309" y="3885949"/>
            <a:ext cx="225675" cy="120558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6488594" y="3884685"/>
            <a:ext cx="225675" cy="120558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278052" y="4285284"/>
            <a:ext cx="225675" cy="120558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911676" y="4275127"/>
            <a:ext cx="225675" cy="120558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6492961" y="4280213"/>
            <a:ext cx="225675" cy="120558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graphicFrame>
        <p:nvGraphicFramePr>
          <p:cNvPr id="102" name="표 101"/>
          <p:cNvGraphicFramePr>
            <a:graphicFrameLocks noGrp="1"/>
          </p:cNvGraphicFramePr>
          <p:nvPr>
            <p:extLst/>
          </p:nvPr>
        </p:nvGraphicFramePr>
        <p:xfrm>
          <a:off x="172168" y="4606891"/>
          <a:ext cx="6802677" cy="103616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6444">
                  <a:extLst>
                    <a:ext uri="{9D8B030D-6E8A-4147-A177-3AD203B41FA5}">
                      <a16:colId xmlns:a16="http://schemas.microsoft.com/office/drawing/2014/main" val="3641493654"/>
                    </a:ext>
                  </a:extLst>
                </a:gridCol>
                <a:gridCol w="319476">
                  <a:extLst>
                    <a:ext uri="{9D8B030D-6E8A-4147-A177-3AD203B41FA5}">
                      <a16:colId xmlns:a16="http://schemas.microsoft.com/office/drawing/2014/main" val="1251415092"/>
                    </a:ext>
                  </a:extLst>
                </a:gridCol>
                <a:gridCol w="400923">
                  <a:extLst>
                    <a:ext uri="{9D8B030D-6E8A-4147-A177-3AD203B41FA5}">
                      <a16:colId xmlns:a16="http://schemas.microsoft.com/office/drawing/2014/main" val="3328877934"/>
                    </a:ext>
                  </a:extLst>
                </a:gridCol>
                <a:gridCol w="321166">
                  <a:extLst>
                    <a:ext uri="{9D8B030D-6E8A-4147-A177-3AD203B41FA5}">
                      <a16:colId xmlns:a16="http://schemas.microsoft.com/office/drawing/2014/main" val="1342206199"/>
                    </a:ext>
                  </a:extLst>
                </a:gridCol>
                <a:gridCol w="407333">
                  <a:extLst>
                    <a:ext uri="{9D8B030D-6E8A-4147-A177-3AD203B41FA5}">
                      <a16:colId xmlns:a16="http://schemas.microsoft.com/office/drawing/2014/main" val="2557239201"/>
                    </a:ext>
                  </a:extLst>
                </a:gridCol>
                <a:gridCol w="375999">
                  <a:extLst>
                    <a:ext uri="{9D8B030D-6E8A-4147-A177-3AD203B41FA5}">
                      <a16:colId xmlns:a16="http://schemas.microsoft.com/office/drawing/2014/main" val="2614998680"/>
                    </a:ext>
                  </a:extLst>
                </a:gridCol>
                <a:gridCol w="336833">
                  <a:extLst>
                    <a:ext uri="{9D8B030D-6E8A-4147-A177-3AD203B41FA5}">
                      <a16:colId xmlns:a16="http://schemas.microsoft.com/office/drawing/2014/main" val="2194819789"/>
                    </a:ext>
                  </a:extLst>
                </a:gridCol>
                <a:gridCol w="446499">
                  <a:extLst>
                    <a:ext uri="{9D8B030D-6E8A-4147-A177-3AD203B41FA5}">
                      <a16:colId xmlns:a16="http://schemas.microsoft.com/office/drawing/2014/main" val="3568075189"/>
                    </a:ext>
                  </a:extLst>
                </a:gridCol>
                <a:gridCol w="250666">
                  <a:extLst>
                    <a:ext uri="{9D8B030D-6E8A-4147-A177-3AD203B41FA5}">
                      <a16:colId xmlns:a16="http://schemas.microsoft.com/office/drawing/2014/main" val="965354579"/>
                    </a:ext>
                  </a:extLst>
                </a:gridCol>
                <a:gridCol w="407333">
                  <a:extLst>
                    <a:ext uri="{9D8B030D-6E8A-4147-A177-3AD203B41FA5}">
                      <a16:colId xmlns:a16="http://schemas.microsoft.com/office/drawing/2014/main" val="2613910409"/>
                    </a:ext>
                  </a:extLst>
                </a:gridCol>
                <a:gridCol w="204240">
                  <a:extLst>
                    <a:ext uri="{9D8B030D-6E8A-4147-A177-3AD203B41FA5}">
                      <a16:colId xmlns:a16="http://schemas.microsoft.com/office/drawing/2014/main" val="3306922292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135935417"/>
                    </a:ext>
                  </a:extLst>
                </a:gridCol>
                <a:gridCol w="403860">
                  <a:extLst>
                    <a:ext uri="{9D8B030D-6E8A-4147-A177-3AD203B41FA5}">
                      <a16:colId xmlns:a16="http://schemas.microsoft.com/office/drawing/2014/main" val="1873262483"/>
                    </a:ext>
                  </a:extLst>
                </a:gridCol>
                <a:gridCol w="426720">
                  <a:extLst>
                    <a:ext uri="{9D8B030D-6E8A-4147-A177-3AD203B41FA5}">
                      <a16:colId xmlns:a16="http://schemas.microsoft.com/office/drawing/2014/main" val="2862258309"/>
                    </a:ext>
                  </a:extLst>
                </a:gridCol>
                <a:gridCol w="426720">
                  <a:extLst>
                    <a:ext uri="{9D8B030D-6E8A-4147-A177-3AD203B41FA5}">
                      <a16:colId xmlns:a16="http://schemas.microsoft.com/office/drawing/2014/main" val="264119343"/>
                    </a:ext>
                  </a:extLst>
                </a:gridCol>
                <a:gridCol w="335280">
                  <a:extLst>
                    <a:ext uri="{9D8B030D-6E8A-4147-A177-3AD203B41FA5}">
                      <a16:colId xmlns:a16="http://schemas.microsoft.com/office/drawing/2014/main" val="2104866577"/>
                    </a:ext>
                  </a:extLst>
                </a:gridCol>
                <a:gridCol w="327660">
                  <a:extLst>
                    <a:ext uri="{9D8B030D-6E8A-4147-A177-3AD203B41FA5}">
                      <a16:colId xmlns:a16="http://schemas.microsoft.com/office/drawing/2014/main" val="861897969"/>
                    </a:ext>
                  </a:extLst>
                </a:gridCol>
                <a:gridCol w="423653">
                  <a:extLst>
                    <a:ext uri="{9D8B030D-6E8A-4147-A177-3AD203B41FA5}">
                      <a16:colId xmlns:a16="http://schemas.microsoft.com/office/drawing/2014/main" val="952354127"/>
                    </a:ext>
                  </a:extLst>
                </a:gridCol>
                <a:gridCol w="180872">
                  <a:extLst>
                    <a:ext uri="{9D8B030D-6E8A-4147-A177-3AD203B41FA5}">
                      <a16:colId xmlns:a16="http://schemas.microsoft.com/office/drawing/2014/main" val="2696647851"/>
                    </a:ext>
                  </a:extLst>
                </a:gridCol>
              </a:tblGrid>
              <a:tr h="119749">
                <a:tc gridSpan="7"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위험평가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(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년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위험평가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(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월별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)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위험평가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3611104"/>
                  </a:ext>
                </a:extLst>
              </a:tr>
              <a:tr h="218918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총계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 smtClean="0"/>
                        <a:t>전체</a:t>
                      </a:r>
                      <a:endParaRPr lang="en-US" altLang="ko-KR" sz="700" b="1" dirty="0" smtClean="0"/>
                    </a:p>
                    <a:p>
                      <a:pPr algn="ctr" latinLnBrk="1"/>
                      <a:r>
                        <a:rPr lang="ko-KR" altLang="en-US" sz="700" b="1" dirty="0" smtClean="0"/>
                        <a:t>순위</a:t>
                      </a:r>
                      <a:endParaRPr lang="ko-KR" altLang="en-US" sz="700" b="1" dirty="0"/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지역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PG</a:t>
                      </a: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운영모델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수준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예정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감사구분</a:t>
                      </a:r>
                      <a:endParaRPr lang="ko-KR" altLang="en-US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총계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 smtClean="0"/>
                        <a:t>전체</a:t>
                      </a:r>
                      <a:endParaRPr lang="en-US" altLang="ko-KR" sz="700" b="1" dirty="0" smtClean="0"/>
                    </a:p>
                    <a:p>
                      <a:pPr algn="ctr" latinLnBrk="1"/>
                      <a:r>
                        <a:rPr lang="ko-KR" altLang="en-US" sz="700" b="1" dirty="0" smtClean="0"/>
                        <a:t>순위</a:t>
                      </a:r>
                      <a:endParaRPr lang="ko-KR" altLang="en-US" sz="700" b="1" dirty="0"/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지역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PG</a:t>
                      </a: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운영모델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수준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예정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감사구분</a:t>
                      </a:r>
                      <a:endParaRPr lang="ko-KR" altLang="en-US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위험부점</a:t>
                      </a:r>
                      <a:endParaRPr lang="en-US" altLang="ko-KR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여부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평가</a:t>
                      </a:r>
                      <a:endParaRPr lang="en-US" altLang="ko-KR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점수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위험구분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1927622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4.194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고위험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종합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4.194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고위험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종합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N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144.59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고위험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826935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15.21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저위험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여신부문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15.21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저위험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여신부문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N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75.36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168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중위험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5422849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13.84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중위험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여신부문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13.84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중위험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여신부문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sng" strike="noStrike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Y</a:t>
                      </a:r>
                      <a:endParaRPr lang="ko-KR" altLang="en-US" sz="700" b="1" i="0" u="sng" strike="noStrike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159.23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8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고위험</a:t>
                      </a:r>
                      <a:endParaRPr lang="en-US" altLang="ko-KR" sz="700" b="0" i="0" u="none" strike="noStrike" dirty="0" smtClean="0">
                        <a:solidFill>
                          <a:srgbClr val="FF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(Alert)</a:t>
                      </a:r>
                      <a:endParaRPr lang="ko-KR" altLang="en-US" sz="700" b="0" i="0" u="none" strike="noStrike" dirty="0">
                        <a:solidFill>
                          <a:srgbClr val="FF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3961093"/>
                  </a:ext>
                </a:extLst>
              </a:tr>
            </a:tbl>
          </a:graphicData>
        </a:graphic>
      </p:graphicFrame>
      <p:sp>
        <p:nvSpPr>
          <p:cNvPr id="105" name="직사각형 104"/>
          <p:cNvSpPr/>
          <p:nvPr/>
        </p:nvSpPr>
        <p:spPr bwMode="auto">
          <a:xfrm>
            <a:off x="5268051" y="4598989"/>
            <a:ext cx="419124" cy="1120165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07" name="내용 개체 틀 121"/>
          <p:cNvGraphicFramePr>
            <a:graphicFrameLocks/>
          </p:cNvGraphicFramePr>
          <p:nvPr>
            <p:extLst/>
          </p:nvPr>
        </p:nvGraphicFramePr>
        <p:xfrm>
          <a:off x="185096" y="1457455"/>
          <a:ext cx="6726396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911894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853440">
                  <a:extLst>
                    <a:ext uri="{9D8B030D-6E8A-4147-A177-3AD203B41FA5}">
                      <a16:colId xmlns:a16="http://schemas.microsoft.com/office/drawing/2014/main" val="2535278390"/>
                    </a:ext>
                  </a:extLst>
                </a:gridCol>
                <a:gridCol w="1021080">
                  <a:extLst>
                    <a:ext uri="{9D8B030D-6E8A-4147-A177-3AD203B41FA5}">
                      <a16:colId xmlns:a16="http://schemas.microsoft.com/office/drawing/2014/main" val="3302780014"/>
                    </a:ext>
                  </a:extLst>
                </a:gridCol>
                <a:gridCol w="1072817">
                  <a:extLst>
                    <a:ext uri="{9D8B030D-6E8A-4147-A177-3AD203B41FA5}">
                      <a16:colId xmlns:a16="http://schemas.microsoft.com/office/drawing/2014/main" val="94145996"/>
                    </a:ext>
                  </a:extLst>
                </a:gridCol>
                <a:gridCol w="1929615">
                  <a:extLst>
                    <a:ext uri="{9D8B030D-6E8A-4147-A177-3AD203B41FA5}">
                      <a16:colId xmlns:a16="http://schemas.microsoft.com/office/drawing/2014/main" val="1330087638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err="1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감사기준년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 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 smtClean="0">
                          <a:latin typeface="+mj-ea"/>
                          <a:ea typeface="+mj-ea"/>
                        </a:rPr>
                        <a:t> PG/</a:t>
                      </a:r>
                      <a:r>
                        <a:rPr lang="ko-KR" altLang="en-US" sz="900" b="1" dirty="0" smtClean="0">
                          <a:latin typeface="+mj-ea"/>
                          <a:ea typeface="+mj-ea"/>
                        </a:rPr>
                        <a:t>지점 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grpSp>
        <p:nvGrpSpPr>
          <p:cNvPr id="108" name="그룹 107"/>
          <p:cNvGrpSpPr/>
          <p:nvPr/>
        </p:nvGrpSpPr>
        <p:grpSpPr>
          <a:xfrm>
            <a:off x="1210283" y="1498740"/>
            <a:ext cx="688047" cy="180915"/>
            <a:chOff x="3888573" y="3542054"/>
            <a:chExt cx="688047" cy="180915"/>
          </a:xfrm>
        </p:grpSpPr>
        <p:sp>
          <p:nvSpPr>
            <p:cNvPr id="109" name="직사각형 108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3888573" y="3542054"/>
              <a:ext cx="68804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normalizeH="0" baseline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2023</a:t>
              </a:r>
              <a:endParaRPr kumimoji="0" lang="ko-KR" altLang="en-US" sz="1000" b="0" i="0" u="none" strike="noStrike" kern="1200" cap="none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110" name="이등변 삼각형 109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4455435" y="3622344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grpSp>
        <p:nvGrpSpPr>
          <p:cNvPr id="112" name="그룹 111"/>
          <p:cNvGrpSpPr/>
          <p:nvPr/>
        </p:nvGrpSpPr>
        <p:grpSpPr>
          <a:xfrm>
            <a:off x="3006727" y="1491668"/>
            <a:ext cx="688047" cy="180915"/>
            <a:chOff x="3888573" y="3542054"/>
            <a:chExt cx="688047" cy="180915"/>
          </a:xfrm>
        </p:grpSpPr>
        <p:sp>
          <p:nvSpPr>
            <p:cNvPr id="113" name="직사각형 112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3888573" y="3542054"/>
              <a:ext cx="68804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normalizeH="0" baseline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PG</a:t>
              </a:r>
              <a:r>
                <a:rPr kumimoji="0" lang="ko-KR" altLang="en-US" sz="700" b="0" i="0" u="none" strike="noStrike" kern="1200" cap="none" normalizeH="0" baseline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별</a:t>
              </a:r>
              <a:endParaRPr kumimoji="0" lang="ko-KR" altLang="en-US" sz="1000" b="0" i="0" u="none" strike="noStrike" kern="1200" cap="none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114" name="이등변 삼각형 113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4455435" y="3622344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007200" y="1675402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지점별</a:t>
            </a:r>
            <a:endParaRPr kumimoji="0" lang="ko-KR" altLang="en-US" sz="1000" b="0" i="0" u="none" strike="noStrike" kern="1200" cap="none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424201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518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295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1,2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계획조회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계획삭제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부점수감현황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초기화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수정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기존 기능 유지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[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수정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대상부점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확정구분이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확정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상태이면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“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확정취소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후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사용할 수 있습니다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알림처리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95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대상부점선정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 하면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en-US" altLang="ko-KR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="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대상부점선정 팝업</a:t>
                      </a:r>
                      <a:r>
                        <a:rPr lang="en-US" altLang="ko-KR" sz="8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]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 오픈 되며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RAS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위험지수에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따른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대상부점을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선택하여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감사부점을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그리드에서 체크박스를 체크하여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대상부점을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선택한다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 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감사역추천등록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클릭하여 배정 감사역인원을  입력 받는다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배정감사역인원을 선정하여 해당 인원수만큼 배정하여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저장처리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되며 그리드 목록이 자동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재조회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되어 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배정감사역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컬럼에 표시된다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라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대상부점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확정구분이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확정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상태이면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“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확정취소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후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사용할 수 있습니다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알림처리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★ </a:t>
                      </a:r>
                      <a:r>
                        <a:rPr kumimoji="0" lang="en-US" altLang="ko-KR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kumimoji="0" lang="ko-KR" altLang="en-US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감사역추천등록</a:t>
                      </a:r>
                      <a:r>
                        <a:rPr kumimoji="0" lang="en-US" altLang="ko-KR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Rule  </a:t>
                      </a:r>
                      <a:r>
                        <a:rPr kumimoji="0" lang="ko-KR" altLang="en-US" sz="800" b="0" kern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기본안</a:t>
                      </a:r>
                      <a:endParaRPr kumimoji="0" lang="en-US" altLang="ko-KR" sz="800" b="0" kern="0" baseline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kumimoji="0" lang="ko-KR" altLang="en-US" sz="800" b="0" kern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</a:t>
                      </a:r>
                      <a:r>
                        <a:rPr kumimoji="0" lang="en-US" altLang="ko-KR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kumimoji="0" lang="ko-KR" altLang="en-US" sz="800" b="0" kern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</a:t>
                      </a:r>
                      <a:r>
                        <a:rPr kumimoji="0" lang="en-US" altLang="ko-KR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kumimoji="0" lang="ko-KR" altLang="en-US" sz="800" b="0" kern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</a:t>
                      </a:r>
                      <a:r>
                        <a:rPr kumimoji="0" lang="en-US" altLang="ko-KR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kumimoji="0" lang="ko-KR" altLang="en-US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감사역 배정추천등록</a:t>
                      </a:r>
                      <a:r>
                        <a:rPr kumimoji="0" lang="en-US" altLang="ko-KR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kumimoji="0" lang="ko-KR" altLang="en-US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메뉴에서 사용하는 </a:t>
                      </a:r>
                      <a:r>
                        <a:rPr kumimoji="0" lang="ko-KR" altLang="en-US" sz="800" b="0" kern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추천조회</a:t>
                      </a:r>
                      <a:r>
                        <a:rPr kumimoji="0" lang="ko-KR" altLang="en-US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를 참조할 예정</a:t>
                      </a:r>
                      <a:endParaRPr kumimoji="0" lang="en-US" altLang="ko-KR" sz="800" b="0" kern="0" baseline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kern="0" baseline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</a:t>
                      </a:r>
                      <a:r>
                        <a:rPr kumimoji="0" lang="ko-KR" altLang="en-US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동일 </a:t>
                      </a:r>
                      <a:r>
                        <a:rPr kumimoji="0" lang="en-US" altLang="ko-KR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kumimoji="0" lang="ko-KR" altLang="en-US" sz="800" b="0" kern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감사계획년</a:t>
                      </a:r>
                      <a:r>
                        <a:rPr kumimoji="0" lang="en-US" altLang="ko-KR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, [</a:t>
                      </a:r>
                      <a:r>
                        <a:rPr kumimoji="0" lang="ko-KR" altLang="en-US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감사계획차수</a:t>
                      </a:r>
                      <a:r>
                        <a:rPr kumimoji="0" lang="en-US" altLang="ko-KR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kumimoji="0" lang="ko-KR" altLang="en-US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에 감사역배정에  중복 없음</a:t>
                      </a:r>
                      <a:endParaRPr kumimoji="0" lang="en-US" altLang="ko-KR" sz="800" b="0" kern="0" baseline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</a:t>
                      </a:r>
                      <a:r>
                        <a:rPr kumimoji="0" lang="ko-KR" altLang="en-US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기피대상 제외</a:t>
                      </a:r>
                      <a:endParaRPr kumimoji="0" lang="en-US" altLang="ko-KR" sz="800" b="0" kern="0" baseline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</a:t>
                      </a:r>
                      <a:r>
                        <a:rPr kumimoji="0" lang="ko-KR" altLang="en-US" sz="800" b="0" kern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추천배정</a:t>
                      </a:r>
                      <a:r>
                        <a:rPr kumimoji="0" lang="ko-KR" altLang="en-US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우선순위는 </a:t>
                      </a:r>
                      <a:r>
                        <a:rPr kumimoji="0" lang="ko-KR" altLang="en-US" sz="800" b="0" kern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감사부점</a:t>
                      </a:r>
                      <a:r>
                        <a:rPr kumimoji="0" lang="ko-KR" altLang="en-US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기준  </a:t>
                      </a:r>
                      <a:r>
                        <a:rPr kumimoji="0" lang="ko-KR" altLang="en-US" sz="800" b="0" kern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대상거리</a:t>
                      </a:r>
                      <a:r>
                        <a:rPr kumimoji="0" lang="ko-KR" altLang="en-US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en-US" altLang="ko-KR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kumimoji="0" lang="ko-KR" altLang="en-US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동일</a:t>
                      </a:r>
                      <a:r>
                        <a:rPr kumimoji="0" lang="en-US" altLang="ko-KR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PG &gt;  </a:t>
                      </a:r>
                      <a:r>
                        <a:rPr kumimoji="0" lang="ko-KR" altLang="en-US" sz="800" b="0" kern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동일부점</a:t>
                      </a:r>
                      <a:r>
                        <a:rPr kumimoji="0" lang="ko-KR" altLang="en-US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en-US" altLang="ko-KR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kumimoji="0" lang="ko-KR" altLang="en-US" sz="800" b="0" kern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동일입행일</a:t>
                      </a:r>
                      <a:r>
                        <a:rPr kumimoji="0" lang="ko-KR" altLang="en-US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en-US" altLang="ko-KR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kumimoji="0" lang="ko-KR" altLang="en-US" sz="800" b="0" kern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동일출신</a:t>
                      </a:r>
                      <a:r>
                        <a:rPr kumimoji="0" lang="ko-KR" altLang="en-US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en-US" altLang="ko-KR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kumimoji="0" lang="ko-KR" altLang="en-US" sz="800" b="0" kern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동일근무</a:t>
                      </a:r>
                      <a:r>
                        <a:rPr kumimoji="0" lang="ko-KR" altLang="en-US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순으로 배정한다</a:t>
                      </a:r>
                      <a:r>
                        <a:rPr kumimoji="0" lang="en-US" altLang="ko-KR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</a:t>
                      </a:r>
                      <a:r>
                        <a:rPr kumimoji="0" lang="ko-KR" altLang="en-US" sz="800" b="0" kern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추천배정</a:t>
                      </a:r>
                      <a:r>
                        <a:rPr kumimoji="0" lang="ko-KR" altLang="en-US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우선순위로 </a:t>
                      </a:r>
                      <a:r>
                        <a:rPr kumimoji="0" lang="ko-KR" altLang="en-US" sz="800" b="0" kern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배정인원을</a:t>
                      </a:r>
                      <a:r>
                        <a:rPr kumimoji="0" lang="ko-KR" altLang="en-US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모두 채우지 못한 매장은  </a:t>
                      </a:r>
                      <a:r>
                        <a:rPr kumimoji="0" lang="en-US" altLang="ko-KR" sz="800" b="0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="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감사역 배정 등록 팝업</a:t>
                      </a:r>
                      <a:r>
                        <a:rPr lang="en-US" altLang="ko-KR" sz="800" b="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] </a:t>
                      </a:r>
                      <a:r>
                        <a:rPr lang="ko-KR" altLang="en-US" sz="800" b="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을 통해서 수동으로 등록한다</a:t>
                      </a:r>
                      <a:r>
                        <a:rPr lang="en-US" altLang="ko-KR" sz="800" b="0" kern="1200" dirty="0" smtClean="0">
                          <a:solidFill>
                            <a:srgbClr val="FF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kern="1200" dirty="0" smtClean="0">
                        <a:solidFill>
                          <a:srgbClr val="FF0000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</a:tbl>
          </a:graphicData>
        </a:graphic>
      </p:graphicFrame>
      <p:sp>
        <p:nvSpPr>
          <p:cNvPr id="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90216" y="4086489"/>
            <a:ext cx="455274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계획조회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791006" y="4086489"/>
            <a:ext cx="455274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err="1" smtClean="0">
                <a:ln>
                  <a:noFill/>
                </a:ln>
                <a:solidFill>
                  <a:schemeClr val="bg2">
                    <a:lumMod val="90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계획삭제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bg2">
                  <a:lumMod val="90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1291796" y="4086489"/>
            <a:ext cx="590344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부점수감현황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3" name="내용 개체 틀 121"/>
          <p:cNvGraphicFramePr>
            <a:graphicFrameLocks/>
          </p:cNvGraphicFramePr>
          <p:nvPr>
            <p:extLst/>
          </p:nvPr>
        </p:nvGraphicFramePr>
        <p:xfrm>
          <a:off x="270794" y="4349319"/>
          <a:ext cx="6727714" cy="139263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6406">
                  <a:extLst>
                    <a:ext uri="{9D8B030D-6E8A-4147-A177-3AD203B41FA5}">
                      <a16:colId xmlns:a16="http://schemas.microsoft.com/office/drawing/2014/main" val="4186060632"/>
                    </a:ext>
                  </a:extLst>
                </a:gridCol>
                <a:gridCol w="617220">
                  <a:extLst>
                    <a:ext uri="{9D8B030D-6E8A-4147-A177-3AD203B41FA5}">
                      <a16:colId xmlns:a16="http://schemas.microsoft.com/office/drawing/2014/main" val="1325555519"/>
                    </a:ext>
                  </a:extLst>
                </a:gridCol>
                <a:gridCol w="434340">
                  <a:extLst>
                    <a:ext uri="{9D8B030D-6E8A-4147-A177-3AD203B41FA5}">
                      <a16:colId xmlns:a16="http://schemas.microsoft.com/office/drawing/2014/main" val="2118101267"/>
                    </a:ext>
                  </a:extLst>
                </a:gridCol>
                <a:gridCol w="259080">
                  <a:extLst>
                    <a:ext uri="{9D8B030D-6E8A-4147-A177-3AD203B41FA5}">
                      <a16:colId xmlns:a16="http://schemas.microsoft.com/office/drawing/2014/main" val="3109369146"/>
                    </a:ext>
                  </a:extLst>
                </a:gridCol>
                <a:gridCol w="617220">
                  <a:extLst>
                    <a:ext uri="{9D8B030D-6E8A-4147-A177-3AD203B41FA5}">
                      <a16:colId xmlns:a16="http://schemas.microsoft.com/office/drawing/2014/main" val="3484451531"/>
                    </a:ext>
                  </a:extLst>
                </a:gridCol>
                <a:gridCol w="533400">
                  <a:extLst>
                    <a:ext uri="{9D8B030D-6E8A-4147-A177-3AD203B41FA5}">
                      <a16:colId xmlns:a16="http://schemas.microsoft.com/office/drawing/2014/main" val="3526029767"/>
                    </a:ext>
                  </a:extLst>
                </a:gridCol>
                <a:gridCol w="601980">
                  <a:extLst>
                    <a:ext uri="{9D8B030D-6E8A-4147-A177-3AD203B41FA5}">
                      <a16:colId xmlns:a16="http://schemas.microsoft.com/office/drawing/2014/main" val="1365919120"/>
                    </a:ext>
                  </a:extLst>
                </a:gridCol>
                <a:gridCol w="594360">
                  <a:extLst>
                    <a:ext uri="{9D8B030D-6E8A-4147-A177-3AD203B41FA5}">
                      <a16:colId xmlns:a16="http://schemas.microsoft.com/office/drawing/2014/main" val="1275920291"/>
                    </a:ext>
                  </a:extLst>
                </a:gridCol>
                <a:gridCol w="297180">
                  <a:extLst>
                    <a:ext uri="{9D8B030D-6E8A-4147-A177-3AD203B41FA5}">
                      <a16:colId xmlns:a16="http://schemas.microsoft.com/office/drawing/2014/main" val="21450757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26279761"/>
                    </a:ext>
                  </a:extLst>
                </a:gridCol>
                <a:gridCol w="929640">
                  <a:extLst>
                    <a:ext uri="{9D8B030D-6E8A-4147-A177-3AD203B41FA5}">
                      <a16:colId xmlns:a16="http://schemas.microsoft.com/office/drawing/2014/main" val="2972553850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3689105215"/>
                    </a:ext>
                  </a:extLst>
                </a:gridCol>
                <a:gridCol w="281940">
                  <a:extLst>
                    <a:ext uri="{9D8B030D-6E8A-4147-A177-3AD203B41FA5}">
                      <a16:colId xmlns:a16="http://schemas.microsoft.com/office/drawing/2014/main" val="1645622574"/>
                    </a:ext>
                  </a:extLst>
                </a:gridCol>
                <a:gridCol w="363624">
                  <a:extLst>
                    <a:ext uri="{9D8B030D-6E8A-4147-A177-3AD203B41FA5}">
                      <a16:colId xmlns:a16="http://schemas.microsoft.com/office/drawing/2014/main" val="3926005149"/>
                    </a:ext>
                  </a:extLst>
                </a:gridCol>
                <a:gridCol w="363624">
                  <a:extLst>
                    <a:ext uri="{9D8B030D-6E8A-4147-A177-3AD203B41FA5}">
                      <a16:colId xmlns:a16="http://schemas.microsoft.com/office/drawing/2014/main" val="568154196"/>
                    </a:ext>
                  </a:extLst>
                </a:gridCol>
              </a:tblGrid>
              <a:tr h="218531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지역영업그룹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부점코드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…</a:t>
                      </a:r>
                      <a:endParaRPr lang="ko-KR" altLang="en-US" sz="70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실시시작일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실시종료일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대상시작일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대상종료일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영업일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부점장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배정감사역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…</a:t>
                      </a:r>
                      <a:endParaRPr lang="ko-KR" altLang="en-US" sz="70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사전</a:t>
                      </a:r>
                      <a:endParaRPr lang="en-US" altLang="ko-KR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예고</a:t>
                      </a:r>
                    </a:p>
                  </a:txBody>
                  <a:tcPr marL="3218" marR="3218" marT="3218" marB="0" anchor="ctr"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당일</a:t>
                      </a:r>
                      <a:endParaRPr lang="en-US" altLang="ko-KR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점검</a:t>
                      </a:r>
                    </a:p>
                  </a:txBody>
                  <a:tcPr marL="3218" marR="3218" marT="3218" marB="0" anchor="ctr"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확정</a:t>
                      </a:r>
                      <a:endParaRPr lang="en-US" altLang="ko-KR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구분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1669389"/>
                  </a:ext>
                </a:extLst>
              </a:tr>
              <a:tr h="293526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영업그룹 지속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0015</a:t>
                      </a:r>
                      <a:endParaRPr lang="ko-KR" altLang="en-US" sz="7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…</a:t>
                      </a:r>
                      <a:endParaRPr lang="ko-KR" altLang="en-US" sz="7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2024-03-25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2024-03-27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2021-12-08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2024-03-25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김</a:t>
                      </a:r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OO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2272FF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이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2272FF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**(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2272FF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반장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2272FF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), 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2272FF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홍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2272FF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**</a:t>
                      </a:r>
                      <a:endParaRPr lang="ko-KR" altLang="en-US" sz="700" b="0" i="0" u="none" strike="noStrike" dirty="0">
                        <a:solidFill>
                          <a:srgbClr val="2272FF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…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미확정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0641114"/>
                  </a:ext>
                </a:extLst>
              </a:tr>
              <a:tr h="293526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영업그룹 지속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0688</a:t>
                      </a:r>
                      <a:endParaRPr lang="ko-KR" altLang="en-US" sz="7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…</a:t>
                      </a:r>
                      <a:endParaRPr lang="ko-KR" altLang="en-US" sz="7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2024-03-25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2024-03-29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2021-11-05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2024-03-25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5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박</a:t>
                      </a:r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OO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 fontAlgn="ctr">
                        <a:buNone/>
                      </a:pP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홍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**(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반장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), 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김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**…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…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미확정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9943333"/>
                  </a:ext>
                </a:extLst>
              </a:tr>
              <a:tr h="293526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영업그룹 지속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0234</a:t>
                      </a:r>
                      <a:endParaRPr lang="ko-KR" altLang="en-US" sz="7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…</a:t>
                      </a:r>
                      <a:endParaRPr lang="ko-KR" altLang="en-US" sz="7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2024-04-01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2024-04-03</a:t>
                      </a:r>
                      <a:endParaRPr lang="ko-KR" altLang="en-US" sz="7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2022-05-01</a:t>
                      </a:r>
                      <a:endParaRPr lang="ko-KR" altLang="en-US" sz="7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2024-04-01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최</a:t>
                      </a:r>
                      <a:r>
                        <a:rPr lang="en-US" altLang="ko-KR" sz="700" b="0" i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OO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 fontAlgn="ctr">
                        <a:buNone/>
                      </a:pPr>
                      <a:r>
                        <a:rPr lang="ko-KR" altLang="en-US" sz="700" b="0" i="0" u="none" strike="noStrike" dirty="0" smtClean="0">
                          <a:solidFill>
                            <a:srgbClr val="2272FF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2272FF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**(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2272FF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반장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2272FF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), 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2272FF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2272FF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**</a:t>
                      </a:r>
                      <a:endParaRPr lang="ko-KR" altLang="en-US" sz="700" b="0" i="0" u="none" strike="noStrike" dirty="0">
                        <a:solidFill>
                          <a:srgbClr val="2272FF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…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확정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2394348"/>
                  </a:ext>
                </a:extLst>
              </a:tr>
              <a:tr h="293526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…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43758132"/>
                  </a:ext>
                </a:extLst>
              </a:tr>
            </a:tbl>
          </a:graphicData>
        </a:graphic>
      </p:graphicFrame>
      <p:sp>
        <p:nvSpPr>
          <p:cNvPr id="19" name="직사각형 18"/>
          <p:cNvSpPr/>
          <p:nvPr/>
        </p:nvSpPr>
        <p:spPr bwMode="auto">
          <a:xfrm>
            <a:off x="265604" y="4274327"/>
            <a:ext cx="6732900" cy="145404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2325961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695325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1504950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971550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564499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MDD-00012 / MDD-00013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MDD75G54000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등록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(1/2)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등록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(P50: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유성용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44" name="양쪽 모서리가 둥근 사각형 43"/>
          <p:cNvSpPr/>
          <p:nvPr/>
        </p:nvSpPr>
        <p:spPr bwMode="auto">
          <a:xfrm>
            <a:off x="185097" y="1162789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감사계획</a:t>
            </a: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등록</a:t>
            </a:r>
          </a:p>
        </p:txBody>
      </p:sp>
      <p:sp>
        <p:nvSpPr>
          <p:cNvPr id="4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178594" y="1088193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7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185098" y="1348524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18" name="내용 개체 틀 121"/>
          <p:cNvGraphicFramePr>
            <a:graphicFrameLocks/>
          </p:cNvGraphicFramePr>
          <p:nvPr>
            <p:extLst/>
          </p:nvPr>
        </p:nvGraphicFramePr>
        <p:xfrm>
          <a:off x="178593" y="1765125"/>
          <a:ext cx="6732904" cy="137688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1244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611413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514350">
                  <a:extLst>
                    <a:ext uri="{9D8B030D-6E8A-4147-A177-3AD203B41FA5}">
                      <a16:colId xmlns:a16="http://schemas.microsoft.com/office/drawing/2014/main" val="1165419821"/>
                    </a:ext>
                  </a:extLst>
                </a:gridCol>
                <a:gridCol w="1671638">
                  <a:extLst>
                    <a:ext uri="{9D8B030D-6E8A-4147-A177-3AD203B41FA5}">
                      <a16:colId xmlns:a16="http://schemas.microsoft.com/office/drawing/2014/main" val="568838481"/>
                    </a:ext>
                  </a:extLst>
                </a:gridCol>
                <a:gridCol w="557212">
                  <a:extLst>
                    <a:ext uri="{9D8B030D-6E8A-4147-A177-3AD203B41FA5}">
                      <a16:colId xmlns:a16="http://schemas.microsoft.com/office/drawing/2014/main" val="2111309989"/>
                    </a:ext>
                  </a:extLst>
                </a:gridCol>
                <a:gridCol w="1787047">
                  <a:extLst>
                    <a:ext uri="{9D8B030D-6E8A-4147-A177-3AD203B41FA5}">
                      <a16:colId xmlns:a16="http://schemas.microsoft.com/office/drawing/2014/main" val="1578048715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u="none" strike="noStrike" dirty="0" err="1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점포장명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감사구분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실시기간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대상기간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감사일수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5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900734"/>
                  </a:ext>
                </a:extLst>
              </a:tr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서명감사기간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현장감사기간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378273"/>
                  </a:ext>
                </a:extLst>
              </a:tr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감사내용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감사수행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0730025"/>
                  </a:ext>
                </a:extLst>
              </a:tr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감사내용구분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사전예고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당일점검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2875413"/>
                  </a:ext>
                </a:extLst>
              </a:tr>
            </a:tbl>
          </a:graphicData>
        </a:graphic>
      </p:graphicFrame>
      <p:graphicFrame>
        <p:nvGraphicFramePr>
          <p:cNvPr id="119" name="내용 개체 틀 121"/>
          <p:cNvGraphicFramePr>
            <a:graphicFrameLocks/>
          </p:cNvGraphicFramePr>
          <p:nvPr>
            <p:extLst/>
          </p:nvPr>
        </p:nvGraphicFramePr>
        <p:xfrm>
          <a:off x="178592" y="1389984"/>
          <a:ext cx="6732899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1244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900543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590203">
                  <a:extLst>
                    <a:ext uri="{9D8B030D-6E8A-4147-A177-3AD203B41FA5}">
                      <a16:colId xmlns:a16="http://schemas.microsoft.com/office/drawing/2014/main" val="2228377726"/>
                    </a:ext>
                  </a:extLst>
                </a:gridCol>
                <a:gridCol w="1550303">
                  <a:extLst>
                    <a:ext uri="{9D8B030D-6E8A-4147-A177-3AD203B41FA5}">
                      <a16:colId xmlns:a16="http://schemas.microsoft.com/office/drawing/2014/main" val="3608977674"/>
                    </a:ext>
                  </a:extLst>
                </a:gridCol>
                <a:gridCol w="653165">
                  <a:extLst>
                    <a:ext uri="{9D8B030D-6E8A-4147-A177-3AD203B41FA5}">
                      <a16:colId xmlns:a16="http://schemas.microsoft.com/office/drawing/2014/main" val="208312764"/>
                    </a:ext>
                  </a:extLst>
                </a:gridCol>
                <a:gridCol w="2447441">
                  <a:extLst>
                    <a:ext uri="{9D8B030D-6E8A-4147-A177-3AD203B41FA5}">
                      <a16:colId xmlns:a16="http://schemas.microsoft.com/office/drawing/2014/main" val="190074180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</a:t>
                      </a:r>
                      <a:r>
                        <a:rPr lang="ko-KR" altLang="en-US" sz="700" u="none" strike="noStrike" dirty="0" err="1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감시기준년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2024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감사종류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감사차수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27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grpSp>
        <p:nvGrpSpPr>
          <p:cNvPr id="136" name="그룹 135"/>
          <p:cNvGrpSpPr/>
          <p:nvPr/>
        </p:nvGrpSpPr>
        <p:grpSpPr>
          <a:xfrm>
            <a:off x="791006" y="2094992"/>
            <a:ext cx="718707" cy="180915"/>
            <a:chOff x="791006" y="3345966"/>
            <a:chExt cx="718707" cy="180915"/>
          </a:xfrm>
        </p:grpSpPr>
        <p:sp>
          <p:nvSpPr>
            <p:cNvPr id="137" name="직사각형 136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791006" y="3345966"/>
              <a:ext cx="71870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18000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2024-12-09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138" name="그림 137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327957" y="3351394"/>
              <a:ext cx="181098" cy="173224"/>
            </a:xfrm>
            <a:prstGeom prst="rect">
              <a:avLst/>
            </a:prstGeom>
          </p:spPr>
        </p:pic>
      </p:grpSp>
      <p:cxnSp>
        <p:nvCxnSpPr>
          <p:cNvPr id="139" name="직선 연결선 138"/>
          <p:cNvCxnSpPr/>
          <p:nvPr/>
        </p:nvCxnSpPr>
        <p:spPr bwMode="auto">
          <a:xfrm>
            <a:off x="1517248" y="2185444"/>
            <a:ext cx="54377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grpSp>
        <p:nvGrpSpPr>
          <p:cNvPr id="140" name="그룹 139"/>
          <p:cNvGrpSpPr/>
          <p:nvPr/>
        </p:nvGrpSpPr>
        <p:grpSpPr>
          <a:xfrm>
            <a:off x="1582536" y="2094992"/>
            <a:ext cx="718707" cy="180915"/>
            <a:chOff x="791006" y="3345966"/>
            <a:chExt cx="718707" cy="180915"/>
          </a:xfrm>
        </p:grpSpPr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791006" y="3345966"/>
              <a:ext cx="71870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18000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2024-12-13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142" name="그림 141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327957" y="3351394"/>
              <a:ext cx="181098" cy="173224"/>
            </a:xfrm>
            <a:prstGeom prst="rect">
              <a:avLst/>
            </a:prstGeom>
          </p:spPr>
        </p:pic>
      </p:grpSp>
      <p:grpSp>
        <p:nvGrpSpPr>
          <p:cNvPr id="143" name="그룹 142"/>
          <p:cNvGrpSpPr/>
          <p:nvPr/>
        </p:nvGrpSpPr>
        <p:grpSpPr>
          <a:xfrm>
            <a:off x="2930955" y="2086331"/>
            <a:ext cx="718707" cy="180915"/>
            <a:chOff x="791006" y="3345966"/>
            <a:chExt cx="718707" cy="180915"/>
          </a:xfrm>
        </p:grpSpPr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791006" y="3345966"/>
              <a:ext cx="71870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18000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2023-11-01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145" name="그림 144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327957" y="3351394"/>
              <a:ext cx="181098" cy="173224"/>
            </a:xfrm>
            <a:prstGeom prst="rect">
              <a:avLst/>
            </a:prstGeom>
          </p:spPr>
        </p:pic>
      </p:grpSp>
      <p:cxnSp>
        <p:nvCxnSpPr>
          <p:cNvPr id="146" name="직선 연결선 145"/>
          <p:cNvCxnSpPr/>
          <p:nvPr/>
        </p:nvCxnSpPr>
        <p:spPr bwMode="auto">
          <a:xfrm>
            <a:off x="3657197" y="2176783"/>
            <a:ext cx="54377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grpSp>
        <p:nvGrpSpPr>
          <p:cNvPr id="147" name="그룹 146"/>
          <p:cNvGrpSpPr/>
          <p:nvPr/>
        </p:nvGrpSpPr>
        <p:grpSpPr>
          <a:xfrm>
            <a:off x="3722485" y="2086331"/>
            <a:ext cx="718707" cy="180915"/>
            <a:chOff x="791006" y="3345966"/>
            <a:chExt cx="718707" cy="180915"/>
          </a:xfrm>
        </p:grpSpPr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791006" y="3345966"/>
              <a:ext cx="71870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18000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2024-12-06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149" name="그림 148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327957" y="3351394"/>
              <a:ext cx="181098" cy="173224"/>
            </a:xfrm>
            <a:prstGeom prst="rect">
              <a:avLst/>
            </a:prstGeom>
          </p:spPr>
        </p:pic>
      </p:grpSp>
      <p:grpSp>
        <p:nvGrpSpPr>
          <p:cNvPr id="26" name="그룹 25"/>
          <p:cNvGrpSpPr/>
          <p:nvPr/>
        </p:nvGrpSpPr>
        <p:grpSpPr>
          <a:xfrm>
            <a:off x="5187525" y="1821151"/>
            <a:ext cx="688047" cy="180915"/>
            <a:chOff x="5187525" y="1744951"/>
            <a:chExt cx="688047" cy="180915"/>
          </a:xfrm>
        </p:grpSpPr>
        <p:sp>
          <p:nvSpPr>
            <p:cNvPr id="150" name="직사각형 149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5187525" y="1744951"/>
              <a:ext cx="68804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종합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151" name="이등변 삼각형 150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5766893" y="1825773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grpSp>
        <p:nvGrpSpPr>
          <p:cNvPr id="156" name="그룹 155"/>
          <p:cNvGrpSpPr/>
          <p:nvPr/>
        </p:nvGrpSpPr>
        <p:grpSpPr>
          <a:xfrm>
            <a:off x="797356" y="1813915"/>
            <a:ext cx="1337415" cy="180949"/>
            <a:chOff x="1931145" y="1342640"/>
            <a:chExt cx="1337415" cy="180949"/>
          </a:xfrm>
        </p:grpSpPr>
        <p:sp>
          <p:nvSpPr>
            <p:cNvPr id="157" name="직사각형 156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931145" y="1342640"/>
              <a:ext cx="397573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2334008" y="1342674"/>
              <a:ext cx="934552" cy="18091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       </a:t>
              </a:r>
              <a:endParaRPr kumimoji="0" lang="ko-KR" altLang="en-US" sz="7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159" name="그림 158"/>
            <p:cNvPicPr>
              <a:picLocks noChangeAspect="1"/>
            </p:cNvPicPr>
            <p:nvPr/>
          </p:nvPicPr>
          <p:blipFill rotWithShape="1">
            <a:blip r:embed="rId3"/>
            <a:srcRect r="73540"/>
            <a:stretch/>
          </p:blipFill>
          <p:spPr>
            <a:xfrm>
              <a:off x="2343851" y="1354433"/>
              <a:ext cx="183595" cy="164228"/>
            </a:xfrm>
            <a:prstGeom prst="rect">
              <a:avLst/>
            </a:prstGeom>
          </p:spPr>
        </p:pic>
      </p:grpSp>
      <p:grpSp>
        <p:nvGrpSpPr>
          <p:cNvPr id="160" name="그룹 159"/>
          <p:cNvGrpSpPr/>
          <p:nvPr/>
        </p:nvGrpSpPr>
        <p:grpSpPr>
          <a:xfrm>
            <a:off x="791006" y="2361066"/>
            <a:ext cx="718707" cy="180915"/>
            <a:chOff x="791006" y="3345966"/>
            <a:chExt cx="718707" cy="180915"/>
          </a:xfrm>
        </p:grpSpPr>
        <p:sp>
          <p:nvSpPr>
            <p:cNvPr id="161" name="직사각형 160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791006" y="3345966"/>
              <a:ext cx="71870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18000" rtlCol="0" anchor="ctr" anchorCtr="0"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000" b="0" i="0" u="none" strike="noStrike" kern="1200" cap="none" normalizeH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- -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327957" y="3351394"/>
              <a:ext cx="181098" cy="173224"/>
            </a:xfrm>
            <a:prstGeom prst="rect">
              <a:avLst/>
            </a:prstGeom>
          </p:spPr>
        </p:pic>
      </p:grpSp>
      <p:cxnSp>
        <p:nvCxnSpPr>
          <p:cNvPr id="163" name="직선 연결선 162"/>
          <p:cNvCxnSpPr/>
          <p:nvPr/>
        </p:nvCxnSpPr>
        <p:spPr bwMode="auto">
          <a:xfrm>
            <a:off x="1517248" y="2451518"/>
            <a:ext cx="54377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grpSp>
        <p:nvGrpSpPr>
          <p:cNvPr id="164" name="그룹 163"/>
          <p:cNvGrpSpPr/>
          <p:nvPr/>
        </p:nvGrpSpPr>
        <p:grpSpPr>
          <a:xfrm>
            <a:off x="1582536" y="2361066"/>
            <a:ext cx="718707" cy="180915"/>
            <a:chOff x="791006" y="3345966"/>
            <a:chExt cx="718707" cy="180915"/>
          </a:xfrm>
        </p:grpSpPr>
        <p:sp>
          <p:nvSpPr>
            <p:cNvPr id="165" name="직사각형 164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791006" y="3345966"/>
              <a:ext cx="71870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18000" rtlCol="0" anchor="ctr" anchorCtr="0"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000" b="0" i="0" u="none" strike="noStrike" kern="1200" cap="none" normalizeH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- -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166" name="그림 165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327957" y="3351394"/>
              <a:ext cx="181098" cy="173224"/>
            </a:xfrm>
            <a:prstGeom prst="rect">
              <a:avLst/>
            </a:prstGeom>
          </p:spPr>
        </p:pic>
      </p:grpSp>
      <p:grpSp>
        <p:nvGrpSpPr>
          <p:cNvPr id="167" name="그룹 166"/>
          <p:cNvGrpSpPr/>
          <p:nvPr/>
        </p:nvGrpSpPr>
        <p:grpSpPr>
          <a:xfrm>
            <a:off x="2930297" y="2355258"/>
            <a:ext cx="718707" cy="180915"/>
            <a:chOff x="791006" y="3345966"/>
            <a:chExt cx="718707" cy="180915"/>
          </a:xfrm>
        </p:grpSpPr>
        <p:sp>
          <p:nvSpPr>
            <p:cNvPr id="168" name="직사각형 167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791006" y="3345966"/>
              <a:ext cx="71870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18000" rtlCol="0" anchor="ctr" anchorCtr="0"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000" b="0" i="0" u="none" strike="noStrike" kern="1200" cap="none" normalizeH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- -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169" name="그림 168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327957" y="3351394"/>
              <a:ext cx="181098" cy="173224"/>
            </a:xfrm>
            <a:prstGeom prst="rect">
              <a:avLst/>
            </a:prstGeom>
          </p:spPr>
        </p:pic>
      </p:grpSp>
      <p:cxnSp>
        <p:nvCxnSpPr>
          <p:cNvPr id="170" name="직선 연결선 169"/>
          <p:cNvCxnSpPr/>
          <p:nvPr/>
        </p:nvCxnSpPr>
        <p:spPr bwMode="auto">
          <a:xfrm>
            <a:off x="3656539" y="2445710"/>
            <a:ext cx="54377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grpSp>
        <p:nvGrpSpPr>
          <p:cNvPr id="171" name="그룹 170"/>
          <p:cNvGrpSpPr/>
          <p:nvPr/>
        </p:nvGrpSpPr>
        <p:grpSpPr>
          <a:xfrm>
            <a:off x="3721827" y="2355258"/>
            <a:ext cx="718707" cy="180915"/>
            <a:chOff x="791006" y="3345966"/>
            <a:chExt cx="718707" cy="180915"/>
          </a:xfrm>
        </p:grpSpPr>
        <p:sp>
          <p:nvSpPr>
            <p:cNvPr id="172" name="직사각형 171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791006" y="3345966"/>
              <a:ext cx="71870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18000" rtlCol="0" anchor="ctr" anchorCtr="0"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000" b="0" i="0" u="none" strike="noStrike" kern="1200" cap="none" normalizeH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- -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173" name="그림 172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327957" y="3351394"/>
              <a:ext cx="181098" cy="173224"/>
            </a:xfrm>
            <a:prstGeom prst="rect">
              <a:avLst/>
            </a:prstGeom>
          </p:spPr>
        </p:pic>
      </p:grp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796454" y="2627134"/>
            <a:ext cx="3643422" cy="193927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791006" y="2903561"/>
            <a:ext cx="1533094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normalizeH="0" noProof="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해당무</a:t>
            </a:r>
            <a:endParaRPr kumimoji="0" lang="ko-KR" altLang="en-US" sz="7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78" name="이등변 삼각형 177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2210036" y="2970094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929718" y="2910863"/>
            <a:ext cx="688047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</a:t>
            </a:r>
            <a:endParaRPr kumimoji="0" lang="ko-KR" altLang="en-US" sz="7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82" name="이등변 삼각형 181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3509086" y="2991685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183" name="그룹 182"/>
          <p:cNvGrpSpPr/>
          <p:nvPr/>
        </p:nvGrpSpPr>
        <p:grpSpPr>
          <a:xfrm>
            <a:off x="5187525" y="2644119"/>
            <a:ext cx="688047" cy="180915"/>
            <a:chOff x="5187525" y="1744951"/>
            <a:chExt cx="688047" cy="180915"/>
          </a:xfrm>
        </p:grpSpPr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5187525" y="1744951"/>
              <a:ext cx="68804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현장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185" name="이등변 삼각형 184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5766893" y="1825773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185883" y="2910863"/>
            <a:ext cx="688047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</a:t>
            </a:r>
            <a:endParaRPr kumimoji="0" lang="ko-KR" altLang="en-US" sz="7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88" name="이등변 삼각형 187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5765251" y="2991685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89" name="직사각형 188"/>
          <p:cNvSpPr/>
          <p:nvPr/>
        </p:nvSpPr>
        <p:spPr bwMode="auto">
          <a:xfrm>
            <a:off x="259854" y="4067642"/>
            <a:ext cx="1645145" cy="202453"/>
          </a:xfrm>
          <a:prstGeom prst="rect">
            <a:avLst/>
          </a:prstGeom>
          <a:noFill/>
          <a:ln w="15875">
            <a:solidFill>
              <a:schemeClr val="accent1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86129" y="3950433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484370" y="4086489"/>
            <a:ext cx="357587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초기화</a:t>
            </a:r>
            <a:endParaRPr kumimoji="0" lang="ko-KR" altLang="en-US" sz="800" b="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233604" y="4086489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>
              <a:alpha val="19000"/>
            </a:srgbClr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수정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37533" y="4086489"/>
            <a:ext cx="360971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normalizeH="0" baseline="0" noProof="0" dirty="0" smtClean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삭제</a:t>
            </a:r>
            <a:endParaRPr kumimoji="0" lang="ko-KR" altLang="en-US" sz="800" b="0" i="0" u="none" strike="noStrike" kern="1200" cap="none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110686" y="4086489"/>
            <a:ext cx="504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대상부점선정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636466" y="4086489"/>
            <a:ext cx="612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감사역추천등록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1" name="타원 9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643346" y="3950433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2" name="타원 9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079466" y="3950433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865261" y="4086489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279192" y="4089400"/>
            <a:ext cx="360000" cy="18309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확정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672660" y="4095263"/>
            <a:ext cx="576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err="1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확정취소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105" name="구부러진 연결선 104"/>
          <p:cNvCxnSpPr/>
          <p:nvPr/>
        </p:nvCxnSpPr>
        <p:spPr bwMode="auto">
          <a:xfrm rot="5400000" flipH="1" flipV="1">
            <a:off x="3934617" y="3821586"/>
            <a:ext cx="272753" cy="257054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12700" cap="flat" cmpd="sng" algn="ctr">
            <a:solidFill>
              <a:schemeClr val="accent1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106" name="직사각형 105"/>
          <p:cNvSpPr/>
          <p:nvPr/>
        </p:nvSpPr>
        <p:spPr bwMode="auto">
          <a:xfrm>
            <a:off x="3037672" y="3495574"/>
            <a:ext cx="2323695" cy="318162"/>
          </a:xfrm>
          <a:prstGeom prst="rect">
            <a:avLst/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1200" b="1" i="0" u="none" strike="noStrike" kern="0" cap="none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배정 </a:t>
            </a:r>
            <a:r>
              <a:rPr kumimoji="0" lang="ko-KR" altLang="en-US" sz="1200" b="1" i="0" u="none" strike="noStrike" kern="0" cap="none" normalizeH="0" baseline="0" noProof="0" dirty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감사역인원</a:t>
            </a:r>
            <a:r>
              <a:rPr kumimoji="0" lang="ko-KR" altLang="en-US" sz="1200" b="1" i="0" u="none" strike="noStrike" kern="0" cap="none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19156" y="3545032"/>
            <a:ext cx="746132" cy="213009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10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930520" y="3569357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확인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9" name="직사각형 108"/>
          <p:cNvSpPr/>
          <p:nvPr/>
        </p:nvSpPr>
        <p:spPr>
          <a:xfrm>
            <a:off x="7207250" y="6344598"/>
            <a:ext cx="181876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US" altLang="ko-KR" sz="1000" dirty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※ </a:t>
            </a:r>
            <a:r>
              <a:rPr lang="ko-KR" altLang="en-US" sz="1000" dirty="0" smtClean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다음 </a:t>
            </a:r>
            <a:r>
              <a:rPr lang="ko-KR" altLang="en-US" sz="1000" dirty="0" err="1" smtClean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장표에</a:t>
            </a:r>
            <a:r>
              <a:rPr lang="ko-KR" altLang="en-US" sz="1000" dirty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   </a:t>
            </a:r>
            <a:r>
              <a:rPr lang="ko-KR" altLang="en-US" sz="1000" dirty="0" smtClean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이어서 설명</a:t>
            </a:r>
            <a:endParaRPr lang="en-US" altLang="ko-KR" sz="1000" dirty="0" smtClean="0">
              <a:solidFill>
                <a:srgbClr val="2272FF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  <a:cs typeface="KoPubWorld돋움체 Medium" panose="00000600000000000000" pitchFamily="2" charset="-127"/>
            </a:endParaRPr>
          </a:p>
        </p:txBody>
      </p:sp>
      <p:sp>
        <p:nvSpPr>
          <p:cNvPr id="94" name="Freeform 46">
            <a:extLst>
              <a:ext uri="{FF2B5EF4-FFF2-40B4-BE49-F238E27FC236}">
                <a16:creationId xmlns:a16="http://schemas.microsoft.com/office/drawing/2014/main" id="{36BBD547-1346-F115-36F1-EB48123B65CE}"/>
              </a:ext>
            </a:extLst>
          </p:cNvPr>
          <p:cNvSpPr>
            <a:spLocks noEditPoints="1"/>
          </p:cNvSpPr>
          <p:nvPr/>
        </p:nvSpPr>
        <p:spPr bwMode="auto">
          <a:xfrm>
            <a:off x="310222" y="4958496"/>
            <a:ext cx="120301" cy="120558"/>
          </a:xfrm>
          <a:custGeom>
            <a:avLst/>
            <a:gdLst/>
            <a:ahLst/>
            <a:cxnLst>
              <a:cxn ang="0">
                <a:pos x="55" y="44"/>
              </a:cxn>
              <a:cxn ang="0">
                <a:pos x="44" y="55"/>
              </a:cxn>
              <a:cxn ang="0">
                <a:pos x="10" y="55"/>
              </a:cxn>
              <a:cxn ang="0">
                <a:pos x="0" y="44"/>
              </a:cxn>
              <a:cxn ang="0">
                <a:pos x="0" y="10"/>
              </a:cxn>
              <a:cxn ang="0">
                <a:pos x="10" y="0"/>
              </a:cxn>
              <a:cxn ang="0">
                <a:pos x="44" y="0"/>
              </a:cxn>
              <a:cxn ang="0">
                <a:pos x="55" y="10"/>
              </a:cxn>
              <a:cxn ang="0">
                <a:pos x="55" y="44"/>
              </a:cxn>
              <a:cxn ang="0">
                <a:pos x="46" y="20"/>
              </a:cxn>
              <a:cxn ang="0">
                <a:pos x="46" y="17"/>
              </a:cxn>
              <a:cxn ang="0">
                <a:pos x="42" y="13"/>
              </a:cxn>
              <a:cxn ang="0">
                <a:pos x="39" y="13"/>
              </a:cxn>
              <a:cxn ang="0">
                <a:pos x="23" y="30"/>
              </a:cxn>
              <a:cxn ang="0">
                <a:pos x="15" y="22"/>
              </a:cxn>
              <a:cxn ang="0">
                <a:pos x="12" y="22"/>
              </a:cxn>
              <a:cxn ang="0">
                <a:pos x="8" y="26"/>
              </a:cxn>
              <a:cxn ang="0">
                <a:pos x="8" y="29"/>
              </a:cxn>
              <a:cxn ang="0">
                <a:pos x="21" y="42"/>
              </a:cxn>
              <a:cxn ang="0">
                <a:pos x="24" y="42"/>
              </a:cxn>
              <a:cxn ang="0">
                <a:pos x="46" y="20"/>
              </a:cxn>
            </a:cxnLst>
            <a:rect l="0" t="0" r="r" b="b"/>
            <a:pathLst>
              <a:path w="55" h="55">
                <a:moveTo>
                  <a:pt x="55" y="44"/>
                </a:moveTo>
                <a:cubicBezTo>
                  <a:pt x="55" y="50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0"/>
                </a:cubicBezTo>
                <a:lnTo>
                  <a:pt x="55" y="44"/>
                </a:lnTo>
                <a:close/>
                <a:moveTo>
                  <a:pt x="46" y="20"/>
                </a:moveTo>
                <a:cubicBezTo>
                  <a:pt x="47" y="19"/>
                  <a:pt x="47" y="17"/>
                  <a:pt x="46" y="17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2"/>
                  <a:pt x="40" y="12"/>
                  <a:pt x="39" y="13"/>
                </a:cubicBezTo>
                <a:cubicBezTo>
                  <a:pt x="23" y="30"/>
                  <a:pt x="23" y="30"/>
                  <a:pt x="23" y="30"/>
                </a:cubicBezTo>
                <a:cubicBezTo>
                  <a:pt x="15" y="22"/>
                  <a:pt x="15" y="22"/>
                  <a:pt x="15" y="22"/>
                </a:cubicBezTo>
                <a:cubicBezTo>
                  <a:pt x="14" y="21"/>
                  <a:pt x="13" y="21"/>
                  <a:pt x="12" y="22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7"/>
                  <a:pt x="7" y="28"/>
                  <a:pt x="8" y="29"/>
                </a:cubicBezTo>
                <a:cubicBezTo>
                  <a:pt x="21" y="42"/>
                  <a:pt x="21" y="42"/>
                  <a:pt x="21" y="42"/>
                </a:cubicBezTo>
                <a:cubicBezTo>
                  <a:pt x="22" y="43"/>
                  <a:pt x="23" y="43"/>
                  <a:pt x="24" y="42"/>
                </a:cubicBezTo>
                <a:lnTo>
                  <a:pt x="46" y="20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100687" tIns="50343" rIns="100687" bIns="50343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135923" rtl="0" eaLnBrk="0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202" b="0" i="0" u="none" strike="noStrike" kern="0" cap="none" spc="0" normalizeH="0" baseline="0" noProof="0">
              <a:ln>
                <a:solidFill>
                  <a:srgbClr val="F9A84A"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13832" y="4413390"/>
            <a:ext cx="108000" cy="10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10222" y="4686269"/>
            <a:ext cx="108000" cy="10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10222" y="5248504"/>
            <a:ext cx="108000" cy="10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84" name="직사각형 83"/>
          <p:cNvSpPr/>
          <p:nvPr/>
        </p:nvSpPr>
        <p:spPr bwMode="auto">
          <a:xfrm>
            <a:off x="5430712" y="4067642"/>
            <a:ext cx="1645145" cy="202453"/>
          </a:xfrm>
          <a:prstGeom prst="rect">
            <a:avLst/>
          </a:prstGeom>
          <a:noFill/>
          <a:ln w="15875">
            <a:solidFill>
              <a:schemeClr val="accent1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398724" y="3950433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8" name="직사각형 97"/>
          <p:cNvSpPr/>
          <p:nvPr/>
        </p:nvSpPr>
        <p:spPr bwMode="auto">
          <a:xfrm>
            <a:off x="291028" y="4409299"/>
            <a:ext cx="164434" cy="1046019"/>
          </a:xfrm>
          <a:prstGeom prst="rect">
            <a:avLst/>
          </a:prstGeom>
          <a:noFill/>
          <a:ln w="15875">
            <a:solidFill>
              <a:schemeClr val="accent1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100" name="구부러진 연결선 99"/>
          <p:cNvCxnSpPr>
            <a:stCxn id="98" idx="3"/>
            <a:endCxn id="90" idx="2"/>
          </p:cNvCxnSpPr>
          <p:nvPr/>
        </p:nvCxnSpPr>
        <p:spPr bwMode="auto">
          <a:xfrm flipV="1">
            <a:off x="455462" y="4266489"/>
            <a:ext cx="3487004" cy="665820"/>
          </a:xfrm>
          <a:prstGeom prst="curvedConnector2">
            <a:avLst/>
          </a:prstGeom>
          <a:solidFill>
            <a:schemeClr val="accent1"/>
          </a:solidFill>
          <a:ln w="12700" cap="flat" cmpd="sng" algn="ctr">
            <a:solidFill>
              <a:schemeClr val="accent1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102" name="TextBox 101"/>
          <p:cNvSpPr txBox="1"/>
          <p:nvPr/>
        </p:nvSpPr>
        <p:spPr>
          <a:xfrm>
            <a:off x="1400029" y="4686269"/>
            <a:ext cx="456069" cy="230832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txBody>
          <a:bodyPr wrap="square" rtlCol="0">
            <a:spAutoFit/>
          </a:bodyPr>
          <a:lstStyle/>
          <a:p>
            <a:r>
              <a:rPr lang="ko-KR" altLang="en-US" sz="900" dirty="0" smtClean="0">
                <a:solidFill>
                  <a:schemeClr val="accent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선택</a:t>
            </a:r>
          </a:p>
        </p:txBody>
      </p:sp>
      <p:sp>
        <p:nvSpPr>
          <p:cNvPr id="103" name="직사각형 102"/>
          <p:cNvSpPr/>
          <p:nvPr/>
        </p:nvSpPr>
        <p:spPr bwMode="auto">
          <a:xfrm>
            <a:off x="4761475" y="4563501"/>
            <a:ext cx="924668" cy="883979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4" name="직사각형 103"/>
          <p:cNvSpPr/>
          <p:nvPr/>
        </p:nvSpPr>
        <p:spPr bwMode="auto">
          <a:xfrm>
            <a:off x="6646946" y="4563501"/>
            <a:ext cx="330372" cy="883979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986305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053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295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특정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배정 감사역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컬럼을 클릭 할 경우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감사역 배정 등록 팝업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오픈 되며 감사역을 신규 배정하거나 배정된 감사역을 변경할 수 있다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감사역추천등록</a:t>
                      </a:r>
                      <a:r>
                        <a:rPr lang="en-US" altLang="ko-KR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버튼으로 배정된 경우 감사역 이름이 파란색</a:t>
                      </a:r>
                      <a:r>
                        <a:rPr lang="en-US" altLang="ko-KR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[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감사역 배정 등록 팝업</a:t>
                      </a:r>
                      <a:r>
                        <a:rPr lang="en-US" altLang="ko-KR" sz="8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]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으로 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배정일 경우 검은색으로 이름 표시</a:t>
                      </a:r>
                      <a:r>
                        <a:rPr lang="en-US" altLang="ko-KR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대상부점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확정구분이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확정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상태이면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“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확정취소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후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사용할 수 있습니다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알림처리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95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그리드에서 체크박스를 체크하여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대상부점을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먼저 선택한다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확정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버튼을 클릭하면 체크된 해당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감사 계획이 확정된다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확정된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대상부점을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감사역추천등록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수정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 변경이 불가능하며 변경하려면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확정취소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후 변경할 수 있다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그리드에서 체크박스를 체크하여 </a:t>
                      </a:r>
                      <a:r>
                        <a:rPr lang="ko-KR" altLang="en-US" sz="800" b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대상부점을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선택한다</a:t>
                      </a:r>
                      <a:r>
                        <a:rPr lang="en-US" altLang="ko-KR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b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[</a:t>
                      </a:r>
                      <a:r>
                        <a:rPr lang="ko-KR" altLang="en-US" sz="800" b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확정취소</a:t>
                      </a:r>
                      <a:r>
                        <a:rPr lang="en-US" altLang="ko-KR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버튼을 클릭하면 체크된 해당 </a:t>
                      </a:r>
                      <a:r>
                        <a:rPr lang="ko-KR" altLang="en-US" sz="800" b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부점의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감사 계획이 </a:t>
                      </a:r>
                      <a:r>
                        <a:rPr lang="ko-KR" altLang="en-US" sz="800" b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미확정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상태로 변경된다</a:t>
                      </a:r>
                      <a:r>
                        <a:rPr lang="en-US" altLang="ko-KR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테마감사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 </a:t>
                      </a:r>
                      <a:endParaRPr lang="en-US" altLang="ko-KR" sz="800" b="0" i="0" u="none" strike="noStrike" baseline="0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심의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조사 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특별감사 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 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-&gt; 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기존 화면 유지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8842749"/>
                  </a:ext>
                </a:extLst>
              </a:tr>
            </a:tbl>
          </a:graphicData>
        </a:graphic>
      </p:graphicFrame>
      <p:sp>
        <p:nvSpPr>
          <p:cNvPr id="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90216" y="3363277"/>
            <a:ext cx="455274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계획조회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791006" y="3363277"/>
            <a:ext cx="455274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err="1" smtClean="0">
                <a:ln>
                  <a:noFill/>
                </a:ln>
                <a:solidFill>
                  <a:schemeClr val="bg2">
                    <a:lumMod val="90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계획삭제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bg2">
                  <a:lumMod val="90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1291796" y="3363277"/>
            <a:ext cx="590344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부점수감현황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3" name="내용 개체 틀 121"/>
          <p:cNvGraphicFramePr>
            <a:graphicFrameLocks/>
          </p:cNvGraphicFramePr>
          <p:nvPr>
            <p:extLst/>
          </p:nvPr>
        </p:nvGraphicFramePr>
        <p:xfrm>
          <a:off x="270794" y="3626107"/>
          <a:ext cx="6727714" cy="139263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6406">
                  <a:extLst>
                    <a:ext uri="{9D8B030D-6E8A-4147-A177-3AD203B41FA5}">
                      <a16:colId xmlns:a16="http://schemas.microsoft.com/office/drawing/2014/main" val="4186060632"/>
                    </a:ext>
                  </a:extLst>
                </a:gridCol>
                <a:gridCol w="617220">
                  <a:extLst>
                    <a:ext uri="{9D8B030D-6E8A-4147-A177-3AD203B41FA5}">
                      <a16:colId xmlns:a16="http://schemas.microsoft.com/office/drawing/2014/main" val="1325555519"/>
                    </a:ext>
                  </a:extLst>
                </a:gridCol>
                <a:gridCol w="434340">
                  <a:extLst>
                    <a:ext uri="{9D8B030D-6E8A-4147-A177-3AD203B41FA5}">
                      <a16:colId xmlns:a16="http://schemas.microsoft.com/office/drawing/2014/main" val="2118101267"/>
                    </a:ext>
                  </a:extLst>
                </a:gridCol>
                <a:gridCol w="259080">
                  <a:extLst>
                    <a:ext uri="{9D8B030D-6E8A-4147-A177-3AD203B41FA5}">
                      <a16:colId xmlns:a16="http://schemas.microsoft.com/office/drawing/2014/main" val="3109369146"/>
                    </a:ext>
                  </a:extLst>
                </a:gridCol>
                <a:gridCol w="617220">
                  <a:extLst>
                    <a:ext uri="{9D8B030D-6E8A-4147-A177-3AD203B41FA5}">
                      <a16:colId xmlns:a16="http://schemas.microsoft.com/office/drawing/2014/main" val="3484451531"/>
                    </a:ext>
                  </a:extLst>
                </a:gridCol>
                <a:gridCol w="533400">
                  <a:extLst>
                    <a:ext uri="{9D8B030D-6E8A-4147-A177-3AD203B41FA5}">
                      <a16:colId xmlns:a16="http://schemas.microsoft.com/office/drawing/2014/main" val="3526029767"/>
                    </a:ext>
                  </a:extLst>
                </a:gridCol>
                <a:gridCol w="601980">
                  <a:extLst>
                    <a:ext uri="{9D8B030D-6E8A-4147-A177-3AD203B41FA5}">
                      <a16:colId xmlns:a16="http://schemas.microsoft.com/office/drawing/2014/main" val="1365919120"/>
                    </a:ext>
                  </a:extLst>
                </a:gridCol>
                <a:gridCol w="594360">
                  <a:extLst>
                    <a:ext uri="{9D8B030D-6E8A-4147-A177-3AD203B41FA5}">
                      <a16:colId xmlns:a16="http://schemas.microsoft.com/office/drawing/2014/main" val="1275920291"/>
                    </a:ext>
                  </a:extLst>
                </a:gridCol>
                <a:gridCol w="297180">
                  <a:extLst>
                    <a:ext uri="{9D8B030D-6E8A-4147-A177-3AD203B41FA5}">
                      <a16:colId xmlns:a16="http://schemas.microsoft.com/office/drawing/2014/main" val="21450757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26279761"/>
                    </a:ext>
                  </a:extLst>
                </a:gridCol>
                <a:gridCol w="929640">
                  <a:extLst>
                    <a:ext uri="{9D8B030D-6E8A-4147-A177-3AD203B41FA5}">
                      <a16:colId xmlns:a16="http://schemas.microsoft.com/office/drawing/2014/main" val="2972553850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3689105215"/>
                    </a:ext>
                  </a:extLst>
                </a:gridCol>
                <a:gridCol w="281940">
                  <a:extLst>
                    <a:ext uri="{9D8B030D-6E8A-4147-A177-3AD203B41FA5}">
                      <a16:colId xmlns:a16="http://schemas.microsoft.com/office/drawing/2014/main" val="1645622574"/>
                    </a:ext>
                  </a:extLst>
                </a:gridCol>
                <a:gridCol w="363624">
                  <a:extLst>
                    <a:ext uri="{9D8B030D-6E8A-4147-A177-3AD203B41FA5}">
                      <a16:colId xmlns:a16="http://schemas.microsoft.com/office/drawing/2014/main" val="3926005149"/>
                    </a:ext>
                  </a:extLst>
                </a:gridCol>
                <a:gridCol w="363624">
                  <a:extLst>
                    <a:ext uri="{9D8B030D-6E8A-4147-A177-3AD203B41FA5}">
                      <a16:colId xmlns:a16="http://schemas.microsoft.com/office/drawing/2014/main" val="568154196"/>
                    </a:ext>
                  </a:extLst>
                </a:gridCol>
              </a:tblGrid>
              <a:tr h="218531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지역영업그룹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부점코드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…</a:t>
                      </a:r>
                      <a:endParaRPr lang="ko-KR" altLang="en-US" sz="70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실시시작일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실시종료일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대상시작일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대상종료일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영업일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부점장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배정감사역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…</a:t>
                      </a:r>
                      <a:endParaRPr lang="ko-KR" altLang="en-US" sz="70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사전</a:t>
                      </a:r>
                      <a:endParaRPr lang="en-US" altLang="ko-KR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예고</a:t>
                      </a:r>
                    </a:p>
                  </a:txBody>
                  <a:tcPr marL="3218" marR="3218" marT="3218" marB="0" anchor="ctr"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당일</a:t>
                      </a:r>
                      <a:endParaRPr lang="en-US" altLang="ko-KR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점검</a:t>
                      </a:r>
                    </a:p>
                  </a:txBody>
                  <a:tcPr marL="3218" marR="3218" marT="3218" marB="0" anchor="ctr"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확정</a:t>
                      </a:r>
                      <a:endParaRPr lang="en-US" altLang="ko-KR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구분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1669389"/>
                  </a:ext>
                </a:extLst>
              </a:tr>
              <a:tr h="293526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영업그룹 지속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0015</a:t>
                      </a:r>
                      <a:endParaRPr lang="ko-KR" altLang="en-US" sz="7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…</a:t>
                      </a:r>
                      <a:endParaRPr lang="ko-KR" altLang="en-US" sz="7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2024-03-25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2024-03-27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2021-12-08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2024-03-25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김</a:t>
                      </a:r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OO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2272FF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이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2272FF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**(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2272FF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반장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2272FF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), 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2272FF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홍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2272FF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**</a:t>
                      </a:r>
                      <a:endParaRPr lang="ko-KR" altLang="en-US" sz="700" b="0" i="0" u="none" strike="noStrike" dirty="0">
                        <a:solidFill>
                          <a:srgbClr val="2272FF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…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미확정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0641114"/>
                  </a:ext>
                </a:extLst>
              </a:tr>
              <a:tr h="293526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영업그룹 지속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0688</a:t>
                      </a:r>
                      <a:endParaRPr lang="ko-KR" altLang="en-US" sz="7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…</a:t>
                      </a:r>
                      <a:endParaRPr lang="ko-KR" altLang="en-US" sz="7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2024-03-25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2024-03-29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2021-11-05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2024-03-25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5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박</a:t>
                      </a:r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OO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 fontAlgn="ctr">
                        <a:buNone/>
                      </a:pP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홍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**(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반장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), 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김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**…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…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미확정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9943333"/>
                  </a:ext>
                </a:extLst>
              </a:tr>
              <a:tr h="293526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영업그룹 지속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0234</a:t>
                      </a:r>
                      <a:endParaRPr lang="ko-KR" altLang="en-US" sz="7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…</a:t>
                      </a:r>
                      <a:endParaRPr lang="ko-KR" altLang="en-US" sz="7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2024-04-01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2024-04-03</a:t>
                      </a:r>
                      <a:endParaRPr lang="ko-KR" altLang="en-US" sz="7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2022-05-01</a:t>
                      </a:r>
                      <a:endParaRPr lang="ko-KR" altLang="en-US" sz="7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2024-04-01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최</a:t>
                      </a:r>
                      <a:r>
                        <a:rPr lang="en-US" altLang="ko-KR" sz="700" b="0" i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OO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 fontAlgn="ctr">
                        <a:buNone/>
                      </a:pPr>
                      <a:r>
                        <a:rPr lang="ko-KR" altLang="en-US" sz="700" b="0" i="0" u="none" strike="noStrike" dirty="0" smtClean="0">
                          <a:solidFill>
                            <a:srgbClr val="2272FF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2272FF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**(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2272FF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반장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2272FF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), 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2272FF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2272FF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**</a:t>
                      </a:r>
                      <a:endParaRPr lang="ko-KR" altLang="en-US" sz="700" b="0" i="0" u="none" strike="noStrike" dirty="0">
                        <a:solidFill>
                          <a:srgbClr val="2272FF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…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확정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2394348"/>
                  </a:ext>
                </a:extLst>
              </a:tr>
              <a:tr h="293526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…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43758132"/>
                  </a:ext>
                </a:extLst>
              </a:tr>
            </a:tbl>
          </a:graphicData>
        </a:graphic>
      </p:graphicFrame>
      <p:sp>
        <p:nvSpPr>
          <p:cNvPr id="19" name="직사각형 18"/>
          <p:cNvSpPr/>
          <p:nvPr/>
        </p:nvSpPr>
        <p:spPr bwMode="auto">
          <a:xfrm>
            <a:off x="265604" y="3551115"/>
            <a:ext cx="6732900" cy="145404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5" name="직사각형 24"/>
          <p:cNvSpPr/>
          <p:nvPr/>
        </p:nvSpPr>
        <p:spPr bwMode="auto">
          <a:xfrm>
            <a:off x="4761475" y="3840289"/>
            <a:ext cx="924668" cy="883979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2325961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695325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1504950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971550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564499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MDD-00012 / MDD-00013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MDD75G54000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등록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(2/2)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등록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(P50: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유성용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37" name="타원 3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088402" y="3766233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4" name="양쪽 모서리가 둥근 사각형 43"/>
          <p:cNvSpPr/>
          <p:nvPr/>
        </p:nvSpPr>
        <p:spPr bwMode="auto">
          <a:xfrm>
            <a:off x="185097" y="1162789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감사계획</a:t>
            </a: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등록</a:t>
            </a:r>
          </a:p>
        </p:txBody>
      </p:sp>
      <p:sp>
        <p:nvSpPr>
          <p:cNvPr id="4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178594" y="1088193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7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185098" y="1348524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18" name="내용 개체 틀 121"/>
          <p:cNvGraphicFramePr>
            <a:graphicFrameLocks/>
          </p:cNvGraphicFramePr>
          <p:nvPr>
            <p:extLst/>
          </p:nvPr>
        </p:nvGraphicFramePr>
        <p:xfrm>
          <a:off x="178593" y="1765125"/>
          <a:ext cx="6732904" cy="137688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1244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611413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514350">
                  <a:extLst>
                    <a:ext uri="{9D8B030D-6E8A-4147-A177-3AD203B41FA5}">
                      <a16:colId xmlns:a16="http://schemas.microsoft.com/office/drawing/2014/main" val="1165419821"/>
                    </a:ext>
                  </a:extLst>
                </a:gridCol>
                <a:gridCol w="1671638">
                  <a:extLst>
                    <a:ext uri="{9D8B030D-6E8A-4147-A177-3AD203B41FA5}">
                      <a16:colId xmlns:a16="http://schemas.microsoft.com/office/drawing/2014/main" val="568838481"/>
                    </a:ext>
                  </a:extLst>
                </a:gridCol>
                <a:gridCol w="557212">
                  <a:extLst>
                    <a:ext uri="{9D8B030D-6E8A-4147-A177-3AD203B41FA5}">
                      <a16:colId xmlns:a16="http://schemas.microsoft.com/office/drawing/2014/main" val="2111309989"/>
                    </a:ext>
                  </a:extLst>
                </a:gridCol>
                <a:gridCol w="1787047">
                  <a:extLst>
                    <a:ext uri="{9D8B030D-6E8A-4147-A177-3AD203B41FA5}">
                      <a16:colId xmlns:a16="http://schemas.microsoft.com/office/drawing/2014/main" val="1578048715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u="none" strike="noStrike" dirty="0" err="1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점포장명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감사구분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실시기간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대상기간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감사일수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5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900734"/>
                  </a:ext>
                </a:extLst>
              </a:tr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서명감사기간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현장감사기간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378273"/>
                  </a:ext>
                </a:extLst>
              </a:tr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감사내용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감사수행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0730025"/>
                  </a:ext>
                </a:extLst>
              </a:tr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감사내용구분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사전예고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당일점검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2875413"/>
                  </a:ext>
                </a:extLst>
              </a:tr>
            </a:tbl>
          </a:graphicData>
        </a:graphic>
      </p:graphicFrame>
      <p:graphicFrame>
        <p:nvGraphicFramePr>
          <p:cNvPr id="119" name="내용 개체 틀 121"/>
          <p:cNvGraphicFramePr>
            <a:graphicFrameLocks/>
          </p:cNvGraphicFramePr>
          <p:nvPr>
            <p:extLst/>
          </p:nvPr>
        </p:nvGraphicFramePr>
        <p:xfrm>
          <a:off x="178592" y="1389984"/>
          <a:ext cx="6732899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1244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900543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590203">
                  <a:extLst>
                    <a:ext uri="{9D8B030D-6E8A-4147-A177-3AD203B41FA5}">
                      <a16:colId xmlns:a16="http://schemas.microsoft.com/office/drawing/2014/main" val="2228377726"/>
                    </a:ext>
                  </a:extLst>
                </a:gridCol>
                <a:gridCol w="1550303">
                  <a:extLst>
                    <a:ext uri="{9D8B030D-6E8A-4147-A177-3AD203B41FA5}">
                      <a16:colId xmlns:a16="http://schemas.microsoft.com/office/drawing/2014/main" val="3608977674"/>
                    </a:ext>
                  </a:extLst>
                </a:gridCol>
                <a:gridCol w="653165">
                  <a:extLst>
                    <a:ext uri="{9D8B030D-6E8A-4147-A177-3AD203B41FA5}">
                      <a16:colId xmlns:a16="http://schemas.microsoft.com/office/drawing/2014/main" val="208312764"/>
                    </a:ext>
                  </a:extLst>
                </a:gridCol>
                <a:gridCol w="2447441">
                  <a:extLst>
                    <a:ext uri="{9D8B030D-6E8A-4147-A177-3AD203B41FA5}">
                      <a16:colId xmlns:a16="http://schemas.microsoft.com/office/drawing/2014/main" val="190074180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</a:t>
                      </a:r>
                      <a:r>
                        <a:rPr lang="ko-KR" altLang="en-US" sz="700" u="none" strike="noStrike" dirty="0" err="1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감시기준년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2024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감사종류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감사차수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27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grpSp>
        <p:nvGrpSpPr>
          <p:cNvPr id="136" name="그룹 135"/>
          <p:cNvGrpSpPr/>
          <p:nvPr/>
        </p:nvGrpSpPr>
        <p:grpSpPr>
          <a:xfrm>
            <a:off x="791006" y="2094992"/>
            <a:ext cx="718707" cy="180915"/>
            <a:chOff x="791006" y="3345966"/>
            <a:chExt cx="718707" cy="180915"/>
          </a:xfrm>
        </p:grpSpPr>
        <p:sp>
          <p:nvSpPr>
            <p:cNvPr id="137" name="직사각형 136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791006" y="3345966"/>
              <a:ext cx="71870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18000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2024-12-09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138" name="그림 137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327957" y="3351394"/>
              <a:ext cx="181098" cy="173224"/>
            </a:xfrm>
            <a:prstGeom prst="rect">
              <a:avLst/>
            </a:prstGeom>
          </p:spPr>
        </p:pic>
      </p:grpSp>
      <p:cxnSp>
        <p:nvCxnSpPr>
          <p:cNvPr id="139" name="직선 연결선 138"/>
          <p:cNvCxnSpPr/>
          <p:nvPr/>
        </p:nvCxnSpPr>
        <p:spPr bwMode="auto">
          <a:xfrm>
            <a:off x="1517248" y="2185444"/>
            <a:ext cx="54377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grpSp>
        <p:nvGrpSpPr>
          <p:cNvPr id="140" name="그룹 139"/>
          <p:cNvGrpSpPr/>
          <p:nvPr/>
        </p:nvGrpSpPr>
        <p:grpSpPr>
          <a:xfrm>
            <a:off x="1582536" y="2094992"/>
            <a:ext cx="718707" cy="180915"/>
            <a:chOff x="791006" y="3345966"/>
            <a:chExt cx="718707" cy="180915"/>
          </a:xfrm>
        </p:grpSpPr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791006" y="3345966"/>
              <a:ext cx="71870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18000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2024-12-13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142" name="그림 141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327957" y="3351394"/>
              <a:ext cx="181098" cy="173224"/>
            </a:xfrm>
            <a:prstGeom prst="rect">
              <a:avLst/>
            </a:prstGeom>
          </p:spPr>
        </p:pic>
      </p:grpSp>
      <p:grpSp>
        <p:nvGrpSpPr>
          <p:cNvPr id="143" name="그룹 142"/>
          <p:cNvGrpSpPr/>
          <p:nvPr/>
        </p:nvGrpSpPr>
        <p:grpSpPr>
          <a:xfrm>
            <a:off x="2930955" y="2086331"/>
            <a:ext cx="718707" cy="180915"/>
            <a:chOff x="791006" y="3345966"/>
            <a:chExt cx="718707" cy="180915"/>
          </a:xfrm>
        </p:grpSpPr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791006" y="3345966"/>
              <a:ext cx="71870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18000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2023-11-01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145" name="그림 144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327957" y="3351394"/>
              <a:ext cx="181098" cy="173224"/>
            </a:xfrm>
            <a:prstGeom prst="rect">
              <a:avLst/>
            </a:prstGeom>
          </p:spPr>
        </p:pic>
      </p:grpSp>
      <p:cxnSp>
        <p:nvCxnSpPr>
          <p:cNvPr id="146" name="직선 연결선 145"/>
          <p:cNvCxnSpPr/>
          <p:nvPr/>
        </p:nvCxnSpPr>
        <p:spPr bwMode="auto">
          <a:xfrm>
            <a:off x="3657197" y="2176783"/>
            <a:ext cx="54377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grpSp>
        <p:nvGrpSpPr>
          <p:cNvPr id="147" name="그룹 146"/>
          <p:cNvGrpSpPr/>
          <p:nvPr/>
        </p:nvGrpSpPr>
        <p:grpSpPr>
          <a:xfrm>
            <a:off x="3722485" y="2086331"/>
            <a:ext cx="718707" cy="180915"/>
            <a:chOff x="791006" y="3345966"/>
            <a:chExt cx="718707" cy="180915"/>
          </a:xfrm>
        </p:grpSpPr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791006" y="3345966"/>
              <a:ext cx="71870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18000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2024-12-06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149" name="그림 148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327957" y="3351394"/>
              <a:ext cx="181098" cy="173224"/>
            </a:xfrm>
            <a:prstGeom prst="rect">
              <a:avLst/>
            </a:prstGeom>
          </p:spPr>
        </p:pic>
      </p:grpSp>
      <p:grpSp>
        <p:nvGrpSpPr>
          <p:cNvPr id="26" name="그룹 25"/>
          <p:cNvGrpSpPr/>
          <p:nvPr/>
        </p:nvGrpSpPr>
        <p:grpSpPr>
          <a:xfrm>
            <a:off x="5187525" y="1821151"/>
            <a:ext cx="688047" cy="180915"/>
            <a:chOff x="5187525" y="1744951"/>
            <a:chExt cx="688047" cy="180915"/>
          </a:xfrm>
        </p:grpSpPr>
        <p:sp>
          <p:nvSpPr>
            <p:cNvPr id="150" name="직사각형 149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5187525" y="1744951"/>
              <a:ext cx="68804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종합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151" name="이등변 삼각형 150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5766893" y="1825773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grpSp>
        <p:nvGrpSpPr>
          <p:cNvPr id="156" name="그룹 155"/>
          <p:cNvGrpSpPr/>
          <p:nvPr/>
        </p:nvGrpSpPr>
        <p:grpSpPr>
          <a:xfrm>
            <a:off x="797356" y="1813915"/>
            <a:ext cx="1337415" cy="180949"/>
            <a:chOff x="1931145" y="1342640"/>
            <a:chExt cx="1337415" cy="180949"/>
          </a:xfrm>
        </p:grpSpPr>
        <p:sp>
          <p:nvSpPr>
            <p:cNvPr id="157" name="직사각형 156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931145" y="1342640"/>
              <a:ext cx="397573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2334008" y="1342674"/>
              <a:ext cx="934552" cy="18091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       </a:t>
              </a:r>
              <a:endParaRPr kumimoji="0" lang="ko-KR" altLang="en-US" sz="7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159" name="그림 158"/>
            <p:cNvPicPr>
              <a:picLocks noChangeAspect="1"/>
            </p:cNvPicPr>
            <p:nvPr/>
          </p:nvPicPr>
          <p:blipFill rotWithShape="1">
            <a:blip r:embed="rId3"/>
            <a:srcRect r="73540"/>
            <a:stretch/>
          </p:blipFill>
          <p:spPr>
            <a:xfrm>
              <a:off x="2343851" y="1354433"/>
              <a:ext cx="183595" cy="164228"/>
            </a:xfrm>
            <a:prstGeom prst="rect">
              <a:avLst/>
            </a:prstGeom>
          </p:spPr>
        </p:pic>
      </p:grpSp>
      <p:grpSp>
        <p:nvGrpSpPr>
          <p:cNvPr id="160" name="그룹 159"/>
          <p:cNvGrpSpPr/>
          <p:nvPr/>
        </p:nvGrpSpPr>
        <p:grpSpPr>
          <a:xfrm>
            <a:off x="791006" y="2361066"/>
            <a:ext cx="718707" cy="180915"/>
            <a:chOff x="791006" y="3345966"/>
            <a:chExt cx="718707" cy="180915"/>
          </a:xfrm>
        </p:grpSpPr>
        <p:sp>
          <p:nvSpPr>
            <p:cNvPr id="161" name="직사각형 160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791006" y="3345966"/>
              <a:ext cx="71870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18000" rtlCol="0" anchor="ctr" anchorCtr="0"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000" b="0" i="0" u="none" strike="noStrike" kern="1200" cap="none" normalizeH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- -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327957" y="3351394"/>
              <a:ext cx="181098" cy="173224"/>
            </a:xfrm>
            <a:prstGeom prst="rect">
              <a:avLst/>
            </a:prstGeom>
          </p:spPr>
        </p:pic>
      </p:grpSp>
      <p:cxnSp>
        <p:nvCxnSpPr>
          <p:cNvPr id="163" name="직선 연결선 162"/>
          <p:cNvCxnSpPr/>
          <p:nvPr/>
        </p:nvCxnSpPr>
        <p:spPr bwMode="auto">
          <a:xfrm>
            <a:off x="1517248" y="2451518"/>
            <a:ext cx="54377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grpSp>
        <p:nvGrpSpPr>
          <p:cNvPr id="164" name="그룹 163"/>
          <p:cNvGrpSpPr/>
          <p:nvPr/>
        </p:nvGrpSpPr>
        <p:grpSpPr>
          <a:xfrm>
            <a:off x="1582536" y="2361066"/>
            <a:ext cx="718707" cy="180915"/>
            <a:chOff x="791006" y="3345966"/>
            <a:chExt cx="718707" cy="180915"/>
          </a:xfrm>
        </p:grpSpPr>
        <p:sp>
          <p:nvSpPr>
            <p:cNvPr id="165" name="직사각형 164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791006" y="3345966"/>
              <a:ext cx="71870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18000" rtlCol="0" anchor="ctr" anchorCtr="0"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000" b="0" i="0" u="none" strike="noStrike" kern="1200" cap="none" normalizeH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- -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166" name="그림 165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327957" y="3351394"/>
              <a:ext cx="181098" cy="173224"/>
            </a:xfrm>
            <a:prstGeom prst="rect">
              <a:avLst/>
            </a:prstGeom>
          </p:spPr>
        </p:pic>
      </p:grpSp>
      <p:grpSp>
        <p:nvGrpSpPr>
          <p:cNvPr id="167" name="그룹 166"/>
          <p:cNvGrpSpPr/>
          <p:nvPr/>
        </p:nvGrpSpPr>
        <p:grpSpPr>
          <a:xfrm>
            <a:off x="2930297" y="2355258"/>
            <a:ext cx="718707" cy="180915"/>
            <a:chOff x="791006" y="3345966"/>
            <a:chExt cx="718707" cy="180915"/>
          </a:xfrm>
        </p:grpSpPr>
        <p:sp>
          <p:nvSpPr>
            <p:cNvPr id="168" name="직사각형 167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791006" y="3345966"/>
              <a:ext cx="71870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18000" rtlCol="0" anchor="ctr" anchorCtr="0"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000" b="0" i="0" u="none" strike="noStrike" kern="1200" cap="none" normalizeH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- -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169" name="그림 168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327957" y="3351394"/>
              <a:ext cx="181098" cy="173224"/>
            </a:xfrm>
            <a:prstGeom prst="rect">
              <a:avLst/>
            </a:prstGeom>
          </p:spPr>
        </p:pic>
      </p:grpSp>
      <p:cxnSp>
        <p:nvCxnSpPr>
          <p:cNvPr id="170" name="직선 연결선 169"/>
          <p:cNvCxnSpPr/>
          <p:nvPr/>
        </p:nvCxnSpPr>
        <p:spPr bwMode="auto">
          <a:xfrm>
            <a:off x="3656539" y="2445710"/>
            <a:ext cx="54377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grpSp>
        <p:nvGrpSpPr>
          <p:cNvPr id="171" name="그룹 170"/>
          <p:cNvGrpSpPr/>
          <p:nvPr/>
        </p:nvGrpSpPr>
        <p:grpSpPr>
          <a:xfrm>
            <a:off x="3721827" y="2355258"/>
            <a:ext cx="718707" cy="180915"/>
            <a:chOff x="791006" y="3345966"/>
            <a:chExt cx="718707" cy="180915"/>
          </a:xfrm>
        </p:grpSpPr>
        <p:sp>
          <p:nvSpPr>
            <p:cNvPr id="172" name="직사각형 171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791006" y="3345966"/>
              <a:ext cx="71870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18000" rtlCol="0" anchor="ctr" anchorCtr="0"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000" b="0" i="0" u="none" strike="noStrike" kern="1200" cap="none" normalizeH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- -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173" name="그림 172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327957" y="3351394"/>
              <a:ext cx="181098" cy="173224"/>
            </a:xfrm>
            <a:prstGeom prst="rect">
              <a:avLst/>
            </a:prstGeom>
          </p:spPr>
        </p:pic>
      </p:grp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796454" y="2627134"/>
            <a:ext cx="3643422" cy="193927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791006" y="2903561"/>
            <a:ext cx="1533094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normalizeH="0" noProof="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해당무</a:t>
            </a:r>
            <a:endParaRPr kumimoji="0" lang="ko-KR" altLang="en-US" sz="7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78" name="이등변 삼각형 177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2210036" y="2970094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929718" y="2910863"/>
            <a:ext cx="688047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</a:t>
            </a:r>
            <a:endParaRPr kumimoji="0" lang="ko-KR" altLang="en-US" sz="7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82" name="이등변 삼각형 181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3509086" y="2991685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183" name="그룹 182"/>
          <p:cNvGrpSpPr/>
          <p:nvPr/>
        </p:nvGrpSpPr>
        <p:grpSpPr>
          <a:xfrm>
            <a:off x="5187525" y="2644119"/>
            <a:ext cx="688047" cy="180915"/>
            <a:chOff x="5187525" y="1744951"/>
            <a:chExt cx="688047" cy="180915"/>
          </a:xfrm>
        </p:grpSpPr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5187525" y="1744951"/>
              <a:ext cx="68804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현장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185" name="이등변 삼각형 184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5766893" y="1825773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185883" y="2910863"/>
            <a:ext cx="688047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</a:t>
            </a:r>
            <a:endParaRPr kumimoji="0" lang="ko-KR" altLang="en-US" sz="7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88" name="이등변 삼각형 187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5765251" y="2991685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484370" y="3363277"/>
            <a:ext cx="357587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초기화</a:t>
            </a:r>
            <a:endParaRPr kumimoji="0" lang="ko-KR" altLang="en-US" sz="800" b="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233604" y="3363277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>
              <a:alpha val="19000"/>
            </a:srgbClr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수정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37533" y="3363277"/>
            <a:ext cx="360971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normalizeH="0" baseline="0" noProof="0" dirty="0" smtClean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삭제</a:t>
            </a:r>
            <a:endParaRPr kumimoji="0" lang="ko-KR" altLang="en-US" sz="800" b="0" i="0" u="none" strike="noStrike" kern="1200" cap="none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110686" y="3363277"/>
            <a:ext cx="504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대상부점선정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636466" y="3363277"/>
            <a:ext cx="612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감사역추천등록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865261" y="3363277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279192" y="3366188"/>
            <a:ext cx="360000" cy="18309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확정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672660" y="3372051"/>
            <a:ext cx="576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err="1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확정취소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4" name="Freeform 46">
            <a:extLst>
              <a:ext uri="{FF2B5EF4-FFF2-40B4-BE49-F238E27FC236}">
                <a16:creationId xmlns:a16="http://schemas.microsoft.com/office/drawing/2014/main" id="{36BBD547-1346-F115-36F1-EB48123B65CE}"/>
              </a:ext>
            </a:extLst>
          </p:cNvPr>
          <p:cNvSpPr>
            <a:spLocks noEditPoints="1"/>
          </p:cNvSpPr>
          <p:nvPr/>
        </p:nvSpPr>
        <p:spPr bwMode="auto">
          <a:xfrm>
            <a:off x="310222" y="4235284"/>
            <a:ext cx="120301" cy="120558"/>
          </a:xfrm>
          <a:custGeom>
            <a:avLst/>
            <a:gdLst/>
            <a:ahLst/>
            <a:cxnLst>
              <a:cxn ang="0">
                <a:pos x="55" y="44"/>
              </a:cxn>
              <a:cxn ang="0">
                <a:pos x="44" y="55"/>
              </a:cxn>
              <a:cxn ang="0">
                <a:pos x="10" y="55"/>
              </a:cxn>
              <a:cxn ang="0">
                <a:pos x="0" y="44"/>
              </a:cxn>
              <a:cxn ang="0">
                <a:pos x="0" y="10"/>
              </a:cxn>
              <a:cxn ang="0">
                <a:pos x="10" y="0"/>
              </a:cxn>
              <a:cxn ang="0">
                <a:pos x="44" y="0"/>
              </a:cxn>
              <a:cxn ang="0">
                <a:pos x="55" y="10"/>
              </a:cxn>
              <a:cxn ang="0">
                <a:pos x="55" y="44"/>
              </a:cxn>
              <a:cxn ang="0">
                <a:pos x="46" y="20"/>
              </a:cxn>
              <a:cxn ang="0">
                <a:pos x="46" y="17"/>
              </a:cxn>
              <a:cxn ang="0">
                <a:pos x="42" y="13"/>
              </a:cxn>
              <a:cxn ang="0">
                <a:pos x="39" y="13"/>
              </a:cxn>
              <a:cxn ang="0">
                <a:pos x="23" y="30"/>
              </a:cxn>
              <a:cxn ang="0">
                <a:pos x="15" y="22"/>
              </a:cxn>
              <a:cxn ang="0">
                <a:pos x="12" y="22"/>
              </a:cxn>
              <a:cxn ang="0">
                <a:pos x="8" y="26"/>
              </a:cxn>
              <a:cxn ang="0">
                <a:pos x="8" y="29"/>
              </a:cxn>
              <a:cxn ang="0">
                <a:pos x="21" y="42"/>
              </a:cxn>
              <a:cxn ang="0">
                <a:pos x="24" y="42"/>
              </a:cxn>
              <a:cxn ang="0">
                <a:pos x="46" y="20"/>
              </a:cxn>
            </a:cxnLst>
            <a:rect l="0" t="0" r="r" b="b"/>
            <a:pathLst>
              <a:path w="55" h="55">
                <a:moveTo>
                  <a:pt x="55" y="44"/>
                </a:moveTo>
                <a:cubicBezTo>
                  <a:pt x="55" y="50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0"/>
                </a:cubicBezTo>
                <a:lnTo>
                  <a:pt x="55" y="44"/>
                </a:lnTo>
                <a:close/>
                <a:moveTo>
                  <a:pt x="46" y="20"/>
                </a:moveTo>
                <a:cubicBezTo>
                  <a:pt x="47" y="19"/>
                  <a:pt x="47" y="17"/>
                  <a:pt x="46" y="17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2"/>
                  <a:pt x="40" y="12"/>
                  <a:pt x="39" y="13"/>
                </a:cubicBezTo>
                <a:cubicBezTo>
                  <a:pt x="23" y="30"/>
                  <a:pt x="23" y="30"/>
                  <a:pt x="23" y="30"/>
                </a:cubicBezTo>
                <a:cubicBezTo>
                  <a:pt x="15" y="22"/>
                  <a:pt x="15" y="22"/>
                  <a:pt x="15" y="22"/>
                </a:cubicBezTo>
                <a:cubicBezTo>
                  <a:pt x="14" y="21"/>
                  <a:pt x="13" y="21"/>
                  <a:pt x="12" y="22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7"/>
                  <a:pt x="7" y="28"/>
                  <a:pt x="8" y="29"/>
                </a:cubicBezTo>
                <a:cubicBezTo>
                  <a:pt x="21" y="42"/>
                  <a:pt x="21" y="42"/>
                  <a:pt x="21" y="42"/>
                </a:cubicBezTo>
                <a:cubicBezTo>
                  <a:pt x="22" y="43"/>
                  <a:pt x="23" y="43"/>
                  <a:pt x="24" y="42"/>
                </a:cubicBezTo>
                <a:lnTo>
                  <a:pt x="46" y="20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100687" tIns="50343" rIns="100687" bIns="50343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135923" rtl="0" eaLnBrk="0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202" b="0" i="0" u="none" strike="noStrike" kern="0" cap="none" spc="0" normalizeH="0" baseline="0" noProof="0">
              <a:ln>
                <a:solidFill>
                  <a:srgbClr val="F9A84A"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13832" y="3690178"/>
            <a:ext cx="108000" cy="10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10222" y="3963057"/>
            <a:ext cx="108000" cy="10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10222" y="4525292"/>
            <a:ext cx="108000" cy="10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98" name="직사각형 97"/>
          <p:cNvSpPr/>
          <p:nvPr/>
        </p:nvSpPr>
        <p:spPr bwMode="auto">
          <a:xfrm>
            <a:off x="291028" y="3686087"/>
            <a:ext cx="164434" cy="1046019"/>
          </a:xfrm>
          <a:prstGeom prst="rect">
            <a:avLst/>
          </a:prstGeom>
          <a:noFill/>
          <a:ln w="15875">
            <a:solidFill>
              <a:schemeClr val="accent1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9" name="타원 9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643346" y="3227221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7783084" y="1445052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3" name="타원 10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373198" y="3227221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6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4" name="타원 10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865670" y="3227221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7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110" name="구부러진 연결선 109"/>
          <p:cNvCxnSpPr>
            <a:endCxn id="96" idx="2"/>
          </p:cNvCxnSpPr>
          <p:nvPr/>
        </p:nvCxnSpPr>
        <p:spPr bwMode="auto">
          <a:xfrm flipV="1">
            <a:off x="455462" y="3549278"/>
            <a:ext cx="4003730" cy="659819"/>
          </a:xfrm>
          <a:prstGeom prst="curvedConnector2">
            <a:avLst/>
          </a:prstGeom>
          <a:solidFill>
            <a:schemeClr val="accent1"/>
          </a:solidFill>
          <a:ln w="12700" cap="flat" cmpd="sng" algn="ctr">
            <a:solidFill>
              <a:schemeClr val="accent1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114" name="TextBox 113"/>
          <p:cNvSpPr txBox="1"/>
          <p:nvPr/>
        </p:nvSpPr>
        <p:spPr>
          <a:xfrm>
            <a:off x="1400029" y="3963057"/>
            <a:ext cx="456069" cy="230832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txBody>
          <a:bodyPr wrap="square" rtlCol="0">
            <a:spAutoFit/>
          </a:bodyPr>
          <a:lstStyle/>
          <a:p>
            <a:r>
              <a:rPr lang="ko-KR" altLang="en-US" sz="900" dirty="0" smtClean="0">
                <a:solidFill>
                  <a:schemeClr val="accent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선택</a:t>
            </a:r>
          </a:p>
        </p:txBody>
      </p:sp>
      <p:cxnSp>
        <p:nvCxnSpPr>
          <p:cNvPr id="115" name="구부러진 연결선 114"/>
          <p:cNvCxnSpPr>
            <a:stCxn id="98" idx="3"/>
            <a:endCxn id="97" idx="2"/>
          </p:cNvCxnSpPr>
          <p:nvPr/>
        </p:nvCxnSpPr>
        <p:spPr bwMode="auto">
          <a:xfrm flipV="1">
            <a:off x="455462" y="3552051"/>
            <a:ext cx="4505198" cy="657046"/>
          </a:xfrm>
          <a:prstGeom prst="curvedConnector2">
            <a:avLst/>
          </a:prstGeom>
          <a:solidFill>
            <a:schemeClr val="accent1"/>
          </a:solidFill>
          <a:ln w="12700" cap="flat" cmpd="sng" algn="ctr">
            <a:solidFill>
              <a:schemeClr val="accent1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116" name="직사각형 115"/>
          <p:cNvSpPr/>
          <p:nvPr/>
        </p:nvSpPr>
        <p:spPr bwMode="auto">
          <a:xfrm>
            <a:off x="6646946" y="3840289"/>
            <a:ext cx="330372" cy="883979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7" name="TextBox 116"/>
          <p:cNvSpPr txBox="1"/>
          <p:nvPr/>
        </p:nvSpPr>
        <p:spPr>
          <a:xfrm>
            <a:off x="4812548" y="4754943"/>
            <a:ext cx="551708" cy="215444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txBody>
          <a:bodyPr wrap="square" rtlCol="0">
            <a:spAutoFit/>
          </a:bodyPr>
          <a:lstStyle/>
          <a:p>
            <a:r>
              <a:rPr lang="ko-KR" altLang="en-US" sz="800" dirty="0" err="1" smtClean="0">
                <a:solidFill>
                  <a:schemeClr val="accent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신규컬럼</a:t>
            </a:r>
            <a:endParaRPr lang="ko-KR" altLang="en-US" sz="800" dirty="0" smtClean="0">
              <a:solidFill>
                <a:schemeClr val="accent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120" name="내용 개체 틀 121"/>
          <p:cNvGraphicFramePr>
            <a:graphicFrameLocks/>
          </p:cNvGraphicFramePr>
          <p:nvPr>
            <p:extLst/>
          </p:nvPr>
        </p:nvGraphicFramePr>
        <p:xfrm>
          <a:off x="281897" y="5445067"/>
          <a:ext cx="2461304" cy="5442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61304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테마감사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 </a:t>
                      </a:r>
                      <a:r>
                        <a:rPr lang="en-US" altLang="ko-KR" sz="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심의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조사 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특별감사 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5143367"/>
                  </a:ext>
                </a:extLst>
              </a:tr>
            </a:tbl>
          </a:graphicData>
        </a:graphic>
      </p:graphicFrame>
      <p:sp>
        <p:nvSpPr>
          <p:cNvPr id="121" name="타원 12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10222" y="5290161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8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1" name="TextBox 90"/>
          <p:cNvSpPr txBox="1"/>
          <p:nvPr/>
        </p:nvSpPr>
        <p:spPr>
          <a:xfrm>
            <a:off x="6426829" y="4754943"/>
            <a:ext cx="551708" cy="215444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txBody>
          <a:bodyPr wrap="square" rtlCol="0">
            <a:spAutoFit/>
          </a:bodyPr>
          <a:lstStyle/>
          <a:p>
            <a:r>
              <a:rPr lang="ko-KR" altLang="en-US" sz="800" dirty="0" err="1" smtClean="0">
                <a:solidFill>
                  <a:schemeClr val="accent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신규컬럼</a:t>
            </a:r>
            <a:endParaRPr lang="ko-KR" altLang="en-US" sz="800" dirty="0" smtClean="0">
              <a:solidFill>
                <a:schemeClr val="accent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111434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3" name="표 92"/>
          <p:cNvGraphicFramePr>
            <a:graphicFrameLocks noGrp="1"/>
          </p:cNvGraphicFramePr>
          <p:nvPr>
            <p:extLst/>
          </p:nvPr>
        </p:nvGraphicFramePr>
        <p:xfrm>
          <a:off x="172168" y="3392962"/>
          <a:ext cx="6762603" cy="108569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5475">
                  <a:extLst>
                    <a:ext uri="{9D8B030D-6E8A-4147-A177-3AD203B41FA5}">
                      <a16:colId xmlns:a16="http://schemas.microsoft.com/office/drawing/2014/main" val="3641493654"/>
                    </a:ext>
                  </a:extLst>
                </a:gridCol>
                <a:gridCol w="499445">
                  <a:extLst>
                    <a:ext uri="{9D8B030D-6E8A-4147-A177-3AD203B41FA5}">
                      <a16:colId xmlns:a16="http://schemas.microsoft.com/office/drawing/2014/main" val="1251415092"/>
                    </a:ext>
                  </a:extLst>
                </a:gridCol>
                <a:gridCol w="630252">
                  <a:extLst>
                    <a:ext uri="{9D8B030D-6E8A-4147-A177-3AD203B41FA5}">
                      <a16:colId xmlns:a16="http://schemas.microsoft.com/office/drawing/2014/main" val="3328877934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1342206199"/>
                    </a:ext>
                  </a:extLst>
                </a:gridCol>
                <a:gridCol w="594360">
                  <a:extLst>
                    <a:ext uri="{9D8B030D-6E8A-4147-A177-3AD203B41FA5}">
                      <a16:colId xmlns:a16="http://schemas.microsoft.com/office/drawing/2014/main" val="2557239201"/>
                    </a:ext>
                  </a:extLst>
                </a:gridCol>
                <a:gridCol w="464820">
                  <a:extLst>
                    <a:ext uri="{9D8B030D-6E8A-4147-A177-3AD203B41FA5}">
                      <a16:colId xmlns:a16="http://schemas.microsoft.com/office/drawing/2014/main" val="2614998680"/>
                    </a:ext>
                  </a:extLst>
                </a:gridCol>
                <a:gridCol w="503672">
                  <a:extLst>
                    <a:ext uri="{9D8B030D-6E8A-4147-A177-3AD203B41FA5}">
                      <a16:colId xmlns:a16="http://schemas.microsoft.com/office/drawing/2014/main" val="2194819789"/>
                    </a:ext>
                  </a:extLst>
                </a:gridCol>
                <a:gridCol w="601921">
                  <a:extLst>
                    <a:ext uri="{9D8B030D-6E8A-4147-A177-3AD203B41FA5}">
                      <a16:colId xmlns:a16="http://schemas.microsoft.com/office/drawing/2014/main" val="4230838701"/>
                    </a:ext>
                  </a:extLst>
                </a:gridCol>
                <a:gridCol w="266007">
                  <a:extLst>
                    <a:ext uri="{9D8B030D-6E8A-4147-A177-3AD203B41FA5}">
                      <a16:colId xmlns:a16="http://schemas.microsoft.com/office/drawing/2014/main" val="899243545"/>
                    </a:ext>
                  </a:extLst>
                </a:gridCol>
                <a:gridCol w="365760">
                  <a:extLst>
                    <a:ext uri="{9D8B030D-6E8A-4147-A177-3AD203B41FA5}">
                      <a16:colId xmlns:a16="http://schemas.microsoft.com/office/drawing/2014/main" val="4168632081"/>
                    </a:ext>
                  </a:extLst>
                </a:gridCol>
                <a:gridCol w="365760">
                  <a:extLst>
                    <a:ext uri="{9D8B030D-6E8A-4147-A177-3AD203B41FA5}">
                      <a16:colId xmlns:a16="http://schemas.microsoft.com/office/drawing/2014/main" val="294473804"/>
                    </a:ext>
                  </a:extLst>
                </a:gridCol>
                <a:gridCol w="423949">
                  <a:extLst>
                    <a:ext uri="{9D8B030D-6E8A-4147-A177-3AD203B41FA5}">
                      <a16:colId xmlns:a16="http://schemas.microsoft.com/office/drawing/2014/main" val="2088889323"/>
                    </a:ext>
                  </a:extLst>
                </a:gridCol>
                <a:gridCol w="540327">
                  <a:extLst>
                    <a:ext uri="{9D8B030D-6E8A-4147-A177-3AD203B41FA5}">
                      <a16:colId xmlns:a16="http://schemas.microsoft.com/office/drawing/2014/main" val="456799420"/>
                    </a:ext>
                  </a:extLst>
                </a:gridCol>
                <a:gridCol w="548764">
                  <a:extLst>
                    <a:ext uri="{9D8B030D-6E8A-4147-A177-3AD203B41FA5}">
                      <a16:colId xmlns:a16="http://schemas.microsoft.com/office/drawing/2014/main" val="1736729114"/>
                    </a:ext>
                  </a:extLst>
                </a:gridCol>
                <a:gridCol w="301091">
                  <a:extLst>
                    <a:ext uri="{9D8B030D-6E8A-4147-A177-3AD203B41FA5}">
                      <a16:colId xmlns:a16="http://schemas.microsoft.com/office/drawing/2014/main" val="3568075189"/>
                    </a:ext>
                  </a:extLst>
                </a:gridCol>
              </a:tblGrid>
              <a:tr h="119749">
                <a:tc gridSpan="7"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위험평가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(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월별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위험평가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3611104"/>
                  </a:ext>
                </a:extLst>
              </a:tr>
              <a:tr h="218918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총계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 smtClean="0"/>
                        <a:t>전체</a:t>
                      </a:r>
                      <a:endParaRPr lang="en-US" altLang="ko-KR" sz="700" b="1" dirty="0" smtClean="0"/>
                    </a:p>
                    <a:p>
                      <a:pPr algn="ctr" latinLnBrk="1"/>
                      <a:r>
                        <a:rPr lang="ko-KR" altLang="en-US" sz="700" b="1" dirty="0" smtClean="0"/>
                        <a:t>순위</a:t>
                      </a:r>
                      <a:endParaRPr lang="ko-KR" altLang="en-US" sz="700" b="1" dirty="0"/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지역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PG</a:t>
                      </a: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운영모델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수준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예정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감사구분</a:t>
                      </a:r>
                      <a:endParaRPr lang="ko-KR" altLang="en-US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위험부점</a:t>
                      </a:r>
                      <a:endParaRPr lang="en-US" altLang="ko-KR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여부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평가</a:t>
                      </a:r>
                      <a:endParaRPr lang="en-US" altLang="ko-KR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점수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위험구분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</a:t>
                      </a: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차수</a:t>
                      </a:r>
                      <a:endParaRPr lang="ko-KR" altLang="en-US" sz="700" dirty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구분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실시시간</a:t>
                      </a:r>
                      <a:endParaRPr lang="ko-KR" altLang="en-US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1927622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4.194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고위험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종합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N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144.59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고위험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종합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2024.01.22~01.25</a:t>
                      </a:r>
                      <a:endParaRPr lang="ko-KR" altLang="en-US" sz="7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826935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15.21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저위험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여신부문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N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75.36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168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중위험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fontAlgn="ctr">
                        <a:buNone/>
                      </a:pPr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5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내부통제부문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2024.04.22~04.25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5422849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13.84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중위험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여신부문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sng" strike="noStrike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Y</a:t>
                      </a:r>
                      <a:endParaRPr lang="ko-KR" altLang="en-US" sz="700" b="1" i="0" u="sng" strike="noStrike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159.23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8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고위험</a:t>
                      </a:r>
                      <a:endParaRPr lang="en-US" altLang="ko-KR" sz="700" b="0" i="0" u="none" strike="noStrike" dirty="0" smtClean="0">
                        <a:solidFill>
                          <a:srgbClr val="FF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(Alert)</a:t>
                      </a:r>
                      <a:endParaRPr lang="ko-KR" altLang="en-US" sz="700" b="0" i="0" u="none" strike="noStrike" dirty="0">
                        <a:solidFill>
                          <a:srgbClr val="FF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fontAlgn="ctr">
                        <a:buNone/>
                      </a:pPr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종합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2024.03.25~03.27</a:t>
                      </a:r>
                      <a:endParaRPr lang="ko-KR" altLang="en-US" sz="70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3961093"/>
                  </a:ext>
                </a:extLst>
              </a:tr>
            </a:tbl>
          </a:graphicData>
        </a:graphic>
      </p:graphicFrame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5931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362049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화면의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대상부점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선정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클릭시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오픈 되는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팝업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화면에서 전달받은 정보로서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저장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버튼으로 저장 시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사용되는 필수 값 이며</a:t>
                      </a: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버튼으로 감사부점목록을 조회 시에는 사용하지 않는 정보이다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35252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조회조건으로서 </a:t>
                      </a:r>
                      <a:r>
                        <a:rPr lang="en-US" altLang="ko-KR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</a:t>
                      </a:r>
                      <a:r>
                        <a:rPr lang="en-US" altLang="ko-KR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또는 </a:t>
                      </a:r>
                      <a:r>
                        <a:rPr lang="en-US" altLang="ko-KR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지역그룹</a:t>
                      </a:r>
                      <a:r>
                        <a:rPr lang="en-US" altLang="ko-KR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을</a:t>
                      </a:r>
                      <a:r>
                        <a:rPr lang="ko-KR" altLang="en-US" sz="8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r>
                        <a:rPr lang="ko-KR" altLang="en-US" sz="8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 이상 </a:t>
                      </a:r>
                      <a:r>
                        <a:rPr lang="en-US" altLang="ko-KR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다수 </a:t>
                      </a:r>
                      <a:r>
                        <a:rPr lang="ko-KR" altLang="en-US" sz="8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선택하여 </a:t>
                      </a:r>
                      <a:r>
                        <a:rPr lang="ko-KR" altLang="en-US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 할 수 있다</a:t>
                      </a:r>
                      <a:r>
                        <a:rPr lang="en-US" altLang="ko-KR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7264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조회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버튼을 클릭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하면</a:t>
                      </a:r>
                      <a:r>
                        <a:rPr lang="ko-KR" altLang="en-US" sz="12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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 조건에 맞는 대상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부점이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 위험평가 순위별로 나타나며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부점별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AI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위험평가 내역과 최근 감사 실시한 정보가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b="1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영업점별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위험항목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수치를 입력 하였다면 해당 내역도 조회 결과에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kumimoji="0" lang="ko-KR" altLang="en-US" sz="800" b="1" kern="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★</a:t>
                      </a:r>
                      <a:r>
                        <a:rPr lang="en-US" altLang="ko-KR" sz="800" b="1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1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조회시</a:t>
                      </a:r>
                      <a:r>
                        <a:rPr lang="ko-KR" altLang="en-US" sz="800" b="1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정렬 우선순위 적용할 컬럼 정보 정의 필요</a:t>
                      </a:r>
                      <a:endParaRPr lang="ko-KR" altLang="en-US" sz="800" b="1" dirty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2041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저장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 조회결과 목록에서  체크박스를 통해 선택한 감사부점목록을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저장하고  팝업 화면이 자동으로 닫힌다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저장 시  현재 팝업 오픈 시에 전달받은 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[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화면의 상세정보란에 기본으로 세팅 되어 있는 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감사구분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실시기간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대상기간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서면감사기간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현장감시기간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감사수행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]….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등등의 정보가 </a:t>
                      </a: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목록에 동일한 값으로 같이 저장된다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저장이 완료되면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화면의 그리드가 자동 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재조회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되어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현재팝업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화면에서 저장하여 갱신된 정보를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보여준다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39454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감사부점을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등록하기 위해서 체크박스 </a:t>
                      </a:r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체크시에</a:t>
                      </a:r>
                      <a:endParaRPr lang="en-US" altLang="ko-KR" sz="8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감사계획등록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화면에서 </a:t>
                      </a:r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기등록되어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있는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800" b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감사부점은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“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이미 등록된 </a:t>
                      </a:r>
                      <a:r>
                        <a:rPr lang="ko-KR" altLang="en-US" sz="800" b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감사부점입니다</a:t>
                      </a:r>
                      <a:r>
                        <a:rPr lang="en-US" altLang="ko-KR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“ 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알림창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을 보여준 후 체크가 해제된다</a:t>
                      </a:r>
                      <a:r>
                        <a:rPr lang="en-US" altLang="ko-KR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RAS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위험수준 평가결과의 최근 적용 항목을 동일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부점별로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항목 추가하여 보여준다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위험부점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여부 항목을 클릭 하면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위험평가 결과의 세부 지표를 확인 할 수 있는 팝업 창이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통합상시감사시스템과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위험평가결과 내역과 연계가 가능할 경우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05926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위험평가결과의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세부지표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상세내역을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볼수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있는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팝업화면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통합상시감사시스템과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위험평가결과 내역과 연계가 가능할 경우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93780804"/>
                  </a:ext>
                </a:extLst>
              </a:tr>
            </a:tbl>
          </a:graphicData>
        </a:graphic>
      </p:graphicFrame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MDD-00012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MDD75G62001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 대상부점선정 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(1/2)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등록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(P50: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유성용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4" name="내용 개체 틀 121"/>
          <p:cNvGraphicFramePr>
            <a:graphicFrameLocks/>
          </p:cNvGraphicFramePr>
          <p:nvPr>
            <p:extLst/>
          </p:nvPr>
        </p:nvGraphicFramePr>
        <p:xfrm>
          <a:off x="208375" y="1169818"/>
          <a:ext cx="6726397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1725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810260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463550">
                  <a:extLst>
                    <a:ext uri="{9D8B030D-6E8A-4147-A177-3AD203B41FA5}">
                      <a16:colId xmlns:a16="http://schemas.microsoft.com/office/drawing/2014/main" val="3183548289"/>
                    </a:ext>
                  </a:extLst>
                </a:gridCol>
                <a:gridCol w="4860862">
                  <a:extLst>
                    <a:ext uri="{9D8B030D-6E8A-4147-A177-3AD203B41FA5}">
                      <a16:colId xmlns:a16="http://schemas.microsoft.com/office/drawing/2014/main" val="2589290911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err="1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감사기준년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 2024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감사차수</a:t>
                      </a:r>
                      <a:endParaRPr lang="ko-KR" altLang="en-US" sz="900" b="0" i="0" u="none" strike="noStrike" kern="1200" dirty="0" smtClean="0">
                        <a:solidFill>
                          <a:schemeClr val="dk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  17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3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07335" y="1220311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조회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44" name="그룹 43"/>
          <p:cNvGrpSpPr/>
          <p:nvPr/>
        </p:nvGrpSpPr>
        <p:grpSpPr>
          <a:xfrm>
            <a:off x="1224121" y="1485779"/>
            <a:ext cx="557839" cy="230832"/>
            <a:chOff x="1463113" y="2946569"/>
            <a:chExt cx="557839" cy="230832"/>
          </a:xfrm>
        </p:grpSpPr>
        <p:sp>
          <p:nvSpPr>
            <p:cNvPr id="45" name="Freeform 46">
              <a:extLst>
                <a:ext uri="{FF2B5EF4-FFF2-40B4-BE49-F238E27FC236}">
                  <a16:creationId xmlns:a16="http://schemas.microsoft.com/office/drawing/2014/main" id="{36BBD547-1346-F115-36F1-EB48123B65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3113" y="2996510"/>
              <a:ext cx="120301" cy="120558"/>
            </a:xfrm>
            <a:custGeom>
              <a:avLst/>
              <a:gdLst/>
              <a:ahLst/>
              <a:cxnLst>
                <a:cxn ang="0">
                  <a:pos x="55" y="44"/>
                </a:cxn>
                <a:cxn ang="0">
                  <a:pos x="44" y="55"/>
                </a:cxn>
                <a:cxn ang="0">
                  <a:pos x="10" y="55"/>
                </a:cxn>
                <a:cxn ang="0">
                  <a:pos x="0" y="44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4"/>
                </a:cxn>
                <a:cxn ang="0">
                  <a:pos x="46" y="20"/>
                </a:cxn>
                <a:cxn ang="0">
                  <a:pos x="46" y="17"/>
                </a:cxn>
                <a:cxn ang="0">
                  <a:pos x="42" y="13"/>
                </a:cxn>
                <a:cxn ang="0">
                  <a:pos x="39" y="13"/>
                </a:cxn>
                <a:cxn ang="0">
                  <a:pos x="23" y="30"/>
                </a:cxn>
                <a:cxn ang="0">
                  <a:pos x="15" y="22"/>
                </a:cxn>
                <a:cxn ang="0">
                  <a:pos x="12" y="22"/>
                </a:cxn>
                <a:cxn ang="0">
                  <a:pos x="8" y="26"/>
                </a:cxn>
                <a:cxn ang="0">
                  <a:pos x="8" y="29"/>
                </a:cxn>
                <a:cxn ang="0">
                  <a:pos x="21" y="42"/>
                </a:cxn>
                <a:cxn ang="0">
                  <a:pos x="24" y="42"/>
                </a:cxn>
                <a:cxn ang="0">
                  <a:pos x="46" y="20"/>
                </a:cxn>
              </a:cxnLst>
              <a:rect l="0" t="0" r="r" b="b"/>
              <a:pathLst>
                <a:path w="55" h="55">
                  <a:moveTo>
                    <a:pt x="55" y="44"/>
                  </a:moveTo>
                  <a:cubicBezTo>
                    <a:pt x="55" y="50"/>
                    <a:pt x="50" y="55"/>
                    <a:pt x="44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lnTo>
                    <a:pt x="55" y="44"/>
                  </a:lnTo>
                  <a:close/>
                  <a:moveTo>
                    <a:pt x="46" y="20"/>
                  </a:moveTo>
                  <a:cubicBezTo>
                    <a:pt x="47" y="19"/>
                    <a:pt x="47" y="17"/>
                    <a:pt x="46" y="17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2" y="12"/>
                    <a:pt x="40" y="12"/>
                    <a:pt x="39" y="13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7"/>
                    <a:pt x="7" y="28"/>
                    <a:pt x="8" y="29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2" y="43"/>
                    <a:pt x="23" y="43"/>
                    <a:pt x="24" y="42"/>
                  </a:cubicBezTo>
                  <a:lnTo>
                    <a:pt x="46" y="2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100687" tIns="50343" rIns="100687" bIns="50343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135923" rtl="0" eaLnBrk="0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202" b="0" i="0" u="none" strike="noStrike" kern="0" cap="none" spc="0" normalizeH="0" baseline="0" noProof="0">
                <a:ln>
                  <a:solidFill>
                    <a:srgbClr val="F9A84A"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1533272" y="2946569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전체</a:t>
              </a:r>
            </a:p>
          </p:txBody>
        </p:sp>
      </p:grpSp>
      <p:grpSp>
        <p:nvGrpSpPr>
          <p:cNvPr id="47" name="그룹 46"/>
          <p:cNvGrpSpPr/>
          <p:nvPr/>
        </p:nvGrpSpPr>
        <p:grpSpPr>
          <a:xfrm>
            <a:off x="3059470" y="1673934"/>
            <a:ext cx="557839" cy="230832"/>
            <a:chOff x="1463113" y="3140047"/>
            <a:chExt cx="557839" cy="230832"/>
          </a:xfrm>
        </p:grpSpPr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충청</a:t>
              </a:r>
            </a:p>
          </p:txBody>
        </p:sp>
      </p:grpSp>
      <p:grpSp>
        <p:nvGrpSpPr>
          <p:cNvPr id="50" name="그룹 49"/>
          <p:cNvGrpSpPr/>
          <p:nvPr/>
        </p:nvGrpSpPr>
        <p:grpSpPr>
          <a:xfrm>
            <a:off x="3541678" y="1673934"/>
            <a:ext cx="557839" cy="230832"/>
            <a:chOff x="1463113" y="3140047"/>
            <a:chExt cx="557839" cy="230832"/>
          </a:xfrm>
        </p:grpSpPr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호남</a:t>
              </a:r>
            </a:p>
          </p:txBody>
        </p:sp>
      </p:grpSp>
      <p:grpSp>
        <p:nvGrpSpPr>
          <p:cNvPr id="53" name="그룹 52"/>
          <p:cNvGrpSpPr/>
          <p:nvPr/>
        </p:nvGrpSpPr>
        <p:grpSpPr>
          <a:xfrm>
            <a:off x="1705881" y="1485779"/>
            <a:ext cx="951089" cy="230832"/>
            <a:chOff x="1463113" y="3140047"/>
            <a:chExt cx="951089" cy="230832"/>
          </a:xfrm>
        </p:grpSpPr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1533272" y="3140047"/>
              <a:ext cx="88093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CIB</a:t>
              </a:r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영업추진부</a:t>
              </a:r>
            </a:p>
          </p:txBody>
        </p:sp>
      </p:grpSp>
      <p:grpSp>
        <p:nvGrpSpPr>
          <p:cNvPr id="56" name="그룹 55"/>
          <p:cNvGrpSpPr/>
          <p:nvPr/>
        </p:nvGrpSpPr>
        <p:grpSpPr>
          <a:xfrm>
            <a:off x="2580891" y="1485779"/>
            <a:ext cx="557839" cy="230832"/>
            <a:chOff x="1463113" y="3140047"/>
            <a:chExt cx="557839" cy="230832"/>
          </a:xfrm>
        </p:grpSpPr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58" name="TextBox 57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강남</a:t>
              </a:r>
            </a:p>
          </p:txBody>
        </p:sp>
      </p:grpSp>
      <p:grpSp>
        <p:nvGrpSpPr>
          <p:cNvPr id="59" name="그룹 58"/>
          <p:cNvGrpSpPr/>
          <p:nvPr/>
        </p:nvGrpSpPr>
        <p:grpSpPr>
          <a:xfrm>
            <a:off x="3062651" y="1485779"/>
            <a:ext cx="557839" cy="230832"/>
            <a:chOff x="1463113" y="3140047"/>
            <a:chExt cx="557839" cy="230832"/>
          </a:xfrm>
        </p:grpSpPr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강서</a:t>
              </a:r>
            </a:p>
          </p:txBody>
        </p:sp>
      </p:grpSp>
      <p:grpSp>
        <p:nvGrpSpPr>
          <p:cNvPr id="62" name="그룹 61"/>
          <p:cNvGrpSpPr/>
          <p:nvPr/>
        </p:nvGrpSpPr>
        <p:grpSpPr>
          <a:xfrm>
            <a:off x="3544411" y="1485779"/>
            <a:ext cx="557839" cy="230832"/>
            <a:chOff x="1463113" y="3140047"/>
            <a:chExt cx="557839" cy="230832"/>
          </a:xfrm>
        </p:grpSpPr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경기</a:t>
              </a:r>
            </a:p>
          </p:txBody>
        </p:sp>
      </p:grpSp>
      <p:grpSp>
        <p:nvGrpSpPr>
          <p:cNvPr id="65" name="그룹 64"/>
          <p:cNvGrpSpPr/>
          <p:nvPr/>
        </p:nvGrpSpPr>
        <p:grpSpPr>
          <a:xfrm>
            <a:off x="4026171" y="1485779"/>
            <a:ext cx="557839" cy="230832"/>
            <a:chOff x="1463113" y="3140047"/>
            <a:chExt cx="557839" cy="230832"/>
          </a:xfrm>
        </p:grpSpPr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경인</a:t>
              </a:r>
            </a:p>
          </p:txBody>
        </p:sp>
      </p:grpSp>
      <p:grpSp>
        <p:nvGrpSpPr>
          <p:cNvPr id="68" name="그룹 67"/>
          <p:cNvGrpSpPr/>
          <p:nvPr/>
        </p:nvGrpSpPr>
        <p:grpSpPr>
          <a:xfrm>
            <a:off x="4507931" y="1485779"/>
            <a:ext cx="557839" cy="230832"/>
            <a:chOff x="1463113" y="3140047"/>
            <a:chExt cx="557839" cy="230832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70" name="TextBox 69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남부</a:t>
              </a:r>
            </a:p>
          </p:txBody>
        </p:sp>
      </p:grpSp>
      <p:grpSp>
        <p:nvGrpSpPr>
          <p:cNvPr id="71" name="그룹 70"/>
          <p:cNvGrpSpPr/>
          <p:nvPr/>
        </p:nvGrpSpPr>
        <p:grpSpPr>
          <a:xfrm>
            <a:off x="4989691" y="1485779"/>
            <a:ext cx="726683" cy="230832"/>
            <a:chOff x="1463113" y="3140047"/>
            <a:chExt cx="726683" cy="230832"/>
          </a:xfrm>
        </p:grpSpPr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1533271" y="3140047"/>
              <a:ext cx="6565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대구경북</a:t>
              </a:r>
            </a:p>
          </p:txBody>
        </p:sp>
      </p:grpSp>
      <p:grpSp>
        <p:nvGrpSpPr>
          <p:cNvPr id="74" name="그룹 73"/>
          <p:cNvGrpSpPr/>
          <p:nvPr/>
        </p:nvGrpSpPr>
        <p:grpSpPr>
          <a:xfrm>
            <a:off x="5640295" y="1485779"/>
            <a:ext cx="557839" cy="230832"/>
            <a:chOff x="1463113" y="3140047"/>
            <a:chExt cx="557839" cy="230832"/>
          </a:xfrm>
        </p:grpSpPr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76" name="TextBox 75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동부</a:t>
              </a:r>
            </a:p>
          </p:txBody>
        </p:sp>
      </p:grpSp>
      <p:grpSp>
        <p:nvGrpSpPr>
          <p:cNvPr id="77" name="그룹 76"/>
          <p:cNvGrpSpPr/>
          <p:nvPr/>
        </p:nvGrpSpPr>
        <p:grpSpPr>
          <a:xfrm>
            <a:off x="6122057" y="1485779"/>
            <a:ext cx="909563" cy="230832"/>
            <a:chOff x="1463113" y="3140047"/>
            <a:chExt cx="909563" cy="230832"/>
          </a:xfrm>
        </p:grpSpPr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79" name="TextBox 78"/>
            <p:cNvSpPr txBox="1"/>
            <p:nvPr/>
          </p:nvSpPr>
          <p:spPr>
            <a:xfrm>
              <a:off x="1533271" y="3140047"/>
              <a:ext cx="83940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부산울산경남</a:t>
              </a:r>
            </a:p>
          </p:txBody>
        </p:sp>
      </p:grpSp>
      <p:grpSp>
        <p:nvGrpSpPr>
          <p:cNvPr id="80" name="그룹 79"/>
          <p:cNvGrpSpPr/>
          <p:nvPr/>
        </p:nvGrpSpPr>
        <p:grpSpPr>
          <a:xfrm>
            <a:off x="1222081" y="1673934"/>
            <a:ext cx="557839" cy="230832"/>
            <a:chOff x="1463113" y="3140047"/>
            <a:chExt cx="557839" cy="230832"/>
          </a:xfrm>
        </p:grpSpPr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북부</a:t>
              </a:r>
            </a:p>
          </p:txBody>
        </p:sp>
      </p:grpSp>
      <p:grpSp>
        <p:nvGrpSpPr>
          <p:cNvPr id="83" name="그룹 82"/>
          <p:cNvGrpSpPr/>
          <p:nvPr/>
        </p:nvGrpSpPr>
        <p:grpSpPr>
          <a:xfrm>
            <a:off x="1704289" y="1673934"/>
            <a:ext cx="557839" cy="230832"/>
            <a:chOff x="1463113" y="3140047"/>
            <a:chExt cx="557839" cy="230832"/>
          </a:xfrm>
        </p:grpSpPr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85" name="TextBox 84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서</a:t>
              </a:r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부</a:t>
              </a:r>
            </a:p>
          </p:txBody>
        </p:sp>
      </p:grpSp>
      <p:grpSp>
        <p:nvGrpSpPr>
          <p:cNvPr id="86" name="그룹 85"/>
          <p:cNvGrpSpPr/>
          <p:nvPr/>
        </p:nvGrpSpPr>
        <p:grpSpPr>
          <a:xfrm>
            <a:off x="2136619" y="1673934"/>
            <a:ext cx="557839" cy="230832"/>
            <a:chOff x="1463113" y="3140047"/>
            <a:chExt cx="557839" cy="230832"/>
          </a:xfrm>
        </p:grpSpPr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88" name="TextBox 87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영업</a:t>
              </a:r>
            </a:p>
          </p:txBody>
        </p:sp>
      </p:grpSp>
      <p:grpSp>
        <p:nvGrpSpPr>
          <p:cNvPr id="89" name="그룹 88"/>
          <p:cNvGrpSpPr/>
          <p:nvPr/>
        </p:nvGrpSpPr>
        <p:grpSpPr>
          <a:xfrm>
            <a:off x="2577262" y="1673934"/>
            <a:ext cx="557839" cy="230832"/>
            <a:chOff x="1463113" y="3140047"/>
            <a:chExt cx="557839" cy="230832"/>
          </a:xfrm>
        </p:grpSpPr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중앙</a:t>
              </a:r>
            </a:p>
          </p:txBody>
        </p:sp>
      </p:grpSp>
      <p:sp>
        <p:nvSpPr>
          <p:cNvPr id="27" name="타원 2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124191" y="1060182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7" name="직사각형 116"/>
          <p:cNvSpPr/>
          <p:nvPr/>
        </p:nvSpPr>
        <p:spPr bwMode="auto">
          <a:xfrm>
            <a:off x="193664" y="1483277"/>
            <a:ext cx="6897091" cy="444759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18382" y="1223990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저장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8" name="타원 11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558669" y="1049969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7" name="직사각형 96"/>
          <p:cNvSpPr/>
          <p:nvPr/>
        </p:nvSpPr>
        <p:spPr bwMode="auto">
          <a:xfrm>
            <a:off x="208674" y="1204044"/>
            <a:ext cx="2258878" cy="197647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36" name="내용 개체 틀 121"/>
          <p:cNvGraphicFramePr>
            <a:graphicFrameLocks/>
          </p:cNvGraphicFramePr>
          <p:nvPr>
            <p:extLst/>
          </p:nvPr>
        </p:nvGraphicFramePr>
        <p:xfrm>
          <a:off x="212242" y="1483277"/>
          <a:ext cx="6727092" cy="428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26716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5800376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</a:tblGrid>
              <a:tr h="428279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baseline="0" dirty="0" smtClean="0">
                          <a:solidFill>
                            <a:schemeClr val="dk1"/>
                          </a:solidFill>
                          <a:effectLst/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900" b="0" i="0" u="none" strike="noStrike" baseline="0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지역영업그룹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19" name="타원 1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76084" y="1773143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2" name="타원 10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08375" y="1048025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4" name="직사각형 133"/>
          <p:cNvSpPr/>
          <p:nvPr/>
        </p:nvSpPr>
        <p:spPr bwMode="auto">
          <a:xfrm>
            <a:off x="3572452" y="3578618"/>
            <a:ext cx="508056" cy="859519"/>
          </a:xfrm>
          <a:prstGeom prst="rect">
            <a:avLst/>
          </a:prstGeom>
          <a:noFill/>
          <a:ln w="12701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endParaRPr kumimoji="0" lang="ko-KR" altLang="en-US" sz="1200" smtClean="0">
              <a:latin typeface="+mj-ea"/>
              <a:ea typeface="+mj-ea"/>
            </a:endParaRPr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151248" y="4303320"/>
            <a:ext cx="136981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8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143" name="구부러진 연결선 142"/>
          <p:cNvCxnSpPr>
            <a:stCxn id="134" idx="2"/>
          </p:cNvCxnSpPr>
          <p:nvPr/>
        </p:nvCxnSpPr>
        <p:spPr bwMode="auto">
          <a:xfrm rot="16200000" flipH="1">
            <a:off x="3780425" y="4484192"/>
            <a:ext cx="1012293" cy="920182"/>
          </a:xfrm>
          <a:prstGeom prst="curvedConnector2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92" name="직사각형 91"/>
          <p:cNvSpPr/>
          <p:nvPr/>
        </p:nvSpPr>
        <p:spPr>
          <a:xfrm>
            <a:off x="7207250" y="6600489"/>
            <a:ext cx="1792113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US" altLang="ko-KR" sz="1000" dirty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※ </a:t>
            </a:r>
            <a:r>
              <a:rPr lang="ko-KR" altLang="en-US" sz="1000" dirty="0" smtClean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다음 </a:t>
            </a:r>
            <a:r>
              <a:rPr lang="ko-KR" altLang="en-US" sz="1000" dirty="0" err="1" smtClean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장표에</a:t>
            </a:r>
            <a:r>
              <a:rPr lang="ko-KR" altLang="en-US" sz="1000" dirty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   </a:t>
            </a:r>
            <a:r>
              <a:rPr lang="ko-KR" altLang="en-US" sz="1000" dirty="0" smtClean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이어서 설명</a:t>
            </a:r>
            <a:endParaRPr lang="en-US" altLang="ko-KR" sz="1000" dirty="0" smtClean="0">
              <a:solidFill>
                <a:srgbClr val="2272FF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05" name="표 104"/>
          <p:cNvGraphicFramePr>
            <a:graphicFrameLocks noGrp="1"/>
          </p:cNvGraphicFramePr>
          <p:nvPr>
            <p:extLst/>
          </p:nvPr>
        </p:nvGraphicFramePr>
        <p:xfrm>
          <a:off x="195151" y="2317624"/>
          <a:ext cx="6739622" cy="10090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5659">
                  <a:extLst>
                    <a:ext uri="{9D8B030D-6E8A-4147-A177-3AD203B41FA5}">
                      <a16:colId xmlns:a16="http://schemas.microsoft.com/office/drawing/2014/main" val="3641493654"/>
                    </a:ext>
                  </a:extLst>
                </a:gridCol>
                <a:gridCol w="481649">
                  <a:extLst>
                    <a:ext uri="{9D8B030D-6E8A-4147-A177-3AD203B41FA5}">
                      <a16:colId xmlns:a16="http://schemas.microsoft.com/office/drawing/2014/main" val="1251415092"/>
                    </a:ext>
                  </a:extLst>
                </a:gridCol>
                <a:gridCol w="745141">
                  <a:extLst>
                    <a:ext uri="{9D8B030D-6E8A-4147-A177-3AD203B41FA5}">
                      <a16:colId xmlns:a16="http://schemas.microsoft.com/office/drawing/2014/main" val="3328877934"/>
                    </a:ext>
                  </a:extLst>
                </a:gridCol>
                <a:gridCol w="348273">
                  <a:extLst>
                    <a:ext uri="{9D8B030D-6E8A-4147-A177-3AD203B41FA5}">
                      <a16:colId xmlns:a16="http://schemas.microsoft.com/office/drawing/2014/main" val="1342206199"/>
                    </a:ext>
                  </a:extLst>
                </a:gridCol>
                <a:gridCol w="615887">
                  <a:extLst>
                    <a:ext uri="{9D8B030D-6E8A-4147-A177-3AD203B41FA5}">
                      <a16:colId xmlns:a16="http://schemas.microsoft.com/office/drawing/2014/main" val="2557239201"/>
                    </a:ext>
                  </a:extLst>
                </a:gridCol>
                <a:gridCol w="407324">
                  <a:extLst>
                    <a:ext uri="{9D8B030D-6E8A-4147-A177-3AD203B41FA5}">
                      <a16:colId xmlns:a16="http://schemas.microsoft.com/office/drawing/2014/main" val="2614998680"/>
                    </a:ext>
                  </a:extLst>
                </a:gridCol>
                <a:gridCol w="365760">
                  <a:extLst>
                    <a:ext uri="{9D8B030D-6E8A-4147-A177-3AD203B41FA5}">
                      <a16:colId xmlns:a16="http://schemas.microsoft.com/office/drawing/2014/main" val="2194819789"/>
                    </a:ext>
                  </a:extLst>
                </a:gridCol>
                <a:gridCol w="249381">
                  <a:extLst>
                    <a:ext uri="{9D8B030D-6E8A-4147-A177-3AD203B41FA5}">
                      <a16:colId xmlns:a16="http://schemas.microsoft.com/office/drawing/2014/main" val="4230838701"/>
                    </a:ext>
                  </a:extLst>
                </a:gridCol>
                <a:gridCol w="199507">
                  <a:extLst>
                    <a:ext uri="{9D8B030D-6E8A-4147-A177-3AD203B41FA5}">
                      <a16:colId xmlns:a16="http://schemas.microsoft.com/office/drawing/2014/main" val="1035632587"/>
                    </a:ext>
                  </a:extLst>
                </a:gridCol>
                <a:gridCol w="307571">
                  <a:extLst>
                    <a:ext uri="{9D8B030D-6E8A-4147-A177-3AD203B41FA5}">
                      <a16:colId xmlns:a16="http://schemas.microsoft.com/office/drawing/2014/main" val="2088889323"/>
                    </a:ext>
                  </a:extLst>
                </a:gridCol>
                <a:gridCol w="365372">
                  <a:extLst>
                    <a:ext uri="{9D8B030D-6E8A-4147-A177-3AD203B41FA5}">
                      <a16:colId xmlns:a16="http://schemas.microsoft.com/office/drawing/2014/main" val="1115703475"/>
                    </a:ext>
                  </a:extLst>
                </a:gridCol>
                <a:gridCol w="424337">
                  <a:extLst>
                    <a:ext uri="{9D8B030D-6E8A-4147-A177-3AD203B41FA5}">
                      <a16:colId xmlns:a16="http://schemas.microsoft.com/office/drawing/2014/main" val="1216452104"/>
                    </a:ext>
                  </a:extLst>
                </a:gridCol>
                <a:gridCol w="296506">
                  <a:extLst>
                    <a:ext uri="{9D8B030D-6E8A-4147-A177-3AD203B41FA5}">
                      <a16:colId xmlns:a16="http://schemas.microsoft.com/office/drawing/2014/main" val="1427260383"/>
                    </a:ext>
                  </a:extLst>
                </a:gridCol>
                <a:gridCol w="469763">
                  <a:extLst>
                    <a:ext uri="{9D8B030D-6E8A-4147-A177-3AD203B41FA5}">
                      <a16:colId xmlns:a16="http://schemas.microsoft.com/office/drawing/2014/main" val="456799420"/>
                    </a:ext>
                  </a:extLst>
                </a:gridCol>
                <a:gridCol w="396869">
                  <a:extLst>
                    <a:ext uri="{9D8B030D-6E8A-4147-A177-3AD203B41FA5}">
                      <a16:colId xmlns:a16="http://schemas.microsoft.com/office/drawing/2014/main" val="1736729114"/>
                    </a:ext>
                  </a:extLst>
                </a:gridCol>
                <a:gridCol w="510260">
                  <a:extLst>
                    <a:ext uri="{9D8B030D-6E8A-4147-A177-3AD203B41FA5}">
                      <a16:colId xmlns:a16="http://schemas.microsoft.com/office/drawing/2014/main" val="2212924861"/>
                    </a:ext>
                  </a:extLst>
                </a:gridCol>
                <a:gridCol w="290363">
                  <a:extLst>
                    <a:ext uri="{9D8B030D-6E8A-4147-A177-3AD203B41FA5}">
                      <a16:colId xmlns:a16="http://schemas.microsoft.com/office/drawing/2014/main" val="3568075189"/>
                    </a:ext>
                  </a:extLst>
                </a:gridCol>
              </a:tblGrid>
              <a:tr h="119749">
                <a:tc rowSpan="2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지역영업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그룹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거점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점포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개월내 감사실시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와이즈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근무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출장소갯수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위험평가</a:t>
                      </a:r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년별</a:t>
                      </a:r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3611104"/>
                  </a:ext>
                </a:extLst>
              </a:tr>
              <a:tr h="17774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총계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 smtClean="0"/>
                        <a:t>전체</a:t>
                      </a:r>
                      <a:endParaRPr lang="en-US" altLang="ko-KR" sz="700" b="1" dirty="0" smtClean="0"/>
                    </a:p>
                    <a:p>
                      <a:pPr algn="ctr" latinLnBrk="1"/>
                      <a:r>
                        <a:rPr lang="ko-KR" altLang="en-US" sz="700" b="1" dirty="0" smtClean="0"/>
                        <a:t>순위</a:t>
                      </a:r>
                      <a:endParaRPr lang="ko-KR" altLang="en-US" sz="700" b="1" dirty="0"/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지역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PG</a:t>
                      </a: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운영모델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수준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예정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감사구분</a:t>
                      </a:r>
                      <a:endParaRPr lang="ko-KR" altLang="en-US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3290565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서울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[3335]</a:t>
                      </a:r>
                      <a:r>
                        <a:rPr lang="ko-KR" altLang="en-US" sz="70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강남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[5294]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삼성동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4.194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고위험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종합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826935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서울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[3335]</a:t>
                      </a:r>
                      <a:r>
                        <a:rPr lang="ko-KR" altLang="en-US" sz="70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강남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...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[5812]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삼성역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15.21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저위험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여신부문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5422849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서울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[3335]</a:t>
                      </a:r>
                      <a:r>
                        <a:rPr lang="ko-KR" altLang="en-US" sz="70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강남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[2073]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대청역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13.84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중위험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여신부문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3961093"/>
                  </a:ext>
                </a:extLst>
              </a:tr>
            </a:tbl>
          </a:graphicData>
        </a:graphic>
      </p:graphicFrame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42045" y="2424671"/>
            <a:ext cx="108000" cy="10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42045" y="2778406"/>
            <a:ext cx="108000" cy="10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42045" y="3162973"/>
            <a:ext cx="108000" cy="10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109" name="Freeform 46">
            <a:extLst>
              <a:ext uri="{FF2B5EF4-FFF2-40B4-BE49-F238E27FC236}">
                <a16:creationId xmlns:a16="http://schemas.microsoft.com/office/drawing/2014/main" id="{36BBD547-1346-F115-36F1-EB48123B65CE}"/>
              </a:ext>
            </a:extLst>
          </p:cNvPr>
          <p:cNvSpPr>
            <a:spLocks noEditPoints="1"/>
          </p:cNvSpPr>
          <p:nvPr/>
        </p:nvSpPr>
        <p:spPr bwMode="auto">
          <a:xfrm>
            <a:off x="232545" y="2968017"/>
            <a:ext cx="120301" cy="120558"/>
          </a:xfrm>
          <a:custGeom>
            <a:avLst/>
            <a:gdLst/>
            <a:ahLst/>
            <a:cxnLst>
              <a:cxn ang="0">
                <a:pos x="55" y="44"/>
              </a:cxn>
              <a:cxn ang="0">
                <a:pos x="44" y="55"/>
              </a:cxn>
              <a:cxn ang="0">
                <a:pos x="10" y="55"/>
              </a:cxn>
              <a:cxn ang="0">
                <a:pos x="0" y="44"/>
              </a:cxn>
              <a:cxn ang="0">
                <a:pos x="0" y="10"/>
              </a:cxn>
              <a:cxn ang="0">
                <a:pos x="10" y="0"/>
              </a:cxn>
              <a:cxn ang="0">
                <a:pos x="44" y="0"/>
              </a:cxn>
              <a:cxn ang="0">
                <a:pos x="55" y="10"/>
              </a:cxn>
              <a:cxn ang="0">
                <a:pos x="55" y="44"/>
              </a:cxn>
              <a:cxn ang="0">
                <a:pos x="46" y="20"/>
              </a:cxn>
              <a:cxn ang="0">
                <a:pos x="46" y="17"/>
              </a:cxn>
              <a:cxn ang="0">
                <a:pos x="42" y="13"/>
              </a:cxn>
              <a:cxn ang="0">
                <a:pos x="39" y="13"/>
              </a:cxn>
              <a:cxn ang="0">
                <a:pos x="23" y="30"/>
              </a:cxn>
              <a:cxn ang="0">
                <a:pos x="15" y="22"/>
              </a:cxn>
              <a:cxn ang="0">
                <a:pos x="12" y="22"/>
              </a:cxn>
              <a:cxn ang="0">
                <a:pos x="8" y="26"/>
              </a:cxn>
              <a:cxn ang="0">
                <a:pos x="8" y="29"/>
              </a:cxn>
              <a:cxn ang="0">
                <a:pos x="21" y="42"/>
              </a:cxn>
              <a:cxn ang="0">
                <a:pos x="24" y="42"/>
              </a:cxn>
              <a:cxn ang="0">
                <a:pos x="46" y="20"/>
              </a:cxn>
            </a:cxnLst>
            <a:rect l="0" t="0" r="r" b="b"/>
            <a:pathLst>
              <a:path w="55" h="55">
                <a:moveTo>
                  <a:pt x="55" y="44"/>
                </a:moveTo>
                <a:cubicBezTo>
                  <a:pt x="55" y="50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0"/>
                </a:cubicBezTo>
                <a:lnTo>
                  <a:pt x="55" y="44"/>
                </a:lnTo>
                <a:close/>
                <a:moveTo>
                  <a:pt x="46" y="20"/>
                </a:moveTo>
                <a:cubicBezTo>
                  <a:pt x="47" y="19"/>
                  <a:pt x="47" y="17"/>
                  <a:pt x="46" y="17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2"/>
                  <a:pt x="40" y="12"/>
                  <a:pt x="39" y="13"/>
                </a:cubicBezTo>
                <a:cubicBezTo>
                  <a:pt x="23" y="30"/>
                  <a:pt x="23" y="30"/>
                  <a:pt x="23" y="30"/>
                </a:cubicBezTo>
                <a:cubicBezTo>
                  <a:pt x="15" y="22"/>
                  <a:pt x="15" y="22"/>
                  <a:pt x="15" y="22"/>
                </a:cubicBezTo>
                <a:cubicBezTo>
                  <a:pt x="14" y="21"/>
                  <a:pt x="13" y="21"/>
                  <a:pt x="12" y="22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7"/>
                  <a:pt x="7" y="28"/>
                  <a:pt x="8" y="29"/>
                </a:cubicBezTo>
                <a:cubicBezTo>
                  <a:pt x="21" y="42"/>
                  <a:pt x="21" y="42"/>
                  <a:pt x="21" y="42"/>
                </a:cubicBezTo>
                <a:cubicBezTo>
                  <a:pt x="22" y="43"/>
                  <a:pt x="23" y="43"/>
                  <a:pt x="24" y="42"/>
                </a:cubicBezTo>
                <a:lnTo>
                  <a:pt x="46" y="20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100687" tIns="50343" rIns="100687" bIns="50343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135923" rtl="0" eaLnBrk="0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202" b="0" i="0" u="none" strike="noStrike" kern="0" cap="none" spc="0" normalizeH="0" baseline="0" noProof="0">
              <a:ln>
                <a:solidFill>
                  <a:srgbClr val="F9A84A"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0" name="직사각형 109"/>
          <p:cNvSpPr/>
          <p:nvPr/>
        </p:nvSpPr>
        <p:spPr bwMode="auto">
          <a:xfrm>
            <a:off x="2655327" y="2340346"/>
            <a:ext cx="1063233" cy="965680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1" name="직사각형 110"/>
          <p:cNvSpPr/>
          <p:nvPr/>
        </p:nvSpPr>
        <p:spPr bwMode="auto">
          <a:xfrm>
            <a:off x="172168" y="2941338"/>
            <a:ext cx="276719" cy="199688"/>
          </a:xfrm>
          <a:prstGeom prst="rect">
            <a:avLst/>
          </a:prstGeom>
          <a:noFill/>
          <a:ln w="15875">
            <a:solidFill>
              <a:schemeClr val="accent1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2" name="타원 11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38084" y="2823186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601328" y="3630919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7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0" name="타원 9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708912" y="491044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6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01" name="표 100"/>
          <p:cNvGraphicFramePr>
            <a:graphicFrameLocks noGrp="1"/>
          </p:cNvGraphicFramePr>
          <p:nvPr>
            <p:extLst/>
          </p:nvPr>
        </p:nvGraphicFramePr>
        <p:xfrm>
          <a:off x="2035653" y="4789949"/>
          <a:ext cx="1673259" cy="792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3247">
                  <a:extLst>
                    <a:ext uri="{9D8B030D-6E8A-4147-A177-3AD203B41FA5}">
                      <a16:colId xmlns:a16="http://schemas.microsoft.com/office/drawing/2014/main" val="2088889323"/>
                    </a:ext>
                  </a:extLst>
                </a:gridCol>
                <a:gridCol w="473826">
                  <a:extLst>
                    <a:ext uri="{9D8B030D-6E8A-4147-A177-3AD203B41FA5}">
                      <a16:colId xmlns:a16="http://schemas.microsoft.com/office/drawing/2014/main" val="1115703475"/>
                    </a:ext>
                  </a:extLst>
                </a:gridCol>
                <a:gridCol w="736186">
                  <a:extLst>
                    <a:ext uri="{9D8B030D-6E8A-4147-A177-3AD203B41FA5}">
                      <a16:colId xmlns:a16="http://schemas.microsoft.com/office/drawing/2014/main" val="1216452104"/>
                    </a:ext>
                  </a:extLst>
                </a:gridCol>
              </a:tblGrid>
              <a:tr h="11974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전체순위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예정감사구분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3611104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15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고위험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종합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3290565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중위험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여신부문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826935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190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중위험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여신부문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5422849"/>
                  </a:ext>
                </a:extLst>
              </a:tr>
            </a:tbl>
          </a:graphicData>
        </a:graphic>
      </p:graphicFrame>
      <p:sp>
        <p:nvSpPr>
          <p:cNvPr id="103" name="아래쪽 화살표 102"/>
          <p:cNvSpPr/>
          <p:nvPr/>
        </p:nvSpPr>
        <p:spPr bwMode="auto">
          <a:xfrm flipV="1">
            <a:off x="3201963" y="4515299"/>
            <a:ext cx="184322" cy="227191"/>
          </a:xfrm>
          <a:prstGeom prst="downArrow">
            <a:avLst/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4" name="타원 9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04025" y="162903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114" name="그림 11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396949" y="4495029"/>
            <a:ext cx="2481433" cy="190915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851963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3" name="표 92"/>
          <p:cNvGraphicFramePr>
            <a:graphicFrameLocks noGrp="1"/>
          </p:cNvGraphicFramePr>
          <p:nvPr>
            <p:extLst/>
          </p:nvPr>
        </p:nvGraphicFramePr>
        <p:xfrm>
          <a:off x="172168" y="3392962"/>
          <a:ext cx="6762603" cy="108569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5475">
                  <a:extLst>
                    <a:ext uri="{9D8B030D-6E8A-4147-A177-3AD203B41FA5}">
                      <a16:colId xmlns:a16="http://schemas.microsoft.com/office/drawing/2014/main" val="3641493654"/>
                    </a:ext>
                  </a:extLst>
                </a:gridCol>
                <a:gridCol w="499445">
                  <a:extLst>
                    <a:ext uri="{9D8B030D-6E8A-4147-A177-3AD203B41FA5}">
                      <a16:colId xmlns:a16="http://schemas.microsoft.com/office/drawing/2014/main" val="1251415092"/>
                    </a:ext>
                  </a:extLst>
                </a:gridCol>
                <a:gridCol w="630252">
                  <a:extLst>
                    <a:ext uri="{9D8B030D-6E8A-4147-A177-3AD203B41FA5}">
                      <a16:colId xmlns:a16="http://schemas.microsoft.com/office/drawing/2014/main" val="3328877934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1342206199"/>
                    </a:ext>
                  </a:extLst>
                </a:gridCol>
                <a:gridCol w="594360">
                  <a:extLst>
                    <a:ext uri="{9D8B030D-6E8A-4147-A177-3AD203B41FA5}">
                      <a16:colId xmlns:a16="http://schemas.microsoft.com/office/drawing/2014/main" val="2557239201"/>
                    </a:ext>
                  </a:extLst>
                </a:gridCol>
                <a:gridCol w="464820">
                  <a:extLst>
                    <a:ext uri="{9D8B030D-6E8A-4147-A177-3AD203B41FA5}">
                      <a16:colId xmlns:a16="http://schemas.microsoft.com/office/drawing/2014/main" val="2614998680"/>
                    </a:ext>
                  </a:extLst>
                </a:gridCol>
                <a:gridCol w="503672">
                  <a:extLst>
                    <a:ext uri="{9D8B030D-6E8A-4147-A177-3AD203B41FA5}">
                      <a16:colId xmlns:a16="http://schemas.microsoft.com/office/drawing/2014/main" val="2194819789"/>
                    </a:ext>
                  </a:extLst>
                </a:gridCol>
                <a:gridCol w="601921">
                  <a:extLst>
                    <a:ext uri="{9D8B030D-6E8A-4147-A177-3AD203B41FA5}">
                      <a16:colId xmlns:a16="http://schemas.microsoft.com/office/drawing/2014/main" val="4230838701"/>
                    </a:ext>
                  </a:extLst>
                </a:gridCol>
                <a:gridCol w="266007">
                  <a:extLst>
                    <a:ext uri="{9D8B030D-6E8A-4147-A177-3AD203B41FA5}">
                      <a16:colId xmlns:a16="http://schemas.microsoft.com/office/drawing/2014/main" val="899243545"/>
                    </a:ext>
                  </a:extLst>
                </a:gridCol>
                <a:gridCol w="365760">
                  <a:extLst>
                    <a:ext uri="{9D8B030D-6E8A-4147-A177-3AD203B41FA5}">
                      <a16:colId xmlns:a16="http://schemas.microsoft.com/office/drawing/2014/main" val="4168632081"/>
                    </a:ext>
                  </a:extLst>
                </a:gridCol>
                <a:gridCol w="365760">
                  <a:extLst>
                    <a:ext uri="{9D8B030D-6E8A-4147-A177-3AD203B41FA5}">
                      <a16:colId xmlns:a16="http://schemas.microsoft.com/office/drawing/2014/main" val="294473804"/>
                    </a:ext>
                  </a:extLst>
                </a:gridCol>
                <a:gridCol w="423949">
                  <a:extLst>
                    <a:ext uri="{9D8B030D-6E8A-4147-A177-3AD203B41FA5}">
                      <a16:colId xmlns:a16="http://schemas.microsoft.com/office/drawing/2014/main" val="2088889323"/>
                    </a:ext>
                  </a:extLst>
                </a:gridCol>
                <a:gridCol w="540327">
                  <a:extLst>
                    <a:ext uri="{9D8B030D-6E8A-4147-A177-3AD203B41FA5}">
                      <a16:colId xmlns:a16="http://schemas.microsoft.com/office/drawing/2014/main" val="456799420"/>
                    </a:ext>
                  </a:extLst>
                </a:gridCol>
                <a:gridCol w="548764">
                  <a:extLst>
                    <a:ext uri="{9D8B030D-6E8A-4147-A177-3AD203B41FA5}">
                      <a16:colId xmlns:a16="http://schemas.microsoft.com/office/drawing/2014/main" val="1736729114"/>
                    </a:ext>
                  </a:extLst>
                </a:gridCol>
                <a:gridCol w="301091">
                  <a:extLst>
                    <a:ext uri="{9D8B030D-6E8A-4147-A177-3AD203B41FA5}">
                      <a16:colId xmlns:a16="http://schemas.microsoft.com/office/drawing/2014/main" val="3568075189"/>
                    </a:ext>
                  </a:extLst>
                </a:gridCol>
              </a:tblGrid>
              <a:tr h="119749">
                <a:tc gridSpan="7"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위험평가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(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월별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위험평가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3611104"/>
                  </a:ext>
                </a:extLst>
              </a:tr>
              <a:tr h="218918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총계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 smtClean="0"/>
                        <a:t>전체</a:t>
                      </a:r>
                      <a:endParaRPr lang="en-US" altLang="ko-KR" sz="700" b="1" dirty="0" smtClean="0"/>
                    </a:p>
                    <a:p>
                      <a:pPr algn="ctr" latinLnBrk="1"/>
                      <a:r>
                        <a:rPr lang="ko-KR" altLang="en-US" sz="700" b="1" dirty="0" smtClean="0"/>
                        <a:t>순위</a:t>
                      </a:r>
                      <a:endParaRPr lang="ko-KR" altLang="en-US" sz="700" b="1" dirty="0"/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지역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PG</a:t>
                      </a: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운영모델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수준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예정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감사구분</a:t>
                      </a:r>
                      <a:endParaRPr lang="ko-KR" altLang="en-US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위험부점</a:t>
                      </a:r>
                      <a:endParaRPr lang="en-US" altLang="ko-KR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여부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평가</a:t>
                      </a:r>
                      <a:endParaRPr lang="en-US" altLang="ko-KR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점수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위험구분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</a:t>
                      </a: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차수</a:t>
                      </a:r>
                      <a:endParaRPr lang="ko-KR" altLang="en-US" sz="700" dirty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구분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실시시간</a:t>
                      </a:r>
                      <a:endParaRPr lang="ko-KR" altLang="en-US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1927622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4.194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고위험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종합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N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144.59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고위험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종합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2024.01.22~01.25</a:t>
                      </a:r>
                      <a:endParaRPr lang="ko-KR" altLang="en-US" sz="7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826935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15.21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저위험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여신부문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N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75.36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168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중위험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fontAlgn="ctr">
                        <a:buNone/>
                      </a:pPr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5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내부통제부문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2024.04.22~04.25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5422849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13.84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중위험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여신부문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sng" strike="noStrike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Y</a:t>
                      </a:r>
                      <a:endParaRPr lang="ko-KR" altLang="en-US" sz="700" b="1" i="0" u="sng" strike="noStrike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159.23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8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고위험</a:t>
                      </a:r>
                      <a:endParaRPr lang="en-US" altLang="ko-KR" sz="700" b="0" i="0" u="none" strike="noStrike" dirty="0" smtClean="0">
                        <a:solidFill>
                          <a:srgbClr val="FF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(Alert)</a:t>
                      </a:r>
                      <a:endParaRPr lang="ko-KR" altLang="en-US" sz="700" b="0" i="0" u="none" strike="noStrike" dirty="0">
                        <a:solidFill>
                          <a:srgbClr val="FF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fontAlgn="ctr">
                        <a:buNone/>
                      </a:pPr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종합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2024.03.25~03.27</a:t>
                      </a:r>
                      <a:endParaRPr lang="ko-KR" altLang="en-US" sz="70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3961093"/>
                  </a:ext>
                </a:extLst>
              </a:tr>
            </a:tbl>
          </a:graphicData>
        </a:graphic>
      </p:graphicFrame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1595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304033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352524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234404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20411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US" altLang="ko-KR" sz="8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</a:tbl>
          </a:graphicData>
        </a:graphic>
      </p:graphicFrame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MDD-00012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MDD75G62001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 대상부점선정 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(2/2)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등록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(P50: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유성용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4" name="내용 개체 틀 121"/>
          <p:cNvGraphicFramePr>
            <a:graphicFrameLocks/>
          </p:cNvGraphicFramePr>
          <p:nvPr>
            <p:extLst/>
          </p:nvPr>
        </p:nvGraphicFramePr>
        <p:xfrm>
          <a:off x="208375" y="1169818"/>
          <a:ext cx="6726397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1725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810260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463550">
                  <a:extLst>
                    <a:ext uri="{9D8B030D-6E8A-4147-A177-3AD203B41FA5}">
                      <a16:colId xmlns:a16="http://schemas.microsoft.com/office/drawing/2014/main" val="3183548289"/>
                    </a:ext>
                  </a:extLst>
                </a:gridCol>
                <a:gridCol w="4860862">
                  <a:extLst>
                    <a:ext uri="{9D8B030D-6E8A-4147-A177-3AD203B41FA5}">
                      <a16:colId xmlns:a16="http://schemas.microsoft.com/office/drawing/2014/main" val="2589290911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err="1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감사기준년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 2024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감사차수</a:t>
                      </a:r>
                      <a:endParaRPr lang="ko-KR" altLang="en-US" sz="900" b="0" i="0" u="none" strike="noStrike" kern="1200" dirty="0" smtClean="0">
                        <a:solidFill>
                          <a:schemeClr val="dk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  17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3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07335" y="1220311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조회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44" name="그룹 43"/>
          <p:cNvGrpSpPr/>
          <p:nvPr/>
        </p:nvGrpSpPr>
        <p:grpSpPr>
          <a:xfrm>
            <a:off x="1224121" y="1485779"/>
            <a:ext cx="557839" cy="230832"/>
            <a:chOff x="1463113" y="2946569"/>
            <a:chExt cx="557839" cy="230832"/>
          </a:xfrm>
        </p:grpSpPr>
        <p:sp>
          <p:nvSpPr>
            <p:cNvPr id="45" name="Freeform 46">
              <a:extLst>
                <a:ext uri="{FF2B5EF4-FFF2-40B4-BE49-F238E27FC236}">
                  <a16:creationId xmlns:a16="http://schemas.microsoft.com/office/drawing/2014/main" id="{36BBD547-1346-F115-36F1-EB48123B65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3113" y="2996510"/>
              <a:ext cx="120301" cy="120558"/>
            </a:xfrm>
            <a:custGeom>
              <a:avLst/>
              <a:gdLst/>
              <a:ahLst/>
              <a:cxnLst>
                <a:cxn ang="0">
                  <a:pos x="55" y="44"/>
                </a:cxn>
                <a:cxn ang="0">
                  <a:pos x="44" y="55"/>
                </a:cxn>
                <a:cxn ang="0">
                  <a:pos x="10" y="55"/>
                </a:cxn>
                <a:cxn ang="0">
                  <a:pos x="0" y="44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4"/>
                </a:cxn>
                <a:cxn ang="0">
                  <a:pos x="46" y="20"/>
                </a:cxn>
                <a:cxn ang="0">
                  <a:pos x="46" y="17"/>
                </a:cxn>
                <a:cxn ang="0">
                  <a:pos x="42" y="13"/>
                </a:cxn>
                <a:cxn ang="0">
                  <a:pos x="39" y="13"/>
                </a:cxn>
                <a:cxn ang="0">
                  <a:pos x="23" y="30"/>
                </a:cxn>
                <a:cxn ang="0">
                  <a:pos x="15" y="22"/>
                </a:cxn>
                <a:cxn ang="0">
                  <a:pos x="12" y="22"/>
                </a:cxn>
                <a:cxn ang="0">
                  <a:pos x="8" y="26"/>
                </a:cxn>
                <a:cxn ang="0">
                  <a:pos x="8" y="29"/>
                </a:cxn>
                <a:cxn ang="0">
                  <a:pos x="21" y="42"/>
                </a:cxn>
                <a:cxn ang="0">
                  <a:pos x="24" y="42"/>
                </a:cxn>
                <a:cxn ang="0">
                  <a:pos x="46" y="20"/>
                </a:cxn>
              </a:cxnLst>
              <a:rect l="0" t="0" r="r" b="b"/>
              <a:pathLst>
                <a:path w="55" h="55">
                  <a:moveTo>
                    <a:pt x="55" y="44"/>
                  </a:moveTo>
                  <a:cubicBezTo>
                    <a:pt x="55" y="50"/>
                    <a:pt x="50" y="55"/>
                    <a:pt x="44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lnTo>
                    <a:pt x="55" y="44"/>
                  </a:lnTo>
                  <a:close/>
                  <a:moveTo>
                    <a:pt x="46" y="20"/>
                  </a:moveTo>
                  <a:cubicBezTo>
                    <a:pt x="47" y="19"/>
                    <a:pt x="47" y="17"/>
                    <a:pt x="46" y="17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2" y="12"/>
                    <a:pt x="40" y="12"/>
                    <a:pt x="39" y="13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7"/>
                    <a:pt x="7" y="28"/>
                    <a:pt x="8" y="29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2" y="43"/>
                    <a:pt x="23" y="43"/>
                    <a:pt x="24" y="42"/>
                  </a:cubicBezTo>
                  <a:lnTo>
                    <a:pt x="46" y="2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100687" tIns="50343" rIns="100687" bIns="50343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135923" rtl="0" eaLnBrk="0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202" b="0" i="0" u="none" strike="noStrike" kern="0" cap="none" spc="0" normalizeH="0" baseline="0" noProof="0">
                <a:ln>
                  <a:solidFill>
                    <a:srgbClr val="F9A84A"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1533272" y="2946569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전체</a:t>
              </a:r>
            </a:p>
          </p:txBody>
        </p:sp>
      </p:grpSp>
      <p:grpSp>
        <p:nvGrpSpPr>
          <p:cNvPr id="47" name="그룹 46"/>
          <p:cNvGrpSpPr/>
          <p:nvPr/>
        </p:nvGrpSpPr>
        <p:grpSpPr>
          <a:xfrm>
            <a:off x="3059470" y="1673934"/>
            <a:ext cx="557839" cy="230832"/>
            <a:chOff x="1463113" y="3140047"/>
            <a:chExt cx="557839" cy="230832"/>
          </a:xfrm>
        </p:grpSpPr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충청</a:t>
              </a:r>
            </a:p>
          </p:txBody>
        </p:sp>
      </p:grpSp>
      <p:grpSp>
        <p:nvGrpSpPr>
          <p:cNvPr id="50" name="그룹 49"/>
          <p:cNvGrpSpPr/>
          <p:nvPr/>
        </p:nvGrpSpPr>
        <p:grpSpPr>
          <a:xfrm>
            <a:off x="3541678" y="1673934"/>
            <a:ext cx="557839" cy="230832"/>
            <a:chOff x="1463113" y="3140047"/>
            <a:chExt cx="557839" cy="230832"/>
          </a:xfrm>
        </p:grpSpPr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호남</a:t>
              </a:r>
            </a:p>
          </p:txBody>
        </p:sp>
      </p:grpSp>
      <p:grpSp>
        <p:nvGrpSpPr>
          <p:cNvPr id="53" name="그룹 52"/>
          <p:cNvGrpSpPr/>
          <p:nvPr/>
        </p:nvGrpSpPr>
        <p:grpSpPr>
          <a:xfrm>
            <a:off x="1705881" y="1485779"/>
            <a:ext cx="951089" cy="230832"/>
            <a:chOff x="1463113" y="3140047"/>
            <a:chExt cx="951089" cy="230832"/>
          </a:xfrm>
        </p:grpSpPr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1533272" y="3140047"/>
              <a:ext cx="88093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CIB</a:t>
              </a:r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영업추진부</a:t>
              </a:r>
            </a:p>
          </p:txBody>
        </p:sp>
      </p:grpSp>
      <p:grpSp>
        <p:nvGrpSpPr>
          <p:cNvPr id="56" name="그룹 55"/>
          <p:cNvGrpSpPr/>
          <p:nvPr/>
        </p:nvGrpSpPr>
        <p:grpSpPr>
          <a:xfrm>
            <a:off x="2580891" y="1485779"/>
            <a:ext cx="557839" cy="230832"/>
            <a:chOff x="1463113" y="3140047"/>
            <a:chExt cx="557839" cy="230832"/>
          </a:xfrm>
        </p:grpSpPr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58" name="TextBox 57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강남</a:t>
              </a:r>
            </a:p>
          </p:txBody>
        </p:sp>
      </p:grpSp>
      <p:grpSp>
        <p:nvGrpSpPr>
          <p:cNvPr id="59" name="그룹 58"/>
          <p:cNvGrpSpPr/>
          <p:nvPr/>
        </p:nvGrpSpPr>
        <p:grpSpPr>
          <a:xfrm>
            <a:off x="3062651" y="1485779"/>
            <a:ext cx="557839" cy="230832"/>
            <a:chOff x="1463113" y="3140047"/>
            <a:chExt cx="557839" cy="230832"/>
          </a:xfrm>
        </p:grpSpPr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강서</a:t>
              </a:r>
            </a:p>
          </p:txBody>
        </p:sp>
      </p:grpSp>
      <p:grpSp>
        <p:nvGrpSpPr>
          <p:cNvPr id="62" name="그룹 61"/>
          <p:cNvGrpSpPr/>
          <p:nvPr/>
        </p:nvGrpSpPr>
        <p:grpSpPr>
          <a:xfrm>
            <a:off x="3544411" y="1485779"/>
            <a:ext cx="557839" cy="230832"/>
            <a:chOff x="1463113" y="3140047"/>
            <a:chExt cx="557839" cy="230832"/>
          </a:xfrm>
        </p:grpSpPr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경기</a:t>
              </a:r>
            </a:p>
          </p:txBody>
        </p:sp>
      </p:grpSp>
      <p:grpSp>
        <p:nvGrpSpPr>
          <p:cNvPr id="65" name="그룹 64"/>
          <p:cNvGrpSpPr/>
          <p:nvPr/>
        </p:nvGrpSpPr>
        <p:grpSpPr>
          <a:xfrm>
            <a:off x="4026171" y="1485779"/>
            <a:ext cx="557839" cy="230832"/>
            <a:chOff x="1463113" y="3140047"/>
            <a:chExt cx="557839" cy="230832"/>
          </a:xfrm>
        </p:grpSpPr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경인</a:t>
              </a:r>
            </a:p>
          </p:txBody>
        </p:sp>
      </p:grpSp>
      <p:grpSp>
        <p:nvGrpSpPr>
          <p:cNvPr id="68" name="그룹 67"/>
          <p:cNvGrpSpPr/>
          <p:nvPr/>
        </p:nvGrpSpPr>
        <p:grpSpPr>
          <a:xfrm>
            <a:off x="4507931" y="1485779"/>
            <a:ext cx="557839" cy="230832"/>
            <a:chOff x="1463113" y="3140047"/>
            <a:chExt cx="557839" cy="230832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70" name="TextBox 69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남부</a:t>
              </a:r>
            </a:p>
          </p:txBody>
        </p:sp>
      </p:grpSp>
      <p:grpSp>
        <p:nvGrpSpPr>
          <p:cNvPr id="71" name="그룹 70"/>
          <p:cNvGrpSpPr/>
          <p:nvPr/>
        </p:nvGrpSpPr>
        <p:grpSpPr>
          <a:xfrm>
            <a:off x="4989691" y="1485779"/>
            <a:ext cx="726683" cy="230832"/>
            <a:chOff x="1463113" y="3140047"/>
            <a:chExt cx="726683" cy="230832"/>
          </a:xfrm>
        </p:grpSpPr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1533271" y="3140047"/>
              <a:ext cx="6565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대구경북</a:t>
              </a:r>
            </a:p>
          </p:txBody>
        </p:sp>
      </p:grpSp>
      <p:grpSp>
        <p:nvGrpSpPr>
          <p:cNvPr id="74" name="그룹 73"/>
          <p:cNvGrpSpPr/>
          <p:nvPr/>
        </p:nvGrpSpPr>
        <p:grpSpPr>
          <a:xfrm>
            <a:off x="5640295" y="1485779"/>
            <a:ext cx="557839" cy="230832"/>
            <a:chOff x="1463113" y="3140047"/>
            <a:chExt cx="557839" cy="230832"/>
          </a:xfrm>
        </p:grpSpPr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76" name="TextBox 75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동부</a:t>
              </a:r>
            </a:p>
          </p:txBody>
        </p:sp>
      </p:grpSp>
      <p:grpSp>
        <p:nvGrpSpPr>
          <p:cNvPr id="77" name="그룹 76"/>
          <p:cNvGrpSpPr/>
          <p:nvPr/>
        </p:nvGrpSpPr>
        <p:grpSpPr>
          <a:xfrm>
            <a:off x="6122057" y="1485779"/>
            <a:ext cx="909563" cy="230832"/>
            <a:chOff x="1463113" y="3140047"/>
            <a:chExt cx="909563" cy="230832"/>
          </a:xfrm>
        </p:grpSpPr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79" name="TextBox 78"/>
            <p:cNvSpPr txBox="1"/>
            <p:nvPr/>
          </p:nvSpPr>
          <p:spPr>
            <a:xfrm>
              <a:off x="1533271" y="3140047"/>
              <a:ext cx="83940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부산울산경남</a:t>
              </a:r>
            </a:p>
          </p:txBody>
        </p:sp>
      </p:grpSp>
      <p:grpSp>
        <p:nvGrpSpPr>
          <p:cNvPr id="80" name="그룹 79"/>
          <p:cNvGrpSpPr/>
          <p:nvPr/>
        </p:nvGrpSpPr>
        <p:grpSpPr>
          <a:xfrm>
            <a:off x="1222081" y="1673934"/>
            <a:ext cx="557839" cy="230832"/>
            <a:chOff x="1463113" y="3140047"/>
            <a:chExt cx="557839" cy="230832"/>
          </a:xfrm>
        </p:grpSpPr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북부</a:t>
              </a:r>
            </a:p>
          </p:txBody>
        </p:sp>
      </p:grpSp>
      <p:grpSp>
        <p:nvGrpSpPr>
          <p:cNvPr id="83" name="그룹 82"/>
          <p:cNvGrpSpPr/>
          <p:nvPr/>
        </p:nvGrpSpPr>
        <p:grpSpPr>
          <a:xfrm>
            <a:off x="1704289" y="1673934"/>
            <a:ext cx="557839" cy="230832"/>
            <a:chOff x="1463113" y="3140047"/>
            <a:chExt cx="557839" cy="230832"/>
          </a:xfrm>
        </p:grpSpPr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85" name="TextBox 84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서</a:t>
              </a:r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부</a:t>
              </a:r>
            </a:p>
          </p:txBody>
        </p:sp>
      </p:grpSp>
      <p:grpSp>
        <p:nvGrpSpPr>
          <p:cNvPr id="86" name="그룹 85"/>
          <p:cNvGrpSpPr/>
          <p:nvPr/>
        </p:nvGrpSpPr>
        <p:grpSpPr>
          <a:xfrm>
            <a:off x="2136619" y="1673934"/>
            <a:ext cx="557839" cy="230832"/>
            <a:chOff x="1463113" y="3140047"/>
            <a:chExt cx="557839" cy="230832"/>
          </a:xfrm>
        </p:grpSpPr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88" name="TextBox 87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영업</a:t>
              </a:r>
            </a:p>
          </p:txBody>
        </p:sp>
      </p:grpSp>
      <p:grpSp>
        <p:nvGrpSpPr>
          <p:cNvPr id="89" name="그룹 88"/>
          <p:cNvGrpSpPr/>
          <p:nvPr/>
        </p:nvGrpSpPr>
        <p:grpSpPr>
          <a:xfrm>
            <a:off x="2577262" y="1673934"/>
            <a:ext cx="557839" cy="230832"/>
            <a:chOff x="1463113" y="3140047"/>
            <a:chExt cx="557839" cy="230832"/>
          </a:xfrm>
        </p:grpSpPr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중앙</a:t>
              </a:r>
            </a:p>
          </p:txBody>
        </p:sp>
      </p:grpSp>
      <p:sp>
        <p:nvSpPr>
          <p:cNvPr id="13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18382" y="1223990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저장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36" name="내용 개체 틀 121"/>
          <p:cNvGraphicFramePr>
            <a:graphicFrameLocks/>
          </p:cNvGraphicFramePr>
          <p:nvPr>
            <p:extLst/>
          </p:nvPr>
        </p:nvGraphicFramePr>
        <p:xfrm>
          <a:off x="212242" y="1483277"/>
          <a:ext cx="6727092" cy="428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26716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5800376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</a:tblGrid>
              <a:tr h="428279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baseline="0" dirty="0" smtClean="0">
                          <a:solidFill>
                            <a:schemeClr val="dk1"/>
                          </a:solidFill>
                          <a:effectLst/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900" b="0" i="0" u="none" strike="noStrike" baseline="0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지역영업그룹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graphicFrame>
        <p:nvGraphicFramePr>
          <p:cNvPr id="105" name="표 104"/>
          <p:cNvGraphicFramePr>
            <a:graphicFrameLocks noGrp="1"/>
          </p:cNvGraphicFramePr>
          <p:nvPr>
            <p:extLst/>
          </p:nvPr>
        </p:nvGraphicFramePr>
        <p:xfrm>
          <a:off x="195151" y="2317624"/>
          <a:ext cx="6739622" cy="10090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5659">
                  <a:extLst>
                    <a:ext uri="{9D8B030D-6E8A-4147-A177-3AD203B41FA5}">
                      <a16:colId xmlns:a16="http://schemas.microsoft.com/office/drawing/2014/main" val="3641493654"/>
                    </a:ext>
                  </a:extLst>
                </a:gridCol>
                <a:gridCol w="481649">
                  <a:extLst>
                    <a:ext uri="{9D8B030D-6E8A-4147-A177-3AD203B41FA5}">
                      <a16:colId xmlns:a16="http://schemas.microsoft.com/office/drawing/2014/main" val="1251415092"/>
                    </a:ext>
                  </a:extLst>
                </a:gridCol>
                <a:gridCol w="745141">
                  <a:extLst>
                    <a:ext uri="{9D8B030D-6E8A-4147-A177-3AD203B41FA5}">
                      <a16:colId xmlns:a16="http://schemas.microsoft.com/office/drawing/2014/main" val="3328877934"/>
                    </a:ext>
                  </a:extLst>
                </a:gridCol>
                <a:gridCol w="348273">
                  <a:extLst>
                    <a:ext uri="{9D8B030D-6E8A-4147-A177-3AD203B41FA5}">
                      <a16:colId xmlns:a16="http://schemas.microsoft.com/office/drawing/2014/main" val="1342206199"/>
                    </a:ext>
                  </a:extLst>
                </a:gridCol>
                <a:gridCol w="615887">
                  <a:extLst>
                    <a:ext uri="{9D8B030D-6E8A-4147-A177-3AD203B41FA5}">
                      <a16:colId xmlns:a16="http://schemas.microsoft.com/office/drawing/2014/main" val="2557239201"/>
                    </a:ext>
                  </a:extLst>
                </a:gridCol>
                <a:gridCol w="407324">
                  <a:extLst>
                    <a:ext uri="{9D8B030D-6E8A-4147-A177-3AD203B41FA5}">
                      <a16:colId xmlns:a16="http://schemas.microsoft.com/office/drawing/2014/main" val="2614998680"/>
                    </a:ext>
                  </a:extLst>
                </a:gridCol>
                <a:gridCol w="365760">
                  <a:extLst>
                    <a:ext uri="{9D8B030D-6E8A-4147-A177-3AD203B41FA5}">
                      <a16:colId xmlns:a16="http://schemas.microsoft.com/office/drawing/2014/main" val="2194819789"/>
                    </a:ext>
                  </a:extLst>
                </a:gridCol>
                <a:gridCol w="249381">
                  <a:extLst>
                    <a:ext uri="{9D8B030D-6E8A-4147-A177-3AD203B41FA5}">
                      <a16:colId xmlns:a16="http://schemas.microsoft.com/office/drawing/2014/main" val="4230838701"/>
                    </a:ext>
                  </a:extLst>
                </a:gridCol>
                <a:gridCol w="199507">
                  <a:extLst>
                    <a:ext uri="{9D8B030D-6E8A-4147-A177-3AD203B41FA5}">
                      <a16:colId xmlns:a16="http://schemas.microsoft.com/office/drawing/2014/main" val="1035632587"/>
                    </a:ext>
                  </a:extLst>
                </a:gridCol>
                <a:gridCol w="307571">
                  <a:extLst>
                    <a:ext uri="{9D8B030D-6E8A-4147-A177-3AD203B41FA5}">
                      <a16:colId xmlns:a16="http://schemas.microsoft.com/office/drawing/2014/main" val="2088889323"/>
                    </a:ext>
                  </a:extLst>
                </a:gridCol>
                <a:gridCol w="365372">
                  <a:extLst>
                    <a:ext uri="{9D8B030D-6E8A-4147-A177-3AD203B41FA5}">
                      <a16:colId xmlns:a16="http://schemas.microsoft.com/office/drawing/2014/main" val="1115703475"/>
                    </a:ext>
                  </a:extLst>
                </a:gridCol>
                <a:gridCol w="424337">
                  <a:extLst>
                    <a:ext uri="{9D8B030D-6E8A-4147-A177-3AD203B41FA5}">
                      <a16:colId xmlns:a16="http://schemas.microsoft.com/office/drawing/2014/main" val="1216452104"/>
                    </a:ext>
                  </a:extLst>
                </a:gridCol>
                <a:gridCol w="296506">
                  <a:extLst>
                    <a:ext uri="{9D8B030D-6E8A-4147-A177-3AD203B41FA5}">
                      <a16:colId xmlns:a16="http://schemas.microsoft.com/office/drawing/2014/main" val="1427260383"/>
                    </a:ext>
                  </a:extLst>
                </a:gridCol>
                <a:gridCol w="469763">
                  <a:extLst>
                    <a:ext uri="{9D8B030D-6E8A-4147-A177-3AD203B41FA5}">
                      <a16:colId xmlns:a16="http://schemas.microsoft.com/office/drawing/2014/main" val="456799420"/>
                    </a:ext>
                  </a:extLst>
                </a:gridCol>
                <a:gridCol w="396869">
                  <a:extLst>
                    <a:ext uri="{9D8B030D-6E8A-4147-A177-3AD203B41FA5}">
                      <a16:colId xmlns:a16="http://schemas.microsoft.com/office/drawing/2014/main" val="1736729114"/>
                    </a:ext>
                  </a:extLst>
                </a:gridCol>
                <a:gridCol w="510260">
                  <a:extLst>
                    <a:ext uri="{9D8B030D-6E8A-4147-A177-3AD203B41FA5}">
                      <a16:colId xmlns:a16="http://schemas.microsoft.com/office/drawing/2014/main" val="2212924861"/>
                    </a:ext>
                  </a:extLst>
                </a:gridCol>
                <a:gridCol w="290363">
                  <a:extLst>
                    <a:ext uri="{9D8B030D-6E8A-4147-A177-3AD203B41FA5}">
                      <a16:colId xmlns:a16="http://schemas.microsoft.com/office/drawing/2014/main" val="3568075189"/>
                    </a:ext>
                  </a:extLst>
                </a:gridCol>
              </a:tblGrid>
              <a:tr h="119749">
                <a:tc rowSpan="2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지역영업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그룹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거점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점포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개월내 감사실시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와이즈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근무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출장소갯수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위험평가</a:t>
                      </a:r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년별</a:t>
                      </a:r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3611104"/>
                  </a:ext>
                </a:extLst>
              </a:tr>
              <a:tr h="17774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총계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 smtClean="0"/>
                        <a:t>전체</a:t>
                      </a:r>
                      <a:endParaRPr lang="en-US" altLang="ko-KR" sz="700" b="1" dirty="0" smtClean="0"/>
                    </a:p>
                    <a:p>
                      <a:pPr algn="ctr" latinLnBrk="1"/>
                      <a:r>
                        <a:rPr lang="ko-KR" altLang="en-US" sz="700" b="1" dirty="0" smtClean="0"/>
                        <a:t>순위</a:t>
                      </a:r>
                      <a:endParaRPr lang="ko-KR" altLang="en-US" sz="700" b="1" dirty="0"/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지역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PG</a:t>
                      </a: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운영모델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수준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예정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감사구분</a:t>
                      </a:r>
                      <a:endParaRPr lang="ko-KR" altLang="en-US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3290565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서울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[3335]</a:t>
                      </a:r>
                      <a:r>
                        <a:rPr lang="ko-KR" altLang="en-US" sz="70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강남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[5294]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삼성동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4.194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고위험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종합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826935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서울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[3335]</a:t>
                      </a:r>
                      <a:r>
                        <a:rPr lang="ko-KR" altLang="en-US" sz="70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강남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...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[5812]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삼성역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15.21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저위험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여신부문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5422849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서울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[3335]</a:t>
                      </a:r>
                      <a:r>
                        <a:rPr lang="ko-KR" altLang="en-US" sz="70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강남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[2073]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대청역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13.84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중위험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여신부문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3961093"/>
                  </a:ext>
                </a:extLst>
              </a:tr>
            </a:tbl>
          </a:graphicData>
        </a:graphic>
      </p:graphicFrame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42045" y="2424671"/>
            <a:ext cx="108000" cy="10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42045" y="2778406"/>
            <a:ext cx="108000" cy="10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42045" y="3162973"/>
            <a:ext cx="108000" cy="10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109" name="Freeform 46">
            <a:extLst>
              <a:ext uri="{FF2B5EF4-FFF2-40B4-BE49-F238E27FC236}">
                <a16:creationId xmlns:a16="http://schemas.microsoft.com/office/drawing/2014/main" id="{36BBD547-1346-F115-36F1-EB48123B65CE}"/>
              </a:ext>
            </a:extLst>
          </p:cNvPr>
          <p:cNvSpPr>
            <a:spLocks noEditPoints="1"/>
          </p:cNvSpPr>
          <p:nvPr/>
        </p:nvSpPr>
        <p:spPr bwMode="auto">
          <a:xfrm>
            <a:off x="232545" y="2968017"/>
            <a:ext cx="120301" cy="120558"/>
          </a:xfrm>
          <a:custGeom>
            <a:avLst/>
            <a:gdLst/>
            <a:ahLst/>
            <a:cxnLst>
              <a:cxn ang="0">
                <a:pos x="55" y="44"/>
              </a:cxn>
              <a:cxn ang="0">
                <a:pos x="44" y="55"/>
              </a:cxn>
              <a:cxn ang="0">
                <a:pos x="10" y="55"/>
              </a:cxn>
              <a:cxn ang="0">
                <a:pos x="0" y="44"/>
              </a:cxn>
              <a:cxn ang="0">
                <a:pos x="0" y="10"/>
              </a:cxn>
              <a:cxn ang="0">
                <a:pos x="10" y="0"/>
              </a:cxn>
              <a:cxn ang="0">
                <a:pos x="44" y="0"/>
              </a:cxn>
              <a:cxn ang="0">
                <a:pos x="55" y="10"/>
              </a:cxn>
              <a:cxn ang="0">
                <a:pos x="55" y="44"/>
              </a:cxn>
              <a:cxn ang="0">
                <a:pos x="46" y="20"/>
              </a:cxn>
              <a:cxn ang="0">
                <a:pos x="46" y="17"/>
              </a:cxn>
              <a:cxn ang="0">
                <a:pos x="42" y="13"/>
              </a:cxn>
              <a:cxn ang="0">
                <a:pos x="39" y="13"/>
              </a:cxn>
              <a:cxn ang="0">
                <a:pos x="23" y="30"/>
              </a:cxn>
              <a:cxn ang="0">
                <a:pos x="15" y="22"/>
              </a:cxn>
              <a:cxn ang="0">
                <a:pos x="12" y="22"/>
              </a:cxn>
              <a:cxn ang="0">
                <a:pos x="8" y="26"/>
              </a:cxn>
              <a:cxn ang="0">
                <a:pos x="8" y="29"/>
              </a:cxn>
              <a:cxn ang="0">
                <a:pos x="21" y="42"/>
              </a:cxn>
              <a:cxn ang="0">
                <a:pos x="24" y="42"/>
              </a:cxn>
              <a:cxn ang="0">
                <a:pos x="46" y="20"/>
              </a:cxn>
            </a:cxnLst>
            <a:rect l="0" t="0" r="r" b="b"/>
            <a:pathLst>
              <a:path w="55" h="55">
                <a:moveTo>
                  <a:pt x="55" y="44"/>
                </a:moveTo>
                <a:cubicBezTo>
                  <a:pt x="55" y="50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0"/>
                </a:cubicBezTo>
                <a:lnTo>
                  <a:pt x="55" y="44"/>
                </a:lnTo>
                <a:close/>
                <a:moveTo>
                  <a:pt x="46" y="20"/>
                </a:moveTo>
                <a:cubicBezTo>
                  <a:pt x="47" y="19"/>
                  <a:pt x="47" y="17"/>
                  <a:pt x="46" y="17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2"/>
                  <a:pt x="40" y="12"/>
                  <a:pt x="39" y="13"/>
                </a:cubicBezTo>
                <a:cubicBezTo>
                  <a:pt x="23" y="30"/>
                  <a:pt x="23" y="30"/>
                  <a:pt x="23" y="30"/>
                </a:cubicBezTo>
                <a:cubicBezTo>
                  <a:pt x="15" y="22"/>
                  <a:pt x="15" y="22"/>
                  <a:pt x="15" y="22"/>
                </a:cubicBezTo>
                <a:cubicBezTo>
                  <a:pt x="14" y="21"/>
                  <a:pt x="13" y="21"/>
                  <a:pt x="12" y="22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7"/>
                  <a:pt x="7" y="28"/>
                  <a:pt x="8" y="29"/>
                </a:cubicBezTo>
                <a:cubicBezTo>
                  <a:pt x="21" y="42"/>
                  <a:pt x="21" y="42"/>
                  <a:pt x="21" y="42"/>
                </a:cubicBezTo>
                <a:cubicBezTo>
                  <a:pt x="22" y="43"/>
                  <a:pt x="23" y="43"/>
                  <a:pt x="24" y="42"/>
                </a:cubicBezTo>
                <a:lnTo>
                  <a:pt x="46" y="20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100687" tIns="50343" rIns="100687" bIns="50343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135923" rtl="0" eaLnBrk="0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202" b="0" i="0" u="none" strike="noStrike" kern="0" cap="none" spc="0" normalizeH="0" baseline="0" noProof="0">
              <a:ln>
                <a:solidFill>
                  <a:srgbClr val="F9A84A"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0" name="직사각형 109"/>
          <p:cNvSpPr/>
          <p:nvPr/>
        </p:nvSpPr>
        <p:spPr bwMode="auto">
          <a:xfrm>
            <a:off x="2655327" y="2340346"/>
            <a:ext cx="1063233" cy="965680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006276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172168" y="3392962"/>
          <a:ext cx="6762603" cy="108569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5475">
                  <a:extLst>
                    <a:ext uri="{9D8B030D-6E8A-4147-A177-3AD203B41FA5}">
                      <a16:colId xmlns:a16="http://schemas.microsoft.com/office/drawing/2014/main" val="3641493654"/>
                    </a:ext>
                  </a:extLst>
                </a:gridCol>
                <a:gridCol w="499445">
                  <a:extLst>
                    <a:ext uri="{9D8B030D-6E8A-4147-A177-3AD203B41FA5}">
                      <a16:colId xmlns:a16="http://schemas.microsoft.com/office/drawing/2014/main" val="1251415092"/>
                    </a:ext>
                  </a:extLst>
                </a:gridCol>
                <a:gridCol w="630252">
                  <a:extLst>
                    <a:ext uri="{9D8B030D-6E8A-4147-A177-3AD203B41FA5}">
                      <a16:colId xmlns:a16="http://schemas.microsoft.com/office/drawing/2014/main" val="3328877934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1342206199"/>
                    </a:ext>
                  </a:extLst>
                </a:gridCol>
                <a:gridCol w="594360">
                  <a:extLst>
                    <a:ext uri="{9D8B030D-6E8A-4147-A177-3AD203B41FA5}">
                      <a16:colId xmlns:a16="http://schemas.microsoft.com/office/drawing/2014/main" val="2557239201"/>
                    </a:ext>
                  </a:extLst>
                </a:gridCol>
                <a:gridCol w="464820">
                  <a:extLst>
                    <a:ext uri="{9D8B030D-6E8A-4147-A177-3AD203B41FA5}">
                      <a16:colId xmlns:a16="http://schemas.microsoft.com/office/drawing/2014/main" val="2614998680"/>
                    </a:ext>
                  </a:extLst>
                </a:gridCol>
                <a:gridCol w="503672">
                  <a:extLst>
                    <a:ext uri="{9D8B030D-6E8A-4147-A177-3AD203B41FA5}">
                      <a16:colId xmlns:a16="http://schemas.microsoft.com/office/drawing/2014/main" val="2194819789"/>
                    </a:ext>
                  </a:extLst>
                </a:gridCol>
                <a:gridCol w="601921">
                  <a:extLst>
                    <a:ext uri="{9D8B030D-6E8A-4147-A177-3AD203B41FA5}">
                      <a16:colId xmlns:a16="http://schemas.microsoft.com/office/drawing/2014/main" val="4230838701"/>
                    </a:ext>
                  </a:extLst>
                </a:gridCol>
                <a:gridCol w="266007">
                  <a:extLst>
                    <a:ext uri="{9D8B030D-6E8A-4147-A177-3AD203B41FA5}">
                      <a16:colId xmlns:a16="http://schemas.microsoft.com/office/drawing/2014/main" val="899243545"/>
                    </a:ext>
                  </a:extLst>
                </a:gridCol>
                <a:gridCol w="365760">
                  <a:extLst>
                    <a:ext uri="{9D8B030D-6E8A-4147-A177-3AD203B41FA5}">
                      <a16:colId xmlns:a16="http://schemas.microsoft.com/office/drawing/2014/main" val="4168632081"/>
                    </a:ext>
                  </a:extLst>
                </a:gridCol>
                <a:gridCol w="365760">
                  <a:extLst>
                    <a:ext uri="{9D8B030D-6E8A-4147-A177-3AD203B41FA5}">
                      <a16:colId xmlns:a16="http://schemas.microsoft.com/office/drawing/2014/main" val="294473804"/>
                    </a:ext>
                  </a:extLst>
                </a:gridCol>
                <a:gridCol w="423949">
                  <a:extLst>
                    <a:ext uri="{9D8B030D-6E8A-4147-A177-3AD203B41FA5}">
                      <a16:colId xmlns:a16="http://schemas.microsoft.com/office/drawing/2014/main" val="2088889323"/>
                    </a:ext>
                  </a:extLst>
                </a:gridCol>
                <a:gridCol w="540327">
                  <a:extLst>
                    <a:ext uri="{9D8B030D-6E8A-4147-A177-3AD203B41FA5}">
                      <a16:colId xmlns:a16="http://schemas.microsoft.com/office/drawing/2014/main" val="456799420"/>
                    </a:ext>
                  </a:extLst>
                </a:gridCol>
                <a:gridCol w="548764">
                  <a:extLst>
                    <a:ext uri="{9D8B030D-6E8A-4147-A177-3AD203B41FA5}">
                      <a16:colId xmlns:a16="http://schemas.microsoft.com/office/drawing/2014/main" val="1736729114"/>
                    </a:ext>
                  </a:extLst>
                </a:gridCol>
                <a:gridCol w="301091">
                  <a:extLst>
                    <a:ext uri="{9D8B030D-6E8A-4147-A177-3AD203B41FA5}">
                      <a16:colId xmlns:a16="http://schemas.microsoft.com/office/drawing/2014/main" val="3568075189"/>
                    </a:ext>
                  </a:extLst>
                </a:gridCol>
              </a:tblGrid>
              <a:tr h="119749">
                <a:tc gridSpan="7"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위험평가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(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월별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위험평가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3611104"/>
                  </a:ext>
                </a:extLst>
              </a:tr>
              <a:tr h="218918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총계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 smtClean="0"/>
                        <a:t>전체</a:t>
                      </a:r>
                      <a:endParaRPr lang="en-US" altLang="ko-KR" sz="700" b="1" dirty="0" smtClean="0"/>
                    </a:p>
                    <a:p>
                      <a:pPr algn="ctr" latinLnBrk="1"/>
                      <a:r>
                        <a:rPr lang="ko-KR" altLang="en-US" sz="700" b="1" dirty="0" smtClean="0"/>
                        <a:t>순위</a:t>
                      </a:r>
                      <a:endParaRPr lang="ko-KR" altLang="en-US" sz="700" b="1" dirty="0"/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지역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PG</a:t>
                      </a: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운영모델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수준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예정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감사구분</a:t>
                      </a:r>
                      <a:endParaRPr lang="ko-KR" altLang="en-US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위험부점</a:t>
                      </a:r>
                      <a:endParaRPr lang="en-US" altLang="ko-KR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여부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평가</a:t>
                      </a:r>
                      <a:endParaRPr lang="en-US" altLang="ko-KR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점수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위험구분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</a:t>
                      </a: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차수</a:t>
                      </a:r>
                      <a:endParaRPr lang="ko-KR" altLang="en-US" sz="700" dirty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구분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실시시간</a:t>
                      </a:r>
                      <a:endParaRPr lang="ko-KR" altLang="en-US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1927622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4.194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고위험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종합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N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144.59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고위험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종합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2024.01.22~01.25</a:t>
                      </a:r>
                      <a:endParaRPr lang="ko-KR" altLang="en-US" sz="7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826935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15.21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저위험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여신부문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N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75.36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168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중위험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fontAlgn="ctr">
                        <a:buNone/>
                      </a:pPr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5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내부통제부문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2024.04.22~04.25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5422849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13.84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중위험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여신부문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sng" strike="noStrike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Y</a:t>
                      </a:r>
                      <a:endParaRPr lang="ko-KR" altLang="en-US" sz="700" b="1" i="0" u="sng" strike="noStrike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159.23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8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고위험</a:t>
                      </a:r>
                      <a:endParaRPr lang="en-US" altLang="ko-KR" sz="700" b="0" i="0" u="none" strike="noStrike" dirty="0" smtClean="0">
                        <a:solidFill>
                          <a:srgbClr val="FF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(Alert)</a:t>
                      </a:r>
                      <a:endParaRPr lang="ko-KR" altLang="en-US" sz="700" b="0" i="0" u="none" strike="noStrike" dirty="0">
                        <a:solidFill>
                          <a:srgbClr val="FF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fontAlgn="ctr">
                        <a:buNone/>
                      </a:pPr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종합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2024.03.25~03.27</a:t>
                      </a:r>
                      <a:endParaRPr lang="ko-KR" altLang="en-US" sz="70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3961093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5931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362049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화면의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대상부점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선정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클릭시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오픈 되는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팝업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화면에서 전달받은 정보로서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저장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버튼으로 저장 시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사용되는 필수 값 이며</a:t>
                      </a: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버튼으로 감사부점목록을 조회 시에는 사용하지 않는 정보이다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35252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조회조건으로서 </a:t>
                      </a:r>
                      <a:r>
                        <a:rPr lang="en-US" altLang="ko-KR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</a:t>
                      </a:r>
                      <a:r>
                        <a:rPr lang="en-US" altLang="ko-KR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또는 </a:t>
                      </a:r>
                      <a:r>
                        <a:rPr lang="en-US" altLang="ko-KR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지역그룹</a:t>
                      </a:r>
                      <a:r>
                        <a:rPr lang="en-US" altLang="ko-KR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을</a:t>
                      </a:r>
                      <a:r>
                        <a:rPr lang="ko-KR" altLang="en-US" sz="8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r>
                        <a:rPr lang="ko-KR" altLang="en-US" sz="8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 이상 </a:t>
                      </a:r>
                      <a:r>
                        <a:rPr lang="en-US" altLang="ko-KR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다수 </a:t>
                      </a:r>
                      <a:r>
                        <a:rPr lang="ko-KR" altLang="en-US" sz="8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선택하여 </a:t>
                      </a:r>
                      <a:r>
                        <a:rPr lang="ko-KR" altLang="en-US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 할 수 있다</a:t>
                      </a:r>
                      <a:r>
                        <a:rPr lang="en-US" altLang="ko-KR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7264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1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조회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버튼을 클릭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하면</a:t>
                      </a:r>
                      <a:r>
                        <a:rPr lang="ko-KR" altLang="en-US" sz="12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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 조건에 맞는 대상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부점이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 위험평가 순위별로 나타나며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부점별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AI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위험평가 내역과 최근 감사 실시한 정보가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b="1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영업점별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위험항목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수치를 입력 하였다면 해당 내역도 조회 결과에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kumimoji="0" lang="ko-KR" altLang="en-US" sz="800" b="1" kern="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★</a:t>
                      </a:r>
                      <a:r>
                        <a:rPr lang="en-US" altLang="ko-KR" sz="800" b="1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1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조회시</a:t>
                      </a:r>
                      <a:r>
                        <a:rPr lang="ko-KR" altLang="en-US" sz="800" b="1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정렬 우선순위 적용할 컬럼 정보 정의 필요</a:t>
                      </a:r>
                      <a:endParaRPr lang="ko-KR" altLang="en-US" sz="800" b="1" dirty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2041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저장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 조회결과 목록에서  체크박스를 통해 선택한 감사부점목록을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저장하고  팝업 화면이 자동으로 닫힌다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저장 시  현재 팝업 오픈 시에 전달받은 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[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화면의 상세정보란에 기본으로 세팅 되어 있는 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감사구분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실시기간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대상기간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서면감사기간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현장감시기간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감사수행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]….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등등의 정보가 </a:t>
                      </a: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목록에 동일한 값으로 같이 저장된다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저장이 완료되면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화면의 그리드가 자동 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재조회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되어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현재팝업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화면에서 저장하여 갱신된 정보를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보여준다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39454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감사부점을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등록하기 위해서 체크박스 </a:t>
                      </a:r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체크시에</a:t>
                      </a:r>
                      <a:endParaRPr lang="en-US" altLang="ko-KR" sz="8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감사계획등록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화면에서 </a:t>
                      </a:r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기등록되어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있는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800" b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감사부점은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“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이미 등록된 </a:t>
                      </a:r>
                      <a:r>
                        <a:rPr lang="ko-KR" altLang="en-US" sz="800" b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감사부점입니다</a:t>
                      </a:r>
                      <a:r>
                        <a:rPr lang="en-US" altLang="ko-KR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“ 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알림창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을 보여준 후 체크가 해제된다</a:t>
                      </a:r>
                      <a:r>
                        <a:rPr lang="en-US" altLang="ko-KR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RAS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위험수준 평가결과의 최근 적용 항목을 동일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부점별로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항목 추가하여 보여준다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위험부점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여부 항목을 클릭 하면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위험평가 결과의 세부 지표를 확인 할 수 있는 팝업 창이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통합상시감사시스템과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위험평가결과 내역과 연계가 가능할 경우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05926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위험평가결과의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세부지표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상세내역을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볼수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있는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팝업화면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통합상시감사시스템과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위험평가결과 내역과 연계가 가능할 경우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93780804"/>
                  </a:ext>
                </a:extLst>
              </a:tr>
            </a:tbl>
          </a:graphicData>
        </a:graphic>
      </p:graphicFrame>
      <p:graphicFrame>
        <p:nvGraphicFramePr>
          <p:cNvPr id="4" name="표 3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MDD-00012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MDD75G62001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대상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PG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선정 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(1/2)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등록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(P50: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유성용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5" name="내용 개체 틀 121"/>
          <p:cNvGraphicFramePr>
            <a:graphicFrameLocks/>
          </p:cNvGraphicFramePr>
          <p:nvPr>
            <p:extLst/>
          </p:nvPr>
        </p:nvGraphicFramePr>
        <p:xfrm>
          <a:off x="208375" y="1169818"/>
          <a:ext cx="6726397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1725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810260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463550">
                  <a:extLst>
                    <a:ext uri="{9D8B030D-6E8A-4147-A177-3AD203B41FA5}">
                      <a16:colId xmlns:a16="http://schemas.microsoft.com/office/drawing/2014/main" val="3183548289"/>
                    </a:ext>
                  </a:extLst>
                </a:gridCol>
                <a:gridCol w="4860862">
                  <a:extLst>
                    <a:ext uri="{9D8B030D-6E8A-4147-A177-3AD203B41FA5}">
                      <a16:colId xmlns:a16="http://schemas.microsoft.com/office/drawing/2014/main" val="2589290911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err="1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감사기준년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 2024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감사차수</a:t>
                      </a:r>
                      <a:endParaRPr lang="ko-KR" altLang="en-US" sz="900" b="0" i="0" u="none" strike="noStrike" kern="1200" dirty="0" smtClean="0">
                        <a:solidFill>
                          <a:schemeClr val="dk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  17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07335" y="1220311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조회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1224121" y="1485779"/>
            <a:ext cx="557839" cy="230832"/>
            <a:chOff x="1463113" y="2946569"/>
            <a:chExt cx="557839" cy="230832"/>
          </a:xfrm>
        </p:grpSpPr>
        <p:sp>
          <p:nvSpPr>
            <p:cNvPr id="8" name="Freeform 46">
              <a:extLst>
                <a:ext uri="{FF2B5EF4-FFF2-40B4-BE49-F238E27FC236}">
                  <a16:creationId xmlns:a16="http://schemas.microsoft.com/office/drawing/2014/main" id="{36BBD547-1346-F115-36F1-EB48123B65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3113" y="2996510"/>
              <a:ext cx="120301" cy="120558"/>
            </a:xfrm>
            <a:custGeom>
              <a:avLst/>
              <a:gdLst/>
              <a:ahLst/>
              <a:cxnLst>
                <a:cxn ang="0">
                  <a:pos x="55" y="44"/>
                </a:cxn>
                <a:cxn ang="0">
                  <a:pos x="44" y="55"/>
                </a:cxn>
                <a:cxn ang="0">
                  <a:pos x="10" y="55"/>
                </a:cxn>
                <a:cxn ang="0">
                  <a:pos x="0" y="44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4"/>
                </a:cxn>
                <a:cxn ang="0">
                  <a:pos x="46" y="20"/>
                </a:cxn>
                <a:cxn ang="0">
                  <a:pos x="46" y="17"/>
                </a:cxn>
                <a:cxn ang="0">
                  <a:pos x="42" y="13"/>
                </a:cxn>
                <a:cxn ang="0">
                  <a:pos x="39" y="13"/>
                </a:cxn>
                <a:cxn ang="0">
                  <a:pos x="23" y="30"/>
                </a:cxn>
                <a:cxn ang="0">
                  <a:pos x="15" y="22"/>
                </a:cxn>
                <a:cxn ang="0">
                  <a:pos x="12" y="22"/>
                </a:cxn>
                <a:cxn ang="0">
                  <a:pos x="8" y="26"/>
                </a:cxn>
                <a:cxn ang="0">
                  <a:pos x="8" y="29"/>
                </a:cxn>
                <a:cxn ang="0">
                  <a:pos x="21" y="42"/>
                </a:cxn>
                <a:cxn ang="0">
                  <a:pos x="24" y="42"/>
                </a:cxn>
                <a:cxn ang="0">
                  <a:pos x="46" y="20"/>
                </a:cxn>
              </a:cxnLst>
              <a:rect l="0" t="0" r="r" b="b"/>
              <a:pathLst>
                <a:path w="55" h="55">
                  <a:moveTo>
                    <a:pt x="55" y="44"/>
                  </a:moveTo>
                  <a:cubicBezTo>
                    <a:pt x="55" y="50"/>
                    <a:pt x="50" y="55"/>
                    <a:pt x="44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lnTo>
                    <a:pt x="55" y="44"/>
                  </a:lnTo>
                  <a:close/>
                  <a:moveTo>
                    <a:pt x="46" y="20"/>
                  </a:moveTo>
                  <a:cubicBezTo>
                    <a:pt x="47" y="19"/>
                    <a:pt x="47" y="17"/>
                    <a:pt x="46" y="17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2" y="12"/>
                    <a:pt x="40" y="12"/>
                    <a:pt x="39" y="13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7"/>
                    <a:pt x="7" y="28"/>
                    <a:pt x="8" y="29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2" y="43"/>
                    <a:pt x="23" y="43"/>
                    <a:pt x="24" y="42"/>
                  </a:cubicBezTo>
                  <a:lnTo>
                    <a:pt x="46" y="2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100687" tIns="50343" rIns="100687" bIns="50343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135923" rtl="0" eaLnBrk="0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202" b="0" i="0" u="none" strike="noStrike" kern="0" cap="none" spc="0" normalizeH="0" baseline="0" noProof="0">
                <a:ln>
                  <a:solidFill>
                    <a:srgbClr val="F9A84A"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533272" y="2946569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전체</a:t>
              </a:r>
            </a:p>
          </p:txBody>
        </p:sp>
      </p:grpSp>
      <p:grpSp>
        <p:nvGrpSpPr>
          <p:cNvPr id="10" name="그룹 9"/>
          <p:cNvGrpSpPr/>
          <p:nvPr/>
        </p:nvGrpSpPr>
        <p:grpSpPr>
          <a:xfrm>
            <a:off x="3059470" y="1673934"/>
            <a:ext cx="557839" cy="230832"/>
            <a:chOff x="1463113" y="3140047"/>
            <a:chExt cx="557839" cy="230832"/>
          </a:xfrm>
        </p:grpSpPr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충청</a:t>
              </a:r>
            </a:p>
          </p:txBody>
        </p:sp>
      </p:grpSp>
      <p:grpSp>
        <p:nvGrpSpPr>
          <p:cNvPr id="13" name="그룹 12"/>
          <p:cNvGrpSpPr/>
          <p:nvPr/>
        </p:nvGrpSpPr>
        <p:grpSpPr>
          <a:xfrm>
            <a:off x="3541678" y="1673934"/>
            <a:ext cx="557839" cy="230832"/>
            <a:chOff x="1463113" y="3140047"/>
            <a:chExt cx="557839" cy="230832"/>
          </a:xfrm>
        </p:grpSpPr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호남</a:t>
              </a:r>
            </a:p>
          </p:txBody>
        </p:sp>
      </p:grpSp>
      <p:grpSp>
        <p:nvGrpSpPr>
          <p:cNvPr id="16" name="그룹 15"/>
          <p:cNvGrpSpPr/>
          <p:nvPr/>
        </p:nvGrpSpPr>
        <p:grpSpPr>
          <a:xfrm>
            <a:off x="1705881" y="1485779"/>
            <a:ext cx="951089" cy="230832"/>
            <a:chOff x="1463113" y="3140047"/>
            <a:chExt cx="951089" cy="230832"/>
          </a:xfrm>
        </p:grpSpPr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533272" y="3140047"/>
              <a:ext cx="88093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CIB</a:t>
              </a:r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영업추진부</a:t>
              </a:r>
            </a:p>
          </p:txBody>
        </p:sp>
      </p:grpSp>
      <p:grpSp>
        <p:nvGrpSpPr>
          <p:cNvPr id="19" name="그룹 18"/>
          <p:cNvGrpSpPr/>
          <p:nvPr/>
        </p:nvGrpSpPr>
        <p:grpSpPr>
          <a:xfrm>
            <a:off x="2580891" y="1485779"/>
            <a:ext cx="557839" cy="230832"/>
            <a:chOff x="1463113" y="3140047"/>
            <a:chExt cx="557839" cy="230832"/>
          </a:xfrm>
        </p:grpSpPr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강남</a:t>
              </a:r>
            </a:p>
          </p:txBody>
        </p:sp>
      </p:grpSp>
      <p:grpSp>
        <p:nvGrpSpPr>
          <p:cNvPr id="22" name="그룹 21"/>
          <p:cNvGrpSpPr/>
          <p:nvPr/>
        </p:nvGrpSpPr>
        <p:grpSpPr>
          <a:xfrm>
            <a:off x="3062651" y="1485779"/>
            <a:ext cx="557839" cy="230832"/>
            <a:chOff x="1463113" y="3140047"/>
            <a:chExt cx="557839" cy="230832"/>
          </a:xfrm>
        </p:grpSpPr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강서</a:t>
              </a:r>
            </a:p>
          </p:txBody>
        </p:sp>
      </p:grpSp>
      <p:grpSp>
        <p:nvGrpSpPr>
          <p:cNvPr id="25" name="그룹 24"/>
          <p:cNvGrpSpPr/>
          <p:nvPr/>
        </p:nvGrpSpPr>
        <p:grpSpPr>
          <a:xfrm>
            <a:off x="3544411" y="1485779"/>
            <a:ext cx="557839" cy="230832"/>
            <a:chOff x="1463113" y="3140047"/>
            <a:chExt cx="557839" cy="230832"/>
          </a:xfrm>
        </p:grpSpPr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경기</a:t>
              </a:r>
            </a:p>
          </p:txBody>
        </p:sp>
      </p:grpSp>
      <p:grpSp>
        <p:nvGrpSpPr>
          <p:cNvPr id="28" name="그룹 27"/>
          <p:cNvGrpSpPr/>
          <p:nvPr/>
        </p:nvGrpSpPr>
        <p:grpSpPr>
          <a:xfrm>
            <a:off x="4026171" y="1485779"/>
            <a:ext cx="557839" cy="230832"/>
            <a:chOff x="1463113" y="3140047"/>
            <a:chExt cx="557839" cy="230832"/>
          </a:xfrm>
        </p:grpSpPr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경인</a:t>
              </a:r>
            </a:p>
          </p:txBody>
        </p:sp>
      </p:grpSp>
      <p:grpSp>
        <p:nvGrpSpPr>
          <p:cNvPr id="31" name="그룹 30"/>
          <p:cNvGrpSpPr/>
          <p:nvPr/>
        </p:nvGrpSpPr>
        <p:grpSpPr>
          <a:xfrm>
            <a:off x="4507931" y="1485779"/>
            <a:ext cx="557839" cy="230832"/>
            <a:chOff x="1463113" y="3140047"/>
            <a:chExt cx="557839" cy="230832"/>
          </a:xfrm>
        </p:grpSpPr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남부</a:t>
              </a:r>
            </a:p>
          </p:txBody>
        </p:sp>
      </p:grpSp>
      <p:grpSp>
        <p:nvGrpSpPr>
          <p:cNvPr id="34" name="그룹 33"/>
          <p:cNvGrpSpPr/>
          <p:nvPr/>
        </p:nvGrpSpPr>
        <p:grpSpPr>
          <a:xfrm>
            <a:off x="4989691" y="1485779"/>
            <a:ext cx="726683" cy="230832"/>
            <a:chOff x="1463113" y="3140047"/>
            <a:chExt cx="726683" cy="230832"/>
          </a:xfrm>
        </p:grpSpPr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1533271" y="3140047"/>
              <a:ext cx="6565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대구경북</a:t>
              </a:r>
            </a:p>
          </p:txBody>
        </p:sp>
      </p:grpSp>
      <p:grpSp>
        <p:nvGrpSpPr>
          <p:cNvPr id="37" name="그룹 36"/>
          <p:cNvGrpSpPr/>
          <p:nvPr/>
        </p:nvGrpSpPr>
        <p:grpSpPr>
          <a:xfrm>
            <a:off x="5640295" y="1485779"/>
            <a:ext cx="557839" cy="230832"/>
            <a:chOff x="1463113" y="3140047"/>
            <a:chExt cx="557839" cy="230832"/>
          </a:xfrm>
        </p:grpSpPr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동부</a:t>
              </a:r>
            </a:p>
          </p:txBody>
        </p:sp>
      </p:grpSp>
      <p:grpSp>
        <p:nvGrpSpPr>
          <p:cNvPr id="40" name="그룹 39"/>
          <p:cNvGrpSpPr/>
          <p:nvPr/>
        </p:nvGrpSpPr>
        <p:grpSpPr>
          <a:xfrm>
            <a:off x="6122057" y="1485779"/>
            <a:ext cx="909563" cy="230832"/>
            <a:chOff x="1463113" y="3140047"/>
            <a:chExt cx="909563" cy="230832"/>
          </a:xfrm>
        </p:grpSpPr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1533271" y="3140047"/>
              <a:ext cx="83940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부산울산경남</a:t>
              </a:r>
            </a:p>
          </p:txBody>
        </p:sp>
      </p:grpSp>
      <p:grpSp>
        <p:nvGrpSpPr>
          <p:cNvPr id="43" name="그룹 42"/>
          <p:cNvGrpSpPr/>
          <p:nvPr/>
        </p:nvGrpSpPr>
        <p:grpSpPr>
          <a:xfrm>
            <a:off x="1222081" y="1673934"/>
            <a:ext cx="557839" cy="230832"/>
            <a:chOff x="1463113" y="3140047"/>
            <a:chExt cx="557839" cy="230832"/>
          </a:xfrm>
        </p:grpSpPr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북부</a:t>
              </a:r>
            </a:p>
          </p:txBody>
        </p:sp>
      </p:grpSp>
      <p:grpSp>
        <p:nvGrpSpPr>
          <p:cNvPr id="46" name="그룹 45"/>
          <p:cNvGrpSpPr/>
          <p:nvPr/>
        </p:nvGrpSpPr>
        <p:grpSpPr>
          <a:xfrm>
            <a:off x="1704289" y="1673934"/>
            <a:ext cx="557839" cy="230832"/>
            <a:chOff x="1463113" y="3140047"/>
            <a:chExt cx="557839" cy="230832"/>
          </a:xfrm>
        </p:grpSpPr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서</a:t>
              </a:r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부</a:t>
              </a:r>
            </a:p>
          </p:txBody>
        </p:sp>
      </p:grpSp>
      <p:grpSp>
        <p:nvGrpSpPr>
          <p:cNvPr id="49" name="그룹 48"/>
          <p:cNvGrpSpPr/>
          <p:nvPr/>
        </p:nvGrpSpPr>
        <p:grpSpPr>
          <a:xfrm>
            <a:off x="2136619" y="1673934"/>
            <a:ext cx="557839" cy="230832"/>
            <a:chOff x="1463113" y="3140047"/>
            <a:chExt cx="557839" cy="230832"/>
          </a:xfrm>
        </p:grpSpPr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영업</a:t>
              </a:r>
            </a:p>
          </p:txBody>
        </p:sp>
      </p:grpSp>
      <p:grpSp>
        <p:nvGrpSpPr>
          <p:cNvPr id="52" name="그룹 51"/>
          <p:cNvGrpSpPr/>
          <p:nvPr/>
        </p:nvGrpSpPr>
        <p:grpSpPr>
          <a:xfrm>
            <a:off x="2577262" y="1673934"/>
            <a:ext cx="557839" cy="230832"/>
            <a:chOff x="1463113" y="3140047"/>
            <a:chExt cx="557839" cy="230832"/>
          </a:xfrm>
        </p:grpSpPr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63113" y="3201463"/>
              <a:ext cx="108000" cy="10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endParaRPr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1533272" y="3140047"/>
              <a:ext cx="48768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중앙</a:t>
              </a:r>
            </a:p>
          </p:txBody>
        </p:sp>
      </p:grpSp>
      <p:sp>
        <p:nvSpPr>
          <p:cNvPr id="55" name="타원 5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124191" y="1060182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6" name="직사각형 55"/>
          <p:cNvSpPr/>
          <p:nvPr/>
        </p:nvSpPr>
        <p:spPr bwMode="auto">
          <a:xfrm>
            <a:off x="193664" y="1483277"/>
            <a:ext cx="6897091" cy="444759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18382" y="1223990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저장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558669" y="1049969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9" name="직사각형 58"/>
          <p:cNvSpPr/>
          <p:nvPr/>
        </p:nvSpPr>
        <p:spPr bwMode="auto">
          <a:xfrm>
            <a:off x="208674" y="1204044"/>
            <a:ext cx="2258878" cy="197647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60" name="내용 개체 틀 121"/>
          <p:cNvGraphicFramePr>
            <a:graphicFrameLocks/>
          </p:cNvGraphicFramePr>
          <p:nvPr>
            <p:extLst/>
          </p:nvPr>
        </p:nvGraphicFramePr>
        <p:xfrm>
          <a:off x="212242" y="1483277"/>
          <a:ext cx="6727092" cy="4282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26716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5800376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</a:tblGrid>
              <a:tr h="428279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baseline="0" dirty="0" smtClean="0">
                          <a:solidFill>
                            <a:schemeClr val="dk1"/>
                          </a:solidFill>
                          <a:effectLst/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900" b="0" i="0" u="none" strike="noStrike" baseline="0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지역영업그룹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61" name="타원 6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76084" y="1773143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08375" y="1048025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3" name="직사각형 62"/>
          <p:cNvSpPr/>
          <p:nvPr/>
        </p:nvSpPr>
        <p:spPr bwMode="auto">
          <a:xfrm>
            <a:off x="3572452" y="3578618"/>
            <a:ext cx="508056" cy="859519"/>
          </a:xfrm>
          <a:prstGeom prst="rect">
            <a:avLst/>
          </a:prstGeom>
          <a:noFill/>
          <a:ln w="12701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endParaRPr kumimoji="0" lang="ko-KR" altLang="en-US" sz="1200" smtClean="0">
              <a:latin typeface="+mj-ea"/>
              <a:ea typeface="+mj-ea"/>
            </a:endParaRPr>
          </a:p>
        </p:txBody>
      </p:sp>
      <p:sp>
        <p:nvSpPr>
          <p:cNvPr id="65" name="타원 6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151248" y="4303320"/>
            <a:ext cx="136981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8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66" name="구부러진 연결선 65"/>
          <p:cNvCxnSpPr>
            <a:stCxn id="63" idx="2"/>
          </p:cNvCxnSpPr>
          <p:nvPr/>
        </p:nvCxnSpPr>
        <p:spPr bwMode="auto">
          <a:xfrm rot="16200000" flipH="1">
            <a:off x="3780425" y="4484192"/>
            <a:ext cx="1012293" cy="920182"/>
          </a:xfrm>
          <a:prstGeom prst="curvedConnector2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67" name="직사각형 66"/>
          <p:cNvSpPr/>
          <p:nvPr/>
        </p:nvSpPr>
        <p:spPr>
          <a:xfrm>
            <a:off x="7207250" y="6600489"/>
            <a:ext cx="1792113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US" altLang="ko-KR" sz="1000" dirty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※ </a:t>
            </a:r>
            <a:r>
              <a:rPr lang="ko-KR" altLang="en-US" sz="1000" dirty="0" smtClean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다음 </a:t>
            </a:r>
            <a:r>
              <a:rPr lang="ko-KR" altLang="en-US" sz="1000" dirty="0" err="1" smtClean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장표에</a:t>
            </a:r>
            <a:r>
              <a:rPr lang="ko-KR" altLang="en-US" sz="1000" dirty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   </a:t>
            </a:r>
            <a:r>
              <a:rPr lang="ko-KR" altLang="en-US" sz="1000" dirty="0" smtClean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이어서 설명</a:t>
            </a:r>
            <a:endParaRPr lang="en-US" altLang="ko-KR" sz="1000" dirty="0" smtClean="0">
              <a:solidFill>
                <a:srgbClr val="2272FF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68" name="표 67"/>
          <p:cNvGraphicFramePr>
            <a:graphicFrameLocks noGrp="1"/>
          </p:cNvGraphicFramePr>
          <p:nvPr>
            <p:extLst/>
          </p:nvPr>
        </p:nvGraphicFramePr>
        <p:xfrm>
          <a:off x="195151" y="2317624"/>
          <a:ext cx="6739622" cy="10090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5659">
                  <a:extLst>
                    <a:ext uri="{9D8B030D-6E8A-4147-A177-3AD203B41FA5}">
                      <a16:colId xmlns:a16="http://schemas.microsoft.com/office/drawing/2014/main" val="3641493654"/>
                    </a:ext>
                  </a:extLst>
                </a:gridCol>
                <a:gridCol w="481649">
                  <a:extLst>
                    <a:ext uri="{9D8B030D-6E8A-4147-A177-3AD203B41FA5}">
                      <a16:colId xmlns:a16="http://schemas.microsoft.com/office/drawing/2014/main" val="1251415092"/>
                    </a:ext>
                  </a:extLst>
                </a:gridCol>
                <a:gridCol w="745141">
                  <a:extLst>
                    <a:ext uri="{9D8B030D-6E8A-4147-A177-3AD203B41FA5}">
                      <a16:colId xmlns:a16="http://schemas.microsoft.com/office/drawing/2014/main" val="3328877934"/>
                    </a:ext>
                  </a:extLst>
                </a:gridCol>
                <a:gridCol w="348273">
                  <a:extLst>
                    <a:ext uri="{9D8B030D-6E8A-4147-A177-3AD203B41FA5}">
                      <a16:colId xmlns:a16="http://schemas.microsoft.com/office/drawing/2014/main" val="1342206199"/>
                    </a:ext>
                  </a:extLst>
                </a:gridCol>
                <a:gridCol w="615887">
                  <a:extLst>
                    <a:ext uri="{9D8B030D-6E8A-4147-A177-3AD203B41FA5}">
                      <a16:colId xmlns:a16="http://schemas.microsoft.com/office/drawing/2014/main" val="2557239201"/>
                    </a:ext>
                  </a:extLst>
                </a:gridCol>
                <a:gridCol w="407324">
                  <a:extLst>
                    <a:ext uri="{9D8B030D-6E8A-4147-A177-3AD203B41FA5}">
                      <a16:colId xmlns:a16="http://schemas.microsoft.com/office/drawing/2014/main" val="2614998680"/>
                    </a:ext>
                  </a:extLst>
                </a:gridCol>
                <a:gridCol w="365760">
                  <a:extLst>
                    <a:ext uri="{9D8B030D-6E8A-4147-A177-3AD203B41FA5}">
                      <a16:colId xmlns:a16="http://schemas.microsoft.com/office/drawing/2014/main" val="2194819789"/>
                    </a:ext>
                  </a:extLst>
                </a:gridCol>
                <a:gridCol w="249381">
                  <a:extLst>
                    <a:ext uri="{9D8B030D-6E8A-4147-A177-3AD203B41FA5}">
                      <a16:colId xmlns:a16="http://schemas.microsoft.com/office/drawing/2014/main" val="4230838701"/>
                    </a:ext>
                  </a:extLst>
                </a:gridCol>
                <a:gridCol w="199507">
                  <a:extLst>
                    <a:ext uri="{9D8B030D-6E8A-4147-A177-3AD203B41FA5}">
                      <a16:colId xmlns:a16="http://schemas.microsoft.com/office/drawing/2014/main" val="1035632587"/>
                    </a:ext>
                  </a:extLst>
                </a:gridCol>
                <a:gridCol w="307571">
                  <a:extLst>
                    <a:ext uri="{9D8B030D-6E8A-4147-A177-3AD203B41FA5}">
                      <a16:colId xmlns:a16="http://schemas.microsoft.com/office/drawing/2014/main" val="2088889323"/>
                    </a:ext>
                  </a:extLst>
                </a:gridCol>
                <a:gridCol w="365372">
                  <a:extLst>
                    <a:ext uri="{9D8B030D-6E8A-4147-A177-3AD203B41FA5}">
                      <a16:colId xmlns:a16="http://schemas.microsoft.com/office/drawing/2014/main" val="1115703475"/>
                    </a:ext>
                  </a:extLst>
                </a:gridCol>
                <a:gridCol w="424337">
                  <a:extLst>
                    <a:ext uri="{9D8B030D-6E8A-4147-A177-3AD203B41FA5}">
                      <a16:colId xmlns:a16="http://schemas.microsoft.com/office/drawing/2014/main" val="1216452104"/>
                    </a:ext>
                  </a:extLst>
                </a:gridCol>
                <a:gridCol w="296506">
                  <a:extLst>
                    <a:ext uri="{9D8B030D-6E8A-4147-A177-3AD203B41FA5}">
                      <a16:colId xmlns:a16="http://schemas.microsoft.com/office/drawing/2014/main" val="1427260383"/>
                    </a:ext>
                  </a:extLst>
                </a:gridCol>
                <a:gridCol w="469763">
                  <a:extLst>
                    <a:ext uri="{9D8B030D-6E8A-4147-A177-3AD203B41FA5}">
                      <a16:colId xmlns:a16="http://schemas.microsoft.com/office/drawing/2014/main" val="456799420"/>
                    </a:ext>
                  </a:extLst>
                </a:gridCol>
                <a:gridCol w="396869">
                  <a:extLst>
                    <a:ext uri="{9D8B030D-6E8A-4147-A177-3AD203B41FA5}">
                      <a16:colId xmlns:a16="http://schemas.microsoft.com/office/drawing/2014/main" val="1736729114"/>
                    </a:ext>
                  </a:extLst>
                </a:gridCol>
                <a:gridCol w="510260">
                  <a:extLst>
                    <a:ext uri="{9D8B030D-6E8A-4147-A177-3AD203B41FA5}">
                      <a16:colId xmlns:a16="http://schemas.microsoft.com/office/drawing/2014/main" val="2212924861"/>
                    </a:ext>
                  </a:extLst>
                </a:gridCol>
                <a:gridCol w="290363">
                  <a:extLst>
                    <a:ext uri="{9D8B030D-6E8A-4147-A177-3AD203B41FA5}">
                      <a16:colId xmlns:a16="http://schemas.microsoft.com/office/drawing/2014/main" val="3568075189"/>
                    </a:ext>
                  </a:extLst>
                </a:gridCol>
              </a:tblGrid>
              <a:tr h="119749">
                <a:tc rowSpan="2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지역영업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그룹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거점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점포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개월내 감사실시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와이즈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근무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출장소갯수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위험평가</a:t>
                      </a:r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년별</a:t>
                      </a:r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3611104"/>
                  </a:ext>
                </a:extLst>
              </a:tr>
              <a:tr h="17774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총계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 smtClean="0"/>
                        <a:t>전체</a:t>
                      </a:r>
                      <a:endParaRPr lang="en-US" altLang="ko-KR" sz="700" b="1" dirty="0" smtClean="0"/>
                    </a:p>
                    <a:p>
                      <a:pPr algn="ctr" latinLnBrk="1"/>
                      <a:r>
                        <a:rPr lang="ko-KR" altLang="en-US" sz="700" b="1" dirty="0" smtClean="0"/>
                        <a:t>순위</a:t>
                      </a:r>
                      <a:endParaRPr lang="ko-KR" altLang="en-US" sz="700" b="1" dirty="0"/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지역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PG</a:t>
                      </a: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운영모델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수준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예정</a:t>
                      </a:r>
                      <a:endParaRPr lang="en-US" altLang="ko-KR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감사구분</a:t>
                      </a:r>
                      <a:endParaRPr lang="ko-KR" altLang="en-US" sz="700" b="1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3290565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서울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[3335]</a:t>
                      </a:r>
                      <a:r>
                        <a:rPr lang="ko-KR" altLang="en-US" sz="70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강남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[5294]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삼성동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4.194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고위험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종합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826935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서울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[3335]</a:t>
                      </a:r>
                      <a:r>
                        <a:rPr lang="ko-KR" altLang="en-US" sz="70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강남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...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[5812]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삼성역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15.21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저위험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여신부문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5422849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서울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[3335]</a:t>
                      </a:r>
                      <a:r>
                        <a:rPr lang="ko-KR" altLang="en-US" sz="70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강남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[2073]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대청역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13.84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중위험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여신부문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3961093"/>
                  </a:ext>
                </a:extLst>
              </a:tr>
            </a:tbl>
          </a:graphicData>
        </a:graphic>
      </p:graphicFrame>
      <p:sp>
        <p:nvSpPr>
          <p:cNvPr id="69" name="직사각형 6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42045" y="2424671"/>
            <a:ext cx="108000" cy="10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42045" y="2778406"/>
            <a:ext cx="108000" cy="10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42045" y="3162973"/>
            <a:ext cx="108000" cy="10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72" name="Freeform 46">
            <a:extLst>
              <a:ext uri="{FF2B5EF4-FFF2-40B4-BE49-F238E27FC236}">
                <a16:creationId xmlns:a16="http://schemas.microsoft.com/office/drawing/2014/main" id="{36BBD547-1346-F115-36F1-EB48123B65CE}"/>
              </a:ext>
            </a:extLst>
          </p:cNvPr>
          <p:cNvSpPr>
            <a:spLocks noEditPoints="1"/>
          </p:cNvSpPr>
          <p:nvPr/>
        </p:nvSpPr>
        <p:spPr bwMode="auto">
          <a:xfrm>
            <a:off x="232545" y="2968017"/>
            <a:ext cx="120301" cy="120558"/>
          </a:xfrm>
          <a:custGeom>
            <a:avLst/>
            <a:gdLst/>
            <a:ahLst/>
            <a:cxnLst>
              <a:cxn ang="0">
                <a:pos x="55" y="44"/>
              </a:cxn>
              <a:cxn ang="0">
                <a:pos x="44" y="55"/>
              </a:cxn>
              <a:cxn ang="0">
                <a:pos x="10" y="55"/>
              </a:cxn>
              <a:cxn ang="0">
                <a:pos x="0" y="44"/>
              </a:cxn>
              <a:cxn ang="0">
                <a:pos x="0" y="10"/>
              </a:cxn>
              <a:cxn ang="0">
                <a:pos x="10" y="0"/>
              </a:cxn>
              <a:cxn ang="0">
                <a:pos x="44" y="0"/>
              </a:cxn>
              <a:cxn ang="0">
                <a:pos x="55" y="10"/>
              </a:cxn>
              <a:cxn ang="0">
                <a:pos x="55" y="44"/>
              </a:cxn>
              <a:cxn ang="0">
                <a:pos x="46" y="20"/>
              </a:cxn>
              <a:cxn ang="0">
                <a:pos x="46" y="17"/>
              </a:cxn>
              <a:cxn ang="0">
                <a:pos x="42" y="13"/>
              </a:cxn>
              <a:cxn ang="0">
                <a:pos x="39" y="13"/>
              </a:cxn>
              <a:cxn ang="0">
                <a:pos x="23" y="30"/>
              </a:cxn>
              <a:cxn ang="0">
                <a:pos x="15" y="22"/>
              </a:cxn>
              <a:cxn ang="0">
                <a:pos x="12" y="22"/>
              </a:cxn>
              <a:cxn ang="0">
                <a:pos x="8" y="26"/>
              </a:cxn>
              <a:cxn ang="0">
                <a:pos x="8" y="29"/>
              </a:cxn>
              <a:cxn ang="0">
                <a:pos x="21" y="42"/>
              </a:cxn>
              <a:cxn ang="0">
                <a:pos x="24" y="42"/>
              </a:cxn>
              <a:cxn ang="0">
                <a:pos x="46" y="20"/>
              </a:cxn>
            </a:cxnLst>
            <a:rect l="0" t="0" r="r" b="b"/>
            <a:pathLst>
              <a:path w="55" h="55">
                <a:moveTo>
                  <a:pt x="55" y="44"/>
                </a:moveTo>
                <a:cubicBezTo>
                  <a:pt x="55" y="50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0"/>
                </a:cubicBezTo>
                <a:lnTo>
                  <a:pt x="55" y="44"/>
                </a:lnTo>
                <a:close/>
                <a:moveTo>
                  <a:pt x="46" y="20"/>
                </a:moveTo>
                <a:cubicBezTo>
                  <a:pt x="47" y="19"/>
                  <a:pt x="47" y="17"/>
                  <a:pt x="46" y="17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2"/>
                  <a:pt x="40" y="12"/>
                  <a:pt x="39" y="13"/>
                </a:cubicBezTo>
                <a:cubicBezTo>
                  <a:pt x="23" y="30"/>
                  <a:pt x="23" y="30"/>
                  <a:pt x="23" y="30"/>
                </a:cubicBezTo>
                <a:cubicBezTo>
                  <a:pt x="15" y="22"/>
                  <a:pt x="15" y="22"/>
                  <a:pt x="15" y="22"/>
                </a:cubicBezTo>
                <a:cubicBezTo>
                  <a:pt x="14" y="21"/>
                  <a:pt x="13" y="21"/>
                  <a:pt x="12" y="22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7"/>
                  <a:pt x="7" y="28"/>
                  <a:pt x="8" y="29"/>
                </a:cubicBezTo>
                <a:cubicBezTo>
                  <a:pt x="21" y="42"/>
                  <a:pt x="21" y="42"/>
                  <a:pt x="21" y="42"/>
                </a:cubicBezTo>
                <a:cubicBezTo>
                  <a:pt x="22" y="43"/>
                  <a:pt x="23" y="43"/>
                  <a:pt x="24" y="42"/>
                </a:cubicBezTo>
                <a:lnTo>
                  <a:pt x="46" y="20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100687" tIns="50343" rIns="100687" bIns="50343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135923" rtl="0" eaLnBrk="0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202" b="0" i="0" u="none" strike="noStrike" kern="0" cap="none" spc="0" normalizeH="0" baseline="0" noProof="0">
              <a:ln>
                <a:solidFill>
                  <a:srgbClr val="F9A84A"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3" name="직사각형 72"/>
          <p:cNvSpPr/>
          <p:nvPr/>
        </p:nvSpPr>
        <p:spPr bwMode="auto">
          <a:xfrm>
            <a:off x="2655327" y="2340346"/>
            <a:ext cx="1063233" cy="965680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4" name="직사각형 73"/>
          <p:cNvSpPr/>
          <p:nvPr/>
        </p:nvSpPr>
        <p:spPr bwMode="auto">
          <a:xfrm>
            <a:off x="172168" y="2941338"/>
            <a:ext cx="276719" cy="199688"/>
          </a:xfrm>
          <a:prstGeom prst="rect">
            <a:avLst/>
          </a:prstGeom>
          <a:noFill/>
          <a:ln w="15875">
            <a:solidFill>
              <a:schemeClr val="accent1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38084" y="2823186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7" name="타원 7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601328" y="3630919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7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9" name="타원 7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708912" y="491044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6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80" name="표 79"/>
          <p:cNvGraphicFramePr>
            <a:graphicFrameLocks noGrp="1"/>
          </p:cNvGraphicFramePr>
          <p:nvPr>
            <p:extLst/>
          </p:nvPr>
        </p:nvGraphicFramePr>
        <p:xfrm>
          <a:off x="2035653" y="4789949"/>
          <a:ext cx="1673259" cy="792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3247">
                  <a:extLst>
                    <a:ext uri="{9D8B030D-6E8A-4147-A177-3AD203B41FA5}">
                      <a16:colId xmlns:a16="http://schemas.microsoft.com/office/drawing/2014/main" val="2088889323"/>
                    </a:ext>
                  </a:extLst>
                </a:gridCol>
                <a:gridCol w="473826">
                  <a:extLst>
                    <a:ext uri="{9D8B030D-6E8A-4147-A177-3AD203B41FA5}">
                      <a16:colId xmlns:a16="http://schemas.microsoft.com/office/drawing/2014/main" val="1115703475"/>
                    </a:ext>
                  </a:extLst>
                </a:gridCol>
                <a:gridCol w="736186">
                  <a:extLst>
                    <a:ext uri="{9D8B030D-6E8A-4147-A177-3AD203B41FA5}">
                      <a16:colId xmlns:a16="http://schemas.microsoft.com/office/drawing/2014/main" val="1216452104"/>
                    </a:ext>
                  </a:extLst>
                </a:gridCol>
              </a:tblGrid>
              <a:tr h="11974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전체순위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예정감사구분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3611104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15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고위험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종합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3290565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200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중위험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여신부문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826935"/>
                  </a:ext>
                </a:extLst>
              </a:tr>
              <a:tr h="11974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190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중위험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여신부문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5422849"/>
                  </a:ext>
                </a:extLst>
              </a:tr>
            </a:tbl>
          </a:graphicData>
        </a:graphic>
      </p:graphicFrame>
      <p:sp>
        <p:nvSpPr>
          <p:cNvPr id="81" name="아래쪽 화살표 80"/>
          <p:cNvSpPr/>
          <p:nvPr/>
        </p:nvSpPr>
        <p:spPr bwMode="auto">
          <a:xfrm flipV="1">
            <a:off x="3201963" y="4515299"/>
            <a:ext cx="184322" cy="227191"/>
          </a:xfrm>
          <a:prstGeom prst="downArrow">
            <a:avLst/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2" name="직사각형 81"/>
          <p:cNvSpPr/>
          <p:nvPr/>
        </p:nvSpPr>
        <p:spPr>
          <a:xfrm>
            <a:off x="2596247" y="1193321"/>
            <a:ext cx="86754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defTabSz="914395" fontAlgn="ctr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 spc="-1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◎ </a:t>
            </a:r>
            <a:r>
              <a:rPr lang="en-US" altLang="ko-KR" sz="800" spc="-1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PG</a:t>
            </a:r>
            <a:r>
              <a:rPr lang="ko-KR" altLang="en-US" sz="800" spc="-1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별    ○ 지점별</a:t>
            </a:r>
            <a:endParaRPr lang="ko-KR" altLang="en-US" sz="8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86" name="그림 8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396949" y="4495029"/>
            <a:ext cx="2481433" cy="190915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92142078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99007" y="3566381"/>
            <a:ext cx="707917" cy="171687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타부서</a:t>
            </a:r>
            <a:r>
              <a:rPr kumimoji="0" lang="ko-KR" altLang="en-US" sz="800" spc="-100" noProof="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감사역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MDD-00012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MDD75G62002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감사역 배정 등록 팝업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등록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(P50: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유성용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973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304033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[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등록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]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화면의 그리드목록에서 </a:t>
                      </a: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특정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배정 감사역 항목을 클릭 할 경우 오픈 되는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팝업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en-US" altLang="ko-KR" sz="800" kern="1200" baseline="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347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[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등록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화면에서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넘겨받은 특정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감사부점에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대한 정보를 조회하여  자동으로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보여준다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23060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감사부점관련감사역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기존 기능 유지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감사역검색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클릭시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하단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감사역 목록에서  검색한 감사역을 찾아서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그리드의 포커스를 이동시켜준다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왼쪽 그리드 감사역목록에서 선택한 감사역을 오른쪽 그리드 목록으로  배정하거나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취소하기 위한 작업으로 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클릭하여 저장하기 전까지는 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감사부점에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등록되지 않는다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반장선택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클릭하여 반장을 선택한다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반장선택이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되지 않으면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버튼으로 등록할 수 없다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타부서감사역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타부서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감사역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목록 팝업 화면이 보여지며 해당 감사역을 선택하여</a:t>
                      </a: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타부서의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감사역을 선택할 수 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클릭하여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반장까지 배정한 감사역</a:t>
                      </a: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목록을  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감사부점에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저장하고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팝업화면을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닫으며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화면이 그리드가 자동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재조회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되어  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갱신된 감사역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정보를 보여준다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7986970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클릭하여 현재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감사부점에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등록되어 있는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감사역이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있다면  감사역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배정정보를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삭제 저장하고 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팝업화면을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닫으며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화면이 자동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재조회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되어 해당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부점에서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감사역이 삭제되어 있는 상태를 확인할 수 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967971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22766"/>
                  </a:ext>
                </a:extLst>
              </a:tr>
            </a:tbl>
          </a:graphicData>
        </a:graphic>
      </p:graphicFrame>
      <p:sp>
        <p:nvSpPr>
          <p:cNvPr id="30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03533" y="1088193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1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170976" y="1088195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3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185793" y="1348526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34" name="내용 개체 틀 121"/>
          <p:cNvGraphicFramePr>
            <a:graphicFrameLocks/>
          </p:cNvGraphicFramePr>
          <p:nvPr>
            <p:extLst/>
          </p:nvPr>
        </p:nvGraphicFramePr>
        <p:xfrm>
          <a:off x="185791" y="1396497"/>
          <a:ext cx="6726396" cy="20294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622332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581891">
                  <a:extLst>
                    <a:ext uri="{9D8B030D-6E8A-4147-A177-3AD203B41FA5}">
                      <a16:colId xmlns:a16="http://schemas.microsoft.com/office/drawing/2014/main" val="1602786648"/>
                    </a:ext>
                  </a:extLst>
                </a:gridCol>
                <a:gridCol w="448887">
                  <a:extLst>
                    <a:ext uri="{9D8B030D-6E8A-4147-A177-3AD203B41FA5}">
                      <a16:colId xmlns:a16="http://schemas.microsoft.com/office/drawing/2014/main" val="1994243922"/>
                    </a:ext>
                  </a:extLst>
                </a:gridCol>
                <a:gridCol w="631767">
                  <a:extLst>
                    <a:ext uri="{9D8B030D-6E8A-4147-A177-3AD203B41FA5}">
                      <a16:colId xmlns:a16="http://schemas.microsoft.com/office/drawing/2014/main" val="1645797918"/>
                    </a:ext>
                  </a:extLst>
                </a:gridCol>
                <a:gridCol w="3503969">
                  <a:extLst>
                    <a:ext uri="{9D8B030D-6E8A-4147-A177-3AD203B41FA5}">
                      <a16:colId xmlns:a16="http://schemas.microsoft.com/office/drawing/2014/main" val="1483068701"/>
                    </a:ext>
                  </a:extLst>
                </a:gridCol>
              </a:tblGrid>
              <a:tr h="20294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 err="1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감사계획년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2024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 err="1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감사종류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감사계획차수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27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graphicFrame>
        <p:nvGraphicFramePr>
          <p:cNvPr id="35" name="내용 개체 틀 121"/>
          <p:cNvGraphicFramePr>
            <a:graphicFrameLocks/>
          </p:cNvGraphicFramePr>
          <p:nvPr>
            <p:extLst/>
          </p:nvPr>
        </p:nvGraphicFramePr>
        <p:xfrm>
          <a:off x="184476" y="1653833"/>
          <a:ext cx="6698615" cy="4890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24312">
                  <a:extLst>
                    <a:ext uri="{9D8B030D-6E8A-4147-A177-3AD203B41FA5}">
                      <a16:colId xmlns:a16="http://schemas.microsoft.com/office/drawing/2014/main" val="1325555519"/>
                    </a:ext>
                  </a:extLst>
                </a:gridCol>
                <a:gridCol w="1014135">
                  <a:extLst>
                    <a:ext uri="{9D8B030D-6E8A-4147-A177-3AD203B41FA5}">
                      <a16:colId xmlns:a16="http://schemas.microsoft.com/office/drawing/2014/main" val="3109369146"/>
                    </a:ext>
                  </a:extLst>
                </a:gridCol>
                <a:gridCol w="1165042">
                  <a:extLst>
                    <a:ext uri="{9D8B030D-6E8A-4147-A177-3AD203B41FA5}">
                      <a16:colId xmlns:a16="http://schemas.microsoft.com/office/drawing/2014/main" val="3484451531"/>
                    </a:ext>
                  </a:extLst>
                </a:gridCol>
                <a:gridCol w="1165042">
                  <a:extLst>
                    <a:ext uri="{9D8B030D-6E8A-4147-A177-3AD203B41FA5}">
                      <a16:colId xmlns:a16="http://schemas.microsoft.com/office/drawing/2014/main" val="2707511199"/>
                    </a:ext>
                  </a:extLst>
                </a:gridCol>
                <a:gridCol w="1165042">
                  <a:extLst>
                    <a:ext uri="{9D8B030D-6E8A-4147-A177-3AD203B41FA5}">
                      <a16:colId xmlns:a16="http://schemas.microsoft.com/office/drawing/2014/main" val="64627311"/>
                    </a:ext>
                  </a:extLst>
                </a:gridCol>
                <a:gridCol w="1165042">
                  <a:extLst>
                    <a:ext uri="{9D8B030D-6E8A-4147-A177-3AD203B41FA5}">
                      <a16:colId xmlns:a16="http://schemas.microsoft.com/office/drawing/2014/main" val="3349953750"/>
                    </a:ext>
                  </a:extLst>
                </a:gridCol>
              </a:tblGrid>
              <a:tr h="275682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지역그룹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지역본부</a:t>
                      </a:r>
                      <a:r>
                        <a:rPr lang="en-US" altLang="ko-KR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(PG)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감사부점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감사인원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감사반장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배정 감사역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13342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강서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강서</a:t>
                      </a: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1(</a:t>
                      </a: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마곡</a:t>
                      </a: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지역본부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[6493]</a:t>
                      </a: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마곡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이</a:t>
                      </a: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**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이</a:t>
                      </a: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**,</a:t>
                      </a: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홍</a:t>
                      </a: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**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0641114"/>
                  </a:ext>
                </a:extLst>
              </a:tr>
            </a:tbl>
          </a:graphicData>
        </a:graphic>
      </p:graphicFrame>
      <p:graphicFrame>
        <p:nvGraphicFramePr>
          <p:cNvPr id="41" name="표 40"/>
          <p:cNvGraphicFramePr>
            <a:graphicFrameLocks noGrp="1"/>
          </p:cNvGraphicFramePr>
          <p:nvPr>
            <p:extLst/>
          </p:nvPr>
        </p:nvGraphicFramePr>
        <p:xfrm>
          <a:off x="170977" y="3537173"/>
          <a:ext cx="3145801" cy="240408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2977">
                  <a:extLst>
                    <a:ext uri="{9D8B030D-6E8A-4147-A177-3AD203B41FA5}">
                      <a16:colId xmlns:a16="http://schemas.microsoft.com/office/drawing/2014/main" val="3203214728"/>
                    </a:ext>
                  </a:extLst>
                </a:gridCol>
                <a:gridCol w="2422824">
                  <a:extLst>
                    <a:ext uri="{9D8B030D-6E8A-4147-A177-3AD203B41FA5}">
                      <a16:colId xmlns:a16="http://schemas.microsoft.com/office/drawing/2014/main" val="2968355012"/>
                    </a:ext>
                  </a:extLst>
                </a:gridCol>
              </a:tblGrid>
              <a:tr h="245118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감사역명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51048157"/>
                  </a:ext>
                </a:extLst>
              </a:tr>
              <a:tr h="2158970">
                <a:tc gridSpan="2"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471906"/>
                  </a:ext>
                </a:extLst>
              </a:tr>
            </a:tbl>
          </a:graphicData>
        </a:graphic>
      </p:graphicFrame>
      <p:sp>
        <p:nvSpPr>
          <p:cNvPr id="49" name="직사각형 4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132173" y="3575390"/>
            <a:ext cx="767169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50" name="표 49"/>
          <p:cNvGraphicFramePr>
            <a:graphicFrameLocks noGrp="1"/>
          </p:cNvGraphicFramePr>
          <p:nvPr>
            <p:extLst/>
          </p:nvPr>
        </p:nvGraphicFramePr>
        <p:xfrm>
          <a:off x="262066" y="3880670"/>
          <a:ext cx="2938333" cy="1889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9847">
                  <a:extLst>
                    <a:ext uri="{9D8B030D-6E8A-4147-A177-3AD203B41FA5}">
                      <a16:colId xmlns:a16="http://schemas.microsoft.com/office/drawing/2014/main" val="2647806698"/>
                    </a:ext>
                  </a:extLst>
                </a:gridCol>
                <a:gridCol w="807376">
                  <a:extLst>
                    <a:ext uri="{9D8B030D-6E8A-4147-A177-3AD203B41FA5}">
                      <a16:colId xmlns:a16="http://schemas.microsoft.com/office/drawing/2014/main" val="3770631931"/>
                    </a:ext>
                  </a:extLst>
                </a:gridCol>
                <a:gridCol w="974670">
                  <a:extLst>
                    <a:ext uri="{9D8B030D-6E8A-4147-A177-3AD203B41FA5}">
                      <a16:colId xmlns:a16="http://schemas.microsoft.com/office/drawing/2014/main" val="4172561946"/>
                    </a:ext>
                  </a:extLst>
                </a:gridCol>
                <a:gridCol w="288774">
                  <a:extLst>
                    <a:ext uri="{9D8B030D-6E8A-4147-A177-3AD203B41FA5}">
                      <a16:colId xmlns:a16="http://schemas.microsoft.com/office/drawing/2014/main" val="1480536561"/>
                    </a:ext>
                  </a:extLst>
                </a:gridCol>
                <a:gridCol w="587666">
                  <a:extLst>
                    <a:ext uri="{9D8B030D-6E8A-4147-A177-3AD203B41FA5}">
                      <a16:colId xmlns:a16="http://schemas.microsoft.com/office/drawing/2014/main" val="754677486"/>
                    </a:ext>
                  </a:extLst>
                </a:gridCol>
              </a:tblGrid>
              <a:tr h="17722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현부점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감사역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직급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0979869"/>
                  </a:ext>
                </a:extLst>
              </a:tr>
              <a:tr h="17722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[2310542]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L4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5387088"/>
                  </a:ext>
                </a:extLst>
              </a:tr>
              <a:tr h="17722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[2340049]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L3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4830211"/>
                  </a:ext>
                </a:extLst>
              </a:tr>
              <a:tr h="17722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[2796255]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배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OO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L3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1211812"/>
                  </a:ext>
                </a:extLst>
              </a:tr>
              <a:tr h="17722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[3807860]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OO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L3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1552450"/>
                  </a:ext>
                </a:extLst>
              </a:tr>
              <a:tr h="17722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[3160412]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한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OO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L2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2848344"/>
                  </a:ext>
                </a:extLst>
              </a:tr>
              <a:tr h="17722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[2536829]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주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OO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L2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9074504"/>
                  </a:ext>
                </a:extLst>
              </a:tr>
              <a:tr h="17722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[2310542]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OO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L2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065697"/>
                  </a:ext>
                </a:extLst>
              </a:tr>
              <a:tr h="17722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[3105261]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박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OO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L2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7092511"/>
                  </a:ext>
                </a:extLst>
              </a:tr>
            </a:tbl>
          </a:graphicData>
        </a:graphic>
      </p:graphicFrame>
      <p:grpSp>
        <p:nvGrpSpPr>
          <p:cNvPr id="51" name="그룹 50"/>
          <p:cNvGrpSpPr/>
          <p:nvPr/>
        </p:nvGrpSpPr>
        <p:grpSpPr>
          <a:xfrm>
            <a:off x="3383239" y="4360985"/>
            <a:ext cx="340863" cy="626652"/>
            <a:chOff x="3569983" y="4596931"/>
            <a:chExt cx="457200" cy="756465"/>
          </a:xfrm>
        </p:grpSpPr>
        <p:sp>
          <p:nvSpPr>
            <p:cNvPr id="52" name="직사각형 51"/>
            <p:cNvSpPr/>
            <p:nvPr/>
          </p:nvSpPr>
          <p:spPr bwMode="auto">
            <a:xfrm>
              <a:off x="3569983" y="4596931"/>
              <a:ext cx="457200" cy="35744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 cap="flat" cmpd="sng" algn="ctr">
              <a:solidFill>
                <a:srgbClr val="F1A600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algn="ctr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1400" b="1" i="0" u="none" strike="noStrike" kern="0" cap="none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&gt;</a:t>
              </a:r>
              <a:endParaRPr kumimoji="0" lang="ko-KR" altLang="en-US" sz="1400" b="1" i="0" u="none" strike="noStrike" kern="0" cap="none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53" name="직사각형 52"/>
            <p:cNvSpPr/>
            <p:nvPr/>
          </p:nvSpPr>
          <p:spPr bwMode="auto">
            <a:xfrm>
              <a:off x="3569983" y="4995948"/>
              <a:ext cx="457200" cy="357448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 cap="flat" cmpd="sng" algn="ctr">
              <a:solidFill>
                <a:srgbClr val="F1A600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algn="ctr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b="1" kern="0" dirty="0">
                  <a:solidFill>
                    <a:srgbClr val="000000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&lt;</a:t>
              </a:r>
              <a:endParaRPr kumimoji="0" lang="ko-KR" altLang="en-US" sz="1400" b="1" i="0" u="none" strike="noStrike" kern="0" cap="none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graphicFrame>
        <p:nvGraphicFramePr>
          <p:cNvPr id="54" name="표 53"/>
          <p:cNvGraphicFramePr>
            <a:graphicFrameLocks noGrp="1"/>
          </p:cNvGraphicFramePr>
          <p:nvPr>
            <p:extLst/>
          </p:nvPr>
        </p:nvGraphicFramePr>
        <p:xfrm>
          <a:off x="3809589" y="3537173"/>
          <a:ext cx="3145801" cy="240408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2977">
                  <a:extLst>
                    <a:ext uri="{9D8B030D-6E8A-4147-A177-3AD203B41FA5}">
                      <a16:colId xmlns:a16="http://schemas.microsoft.com/office/drawing/2014/main" val="3203214728"/>
                    </a:ext>
                  </a:extLst>
                </a:gridCol>
                <a:gridCol w="2422824">
                  <a:extLst>
                    <a:ext uri="{9D8B030D-6E8A-4147-A177-3AD203B41FA5}">
                      <a16:colId xmlns:a16="http://schemas.microsoft.com/office/drawing/2014/main" val="2968355012"/>
                    </a:ext>
                  </a:extLst>
                </a:gridCol>
              </a:tblGrid>
              <a:tr h="245118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반장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[S023712]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51048157"/>
                  </a:ext>
                </a:extLst>
              </a:tr>
              <a:tr h="2158970">
                <a:tc gridSpan="2"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471906"/>
                  </a:ext>
                </a:extLst>
              </a:tr>
            </a:tbl>
          </a:graphicData>
        </a:graphic>
      </p:graphicFrame>
      <p:graphicFrame>
        <p:nvGraphicFramePr>
          <p:cNvPr id="56" name="표 55"/>
          <p:cNvGraphicFramePr>
            <a:graphicFrameLocks noGrp="1"/>
          </p:cNvGraphicFramePr>
          <p:nvPr>
            <p:extLst/>
          </p:nvPr>
        </p:nvGraphicFramePr>
        <p:xfrm>
          <a:off x="3900678" y="3880670"/>
          <a:ext cx="2938333" cy="701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9847">
                  <a:extLst>
                    <a:ext uri="{9D8B030D-6E8A-4147-A177-3AD203B41FA5}">
                      <a16:colId xmlns:a16="http://schemas.microsoft.com/office/drawing/2014/main" val="2647806698"/>
                    </a:ext>
                  </a:extLst>
                </a:gridCol>
                <a:gridCol w="807376">
                  <a:extLst>
                    <a:ext uri="{9D8B030D-6E8A-4147-A177-3AD203B41FA5}">
                      <a16:colId xmlns:a16="http://schemas.microsoft.com/office/drawing/2014/main" val="3770631931"/>
                    </a:ext>
                  </a:extLst>
                </a:gridCol>
                <a:gridCol w="974670">
                  <a:extLst>
                    <a:ext uri="{9D8B030D-6E8A-4147-A177-3AD203B41FA5}">
                      <a16:colId xmlns:a16="http://schemas.microsoft.com/office/drawing/2014/main" val="4172561946"/>
                    </a:ext>
                  </a:extLst>
                </a:gridCol>
                <a:gridCol w="288774">
                  <a:extLst>
                    <a:ext uri="{9D8B030D-6E8A-4147-A177-3AD203B41FA5}">
                      <a16:colId xmlns:a16="http://schemas.microsoft.com/office/drawing/2014/main" val="1480536561"/>
                    </a:ext>
                  </a:extLst>
                </a:gridCol>
                <a:gridCol w="587666">
                  <a:extLst>
                    <a:ext uri="{9D8B030D-6E8A-4147-A177-3AD203B41FA5}">
                      <a16:colId xmlns:a16="http://schemas.microsoft.com/office/drawing/2014/main" val="754677486"/>
                    </a:ext>
                  </a:extLst>
                </a:gridCol>
              </a:tblGrid>
              <a:tr h="17722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현부점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감사역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직급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0979869"/>
                  </a:ext>
                </a:extLst>
              </a:tr>
              <a:tr h="17722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본점감사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[2310542]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L4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5387088"/>
                  </a:ext>
                </a:extLst>
              </a:tr>
              <a:tr h="17722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본점감사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[2340049]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L3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9260500"/>
                  </a:ext>
                </a:extLst>
              </a:tr>
            </a:tbl>
          </a:graphicData>
        </a:graphic>
      </p:graphicFrame>
      <p:sp>
        <p:nvSpPr>
          <p:cNvPr id="62" name="타원 6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456370" y="418421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078225" y="1412867"/>
            <a:ext cx="848658" cy="171687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감사부점</a:t>
            </a: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800" spc="-100" dirty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관련  감사역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558647" y="3566381"/>
            <a:ext cx="612023" cy="171687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반장선택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1962744" y="3583455"/>
            <a:ext cx="641349" cy="171687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err="1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감사역검색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1" name="직사각형 110"/>
          <p:cNvSpPr/>
          <p:nvPr/>
        </p:nvSpPr>
        <p:spPr bwMode="auto">
          <a:xfrm>
            <a:off x="160230" y="1396497"/>
            <a:ext cx="5577643" cy="756361"/>
          </a:xfrm>
          <a:prstGeom prst="rect">
            <a:avLst/>
          </a:prstGeom>
          <a:noFill/>
          <a:ln w="15875">
            <a:solidFill>
              <a:schemeClr val="accent1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2" name="타원 11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35984" y="1250546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864658" y="3274205"/>
            <a:ext cx="569576" cy="167107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등록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15199" y="3269167"/>
            <a:ext cx="433934" cy="171687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삭제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002264" y="1286491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977540" y="3378192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566788" y="341583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252948" y="369573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6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864658" y="314433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7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8" name="타원 6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520284" y="311103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8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97759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1212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21259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조회처리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기존 기능 유지한다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34282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‘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등록‘ 화면에서 확정 된 대상들만 본 화면에서 조회됨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화면연계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한다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60682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입력 정보를 기반으로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기안문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양식이 자동생성 되며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파일로 다운로드 가능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감사계획차수 기준으로 생성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한다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※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기안문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양식 별도 제공 필요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35744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b="1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MDD-00014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MDD75G57000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조회처리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(1/2)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조회처리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(P52: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정용욱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7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49672" y="1387451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" name="양쪽 모서리가 둥근 사각형 7"/>
          <p:cNvSpPr/>
          <p:nvPr/>
        </p:nvSpPr>
        <p:spPr bwMode="auto">
          <a:xfrm>
            <a:off x="256175" y="1462047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감사계획 </a:t>
            </a:r>
            <a:r>
              <a:rPr kumimoji="0" lang="ko-KR" altLang="en-US" sz="700" noProof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조회처리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56176" y="1647782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0" name="내용 개체 틀 121"/>
          <p:cNvGraphicFramePr>
            <a:graphicFrameLocks/>
          </p:cNvGraphicFramePr>
          <p:nvPr>
            <p:extLst/>
          </p:nvPr>
        </p:nvGraphicFramePr>
        <p:xfrm>
          <a:off x="256174" y="1695753"/>
          <a:ext cx="6726396" cy="20294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157769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1157769">
                  <a:extLst>
                    <a:ext uri="{9D8B030D-6E8A-4147-A177-3AD203B41FA5}">
                      <a16:colId xmlns:a16="http://schemas.microsoft.com/office/drawing/2014/main" val="1602786648"/>
                    </a:ext>
                  </a:extLst>
                </a:gridCol>
                <a:gridCol w="3473308">
                  <a:extLst>
                    <a:ext uri="{9D8B030D-6E8A-4147-A177-3AD203B41FA5}">
                      <a16:colId xmlns:a16="http://schemas.microsoft.com/office/drawing/2014/main" val="1994243922"/>
                    </a:ext>
                  </a:extLst>
                </a:gridCol>
              </a:tblGrid>
              <a:tr h="20294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감사종류</a:t>
                      </a:r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2024</a:t>
                      </a:r>
                      <a:endParaRPr lang="ko-KR" altLang="en-US" sz="8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감사구분</a:t>
                      </a:r>
                      <a:endParaRPr lang="ko-KR" altLang="en-US" sz="8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graphicFrame>
        <p:nvGraphicFramePr>
          <p:cNvPr id="11" name="내용 개체 틀 121"/>
          <p:cNvGraphicFramePr>
            <a:graphicFrameLocks/>
          </p:cNvGraphicFramePr>
          <p:nvPr>
            <p:extLst/>
          </p:nvPr>
        </p:nvGraphicFramePr>
        <p:xfrm>
          <a:off x="254861" y="1953089"/>
          <a:ext cx="6723588" cy="11290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946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534462">
                  <a:extLst>
                    <a:ext uri="{9D8B030D-6E8A-4147-A177-3AD203B41FA5}">
                      <a16:colId xmlns:a16="http://schemas.microsoft.com/office/drawing/2014/main" val="1325555519"/>
                    </a:ext>
                  </a:extLst>
                </a:gridCol>
                <a:gridCol w="529152">
                  <a:extLst>
                    <a:ext uri="{9D8B030D-6E8A-4147-A177-3AD203B41FA5}">
                      <a16:colId xmlns:a16="http://schemas.microsoft.com/office/drawing/2014/main" val="3109369146"/>
                    </a:ext>
                  </a:extLst>
                </a:gridCol>
                <a:gridCol w="607892">
                  <a:extLst>
                    <a:ext uri="{9D8B030D-6E8A-4147-A177-3AD203B41FA5}">
                      <a16:colId xmlns:a16="http://schemas.microsoft.com/office/drawing/2014/main" val="3484451531"/>
                    </a:ext>
                  </a:extLst>
                </a:gridCol>
                <a:gridCol w="607892">
                  <a:extLst>
                    <a:ext uri="{9D8B030D-6E8A-4147-A177-3AD203B41FA5}">
                      <a16:colId xmlns:a16="http://schemas.microsoft.com/office/drawing/2014/main" val="2707511199"/>
                    </a:ext>
                  </a:extLst>
                </a:gridCol>
                <a:gridCol w="607892">
                  <a:extLst>
                    <a:ext uri="{9D8B030D-6E8A-4147-A177-3AD203B41FA5}">
                      <a16:colId xmlns:a16="http://schemas.microsoft.com/office/drawing/2014/main" val="64627311"/>
                    </a:ext>
                  </a:extLst>
                </a:gridCol>
                <a:gridCol w="607892">
                  <a:extLst>
                    <a:ext uri="{9D8B030D-6E8A-4147-A177-3AD203B41FA5}">
                      <a16:colId xmlns:a16="http://schemas.microsoft.com/office/drawing/2014/main" val="3349953750"/>
                    </a:ext>
                  </a:extLst>
                </a:gridCol>
                <a:gridCol w="607892">
                  <a:extLst>
                    <a:ext uri="{9D8B030D-6E8A-4147-A177-3AD203B41FA5}">
                      <a16:colId xmlns:a16="http://schemas.microsoft.com/office/drawing/2014/main" val="1502325871"/>
                    </a:ext>
                  </a:extLst>
                </a:gridCol>
                <a:gridCol w="607892">
                  <a:extLst>
                    <a:ext uri="{9D8B030D-6E8A-4147-A177-3AD203B41FA5}">
                      <a16:colId xmlns:a16="http://schemas.microsoft.com/office/drawing/2014/main" val="3887759862"/>
                    </a:ext>
                  </a:extLst>
                </a:gridCol>
                <a:gridCol w="607892">
                  <a:extLst>
                    <a:ext uri="{9D8B030D-6E8A-4147-A177-3AD203B41FA5}">
                      <a16:colId xmlns:a16="http://schemas.microsoft.com/office/drawing/2014/main" val="1928454343"/>
                    </a:ext>
                  </a:extLst>
                </a:gridCol>
                <a:gridCol w="607892">
                  <a:extLst>
                    <a:ext uri="{9D8B030D-6E8A-4147-A177-3AD203B41FA5}">
                      <a16:colId xmlns:a16="http://schemas.microsoft.com/office/drawing/2014/main" val="3270601115"/>
                    </a:ext>
                  </a:extLst>
                </a:gridCol>
                <a:gridCol w="607892">
                  <a:extLst>
                    <a:ext uri="{9D8B030D-6E8A-4147-A177-3AD203B41FA5}">
                      <a16:colId xmlns:a16="http://schemas.microsoft.com/office/drawing/2014/main" val="293509118"/>
                    </a:ext>
                  </a:extLst>
                </a:gridCol>
              </a:tblGrid>
              <a:tr h="275682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감사계획년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감사종류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감사계획차수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감사시작일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감사종료일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감사구분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감사수행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만족도조사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조회처리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기안문 조회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계획확정여부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13342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</a:t>
                      </a:r>
                      <a:endParaRPr lang="ko-KR" altLang="en-US" sz="7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일반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</a:t>
                      </a:r>
                      <a:endParaRPr lang="ko-KR" altLang="en-US" sz="7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2023-02-24</a:t>
                      </a:r>
                      <a:endParaRPr lang="ko-KR" altLang="en-US" sz="7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2023-02-27</a:t>
                      </a:r>
                      <a:endParaRPr lang="ko-KR" altLang="en-US" sz="7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종합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완료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완료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완료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출력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완료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0641114"/>
                  </a:ext>
                </a:extLst>
              </a:tr>
              <a:tr h="213342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</a:t>
                      </a:r>
                      <a:endParaRPr lang="ko-KR" altLang="en-US" sz="7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일반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5</a:t>
                      </a:r>
                      <a:endParaRPr lang="ko-KR" altLang="en-US" sz="7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2023-03-19</a:t>
                      </a:r>
                      <a:endParaRPr lang="ko-KR" altLang="en-US" sz="7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2023-03-22</a:t>
                      </a:r>
                      <a:endParaRPr lang="ko-KR" altLang="en-US" sz="7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종합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완료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완료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완료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출력</a:t>
                      </a:r>
                      <a:endParaRPr lang="ko-KR" altLang="en-US" sz="7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완료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9943333"/>
                  </a:ext>
                </a:extLst>
              </a:tr>
              <a:tr h="213342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+mj-ea"/>
                          <a:ea typeface="+mj-ea"/>
                        </a:rPr>
                        <a:t>2024</a:t>
                      </a: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지역감사</a:t>
                      </a: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+mj-ea"/>
                          <a:ea typeface="+mj-ea"/>
                        </a:rPr>
                        <a:t>6</a:t>
                      </a: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+mj-ea"/>
                          <a:ea typeface="+mj-ea"/>
                        </a:rPr>
                        <a:t>2023-04-02</a:t>
                      </a: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+mj-ea"/>
                          <a:ea typeface="+mj-ea"/>
                        </a:rPr>
                        <a:t>2023-04-05</a:t>
                      </a: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+mj-ea"/>
                          <a:ea typeface="+mj-ea"/>
                        </a:rPr>
                        <a:t>부문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완료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완료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+mj-ea"/>
                          <a:ea typeface="+mj-ea"/>
                        </a:rPr>
                        <a:t>-</a:t>
                      </a: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출력</a:t>
                      </a: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결재진행중</a:t>
                      </a: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3758132"/>
                  </a:ext>
                </a:extLst>
              </a:tr>
              <a:tr h="21334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…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444931"/>
                  </a:ext>
                </a:extLst>
              </a:tr>
            </a:tbl>
          </a:graphicData>
        </a:graphic>
      </p:graphicFrame>
      <p:grpSp>
        <p:nvGrpSpPr>
          <p:cNvPr id="12" name="그룹 11"/>
          <p:cNvGrpSpPr/>
          <p:nvPr/>
        </p:nvGrpSpPr>
        <p:grpSpPr>
          <a:xfrm>
            <a:off x="1232612" y="1706767"/>
            <a:ext cx="688047" cy="180915"/>
            <a:chOff x="3888573" y="3542054"/>
            <a:chExt cx="688047" cy="180915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3888573" y="3542054"/>
              <a:ext cx="68804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normalizeH="0" baseline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전 체</a:t>
              </a:r>
              <a:endParaRPr kumimoji="0" lang="ko-KR" altLang="en-US" sz="1000" b="0" i="0" u="none" strike="noStrike" kern="1200" cap="none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14" name="이등변 삼각형 13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4455435" y="3622344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grpSp>
        <p:nvGrpSpPr>
          <p:cNvPr id="15" name="그룹 14"/>
          <p:cNvGrpSpPr/>
          <p:nvPr/>
        </p:nvGrpSpPr>
        <p:grpSpPr>
          <a:xfrm>
            <a:off x="3541471" y="1706767"/>
            <a:ext cx="688047" cy="180915"/>
            <a:chOff x="3888573" y="3542054"/>
            <a:chExt cx="688047" cy="180915"/>
          </a:xfrm>
        </p:grpSpPr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3888573" y="3542054"/>
              <a:ext cx="68804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normalizeH="0" baseline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종 합</a:t>
              </a:r>
              <a:endParaRPr kumimoji="0" lang="ko-KR" altLang="en-US" sz="1000" b="0" i="0" u="none" strike="noStrike" kern="1200" cap="none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17" name="이등변 삼각형 16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4455435" y="3622344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1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81023" y="1697057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94445" y="2030324"/>
            <a:ext cx="108000" cy="10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94445" y="2285947"/>
            <a:ext cx="108000" cy="108000"/>
          </a:xfrm>
          <a:prstGeom prst="rect">
            <a:avLst/>
          </a:prstGeom>
          <a:solidFill>
            <a:schemeClr val="bg2">
              <a:lumMod val="9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94445" y="2490423"/>
            <a:ext cx="108000" cy="108000"/>
          </a:xfrm>
          <a:prstGeom prst="rect">
            <a:avLst/>
          </a:prstGeom>
          <a:solidFill>
            <a:schemeClr val="bg2">
              <a:lumMod val="9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22" name="Freeform 46">
            <a:extLst>
              <a:ext uri="{FF2B5EF4-FFF2-40B4-BE49-F238E27FC236}">
                <a16:creationId xmlns:a16="http://schemas.microsoft.com/office/drawing/2014/main" id="{36BBD547-1346-F115-36F1-EB48123B65CE}"/>
              </a:ext>
            </a:extLst>
          </p:cNvPr>
          <p:cNvSpPr>
            <a:spLocks noEditPoints="1"/>
          </p:cNvSpPr>
          <p:nvPr/>
        </p:nvSpPr>
        <p:spPr bwMode="auto">
          <a:xfrm>
            <a:off x="288294" y="2696618"/>
            <a:ext cx="120301" cy="120558"/>
          </a:xfrm>
          <a:custGeom>
            <a:avLst/>
            <a:gdLst/>
            <a:ahLst/>
            <a:cxnLst>
              <a:cxn ang="0">
                <a:pos x="55" y="44"/>
              </a:cxn>
              <a:cxn ang="0">
                <a:pos x="44" y="55"/>
              </a:cxn>
              <a:cxn ang="0">
                <a:pos x="10" y="55"/>
              </a:cxn>
              <a:cxn ang="0">
                <a:pos x="0" y="44"/>
              </a:cxn>
              <a:cxn ang="0">
                <a:pos x="0" y="10"/>
              </a:cxn>
              <a:cxn ang="0">
                <a:pos x="10" y="0"/>
              </a:cxn>
              <a:cxn ang="0">
                <a:pos x="44" y="0"/>
              </a:cxn>
              <a:cxn ang="0">
                <a:pos x="55" y="10"/>
              </a:cxn>
              <a:cxn ang="0">
                <a:pos x="55" y="44"/>
              </a:cxn>
              <a:cxn ang="0">
                <a:pos x="46" y="20"/>
              </a:cxn>
              <a:cxn ang="0">
                <a:pos x="46" y="17"/>
              </a:cxn>
              <a:cxn ang="0">
                <a:pos x="42" y="13"/>
              </a:cxn>
              <a:cxn ang="0">
                <a:pos x="39" y="13"/>
              </a:cxn>
              <a:cxn ang="0">
                <a:pos x="23" y="30"/>
              </a:cxn>
              <a:cxn ang="0">
                <a:pos x="15" y="22"/>
              </a:cxn>
              <a:cxn ang="0">
                <a:pos x="12" y="22"/>
              </a:cxn>
              <a:cxn ang="0">
                <a:pos x="8" y="26"/>
              </a:cxn>
              <a:cxn ang="0">
                <a:pos x="8" y="29"/>
              </a:cxn>
              <a:cxn ang="0">
                <a:pos x="21" y="42"/>
              </a:cxn>
              <a:cxn ang="0">
                <a:pos x="24" y="42"/>
              </a:cxn>
              <a:cxn ang="0">
                <a:pos x="46" y="20"/>
              </a:cxn>
            </a:cxnLst>
            <a:rect l="0" t="0" r="r" b="b"/>
            <a:pathLst>
              <a:path w="55" h="55">
                <a:moveTo>
                  <a:pt x="55" y="44"/>
                </a:moveTo>
                <a:cubicBezTo>
                  <a:pt x="55" y="50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0"/>
                </a:cubicBezTo>
                <a:lnTo>
                  <a:pt x="55" y="44"/>
                </a:lnTo>
                <a:close/>
                <a:moveTo>
                  <a:pt x="46" y="20"/>
                </a:moveTo>
                <a:cubicBezTo>
                  <a:pt x="47" y="19"/>
                  <a:pt x="47" y="17"/>
                  <a:pt x="46" y="17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2"/>
                  <a:pt x="40" y="12"/>
                  <a:pt x="39" y="13"/>
                </a:cubicBezTo>
                <a:cubicBezTo>
                  <a:pt x="23" y="30"/>
                  <a:pt x="23" y="30"/>
                  <a:pt x="23" y="30"/>
                </a:cubicBezTo>
                <a:cubicBezTo>
                  <a:pt x="15" y="22"/>
                  <a:pt x="15" y="22"/>
                  <a:pt x="15" y="22"/>
                </a:cubicBezTo>
                <a:cubicBezTo>
                  <a:pt x="14" y="21"/>
                  <a:pt x="13" y="21"/>
                  <a:pt x="12" y="22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7"/>
                  <a:pt x="7" y="28"/>
                  <a:pt x="8" y="29"/>
                </a:cubicBezTo>
                <a:cubicBezTo>
                  <a:pt x="21" y="42"/>
                  <a:pt x="21" y="42"/>
                  <a:pt x="21" y="42"/>
                </a:cubicBezTo>
                <a:cubicBezTo>
                  <a:pt x="22" y="43"/>
                  <a:pt x="23" y="43"/>
                  <a:pt x="24" y="42"/>
                </a:cubicBezTo>
                <a:lnTo>
                  <a:pt x="46" y="20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100687" tIns="50343" rIns="100687" bIns="50343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135923" rtl="0" eaLnBrk="0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202" b="0" i="0" u="none" strike="noStrike" kern="0" cap="none" spc="0" normalizeH="0" baseline="0" noProof="0">
              <a:ln>
                <a:solidFill>
                  <a:srgbClr val="F9A84A"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79476" y="1697057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확정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5" name="직사각형 24"/>
          <p:cNvSpPr/>
          <p:nvPr/>
        </p:nvSpPr>
        <p:spPr bwMode="auto">
          <a:xfrm>
            <a:off x="5775267" y="1936296"/>
            <a:ext cx="1185566" cy="1145843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26" name="그룹 25"/>
          <p:cNvGrpSpPr/>
          <p:nvPr/>
        </p:nvGrpSpPr>
        <p:grpSpPr>
          <a:xfrm>
            <a:off x="3885494" y="3285750"/>
            <a:ext cx="1923410" cy="1792634"/>
            <a:chOff x="3860170" y="4257646"/>
            <a:chExt cx="1923410" cy="1792634"/>
          </a:xfrm>
        </p:grpSpPr>
        <p:grpSp>
          <p:nvGrpSpPr>
            <p:cNvPr id="27" name="그룹 26"/>
            <p:cNvGrpSpPr/>
            <p:nvPr/>
          </p:nvGrpSpPr>
          <p:grpSpPr>
            <a:xfrm>
              <a:off x="3880355" y="4329859"/>
              <a:ext cx="1842549" cy="1657957"/>
              <a:chOff x="4123911" y="4325827"/>
              <a:chExt cx="1842549" cy="1657957"/>
            </a:xfrm>
          </p:grpSpPr>
          <p:pic>
            <p:nvPicPr>
              <p:cNvPr id="29" name="그림 28"/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884580" y="4965622"/>
                <a:ext cx="1081880" cy="1018162"/>
              </a:xfrm>
              <a:prstGeom prst="rect">
                <a:avLst/>
              </a:prstGeom>
            </p:spPr>
          </p:pic>
          <p:pic>
            <p:nvPicPr>
              <p:cNvPr id="30" name="그림 29"/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123911" y="4325827"/>
                <a:ext cx="1259516" cy="1375702"/>
              </a:xfrm>
              <a:prstGeom prst="rect">
                <a:avLst/>
              </a:prstGeom>
            </p:spPr>
          </p:pic>
        </p:grpSp>
        <p:sp>
          <p:nvSpPr>
            <p:cNvPr id="28" name="TextBox 27"/>
            <p:cNvSpPr txBox="1"/>
            <p:nvPr/>
          </p:nvSpPr>
          <p:spPr>
            <a:xfrm>
              <a:off x="3860170" y="4257646"/>
              <a:ext cx="1923410" cy="1792634"/>
            </a:xfrm>
            <a:prstGeom prst="rect">
              <a:avLst/>
            </a:prstGeom>
            <a:noFill/>
            <a:ln w="6350">
              <a:solidFill>
                <a:schemeClr val="bg2">
                  <a:lumMod val="90000"/>
                </a:schemeClr>
              </a:solidFill>
            </a:ln>
          </p:spPr>
          <p:txBody>
            <a:bodyPr wrap="square" rtlCol="0">
              <a:spAutoFit/>
            </a:bodyPr>
            <a:lstStyle/>
            <a:p>
              <a:endParaRPr lang="ko-KR" altLang="en-US" sz="9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cxnSp>
        <p:nvCxnSpPr>
          <p:cNvPr id="31" name="구부러진 연결선 30"/>
          <p:cNvCxnSpPr>
            <a:endCxn id="28" idx="0"/>
          </p:cNvCxnSpPr>
          <p:nvPr/>
        </p:nvCxnSpPr>
        <p:spPr bwMode="auto">
          <a:xfrm rot="10800000" flipV="1">
            <a:off x="4847199" y="2756896"/>
            <a:ext cx="1107846" cy="528853"/>
          </a:xfrm>
          <a:prstGeom prst="curvedConnector2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32" name="TextBox 31"/>
          <p:cNvSpPr txBox="1"/>
          <p:nvPr/>
        </p:nvSpPr>
        <p:spPr>
          <a:xfrm>
            <a:off x="3764983" y="5092559"/>
            <a:ext cx="216442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&lt;</a:t>
            </a:r>
            <a:r>
              <a:rPr lang="ko-KR" altLang="en-US" sz="10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기안문 양식 다운로드</a:t>
            </a:r>
            <a:r>
              <a:rPr lang="en-US" altLang="ko-KR" sz="10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&gt;</a:t>
            </a:r>
            <a:endParaRPr lang="ko-KR" altLang="en-US" sz="100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3" name="직사각형 32"/>
          <p:cNvSpPr/>
          <p:nvPr/>
        </p:nvSpPr>
        <p:spPr bwMode="auto">
          <a:xfrm flipV="1">
            <a:off x="256173" y="1449418"/>
            <a:ext cx="1075897" cy="22836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95712" y="138744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87476" y="191179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721193" y="187919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122740" y="161034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DD5F029C-6EC4-4D0B-94B1-F5659BCA8392}"/>
              </a:ext>
            </a:extLst>
          </p:cNvPr>
          <p:cNvGrpSpPr/>
          <p:nvPr/>
        </p:nvGrpSpPr>
        <p:grpSpPr>
          <a:xfrm>
            <a:off x="313527" y="3593384"/>
            <a:ext cx="2633031" cy="1259335"/>
            <a:chOff x="2695711" y="3304031"/>
            <a:chExt cx="3240654" cy="1549952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190FB939-2FBA-4B81-81BF-227565802531}"/>
                </a:ext>
              </a:extLst>
            </p:cNvPr>
            <p:cNvGrpSpPr/>
            <p:nvPr/>
          </p:nvGrpSpPr>
          <p:grpSpPr>
            <a:xfrm>
              <a:off x="2695711" y="3304031"/>
              <a:ext cx="3240654" cy="1549952"/>
              <a:chOff x="1087913" y="3644528"/>
              <a:chExt cx="3240654" cy="1549952"/>
            </a:xfrm>
          </p:grpSpPr>
          <p:sp>
            <p:nvSpPr>
              <p:cNvPr id="43" name="직사각형 42">
                <a:extLst>
                  <a:ext uri="{FF2B5EF4-FFF2-40B4-BE49-F238E27FC236}">
                    <a16:creationId xmlns:a16="http://schemas.microsoft.com/office/drawing/2014/main" id="{68CB9370-D759-4248-8572-5FDA4EF6101B}"/>
                  </a:ext>
                </a:extLst>
              </p:cNvPr>
              <p:cNvSpPr/>
              <p:nvPr/>
            </p:nvSpPr>
            <p:spPr>
              <a:xfrm>
                <a:off x="1087913" y="3645024"/>
                <a:ext cx="3240654" cy="15494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742856">
                  <a:defRPr/>
                </a:pPr>
                <a:endParaRPr lang="ko-KR" altLang="en-US" sz="813" b="1">
                  <a:solidFill>
                    <a:srgbClr val="0070C0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endParaRPr>
              </a:p>
            </p:txBody>
          </p:sp>
          <p:sp>
            <p:nvSpPr>
              <p:cNvPr id="44" name="직사각형 43">
                <a:extLst>
                  <a:ext uri="{FF2B5EF4-FFF2-40B4-BE49-F238E27FC236}">
                    <a16:creationId xmlns:a16="http://schemas.microsoft.com/office/drawing/2014/main" id="{D494E968-62DE-442C-9EE6-DD6B90DDF615}"/>
                  </a:ext>
                </a:extLst>
              </p:cNvPr>
              <p:cNvSpPr/>
              <p:nvPr/>
            </p:nvSpPr>
            <p:spPr bwMode="auto">
              <a:xfrm>
                <a:off x="4137290" y="3681040"/>
                <a:ext cx="118800" cy="108000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none" lIns="0" tIns="0" rIns="0" bIns="0" rtlCol="0" anchor="ctr" anchorCtr="0">
                <a:noAutofit/>
              </a:bodyPr>
              <a:lstStyle/>
              <a:p>
                <a:pPr algn="ctr" defTabSz="742856">
                  <a:defRPr/>
                </a:pPr>
                <a:r>
                  <a:rPr lang="en-US" altLang="ko-KR" sz="516" b="1">
                    <a:ln>
                      <a:solidFill>
                        <a:prstClr val="black">
                          <a:alpha val="0"/>
                        </a:prstClr>
                      </a:solidFill>
                    </a:ln>
                    <a:solidFill>
                      <a:prstClr val="black"/>
                    </a:solidFill>
                    <a:latin typeface="KB금융 본문체 Medium" panose="020B0603000000000000" pitchFamily="50" charset="-127"/>
                    <a:ea typeface="KB금융 본문체 Medium" panose="020B0603000000000000" pitchFamily="50" charset="-127"/>
                  </a:rPr>
                  <a:t>X</a:t>
                </a:r>
                <a:endParaRPr lang="ko-KR" altLang="en-US" sz="516" b="1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endParaRPr>
              </a:p>
            </p:txBody>
          </p:sp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60B97788-F115-4669-A08F-46D3A46FC7DA}"/>
                  </a:ext>
                </a:extLst>
              </p:cNvPr>
              <p:cNvSpPr txBox="1"/>
              <p:nvPr/>
            </p:nvSpPr>
            <p:spPr>
              <a:xfrm>
                <a:off x="1154520" y="3644528"/>
                <a:ext cx="1777529" cy="265162"/>
              </a:xfrm>
              <a:prstGeom prst="rect">
                <a:avLst/>
              </a:prstGeom>
              <a:noFill/>
            </p:spPr>
            <p:txBody>
              <a:bodyPr wrap="square" lIns="29250" rtlCol="0">
                <a:spAutoFit/>
              </a:bodyPr>
              <a:lstStyle/>
              <a:p>
                <a:pPr defTabSz="742856">
                  <a:defRPr/>
                </a:pPr>
                <a:r>
                  <a:rPr lang="ko-KR" altLang="en-US" sz="800" smtClean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B금융 본문체 Medium" panose="020B0603000000000000" pitchFamily="50" charset="-127"/>
                    <a:ea typeface="KB금융 본문체 Medium" panose="020B0603000000000000" pitchFamily="50" charset="-127"/>
                  </a:rPr>
                  <a:t>감사계획 확정</a:t>
                </a:r>
                <a:endParaRPr lang="ko-KR" altLang="en-US" sz="800">
                  <a:solidFill>
                    <a:prstClr val="black">
                      <a:lumMod val="75000"/>
                      <a:lumOff val="25000"/>
                    </a:prstClr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endParaRPr>
              </a:p>
            </p:txBody>
          </p:sp>
        </p:grp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061CAA5C-4EB7-4E67-85DA-E29F266F438F}"/>
                </a:ext>
              </a:extLst>
            </p:cNvPr>
            <p:cNvSpPr/>
            <p:nvPr/>
          </p:nvSpPr>
          <p:spPr>
            <a:xfrm>
              <a:off x="2718843" y="3519657"/>
              <a:ext cx="3217520" cy="68293"/>
            </a:xfrm>
            <a:prstGeom prst="rect">
              <a:avLst/>
            </a:prstGeom>
            <a:solidFill>
              <a:srgbClr val="625950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742856">
                <a:defRPr/>
              </a:pPr>
              <a:endParaRPr lang="ko-KR" altLang="en-US" sz="813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41" name="사각형: 둥근 모서리 260">
              <a:extLst>
                <a:ext uri="{FF2B5EF4-FFF2-40B4-BE49-F238E27FC236}">
                  <a16:creationId xmlns:a16="http://schemas.microsoft.com/office/drawing/2014/main" id="{D773B8EE-74F0-4877-8EA2-357BB6ABCCB6}"/>
                </a:ext>
              </a:extLst>
            </p:cNvPr>
            <p:cNvSpPr/>
            <p:nvPr/>
          </p:nvSpPr>
          <p:spPr>
            <a:xfrm>
              <a:off x="3825748" y="4555744"/>
              <a:ext cx="450000" cy="180915"/>
            </a:xfrm>
            <a:prstGeom prst="roundRect">
              <a:avLst>
                <a:gd name="adj" fmla="val 10228"/>
              </a:avLst>
            </a:prstGeom>
            <a:solidFill>
              <a:srgbClr val="E26C14"/>
            </a:solidFill>
            <a:ln w="9525">
              <a:solidFill>
                <a:schemeClr val="bg1">
                  <a:lumMod val="75000"/>
                </a:schemeClr>
              </a:solidFill>
            </a:ln>
            <a:effectLst>
              <a:outerShdw blurRad="50800" dist="38100" dir="2700000" sx="80000" sy="8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742856">
                <a:defRPr/>
              </a:pPr>
              <a:r>
                <a:rPr lang="ko-KR" altLang="en-US" sz="650" smtClean="0">
                  <a:solidFill>
                    <a:schemeClr val="bg1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확정</a:t>
              </a:r>
              <a:endParaRPr lang="ko-KR" altLang="en-US" sz="65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42" name="사각형: 둥근 모서리 261">
              <a:extLst>
                <a:ext uri="{FF2B5EF4-FFF2-40B4-BE49-F238E27FC236}">
                  <a16:creationId xmlns:a16="http://schemas.microsoft.com/office/drawing/2014/main" id="{3CB378F7-B465-4FEE-B282-653FC14EC1DB}"/>
                </a:ext>
              </a:extLst>
            </p:cNvPr>
            <p:cNvSpPr/>
            <p:nvPr/>
          </p:nvSpPr>
          <p:spPr>
            <a:xfrm>
              <a:off x="4371171" y="4555744"/>
              <a:ext cx="451939" cy="180915"/>
            </a:xfrm>
            <a:prstGeom prst="roundRect">
              <a:avLst>
                <a:gd name="adj" fmla="val 10228"/>
              </a:avLst>
            </a:prstGeom>
            <a:solidFill>
              <a:schemeClr val="bg1">
                <a:lumMod val="95000"/>
              </a:schemeClr>
            </a:solidFill>
            <a:ln w="9525">
              <a:solidFill>
                <a:schemeClr val="bg1">
                  <a:lumMod val="75000"/>
                </a:schemeClr>
              </a:solidFill>
            </a:ln>
            <a:effectLst>
              <a:outerShdw blurRad="50800" dist="38100" dir="2700000" sx="80000" sy="8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742856">
                <a:defRPr/>
              </a:pPr>
              <a:r>
                <a:rPr lang="ko-KR" altLang="en-US" sz="650" spc="-81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취소</a:t>
              </a:r>
              <a:endParaRPr lang="ko-KR" altLang="en-US" sz="650" spc="-81">
                <a:solidFill>
                  <a:prstClr val="black">
                    <a:lumMod val="65000"/>
                    <a:lumOff val="35000"/>
                  </a:prst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46" name="타원 4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38641" y="347485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394099" y="3914386"/>
            <a:ext cx="2430339" cy="577081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txBody>
          <a:bodyPr wrap="square" rtlCol="0">
            <a:spAutoFit/>
          </a:bodyPr>
          <a:lstStyle/>
          <a:p>
            <a:r>
              <a:rPr lang="en-US" altLang="ko-KR" sz="9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2024-6</a:t>
            </a:r>
            <a:r>
              <a:rPr lang="ko-KR" altLang="en-US" sz="9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차 </a:t>
            </a:r>
            <a:r>
              <a:rPr lang="en-US" altLang="ko-KR" sz="9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‘</a:t>
            </a:r>
            <a:r>
              <a:rPr lang="ko-KR" altLang="en-US" sz="9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지역감사</a:t>
            </a:r>
            <a:r>
              <a:rPr lang="en-US" altLang="ko-KR" sz="9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’ </a:t>
            </a:r>
            <a:r>
              <a:rPr lang="ko-KR" altLang="en-US" sz="9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계획을 확정합니다</a:t>
            </a:r>
            <a:r>
              <a:rPr lang="en-US" altLang="ko-KR" sz="9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.</a:t>
            </a:r>
          </a:p>
          <a:p>
            <a:r>
              <a:rPr lang="ko-KR" altLang="en-US" sz="9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확정 이후 계획 수정 불가하며</a:t>
            </a:r>
            <a:r>
              <a:rPr lang="en-US" altLang="ko-KR" sz="9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lang="ko-KR" altLang="en-US" sz="9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해당 영업점에 자동 통보 됩니다</a:t>
            </a:r>
            <a:r>
              <a:rPr lang="en-US" altLang="ko-KR" sz="9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.</a:t>
            </a:r>
            <a:endParaRPr lang="ko-KR" altLang="en-US" sz="90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539914" y="4856720"/>
            <a:ext cx="216442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&lt; ‘</a:t>
            </a:r>
            <a:r>
              <a:rPr lang="ko-KR" altLang="en-US" sz="10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확정</a:t>
            </a:r>
            <a:r>
              <a:rPr lang="en-US" altLang="ko-KR" sz="10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’ </a:t>
            </a:r>
            <a:r>
              <a:rPr lang="ko-KR" altLang="en-US" sz="10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처리시 안내 </a:t>
            </a:r>
            <a:r>
              <a:rPr lang="en-US" altLang="ko-KR" sz="10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Pop-up </a:t>
            </a:r>
            <a:r>
              <a:rPr lang="ko-KR" altLang="en-US" sz="10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표시 </a:t>
            </a:r>
            <a:r>
              <a:rPr lang="en-US" altLang="ko-KR" sz="10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&gt;</a:t>
            </a:r>
            <a:endParaRPr lang="ko-KR" altLang="en-US" sz="100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cxnSp>
        <p:nvCxnSpPr>
          <p:cNvPr id="49" name="구부러진 연결선 48"/>
          <p:cNvCxnSpPr>
            <a:stCxn id="23" idx="1"/>
            <a:endCxn id="44" idx="0"/>
          </p:cNvCxnSpPr>
          <p:nvPr/>
        </p:nvCxnSpPr>
        <p:spPr bwMode="auto">
          <a:xfrm rot="10800000" flipV="1">
            <a:off x="2839408" y="1787056"/>
            <a:ext cx="3340068" cy="1835993"/>
          </a:xfrm>
          <a:prstGeom prst="curvedConnector2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1340598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3678" y="1057781"/>
            <a:ext cx="5883150" cy="4487045"/>
          </a:xfrm>
          <a:prstGeom prst="rect">
            <a:avLst/>
          </a:prstGeom>
        </p:spPr>
      </p:pic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1212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21259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34282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60682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35744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MDD-00014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MDD75G57000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조회처리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(2/2)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조회처리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(P52: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정용욱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55" name="TextBox 54"/>
          <p:cNvSpPr txBox="1"/>
          <p:nvPr/>
        </p:nvSpPr>
        <p:spPr>
          <a:xfrm>
            <a:off x="288479" y="5421716"/>
            <a:ext cx="661354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&lt;</a:t>
            </a:r>
            <a:r>
              <a:rPr lang="ko-KR" altLang="en-US" sz="10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기안문 양식 다운로드</a:t>
            </a:r>
            <a:r>
              <a:rPr lang="en-US" altLang="ko-KR" sz="10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&gt;</a:t>
            </a:r>
            <a:endParaRPr lang="ko-KR" altLang="en-US" sz="100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832419" y="118767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4" name="직사각형 13"/>
          <p:cNvSpPr/>
          <p:nvPr/>
        </p:nvSpPr>
        <p:spPr bwMode="auto">
          <a:xfrm>
            <a:off x="2673047" y="1223674"/>
            <a:ext cx="2243441" cy="498236"/>
          </a:xfrm>
          <a:prstGeom prst="rect">
            <a:avLst/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1000" b="1" i="0" u="none" strike="noStrike" kern="0" cap="none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감사조서보고서 양식 전달 받음</a:t>
            </a:r>
            <a:endParaRPr kumimoji="0" lang="ko-KR" altLang="en-US" sz="1000" b="1" i="0" u="none" strike="noStrike" kern="0" cap="none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289944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2825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감사역 중복 배정 등록 알림 팝업 표출 요건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171450" indent="-171450" latinLnBrk="1">
                        <a:buFontTx/>
                        <a:buChar char="-"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같은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년도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같은 차수의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다른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부점에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이미 배정되어 있는 감사역을 다른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부점에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중복 배정 시</a:t>
                      </a: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indent="0" latinLnBrk="1">
                        <a:buFontTx/>
                        <a:buNone/>
                      </a:pP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중복 배정에 대한 알림 </a:t>
                      </a:r>
                      <a:r>
                        <a:rPr lang="ko-KR" altLang="en-US" sz="800" strike="sngStrike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및 배정 불가 처리</a:t>
                      </a:r>
                      <a:endParaRPr lang="en-US" altLang="ko-KR" sz="800" strike="sngStrike" baseline="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171450" indent="-171450" latinLnBrk="1">
                        <a:buFontTx/>
                        <a:buChar char="-"/>
                      </a:pP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타부서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감사역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팝업을 통한 중복 배정도 동일한 알림 및 배정 불가 처리</a:t>
                      </a: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latinLnBrk="1">
                        <a:buFontTx/>
                        <a:buChar char="-"/>
                      </a:pP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3242629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Tx/>
                        <a:buNone/>
                      </a:pP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7757031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Tx/>
                        <a:buNone/>
                      </a:pP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410206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Tx/>
                        <a:buNone/>
                      </a:pP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1939749"/>
                  </a:ext>
                </a:extLst>
              </a:tr>
            </a:tbl>
          </a:graphicData>
        </a:graphic>
      </p:graphicFrame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MDD-00015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MDD75G55000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감사역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배정등록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감사역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배정등록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(P53: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유성용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38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03533" y="1088193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64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170976" y="1088195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65" name="양쪽 모서리가 둥근 사각형 164"/>
          <p:cNvSpPr/>
          <p:nvPr/>
        </p:nvSpPr>
        <p:spPr bwMode="auto">
          <a:xfrm>
            <a:off x="185792" y="1162791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감사역배정등록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6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185793" y="1348526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67" name="내용 개체 틀 121"/>
          <p:cNvGraphicFramePr>
            <a:graphicFrameLocks/>
          </p:cNvGraphicFramePr>
          <p:nvPr>
            <p:extLst/>
          </p:nvPr>
        </p:nvGraphicFramePr>
        <p:xfrm>
          <a:off x="185791" y="1396497"/>
          <a:ext cx="6726396" cy="20294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622332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581891">
                  <a:extLst>
                    <a:ext uri="{9D8B030D-6E8A-4147-A177-3AD203B41FA5}">
                      <a16:colId xmlns:a16="http://schemas.microsoft.com/office/drawing/2014/main" val="1602786648"/>
                    </a:ext>
                  </a:extLst>
                </a:gridCol>
                <a:gridCol w="448887">
                  <a:extLst>
                    <a:ext uri="{9D8B030D-6E8A-4147-A177-3AD203B41FA5}">
                      <a16:colId xmlns:a16="http://schemas.microsoft.com/office/drawing/2014/main" val="1994243922"/>
                    </a:ext>
                  </a:extLst>
                </a:gridCol>
                <a:gridCol w="631767">
                  <a:extLst>
                    <a:ext uri="{9D8B030D-6E8A-4147-A177-3AD203B41FA5}">
                      <a16:colId xmlns:a16="http://schemas.microsoft.com/office/drawing/2014/main" val="1645797918"/>
                    </a:ext>
                  </a:extLst>
                </a:gridCol>
                <a:gridCol w="3503969">
                  <a:extLst>
                    <a:ext uri="{9D8B030D-6E8A-4147-A177-3AD203B41FA5}">
                      <a16:colId xmlns:a16="http://schemas.microsoft.com/office/drawing/2014/main" val="1483068701"/>
                    </a:ext>
                  </a:extLst>
                </a:gridCol>
              </a:tblGrid>
              <a:tr h="20294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 err="1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감사계획년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2024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 err="1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감사종류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감사계획차수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27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graphicFrame>
        <p:nvGraphicFramePr>
          <p:cNvPr id="168" name="내용 개체 틀 121"/>
          <p:cNvGraphicFramePr>
            <a:graphicFrameLocks/>
          </p:cNvGraphicFramePr>
          <p:nvPr>
            <p:extLst/>
          </p:nvPr>
        </p:nvGraphicFramePr>
        <p:xfrm>
          <a:off x="184476" y="1653833"/>
          <a:ext cx="6727710" cy="70236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5041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975999">
                  <a:extLst>
                    <a:ext uri="{9D8B030D-6E8A-4147-A177-3AD203B41FA5}">
                      <a16:colId xmlns:a16="http://schemas.microsoft.com/office/drawing/2014/main" val="1325555519"/>
                    </a:ext>
                  </a:extLst>
                </a:gridCol>
                <a:gridCol w="966302">
                  <a:extLst>
                    <a:ext uri="{9D8B030D-6E8A-4147-A177-3AD203B41FA5}">
                      <a16:colId xmlns:a16="http://schemas.microsoft.com/office/drawing/2014/main" val="3109369146"/>
                    </a:ext>
                  </a:extLst>
                </a:gridCol>
                <a:gridCol w="1110092">
                  <a:extLst>
                    <a:ext uri="{9D8B030D-6E8A-4147-A177-3AD203B41FA5}">
                      <a16:colId xmlns:a16="http://schemas.microsoft.com/office/drawing/2014/main" val="3484451531"/>
                    </a:ext>
                  </a:extLst>
                </a:gridCol>
                <a:gridCol w="1110092">
                  <a:extLst>
                    <a:ext uri="{9D8B030D-6E8A-4147-A177-3AD203B41FA5}">
                      <a16:colId xmlns:a16="http://schemas.microsoft.com/office/drawing/2014/main" val="2707511199"/>
                    </a:ext>
                  </a:extLst>
                </a:gridCol>
                <a:gridCol w="1110092">
                  <a:extLst>
                    <a:ext uri="{9D8B030D-6E8A-4147-A177-3AD203B41FA5}">
                      <a16:colId xmlns:a16="http://schemas.microsoft.com/office/drawing/2014/main" val="64627311"/>
                    </a:ext>
                  </a:extLst>
                </a:gridCol>
                <a:gridCol w="1110092">
                  <a:extLst>
                    <a:ext uri="{9D8B030D-6E8A-4147-A177-3AD203B41FA5}">
                      <a16:colId xmlns:a16="http://schemas.microsoft.com/office/drawing/2014/main" val="3349953750"/>
                    </a:ext>
                  </a:extLst>
                </a:gridCol>
              </a:tblGrid>
              <a:tr h="27568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No.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지역그룹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지역본부</a:t>
                      </a:r>
                      <a:r>
                        <a:rPr lang="en-US" altLang="ko-KR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(PG)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감사부점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감사인원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감사반장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배정 감사역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1334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강서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강서</a:t>
                      </a: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1(</a:t>
                      </a: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마곡</a:t>
                      </a: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지역본부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[6493]</a:t>
                      </a: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마곡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이</a:t>
                      </a: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**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이</a:t>
                      </a: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**,</a:t>
                      </a: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홍</a:t>
                      </a: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**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0641114"/>
                  </a:ext>
                </a:extLst>
              </a:tr>
              <a:tr h="21334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경기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경기</a:t>
                      </a: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6(</a:t>
                      </a: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경기광주</a:t>
                      </a: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지역본부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[6338] </a:t>
                      </a: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곤지암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9943333"/>
                  </a:ext>
                </a:extLst>
              </a:tr>
            </a:tbl>
          </a:graphicData>
        </a:graphic>
      </p:graphicFrame>
      <p:sp>
        <p:nvSpPr>
          <p:cNvPr id="20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414532" y="1398515"/>
            <a:ext cx="848658" cy="171687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감사부점</a:t>
            </a: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800" spc="-100" dirty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관련  감사역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0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298216" y="1398515"/>
            <a:ext cx="605660" cy="171687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감사계획</a:t>
            </a: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조회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08" name="표 207"/>
          <p:cNvGraphicFramePr>
            <a:graphicFrameLocks noGrp="1"/>
          </p:cNvGraphicFramePr>
          <p:nvPr>
            <p:extLst/>
          </p:nvPr>
        </p:nvGraphicFramePr>
        <p:xfrm>
          <a:off x="170977" y="3537173"/>
          <a:ext cx="3145801" cy="240408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2977">
                  <a:extLst>
                    <a:ext uri="{9D8B030D-6E8A-4147-A177-3AD203B41FA5}">
                      <a16:colId xmlns:a16="http://schemas.microsoft.com/office/drawing/2014/main" val="3203214728"/>
                    </a:ext>
                  </a:extLst>
                </a:gridCol>
                <a:gridCol w="2422824">
                  <a:extLst>
                    <a:ext uri="{9D8B030D-6E8A-4147-A177-3AD203B41FA5}">
                      <a16:colId xmlns:a16="http://schemas.microsoft.com/office/drawing/2014/main" val="2968355012"/>
                    </a:ext>
                  </a:extLst>
                </a:gridCol>
              </a:tblGrid>
              <a:tr h="245118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감사역명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51048157"/>
                  </a:ext>
                </a:extLst>
              </a:tr>
              <a:tr h="2158970">
                <a:tc gridSpan="2"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471906"/>
                  </a:ext>
                </a:extLst>
              </a:tr>
            </a:tbl>
          </a:graphicData>
        </a:graphic>
      </p:graphicFrame>
      <p:sp>
        <p:nvSpPr>
          <p:cNvPr id="210" name="직사각형 20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132173" y="3575390"/>
            <a:ext cx="767169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212" name="표 211"/>
          <p:cNvGraphicFramePr>
            <a:graphicFrameLocks noGrp="1"/>
          </p:cNvGraphicFramePr>
          <p:nvPr>
            <p:extLst/>
          </p:nvPr>
        </p:nvGraphicFramePr>
        <p:xfrm>
          <a:off x="262066" y="3880670"/>
          <a:ext cx="2938333" cy="1889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9847">
                  <a:extLst>
                    <a:ext uri="{9D8B030D-6E8A-4147-A177-3AD203B41FA5}">
                      <a16:colId xmlns:a16="http://schemas.microsoft.com/office/drawing/2014/main" val="2647806698"/>
                    </a:ext>
                  </a:extLst>
                </a:gridCol>
                <a:gridCol w="807376">
                  <a:extLst>
                    <a:ext uri="{9D8B030D-6E8A-4147-A177-3AD203B41FA5}">
                      <a16:colId xmlns:a16="http://schemas.microsoft.com/office/drawing/2014/main" val="3770631931"/>
                    </a:ext>
                  </a:extLst>
                </a:gridCol>
                <a:gridCol w="974670">
                  <a:extLst>
                    <a:ext uri="{9D8B030D-6E8A-4147-A177-3AD203B41FA5}">
                      <a16:colId xmlns:a16="http://schemas.microsoft.com/office/drawing/2014/main" val="4172561946"/>
                    </a:ext>
                  </a:extLst>
                </a:gridCol>
                <a:gridCol w="288774">
                  <a:extLst>
                    <a:ext uri="{9D8B030D-6E8A-4147-A177-3AD203B41FA5}">
                      <a16:colId xmlns:a16="http://schemas.microsoft.com/office/drawing/2014/main" val="1480536561"/>
                    </a:ext>
                  </a:extLst>
                </a:gridCol>
                <a:gridCol w="587666">
                  <a:extLst>
                    <a:ext uri="{9D8B030D-6E8A-4147-A177-3AD203B41FA5}">
                      <a16:colId xmlns:a16="http://schemas.microsoft.com/office/drawing/2014/main" val="754677486"/>
                    </a:ext>
                  </a:extLst>
                </a:gridCol>
              </a:tblGrid>
              <a:tr h="17722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현부점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감사역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직급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0979869"/>
                  </a:ext>
                </a:extLst>
              </a:tr>
              <a:tr h="17722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[2310542]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L4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5387088"/>
                  </a:ext>
                </a:extLst>
              </a:tr>
              <a:tr h="17722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[2340049]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OO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L3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4830211"/>
                  </a:ext>
                </a:extLst>
              </a:tr>
              <a:tr h="17722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[2796255]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배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OO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L3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1211812"/>
                  </a:ext>
                </a:extLst>
              </a:tr>
              <a:tr h="17722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[3807860]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OO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L3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1552450"/>
                  </a:ext>
                </a:extLst>
              </a:tr>
              <a:tr h="17722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[3160412]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한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OO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L2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2848344"/>
                  </a:ext>
                </a:extLst>
              </a:tr>
              <a:tr h="17722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[2536829]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주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OO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L2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9074504"/>
                  </a:ext>
                </a:extLst>
              </a:tr>
              <a:tr h="17722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[2310542]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OO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L2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065697"/>
                  </a:ext>
                </a:extLst>
              </a:tr>
              <a:tr h="17722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[3105261]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박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OO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L2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7092511"/>
                  </a:ext>
                </a:extLst>
              </a:tr>
            </a:tbl>
          </a:graphicData>
        </a:graphic>
      </p:graphicFrame>
      <p:grpSp>
        <p:nvGrpSpPr>
          <p:cNvPr id="219" name="그룹 218"/>
          <p:cNvGrpSpPr/>
          <p:nvPr/>
        </p:nvGrpSpPr>
        <p:grpSpPr>
          <a:xfrm>
            <a:off x="3383239" y="4360985"/>
            <a:ext cx="340863" cy="626652"/>
            <a:chOff x="3569983" y="4596931"/>
            <a:chExt cx="457200" cy="756465"/>
          </a:xfrm>
        </p:grpSpPr>
        <p:sp>
          <p:nvSpPr>
            <p:cNvPr id="213" name="직사각형 212"/>
            <p:cNvSpPr/>
            <p:nvPr/>
          </p:nvSpPr>
          <p:spPr bwMode="auto">
            <a:xfrm>
              <a:off x="3569983" y="4596931"/>
              <a:ext cx="457200" cy="35744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 cap="flat" cmpd="sng" algn="ctr">
              <a:solidFill>
                <a:srgbClr val="F1A600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algn="ctr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1400" b="1" i="0" u="none" strike="noStrike" kern="0" cap="none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&gt;</a:t>
              </a:r>
              <a:endParaRPr kumimoji="0" lang="ko-KR" altLang="en-US" sz="1400" b="1" i="0" u="none" strike="noStrike" kern="0" cap="none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214" name="직사각형 213"/>
            <p:cNvSpPr/>
            <p:nvPr/>
          </p:nvSpPr>
          <p:spPr bwMode="auto">
            <a:xfrm>
              <a:off x="3569983" y="4995948"/>
              <a:ext cx="457200" cy="357448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 cap="flat" cmpd="sng" algn="ctr">
              <a:solidFill>
                <a:srgbClr val="F1A600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algn="ctr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b="1" kern="0" dirty="0">
                  <a:solidFill>
                    <a:srgbClr val="000000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&lt;</a:t>
              </a:r>
              <a:endParaRPr kumimoji="0" lang="ko-KR" altLang="en-US" sz="1400" b="1" i="0" u="none" strike="noStrike" kern="0" cap="none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graphicFrame>
        <p:nvGraphicFramePr>
          <p:cNvPr id="220" name="표 219"/>
          <p:cNvGraphicFramePr>
            <a:graphicFrameLocks noGrp="1"/>
          </p:cNvGraphicFramePr>
          <p:nvPr>
            <p:extLst/>
          </p:nvPr>
        </p:nvGraphicFramePr>
        <p:xfrm>
          <a:off x="3809589" y="3537173"/>
          <a:ext cx="3145801" cy="240408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2977">
                  <a:extLst>
                    <a:ext uri="{9D8B030D-6E8A-4147-A177-3AD203B41FA5}">
                      <a16:colId xmlns:a16="http://schemas.microsoft.com/office/drawing/2014/main" val="3203214728"/>
                    </a:ext>
                  </a:extLst>
                </a:gridCol>
                <a:gridCol w="2422824">
                  <a:extLst>
                    <a:ext uri="{9D8B030D-6E8A-4147-A177-3AD203B41FA5}">
                      <a16:colId xmlns:a16="http://schemas.microsoft.com/office/drawing/2014/main" val="2968355012"/>
                    </a:ext>
                  </a:extLst>
                </a:gridCol>
              </a:tblGrid>
              <a:tr h="245118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반장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[S023712]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51048157"/>
                  </a:ext>
                </a:extLst>
              </a:tr>
              <a:tr h="2158970">
                <a:tc gridSpan="2"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471906"/>
                  </a:ext>
                </a:extLst>
              </a:tr>
            </a:tbl>
          </a:graphicData>
        </a:graphic>
      </p:graphicFrame>
      <p:sp>
        <p:nvSpPr>
          <p:cNvPr id="22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457143" y="3580419"/>
            <a:ext cx="429307" cy="171687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err="1" smtClean="0">
                <a:solidFill>
                  <a:schemeClr val="bg1">
                    <a:lumMod val="5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반장선택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223" name="표 222"/>
          <p:cNvGraphicFramePr>
            <a:graphicFrameLocks noGrp="1"/>
          </p:cNvGraphicFramePr>
          <p:nvPr>
            <p:extLst/>
          </p:nvPr>
        </p:nvGraphicFramePr>
        <p:xfrm>
          <a:off x="3900678" y="3880670"/>
          <a:ext cx="2938333" cy="502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9847">
                  <a:extLst>
                    <a:ext uri="{9D8B030D-6E8A-4147-A177-3AD203B41FA5}">
                      <a16:colId xmlns:a16="http://schemas.microsoft.com/office/drawing/2014/main" val="2647806698"/>
                    </a:ext>
                  </a:extLst>
                </a:gridCol>
                <a:gridCol w="807376">
                  <a:extLst>
                    <a:ext uri="{9D8B030D-6E8A-4147-A177-3AD203B41FA5}">
                      <a16:colId xmlns:a16="http://schemas.microsoft.com/office/drawing/2014/main" val="3770631931"/>
                    </a:ext>
                  </a:extLst>
                </a:gridCol>
                <a:gridCol w="974670">
                  <a:extLst>
                    <a:ext uri="{9D8B030D-6E8A-4147-A177-3AD203B41FA5}">
                      <a16:colId xmlns:a16="http://schemas.microsoft.com/office/drawing/2014/main" val="4172561946"/>
                    </a:ext>
                  </a:extLst>
                </a:gridCol>
                <a:gridCol w="288774">
                  <a:extLst>
                    <a:ext uri="{9D8B030D-6E8A-4147-A177-3AD203B41FA5}">
                      <a16:colId xmlns:a16="http://schemas.microsoft.com/office/drawing/2014/main" val="1480536561"/>
                    </a:ext>
                  </a:extLst>
                </a:gridCol>
                <a:gridCol w="587666">
                  <a:extLst>
                    <a:ext uri="{9D8B030D-6E8A-4147-A177-3AD203B41FA5}">
                      <a16:colId xmlns:a16="http://schemas.microsoft.com/office/drawing/2014/main" val="754677486"/>
                    </a:ext>
                  </a:extLst>
                </a:gridCol>
              </a:tblGrid>
              <a:tr h="17722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현부점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감사역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직급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0979869"/>
                  </a:ext>
                </a:extLst>
              </a:tr>
              <a:tr h="17722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[3807860]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세종대왕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L4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5387088"/>
                  </a:ext>
                </a:extLst>
              </a:tr>
            </a:tbl>
          </a:graphicData>
        </a:graphic>
      </p:graphicFrame>
      <p:sp>
        <p:nvSpPr>
          <p:cNvPr id="22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991612" y="3580419"/>
            <a:ext cx="838898" cy="171687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err="1" smtClean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타부서</a:t>
            </a: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감사역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2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72360" y="3304126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2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78186" y="3304126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삭제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48" name="직사각형 247"/>
          <p:cNvSpPr/>
          <p:nvPr/>
        </p:nvSpPr>
        <p:spPr bwMode="auto">
          <a:xfrm>
            <a:off x="262066" y="2164804"/>
            <a:ext cx="6526214" cy="180526"/>
          </a:xfrm>
          <a:prstGeom prst="rect">
            <a:avLst/>
          </a:prstGeom>
          <a:noFill/>
          <a:ln w="15875">
            <a:solidFill>
              <a:schemeClr val="accent1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49" name="직사각형 248"/>
          <p:cNvSpPr/>
          <p:nvPr/>
        </p:nvSpPr>
        <p:spPr bwMode="auto">
          <a:xfrm>
            <a:off x="1455420" y="4185499"/>
            <a:ext cx="906780" cy="183105"/>
          </a:xfrm>
          <a:prstGeom prst="rect">
            <a:avLst/>
          </a:prstGeom>
          <a:noFill/>
          <a:ln w="15875">
            <a:solidFill>
              <a:schemeClr val="accent1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51" name="타원 25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71849" y="406483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252" name="구부러진 연결선 251"/>
          <p:cNvCxnSpPr>
            <a:stCxn id="249" idx="3"/>
            <a:endCxn id="213" idx="1"/>
          </p:cNvCxnSpPr>
          <p:nvPr/>
        </p:nvCxnSpPr>
        <p:spPr bwMode="auto">
          <a:xfrm>
            <a:off x="2362200" y="4277052"/>
            <a:ext cx="1021039" cy="231987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12700" cap="flat" cmpd="sng" algn="ctr">
            <a:solidFill>
              <a:schemeClr val="accent1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grpSp>
        <p:nvGrpSpPr>
          <p:cNvPr id="256" name="그룹 255"/>
          <p:cNvGrpSpPr/>
          <p:nvPr/>
        </p:nvGrpSpPr>
        <p:grpSpPr>
          <a:xfrm>
            <a:off x="2074479" y="2494498"/>
            <a:ext cx="2703425" cy="1259335"/>
            <a:chOff x="1975694" y="2512075"/>
            <a:chExt cx="2703425" cy="1259335"/>
          </a:xfrm>
        </p:grpSpPr>
        <p:sp>
          <p:nvSpPr>
            <p:cNvPr id="211" name="사각형: 둥근 모서리 19">
              <a:extLst>
                <a:ext uri="{FF2B5EF4-FFF2-40B4-BE49-F238E27FC236}">
                  <a16:creationId xmlns:a16="http://schemas.microsoft.com/office/drawing/2014/main" id="{52727207-08CB-A2FB-DFBD-131CEC779D94}"/>
                </a:ext>
              </a:extLst>
            </p:cNvPr>
            <p:cNvSpPr/>
            <p:nvPr/>
          </p:nvSpPr>
          <p:spPr>
            <a:xfrm>
              <a:off x="1975694" y="3580419"/>
              <a:ext cx="848658" cy="171687"/>
            </a:xfrm>
            <a:prstGeom prst="roundRect">
              <a:avLst>
                <a:gd name="adj" fmla="val 10228"/>
              </a:avLst>
            </a:prstGeom>
            <a:solidFill>
              <a:schemeClr val="bg1"/>
            </a:solidFill>
            <a:ln w="9525">
              <a:solidFill>
                <a:schemeClr val="bg1">
                  <a:lumMod val="75000"/>
                </a:schemeClr>
              </a:solidFill>
            </a:ln>
            <a:effectLst>
              <a:outerShdw blurRad="50800" dist="38100" dir="2700000" sx="80000" sy="8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spc="-100" dirty="0" smtClean="0">
                  <a:solidFill>
                    <a:schemeClr val="bg1">
                      <a:lumMod val="50000"/>
                    </a:schemeClr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감사역 검색</a:t>
              </a:r>
              <a:endParaRPr kumimoji="0" lang="ko-KR" altLang="en-US" sz="800" b="0" i="0" u="none" strike="noStrike" kern="1200" cap="none" spc="-10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grpSp>
          <p:nvGrpSpPr>
            <p:cNvPr id="238" name="그룹 237">
              <a:extLst>
                <a:ext uri="{FF2B5EF4-FFF2-40B4-BE49-F238E27FC236}">
                  <a16:creationId xmlns:a16="http://schemas.microsoft.com/office/drawing/2014/main" id="{DD5F029C-6EC4-4D0B-94B1-F5659BCA8392}"/>
                </a:ext>
              </a:extLst>
            </p:cNvPr>
            <p:cNvGrpSpPr/>
            <p:nvPr/>
          </p:nvGrpSpPr>
          <p:grpSpPr>
            <a:xfrm>
              <a:off x="2046088" y="2512075"/>
              <a:ext cx="2633031" cy="1259335"/>
              <a:chOff x="2695711" y="3304031"/>
              <a:chExt cx="3240654" cy="1549952"/>
            </a:xfrm>
          </p:grpSpPr>
          <p:grpSp>
            <p:nvGrpSpPr>
              <p:cNvPr id="239" name="그룹 238">
                <a:extLst>
                  <a:ext uri="{FF2B5EF4-FFF2-40B4-BE49-F238E27FC236}">
                    <a16:creationId xmlns:a16="http://schemas.microsoft.com/office/drawing/2014/main" id="{190FB939-2FBA-4B81-81BF-227565802531}"/>
                  </a:ext>
                </a:extLst>
              </p:cNvPr>
              <p:cNvGrpSpPr/>
              <p:nvPr/>
            </p:nvGrpSpPr>
            <p:grpSpPr>
              <a:xfrm>
                <a:off x="2695711" y="3304031"/>
                <a:ext cx="3240654" cy="1549952"/>
                <a:chOff x="1087913" y="3644528"/>
                <a:chExt cx="3240654" cy="1549952"/>
              </a:xfrm>
            </p:grpSpPr>
            <p:sp>
              <p:nvSpPr>
                <p:cNvPr id="243" name="직사각형 242">
                  <a:extLst>
                    <a:ext uri="{FF2B5EF4-FFF2-40B4-BE49-F238E27FC236}">
                      <a16:creationId xmlns:a16="http://schemas.microsoft.com/office/drawing/2014/main" id="{68CB9370-D759-4248-8572-5FDA4EF6101B}"/>
                    </a:ext>
                  </a:extLst>
                </p:cNvPr>
                <p:cNvSpPr/>
                <p:nvPr/>
              </p:nvSpPr>
              <p:spPr>
                <a:xfrm>
                  <a:off x="1087913" y="3645024"/>
                  <a:ext cx="3240654" cy="1549456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defTabSz="742856">
                    <a:defRPr/>
                  </a:pPr>
                  <a:endParaRPr lang="ko-KR" altLang="en-US" sz="813" b="1">
                    <a:solidFill>
                      <a:srgbClr val="0070C0"/>
                    </a:solidFill>
                    <a:latin typeface="KB금융 본문체 Medium" panose="020B0603000000000000" pitchFamily="50" charset="-127"/>
                    <a:ea typeface="KB금융 본문체 Medium" panose="020B0603000000000000" pitchFamily="50" charset="-127"/>
                  </a:endParaRPr>
                </a:p>
              </p:txBody>
            </p:sp>
            <p:sp>
              <p:nvSpPr>
                <p:cNvPr id="244" name="직사각형 243">
                  <a:extLst>
                    <a:ext uri="{FF2B5EF4-FFF2-40B4-BE49-F238E27FC236}">
                      <a16:creationId xmlns:a16="http://schemas.microsoft.com/office/drawing/2014/main" id="{D494E968-62DE-442C-9EE6-DD6B90DDF615}"/>
                    </a:ext>
                  </a:extLst>
                </p:cNvPr>
                <p:cNvSpPr/>
                <p:nvPr/>
              </p:nvSpPr>
              <p:spPr bwMode="auto">
                <a:xfrm>
                  <a:off x="4137290" y="3681040"/>
                  <a:ext cx="118800" cy="108000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txBody>
                <a:bodyPr wrap="none" lIns="0" tIns="0" rIns="0" bIns="0" rtlCol="0" anchor="ctr" anchorCtr="0">
                  <a:noAutofit/>
                </a:bodyPr>
                <a:lstStyle/>
                <a:p>
                  <a:pPr algn="ctr" defTabSz="742856">
                    <a:defRPr/>
                  </a:pPr>
                  <a:r>
                    <a:rPr lang="en-US" altLang="ko-KR" sz="516" b="1">
                      <a:ln>
                        <a:solidFill>
                          <a:prstClr val="black">
                            <a:alpha val="0"/>
                          </a:prstClr>
                        </a:solidFill>
                      </a:ln>
                      <a:solidFill>
                        <a:prstClr val="black"/>
                      </a:solidFill>
                      <a:latin typeface="KB금융 본문체 Medium" panose="020B0603000000000000" pitchFamily="50" charset="-127"/>
                      <a:ea typeface="KB금융 본문체 Medium" panose="020B0603000000000000" pitchFamily="50" charset="-127"/>
                    </a:rPr>
                    <a:t>X</a:t>
                  </a:r>
                  <a:endParaRPr lang="ko-KR" altLang="en-US" sz="516" b="1">
                    <a:ln>
                      <a:solidFill>
                        <a:prstClr val="black">
                          <a:alpha val="0"/>
                        </a:prstClr>
                      </a:solidFill>
                    </a:ln>
                    <a:solidFill>
                      <a:prstClr val="black"/>
                    </a:solidFill>
                    <a:latin typeface="KB금융 본문체 Medium" panose="020B0603000000000000" pitchFamily="50" charset="-127"/>
                    <a:ea typeface="KB금융 본문체 Medium" panose="020B0603000000000000" pitchFamily="50" charset="-127"/>
                  </a:endParaRPr>
                </a:p>
              </p:txBody>
            </p:sp>
            <p:sp>
              <p:nvSpPr>
                <p:cNvPr id="245" name="TextBox 244">
                  <a:extLst>
                    <a:ext uri="{FF2B5EF4-FFF2-40B4-BE49-F238E27FC236}">
                      <a16:creationId xmlns:a16="http://schemas.microsoft.com/office/drawing/2014/main" id="{60B97788-F115-4669-A08F-46D3A46FC7DA}"/>
                    </a:ext>
                  </a:extLst>
                </p:cNvPr>
                <p:cNvSpPr txBox="1"/>
                <p:nvPr/>
              </p:nvSpPr>
              <p:spPr>
                <a:xfrm>
                  <a:off x="1154520" y="3644528"/>
                  <a:ext cx="1691195" cy="265162"/>
                </a:xfrm>
                <a:prstGeom prst="rect">
                  <a:avLst/>
                </a:prstGeom>
                <a:noFill/>
              </p:spPr>
              <p:txBody>
                <a:bodyPr wrap="square" lIns="29250" rtlCol="0">
                  <a:spAutoFit/>
                </a:bodyPr>
                <a:lstStyle/>
                <a:p>
                  <a:pPr defTabSz="742856">
                    <a:defRPr/>
                  </a:pPr>
                  <a:r>
                    <a:rPr lang="ko-KR" altLang="en-US" sz="800" dirty="0" smtClean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KB금융 본문체 Medium" panose="020B0603000000000000" pitchFamily="50" charset="-127"/>
                      <a:ea typeface="KB금융 본문체 Medium" panose="020B0603000000000000" pitchFamily="50" charset="-127"/>
                    </a:rPr>
                    <a:t>감사역 중복 배정 등록 알림</a:t>
                  </a:r>
                  <a:endParaRPr lang="ko-KR" altLang="en-US" sz="800" dirty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B금융 본문체 Medium" panose="020B0603000000000000" pitchFamily="50" charset="-127"/>
                    <a:ea typeface="KB금융 본문체 Medium" panose="020B0603000000000000" pitchFamily="50" charset="-127"/>
                  </a:endParaRPr>
                </a:p>
              </p:txBody>
            </p:sp>
          </p:grpSp>
          <p:sp>
            <p:nvSpPr>
              <p:cNvPr id="240" name="직사각형 239">
                <a:extLst>
                  <a:ext uri="{FF2B5EF4-FFF2-40B4-BE49-F238E27FC236}">
                    <a16:creationId xmlns:a16="http://schemas.microsoft.com/office/drawing/2014/main" id="{061CAA5C-4EB7-4E67-85DA-E29F266F438F}"/>
                  </a:ext>
                </a:extLst>
              </p:cNvPr>
              <p:cNvSpPr/>
              <p:nvPr/>
            </p:nvSpPr>
            <p:spPr>
              <a:xfrm>
                <a:off x="2718843" y="3519657"/>
                <a:ext cx="3217520" cy="68293"/>
              </a:xfrm>
              <a:prstGeom prst="rect">
                <a:avLst/>
              </a:prstGeom>
              <a:solidFill>
                <a:srgbClr val="62595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742856">
                  <a:defRPr/>
                </a:pPr>
                <a:endParaRPr lang="ko-KR" altLang="en-US" sz="813" dirty="0">
                  <a:solidFill>
                    <a:schemeClr val="bg1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endParaRPr>
              </a:p>
            </p:txBody>
          </p:sp>
          <p:sp>
            <p:nvSpPr>
              <p:cNvPr id="242" name="사각형: 둥근 모서리 261">
                <a:extLst>
                  <a:ext uri="{FF2B5EF4-FFF2-40B4-BE49-F238E27FC236}">
                    <a16:creationId xmlns:a16="http://schemas.microsoft.com/office/drawing/2014/main" id="{3CB378F7-B465-4FEE-B282-653FC14EC1DB}"/>
                  </a:ext>
                </a:extLst>
              </p:cNvPr>
              <p:cNvSpPr/>
              <p:nvPr/>
            </p:nvSpPr>
            <p:spPr>
              <a:xfrm>
                <a:off x="4001575" y="4465045"/>
                <a:ext cx="451939" cy="180915"/>
              </a:xfrm>
              <a:prstGeom prst="roundRect">
                <a:avLst>
                  <a:gd name="adj" fmla="val 10228"/>
                </a:avLst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>
                <a:outerShdw blurRad="50800" dist="38100" dir="2700000" sx="80000" sy="8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742856">
                  <a:defRPr/>
                </a:pPr>
                <a:r>
                  <a:rPr lang="ko-KR" altLang="en-US" sz="650" spc="-81" dirty="0" smtClean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KB금융 본문체 Medium" panose="020B0603000000000000" pitchFamily="50" charset="-127"/>
                    <a:ea typeface="KB금융 본문체 Medium" panose="020B0603000000000000" pitchFamily="50" charset="-127"/>
                  </a:rPr>
                  <a:t>닫기</a:t>
                </a:r>
                <a:endParaRPr lang="ko-KR" altLang="en-US" sz="650" spc="-81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endParaRPr>
              </a:p>
            </p:txBody>
          </p:sp>
        </p:grpSp>
        <p:sp>
          <p:nvSpPr>
            <p:cNvPr id="246" name="TextBox 245"/>
            <p:cNvSpPr txBox="1"/>
            <p:nvPr/>
          </p:nvSpPr>
          <p:spPr>
            <a:xfrm>
              <a:off x="2126660" y="2833077"/>
              <a:ext cx="2430339" cy="52322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txBody>
            <a:bodyPr wrap="square" rtlCol="0">
              <a:spAutoFit/>
            </a:bodyPr>
            <a:lstStyle/>
            <a:p>
              <a:r>
                <a:rPr lang="ko-KR" altLang="en-US" sz="800" dirty="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해당 감사역은 동일 </a:t>
              </a:r>
              <a:r>
                <a:rPr lang="ko-KR" altLang="en-US" sz="800" dirty="0" err="1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감사계획년</a:t>
              </a:r>
              <a:r>
                <a:rPr lang="en-US" altLang="ko-KR" sz="800" dirty="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(2024</a:t>
              </a:r>
              <a:r>
                <a:rPr lang="ko-KR" altLang="en-US" sz="800" dirty="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년</a:t>
              </a:r>
              <a:r>
                <a:rPr lang="en-US" altLang="ko-KR" sz="800" dirty="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), </a:t>
              </a:r>
              <a:r>
                <a:rPr lang="ko-KR" altLang="en-US" sz="800" dirty="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감사계획차수</a:t>
              </a:r>
              <a:r>
                <a:rPr lang="en-US" altLang="ko-KR" sz="800" dirty="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(27</a:t>
              </a:r>
              <a:r>
                <a:rPr lang="ko-KR" altLang="en-US" sz="800" dirty="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차</a:t>
              </a:r>
              <a:r>
                <a:rPr lang="en-US" altLang="ko-KR" sz="800" dirty="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)</a:t>
              </a:r>
              <a:r>
                <a:rPr lang="ko-KR" altLang="en-US" sz="800" dirty="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의 </a:t>
              </a:r>
              <a:r>
                <a:rPr lang="en-US" altLang="ko-KR" sz="800" dirty="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[6493]</a:t>
              </a:r>
              <a:r>
                <a:rPr lang="ko-KR" altLang="en-US" sz="800" dirty="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마곡 </a:t>
              </a:r>
              <a:r>
                <a:rPr lang="ko-KR" altLang="en-US" sz="800" dirty="0" err="1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부점에</a:t>
              </a:r>
              <a:endParaRPr lang="en-US" altLang="ko-KR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  <a:p>
              <a:r>
                <a:rPr lang="ko-KR" altLang="en-US" sz="800" dirty="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이미 배정되어 있습니다</a:t>
              </a:r>
              <a:r>
                <a:rPr lang="en-US" altLang="ko-KR" sz="800" dirty="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.</a:t>
              </a:r>
            </a:p>
          </p:txBody>
        </p:sp>
      </p:grpSp>
      <p:sp>
        <p:nvSpPr>
          <p:cNvPr id="257" name="직사각형 256"/>
          <p:cNvSpPr/>
          <p:nvPr/>
        </p:nvSpPr>
        <p:spPr bwMode="auto">
          <a:xfrm>
            <a:off x="4947295" y="1944017"/>
            <a:ext cx="606373" cy="170912"/>
          </a:xfrm>
          <a:prstGeom prst="rect">
            <a:avLst/>
          </a:prstGeom>
          <a:noFill/>
          <a:ln w="15875">
            <a:solidFill>
              <a:schemeClr val="accent1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260" name="구부러진 연결선 259"/>
          <p:cNvCxnSpPr>
            <a:stCxn id="213" idx="0"/>
            <a:endCxn id="243" idx="2"/>
          </p:cNvCxnSpPr>
          <p:nvPr/>
        </p:nvCxnSpPr>
        <p:spPr bwMode="auto">
          <a:xfrm rot="16200000" flipV="1">
            <a:off x="3203954" y="4011268"/>
            <a:ext cx="607152" cy="92282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12700" cap="flat" cmpd="sng" algn="ctr">
            <a:solidFill>
              <a:schemeClr val="accent1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pic>
        <p:nvPicPr>
          <p:cNvPr id="264" name="그림 26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31010" y="4625368"/>
            <a:ext cx="2852265" cy="1514615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265" name="직사각형 264"/>
          <p:cNvSpPr/>
          <p:nvPr/>
        </p:nvSpPr>
        <p:spPr bwMode="auto">
          <a:xfrm>
            <a:off x="4099226" y="5002584"/>
            <a:ext cx="2566525" cy="184092"/>
          </a:xfrm>
          <a:prstGeom prst="rect">
            <a:avLst/>
          </a:prstGeom>
          <a:noFill/>
          <a:ln w="15875">
            <a:solidFill>
              <a:schemeClr val="accent1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66" name="직사각형 265"/>
          <p:cNvSpPr/>
          <p:nvPr/>
        </p:nvSpPr>
        <p:spPr bwMode="auto">
          <a:xfrm>
            <a:off x="6082838" y="3561326"/>
            <a:ext cx="761634" cy="183105"/>
          </a:xfrm>
          <a:prstGeom prst="rect">
            <a:avLst/>
          </a:prstGeom>
          <a:noFill/>
          <a:ln w="15875">
            <a:solidFill>
              <a:schemeClr val="accent1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268" name="구부러진 연결선 267"/>
          <p:cNvCxnSpPr>
            <a:stCxn id="265" idx="0"/>
            <a:endCxn id="224" idx="2"/>
          </p:cNvCxnSpPr>
          <p:nvPr/>
        </p:nvCxnSpPr>
        <p:spPr bwMode="auto">
          <a:xfrm rot="5400000" flipH="1" flipV="1">
            <a:off x="5271536" y="3863059"/>
            <a:ext cx="1250478" cy="1028572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12700" cap="flat" cmpd="sng" algn="ctr">
            <a:solidFill>
              <a:schemeClr val="accent1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cxnSp>
        <p:nvCxnSpPr>
          <p:cNvPr id="271" name="구부러진 연결선 270"/>
          <p:cNvCxnSpPr>
            <a:stCxn id="266" idx="1"/>
            <a:endCxn id="243" idx="3"/>
          </p:cNvCxnSpPr>
          <p:nvPr/>
        </p:nvCxnSpPr>
        <p:spPr bwMode="auto">
          <a:xfrm rot="10800000">
            <a:off x="4777904" y="3124367"/>
            <a:ext cx="1304934" cy="528512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12700" cap="flat" cmpd="sng" algn="ctr">
            <a:solidFill>
              <a:schemeClr val="accent1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6347345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18621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34670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072005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175987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37152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건의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점검항목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분류를 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조회목록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서 삭제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171450" marR="0" lvl="0" indent="-17145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생활안정자금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171450" marR="0" lvl="0" indent="-17145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전세자금대출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171450" marR="0" lvl="0" indent="-17145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신용대출 주택추가매수 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16749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엑셀출력에서도 변경된 내용 적용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8301019"/>
                  </a:ext>
                </a:extLst>
              </a:tr>
              <a:tr h="1564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5347053"/>
                  </a:ext>
                </a:extLst>
              </a:tr>
              <a:tr h="1564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8158666"/>
                  </a:ext>
                </a:extLst>
              </a:tr>
              <a:tr h="27714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1935820"/>
                  </a:ext>
                </a:extLst>
              </a:tr>
            </a:tbl>
          </a:graphicData>
        </a:graphic>
      </p:graphicFrame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MDD-00022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MDD72G66000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테마감사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Dash Board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테마감사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테마감사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Dash Board(P54: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유성용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03533" y="1088193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170976" y="1088195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" name="양쪽 모서리가 둥근 사각형 6"/>
          <p:cNvSpPr/>
          <p:nvPr/>
        </p:nvSpPr>
        <p:spPr bwMode="auto">
          <a:xfrm>
            <a:off x="185792" y="1162791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테마감사</a:t>
            </a:r>
            <a:r>
              <a:rPr kumimoji="0" lang="ko-KR" altLang="en-US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Dash Board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185793" y="1348526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9" name="내용 개체 틀 121"/>
          <p:cNvGraphicFramePr>
            <a:graphicFrameLocks/>
          </p:cNvGraphicFramePr>
          <p:nvPr>
            <p:extLst/>
          </p:nvPr>
        </p:nvGraphicFramePr>
        <p:xfrm>
          <a:off x="185791" y="1396497"/>
          <a:ext cx="6726396" cy="20294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209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2646218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3503969">
                  <a:extLst>
                    <a:ext uri="{9D8B030D-6E8A-4147-A177-3AD203B41FA5}">
                      <a16:colId xmlns:a16="http://schemas.microsoft.com/office/drawing/2014/main" val="1483068701"/>
                    </a:ext>
                  </a:extLst>
                </a:gridCol>
              </a:tblGrid>
              <a:tr h="20294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i="0" u="none" strike="noStrike" dirty="0" err="1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점검기준일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grpSp>
        <p:nvGrpSpPr>
          <p:cNvPr id="60" name="그룹 59"/>
          <p:cNvGrpSpPr/>
          <p:nvPr/>
        </p:nvGrpSpPr>
        <p:grpSpPr>
          <a:xfrm>
            <a:off x="791154" y="1408446"/>
            <a:ext cx="821498" cy="180915"/>
            <a:chOff x="4308551" y="2647124"/>
            <a:chExt cx="821498" cy="180915"/>
          </a:xfrm>
        </p:grpSpPr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4308551" y="2647124"/>
              <a:ext cx="821497" cy="18091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2024-12-03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59" name="그림 58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4948951" y="2650964"/>
              <a:ext cx="181098" cy="173224"/>
            </a:xfrm>
            <a:prstGeom prst="rect">
              <a:avLst/>
            </a:prstGeom>
          </p:spPr>
        </p:pic>
      </p:grpSp>
      <p:sp>
        <p:nvSpPr>
          <p:cNvPr id="6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066500" y="1399748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481762" y="1398515"/>
            <a:ext cx="422113" cy="181233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 출력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64" name="내용 개체 틀 121"/>
          <p:cNvGraphicFramePr>
            <a:graphicFrameLocks/>
          </p:cNvGraphicFramePr>
          <p:nvPr>
            <p:extLst/>
          </p:nvPr>
        </p:nvGraphicFramePr>
        <p:xfrm>
          <a:off x="184476" y="1775753"/>
          <a:ext cx="6727710" cy="91570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5041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253563">
                  <a:extLst>
                    <a:ext uri="{9D8B030D-6E8A-4147-A177-3AD203B41FA5}">
                      <a16:colId xmlns:a16="http://schemas.microsoft.com/office/drawing/2014/main" val="1325555519"/>
                    </a:ext>
                  </a:extLst>
                </a:gridCol>
                <a:gridCol w="1280160">
                  <a:extLst>
                    <a:ext uri="{9D8B030D-6E8A-4147-A177-3AD203B41FA5}">
                      <a16:colId xmlns:a16="http://schemas.microsoft.com/office/drawing/2014/main" val="3109369146"/>
                    </a:ext>
                  </a:extLst>
                </a:gridCol>
                <a:gridCol w="1150620">
                  <a:extLst>
                    <a:ext uri="{9D8B030D-6E8A-4147-A177-3AD203B41FA5}">
                      <a16:colId xmlns:a16="http://schemas.microsoft.com/office/drawing/2014/main" val="3484451531"/>
                    </a:ext>
                  </a:extLst>
                </a:gridCol>
                <a:gridCol w="982980">
                  <a:extLst>
                    <a:ext uri="{9D8B030D-6E8A-4147-A177-3AD203B41FA5}">
                      <a16:colId xmlns:a16="http://schemas.microsoft.com/office/drawing/2014/main" val="2707511199"/>
                    </a:ext>
                  </a:extLst>
                </a:gridCol>
                <a:gridCol w="922020">
                  <a:extLst>
                    <a:ext uri="{9D8B030D-6E8A-4147-A177-3AD203B41FA5}">
                      <a16:colId xmlns:a16="http://schemas.microsoft.com/office/drawing/2014/main" val="64627311"/>
                    </a:ext>
                  </a:extLst>
                </a:gridCol>
                <a:gridCol w="793326">
                  <a:extLst>
                    <a:ext uri="{9D8B030D-6E8A-4147-A177-3AD203B41FA5}">
                      <a16:colId xmlns:a16="http://schemas.microsoft.com/office/drawing/2014/main" val="3349953750"/>
                    </a:ext>
                  </a:extLst>
                </a:gridCol>
              </a:tblGrid>
              <a:tr h="27568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No.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점검항목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화면번호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점검주기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점검대상건수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미점검건수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미점검률</a:t>
                      </a:r>
                      <a:r>
                        <a:rPr lang="en-US" altLang="ko-KR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(%)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1334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생활안정자금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06-20-078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6</a:t>
                      </a: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개월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119473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14808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12.39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0641114"/>
                  </a:ext>
                </a:extLst>
              </a:tr>
              <a:tr h="21334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전세자금대출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06-20-079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개월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149339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35111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23.51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9943333"/>
                  </a:ext>
                </a:extLst>
              </a:tr>
              <a:tr h="21334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신용대출 주택추가매수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06-20-083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6</a:t>
                      </a: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개월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13299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1374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10.33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3215378"/>
                  </a:ext>
                </a:extLst>
              </a:tr>
            </a:tbl>
          </a:graphicData>
        </a:graphic>
      </p:graphicFrame>
      <p:graphicFrame>
        <p:nvGraphicFramePr>
          <p:cNvPr id="65" name="내용 개체 틀 121"/>
          <p:cNvGraphicFramePr>
            <a:graphicFrameLocks/>
          </p:cNvGraphicFramePr>
          <p:nvPr>
            <p:extLst/>
          </p:nvPr>
        </p:nvGraphicFramePr>
        <p:xfrm>
          <a:off x="176165" y="2704159"/>
          <a:ext cx="6727710" cy="70236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5041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253563">
                  <a:extLst>
                    <a:ext uri="{9D8B030D-6E8A-4147-A177-3AD203B41FA5}">
                      <a16:colId xmlns:a16="http://schemas.microsoft.com/office/drawing/2014/main" val="1325555519"/>
                    </a:ext>
                  </a:extLst>
                </a:gridCol>
                <a:gridCol w="1280160">
                  <a:extLst>
                    <a:ext uri="{9D8B030D-6E8A-4147-A177-3AD203B41FA5}">
                      <a16:colId xmlns:a16="http://schemas.microsoft.com/office/drawing/2014/main" val="3109369146"/>
                    </a:ext>
                  </a:extLst>
                </a:gridCol>
                <a:gridCol w="1150620">
                  <a:extLst>
                    <a:ext uri="{9D8B030D-6E8A-4147-A177-3AD203B41FA5}">
                      <a16:colId xmlns:a16="http://schemas.microsoft.com/office/drawing/2014/main" val="3484451531"/>
                    </a:ext>
                  </a:extLst>
                </a:gridCol>
                <a:gridCol w="982980">
                  <a:extLst>
                    <a:ext uri="{9D8B030D-6E8A-4147-A177-3AD203B41FA5}">
                      <a16:colId xmlns:a16="http://schemas.microsoft.com/office/drawing/2014/main" val="2707511199"/>
                    </a:ext>
                  </a:extLst>
                </a:gridCol>
                <a:gridCol w="922020">
                  <a:extLst>
                    <a:ext uri="{9D8B030D-6E8A-4147-A177-3AD203B41FA5}">
                      <a16:colId xmlns:a16="http://schemas.microsoft.com/office/drawing/2014/main" val="64627311"/>
                    </a:ext>
                  </a:extLst>
                </a:gridCol>
                <a:gridCol w="793326">
                  <a:extLst>
                    <a:ext uri="{9D8B030D-6E8A-4147-A177-3AD203B41FA5}">
                      <a16:colId xmlns:a16="http://schemas.microsoft.com/office/drawing/2014/main" val="3349953750"/>
                    </a:ext>
                  </a:extLst>
                </a:gridCol>
              </a:tblGrid>
              <a:tr h="27568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No.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점검항목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화면번호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점검주기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1</a:t>
                      </a: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개월이내</a:t>
                      </a:r>
                      <a:endParaRPr lang="en-US" altLang="ko-KR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점검대상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미점검건수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1334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주택구입자금</a:t>
                      </a: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전입조건</a:t>
                      </a: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04-3A-068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매일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724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1984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0641114"/>
                  </a:ext>
                </a:extLst>
              </a:tr>
              <a:tr h="21334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주택구입자금</a:t>
                      </a: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처분조건</a:t>
                      </a: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04-3A-068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매일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281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807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9943333"/>
                  </a:ext>
                </a:extLst>
              </a:tr>
            </a:tbl>
          </a:graphicData>
        </a:graphic>
      </p:graphicFrame>
      <p:sp>
        <p:nvSpPr>
          <p:cNvPr id="68" name="타원 6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84476" y="172214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481762" y="122018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753479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그림 2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45290" y="1463890"/>
            <a:ext cx="6730567" cy="3828620"/>
          </a:xfrm>
          <a:prstGeom prst="rect">
            <a:avLst/>
          </a:prstGeom>
        </p:spPr>
      </p:pic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307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[</a:t>
                      </a:r>
                      <a:r>
                        <a:rPr kumimoji="1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계죄조회</a:t>
                      </a:r>
                      <a:r>
                        <a:rPr kumimoji="1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 </a:t>
                      </a:r>
                      <a:r>
                        <a:rPr kumimoji="1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버튼 </a:t>
                      </a:r>
                      <a:r>
                        <a:rPr kumimoji="1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클릭시</a:t>
                      </a:r>
                      <a:r>
                        <a:rPr kumimoji="1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endParaRPr kumimoji="1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kumimoji="0" lang="ko-KR" altLang="en-US" sz="800" b="0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상시감사</a:t>
                      </a:r>
                      <a:r>
                        <a:rPr kumimoji="0" lang="en-US" altLang="ko-KR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[</a:t>
                      </a: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지적사항조회</a:t>
                      </a:r>
                      <a:r>
                        <a:rPr kumimoji="0" lang="en-US" altLang="ko-KR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[</a:t>
                      </a: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영업점상시감사</a:t>
                      </a:r>
                      <a:r>
                        <a:rPr kumimoji="0" lang="en-US" altLang="ko-KR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[</a:t>
                      </a:r>
                      <a:r>
                        <a:rPr kumimoji="0" lang="ko-KR" altLang="en-US" sz="800" b="0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교육사항</a:t>
                      </a: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ko-KR" altLang="en-US" sz="800" b="0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정보조회</a:t>
                      </a:r>
                      <a:r>
                        <a:rPr kumimoji="0" lang="en-US" altLang="ko-KR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 계좌번호 같은 경우 상시지적정보 필드에 기본정보 출력</a:t>
                      </a:r>
                      <a:endParaRPr lang="ko-KR" altLang="en-US" sz="8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상시감사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지적사항으로 기 등록된 내용이 존재할 경우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관련 정보를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‘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감사부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지적사항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’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과 동일하게 자동으로 연계하여 화면에 표시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kern="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kumimoji="0" lang="en-US" altLang="ko-KR" sz="800" b="1" kern="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kumimoji="0" lang="ko-KR" altLang="en-US" sz="800" b="1" kern="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감사부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지적사항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:</a:t>
                      </a:r>
                      <a:r>
                        <a:rPr lang="en-US" altLang="ko-KR" sz="80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[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영업감사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][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임점감사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][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지적사항관리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 : 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관련계좌번호 동일한 정보</a:t>
                      </a:r>
                      <a:r>
                        <a:rPr lang="en-US" altLang="ko-KR" sz="80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 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현재 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OZ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출력 되고 있음 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 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kern="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kumimoji="0" lang="en-US" altLang="ko-KR" sz="800" b="1" kern="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감사부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지적사항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:</a:t>
                      </a:r>
                      <a:r>
                        <a:rPr lang="en-US" altLang="ko-KR" sz="80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kumimoji="0" lang="ko-KR" altLang="en-US" sz="800" b="0" kern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상시감사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[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지적사항조회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[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영업점상시감사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[</a:t>
                      </a:r>
                      <a:r>
                        <a:rPr kumimoji="0" lang="ko-KR" altLang="en-US" sz="800" b="0" kern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교육사항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ko-KR" altLang="en-US" sz="800" b="0" kern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정보조회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(</a:t>
                      </a:r>
                      <a:r>
                        <a:rPr kumimoji="0" lang="ko-KR" altLang="en-US" sz="800" b="0" kern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넥사화면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en-US" altLang="ko-KR" sz="80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</a:tbl>
          </a:graphicData>
        </a:graphic>
      </p:graphicFrame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MDD-00030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MDD75G74000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결과등록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(1/2)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부책감사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부책감사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등록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결과등록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(P55: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6" name="양쪽 모서리가 둥근 사각형 5"/>
          <p:cNvSpPr/>
          <p:nvPr/>
        </p:nvSpPr>
        <p:spPr bwMode="auto">
          <a:xfrm>
            <a:off x="256176" y="1104600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심의 </a:t>
            </a:r>
            <a:r>
              <a:rPr kumimoji="0" lang="ko-KR" altLang="en-US" sz="70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결과등록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49673" y="1030004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56177" y="1290335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35" name="그림 3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699921" y="4046105"/>
            <a:ext cx="4242684" cy="2108808"/>
          </a:xfrm>
          <a:prstGeom prst="rect">
            <a:avLst/>
          </a:prstGeom>
        </p:spPr>
      </p:pic>
      <p:sp>
        <p:nvSpPr>
          <p:cNvPr id="37" name="직사각형 36"/>
          <p:cNvSpPr/>
          <p:nvPr/>
        </p:nvSpPr>
        <p:spPr bwMode="auto">
          <a:xfrm>
            <a:off x="3102423" y="3217118"/>
            <a:ext cx="555176" cy="230932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964817" y="325280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39" name="구부러진 연결선 38"/>
          <p:cNvCxnSpPr>
            <a:stCxn id="37" idx="3"/>
            <a:endCxn id="35" idx="0"/>
          </p:cNvCxnSpPr>
          <p:nvPr/>
        </p:nvCxnSpPr>
        <p:spPr bwMode="auto">
          <a:xfrm>
            <a:off x="3657599" y="3332584"/>
            <a:ext cx="1163664" cy="713521"/>
          </a:xfrm>
          <a:prstGeom prst="curvedConnector2">
            <a:avLst/>
          </a:prstGeom>
          <a:solidFill>
            <a:schemeClr val="accent1"/>
          </a:solidFill>
          <a:ln w="12700" cap="flat" cmpd="sng" algn="ctr">
            <a:solidFill>
              <a:schemeClr val="accent1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42" name="Freeform 46">
            <a:extLst>
              <a:ext uri="{FF2B5EF4-FFF2-40B4-BE49-F238E27FC236}">
                <a16:creationId xmlns:a16="http://schemas.microsoft.com/office/drawing/2014/main" id="{36BBD547-1346-F115-36F1-EB48123B65CE}"/>
              </a:ext>
            </a:extLst>
          </p:cNvPr>
          <p:cNvSpPr>
            <a:spLocks noEditPoints="1"/>
          </p:cNvSpPr>
          <p:nvPr/>
        </p:nvSpPr>
        <p:spPr bwMode="auto">
          <a:xfrm>
            <a:off x="2785670" y="6160122"/>
            <a:ext cx="113293" cy="113535"/>
          </a:xfrm>
          <a:custGeom>
            <a:avLst/>
            <a:gdLst/>
            <a:ahLst/>
            <a:cxnLst>
              <a:cxn ang="0">
                <a:pos x="55" y="44"/>
              </a:cxn>
              <a:cxn ang="0">
                <a:pos x="44" y="55"/>
              </a:cxn>
              <a:cxn ang="0">
                <a:pos x="10" y="55"/>
              </a:cxn>
              <a:cxn ang="0">
                <a:pos x="0" y="44"/>
              </a:cxn>
              <a:cxn ang="0">
                <a:pos x="0" y="10"/>
              </a:cxn>
              <a:cxn ang="0">
                <a:pos x="10" y="0"/>
              </a:cxn>
              <a:cxn ang="0">
                <a:pos x="44" y="0"/>
              </a:cxn>
              <a:cxn ang="0">
                <a:pos x="55" y="10"/>
              </a:cxn>
              <a:cxn ang="0">
                <a:pos x="55" y="44"/>
              </a:cxn>
              <a:cxn ang="0">
                <a:pos x="46" y="20"/>
              </a:cxn>
              <a:cxn ang="0">
                <a:pos x="46" y="17"/>
              </a:cxn>
              <a:cxn ang="0">
                <a:pos x="42" y="13"/>
              </a:cxn>
              <a:cxn ang="0">
                <a:pos x="39" y="13"/>
              </a:cxn>
              <a:cxn ang="0">
                <a:pos x="23" y="30"/>
              </a:cxn>
              <a:cxn ang="0">
                <a:pos x="15" y="22"/>
              </a:cxn>
              <a:cxn ang="0">
                <a:pos x="12" y="22"/>
              </a:cxn>
              <a:cxn ang="0">
                <a:pos x="8" y="26"/>
              </a:cxn>
              <a:cxn ang="0">
                <a:pos x="8" y="29"/>
              </a:cxn>
              <a:cxn ang="0">
                <a:pos x="21" y="42"/>
              </a:cxn>
              <a:cxn ang="0">
                <a:pos x="24" y="42"/>
              </a:cxn>
              <a:cxn ang="0">
                <a:pos x="46" y="20"/>
              </a:cxn>
            </a:cxnLst>
            <a:rect l="0" t="0" r="r" b="b"/>
            <a:pathLst>
              <a:path w="55" h="55">
                <a:moveTo>
                  <a:pt x="55" y="44"/>
                </a:moveTo>
                <a:cubicBezTo>
                  <a:pt x="55" y="50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0"/>
                </a:cubicBezTo>
                <a:lnTo>
                  <a:pt x="55" y="44"/>
                </a:lnTo>
                <a:close/>
                <a:moveTo>
                  <a:pt x="46" y="20"/>
                </a:moveTo>
                <a:cubicBezTo>
                  <a:pt x="47" y="19"/>
                  <a:pt x="47" y="17"/>
                  <a:pt x="46" y="17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2"/>
                  <a:pt x="40" y="12"/>
                  <a:pt x="39" y="13"/>
                </a:cubicBezTo>
                <a:cubicBezTo>
                  <a:pt x="23" y="30"/>
                  <a:pt x="23" y="30"/>
                  <a:pt x="23" y="30"/>
                </a:cubicBezTo>
                <a:cubicBezTo>
                  <a:pt x="15" y="22"/>
                  <a:pt x="15" y="22"/>
                  <a:pt x="15" y="22"/>
                </a:cubicBezTo>
                <a:cubicBezTo>
                  <a:pt x="14" y="21"/>
                  <a:pt x="13" y="21"/>
                  <a:pt x="12" y="22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7"/>
                  <a:pt x="7" y="28"/>
                  <a:pt x="8" y="29"/>
                </a:cubicBezTo>
                <a:cubicBezTo>
                  <a:pt x="21" y="42"/>
                  <a:pt x="21" y="42"/>
                  <a:pt x="21" y="42"/>
                </a:cubicBezTo>
                <a:cubicBezTo>
                  <a:pt x="22" y="43"/>
                  <a:pt x="23" y="43"/>
                  <a:pt x="24" y="42"/>
                </a:cubicBezTo>
                <a:lnTo>
                  <a:pt x="46" y="20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100687" tIns="50343" rIns="100687" bIns="50343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135923" rtl="0" eaLnBrk="0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202" b="0" i="0" u="none" strike="noStrike" kern="0" cap="none" spc="0" normalizeH="0" baseline="0" noProof="0">
              <a:ln>
                <a:solidFill>
                  <a:srgbClr val="F9A84A"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2842316" y="6114380"/>
            <a:ext cx="82522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smtClean="0">
                <a:solidFill>
                  <a:srgbClr val="FF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부책</a:t>
            </a:r>
            <a:r>
              <a:rPr lang="en-US" altLang="ko-KR" sz="800" smtClean="0">
                <a:solidFill>
                  <a:srgbClr val="FF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lang="ko-KR" altLang="en-US" sz="800" smtClean="0">
                <a:solidFill>
                  <a:srgbClr val="FF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의심</a:t>
            </a:r>
            <a:r>
              <a:rPr lang="en-US" altLang="ko-KR" sz="800" smtClean="0">
                <a:solidFill>
                  <a:srgbClr val="FF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lang="ko-KR" altLang="en-US" sz="800" smtClean="0">
                <a:solidFill>
                  <a:srgbClr val="FF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대상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36072" y="6092822"/>
            <a:ext cx="888275" cy="209932"/>
          </a:xfrm>
          <a:prstGeom prst="rect">
            <a:avLst/>
          </a:prstGeom>
          <a:noFill/>
          <a:ln w="6350">
            <a:solidFill>
              <a:schemeClr val="bg2">
                <a:lumMod val="90000"/>
              </a:schemeClr>
            </a:solidFill>
          </a:ln>
        </p:spPr>
        <p:txBody>
          <a:bodyPr wrap="square" lIns="0" tIns="0" rIns="0" bIns="0" rtlCol="0">
            <a:spAutoFit/>
          </a:bodyPr>
          <a:lstStyle/>
          <a:p>
            <a:endParaRPr lang="ko-KR" altLang="en-US" sz="90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cxnSp>
        <p:nvCxnSpPr>
          <p:cNvPr id="20" name="구부러진 연결선 19"/>
          <p:cNvCxnSpPr>
            <a:stCxn id="21" idx="2"/>
            <a:endCxn id="28" idx="0"/>
          </p:cNvCxnSpPr>
          <p:nvPr/>
        </p:nvCxnSpPr>
        <p:spPr bwMode="auto">
          <a:xfrm rot="16200000" flipH="1">
            <a:off x="1006859" y="2692701"/>
            <a:ext cx="1091759" cy="28447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12700" cap="flat" cmpd="sng" algn="ctr">
            <a:solidFill>
              <a:schemeClr val="accent1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21" name="직사각형 20"/>
          <p:cNvSpPr/>
          <p:nvPr/>
        </p:nvSpPr>
        <p:spPr bwMode="auto">
          <a:xfrm>
            <a:off x="857531" y="1972452"/>
            <a:ext cx="1361968" cy="188594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125428" y="198697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8" name="직사각형 27"/>
          <p:cNvSpPr/>
          <p:nvPr/>
        </p:nvSpPr>
        <p:spPr bwMode="auto">
          <a:xfrm>
            <a:off x="256177" y="3252805"/>
            <a:ext cx="2621570" cy="173553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940177" y="423845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6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484382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7402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상시감사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지적사항으로 기 등록된 내용이 존재할 경우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관련 정보를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‘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감사부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지적사항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’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과 동일하게 자동으로 연계하여 화면에 표시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1. 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감사부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지적사항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:</a:t>
                      </a:r>
                      <a:r>
                        <a:rPr lang="en-US" altLang="ko-KR" sz="80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[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영업감사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][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임점감사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][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지적사항관리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 :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관련계좌번호 동일한 정보</a:t>
                      </a:r>
                      <a:endParaRPr lang="en-US" altLang="ko-KR" sz="8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현재 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OZ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출력 되고 있음 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2. 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감사부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지적사항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:</a:t>
                      </a:r>
                      <a:r>
                        <a:rPr lang="en-US" altLang="ko-KR" sz="80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kumimoji="0" lang="en-US" altLang="ko-KR" sz="800" b="0" kern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kumimoji="0" lang="ko-KR" altLang="en-US" sz="800" b="0" kern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상시감사</a:t>
                      </a:r>
                      <a:r>
                        <a:rPr kumimoji="0" lang="en-US" altLang="ko-KR" sz="800" b="0" kern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[</a:t>
                      </a:r>
                      <a:r>
                        <a:rPr kumimoji="0" lang="ko-KR" altLang="en-US" sz="800" b="0" kern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지적사항조회</a:t>
                      </a:r>
                      <a:r>
                        <a:rPr kumimoji="0" lang="en-US" altLang="ko-KR" sz="800" b="0" kern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[</a:t>
                      </a:r>
                      <a:r>
                        <a:rPr kumimoji="0" lang="ko-KR" altLang="en-US" sz="800" b="0" kern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영업점상시감사</a:t>
                      </a:r>
                      <a:r>
                        <a:rPr kumimoji="0" lang="en-US" altLang="ko-KR" sz="800" b="0" kern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[</a:t>
                      </a:r>
                      <a:r>
                        <a:rPr kumimoji="0" lang="ko-KR" altLang="en-US" sz="800" b="0" kern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교육사항</a:t>
                      </a:r>
                      <a:r>
                        <a:rPr kumimoji="0" lang="ko-KR" altLang="en-US" sz="800" b="0" kern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ko-KR" altLang="en-US" sz="800" b="0" kern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정보조회</a:t>
                      </a:r>
                      <a:r>
                        <a:rPr kumimoji="0" lang="en-US" altLang="ko-KR" sz="800" b="0" kern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(</a:t>
                      </a:r>
                      <a:r>
                        <a:rPr kumimoji="0" lang="ko-KR" altLang="en-US" sz="800" b="0" kern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넥사화면</a:t>
                      </a:r>
                      <a:r>
                        <a:rPr kumimoji="0" lang="en-US" altLang="ko-KR" sz="800" b="0" kern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228600" indent="-228600">
                        <a:buFont typeface="Arial" panose="020B0604020202020204" pitchFamily="34" charset="0"/>
                        <a:buAutoNum type="arabicPeriod"/>
                      </a:pP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상시점검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부책감사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대상 또는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부책심의가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필요한 대상은 담당 검사역이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부책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대상을 선택하여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점검완료할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수 있도록 </a:t>
                      </a:r>
                      <a:r>
                        <a:rPr lang="ko-KR" altLang="en-US" sz="800" b="1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화면 변경</a:t>
                      </a:r>
                      <a:endParaRPr lang="en-US" altLang="ko-KR" sz="800" b="1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228600" indent="-228600">
                        <a:buFont typeface="Arial" panose="020B0604020202020204" pitchFamily="34" charset="0"/>
                        <a:buAutoNum type="arabicPeriod"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부책대상으로 체크된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상시점검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항목은 별도 테이블에 데이터 저장하여 관리</a:t>
                      </a:r>
                      <a:endParaRPr lang="en-US" altLang="ko-KR" sz="800" dirty="0" smtClean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4045278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228600" marR="0" lvl="0" indent="-22860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kumimoji="0" lang="ko-KR" altLang="en-US" sz="800" b="1" kern="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★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감사부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지적사항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:</a:t>
                      </a:r>
                      <a:r>
                        <a:rPr lang="en-US" altLang="ko-KR" sz="80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[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영업감사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][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임점감사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][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지적사항관리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 : 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관련계좌번호 동일한 정보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( 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현재 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OZ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출력 되고 있음 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 </a:t>
                      </a:r>
                    </a:p>
                    <a:p>
                      <a:pPr marL="228600" marR="0" lvl="0" indent="-22860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 startAt="2"/>
                        <a:tabLst/>
                        <a:defRPr/>
                      </a:pPr>
                      <a:r>
                        <a:rPr kumimoji="0" lang="ko-KR" altLang="en-US" sz="800" b="1" kern="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★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감사부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지적사항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:</a:t>
                      </a:r>
                      <a:r>
                        <a:rPr lang="en-US" altLang="ko-KR" sz="80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kumimoji="0" lang="ko-KR" altLang="en-US" sz="800" b="0" kern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상시감사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[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지적사항조회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[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영업점상시감사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[</a:t>
                      </a:r>
                      <a:r>
                        <a:rPr kumimoji="0" lang="ko-KR" altLang="en-US" sz="800" b="0" kern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교육사항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ko-KR" altLang="en-US" sz="800" b="0" kern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정보조회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(</a:t>
                      </a:r>
                      <a:r>
                        <a:rPr kumimoji="0" lang="ko-KR" altLang="en-US" sz="800" b="0" kern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넥사화면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</a:p>
                    <a:p>
                      <a:pPr marL="228600" marR="0" lvl="0" indent="-22860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 startAt="2"/>
                        <a:tabLst/>
                        <a:defRPr/>
                      </a:pPr>
                      <a:r>
                        <a:rPr kumimoji="0" lang="ko-KR" altLang="en-US" sz="800" b="1" kern="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★ </a:t>
                      </a:r>
                      <a:r>
                        <a:rPr lang="ko-KR" altLang="en-US" sz="800" kern="12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내역조회</a:t>
                      </a:r>
                      <a:r>
                        <a:rPr lang="ko-KR" altLang="en-US" sz="80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내용 구성 준법추진부와 협의 필요</a:t>
                      </a:r>
                      <a:r>
                        <a:rPr lang="en-US" altLang="ko-KR" sz="80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(</a:t>
                      </a:r>
                      <a:r>
                        <a:rPr lang="ko-KR" altLang="en-US" sz="80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어떤 메뉴 화면 내용 같은지</a:t>
                      </a:r>
                      <a:r>
                        <a:rPr lang="en-US" altLang="ko-KR" sz="80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  <a:p>
                      <a:pPr marL="228600" marR="0" lvl="0" indent="-22860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 startAt="4"/>
                        <a:tabLst/>
                        <a:defRPr/>
                      </a:pPr>
                      <a:r>
                        <a:rPr kumimoji="0" lang="ko-KR" altLang="en-US" sz="800" b="1" kern="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★ 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감사역의 </a:t>
                      </a:r>
                      <a:r>
                        <a:rPr kumimoji="0" lang="ko-KR" altLang="en-US" sz="800" b="0" kern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상시감사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권한이 필요한지 확인</a:t>
                      </a:r>
                      <a:r>
                        <a:rPr kumimoji="0" lang="en-US" altLang="ko-KR" sz="800" b="0" kern="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필요</a:t>
                      </a:r>
                      <a:r>
                        <a:rPr kumimoji="0" lang="en-US" altLang="ko-KR" sz="800" b="0" kern="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kumimoji="0" lang="ko-KR" altLang="en-US" sz="800" b="0" kern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컨설팅내용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kumimoji="0" lang="ko-KR" altLang="en-US" sz="800" b="0" kern="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1961062"/>
                  </a:ext>
                </a:extLst>
              </a:tr>
            </a:tbl>
          </a:graphicData>
        </a:graphic>
      </p:graphicFrame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MDD-00030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MDD75G74005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결과등록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(2/2)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부책감사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부책감사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등록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결과등록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(P55: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6" name="양쪽 모서리가 둥근 사각형 5"/>
          <p:cNvSpPr/>
          <p:nvPr/>
        </p:nvSpPr>
        <p:spPr bwMode="auto">
          <a:xfrm>
            <a:off x="256176" y="1104600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심의 </a:t>
            </a:r>
            <a:r>
              <a:rPr kumimoji="0" lang="ko-KR" altLang="en-US" sz="70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결과등록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49673" y="1030004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56177" y="1290335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34" name="그림 3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49674" y="1466524"/>
            <a:ext cx="6732900" cy="3828050"/>
          </a:xfrm>
          <a:prstGeom prst="rect">
            <a:avLst/>
          </a:prstGeom>
        </p:spPr>
      </p:pic>
      <p:sp>
        <p:nvSpPr>
          <p:cNvPr id="37" name="직사각형 36"/>
          <p:cNvSpPr/>
          <p:nvPr/>
        </p:nvSpPr>
        <p:spPr bwMode="auto">
          <a:xfrm>
            <a:off x="3067396" y="3217118"/>
            <a:ext cx="590203" cy="230932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898963" y="325280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39" name="구부러진 연결선 38"/>
          <p:cNvCxnSpPr>
            <a:stCxn id="37" idx="3"/>
            <a:endCxn id="3" idx="0"/>
          </p:cNvCxnSpPr>
          <p:nvPr/>
        </p:nvCxnSpPr>
        <p:spPr bwMode="auto">
          <a:xfrm flipH="1">
            <a:off x="2736956" y="3332584"/>
            <a:ext cx="920643" cy="504159"/>
          </a:xfrm>
          <a:prstGeom prst="curvedConnector4">
            <a:avLst>
              <a:gd name="adj1" fmla="val -24830"/>
              <a:gd name="adj2" fmla="val 61451"/>
            </a:avLst>
          </a:prstGeom>
          <a:solidFill>
            <a:schemeClr val="accent1"/>
          </a:solidFill>
          <a:ln w="12700" cap="flat" cmpd="sng" algn="ctr">
            <a:solidFill>
              <a:schemeClr val="accent1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grpSp>
        <p:nvGrpSpPr>
          <p:cNvPr id="11" name="그룹 10"/>
          <p:cNvGrpSpPr/>
          <p:nvPr/>
        </p:nvGrpSpPr>
        <p:grpSpPr>
          <a:xfrm>
            <a:off x="333885" y="6228305"/>
            <a:ext cx="945265" cy="236962"/>
            <a:chOff x="225819" y="6269870"/>
            <a:chExt cx="945265" cy="236962"/>
          </a:xfrm>
        </p:grpSpPr>
        <p:sp>
          <p:nvSpPr>
            <p:cNvPr id="42" name="Freeform 46">
              <a:extLst>
                <a:ext uri="{FF2B5EF4-FFF2-40B4-BE49-F238E27FC236}">
                  <a16:creationId xmlns:a16="http://schemas.microsoft.com/office/drawing/2014/main" id="{36BBD547-1346-F115-36F1-EB48123B65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9217" y="6320342"/>
              <a:ext cx="113293" cy="113535"/>
            </a:xfrm>
            <a:custGeom>
              <a:avLst/>
              <a:gdLst/>
              <a:ahLst/>
              <a:cxnLst>
                <a:cxn ang="0">
                  <a:pos x="55" y="44"/>
                </a:cxn>
                <a:cxn ang="0">
                  <a:pos x="44" y="55"/>
                </a:cxn>
                <a:cxn ang="0">
                  <a:pos x="10" y="55"/>
                </a:cxn>
                <a:cxn ang="0">
                  <a:pos x="0" y="44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4"/>
                </a:cxn>
                <a:cxn ang="0">
                  <a:pos x="46" y="20"/>
                </a:cxn>
                <a:cxn ang="0">
                  <a:pos x="46" y="17"/>
                </a:cxn>
                <a:cxn ang="0">
                  <a:pos x="42" y="13"/>
                </a:cxn>
                <a:cxn ang="0">
                  <a:pos x="39" y="13"/>
                </a:cxn>
                <a:cxn ang="0">
                  <a:pos x="23" y="30"/>
                </a:cxn>
                <a:cxn ang="0">
                  <a:pos x="15" y="22"/>
                </a:cxn>
                <a:cxn ang="0">
                  <a:pos x="12" y="22"/>
                </a:cxn>
                <a:cxn ang="0">
                  <a:pos x="8" y="26"/>
                </a:cxn>
                <a:cxn ang="0">
                  <a:pos x="8" y="29"/>
                </a:cxn>
                <a:cxn ang="0">
                  <a:pos x="21" y="42"/>
                </a:cxn>
                <a:cxn ang="0">
                  <a:pos x="24" y="42"/>
                </a:cxn>
                <a:cxn ang="0">
                  <a:pos x="46" y="20"/>
                </a:cxn>
              </a:cxnLst>
              <a:rect l="0" t="0" r="r" b="b"/>
              <a:pathLst>
                <a:path w="55" h="55">
                  <a:moveTo>
                    <a:pt x="55" y="44"/>
                  </a:moveTo>
                  <a:cubicBezTo>
                    <a:pt x="55" y="50"/>
                    <a:pt x="50" y="55"/>
                    <a:pt x="44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lnTo>
                    <a:pt x="55" y="44"/>
                  </a:lnTo>
                  <a:close/>
                  <a:moveTo>
                    <a:pt x="46" y="20"/>
                  </a:moveTo>
                  <a:cubicBezTo>
                    <a:pt x="47" y="19"/>
                    <a:pt x="47" y="17"/>
                    <a:pt x="46" y="17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2" y="12"/>
                    <a:pt x="40" y="12"/>
                    <a:pt x="39" y="13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7"/>
                    <a:pt x="7" y="28"/>
                    <a:pt x="8" y="29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2" y="43"/>
                    <a:pt x="23" y="43"/>
                    <a:pt x="24" y="42"/>
                  </a:cubicBezTo>
                  <a:lnTo>
                    <a:pt x="46" y="2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100687" tIns="50343" rIns="100687" bIns="50343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135923" rtl="0" eaLnBrk="0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202" b="0" i="0" u="none" strike="noStrike" kern="0" cap="none" spc="0" normalizeH="0" baseline="0" noProof="0">
                <a:ln>
                  <a:solidFill>
                    <a:srgbClr val="F9A84A"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345864" y="6291388"/>
              <a:ext cx="82522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 err="1" smtClean="0">
                  <a:solidFill>
                    <a:srgbClr val="FF0000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부책</a:t>
              </a:r>
              <a:r>
                <a:rPr lang="en-US" altLang="ko-KR" sz="800" dirty="0" smtClean="0">
                  <a:solidFill>
                    <a:srgbClr val="FF0000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(</a:t>
              </a:r>
              <a:r>
                <a:rPr lang="ko-KR" altLang="en-US" sz="800" dirty="0" smtClean="0">
                  <a:solidFill>
                    <a:srgbClr val="FF0000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의심</a:t>
              </a:r>
              <a:r>
                <a:rPr lang="en-US" altLang="ko-KR" sz="800" dirty="0" smtClean="0">
                  <a:solidFill>
                    <a:srgbClr val="FF0000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)</a:t>
              </a:r>
              <a:r>
                <a:rPr lang="ko-KR" altLang="en-US" sz="800" dirty="0" smtClean="0">
                  <a:solidFill>
                    <a:srgbClr val="FF0000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 대상</a:t>
              </a: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225819" y="6269870"/>
              <a:ext cx="888275" cy="209932"/>
            </a:xfrm>
            <a:prstGeom prst="rect">
              <a:avLst/>
            </a:prstGeom>
            <a:noFill/>
            <a:ln w="6350">
              <a:solidFill>
                <a:schemeClr val="bg2">
                  <a:lumMod val="90000"/>
                </a:schemeClr>
              </a:solidFill>
            </a:ln>
          </p:spPr>
          <p:txBody>
            <a:bodyPr wrap="square" lIns="0" tIns="0" rIns="0" bIns="0" rtlCol="0">
              <a:spAutoFit/>
            </a:bodyPr>
            <a:lstStyle/>
            <a:p>
              <a:endParaRPr lang="ko-KR" altLang="en-US" sz="9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29" name="타원 2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27978" y="625576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3" name="그림 2" descr="화면 캡처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6781" y="3836743"/>
            <a:ext cx="4880350" cy="2347443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</p:pic>
      <p:sp>
        <p:nvSpPr>
          <p:cNvPr id="20" name="타원 1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599350" y="391652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246812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86438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신규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직원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RAS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정의에 따른 위험지수 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산출결과를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조회할 수 있는 화면</a:t>
                      </a:r>
                      <a:endParaRPr lang="en-US" altLang="ko-KR" sz="8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kern="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★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본 화면의 세부컬럼정보와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표시항목은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AI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직원위험평가 결과에서 받아오는 정보를 기준으로 확정 필요</a:t>
                      </a:r>
                      <a:endParaRPr lang="ko-KR" altLang="en-US" sz="800" b="1" dirty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65342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검색조건을 그룹 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PG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로 조정</a:t>
                      </a:r>
                      <a:r>
                        <a:rPr lang="ko-KR" altLang="en-US" sz="800" b="1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ASIS 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화면에서 공통 적용하고 있는 </a:t>
                      </a:r>
                      <a:r>
                        <a:rPr lang="ko-KR" altLang="en-US" sz="800" b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검색 컴포넌트를  사용하지 않는 새로운 검색 </a:t>
                      </a:r>
                      <a:r>
                        <a:rPr lang="en-US" altLang="ko-KR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UI  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기술하고 있어  재확인 필요</a:t>
                      </a:r>
                      <a:r>
                        <a:rPr lang="en-US" altLang="ko-KR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31537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직원번호로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검색시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해당 직원의 모든 이력 출력</a:t>
                      </a:r>
                      <a:endParaRPr lang="en-US" altLang="ko-KR" sz="800" b="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171450" indent="-171450" latinLnBrk="1">
                        <a:buFontTx/>
                        <a:buChar char="-"/>
                      </a:pPr>
                      <a:endParaRPr lang="ko-KR" altLang="en-US" sz="8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kumimoji="0" lang="ko-KR" altLang="en-US" sz="800" b="1" kern="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★ </a:t>
                      </a:r>
                      <a:r>
                        <a:rPr lang="ko-KR" altLang="en-US" sz="800" b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목록 출력 관련</a:t>
                      </a:r>
                      <a:endParaRPr lang="en-US" altLang="ko-KR" sz="800" b="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en-US" altLang="ko-KR" sz="800" b="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</a:t>
                      </a:r>
                      <a:r>
                        <a:rPr lang="ko-KR" altLang="en-US" sz="800" b="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컬럼 </a:t>
                      </a:r>
                      <a:r>
                        <a:rPr lang="ko-KR" altLang="en-US" sz="800" b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출력 항목</a:t>
                      </a:r>
                      <a:r>
                        <a:rPr lang="en-US" altLang="ko-KR" sz="800" b="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baseline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확정필요</a:t>
                      </a:r>
                      <a:endParaRPr lang="en-US" altLang="ko-KR" sz="800" b="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indent="0" latinLnBrk="1">
                        <a:buFontTx/>
                        <a:buNone/>
                      </a:pPr>
                      <a:r>
                        <a:rPr lang="en-US" altLang="ko-KR" sz="800" b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</a:t>
                      </a:r>
                      <a:r>
                        <a:rPr lang="ko-KR" altLang="en-US" sz="800" b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출력하기 위한  조회 원천 식별 필요</a:t>
                      </a:r>
                      <a:r>
                        <a:rPr lang="en-US" altLang="ko-KR" sz="800" b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(TABLE)</a:t>
                      </a:r>
                      <a:endParaRPr lang="ko-KR" altLang="en-US" sz="800" dirty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</a:t>
                      </a:r>
                      <a:r>
                        <a:rPr lang="en-US" altLang="ko-KR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</a:t>
                      </a:r>
                      <a:r>
                        <a:rPr lang="ko-KR" altLang="en-US" sz="800" b="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클릭시</a:t>
                      </a:r>
                      <a:r>
                        <a:rPr lang="ko-KR" altLang="en-US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상단영역의</a:t>
                      </a:r>
                      <a:r>
                        <a:rPr lang="ko-KR" altLang="en-US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800" b="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조회조건을</a:t>
                      </a:r>
                      <a:r>
                        <a:rPr lang="ko-KR" altLang="en-US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적용하여 조회를 한다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b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엑셀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클릭시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엑셀 다운로드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현재 화면에 출력된 데이터만 엑셀로 다운로드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초기화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클릭시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상단검색조건을 초기화 한다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MDD-00010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MDD72G23000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직원별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지수조회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RAS/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감사자료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RAS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모형조회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직원별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지수조회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(P56: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유성용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5" name="양쪽 모서리가 둥근 사각형 4"/>
          <p:cNvSpPr/>
          <p:nvPr/>
        </p:nvSpPr>
        <p:spPr bwMode="auto">
          <a:xfrm>
            <a:off x="160881" y="1039483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직원별 지수조회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160881" y="998530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160882" y="1225218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8" name="내용 개체 틀 121"/>
          <p:cNvGraphicFramePr>
            <a:graphicFrameLocks/>
          </p:cNvGraphicFramePr>
          <p:nvPr>
            <p:extLst/>
          </p:nvPr>
        </p:nvGraphicFramePr>
        <p:xfrm>
          <a:off x="160881" y="1300551"/>
          <a:ext cx="6726396" cy="51666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2539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991806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324674">
                  <a:extLst>
                    <a:ext uri="{9D8B030D-6E8A-4147-A177-3AD203B41FA5}">
                      <a16:colId xmlns:a16="http://schemas.microsoft.com/office/drawing/2014/main" val="2002367415"/>
                    </a:ext>
                  </a:extLst>
                </a:gridCol>
                <a:gridCol w="3877377">
                  <a:extLst>
                    <a:ext uri="{9D8B030D-6E8A-4147-A177-3AD203B41FA5}">
                      <a16:colId xmlns:a16="http://schemas.microsoft.com/office/drawing/2014/main" val="1534274965"/>
                    </a:ext>
                  </a:extLst>
                </a:gridCol>
              </a:tblGrid>
              <a:tr h="25833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u="none" strike="noStrike" dirty="0" err="1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기준년월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5833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직원번호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4559328"/>
                  </a:ext>
                </a:extLst>
              </a:tr>
            </a:tbl>
          </a:graphicData>
        </a:graphic>
      </p:graphicFrame>
      <p:sp>
        <p:nvSpPr>
          <p:cNvPr id="1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736107" y="3256323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31692" y="3256323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27277" y="3256323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초기화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20" name="표 19"/>
          <p:cNvGraphicFramePr>
            <a:graphicFrameLocks noGrp="1"/>
          </p:cNvGraphicFramePr>
          <p:nvPr>
            <p:extLst/>
          </p:nvPr>
        </p:nvGraphicFramePr>
        <p:xfrm>
          <a:off x="160880" y="3542473"/>
          <a:ext cx="6726397" cy="94579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0583">
                  <a:extLst>
                    <a:ext uri="{9D8B030D-6E8A-4147-A177-3AD203B41FA5}">
                      <a16:colId xmlns:a16="http://schemas.microsoft.com/office/drawing/2014/main" val="166864514"/>
                    </a:ext>
                  </a:extLst>
                </a:gridCol>
                <a:gridCol w="540086">
                  <a:extLst>
                    <a:ext uri="{9D8B030D-6E8A-4147-A177-3AD203B41FA5}">
                      <a16:colId xmlns:a16="http://schemas.microsoft.com/office/drawing/2014/main" val="2954934028"/>
                    </a:ext>
                  </a:extLst>
                </a:gridCol>
                <a:gridCol w="1123950">
                  <a:extLst>
                    <a:ext uri="{9D8B030D-6E8A-4147-A177-3AD203B41FA5}">
                      <a16:colId xmlns:a16="http://schemas.microsoft.com/office/drawing/2014/main" val="2624261825"/>
                    </a:ext>
                  </a:extLst>
                </a:gridCol>
                <a:gridCol w="635000">
                  <a:extLst>
                    <a:ext uri="{9D8B030D-6E8A-4147-A177-3AD203B41FA5}">
                      <a16:colId xmlns:a16="http://schemas.microsoft.com/office/drawing/2014/main" val="2521011316"/>
                    </a:ext>
                  </a:extLst>
                </a:gridCol>
                <a:gridCol w="419100">
                  <a:extLst>
                    <a:ext uri="{9D8B030D-6E8A-4147-A177-3AD203B41FA5}">
                      <a16:colId xmlns:a16="http://schemas.microsoft.com/office/drawing/2014/main" val="2867576865"/>
                    </a:ext>
                  </a:extLst>
                </a:gridCol>
                <a:gridCol w="374650">
                  <a:extLst>
                    <a:ext uri="{9D8B030D-6E8A-4147-A177-3AD203B41FA5}">
                      <a16:colId xmlns:a16="http://schemas.microsoft.com/office/drawing/2014/main" val="4226314851"/>
                    </a:ext>
                  </a:extLst>
                </a:gridCol>
                <a:gridCol w="419100">
                  <a:extLst>
                    <a:ext uri="{9D8B030D-6E8A-4147-A177-3AD203B41FA5}">
                      <a16:colId xmlns:a16="http://schemas.microsoft.com/office/drawing/2014/main" val="2341592323"/>
                    </a:ext>
                  </a:extLst>
                </a:gridCol>
                <a:gridCol w="400050">
                  <a:extLst>
                    <a:ext uri="{9D8B030D-6E8A-4147-A177-3AD203B41FA5}">
                      <a16:colId xmlns:a16="http://schemas.microsoft.com/office/drawing/2014/main" val="356601883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1148216675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419675706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77254278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3366671223"/>
                    </a:ext>
                  </a:extLst>
                </a:gridCol>
                <a:gridCol w="425450">
                  <a:extLst>
                    <a:ext uri="{9D8B030D-6E8A-4147-A177-3AD203B41FA5}">
                      <a16:colId xmlns:a16="http://schemas.microsoft.com/office/drawing/2014/main" val="852529660"/>
                    </a:ext>
                  </a:extLst>
                </a:gridCol>
                <a:gridCol w="409874">
                  <a:extLst>
                    <a:ext uri="{9D8B030D-6E8A-4147-A177-3AD203B41FA5}">
                      <a16:colId xmlns:a16="http://schemas.microsoft.com/office/drawing/2014/main" val="1688341742"/>
                    </a:ext>
                  </a:extLst>
                </a:gridCol>
                <a:gridCol w="184554">
                  <a:extLst>
                    <a:ext uri="{9D8B030D-6E8A-4147-A177-3AD203B41FA5}">
                      <a16:colId xmlns:a16="http://schemas.microsoft.com/office/drawing/2014/main" val="2833368121"/>
                    </a:ext>
                  </a:extLst>
                </a:gridCol>
              </a:tblGrid>
              <a:tr h="12992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chemeClr val="dk1"/>
                          </a:solidFill>
                          <a:effectLst/>
                          <a:latin typeface="+mj-ea"/>
                          <a:ea typeface="+mj-ea"/>
                        </a:rPr>
                        <a:t>No.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aseline="0" dirty="0" smtClean="0">
                          <a:latin typeface="+mj-ea"/>
                          <a:ea typeface="+mj-ea"/>
                        </a:rPr>
                        <a:t>지역그룹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지역본부</a:t>
                      </a: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(PG)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+mj-ea"/>
                          <a:ea typeface="+mj-ea"/>
                        </a:rPr>
                        <a:t>부점명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+mj-ea"/>
                          <a:ea typeface="+mj-ea"/>
                        </a:rPr>
                        <a:t>직원번호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+mj-ea"/>
                          <a:ea typeface="+mj-ea"/>
                        </a:rPr>
                        <a:t>직원명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직급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위험</a:t>
                      </a:r>
                      <a:endParaRPr lang="en-US" altLang="ko-KR" sz="700" dirty="0" smtClean="0">
                        <a:latin typeface="+mj-ea"/>
                        <a:ea typeface="+mj-ea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지수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전체</a:t>
                      </a:r>
                      <a:endParaRPr lang="en-US" altLang="ko-KR" sz="700" dirty="0" smtClean="0">
                        <a:latin typeface="+mj-ea"/>
                        <a:ea typeface="+mj-ea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지역</a:t>
                      </a:r>
                      <a:endParaRPr lang="en-US" altLang="ko-KR" sz="700" dirty="0" smtClean="0">
                        <a:latin typeface="+mj-ea"/>
                        <a:ea typeface="+mj-ea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PG</a:t>
                      </a: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+mj-ea"/>
                          <a:ea typeface="+mj-ea"/>
                        </a:rPr>
                        <a:t>부점</a:t>
                      </a:r>
                      <a:endParaRPr lang="en-US" altLang="ko-KR" sz="700" dirty="0" smtClean="0">
                        <a:latin typeface="+mj-ea"/>
                        <a:ea typeface="+mj-ea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상시 </a:t>
                      </a:r>
                      <a:endParaRPr lang="en-US" altLang="ko-KR" sz="700" dirty="0" smtClean="0">
                        <a:latin typeface="+mj-ea"/>
                        <a:ea typeface="+mj-ea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+mj-ea"/>
                          <a:ea typeface="+mj-ea"/>
                        </a:rPr>
                        <a:t>지적건수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RAS</a:t>
                      </a: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 </a:t>
                      </a:r>
                      <a:endParaRPr lang="en-US" altLang="ko-KR" sz="700" dirty="0" smtClean="0">
                        <a:latin typeface="+mj-ea"/>
                        <a:ea typeface="+mj-ea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+mj-ea"/>
                          <a:ea typeface="+mj-ea"/>
                        </a:rPr>
                        <a:t>지적건수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…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6054557"/>
                  </a:ext>
                </a:extLst>
              </a:tr>
              <a:tr h="182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1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강남지역그룹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 강남</a:t>
                      </a: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1(</a:t>
                      </a:r>
                      <a:r>
                        <a:rPr lang="ko-KR" altLang="en-US" sz="700" dirty="0" err="1" smtClean="0">
                          <a:latin typeface="+mj-ea"/>
                          <a:ea typeface="+mj-ea"/>
                        </a:rPr>
                        <a:t>방배중앙</a:t>
                      </a: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)</a:t>
                      </a: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지역본부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 [7720]</a:t>
                      </a:r>
                      <a:r>
                        <a:rPr lang="ko-KR" altLang="en-US" sz="700" dirty="0" err="1" smtClean="0">
                          <a:latin typeface="+mj-ea"/>
                          <a:ea typeface="+mj-ea"/>
                        </a:rPr>
                        <a:t>남성역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+mj-ea"/>
                          <a:ea typeface="+mj-ea"/>
                        </a:rPr>
                        <a:t>1641111</a:t>
                      </a: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+mj-ea"/>
                          <a:ea typeface="+mj-ea"/>
                        </a:rPr>
                        <a:t>김</a:t>
                      </a:r>
                      <a:r>
                        <a:rPr lang="en-US" altLang="ko-KR" sz="700" smtClean="0">
                          <a:latin typeface="+mj-ea"/>
                          <a:ea typeface="+mj-ea"/>
                        </a:rPr>
                        <a:t>OO</a:t>
                      </a: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차장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(L2)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12.2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8,325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213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0772083"/>
                  </a:ext>
                </a:extLst>
              </a:tr>
              <a:tr h="182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2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경기지역그룹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 강서</a:t>
                      </a: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1(</a:t>
                      </a: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마곡</a:t>
                      </a: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)</a:t>
                      </a: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지역본부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 [6493]</a:t>
                      </a: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마곡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+mj-ea"/>
                          <a:ea typeface="+mj-ea"/>
                        </a:rPr>
                        <a:t>2341122</a:t>
                      </a: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최</a:t>
                      </a: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OO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사원</a:t>
                      </a:r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(L1)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45.9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3,120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55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5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5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3680293"/>
                  </a:ext>
                </a:extLst>
              </a:tr>
              <a:tr h="182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3 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강서그룹지역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700" dirty="0" err="1" smtClean="0">
                          <a:latin typeface="+mj-ea"/>
                          <a:ea typeface="+mj-ea"/>
                        </a:rPr>
                        <a:t>경기남</a:t>
                      </a: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6(</a:t>
                      </a:r>
                      <a:r>
                        <a:rPr lang="ko-KR" altLang="en-US" sz="700" dirty="0" err="1" smtClean="0">
                          <a:latin typeface="+mj-ea"/>
                          <a:ea typeface="+mj-ea"/>
                        </a:rPr>
                        <a:t>경기광주</a:t>
                      </a: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)</a:t>
                      </a: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지역본부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 [6338]</a:t>
                      </a:r>
                      <a:r>
                        <a:rPr lang="ko-KR" altLang="en-US" sz="700" dirty="0" err="1" smtClean="0">
                          <a:latin typeface="+mj-ea"/>
                          <a:ea typeface="+mj-ea"/>
                        </a:rPr>
                        <a:t>곤지암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+mj-ea"/>
                          <a:ea typeface="+mj-ea"/>
                        </a:rPr>
                        <a:t>3341133</a:t>
                      </a: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+mj-ea"/>
                          <a:ea typeface="+mj-ea"/>
                        </a:rPr>
                        <a:t>박</a:t>
                      </a:r>
                      <a:r>
                        <a:rPr lang="en-US" altLang="ko-KR" sz="700" smtClean="0">
                          <a:latin typeface="+mj-ea"/>
                          <a:ea typeface="+mj-ea"/>
                        </a:rPr>
                        <a:t>OO</a:t>
                      </a: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계장</a:t>
                      </a:r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(L0)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88.1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120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13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5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6599322"/>
                  </a:ext>
                </a:extLst>
              </a:tr>
              <a:tr h="182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…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60207928"/>
                  </a:ext>
                </a:extLst>
              </a:tr>
            </a:tbl>
          </a:graphicData>
        </a:graphic>
      </p:graphicFrame>
      <p:grpSp>
        <p:nvGrpSpPr>
          <p:cNvPr id="51" name="그룹 50"/>
          <p:cNvGrpSpPr/>
          <p:nvPr/>
        </p:nvGrpSpPr>
        <p:grpSpPr>
          <a:xfrm>
            <a:off x="749127" y="1331951"/>
            <a:ext cx="689605" cy="180915"/>
            <a:chOff x="619742" y="1334109"/>
            <a:chExt cx="689605" cy="180915"/>
          </a:xfrm>
        </p:grpSpPr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619742" y="1334109"/>
              <a:ext cx="688047" cy="18091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2023-12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40" name="그림 39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128249" y="1337954"/>
              <a:ext cx="181098" cy="173224"/>
            </a:xfrm>
            <a:prstGeom prst="rect">
              <a:avLst/>
            </a:prstGeom>
          </p:spPr>
        </p:pic>
      </p:grpSp>
      <p:grpSp>
        <p:nvGrpSpPr>
          <p:cNvPr id="44" name="그룹 43"/>
          <p:cNvGrpSpPr/>
          <p:nvPr/>
        </p:nvGrpSpPr>
        <p:grpSpPr>
          <a:xfrm>
            <a:off x="3064284" y="1341583"/>
            <a:ext cx="1337415" cy="180949"/>
            <a:chOff x="1931145" y="1342640"/>
            <a:chExt cx="1337415" cy="180949"/>
          </a:xfrm>
        </p:grpSpPr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931145" y="1342640"/>
              <a:ext cx="397573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2334008" y="1342674"/>
              <a:ext cx="934552" cy="18091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       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43" name="그림 42"/>
            <p:cNvPicPr>
              <a:picLocks noChangeAspect="1"/>
            </p:cNvPicPr>
            <p:nvPr/>
          </p:nvPicPr>
          <p:blipFill rotWithShape="1">
            <a:blip r:embed="rId3"/>
            <a:srcRect r="73540"/>
            <a:stretch/>
          </p:blipFill>
          <p:spPr>
            <a:xfrm>
              <a:off x="2343851" y="1354433"/>
              <a:ext cx="183595" cy="164228"/>
            </a:xfrm>
            <a:prstGeom prst="rect">
              <a:avLst/>
            </a:prstGeom>
          </p:spPr>
        </p:pic>
      </p:grpSp>
      <p:sp>
        <p:nvSpPr>
          <p:cNvPr id="50" name="직사각형 49"/>
          <p:cNvSpPr/>
          <p:nvPr/>
        </p:nvSpPr>
        <p:spPr bwMode="auto">
          <a:xfrm>
            <a:off x="160879" y="3497018"/>
            <a:ext cx="6732901" cy="963925"/>
          </a:xfrm>
          <a:prstGeom prst="rect">
            <a:avLst/>
          </a:prstGeom>
          <a:noFill/>
          <a:ln w="15875">
            <a:solidFill>
              <a:schemeClr val="accent1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741507" y="1600668"/>
            <a:ext cx="495270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S023712</a:t>
            </a:r>
            <a:endParaRPr kumimoji="0" lang="ko-KR" altLang="en-US" sz="7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42794" y="1600702"/>
            <a:ext cx="574609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이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**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56" name="그림 55"/>
          <p:cNvPicPr>
            <a:picLocks noChangeAspect="1"/>
          </p:cNvPicPr>
          <p:nvPr/>
        </p:nvPicPr>
        <p:blipFill rotWithShape="1">
          <a:blip r:embed="rId3"/>
          <a:srcRect r="73540"/>
          <a:stretch/>
        </p:blipFill>
        <p:spPr>
          <a:xfrm>
            <a:off x="1247874" y="1612461"/>
            <a:ext cx="183595" cy="164228"/>
          </a:xfrm>
          <a:prstGeom prst="rect">
            <a:avLst/>
          </a:prstGeom>
        </p:spPr>
      </p:pic>
      <p:sp>
        <p:nvSpPr>
          <p:cNvPr id="57" name="직사각형 56"/>
          <p:cNvSpPr/>
          <p:nvPr/>
        </p:nvSpPr>
        <p:spPr bwMode="auto">
          <a:xfrm>
            <a:off x="2583243" y="1276074"/>
            <a:ext cx="2369757" cy="334973"/>
          </a:xfrm>
          <a:prstGeom prst="rect">
            <a:avLst/>
          </a:prstGeom>
          <a:noFill/>
          <a:ln w="15875">
            <a:solidFill>
              <a:schemeClr val="accent1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59" name="그룹 58"/>
          <p:cNvGrpSpPr/>
          <p:nvPr/>
        </p:nvGrpSpPr>
        <p:grpSpPr>
          <a:xfrm>
            <a:off x="3123277" y="1947552"/>
            <a:ext cx="3584305" cy="587537"/>
            <a:chOff x="2499966" y="2009840"/>
            <a:chExt cx="3584305" cy="587537"/>
          </a:xfrm>
        </p:grpSpPr>
        <p:pic>
          <p:nvPicPr>
            <p:cNvPr id="49" name="그림 48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2508279" y="2247476"/>
              <a:ext cx="3575992" cy="349901"/>
            </a:xfrm>
            <a:prstGeom prst="rect">
              <a:avLst/>
            </a:prstGeom>
            <a:ln>
              <a:solidFill>
                <a:schemeClr val="tx1"/>
              </a:solidFill>
            </a:ln>
          </p:spPr>
        </p:pic>
        <p:sp>
          <p:nvSpPr>
            <p:cNvPr id="58" name="모서리가 둥근 직사각형 57"/>
            <p:cNvSpPr/>
            <p:nvPr/>
          </p:nvSpPr>
          <p:spPr bwMode="auto">
            <a:xfrm>
              <a:off x="2499966" y="2009840"/>
              <a:ext cx="3584305" cy="229323"/>
            </a:xfrm>
            <a:prstGeom prst="roundRect">
              <a:avLst/>
            </a:prstGeom>
            <a:solidFill>
              <a:schemeClr val="bg1"/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en-US" b="1" kern="0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부점검색조건을 그룹</a:t>
              </a:r>
              <a:r>
                <a:rPr kumimoji="0" lang="en-US" altLang="ko-KR" b="1" kern="0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, PG</a:t>
              </a:r>
              <a:r>
                <a:rPr kumimoji="0" lang="ko-KR" altLang="en-US" b="1" kern="0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로 조정</a:t>
              </a:r>
              <a:r>
                <a:rPr kumimoji="0" lang="en-US" altLang="ko-KR" b="1" kern="0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(</a:t>
              </a:r>
              <a:r>
                <a:rPr kumimoji="0" lang="ko-KR" altLang="en-US" b="1" kern="0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컨설팅</a:t>
              </a:r>
              <a:r>
                <a:rPr kumimoji="0" lang="en-US" altLang="ko-KR" b="1" kern="0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)</a:t>
              </a:r>
              <a:endParaRPr kumimoji="0" lang="ko-KR" altLang="en-US" sz="1400" b="1" i="0" u="none" strike="noStrike" kern="0" cap="none" normalizeH="0" baseline="0" noProof="0" dirty="0" smtClean="0">
                <a:ln>
                  <a:noFill/>
                </a:ln>
                <a:solidFill>
                  <a:schemeClr val="tx2">
                    <a:lumMod val="60000"/>
                    <a:lumOff val="40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60" name="타원 5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612291" y="115420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61" name="구부러진 연결선 60"/>
          <p:cNvCxnSpPr>
            <a:stCxn id="57" idx="2"/>
            <a:endCxn id="58" idx="0"/>
          </p:cNvCxnSpPr>
          <p:nvPr/>
        </p:nvCxnSpPr>
        <p:spPr bwMode="auto">
          <a:xfrm rot="16200000" flipH="1">
            <a:off x="4173524" y="1205645"/>
            <a:ext cx="336505" cy="1147308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12700" cap="flat" cmpd="sng" algn="ctr">
            <a:solidFill>
              <a:schemeClr val="accent1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64" name="타원 6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60880" y="336744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5" name="타원 6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0156" y="150934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9" name="타원 8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155190" y="309676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746401" y="311585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527277" y="311075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6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6" name="직사각형 35"/>
          <p:cNvSpPr/>
          <p:nvPr/>
        </p:nvSpPr>
        <p:spPr>
          <a:xfrm>
            <a:off x="7207250" y="5743444"/>
            <a:ext cx="2604828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US" altLang="ko-KR" sz="1000" dirty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※ </a:t>
            </a:r>
            <a:r>
              <a:rPr lang="ko-KR" altLang="en-US" sz="1000" dirty="0" smtClean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다음 </a:t>
            </a:r>
            <a:r>
              <a:rPr lang="ko-KR" altLang="en-US" sz="1000" dirty="0" err="1" smtClean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장표에</a:t>
            </a:r>
            <a:r>
              <a:rPr lang="ko-KR" altLang="en-US" sz="1000" dirty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   </a:t>
            </a:r>
            <a:r>
              <a:rPr lang="ko-KR" altLang="en-US" sz="1000" dirty="0" smtClean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이어서 설명</a:t>
            </a:r>
            <a:endParaRPr lang="en-US" altLang="ko-KR" sz="1000" dirty="0" smtClean="0">
              <a:solidFill>
                <a:srgbClr val="2272FF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모서리가 둥근 사각형 설명선 2"/>
          <p:cNvSpPr/>
          <p:nvPr/>
        </p:nvSpPr>
        <p:spPr bwMode="auto">
          <a:xfrm>
            <a:off x="218152" y="1907622"/>
            <a:ext cx="2589018" cy="1067816"/>
          </a:xfrm>
          <a:prstGeom prst="wedgeRoundRectCallout">
            <a:avLst/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228600" marR="0" indent="-228600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AutoNum type="arabicPeriod"/>
              <a:tabLst/>
            </a:pPr>
            <a:r>
              <a:rPr kumimoji="0" lang="ko-KR" altLang="en-US" sz="1000" b="1" i="0" u="none" strike="noStrike" kern="0" cap="none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특정 감사자료들의 거래 직원을 항목으로 지수로 표시</a:t>
            </a:r>
            <a:endParaRPr kumimoji="0" lang="en-US" altLang="ko-KR" sz="1000" b="1" i="0" u="none" strike="noStrike" kern="0" cap="none" normalizeH="0" baseline="0" noProof="0" dirty="0" smtClean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228600" marR="0" indent="-228600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AutoNum type="arabicPeriod"/>
              <a:tabLst/>
            </a:pPr>
            <a:r>
              <a:rPr kumimoji="0" lang="ko-KR" altLang="en-US" sz="1000" b="1" i="0" u="none" strike="noStrike" kern="0" cap="none" normalizeH="0" baseline="0" noProof="0" dirty="0" err="1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직원별</a:t>
            </a:r>
            <a:r>
              <a:rPr kumimoji="0" lang="ko-KR" altLang="en-US" sz="1000" b="1" i="0" u="none" strike="noStrike" kern="0" cap="none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ko-KR" altLang="en-US" sz="1000" b="1" i="0" u="none" strike="noStrike" kern="0" cap="none" normalizeH="0" baseline="0" noProof="0" dirty="0" err="1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특정항목</a:t>
            </a:r>
            <a:r>
              <a:rPr kumimoji="0" lang="en-US" altLang="ko-KR" sz="1000" b="1" i="0" u="none" strike="noStrike" kern="0" cap="none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1000" b="1" kern="0" dirty="0" err="1" smtClean="0">
                <a:solidFill>
                  <a:srgbClr val="FF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민감정보</a:t>
            </a:r>
            <a:r>
              <a:rPr kumimoji="0" lang="en-US" altLang="ko-KR" sz="1000" b="1" kern="0" dirty="0" smtClean="0">
                <a:solidFill>
                  <a:srgbClr val="FF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1000" b="1" kern="0" dirty="0" smtClean="0">
                <a:solidFill>
                  <a:srgbClr val="FF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를 지수로 표시</a:t>
            </a:r>
            <a:endParaRPr kumimoji="0" lang="en-US" altLang="ko-KR" sz="1000" b="1" kern="0" dirty="0" smtClean="0">
              <a:solidFill>
                <a:srgbClr val="FF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228600" marR="0" indent="-228600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AutoNum type="arabicPeriod"/>
              <a:tabLst/>
            </a:pPr>
            <a:r>
              <a:rPr kumimoji="0" lang="en-US" altLang="ko-KR" sz="1000" b="1" i="0" u="none" strike="noStrike" kern="0" cap="none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r>
              <a:rPr kumimoji="0" lang="ko-KR" altLang="en-US" sz="1000" b="1" i="0" u="none" strike="noStrike" kern="0" cap="none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과</a:t>
            </a:r>
            <a:r>
              <a:rPr kumimoji="0" lang="en-US" altLang="ko-KR" sz="1000" b="1" i="0" u="none" strike="noStrike" kern="0" cap="none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r>
              <a:rPr kumimoji="0" lang="ko-KR" altLang="en-US" sz="1000" b="1" kern="0" dirty="0" smtClean="0">
                <a:solidFill>
                  <a:srgbClr val="FF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를 혼용하여 지수로 표시</a:t>
            </a:r>
            <a:endParaRPr kumimoji="0" lang="en-US" altLang="ko-KR" sz="1000" b="1" kern="0" dirty="0" smtClean="0">
              <a:solidFill>
                <a:srgbClr val="FF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228600" marR="0" indent="-228600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AutoNum type="arabicPeriod"/>
              <a:tabLst/>
            </a:pPr>
            <a:r>
              <a:rPr kumimoji="0" lang="en-US" altLang="ko-KR" sz="1000" b="1" kern="0" dirty="0" smtClean="0">
                <a:solidFill>
                  <a:srgbClr val="FF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2025.01.20 </a:t>
            </a:r>
            <a:r>
              <a:rPr kumimoji="0" lang="ko-KR" altLang="en-US" sz="1000" b="1" kern="0" dirty="0" smtClean="0">
                <a:solidFill>
                  <a:srgbClr val="FF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중으로 정의하여 전달 예정</a:t>
            </a:r>
            <a:endParaRPr kumimoji="0" lang="ko-KR" altLang="en-US" sz="1000" b="1" i="0" u="none" strike="noStrike" kern="0" cap="none" normalizeH="0" baseline="0" noProof="0" dirty="0" smtClean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8" name="직사각형 37"/>
          <p:cNvSpPr/>
          <p:nvPr/>
        </p:nvSpPr>
        <p:spPr bwMode="auto">
          <a:xfrm>
            <a:off x="2967156" y="1834724"/>
            <a:ext cx="3983535" cy="1116960"/>
          </a:xfrm>
          <a:prstGeom prst="rect">
            <a:avLst/>
          </a:prstGeom>
          <a:solidFill>
            <a:schemeClr val="accent6">
              <a:lumMod val="40000"/>
              <a:lumOff val="60000"/>
              <a:alpha val="20000"/>
            </a:schemeClr>
          </a:solidFill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800" b="1" dirty="0" smtClean="0">
              <a:solidFill>
                <a:schemeClr val="tx1">
                  <a:lumMod val="95000"/>
                  <a:lumOff val="5000"/>
                </a:schemeClr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800" b="1" dirty="0" smtClean="0">
              <a:solidFill>
                <a:schemeClr val="tx1">
                  <a:lumMod val="95000"/>
                  <a:lumOff val="5000"/>
                </a:schemeClr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1" dirty="0" smtClean="0">
                <a:solidFill>
                  <a:schemeClr val="tx1">
                    <a:lumMod val="95000"/>
                    <a:lumOff val="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UI </a:t>
            </a:r>
            <a:r>
              <a:rPr kumimoji="0" lang="ko-KR" altLang="en-US" sz="1800" b="1" dirty="0" smtClean="0">
                <a:solidFill>
                  <a:schemeClr val="tx1">
                    <a:lumMod val="95000"/>
                    <a:lumOff val="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정의서 요건 스크린 샷</a:t>
            </a:r>
            <a:endParaRPr kumimoji="0" lang="ko-KR" altLang="en-US" sz="18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9" name="직사각형 38"/>
          <p:cNvSpPr/>
          <p:nvPr/>
        </p:nvSpPr>
        <p:spPr bwMode="auto">
          <a:xfrm>
            <a:off x="136588" y="4844758"/>
            <a:ext cx="6726398" cy="1295990"/>
          </a:xfrm>
          <a:prstGeom prst="rect">
            <a:avLst/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◇  </a:t>
            </a:r>
            <a:r>
              <a:rPr kumimoji="0" lang="ko-KR" altLang="en-US" sz="1100" b="1" kern="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직원별</a:t>
            </a:r>
            <a:r>
              <a:rPr kumimoji="0" lang="ko-KR" altLang="en-US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지수 정의 ◇</a:t>
            </a:r>
            <a:endParaRPr kumimoji="0" lang="en-US" altLang="ko-KR" sz="1100" b="1" kern="0" dirty="0" smtClean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85725" marR="0" indent="-85725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① </a:t>
            </a:r>
            <a:r>
              <a:rPr kumimoji="0" lang="ko-KR" altLang="en-US" sz="1100" b="1" kern="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직원별</a:t>
            </a:r>
            <a:r>
              <a:rPr kumimoji="0" lang="ko-KR" altLang="en-US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ko-KR" altLang="en-US" sz="1100" b="1" kern="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실적정보</a:t>
            </a:r>
            <a:r>
              <a:rPr kumimoji="0" lang="ko-KR" altLang="en-US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적용</a:t>
            </a:r>
            <a:r>
              <a:rPr kumimoji="0" lang="en-US" altLang="ko-KR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(</a:t>
            </a:r>
            <a:r>
              <a:rPr kumimoji="0" lang="ko-KR" altLang="en-US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경영정보시스템 內 활용</a:t>
            </a:r>
            <a:r>
              <a:rPr kumimoji="0" lang="en-US" altLang="ko-KR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  - </a:t>
            </a:r>
            <a:r>
              <a:rPr kumimoji="0" lang="ko-KR" altLang="en-US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금번 프로젝트에서는 미 개발</a:t>
            </a:r>
            <a:endParaRPr kumimoji="0" lang="en-US" altLang="ko-KR" sz="1100" b="1" kern="0" dirty="0" smtClean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85725" marR="0" indent="-85725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② </a:t>
            </a:r>
            <a:r>
              <a:rPr kumimoji="0" lang="ko-KR" altLang="en-US" sz="1100" b="1" kern="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직원별</a:t>
            </a:r>
            <a:r>
              <a:rPr kumimoji="0" lang="ko-KR" altLang="en-US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C-RAS</a:t>
            </a:r>
            <a:r>
              <a:rPr kumimoji="0" lang="ko-KR" altLang="en-US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를 활용한 </a:t>
            </a:r>
            <a:r>
              <a:rPr kumimoji="0" lang="en-US" altLang="ko-KR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“</a:t>
            </a:r>
            <a:r>
              <a:rPr kumimoji="0" lang="ko-KR" altLang="en-US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기업고객담당</a:t>
            </a:r>
            <a:r>
              <a:rPr kumimoji="0" lang="en-US" altLang="ko-KR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” </a:t>
            </a:r>
            <a:r>
              <a:rPr kumimoji="0" lang="ko-KR" altLang="en-US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직원의 기업대출 위험지수 적용 </a:t>
            </a:r>
            <a:r>
              <a:rPr kumimoji="0" lang="en-US" altLang="ko-KR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감사정보시스템 內 활용</a:t>
            </a:r>
            <a:r>
              <a:rPr kumimoji="0" lang="en-US" altLang="ko-KR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</a:p>
          <a:p>
            <a:pPr marL="85725" indent="-85725"/>
            <a:r>
              <a:rPr kumimoji="0" lang="ko-KR" altLang="en-US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③ 인사위원회 및 상임감사위원 징계</a:t>
            </a:r>
            <a:r>
              <a:rPr kumimoji="0" lang="en-US" altLang="ko-KR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문책</a:t>
            </a:r>
            <a:r>
              <a:rPr kumimoji="0" lang="en-US" altLang="ko-KR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11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ko-KR" altLang="en-US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조치된 직원 </a:t>
            </a:r>
            <a:r>
              <a:rPr kumimoji="0" lang="en-US" altLang="ko-KR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감사정보시스템 內 활용</a:t>
            </a:r>
            <a:r>
              <a:rPr kumimoji="0" lang="en-US" altLang="ko-KR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 / </a:t>
            </a:r>
            <a:r>
              <a:rPr kumimoji="0" lang="ko-KR" altLang="en-US" sz="1100" b="1" kern="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상시감사</a:t>
            </a:r>
            <a:r>
              <a:rPr kumimoji="0" lang="ko-KR" altLang="en-US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ko-KR" altLang="en-US" sz="1100" b="1" kern="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지적사항</a:t>
            </a:r>
            <a:r>
              <a:rPr kumimoji="0" lang="ko-KR" altLang="en-US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포함</a:t>
            </a:r>
            <a:endParaRPr kumimoji="0" lang="en-US" altLang="ko-KR" sz="1100" b="1" kern="0" dirty="0" smtClean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85725" indent="-85725"/>
            <a:r>
              <a:rPr kumimoji="0" lang="ko-KR" altLang="en-US" sz="1100" b="1" i="0" u="none" strike="noStrike" kern="0" cap="none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④ </a:t>
            </a:r>
            <a:r>
              <a:rPr kumimoji="0" lang="en-US" altLang="ko-KR" sz="1100" b="1" i="0" u="none" strike="noStrike" kern="0" cap="none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(7A16) </a:t>
            </a:r>
            <a:r>
              <a:rPr kumimoji="0" lang="ko-KR" altLang="en-US" sz="1100" b="1" i="0" u="none" strike="noStrike" kern="0" cap="none" normalizeH="0" baseline="0" noProof="0" dirty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업무시간외</a:t>
            </a:r>
            <a:r>
              <a:rPr kumimoji="0" lang="en-US" altLang="ko-KR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(09:00 </a:t>
            </a:r>
            <a:r>
              <a:rPr kumimoji="0" lang="ko-KR" altLang="en-US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이전</a:t>
            </a:r>
            <a:r>
              <a:rPr kumimoji="0" lang="en-US" altLang="ko-KR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17:00 </a:t>
            </a:r>
            <a:r>
              <a:rPr kumimoji="0" lang="ko-KR" altLang="en-US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이후</a:t>
            </a:r>
            <a:r>
              <a:rPr kumimoji="0" lang="en-US" altLang="ko-KR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 </a:t>
            </a:r>
            <a:r>
              <a:rPr kumimoji="0" lang="ko-KR" altLang="en-US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현금거래</a:t>
            </a:r>
            <a:r>
              <a:rPr kumimoji="0" lang="en-US" altLang="ko-KR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1100" b="1" kern="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무자원여부</a:t>
            </a:r>
            <a:r>
              <a:rPr kumimoji="0" lang="en-US" altLang="ko-KR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),  (7005) </a:t>
            </a:r>
            <a:r>
              <a:rPr kumimoji="0" lang="ko-KR" altLang="en-US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영업시간 이후 직원 및 </a:t>
            </a:r>
            <a:r>
              <a:rPr kumimoji="0" lang="ko-KR" altLang="en-US" sz="1100" b="1" kern="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관련고객</a:t>
            </a:r>
            <a:r>
              <a:rPr kumimoji="0" lang="ko-KR" altLang="en-US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통장 </a:t>
            </a:r>
            <a:r>
              <a:rPr kumimoji="0" lang="ko-KR" altLang="en-US" sz="1100" b="1" kern="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재발행</a:t>
            </a:r>
            <a:r>
              <a:rPr kumimoji="0" lang="ko-KR" altLang="en-US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거래가 발생한 경우</a:t>
            </a:r>
            <a:r>
              <a:rPr kumimoji="0" lang="en-US" altLang="ko-KR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(9722) </a:t>
            </a:r>
            <a:r>
              <a:rPr kumimoji="0" lang="ko-KR" altLang="en-US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영업시간</a:t>
            </a:r>
            <a:r>
              <a:rPr kumimoji="0" lang="en-US" altLang="ko-KR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(17</a:t>
            </a:r>
            <a:r>
              <a:rPr kumimoji="0" lang="ko-KR" altLang="en-US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시</a:t>
            </a:r>
            <a:r>
              <a:rPr kumimoji="0" lang="en-US" altLang="ko-KR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이후 </a:t>
            </a:r>
            <a:r>
              <a:rPr kumimoji="0" lang="en-US" altLang="ko-KR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PIN-PAD </a:t>
            </a:r>
            <a:r>
              <a:rPr kumimoji="0" lang="ko-KR" altLang="en-US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거래 명세</a:t>
            </a:r>
            <a:r>
              <a:rPr kumimoji="0" lang="en-US" altLang="ko-KR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(9605) </a:t>
            </a:r>
            <a:r>
              <a:rPr kumimoji="0" lang="ko-KR" altLang="en-US" sz="1100" b="1" kern="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영업시간외</a:t>
            </a:r>
            <a:r>
              <a:rPr kumimoji="0" lang="ko-KR" altLang="en-US" sz="11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취급한 인도 인수도거래의 위험지수 </a:t>
            </a:r>
            <a:r>
              <a:rPr kumimoji="0" lang="ko-KR" altLang="en-US" sz="11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적용</a:t>
            </a:r>
            <a:r>
              <a:rPr kumimoji="0" lang="en-US" altLang="ko-KR" sz="11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1100" b="1" kern="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감사정보시템</a:t>
            </a:r>
            <a:r>
              <a:rPr kumimoji="0" lang="ko-KR" altLang="en-US" sz="11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內 활용</a:t>
            </a:r>
            <a:r>
              <a:rPr kumimoji="0" lang="en-US" altLang="ko-KR" sz="11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</a:p>
          <a:p>
            <a:pPr marL="85725" indent="-85725"/>
            <a:endParaRPr kumimoji="0" lang="en-US" altLang="ko-KR" sz="1100" b="1" i="0" u="none" strike="noStrike" kern="0" cap="none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863884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23737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상세조회</a:t>
                      </a:r>
                      <a:r>
                        <a:rPr lang="ko-KR" altLang="en-US" sz="800" b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팝업은  </a:t>
                      </a:r>
                      <a:r>
                        <a:rPr lang="en-US" altLang="ko-KR" sz="800" b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lang="ko-KR" altLang="en-US" sz="800" b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관련항목으로 </a:t>
                      </a:r>
                      <a:r>
                        <a:rPr lang="ko-KR" altLang="en-US" sz="800" b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추후협의</a:t>
                      </a:r>
                      <a:endParaRPr lang="ko-KR" altLang="en-US" sz="800" b="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31537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latinLnBrk="1">
                        <a:buFontTx/>
                        <a:buChar char="-"/>
                      </a:pPr>
                      <a:endParaRPr lang="ko-KR" altLang="en-US" sz="8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4045278"/>
                  </a:ext>
                </a:extLst>
              </a:tr>
            </a:tbl>
          </a:graphicData>
        </a:graphic>
      </p:graphicFrame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MDD-00010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MDD72G23001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위험평가 결과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상세팝업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RAS/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감사자료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RAS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모형조회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직원별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지수조회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(P56: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유성용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5" name="양쪽 모서리가 둥근 사각형 4"/>
          <p:cNvSpPr/>
          <p:nvPr/>
        </p:nvSpPr>
        <p:spPr bwMode="auto">
          <a:xfrm>
            <a:off x="160881" y="1039483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직원별 지수조회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160881" y="998530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160882" y="1225218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8" name="내용 개체 틀 121"/>
          <p:cNvGraphicFramePr>
            <a:graphicFrameLocks/>
          </p:cNvGraphicFramePr>
          <p:nvPr>
            <p:extLst/>
          </p:nvPr>
        </p:nvGraphicFramePr>
        <p:xfrm>
          <a:off x="160881" y="1300551"/>
          <a:ext cx="6726396" cy="51666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2539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991806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324674">
                  <a:extLst>
                    <a:ext uri="{9D8B030D-6E8A-4147-A177-3AD203B41FA5}">
                      <a16:colId xmlns:a16="http://schemas.microsoft.com/office/drawing/2014/main" val="2002367415"/>
                    </a:ext>
                  </a:extLst>
                </a:gridCol>
                <a:gridCol w="3877377">
                  <a:extLst>
                    <a:ext uri="{9D8B030D-6E8A-4147-A177-3AD203B41FA5}">
                      <a16:colId xmlns:a16="http://schemas.microsoft.com/office/drawing/2014/main" val="1534274965"/>
                    </a:ext>
                  </a:extLst>
                </a:gridCol>
              </a:tblGrid>
              <a:tr h="25833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u="none" strike="noStrike" dirty="0" err="1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기준년월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5833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직원번호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4559328"/>
                  </a:ext>
                </a:extLst>
              </a:tr>
            </a:tbl>
          </a:graphicData>
        </a:graphic>
      </p:graphicFrame>
      <p:sp>
        <p:nvSpPr>
          <p:cNvPr id="1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736107" y="1783231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31692" y="1783231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27277" y="1783231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초기화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20" name="표 19"/>
          <p:cNvGraphicFramePr>
            <a:graphicFrameLocks noGrp="1"/>
          </p:cNvGraphicFramePr>
          <p:nvPr>
            <p:extLst/>
          </p:nvPr>
        </p:nvGraphicFramePr>
        <p:xfrm>
          <a:off x="160880" y="2069381"/>
          <a:ext cx="6726397" cy="94579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0583">
                  <a:extLst>
                    <a:ext uri="{9D8B030D-6E8A-4147-A177-3AD203B41FA5}">
                      <a16:colId xmlns:a16="http://schemas.microsoft.com/office/drawing/2014/main" val="166864514"/>
                    </a:ext>
                  </a:extLst>
                </a:gridCol>
                <a:gridCol w="540086">
                  <a:extLst>
                    <a:ext uri="{9D8B030D-6E8A-4147-A177-3AD203B41FA5}">
                      <a16:colId xmlns:a16="http://schemas.microsoft.com/office/drawing/2014/main" val="2954934028"/>
                    </a:ext>
                  </a:extLst>
                </a:gridCol>
                <a:gridCol w="1123950">
                  <a:extLst>
                    <a:ext uri="{9D8B030D-6E8A-4147-A177-3AD203B41FA5}">
                      <a16:colId xmlns:a16="http://schemas.microsoft.com/office/drawing/2014/main" val="2624261825"/>
                    </a:ext>
                  </a:extLst>
                </a:gridCol>
                <a:gridCol w="635000">
                  <a:extLst>
                    <a:ext uri="{9D8B030D-6E8A-4147-A177-3AD203B41FA5}">
                      <a16:colId xmlns:a16="http://schemas.microsoft.com/office/drawing/2014/main" val="2521011316"/>
                    </a:ext>
                  </a:extLst>
                </a:gridCol>
                <a:gridCol w="419100">
                  <a:extLst>
                    <a:ext uri="{9D8B030D-6E8A-4147-A177-3AD203B41FA5}">
                      <a16:colId xmlns:a16="http://schemas.microsoft.com/office/drawing/2014/main" val="2867576865"/>
                    </a:ext>
                  </a:extLst>
                </a:gridCol>
                <a:gridCol w="374650">
                  <a:extLst>
                    <a:ext uri="{9D8B030D-6E8A-4147-A177-3AD203B41FA5}">
                      <a16:colId xmlns:a16="http://schemas.microsoft.com/office/drawing/2014/main" val="4226314851"/>
                    </a:ext>
                  </a:extLst>
                </a:gridCol>
                <a:gridCol w="419100">
                  <a:extLst>
                    <a:ext uri="{9D8B030D-6E8A-4147-A177-3AD203B41FA5}">
                      <a16:colId xmlns:a16="http://schemas.microsoft.com/office/drawing/2014/main" val="2341592323"/>
                    </a:ext>
                  </a:extLst>
                </a:gridCol>
                <a:gridCol w="400050">
                  <a:extLst>
                    <a:ext uri="{9D8B030D-6E8A-4147-A177-3AD203B41FA5}">
                      <a16:colId xmlns:a16="http://schemas.microsoft.com/office/drawing/2014/main" val="356601883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1148216675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419675706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77254278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3366671223"/>
                    </a:ext>
                  </a:extLst>
                </a:gridCol>
                <a:gridCol w="425450">
                  <a:extLst>
                    <a:ext uri="{9D8B030D-6E8A-4147-A177-3AD203B41FA5}">
                      <a16:colId xmlns:a16="http://schemas.microsoft.com/office/drawing/2014/main" val="852529660"/>
                    </a:ext>
                  </a:extLst>
                </a:gridCol>
                <a:gridCol w="409874">
                  <a:extLst>
                    <a:ext uri="{9D8B030D-6E8A-4147-A177-3AD203B41FA5}">
                      <a16:colId xmlns:a16="http://schemas.microsoft.com/office/drawing/2014/main" val="1688341742"/>
                    </a:ext>
                  </a:extLst>
                </a:gridCol>
                <a:gridCol w="184554">
                  <a:extLst>
                    <a:ext uri="{9D8B030D-6E8A-4147-A177-3AD203B41FA5}">
                      <a16:colId xmlns:a16="http://schemas.microsoft.com/office/drawing/2014/main" val="2833368121"/>
                    </a:ext>
                  </a:extLst>
                </a:gridCol>
              </a:tblGrid>
              <a:tr h="12992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chemeClr val="dk1"/>
                          </a:solidFill>
                          <a:effectLst/>
                          <a:latin typeface="+mj-ea"/>
                          <a:ea typeface="+mj-ea"/>
                        </a:rPr>
                        <a:t>No.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aseline="0" dirty="0" smtClean="0">
                          <a:latin typeface="+mj-ea"/>
                          <a:ea typeface="+mj-ea"/>
                        </a:rPr>
                        <a:t>지역그룹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지역본부</a:t>
                      </a: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(PG)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+mj-ea"/>
                          <a:ea typeface="+mj-ea"/>
                        </a:rPr>
                        <a:t>부점명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+mj-ea"/>
                          <a:ea typeface="+mj-ea"/>
                        </a:rPr>
                        <a:t>직원번호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+mj-ea"/>
                          <a:ea typeface="+mj-ea"/>
                        </a:rPr>
                        <a:t>직원명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+mj-ea"/>
                          <a:ea typeface="+mj-ea"/>
                        </a:rPr>
                        <a:t>직급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위험</a:t>
                      </a:r>
                      <a:endParaRPr lang="en-US" altLang="ko-KR" sz="700" dirty="0" smtClean="0">
                        <a:latin typeface="+mj-ea"/>
                        <a:ea typeface="+mj-ea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지수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전체</a:t>
                      </a:r>
                      <a:endParaRPr lang="en-US" altLang="ko-KR" sz="700" dirty="0" smtClean="0">
                        <a:latin typeface="+mj-ea"/>
                        <a:ea typeface="+mj-ea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지역</a:t>
                      </a:r>
                      <a:endParaRPr lang="en-US" altLang="ko-KR" sz="700" dirty="0" smtClean="0">
                        <a:latin typeface="+mj-ea"/>
                        <a:ea typeface="+mj-ea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PG</a:t>
                      </a: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+mj-ea"/>
                          <a:ea typeface="+mj-ea"/>
                        </a:rPr>
                        <a:t>부점</a:t>
                      </a:r>
                      <a:endParaRPr lang="en-US" altLang="ko-KR" sz="700" dirty="0" smtClean="0">
                        <a:latin typeface="+mj-ea"/>
                        <a:ea typeface="+mj-ea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순위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상시 </a:t>
                      </a:r>
                      <a:endParaRPr lang="en-US" altLang="ko-KR" sz="700" dirty="0" smtClean="0">
                        <a:latin typeface="+mj-ea"/>
                        <a:ea typeface="+mj-ea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+mj-ea"/>
                          <a:ea typeface="+mj-ea"/>
                        </a:rPr>
                        <a:t>지적건수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RAS</a:t>
                      </a: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 </a:t>
                      </a:r>
                      <a:endParaRPr lang="en-US" altLang="ko-KR" sz="700" dirty="0" smtClean="0">
                        <a:latin typeface="+mj-ea"/>
                        <a:ea typeface="+mj-ea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+mj-ea"/>
                          <a:ea typeface="+mj-ea"/>
                        </a:rPr>
                        <a:t>지적건수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…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6054557"/>
                  </a:ext>
                </a:extLst>
              </a:tr>
              <a:tr h="182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1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강남지역그룹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 강남</a:t>
                      </a: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1(</a:t>
                      </a:r>
                      <a:r>
                        <a:rPr lang="ko-KR" altLang="en-US" sz="700" dirty="0" err="1" smtClean="0">
                          <a:latin typeface="+mj-ea"/>
                          <a:ea typeface="+mj-ea"/>
                        </a:rPr>
                        <a:t>방배중앙</a:t>
                      </a: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)</a:t>
                      </a: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지역본부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 [7720]</a:t>
                      </a:r>
                      <a:r>
                        <a:rPr lang="ko-KR" altLang="en-US" sz="700" dirty="0" err="1" smtClean="0">
                          <a:latin typeface="+mj-ea"/>
                          <a:ea typeface="+mj-ea"/>
                        </a:rPr>
                        <a:t>남성역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+mj-ea"/>
                          <a:ea typeface="+mj-ea"/>
                        </a:rPr>
                        <a:t>1641111</a:t>
                      </a: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+mj-ea"/>
                          <a:ea typeface="+mj-ea"/>
                        </a:rPr>
                        <a:t>김</a:t>
                      </a:r>
                      <a:r>
                        <a:rPr lang="en-US" altLang="ko-KR" sz="700" smtClean="0">
                          <a:latin typeface="+mj-ea"/>
                          <a:ea typeface="+mj-ea"/>
                        </a:rPr>
                        <a:t>OO</a:t>
                      </a: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차장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(L2)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12.2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8,325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213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0772083"/>
                  </a:ext>
                </a:extLst>
              </a:tr>
              <a:tr h="182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2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경기지역그룹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 강서</a:t>
                      </a: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1(</a:t>
                      </a: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마곡</a:t>
                      </a: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)</a:t>
                      </a: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지역본부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 [6493]</a:t>
                      </a: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마곡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+mj-ea"/>
                          <a:ea typeface="+mj-ea"/>
                        </a:rPr>
                        <a:t>2341122</a:t>
                      </a: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최</a:t>
                      </a: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OO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사원</a:t>
                      </a:r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(L1)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45.9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3,120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55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5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5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3680293"/>
                  </a:ext>
                </a:extLst>
              </a:tr>
              <a:tr h="182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3 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강서그룹지역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700" dirty="0" err="1" smtClean="0">
                          <a:latin typeface="+mj-ea"/>
                          <a:ea typeface="+mj-ea"/>
                        </a:rPr>
                        <a:t>경기남</a:t>
                      </a: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6(</a:t>
                      </a:r>
                      <a:r>
                        <a:rPr lang="ko-KR" altLang="en-US" sz="700" dirty="0" err="1" smtClean="0">
                          <a:latin typeface="+mj-ea"/>
                          <a:ea typeface="+mj-ea"/>
                        </a:rPr>
                        <a:t>경기광주</a:t>
                      </a: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)</a:t>
                      </a: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지역본부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 [6338]</a:t>
                      </a:r>
                      <a:r>
                        <a:rPr lang="ko-KR" altLang="en-US" sz="700" dirty="0" err="1" smtClean="0">
                          <a:latin typeface="+mj-ea"/>
                          <a:ea typeface="+mj-ea"/>
                        </a:rPr>
                        <a:t>곤지암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+mj-ea"/>
                          <a:ea typeface="+mj-ea"/>
                        </a:rPr>
                        <a:t>3341133</a:t>
                      </a: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+mj-ea"/>
                          <a:ea typeface="+mj-ea"/>
                        </a:rPr>
                        <a:t>박</a:t>
                      </a:r>
                      <a:r>
                        <a:rPr lang="en-US" altLang="ko-KR" sz="700" smtClean="0">
                          <a:latin typeface="+mj-ea"/>
                          <a:ea typeface="+mj-ea"/>
                        </a:rPr>
                        <a:t>OO</a:t>
                      </a: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계장</a:t>
                      </a:r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(L0)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88.1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120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13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5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6599322"/>
                  </a:ext>
                </a:extLst>
              </a:tr>
              <a:tr h="18230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j-ea"/>
                          <a:ea typeface="+mj-ea"/>
                        </a:rPr>
                        <a:t>…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60207928"/>
                  </a:ext>
                </a:extLst>
              </a:tr>
            </a:tbl>
          </a:graphicData>
        </a:graphic>
      </p:graphicFrame>
      <p:grpSp>
        <p:nvGrpSpPr>
          <p:cNvPr id="51" name="그룹 50"/>
          <p:cNvGrpSpPr/>
          <p:nvPr/>
        </p:nvGrpSpPr>
        <p:grpSpPr>
          <a:xfrm>
            <a:off x="749127" y="1331951"/>
            <a:ext cx="689605" cy="180915"/>
            <a:chOff x="619742" y="1334109"/>
            <a:chExt cx="689605" cy="180915"/>
          </a:xfrm>
        </p:grpSpPr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619742" y="1334109"/>
              <a:ext cx="688047" cy="18091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2023-12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40" name="그림 39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128249" y="1337954"/>
              <a:ext cx="181098" cy="173224"/>
            </a:xfrm>
            <a:prstGeom prst="rect">
              <a:avLst/>
            </a:prstGeom>
          </p:spPr>
        </p:pic>
      </p:grpSp>
      <p:grpSp>
        <p:nvGrpSpPr>
          <p:cNvPr id="44" name="그룹 43"/>
          <p:cNvGrpSpPr/>
          <p:nvPr/>
        </p:nvGrpSpPr>
        <p:grpSpPr>
          <a:xfrm>
            <a:off x="3064284" y="1341583"/>
            <a:ext cx="1337415" cy="180949"/>
            <a:chOff x="1931145" y="1342640"/>
            <a:chExt cx="1337415" cy="180949"/>
          </a:xfrm>
        </p:grpSpPr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931145" y="1342640"/>
              <a:ext cx="397573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2334008" y="1342674"/>
              <a:ext cx="934552" cy="18091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       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43" name="그림 42"/>
            <p:cNvPicPr>
              <a:picLocks noChangeAspect="1"/>
            </p:cNvPicPr>
            <p:nvPr/>
          </p:nvPicPr>
          <p:blipFill rotWithShape="1">
            <a:blip r:embed="rId3"/>
            <a:srcRect r="73540"/>
            <a:stretch/>
          </p:blipFill>
          <p:spPr>
            <a:xfrm>
              <a:off x="2343851" y="1354433"/>
              <a:ext cx="183595" cy="164228"/>
            </a:xfrm>
            <a:prstGeom prst="rect">
              <a:avLst/>
            </a:prstGeom>
          </p:spPr>
        </p:pic>
      </p:grp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741507" y="1600668"/>
            <a:ext cx="495270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S023712</a:t>
            </a:r>
            <a:endParaRPr kumimoji="0" lang="ko-KR" altLang="en-US" sz="7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42794" y="1600702"/>
            <a:ext cx="574609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이</a:t>
            </a:r>
            <a:r>
              <a:rPr kumimoji="0" lang="en-US" altLang="ko-KR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**</a:t>
            </a: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56" name="그림 55"/>
          <p:cNvPicPr>
            <a:picLocks noChangeAspect="1"/>
          </p:cNvPicPr>
          <p:nvPr/>
        </p:nvPicPr>
        <p:blipFill rotWithShape="1">
          <a:blip r:embed="rId3"/>
          <a:srcRect r="73540"/>
          <a:stretch/>
        </p:blipFill>
        <p:spPr>
          <a:xfrm>
            <a:off x="1247874" y="1612461"/>
            <a:ext cx="183595" cy="164228"/>
          </a:xfrm>
          <a:prstGeom prst="rect">
            <a:avLst/>
          </a:prstGeom>
        </p:spPr>
      </p:pic>
      <p:sp>
        <p:nvSpPr>
          <p:cNvPr id="66" name="직사각형 65"/>
          <p:cNvSpPr/>
          <p:nvPr/>
        </p:nvSpPr>
        <p:spPr bwMode="auto">
          <a:xfrm>
            <a:off x="215905" y="2678788"/>
            <a:ext cx="6601675" cy="151287"/>
          </a:xfrm>
          <a:prstGeom prst="rect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endParaRPr kumimoji="0" lang="ko-KR" altLang="en-US" b="1">
              <a:solidFill>
                <a:srgbClr val="FFFFFF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28EE0CDE-8E6E-1200-0440-7A89C2BA6AFF}"/>
              </a:ext>
            </a:extLst>
          </p:cNvPr>
          <p:cNvGrpSpPr/>
          <p:nvPr/>
        </p:nvGrpSpPr>
        <p:grpSpPr>
          <a:xfrm>
            <a:off x="2780900" y="3286790"/>
            <a:ext cx="3925824" cy="2710150"/>
            <a:chOff x="501058" y="4329051"/>
            <a:chExt cx="2635965" cy="4617770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C7B6CEFD-186E-AC88-7979-44000562DD84}"/>
                </a:ext>
              </a:extLst>
            </p:cNvPr>
            <p:cNvSpPr/>
            <p:nvPr/>
          </p:nvSpPr>
          <p:spPr>
            <a:xfrm>
              <a:off x="501058" y="4342688"/>
              <a:ext cx="2635965" cy="4604133"/>
            </a:xfrm>
            <a:prstGeom prst="rect">
              <a:avLst/>
            </a:prstGeom>
            <a:solidFill>
              <a:schemeClr val="bg1"/>
            </a:solidFill>
            <a:ln w="15875">
              <a:solidFill>
                <a:schemeClr val="bg1">
                  <a:lumMod val="50000"/>
                </a:schemeClr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714A0CF5-F79C-83B7-E1B7-B71D2BD0E70B}"/>
                </a:ext>
              </a:extLst>
            </p:cNvPr>
            <p:cNvSpPr/>
            <p:nvPr/>
          </p:nvSpPr>
          <p:spPr bwMode="auto">
            <a:xfrm>
              <a:off x="2978955" y="4446327"/>
              <a:ext cx="88060" cy="209366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0" tIns="0" rIns="0" bIns="0" rtlCol="0" anchor="ctr" anchorCtr="0"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35" b="1" i="0" u="none" strike="noStrike" kern="1200" cap="none" spc="0" normalizeH="0" baseline="0" noProof="0" dirty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X</a:t>
              </a:r>
              <a:endParaRPr kumimoji="0" lang="ko-KR" altLang="en-US" sz="635" b="1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41FA259B-0F65-6F92-E537-2ED6FF55F713}"/>
                </a:ext>
              </a:extLst>
            </p:cNvPr>
            <p:cNvSpPr txBox="1"/>
            <p:nvPr/>
          </p:nvSpPr>
          <p:spPr>
            <a:xfrm>
              <a:off x="567317" y="4329051"/>
              <a:ext cx="1777530" cy="514690"/>
            </a:xfrm>
            <a:prstGeom prst="rect">
              <a:avLst/>
            </a:prstGeom>
            <a:noFill/>
          </p:spPr>
          <p:txBody>
            <a:bodyPr wrap="square" lIns="36000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1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(</a:t>
              </a:r>
              <a:r>
                <a:rPr kumimoji="0" lang="ko-KR" altLang="en-US" sz="900" b="1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박</a:t>
              </a:r>
              <a:r>
                <a:rPr kumimoji="0" lang="en-US" altLang="ko-KR" sz="900" b="1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OO) </a:t>
              </a:r>
              <a:r>
                <a:rPr kumimoji="0" lang="ko-KR" altLang="en-US" sz="900" b="1" smtClean="0">
                  <a:solidFill>
                    <a:prstClr val="black">
                      <a:lumMod val="75000"/>
                      <a:lumOff val="25000"/>
                    </a:prstClr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위험평가 결과 상세 조회</a:t>
              </a:r>
              <a:endParaRPr kumimoji="0" lang="ko-KR" altLang="en-US" sz="900" b="1" i="0" u="none" strike="noStrike" kern="1200" cap="none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061CAA5C-4EB7-4E67-85DA-E29F266F438F}"/>
              </a:ext>
            </a:extLst>
          </p:cNvPr>
          <p:cNvSpPr/>
          <p:nvPr/>
        </p:nvSpPr>
        <p:spPr>
          <a:xfrm>
            <a:off x="2896128" y="3145560"/>
            <a:ext cx="3706329" cy="45719"/>
          </a:xfrm>
          <a:prstGeom prst="rect">
            <a:avLst/>
          </a:prstGeom>
          <a:solidFill>
            <a:srgbClr val="625950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742856">
              <a:defRPr/>
            </a:pPr>
            <a:endParaRPr lang="ko-KR" altLang="en-US" sz="813" dirty="0">
              <a:solidFill>
                <a:schemeClr val="bg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73" name="그림 7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67792" y="3229897"/>
            <a:ext cx="3734665" cy="427305"/>
          </a:xfrm>
          <a:prstGeom prst="rect">
            <a:avLst/>
          </a:prstGeom>
        </p:spPr>
      </p:pic>
      <p:graphicFrame>
        <p:nvGraphicFramePr>
          <p:cNvPr id="75" name="표 74"/>
          <p:cNvGraphicFramePr>
            <a:graphicFrameLocks noGrp="1"/>
          </p:cNvGraphicFramePr>
          <p:nvPr>
            <p:extLst/>
          </p:nvPr>
        </p:nvGraphicFramePr>
        <p:xfrm>
          <a:off x="2896128" y="4483235"/>
          <a:ext cx="3706328" cy="142988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2090">
                  <a:extLst>
                    <a:ext uri="{9D8B030D-6E8A-4147-A177-3AD203B41FA5}">
                      <a16:colId xmlns:a16="http://schemas.microsoft.com/office/drawing/2014/main" val="1630994582"/>
                    </a:ext>
                  </a:extLst>
                </a:gridCol>
                <a:gridCol w="2094807">
                  <a:extLst>
                    <a:ext uri="{9D8B030D-6E8A-4147-A177-3AD203B41FA5}">
                      <a16:colId xmlns:a16="http://schemas.microsoft.com/office/drawing/2014/main" val="2045752900"/>
                    </a:ext>
                  </a:extLst>
                </a:gridCol>
                <a:gridCol w="739833">
                  <a:extLst>
                    <a:ext uri="{9D8B030D-6E8A-4147-A177-3AD203B41FA5}">
                      <a16:colId xmlns:a16="http://schemas.microsoft.com/office/drawing/2014/main" val="1278023469"/>
                    </a:ext>
                  </a:extLst>
                </a:gridCol>
                <a:gridCol w="359598">
                  <a:extLst>
                    <a:ext uri="{9D8B030D-6E8A-4147-A177-3AD203B41FA5}">
                      <a16:colId xmlns:a16="http://schemas.microsoft.com/office/drawing/2014/main" val="180052005"/>
                    </a:ext>
                  </a:extLst>
                </a:gridCol>
              </a:tblGrid>
              <a:tr h="1377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구분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항목명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배점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E6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7225063"/>
                  </a:ext>
                </a:extLst>
              </a:tr>
              <a:tr h="29627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조치현황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임점감사</a:t>
                      </a:r>
                      <a:r>
                        <a:rPr lang="ko-KR" altLang="en-US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6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지적사항의</a:t>
                      </a:r>
                      <a:r>
                        <a:rPr lang="ko-KR" altLang="en-US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조치 현황 </a:t>
                      </a:r>
                      <a:r>
                        <a:rPr lang="en-US" altLang="ko-KR" sz="600" b="1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600" b="1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 누적</a:t>
                      </a:r>
                      <a:r>
                        <a:rPr lang="en-US" altLang="ko-KR" sz="600" b="1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600" b="1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조치구분별</a:t>
                      </a:r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행위자 감독자</a:t>
                      </a:r>
                      <a:r>
                        <a:rPr lang="en-US" altLang="ko-KR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보조자 차등 점수</a:t>
                      </a:r>
                      <a:r>
                        <a:rPr lang="en-US" altLang="ko-KR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건당 최대 </a:t>
                      </a:r>
                      <a:r>
                        <a:rPr lang="en-US" altLang="ko-KR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9.0</a:t>
                      </a:r>
                      <a:r>
                        <a:rPr lang="en-US" altLang="ko-KR" sz="6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~ 0.5)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0125726"/>
                  </a:ext>
                </a:extLst>
              </a:tr>
              <a:tr h="13771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CRAS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ko-KR" altLang="en-US" sz="6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기업대출 위험지수 </a:t>
                      </a:r>
                      <a:r>
                        <a:rPr kumimoji="0" lang="en-US" altLang="ko-KR" sz="600" b="1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kumimoji="0" lang="ko-KR" altLang="en-US" sz="600" b="1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년간 누적</a:t>
                      </a:r>
                      <a:r>
                        <a:rPr kumimoji="0" lang="en-US" altLang="ko-KR" sz="600" b="1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600" b="1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CRAS</a:t>
                      </a:r>
                      <a:r>
                        <a:rPr lang="en-US" altLang="ko-KR" sz="6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6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점수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157521"/>
                  </a:ext>
                </a:extLst>
              </a:tr>
              <a:tr h="1377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감사지적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6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상시감사</a:t>
                      </a:r>
                      <a:r>
                        <a:rPr lang="ko-KR" altLang="en-US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지적</a:t>
                      </a:r>
                      <a:r>
                        <a:rPr lang="en-US" altLang="ko-KR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지도 사항 </a:t>
                      </a:r>
                      <a:r>
                        <a:rPr lang="en-US" altLang="ko-KR" sz="600" b="1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600" b="1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년간 누적</a:t>
                      </a:r>
                      <a:r>
                        <a:rPr lang="en-US" altLang="ko-KR" sz="600" b="1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600" b="1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 </a:t>
                      </a:r>
                      <a:r>
                        <a:rPr lang="en-US" altLang="ko-KR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1.0, </a:t>
                      </a:r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지도 </a:t>
                      </a:r>
                      <a:r>
                        <a:rPr lang="en-US" altLang="ko-KR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0.5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0024996"/>
                  </a:ext>
                </a:extLst>
              </a:tr>
              <a:tr h="19424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감사자료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(7A16) </a:t>
                      </a:r>
                      <a:r>
                        <a:rPr lang="ko-KR" altLang="en-US" sz="6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업무시간외</a:t>
                      </a:r>
                      <a:r>
                        <a:rPr lang="en-US" altLang="ko-KR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(09:00 </a:t>
                      </a:r>
                      <a:r>
                        <a:rPr lang="ko-KR" altLang="en-US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이전</a:t>
                      </a:r>
                      <a:r>
                        <a:rPr lang="en-US" altLang="ko-KR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17:00 </a:t>
                      </a:r>
                      <a:r>
                        <a:rPr lang="ko-KR" altLang="en-US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이후</a:t>
                      </a:r>
                      <a:r>
                        <a:rPr lang="en-US" altLang="ko-KR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현금거래</a:t>
                      </a:r>
                      <a:r>
                        <a:rPr lang="en-US" altLang="ko-KR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6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무자원여부</a:t>
                      </a:r>
                      <a:r>
                        <a:rPr lang="en-US" altLang="ko-KR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600" b="1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년간 누적</a:t>
                      </a:r>
                      <a:r>
                        <a:rPr lang="en-US" altLang="ko-KR" sz="600" b="1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6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건당 </a:t>
                      </a:r>
                      <a:r>
                        <a:rPr lang="en-US" altLang="ko-KR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0.05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1361697"/>
                  </a:ext>
                </a:extLst>
              </a:tr>
              <a:tr h="194247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감사자료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((7005) </a:t>
                      </a:r>
                      <a:r>
                        <a:rPr lang="ko-KR" altLang="en-US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영업시간 이후 직원 및 </a:t>
                      </a:r>
                      <a:r>
                        <a:rPr lang="ko-KR" altLang="en-US" sz="6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관련고객</a:t>
                      </a:r>
                      <a:r>
                        <a:rPr lang="ko-KR" altLang="en-US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통장 </a:t>
                      </a:r>
                      <a:r>
                        <a:rPr lang="ko-KR" altLang="en-US" sz="6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재발행</a:t>
                      </a:r>
                      <a:r>
                        <a:rPr lang="ko-KR" altLang="en-US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거래가 발생한 경우</a:t>
                      </a:r>
                      <a:r>
                        <a:rPr lang="en-US" altLang="ko-KR" sz="600" b="1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600" b="1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년간 누적</a:t>
                      </a:r>
                      <a:r>
                        <a:rPr lang="en-US" altLang="ko-KR" sz="600" b="1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6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건당 </a:t>
                      </a:r>
                      <a:r>
                        <a:rPr lang="en-US" altLang="ko-KR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0.05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7686378"/>
                  </a:ext>
                </a:extLst>
              </a:tr>
              <a:tr h="137717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감사자료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(9722) </a:t>
                      </a:r>
                      <a:r>
                        <a:rPr lang="ko-KR" altLang="en-US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영업시간</a:t>
                      </a:r>
                      <a:r>
                        <a:rPr lang="en-US" altLang="ko-KR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(17</a:t>
                      </a:r>
                      <a:r>
                        <a:rPr lang="ko-KR" altLang="en-US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</a:t>
                      </a:r>
                      <a:r>
                        <a:rPr lang="en-US" altLang="ko-KR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이후 </a:t>
                      </a:r>
                      <a:r>
                        <a:rPr lang="en-US" altLang="ko-KR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PIN-PAD </a:t>
                      </a:r>
                      <a:r>
                        <a:rPr lang="ko-KR" altLang="en-US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거래 명세</a:t>
                      </a:r>
                      <a:r>
                        <a:rPr lang="en-US" altLang="ko-KR" sz="600" b="1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600" b="1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년간 누적</a:t>
                      </a:r>
                      <a:r>
                        <a:rPr lang="en-US" altLang="ko-KR" sz="600" b="1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6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건당 </a:t>
                      </a:r>
                      <a:r>
                        <a:rPr lang="en-US" altLang="ko-KR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0.05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6206560"/>
                  </a:ext>
                </a:extLst>
              </a:tr>
              <a:tr h="194247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감사자료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(9605) </a:t>
                      </a:r>
                      <a:r>
                        <a:rPr lang="ko-KR" altLang="en-US" sz="6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영업시간외</a:t>
                      </a:r>
                      <a:r>
                        <a:rPr lang="ko-KR" altLang="en-US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취급한 인도 인수도거래의 위험지수 적용</a:t>
                      </a:r>
                      <a:endParaRPr lang="en-US" altLang="ko-KR" sz="6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600" b="1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년간 누적</a:t>
                      </a:r>
                      <a:r>
                        <a:rPr lang="en-US" altLang="ko-KR" sz="600" b="1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6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건당 </a:t>
                      </a:r>
                      <a:r>
                        <a:rPr lang="en-US" altLang="ko-KR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0.05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677441"/>
                  </a:ext>
                </a:extLst>
              </a:tr>
            </a:tbl>
          </a:graphicData>
        </a:graphic>
      </p:graphicFrame>
      <p:sp>
        <p:nvSpPr>
          <p:cNvPr id="76" name="TextBox 75"/>
          <p:cNvSpPr txBox="1"/>
          <p:nvPr/>
        </p:nvSpPr>
        <p:spPr>
          <a:xfrm>
            <a:off x="2827896" y="4275152"/>
            <a:ext cx="1554480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[</a:t>
            </a:r>
            <a:r>
              <a:rPr lang="ko-KR" altLang="en-US" sz="6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지수산출 세부내역</a:t>
            </a:r>
            <a:r>
              <a:rPr lang="en-US" altLang="ko-KR" sz="6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]</a:t>
            </a:r>
            <a:endParaRPr lang="ko-KR" altLang="en-US" sz="60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8" name="타원 7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733916" y="290000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79" name="구부러진 연결선 78"/>
          <p:cNvCxnSpPr/>
          <p:nvPr/>
        </p:nvCxnSpPr>
        <p:spPr bwMode="auto">
          <a:xfrm rot="5400000">
            <a:off x="2530031" y="3022754"/>
            <a:ext cx="1237583" cy="735843"/>
          </a:xfrm>
          <a:prstGeom prst="curvedConnector4">
            <a:avLst>
              <a:gd name="adj1" fmla="val 8288"/>
              <a:gd name="adj2" fmla="val 131066"/>
            </a:avLst>
          </a:prstGeom>
          <a:solidFill>
            <a:schemeClr val="accent1"/>
          </a:solidFill>
          <a:ln w="12700" cap="flat" cmpd="sng" algn="ctr">
            <a:solidFill>
              <a:schemeClr val="accent1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graphicFrame>
        <p:nvGraphicFramePr>
          <p:cNvPr id="35" name="표 34"/>
          <p:cNvGraphicFramePr>
            <a:graphicFrameLocks noGrp="1"/>
          </p:cNvGraphicFramePr>
          <p:nvPr>
            <p:extLst/>
          </p:nvPr>
        </p:nvGraphicFramePr>
        <p:xfrm>
          <a:off x="2896130" y="3699865"/>
          <a:ext cx="3706326" cy="591772"/>
        </p:xfrm>
        <a:graphic>
          <a:graphicData uri="http://schemas.openxmlformats.org/drawingml/2006/table">
            <a:tbl>
              <a:tblPr/>
              <a:tblGrid>
                <a:gridCol w="617721">
                  <a:extLst>
                    <a:ext uri="{9D8B030D-6E8A-4147-A177-3AD203B41FA5}">
                      <a16:colId xmlns:a16="http://schemas.microsoft.com/office/drawing/2014/main" val="3535032951"/>
                    </a:ext>
                  </a:extLst>
                </a:gridCol>
                <a:gridCol w="617721">
                  <a:extLst>
                    <a:ext uri="{9D8B030D-6E8A-4147-A177-3AD203B41FA5}">
                      <a16:colId xmlns:a16="http://schemas.microsoft.com/office/drawing/2014/main" val="2802195698"/>
                    </a:ext>
                  </a:extLst>
                </a:gridCol>
                <a:gridCol w="617721">
                  <a:extLst>
                    <a:ext uri="{9D8B030D-6E8A-4147-A177-3AD203B41FA5}">
                      <a16:colId xmlns:a16="http://schemas.microsoft.com/office/drawing/2014/main" val="1408328253"/>
                    </a:ext>
                  </a:extLst>
                </a:gridCol>
                <a:gridCol w="617721">
                  <a:extLst>
                    <a:ext uri="{9D8B030D-6E8A-4147-A177-3AD203B41FA5}">
                      <a16:colId xmlns:a16="http://schemas.microsoft.com/office/drawing/2014/main" val="3165296892"/>
                    </a:ext>
                  </a:extLst>
                </a:gridCol>
                <a:gridCol w="617721">
                  <a:extLst>
                    <a:ext uri="{9D8B030D-6E8A-4147-A177-3AD203B41FA5}">
                      <a16:colId xmlns:a16="http://schemas.microsoft.com/office/drawing/2014/main" val="3042719797"/>
                    </a:ext>
                  </a:extLst>
                </a:gridCol>
                <a:gridCol w="617721">
                  <a:extLst>
                    <a:ext uri="{9D8B030D-6E8A-4147-A177-3AD203B41FA5}">
                      <a16:colId xmlns:a16="http://schemas.microsoft.com/office/drawing/2014/main" val="1196439270"/>
                    </a:ext>
                  </a:extLst>
                </a:gridCol>
              </a:tblGrid>
              <a:tr h="20820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예측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점검업무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점검업무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점검업무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점검업무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점검업무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9316118"/>
                  </a:ext>
                </a:extLst>
              </a:tr>
              <a:tr h="38356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 smtClean="0">
                          <a:solidFill>
                            <a:schemeClr val="bg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중점</a:t>
                      </a:r>
                      <a:endParaRPr lang="en-US" altLang="ko-KR" sz="800" b="1" i="0" u="none" strike="noStrike" dirty="0" smtClean="0">
                        <a:solidFill>
                          <a:schemeClr val="bg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1" i="0" u="none" strike="noStrike" dirty="0" err="1" smtClean="0">
                          <a:solidFill>
                            <a:schemeClr val="bg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점검요</a:t>
                      </a:r>
                      <a:endParaRPr lang="en-US" altLang="ko-KR" sz="800" b="1" i="0" u="none" strike="noStrike" dirty="0">
                        <a:solidFill>
                          <a:schemeClr val="bg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당행계좌</a:t>
                      </a:r>
                      <a:r>
                        <a:rPr lang="ko-KR" altLang="en-US" sz="8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1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입금건수</a:t>
                      </a:r>
                      <a:r>
                        <a:rPr lang="ko-KR" altLang="en-US" sz="8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(6</a:t>
                      </a:r>
                      <a:r>
                        <a:rPr lang="ko-KR" altLang="en-US" sz="8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개월</a:t>
                      </a:r>
                      <a:r>
                        <a:rPr lang="en-US" altLang="ko-KR" sz="8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en-US" altLang="ko-KR" sz="800" b="1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r>
                        <a:rPr lang="ko-KR" altLang="en-US" sz="800" b="1" i="0" u="none" strike="noStrike" kern="1200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당행현금</a:t>
                      </a:r>
                      <a:r>
                        <a:rPr lang="ko-KR" altLang="en-US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1" i="0" u="none" strike="noStrike" kern="1200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거래건수</a:t>
                      </a:r>
                      <a:r>
                        <a:rPr lang="ko-KR" altLang="en-US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(3</a:t>
                      </a:r>
                      <a:r>
                        <a:rPr lang="ko-KR" altLang="en-US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개월</a:t>
                      </a:r>
                      <a:r>
                        <a:rPr lang="en-US" altLang="ko-KR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)</a:t>
                      </a:r>
                      <a:endParaRPr lang="en-US" altLang="ko-KR" sz="800" b="1" i="0" u="none" strike="noStrike" kern="1200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r>
                        <a:rPr lang="ko-KR" altLang="en-US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담보대출 금액 </a:t>
                      </a:r>
                      <a:r>
                        <a:rPr lang="en-US" altLang="ko-KR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(6</a:t>
                      </a:r>
                      <a:r>
                        <a:rPr lang="ko-KR" altLang="en-US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개월</a:t>
                      </a:r>
                      <a:r>
                        <a:rPr lang="en-US" altLang="ko-KR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)</a:t>
                      </a:r>
                      <a:endParaRPr lang="en-US" altLang="ko-KR" sz="800" b="1" i="0" u="none" strike="noStrike" kern="1200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r>
                        <a:rPr lang="en-US" altLang="ko-KR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70</a:t>
                      </a:r>
                      <a:r>
                        <a:rPr lang="ko-KR" altLang="en-US" sz="800" b="1" i="0" u="none" strike="noStrike" kern="1200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대이상고객</a:t>
                      </a:r>
                      <a:r>
                        <a:rPr lang="ko-KR" altLang="en-US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거래금액 </a:t>
                      </a:r>
                      <a:r>
                        <a:rPr lang="en-US" altLang="ko-KR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(3</a:t>
                      </a:r>
                      <a:r>
                        <a:rPr lang="ko-KR" altLang="en-US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개월</a:t>
                      </a:r>
                      <a:r>
                        <a:rPr lang="en-US" altLang="ko-KR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)</a:t>
                      </a:r>
                      <a:endParaRPr lang="en-US" altLang="ko-KR" sz="800" b="1" i="0" u="none" strike="noStrike" kern="1200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r>
                        <a:rPr lang="en-US" altLang="ko-KR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PB</a:t>
                      </a:r>
                      <a:r>
                        <a:rPr lang="ko-KR" altLang="en-US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고객 거래금액 </a:t>
                      </a:r>
                      <a:r>
                        <a:rPr lang="en-US" altLang="ko-KR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(1</a:t>
                      </a:r>
                      <a:r>
                        <a:rPr lang="ko-KR" altLang="en-US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개월</a:t>
                      </a:r>
                      <a:r>
                        <a:rPr lang="en-US" altLang="ko-KR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)</a:t>
                      </a:r>
                      <a:endParaRPr lang="en-US" altLang="ko-KR" sz="800" b="1" i="0" u="none" strike="noStrike" kern="1200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8042188"/>
                  </a:ext>
                </a:extLst>
              </a:tr>
            </a:tbl>
          </a:graphicData>
        </a:graphic>
      </p:graphicFrame>
      <p:sp>
        <p:nvSpPr>
          <p:cNvPr id="34" name="TextBox 33"/>
          <p:cNvSpPr txBox="1"/>
          <p:nvPr/>
        </p:nvSpPr>
        <p:spPr>
          <a:xfrm>
            <a:off x="3886636" y="2408121"/>
            <a:ext cx="453970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종합감사</a:t>
            </a:r>
          </a:p>
        </p:txBody>
      </p:sp>
    </p:spTree>
    <p:extLst>
      <p:ext uri="{BB962C8B-B14F-4D97-AF65-F5344CB8AC3E}">
        <p14:creationId xmlns:p14="http://schemas.microsoft.com/office/powerpoint/2010/main" val="33626266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MDD-00025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MDD72G31000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감사자료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기업여신명세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)(1/2)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RAS/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감사자료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감사자료조회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(P57: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323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기준년월을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선택후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고객 관리부점기준 고객명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차주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별 리스트가 출력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해당년에 한번이라도 있으면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추출대상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일기준</a:t>
                      </a: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판단기준이 있더라도 월중 한번의 조건에 만족하면 표기됨</a:t>
                      </a:r>
                    </a:p>
                    <a:p>
                      <a:pPr latinLnBrk="1"/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●</a:t>
                      </a:r>
                      <a:r>
                        <a:rPr lang="en-US" altLang="ko-KR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로 표시</a:t>
                      </a:r>
                      <a:endParaRPr lang="ko-KR" altLang="en-US" sz="8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32" name="그룹 31"/>
          <p:cNvGrpSpPr/>
          <p:nvPr/>
        </p:nvGrpSpPr>
        <p:grpSpPr>
          <a:xfrm>
            <a:off x="224727" y="1070832"/>
            <a:ext cx="6732899" cy="337771"/>
            <a:chOff x="355877" y="2160935"/>
            <a:chExt cx="6061214" cy="417554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 err="1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</a:t>
              </a:r>
              <a:r>
                <a:rPr kumimoji="0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dirty="0" err="1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dirty="0" err="1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dirty="0" err="1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35" name="양쪽 모서리가 둥근 사각형 34"/>
          <p:cNvSpPr/>
          <p:nvPr/>
        </p:nvSpPr>
        <p:spPr bwMode="auto">
          <a:xfrm>
            <a:off x="231230" y="1545167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감사자료</a:t>
            </a:r>
            <a:r>
              <a:rPr kumimoji="0" lang="en-US" altLang="ko-KR" sz="7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기업여신명세</a:t>
            </a:r>
            <a:r>
              <a:rPr kumimoji="0" lang="en-US" altLang="ko-KR" sz="7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24727" y="1470571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7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31231" y="1730902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38" name="내용 개체 틀 121"/>
          <p:cNvGraphicFramePr>
            <a:graphicFrameLocks/>
          </p:cNvGraphicFramePr>
          <p:nvPr>
            <p:extLst/>
          </p:nvPr>
        </p:nvGraphicFramePr>
        <p:xfrm>
          <a:off x="224727" y="1824997"/>
          <a:ext cx="6727092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5314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2433637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17741">
                  <a:extLst>
                    <a:ext uri="{9D8B030D-6E8A-4147-A177-3AD203B41FA5}">
                      <a16:colId xmlns:a16="http://schemas.microsoft.com/office/drawing/2014/main" val="3188398220"/>
                    </a:ext>
                  </a:extLst>
                </a:gridCol>
                <a:gridCol w="3200400">
                  <a:extLst>
                    <a:ext uri="{9D8B030D-6E8A-4147-A177-3AD203B41FA5}">
                      <a16:colId xmlns:a16="http://schemas.microsoft.com/office/drawing/2014/main" val="2169705326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부점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기준년월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                         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3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796086" y="2144681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91671" y="2144681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41" name="그룹 40"/>
          <p:cNvGrpSpPr/>
          <p:nvPr/>
        </p:nvGrpSpPr>
        <p:grpSpPr>
          <a:xfrm>
            <a:off x="800697" y="1879376"/>
            <a:ext cx="2118396" cy="174549"/>
            <a:chOff x="2253242" y="3194395"/>
            <a:chExt cx="2118396" cy="174549"/>
          </a:xfrm>
        </p:grpSpPr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210033CF-3F00-B2D4-C97E-DA3921EDACF1}"/>
                </a:ext>
              </a:extLst>
            </p:cNvPr>
            <p:cNvSpPr/>
            <p:nvPr/>
          </p:nvSpPr>
          <p:spPr bwMode="auto">
            <a:xfrm>
              <a:off x="3158370" y="3196144"/>
              <a:ext cx="591470" cy="1728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normalizeH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0000</a:t>
              </a:r>
              <a:endParaRPr kumimoji="0" lang="ko-KR" altLang="en-US" sz="7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210033CF-3F00-B2D4-C97E-DA3921EDACF1}"/>
                </a:ext>
              </a:extLst>
            </p:cNvPr>
            <p:cNvSpPr/>
            <p:nvPr/>
          </p:nvSpPr>
          <p:spPr bwMode="auto">
            <a:xfrm>
              <a:off x="2253242" y="3196090"/>
              <a:ext cx="874800" cy="1728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spc="-10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대상 영업점</a:t>
              </a:r>
              <a:r>
                <a:rPr kumimoji="0" lang="en-US" altLang="ko-KR" sz="700" spc="-10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/</a:t>
              </a:r>
              <a:r>
                <a:rPr kumimoji="0" lang="ko-KR" altLang="en-US" sz="700" spc="-10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부서</a:t>
              </a:r>
              <a:endParaRPr kumimoji="0" lang="ko-KR" altLang="en-US" sz="7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44" name="그림 43"/>
            <p:cNvPicPr>
              <a:picLocks noChangeAspect="1"/>
            </p:cNvPicPr>
            <p:nvPr/>
          </p:nvPicPr>
          <p:blipFill rotWithShape="1">
            <a:blip r:embed="rId2"/>
            <a:srcRect r="73540"/>
            <a:stretch/>
          </p:blipFill>
          <p:spPr>
            <a:xfrm>
              <a:off x="3554618" y="3208774"/>
              <a:ext cx="164939" cy="147540"/>
            </a:xfrm>
            <a:prstGeom prst="rect">
              <a:avLst/>
            </a:prstGeom>
          </p:spPr>
        </p:pic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210033CF-3F00-B2D4-C97E-DA3921EDACF1}"/>
                </a:ext>
              </a:extLst>
            </p:cNvPr>
            <p:cNvSpPr/>
            <p:nvPr/>
          </p:nvSpPr>
          <p:spPr bwMode="auto">
            <a:xfrm>
              <a:off x="3780168" y="3194395"/>
              <a:ext cx="591470" cy="1728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-100" normalizeH="0" baseline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[</a:t>
              </a:r>
              <a:r>
                <a:rPr kumimoji="0" lang="ko-KR" altLang="en-US" sz="700" b="0" i="0" u="none" strike="noStrike" kern="1200" cap="none" spc="-100" normalizeH="0" baseline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영업점</a:t>
              </a:r>
              <a:r>
                <a:rPr kumimoji="0" lang="en-US" altLang="ko-KR" sz="700" b="0" i="0" u="none" strike="noStrike" kern="1200" cap="none" spc="-100" normalizeH="0" baseline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/</a:t>
              </a:r>
              <a:r>
                <a:rPr kumimoji="0" lang="ko-KR" altLang="en-US" sz="700" b="0" i="0" u="none" strike="noStrike" kern="1200" cap="none" spc="-100" normalizeH="0" baseline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부서명</a:t>
              </a:r>
              <a:r>
                <a:rPr kumimoji="0" lang="en-US" altLang="ko-KR" sz="700" b="0" i="0" u="none" strike="noStrike" kern="1200" cap="none" spc="-100" normalizeH="0" baseline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]</a:t>
              </a:r>
              <a:endParaRPr kumimoji="0" lang="ko-KR" altLang="en-US" sz="7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787354" y="1871261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2023-12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7" name="이등변 삼각형 46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4366722" y="1952083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87256" y="2144681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초기화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49" name="내용 개체 틀 121"/>
          <p:cNvGraphicFramePr>
            <a:graphicFrameLocks/>
          </p:cNvGraphicFramePr>
          <p:nvPr>
            <p:extLst/>
          </p:nvPr>
        </p:nvGraphicFramePr>
        <p:xfrm>
          <a:off x="227012" y="2460564"/>
          <a:ext cx="6720243" cy="14676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7758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58157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881055">
                  <a:extLst>
                    <a:ext uri="{9D8B030D-6E8A-4147-A177-3AD203B41FA5}">
                      <a16:colId xmlns:a16="http://schemas.microsoft.com/office/drawing/2014/main" val="1325555519"/>
                    </a:ext>
                  </a:extLst>
                </a:gridCol>
                <a:gridCol w="710829">
                  <a:extLst>
                    <a:ext uri="{9D8B030D-6E8A-4147-A177-3AD203B41FA5}">
                      <a16:colId xmlns:a16="http://schemas.microsoft.com/office/drawing/2014/main" val="3109369146"/>
                    </a:ext>
                  </a:extLst>
                </a:gridCol>
                <a:gridCol w="666643">
                  <a:extLst>
                    <a:ext uri="{9D8B030D-6E8A-4147-A177-3AD203B41FA5}">
                      <a16:colId xmlns:a16="http://schemas.microsoft.com/office/drawing/2014/main" val="3484451531"/>
                    </a:ext>
                  </a:extLst>
                </a:gridCol>
                <a:gridCol w="666643">
                  <a:extLst>
                    <a:ext uri="{9D8B030D-6E8A-4147-A177-3AD203B41FA5}">
                      <a16:colId xmlns:a16="http://schemas.microsoft.com/office/drawing/2014/main" val="1275920291"/>
                    </a:ext>
                  </a:extLst>
                </a:gridCol>
                <a:gridCol w="666643">
                  <a:extLst>
                    <a:ext uri="{9D8B030D-6E8A-4147-A177-3AD203B41FA5}">
                      <a16:colId xmlns:a16="http://schemas.microsoft.com/office/drawing/2014/main" val="214507577"/>
                    </a:ext>
                  </a:extLst>
                </a:gridCol>
                <a:gridCol w="666643">
                  <a:extLst>
                    <a:ext uri="{9D8B030D-6E8A-4147-A177-3AD203B41FA5}">
                      <a16:colId xmlns:a16="http://schemas.microsoft.com/office/drawing/2014/main" val="4226279761"/>
                    </a:ext>
                  </a:extLst>
                </a:gridCol>
                <a:gridCol w="666643">
                  <a:extLst>
                    <a:ext uri="{9D8B030D-6E8A-4147-A177-3AD203B41FA5}">
                      <a16:colId xmlns:a16="http://schemas.microsoft.com/office/drawing/2014/main" val="3689105215"/>
                    </a:ext>
                  </a:extLst>
                </a:gridCol>
                <a:gridCol w="666643">
                  <a:extLst>
                    <a:ext uri="{9D8B030D-6E8A-4147-A177-3AD203B41FA5}">
                      <a16:colId xmlns:a16="http://schemas.microsoft.com/office/drawing/2014/main" val="1645622574"/>
                    </a:ext>
                  </a:extLst>
                </a:gridCol>
                <a:gridCol w="339168">
                  <a:extLst>
                    <a:ext uri="{9D8B030D-6E8A-4147-A177-3AD203B41FA5}">
                      <a16:colId xmlns:a16="http://schemas.microsoft.com/office/drawing/2014/main" val="680523821"/>
                    </a:ext>
                  </a:extLst>
                </a:gridCol>
              </a:tblGrid>
              <a:tr h="146763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고객명</a:t>
                      </a:r>
                      <a:r>
                        <a:rPr lang="en-US" altLang="ko-KR" sz="7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차주</a:t>
                      </a:r>
                      <a:r>
                        <a:rPr lang="en-US" altLang="ko-KR" sz="7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여신계좌번호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여신신청번호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   목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….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14676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후취담관리대상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관계기업군여신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산업분류코드 변경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부점장 관련인 대출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재무열위기업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신용평가 등급상향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54525288"/>
                  </a:ext>
                </a:extLst>
              </a:tr>
              <a:tr h="29352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㈜ </a:t>
                      </a: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KS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전선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111111111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23545423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●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●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●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0641114"/>
                  </a:ext>
                </a:extLst>
              </a:tr>
              <a:tr h="29352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가나다㈜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222222222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11154545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●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●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9943333"/>
                  </a:ext>
                </a:extLst>
              </a:tr>
              <a:tr h="29352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여의도상회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333332222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12312122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●</a:t>
                      </a:r>
                    </a:p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●</a:t>
                      </a:r>
                    </a:p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2394348"/>
                  </a:ext>
                </a:extLst>
              </a:tr>
              <a:tr h="29352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3758132"/>
                  </a:ext>
                </a:extLst>
              </a:tr>
            </a:tbl>
          </a:graphicData>
        </a:graphic>
      </p:graphicFrame>
      <p:sp>
        <p:nvSpPr>
          <p:cNvPr id="57" name="직사각형 56"/>
          <p:cNvSpPr/>
          <p:nvPr/>
        </p:nvSpPr>
        <p:spPr bwMode="auto">
          <a:xfrm>
            <a:off x="214357" y="2741367"/>
            <a:ext cx="6732898" cy="302574"/>
          </a:xfrm>
          <a:prstGeom prst="rect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endParaRPr kumimoji="0" lang="ko-KR" altLang="en-US" b="1">
              <a:solidFill>
                <a:srgbClr val="FFFFFF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90679" y="188096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0" name="타원 5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337795" y="235534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2" name="타원 7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367977" y="281287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" name="직사각형 2"/>
          <p:cNvSpPr/>
          <p:nvPr/>
        </p:nvSpPr>
        <p:spPr>
          <a:xfrm>
            <a:off x="769178" y="4376705"/>
            <a:ext cx="5731195" cy="12772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fontAlgn="ctr" latinLnBrk="1"/>
            <a:r>
              <a:rPr lang="ko-KR" altLang="en-US" dirty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후취담보관리대상 </a:t>
            </a:r>
            <a:r>
              <a:rPr lang="en-US" altLang="ko-KR" dirty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: </a:t>
            </a:r>
            <a:r>
              <a:rPr lang="ko-KR" altLang="ko-KR" dirty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감사자료</a:t>
            </a:r>
            <a:r>
              <a:rPr lang="en-US" altLang="ko-KR" dirty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-9316, </a:t>
            </a:r>
            <a:r>
              <a:rPr lang="ko-KR" altLang="en-US" dirty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관계기업군여신    </a:t>
            </a:r>
            <a:r>
              <a:rPr lang="en-US" altLang="ko-KR" dirty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: </a:t>
            </a:r>
            <a:r>
              <a:rPr lang="ko-KR" altLang="ko-KR" dirty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감사자료</a:t>
            </a:r>
            <a:r>
              <a:rPr lang="en-US" altLang="ko-KR" dirty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-7C06</a:t>
            </a:r>
            <a:endParaRPr lang="ko-KR" altLang="ko-KR" dirty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  <a:p>
            <a:pPr fontAlgn="ctr" latinLnBrk="1"/>
            <a:r>
              <a:rPr lang="ko-KR" altLang="en-US" dirty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산업분류코드변경 </a:t>
            </a:r>
            <a:r>
              <a:rPr lang="en-US" altLang="ko-KR" dirty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: </a:t>
            </a:r>
            <a:r>
              <a:rPr lang="ko-KR" altLang="ko-KR" dirty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감사자료</a:t>
            </a:r>
            <a:r>
              <a:rPr lang="en-US" altLang="ko-KR" dirty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-7C10, </a:t>
            </a:r>
            <a:r>
              <a:rPr lang="ko-KR" altLang="en-US" dirty="0" err="1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부점장관련인여신</a:t>
            </a:r>
            <a:r>
              <a:rPr lang="ko-KR" altLang="en-US" dirty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 </a:t>
            </a:r>
            <a:r>
              <a:rPr lang="en-US" altLang="ko-KR" dirty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: </a:t>
            </a:r>
            <a:r>
              <a:rPr lang="ko-KR" altLang="ko-KR" dirty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감사자료</a:t>
            </a:r>
            <a:r>
              <a:rPr lang="en-US" altLang="ko-KR" dirty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-9365</a:t>
            </a:r>
            <a:endParaRPr lang="ko-KR" altLang="ko-KR" dirty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  <a:p>
            <a:pPr fontAlgn="ctr" latinLnBrk="1"/>
            <a:r>
              <a:rPr lang="ko-KR" altLang="en-US" dirty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재무열위기업       </a:t>
            </a:r>
            <a:r>
              <a:rPr lang="en-US" altLang="ko-KR" dirty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: </a:t>
            </a:r>
            <a:r>
              <a:rPr lang="ko-KR" altLang="ko-KR" dirty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사전분석</a:t>
            </a:r>
            <a:r>
              <a:rPr lang="en-US" altLang="ko-KR" dirty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-9368, </a:t>
            </a:r>
            <a:r>
              <a:rPr lang="ko-KR" altLang="en-US" dirty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신용평가등급상향 </a:t>
            </a:r>
            <a:r>
              <a:rPr lang="en-US" altLang="ko-KR" dirty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: </a:t>
            </a:r>
            <a:r>
              <a:rPr lang="ko-KR" altLang="ko-KR" dirty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사전분석</a:t>
            </a:r>
            <a:r>
              <a:rPr lang="en-US" altLang="ko-KR" dirty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-9369</a:t>
            </a:r>
          </a:p>
          <a:p>
            <a:pPr fontAlgn="ctr" latinLnBrk="1"/>
            <a:r>
              <a:rPr lang="en-US" altLang="ko-KR" dirty="0">
                <a:solidFill>
                  <a:schemeClr val="dk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6</a:t>
            </a:r>
            <a:r>
              <a:rPr lang="ko-KR" altLang="en-US" dirty="0">
                <a:solidFill>
                  <a:schemeClr val="dk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개의 감사 자료의 항목으로 상세페이지 정의</a:t>
            </a:r>
          </a:p>
        </p:txBody>
      </p:sp>
    </p:spTree>
    <p:extLst>
      <p:ext uri="{BB962C8B-B14F-4D97-AF65-F5344CB8AC3E}">
        <p14:creationId xmlns:p14="http://schemas.microsoft.com/office/powerpoint/2010/main" val="35133919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MDD-00025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MDD72G31001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감사자료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기업여신명세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상세 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(2/2)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RAS/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감사자료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감사자료조회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(P57: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289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가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감사자료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기업여신명세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항목 클릭 시 상세 정보 팝업 출력</a:t>
                      </a: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 smtClean="0">
                          <a:solidFill>
                            <a:srgbClr val="FF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나</a:t>
                      </a:r>
                      <a:r>
                        <a:rPr lang="en-US" altLang="ko-KR" sz="800" b="1" kern="1200" dirty="0" smtClean="0">
                          <a:solidFill>
                            <a:srgbClr val="FF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800" b="1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세부항목 정의 필요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b="1" dirty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</a:tbl>
          </a:graphicData>
        </a:graphic>
      </p:graphicFrame>
      <p:grpSp>
        <p:nvGrpSpPr>
          <p:cNvPr id="32" name="그룹 31"/>
          <p:cNvGrpSpPr/>
          <p:nvPr/>
        </p:nvGrpSpPr>
        <p:grpSpPr>
          <a:xfrm>
            <a:off x="224727" y="1070832"/>
            <a:ext cx="6732899" cy="337771"/>
            <a:chOff x="355877" y="2160935"/>
            <a:chExt cx="6061214" cy="417554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 err="1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</a:t>
              </a:r>
              <a:r>
                <a:rPr kumimoji="0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dirty="0" err="1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dirty="0" err="1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dirty="0" err="1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3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24727" y="1470571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51" name="그룹 50">
            <a:extLst>
              <a:ext uri="{FF2B5EF4-FFF2-40B4-BE49-F238E27FC236}">
                <a16:creationId xmlns:a16="http://schemas.microsoft.com/office/drawing/2014/main" id="{28EE0CDE-8E6E-1200-0440-7A89C2BA6AFF}"/>
              </a:ext>
            </a:extLst>
          </p:cNvPr>
          <p:cNvGrpSpPr/>
          <p:nvPr/>
        </p:nvGrpSpPr>
        <p:grpSpPr>
          <a:xfrm>
            <a:off x="276533" y="2135227"/>
            <a:ext cx="6772660" cy="1530685"/>
            <a:chOff x="501057" y="4342688"/>
            <a:chExt cx="5232328" cy="3544974"/>
          </a:xfrm>
        </p:grpSpPr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C7B6CEFD-186E-AC88-7979-44000562DD84}"/>
                </a:ext>
              </a:extLst>
            </p:cNvPr>
            <p:cNvSpPr/>
            <p:nvPr/>
          </p:nvSpPr>
          <p:spPr>
            <a:xfrm>
              <a:off x="501057" y="4342688"/>
              <a:ext cx="5232328" cy="354497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bg1">
                  <a:lumMod val="50000"/>
                </a:schemeClr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714A0CF5-F79C-83B7-E1B7-B71D2BD0E70B}"/>
                </a:ext>
              </a:extLst>
            </p:cNvPr>
            <p:cNvSpPr/>
            <p:nvPr/>
          </p:nvSpPr>
          <p:spPr bwMode="auto">
            <a:xfrm>
              <a:off x="5420651" y="4400315"/>
              <a:ext cx="236847" cy="14514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0" tIns="0" rIns="0" bIns="0" rtlCol="0" anchor="ctr" anchorCtr="0"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35" b="1" i="0" u="none" strike="noStrike" kern="1200" cap="none" spc="0" normalizeH="0" baseline="0" noProof="0" dirty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X</a:t>
              </a:r>
              <a:endParaRPr kumimoji="0" lang="ko-KR" altLang="en-US" sz="635" b="1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72" name="TextBox 71"/>
          <p:cNvSpPr txBox="1"/>
          <p:nvPr/>
        </p:nvSpPr>
        <p:spPr>
          <a:xfrm>
            <a:off x="392172" y="2181606"/>
            <a:ext cx="227688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▣ </a:t>
            </a:r>
            <a:r>
              <a:rPr lang="ko-KR" altLang="en-US" sz="10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㈜ </a:t>
            </a:r>
            <a:r>
              <a:rPr lang="en-US" altLang="ko-KR" sz="10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SK</a:t>
            </a:r>
            <a:r>
              <a:rPr lang="ko-KR" altLang="en-US" sz="10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전선</a:t>
            </a:r>
          </a:p>
        </p:txBody>
      </p:sp>
      <p:graphicFrame>
        <p:nvGraphicFramePr>
          <p:cNvPr id="73" name="표 72"/>
          <p:cNvGraphicFramePr>
            <a:graphicFrameLocks noGrp="1"/>
          </p:cNvGraphicFramePr>
          <p:nvPr>
            <p:extLst/>
          </p:nvPr>
        </p:nvGraphicFramePr>
        <p:xfrm>
          <a:off x="392172" y="2540710"/>
          <a:ext cx="6565454" cy="7315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257357">
                  <a:extLst>
                    <a:ext uri="{9D8B030D-6E8A-4147-A177-3AD203B41FA5}">
                      <a16:colId xmlns:a16="http://schemas.microsoft.com/office/drawing/2014/main" val="3203214728"/>
                    </a:ext>
                  </a:extLst>
                </a:gridCol>
                <a:gridCol w="5308097">
                  <a:extLst>
                    <a:ext uri="{9D8B030D-6E8A-4147-A177-3AD203B41FA5}">
                      <a16:colId xmlns:a16="http://schemas.microsoft.com/office/drawing/2014/main" val="2968355012"/>
                    </a:ext>
                  </a:extLst>
                </a:gridCol>
              </a:tblGrid>
              <a:tr h="144355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미정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1977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 </a:t>
                      </a:r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12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 </a:t>
                      </a:r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12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 </a:t>
                      </a:r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(46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 </a:t>
                      </a:r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개월</a:t>
                      </a:r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51048157"/>
                  </a:ext>
                </a:extLst>
              </a:tr>
              <a:tr h="14636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미정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서울시 중구 </a:t>
                      </a:r>
                      <a:r>
                        <a:rPr lang="en-US" altLang="ko-KR" sz="10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*** ** (****)</a:t>
                      </a:r>
                      <a:endParaRPr lang="ko-KR" altLang="en-US" sz="10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471906"/>
                  </a:ext>
                </a:extLst>
              </a:tr>
              <a:tr h="14636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미정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[2976] 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동국대학교</a:t>
                      </a:r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</a:t>
                      </a:r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4169148"/>
                  </a:ext>
                </a:extLst>
              </a:tr>
            </a:tbl>
          </a:graphicData>
        </a:graphic>
      </p:graphicFrame>
      <p:sp>
        <p:nvSpPr>
          <p:cNvPr id="61" name="타원 6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65017" y="195303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025128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MDD-00023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MDD72R47000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영업점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종합현황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조회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(1/2)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&gt;RAS/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감사자료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영업점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종합현황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조회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(P58-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임종국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60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2885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>
                        <a:spcBef>
                          <a:spcPts val="600"/>
                        </a:spcBef>
                        <a:buFont typeface="+mj-lt"/>
                        <a:buNone/>
                      </a:pP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영업점 </a:t>
                      </a:r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사전감사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시 필요한 주요정보들을 통합하여 한 화면에서 조회 가능하도록 변경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>
                        <a:spcBef>
                          <a:spcPts val="600"/>
                        </a:spcBef>
                        <a:buFont typeface="+mj-lt"/>
                        <a:buNone/>
                      </a:pP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kumimoji="0" lang="en-US" altLang="ko-KR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kumimoji="0" lang="ko-KR" altLang="en-US" sz="800" b="0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테마감사는</a:t>
                      </a: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링크 </a:t>
                      </a:r>
                      <a:r>
                        <a:rPr kumimoji="0" lang="ko-KR" altLang="en-US" sz="800" b="0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필요없음</a:t>
                      </a:r>
                      <a:endParaRPr kumimoji="0" lang="en-US" altLang="ko-KR" sz="800" b="0" kern="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indent="0">
                        <a:spcBef>
                          <a:spcPts val="600"/>
                        </a:spcBef>
                        <a:buFont typeface="+mj-lt"/>
                        <a:buNone/>
                      </a:pP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나</a:t>
                      </a:r>
                      <a:r>
                        <a:rPr kumimoji="0" lang="en-US" altLang="ko-KR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 </a:t>
                      </a: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내부통제 </a:t>
                      </a:r>
                      <a:r>
                        <a:rPr kumimoji="0" lang="ko-KR" altLang="en-US" sz="800" b="0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클릭시</a:t>
                      </a: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심의조사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감사보고서관리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감사보고서 관리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내부통제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)-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해당부점코드 내용 조회</a:t>
                      </a:r>
                      <a:endParaRPr lang="en-US" altLang="ko-KR" sz="8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indent="0">
                        <a:spcBef>
                          <a:spcPts val="600"/>
                        </a:spcBef>
                        <a:buFont typeface="+mj-lt"/>
                        <a:buNone/>
                      </a:pPr>
                      <a:r>
                        <a:rPr kumimoji="0" lang="ko-KR" altLang="en-US" sz="800" b="0" kern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다</a:t>
                      </a:r>
                      <a:r>
                        <a:rPr kumimoji="0" lang="en-US" altLang="ko-KR" sz="800" b="0" kern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일반감사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클릭시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심의조사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감사보고서관리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감사보고서 관리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일반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)-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해당부점코드 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내용조회</a:t>
                      </a:r>
                      <a:endParaRPr kumimoji="0" lang="ko-KR" altLang="en-US" sz="800" b="0" kern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1676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>
                        <a:spcBef>
                          <a:spcPts val="600"/>
                        </a:spcBef>
                        <a:buFont typeface="+mj-lt"/>
                        <a:buNone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AI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부점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위험평가 결과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(Y/N)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으로 받아온 결과를 화면에 표시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>
                        <a:spcBef>
                          <a:spcPts val="600"/>
                        </a:spcBef>
                        <a:buFont typeface="+mj-lt"/>
                        <a:buNone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메모필드를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추가하고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마지막 메모가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조회되도록하고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초기화</a:t>
                      </a:r>
                      <a:r>
                        <a:rPr lang="en-US" altLang="ko-KR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버튼을 클릭하고 메모작성 뒤</a:t>
                      </a:r>
                      <a:r>
                        <a:rPr lang="en-US" altLang="ko-KR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baseline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추가버튼을</a:t>
                      </a:r>
                      <a:r>
                        <a:rPr lang="ko-KR" altLang="en-US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클릭하여 메모가 저장되도록 구현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9775858"/>
                  </a:ext>
                </a:extLst>
              </a:tr>
              <a:tr h="2286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>
                        <a:spcBef>
                          <a:spcPts val="600"/>
                        </a:spcBef>
                        <a:buFont typeface="+mj-lt"/>
                        <a:buNone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이전메모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클릭시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기존에 작성된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메모목록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조회 팝업 출력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</a:t>
                      </a:r>
                    </a:p>
                    <a:p>
                      <a:pPr marL="0" indent="0">
                        <a:spcBef>
                          <a:spcPts val="600"/>
                        </a:spcBef>
                        <a:buFont typeface="+mj-lt"/>
                        <a:buNone/>
                      </a:pP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다음페이지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-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메모목록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팝업 설명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887909"/>
                  </a:ext>
                </a:extLst>
              </a:tr>
            </a:tbl>
          </a:graphicData>
        </a:graphic>
      </p:graphicFrame>
      <p:grpSp>
        <p:nvGrpSpPr>
          <p:cNvPr id="36" name="그룹 35"/>
          <p:cNvGrpSpPr/>
          <p:nvPr/>
        </p:nvGrpSpPr>
        <p:grpSpPr>
          <a:xfrm>
            <a:off x="233044" y="996016"/>
            <a:ext cx="6732899" cy="337771"/>
            <a:chOff x="355877" y="2160935"/>
            <a:chExt cx="6061214" cy="417554"/>
          </a:xfrm>
        </p:grpSpPr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감사지원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42" name="양쪽 모서리가 둥근 사각형 41"/>
          <p:cNvSpPr/>
          <p:nvPr/>
        </p:nvSpPr>
        <p:spPr bwMode="auto">
          <a:xfrm>
            <a:off x="239547" y="1470351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영업점 종합현황 조회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3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33044" y="1395755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4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39548" y="1656086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45" name="내용 개체 틀 121"/>
          <p:cNvGraphicFramePr>
            <a:graphicFrameLocks/>
          </p:cNvGraphicFramePr>
          <p:nvPr>
            <p:extLst/>
          </p:nvPr>
        </p:nvGraphicFramePr>
        <p:xfrm>
          <a:off x="2920443" y="1728881"/>
          <a:ext cx="4038997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5996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3379037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+mj-ea"/>
                          <a:ea typeface="+mj-ea"/>
                        </a:rPr>
                        <a:t> 부점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 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4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74032" y="2039886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48" name="그룹 47"/>
          <p:cNvGrpSpPr/>
          <p:nvPr/>
        </p:nvGrpSpPr>
        <p:grpSpPr>
          <a:xfrm>
            <a:off x="3618078" y="1765727"/>
            <a:ext cx="1213268" cy="174549"/>
            <a:chOff x="3158370" y="3194395"/>
            <a:chExt cx="1213268" cy="174549"/>
          </a:xfrm>
        </p:grpSpPr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210033CF-3F00-B2D4-C97E-DA3921EDACF1}"/>
                </a:ext>
              </a:extLst>
            </p:cNvPr>
            <p:cNvSpPr/>
            <p:nvPr/>
          </p:nvSpPr>
          <p:spPr bwMode="auto">
            <a:xfrm>
              <a:off x="3158370" y="3196144"/>
              <a:ext cx="591470" cy="1728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normalizeH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0000</a:t>
              </a:r>
              <a:endParaRPr kumimoji="0" lang="ko-KR" altLang="en-US" sz="7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58" name="그림 57"/>
            <p:cNvPicPr>
              <a:picLocks noChangeAspect="1"/>
            </p:cNvPicPr>
            <p:nvPr/>
          </p:nvPicPr>
          <p:blipFill rotWithShape="1">
            <a:blip r:embed="rId2"/>
            <a:srcRect r="73540"/>
            <a:stretch/>
          </p:blipFill>
          <p:spPr>
            <a:xfrm>
              <a:off x="3554618" y="3208774"/>
              <a:ext cx="164939" cy="147540"/>
            </a:xfrm>
            <a:prstGeom prst="rect">
              <a:avLst/>
            </a:prstGeom>
          </p:spPr>
        </p:pic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210033CF-3F00-B2D4-C97E-DA3921EDACF1}"/>
                </a:ext>
              </a:extLst>
            </p:cNvPr>
            <p:cNvSpPr/>
            <p:nvPr/>
          </p:nvSpPr>
          <p:spPr bwMode="auto">
            <a:xfrm>
              <a:off x="3780168" y="3194395"/>
              <a:ext cx="591470" cy="1728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-100" normalizeH="0" baseline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[</a:t>
              </a:r>
              <a:r>
                <a:rPr kumimoji="0" lang="ko-KR" altLang="en-US" sz="700" b="0" i="0" u="none" strike="noStrike" kern="1200" cap="none" spc="-100" normalizeH="0" baseline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영업점</a:t>
              </a:r>
              <a:r>
                <a:rPr kumimoji="0" lang="en-US" altLang="ko-KR" sz="700" b="0" i="0" u="none" strike="noStrike" kern="1200" cap="none" spc="-100" normalizeH="0" baseline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/</a:t>
              </a:r>
              <a:r>
                <a:rPr kumimoji="0" lang="ko-KR" altLang="en-US" sz="700" b="0" i="0" u="none" strike="noStrike" kern="1200" cap="none" spc="-100" normalizeH="0" baseline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부서명</a:t>
              </a:r>
              <a:r>
                <a:rPr kumimoji="0" lang="en-US" altLang="ko-KR" sz="700" b="0" i="0" u="none" strike="noStrike" kern="1200" cap="none" spc="-100" normalizeH="0" baseline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]</a:t>
              </a:r>
              <a:endParaRPr kumimoji="0" lang="ko-KR" altLang="en-US" sz="7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17072" y="1764977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2023-12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1" name="이등변 삼각형 60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1796440" y="1845799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99440" y="2039886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초기화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63" name="내용 개체 틀 121"/>
          <p:cNvGraphicFramePr>
            <a:graphicFrameLocks/>
          </p:cNvGraphicFramePr>
          <p:nvPr>
            <p:extLst/>
          </p:nvPr>
        </p:nvGraphicFramePr>
        <p:xfrm>
          <a:off x="236295" y="1723192"/>
          <a:ext cx="6726396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5788846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기준년월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graphicFrame>
        <p:nvGraphicFramePr>
          <p:cNvPr id="64" name="내용 개체 틀 121"/>
          <p:cNvGraphicFramePr>
            <a:graphicFrameLocks/>
          </p:cNvGraphicFramePr>
          <p:nvPr>
            <p:extLst/>
          </p:nvPr>
        </p:nvGraphicFramePr>
        <p:xfrm>
          <a:off x="233044" y="2616320"/>
          <a:ext cx="6726397" cy="66764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85213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656918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705777">
                  <a:extLst>
                    <a:ext uri="{9D8B030D-6E8A-4147-A177-3AD203B41FA5}">
                      <a16:colId xmlns:a16="http://schemas.microsoft.com/office/drawing/2014/main" val="604689256"/>
                    </a:ext>
                  </a:extLst>
                </a:gridCol>
                <a:gridCol w="1536357">
                  <a:extLst>
                    <a:ext uri="{9D8B030D-6E8A-4147-A177-3AD203B41FA5}">
                      <a16:colId xmlns:a16="http://schemas.microsoft.com/office/drawing/2014/main" val="614331178"/>
                    </a:ext>
                  </a:extLst>
                </a:gridCol>
                <a:gridCol w="576622">
                  <a:extLst>
                    <a:ext uri="{9D8B030D-6E8A-4147-A177-3AD203B41FA5}">
                      <a16:colId xmlns:a16="http://schemas.microsoft.com/office/drawing/2014/main" val="1858781748"/>
                    </a:ext>
                  </a:extLst>
                </a:gridCol>
                <a:gridCol w="1665510">
                  <a:extLst>
                    <a:ext uri="{9D8B030D-6E8A-4147-A177-3AD203B41FA5}">
                      <a16:colId xmlns:a16="http://schemas.microsoft.com/office/drawing/2014/main" val="392468474"/>
                    </a:ext>
                  </a:extLst>
                </a:gridCol>
              </a:tblGrid>
              <a:tr h="22254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부점구분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개인형복합점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직할점</a:t>
                      </a: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(PG)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중앙</a:t>
                      </a: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 </a:t>
                      </a: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지역본부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영업그룹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중앙지역그룹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2254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현지점장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 </a:t>
                      </a: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(2023-11-05)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지역구분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서울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주소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서울시 중구 퇴계로</a:t>
                      </a: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60313"/>
                  </a:ext>
                </a:extLst>
              </a:tr>
              <a:tr h="22254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기타정보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….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0528278"/>
                  </a:ext>
                </a:extLst>
              </a:tr>
            </a:tbl>
          </a:graphicData>
        </a:graphic>
      </p:graphicFrame>
      <p:sp>
        <p:nvSpPr>
          <p:cNvPr id="65" name="TextBox 64"/>
          <p:cNvSpPr txBox="1"/>
          <p:nvPr/>
        </p:nvSpPr>
        <p:spPr>
          <a:xfrm>
            <a:off x="233044" y="2185584"/>
            <a:ext cx="1651150" cy="230832"/>
          </a:xfrm>
          <a:prstGeom prst="rect">
            <a:avLst/>
          </a:prstGeom>
          <a:noFill/>
          <a:ln>
            <a:solidFill>
              <a:srgbClr val="BFBFBF"/>
            </a:solidFill>
          </a:ln>
        </p:spPr>
        <p:txBody>
          <a:bodyPr wrap="square" rtlCol="0">
            <a:spAutoFit/>
          </a:bodyPr>
          <a:lstStyle/>
          <a:p>
            <a:r>
              <a:rPr lang="ko-KR" altLang="en-US" sz="9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부점명 </a:t>
            </a:r>
            <a:r>
              <a:rPr lang="en-US" altLang="ko-KR" sz="9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</a:t>
            </a:r>
            <a:r>
              <a:rPr lang="ko-KR" altLang="en-US" sz="9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충무로역종합금융센터</a:t>
            </a:r>
            <a:endParaRPr lang="ko-KR" altLang="en-US" sz="90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66" name="표 65"/>
          <p:cNvGraphicFramePr>
            <a:graphicFrameLocks noGrp="1"/>
          </p:cNvGraphicFramePr>
          <p:nvPr>
            <p:extLst/>
          </p:nvPr>
        </p:nvGraphicFramePr>
        <p:xfrm>
          <a:off x="5147860" y="2236743"/>
          <a:ext cx="1631580" cy="198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48834">
                  <a:extLst>
                    <a:ext uri="{9D8B030D-6E8A-4147-A177-3AD203B41FA5}">
                      <a16:colId xmlns:a16="http://schemas.microsoft.com/office/drawing/2014/main" val="427760411"/>
                    </a:ext>
                  </a:extLst>
                </a:gridCol>
                <a:gridCol w="441373">
                  <a:extLst>
                    <a:ext uri="{9D8B030D-6E8A-4147-A177-3AD203B41FA5}">
                      <a16:colId xmlns:a16="http://schemas.microsoft.com/office/drawing/2014/main" val="523868837"/>
                    </a:ext>
                  </a:extLst>
                </a:gridCol>
                <a:gridCol w="441373">
                  <a:extLst>
                    <a:ext uri="{9D8B030D-6E8A-4147-A177-3AD203B41FA5}">
                      <a16:colId xmlns:a16="http://schemas.microsoft.com/office/drawing/2014/main" val="2713609224"/>
                    </a:ext>
                  </a:extLst>
                </a:gridCol>
              </a:tblGrid>
              <a:tr h="127084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위험평가결과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적정</a:t>
                      </a:r>
                      <a:endParaRPr lang="ko-KR" altLang="en-US" sz="700" b="0">
                        <a:solidFill>
                          <a:schemeClr val="bg1">
                            <a:lumMod val="85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5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5204007"/>
                  </a:ext>
                </a:extLst>
              </a:tr>
            </a:tbl>
          </a:graphicData>
        </a:graphic>
      </p:graphicFrame>
      <p:graphicFrame>
        <p:nvGraphicFramePr>
          <p:cNvPr id="67" name="표 66"/>
          <p:cNvGraphicFramePr>
            <a:graphicFrameLocks noGrp="1"/>
          </p:cNvGraphicFramePr>
          <p:nvPr>
            <p:extLst/>
          </p:nvPr>
        </p:nvGraphicFramePr>
        <p:xfrm>
          <a:off x="233044" y="3564860"/>
          <a:ext cx="6726399" cy="81151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4930">
                  <a:extLst>
                    <a:ext uri="{9D8B030D-6E8A-4147-A177-3AD203B41FA5}">
                      <a16:colId xmlns:a16="http://schemas.microsoft.com/office/drawing/2014/main" val="166864514"/>
                    </a:ext>
                  </a:extLst>
                </a:gridCol>
                <a:gridCol w="471982">
                  <a:extLst>
                    <a:ext uri="{9D8B030D-6E8A-4147-A177-3AD203B41FA5}">
                      <a16:colId xmlns:a16="http://schemas.microsoft.com/office/drawing/2014/main" val="2954934028"/>
                    </a:ext>
                  </a:extLst>
                </a:gridCol>
                <a:gridCol w="770918">
                  <a:extLst>
                    <a:ext uri="{9D8B030D-6E8A-4147-A177-3AD203B41FA5}">
                      <a16:colId xmlns:a16="http://schemas.microsoft.com/office/drawing/2014/main" val="2624261825"/>
                    </a:ext>
                  </a:extLst>
                </a:gridCol>
                <a:gridCol w="770918">
                  <a:extLst>
                    <a:ext uri="{9D8B030D-6E8A-4147-A177-3AD203B41FA5}">
                      <a16:colId xmlns:a16="http://schemas.microsoft.com/office/drawing/2014/main" val="2867576865"/>
                    </a:ext>
                  </a:extLst>
                </a:gridCol>
                <a:gridCol w="770918">
                  <a:extLst>
                    <a:ext uri="{9D8B030D-6E8A-4147-A177-3AD203B41FA5}">
                      <a16:colId xmlns:a16="http://schemas.microsoft.com/office/drawing/2014/main" val="4226314851"/>
                    </a:ext>
                  </a:extLst>
                </a:gridCol>
                <a:gridCol w="770918">
                  <a:extLst>
                    <a:ext uri="{9D8B030D-6E8A-4147-A177-3AD203B41FA5}">
                      <a16:colId xmlns:a16="http://schemas.microsoft.com/office/drawing/2014/main" val="2341592323"/>
                    </a:ext>
                  </a:extLst>
                </a:gridCol>
                <a:gridCol w="727991">
                  <a:extLst>
                    <a:ext uri="{9D8B030D-6E8A-4147-A177-3AD203B41FA5}">
                      <a16:colId xmlns:a16="http://schemas.microsoft.com/office/drawing/2014/main" val="356601883"/>
                    </a:ext>
                  </a:extLst>
                </a:gridCol>
                <a:gridCol w="754302">
                  <a:extLst>
                    <a:ext uri="{9D8B030D-6E8A-4147-A177-3AD203B41FA5}">
                      <a16:colId xmlns:a16="http://schemas.microsoft.com/office/drawing/2014/main" val="1148216675"/>
                    </a:ext>
                  </a:extLst>
                </a:gridCol>
                <a:gridCol w="1144881">
                  <a:extLst>
                    <a:ext uri="{9D8B030D-6E8A-4147-A177-3AD203B41FA5}">
                      <a16:colId xmlns:a16="http://schemas.microsoft.com/office/drawing/2014/main" val="3366671223"/>
                    </a:ext>
                  </a:extLst>
                </a:gridCol>
                <a:gridCol w="328641">
                  <a:extLst>
                    <a:ext uri="{9D8B030D-6E8A-4147-A177-3AD203B41FA5}">
                      <a16:colId xmlns:a16="http://schemas.microsoft.com/office/drawing/2014/main" val="2833368121"/>
                    </a:ext>
                  </a:extLst>
                </a:gridCol>
              </a:tblGrid>
              <a:tr h="25750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감사종류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실시시작일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실시종료일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대상시작일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대상종료일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감사구분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지점장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배정감사역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6054557"/>
                  </a:ext>
                </a:extLst>
              </a:tr>
              <a:tr h="19268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테마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2023-02-05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2023-02-08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2023-01-01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2023-12-31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테마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이철수</a:t>
                      </a:r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김영희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0772083"/>
                  </a:ext>
                </a:extLst>
              </a:tr>
              <a:tr h="18066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내부통제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2023-07-05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2023-07-10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2023-01-01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2023-12-31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내부통제부문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최팀장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김감사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3680293"/>
                  </a:ext>
                </a:extLst>
              </a:tr>
              <a:tr h="18066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dirty="0" err="1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일반감사</a:t>
                      </a:r>
                      <a:endParaRPr lang="ko-KR" altLang="en-US" sz="700" u="sng" dirty="0" smtClean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2023-07-05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2023-07-10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2023-01-01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2023-12-31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내부통제부문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최팀장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김감사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17241827"/>
                  </a:ext>
                </a:extLst>
              </a:tr>
            </a:tbl>
          </a:graphicData>
        </a:graphic>
      </p:graphicFrame>
      <p:sp>
        <p:nvSpPr>
          <p:cNvPr id="68" name="TextBox 67"/>
          <p:cNvSpPr txBox="1"/>
          <p:nvPr/>
        </p:nvSpPr>
        <p:spPr>
          <a:xfrm>
            <a:off x="173795" y="2457470"/>
            <a:ext cx="1352990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[</a:t>
            </a:r>
            <a:r>
              <a:rPr lang="ko-KR" altLang="en-US" sz="7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부점현황</a:t>
            </a:r>
            <a:r>
              <a:rPr lang="en-US" altLang="ko-KR" sz="7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]</a:t>
            </a:r>
            <a:endParaRPr lang="ko-KR" altLang="en-US" sz="70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173795" y="3369210"/>
            <a:ext cx="1352990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[</a:t>
            </a:r>
            <a:r>
              <a:rPr lang="ko-KR" altLang="en-US" sz="7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내부통제현황</a:t>
            </a:r>
            <a:r>
              <a:rPr lang="en-US" altLang="ko-KR" sz="7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]</a:t>
            </a:r>
            <a:endParaRPr lang="ko-KR" altLang="en-US" sz="70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173795" y="4437523"/>
            <a:ext cx="1352990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[</a:t>
            </a:r>
            <a:r>
              <a:rPr lang="ko-KR" altLang="en-US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위험지수정보</a:t>
            </a:r>
            <a:r>
              <a:rPr lang="en-US" altLang="ko-KR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]</a:t>
            </a:r>
            <a:endParaRPr lang="ko-KR" altLang="en-US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71" name="표 70"/>
          <p:cNvGraphicFramePr>
            <a:graphicFrameLocks noGrp="1"/>
          </p:cNvGraphicFramePr>
          <p:nvPr>
            <p:extLst/>
          </p:nvPr>
        </p:nvGraphicFramePr>
        <p:xfrm>
          <a:off x="226542" y="4606500"/>
          <a:ext cx="6732898" cy="39982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09545">
                  <a:extLst>
                    <a:ext uri="{9D8B030D-6E8A-4147-A177-3AD203B41FA5}">
                      <a16:colId xmlns:a16="http://schemas.microsoft.com/office/drawing/2014/main" val="2954934028"/>
                    </a:ext>
                  </a:extLst>
                </a:gridCol>
                <a:gridCol w="723900">
                  <a:extLst>
                    <a:ext uri="{9D8B030D-6E8A-4147-A177-3AD203B41FA5}">
                      <a16:colId xmlns:a16="http://schemas.microsoft.com/office/drawing/2014/main" val="2624261825"/>
                    </a:ext>
                  </a:extLst>
                </a:gridCol>
                <a:gridCol w="673100">
                  <a:extLst>
                    <a:ext uri="{9D8B030D-6E8A-4147-A177-3AD203B41FA5}">
                      <a16:colId xmlns:a16="http://schemas.microsoft.com/office/drawing/2014/main" val="2867576865"/>
                    </a:ext>
                  </a:extLst>
                </a:gridCol>
                <a:gridCol w="1073150">
                  <a:extLst>
                    <a:ext uri="{9D8B030D-6E8A-4147-A177-3AD203B41FA5}">
                      <a16:colId xmlns:a16="http://schemas.microsoft.com/office/drawing/2014/main" val="422631485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341592323"/>
                    </a:ext>
                  </a:extLst>
                </a:gridCol>
                <a:gridCol w="619509">
                  <a:extLst>
                    <a:ext uri="{9D8B030D-6E8A-4147-A177-3AD203B41FA5}">
                      <a16:colId xmlns:a16="http://schemas.microsoft.com/office/drawing/2014/main" val="356601883"/>
                    </a:ext>
                  </a:extLst>
                </a:gridCol>
                <a:gridCol w="807610">
                  <a:extLst>
                    <a:ext uri="{9D8B030D-6E8A-4147-A177-3AD203B41FA5}">
                      <a16:colId xmlns:a16="http://schemas.microsoft.com/office/drawing/2014/main" val="1148216675"/>
                    </a:ext>
                  </a:extLst>
                </a:gridCol>
                <a:gridCol w="919231">
                  <a:extLst>
                    <a:ext uri="{9D8B030D-6E8A-4147-A177-3AD203B41FA5}">
                      <a16:colId xmlns:a16="http://schemas.microsoft.com/office/drawing/2014/main" val="3366671223"/>
                    </a:ext>
                  </a:extLst>
                </a:gridCol>
                <a:gridCol w="263903">
                  <a:extLst>
                    <a:ext uri="{9D8B030D-6E8A-4147-A177-3AD203B41FA5}">
                      <a16:colId xmlns:a16="http://schemas.microsoft.com/office/drawing/2014/main" val="2833368121"/>
                    </a:ext>
                  </a:extLst>
                </a:gridCol>
              </a:tblGrid>
              <a:tr h="166373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부점운영모델명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모델순위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영업점 지수건수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영업점 총지수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 순위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부점구분내 순위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지역본부그룹내 순위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여신지수 순위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6054557"/>
                  </a:ext>
                </a:extLst>
              </a:tr>
              <a:tr h="233454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Full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705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623.2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15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123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0772083"/>
                  </a:ext>
                </a:extLst>
              </a:tr>
            </a:tbl>
          </a:graphicData>
        </a:graphic>
      </p:graphicFrame>
      <p:sp>
        <p:nvSpPr>
          <p:cNvPr id="72" name="직사각형 71"/>
          <p:cNvSpPr/>
          <p:nvPr/>
        </p:nvSpPr>
        <p:spPr bwMode="auto">
          <a:xfrm>
            <a:off x="4281083" y="2244485"/>
            <a:ext cx="2576914" cy="208132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3" name="타원 7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 flipH="1">
            <a:off x="239544" y="1492635"/>
            <a:ext cx="142837" cy="16259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299529" y="227117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9" name="직사각형 38"/>
          <p:cNvSpPr/>
          <p:nvPr/>
        </p:nvSpPr>
        <p:spPr bwMode="auto">
          <a:xfrm>
            <a:off x="226541" y="3567769"/>
            <a:ext cx="6739401" cy="808606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193833" y="5053294"/>
            <a:ext cx="870196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[</a:t>
            </a:r>
            <a:r>
              <a:rPr lang="ko-KR" altLang="en-US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메    모</a:t>
            </a:r>
            <a:r>
              <a:rPr lang="en-US" altLang="ko-KR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]</a:t>
            </a:r>
            <a:endParaRPr lang="ko-KR" altLang="en-US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" name="직사각형 3"/>
          <p:cNvSpPr/>
          <p:nvPr/>
        </p:nvSpPr>
        <p:spPr bwMode="auto">
          <a:xfrm>
            <a:off x="233044" y="5253349"/>
            <a:ext cx="6726396" cy="468000"/>
          </a:xfrm>
          <a:prstGeom prst="rect">
            <a:avLst/>
          </a:prstGeom>
          <a:noFill/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99440" y="5018612"/>
            <a:ext cx="353002" cy="209797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err="1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이전메모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783650" y="5033510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초기화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94891" y="5029691"/>
            <a:ext cx="353002" cy="209797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추가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4" name="타원 7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73795" y="348509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2" name="직사각형 51"/>
          <p:cNvSpPr/>
          <p:nvPr/>
        </p:nvSpPr>
        <p:spPr bwMode="auto">
          <a:xfrm>
            <a:off x="220039" y="5228409"/>
            <a:ext cx="6739401" cy="548465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51236" y="504927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934880" y="490151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6" name="직사각형 55"/>
          <p:cNvSpPr/>
          <p:nvPr/>
        </p:nvSpPr>
        <p:spPr bwMode="auto">
          <a:xfrm flipV="1">
            <a:off x="6608842" y="5045383"/>
            <a:ext cx="360000" cy="167335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379474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1" name="표 70"/>
          <p:cNvGraphicFramePr>
            <a:graphicFrameLocks noGrp="1"/>
          </p:cNvGraphicFramePr>
          <p:nvPr>
            <p:extLst/>
          </p:nvPr>
        </p:nvGraphicFramePr>
        <p:xfrm>
          <a:off x="226542" y="4606500"/>
          <a:ext cx="6732898" cy="39982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09545">
                  <a:extLst>
                    <a:ext uri="{9D8B030D-6E8A-4147-A177-3AD203B41FA5}">
                      <a16:colId xmlns:a16="http://schemas.microsoft.com/office/drawing/2014/main" val="2954934028"/>
                    </a:ext>
                  </a:extLst>
                </a:gridCol>
                <a:gridCol w="723900">
                  <a:extLst>
                    <a:ext uri="{9D8B030D-6E8A-4147-A177-3AD203B41FA5}">
                      <a16:colId xmlns:a16="http://schemas.microsoft.com/office/drawing/2014/main" val="2624261825"/>
                    </a:ext>
                  </a:extLst>
                </a:gridCol>
                <a:gridCol w="673100">
                  <a:extLst>
                    <a:ext uri="{9D8B030D-6E8A-4147-A177-3AD203B41FA5}">
                      <a16:colId xmlns:a16="http://schemas.microsoft.com/office/drawing/2014/main" val="2867576865"/>
                    </a:ext>
                  </a:extLst>
                </a:gridCol>
                <a:gridCol w="1073150">
                  <a:extLst>
                    <a:ext uri="{9D8B030D-6E8A-4147-A177-3AD203B41FA5}">
                      <a16:colId xmlns:a16="http://schemas.microsoft.com/office/drawing/2014/main" val="4226314851"/>
                    </a:ext>
                  </a:extLst>
                </a:gridCol>
                <a:gridCol w="742950">
                  <a:extLst>
                    <a:ext uri="{9D8B030D-6E8A-4147-A177-3AD203B41FA5}">
                      <a16:colId xmlns:a16="http://schemas.microsoft.com/office/drawing/2014/main" val="2341592323"/>
                    </a:ext>
                  </a:extLst>
                </a:gridCol>
                <a:gridCol w="619509">
                  <a:extLst>
                    <a:ext uri="{9D8B030D-6E8A-4147-A177-3AD203B41FA5}">
                      <a16:colId xmlns:a16="http://schemas.microsoft.com/office/drawing/2014/main" val="356601883"/>
                    </a:ext>
                  </a:extLst>
                </a:gridCol>
                <a:gridCol w="807610">
                  <a:extLst>
                    <a:ext uri="{9D8B030D-6E8A-4147-A177-3AD203B41FA5}">
                      <a16:colId xmlns:a16="http://schemas.microsoft.com/office/drawing/2014/main" val="1148216675"/>
                    </a:ext>
                  </a:extLst>
                </a:gridCol>
                <a:gridCol w="919231">
                  <a:extLst>
                    <a:ext uri="{9D8B030D-6E8A-4147-A177-3AD203B41FA5}">
                      <a16:colId xmlns:a16="http://schemas.microsoft.com/office/drawing/2014/main" val="3366671223"/>
                    </a:ext>
                  </a:extLst>
                </a:gridCol>
                <a:gridCol w="263903">
                  <a:extLst>
                    <a:ext uri="{9D8B030D-6E8A-4147-A177-3AD203B41FA5}">
                      <a16:colId xmlns:a16="http://schemas.microsoft.com/office/drawing/2014/main" val="2833368121"/>
                    </a:ext>
                  </a:extLst>
                </a:gridCol>
              </a:tblGrid>
              <a:tr h="166373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부점운영모델명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모델순위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영업점 지수건수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영업점 총지수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 순위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부점구분내 순위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지역본부그룹내 순위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여신지수 순위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6054557"/>
                  </a:ext>
                </a:extLst>
              </a:tr>
              <a:tr h="233454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Full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705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623.2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15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123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0772083"/>
                  </a:ext>
                </a:extLst>
              </a:tr>
            </a:tbl>
          </a:graphicData>
        </a:graphic>
      </p:graphicFrame>
      <p:graphicFrame>
        <p:nvGraphicFramePr>
          <p:cNvPr id="67" name="표 66"/>
          <p:cNvGraphicFramePr>
            <a:graphicFrameLocks noGrp="1"/>
          </p:cNvGraphicFramePr>
          <p:nvPr>
            <p:extLst/>
          </p:nvPr>
        </p:nvGraphicFramePr>
        <p:xfrm>
          <a:off x="233044" y="3564860"/>
          <a:ext cx="6726399" cy="81151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4930">
                  <a:extLst>
                    <a:ext uri="{9D8B030D-6E8A-4147-A177-3AD203B41FA5}">
                      <a16:colId xmlns:a16="http://schemas.microsoft.com/office/drawing/2014/main" val="166864514"/>
                    </a:ext>
                  </a:extLst>
                </a:gridCol>
                <a:gridCol w="471982">
                  <a:extLst>
                    <a:ext uri="{9D8B030D-6E8A-4147-A177-3AD203B41FA5}">
                      <a16:colId xmlns:a16="http://schemas.microsoft.com/office/drawing/2014/main" val="2954934028"/>
                    </a:ext>
                  </a:extLst>
                </a:gridCol>
                <a:gridCol w="770918">
                  <a:extLst>
                    <a:ext uri="{9D8B030D-6E8A-4147-A177-3AD203B41FA5}">
                      <a16:colId xmlns:a16="http://schemas.microsoft.com/office/drawing/2014/main" val="2624261825"/>
                    </a:ext>
                  </a:extLst>
                </a:gridCol>
                <a:gridCol w="770918">
                  <a:extLst>
                    <a:ext uri="{9D8B030D-6E8A-4147-A177-3AD203B41FA5}">
                      <a16:colId xmlns:a16="http://schemas.microsoft.com/office/drawing/2014/main" val="2867576865"/>
                    </a:ext>
                  </a:extLst>
                </a:gridCol>
                <a:gridCol w="770918">
                  <a:extLst>
                    <a:ext uri="{9D8B030D-6E8A-4147-A177-3AD203B41FA5}">
                      <a16:colId xmlns:a16="http://schemas.microsoft.com/office/drawing/2014/main" val="4226314851"/>
                    </a:ext>
                  </a:extLst>
                </a:gridCol>
                <a:gridCol w="770918">
                  <a:extLst>
                    <a:ext uri="{9D8B030D-6E8A-4147-A177-3AD203B41FA5}">
                      <a16:colId xmlns:a16="http://schemas.microsoft.com/office/drawing/2014/main" val="2341592323"/>
                    </a:ext>
                  </a:extLst>
                </a:gridCol>
                <a:gridCol w="727991">
                  <a:extLst>
                    <a:ext uri="{9D8B030D-6E8A-4147-A177-3AD203B41FA5}">
                      <a16:colId xmlns:a16="http://schemas.microsoft.com/office/drawing/2014/main" val="356601883"/>
                    </a:ext>
                  </a:extLst>
                </a:gridCol>
                <a:gridCol w="754302">
                  <a:extLst>
                    <a:ext uri="{9D8B030D-6E8A-4147-A177-3AD203B41FA5}">
                      <a16:colId xmlns:a16="http://schemas.microsoft.com/office/drawing/2014/main" val="1148216675"/>
                    </a:ext>
                  </a:extLst>
                </a:gridCol>
                <a:gridCol w="1144881">
                  <a:extLst>
                    <a:ext uri="{9D8B030D-6E8A-4147-A177-3AD203B41FA5}">
                      <a16:colId xmlns:a16="http://schemas.microsoft.com/office/drawing/2014/main" val="3366671223"/>
                    </a:ext>
                  </a:extLst>
                </a:gridCol>
                <a:gridCol w="328641">
                  <a:extLst>
                    <a:ext uri="{9D8B030D-6E8A-4147-A177-3AD203B41FA5}">
                      <a16:colId xmlns:a16="http://schemas.microsoft.com/office/drawing/2014/main" val="2833368121"/>
                    </a:ext>
                  </a:extLst>
                </a:gridCol>
              </a:tblGrid>
              <a:tr h="25750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감사종류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실시시작일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실시종료일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대상시작일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대상종료일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감사구분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지점장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배정감사역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6054557"/>
                  </a:ext>
                </a:extLst>
              </a:tr>
              <a:tr h="19268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테마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2023-02-05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2023-02-08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2023-01-01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2023-12-31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테마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이철수</a:t>
                      </a:r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김영희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0772083"/>
                  </a:ext>
                </a:extLst>
              </a:tr>
              <a:tr h="18066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내부통제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2023-07-05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2023-07-10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2023-01-01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2023-12-31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내부통제부문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최팀장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김감사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3680293"/>
                  </a:ext>
                </a:extLst>
              </a:tr>
              <a:tr h="18066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dirty="0" err="1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일반감사</a:t>
                      </a:r>
                      <a:endParaRPr lang="ko-KR" altLang="en-US" sz="700" u="sng" dirty="0" smtClean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2023-07-05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2023-07-10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2023-01-01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2023-12-31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내부통제부문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최팀장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김감사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17241827"/>
                  </a:ext>
                </a:extLst>
              </a:tr>
            </a:tbl>
          </a:graphicData>
        </a:graphic>
      </p:graphicFrame>
      <p:sp>
        <p:nvSpPr>
          <p:cNvPr id="69" name="TextBox 68"/>
          <p:cNvSpPr txBox="1"/>
          <p:nvPr/>
        </p:nvSpPr>
        <p:spPr>
          <a:xfrm>
            <a:off x="173795" y="3369210"/>
            <a:ext cx="1352990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[</a:t>
            </a:r>
            <a:r>
              <a:rPr lang="ko-KR" altLang="en-US" sz="7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내부통제현황</a:t>
            </a:r>
            <a:r>
              <a:rPr lang="en-US" altLang="ko-KR" sz="7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]</a:t>
            </a:r>
            <a:endParaRPr lang="ko-KR" altLang="en-US" sz="70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173795" y="4437523"/>
            <a:ext cx="1352990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[</a:t>
            </a:r>
            <a:r>
              <a:rPr lang="ko-KR" altLang="en-US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위험지수정보</a:t>
            </a:r>
            <a:r>
              <a:rPr lang="en-US" altLang="ko-KR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]</a:t>
            </a:r>
            <a:endParaRPr lang="ko-KR" altLang="en-US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193833" y="5053294"/>
            <a:ext cx="870196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[</a:t>
            </a:r>
            <a:r>
              <a:rPr lang="ko-KR" altLang="en-US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메    모</a:t>
            </a:r>
            <a:r>
              <a:rPr lang="en-US" altLang="ko-KR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]</a:t>
            </a:r>
            <a:endParaRPr lang="ko-KR" altLang="en-US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" name="직사각형 3"/>
          <p:cNvSpPr/>
          <p:nvPr/>
        </p:nvSpPr>
        <p:spPr bwMode="auto">
          <a:xfrm>
            <a:off x="233044" y="5253349"/>
            <a:ext cx="6726396" cy="468000"/>
          </a:xfrm>
          <a:prstGeom prst="rect">
            <a:avLst/>
          </a:prstGeom>
          <a:noFill/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87536" y="355985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9" name="직사각형 88"/>
          <p:cNvSpPr/>
          <p:nvPr/>
        </p:nvSpPr>
        <p:spPr bwMode="auto">
          <a:xfrm>
            <a:off x="483463" y="3483865"/>
            <a:ext cx="5277256" cy="2873417"/>
          </a:xfrm>
          <a:prstGeom prst="rect">
            <a:avLst/>
          </a:prstGeom>
          <a:solidFill>
            <a:schemeClr val="bg1"/>
          </a:solidFill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MDD-00023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MDD72R47000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영업점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종합현황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조회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(2/2)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&gt;RAS/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감사자료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영업점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종합현황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조회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(P58-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임종국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60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706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>
                        <a:spcBef>
                          <a:spcPts val="600"/>
                        </a:spcBef>
                        <a:buFont typeface="+mj-lt"/>
                        <a:buNone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이전메모버튼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클릭시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메모목록조회 팝업 화면을 출력하고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조회된 그리드클릭시 상세내역을 조회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</a:tbl>
          </a:graphicData>
        </a:graphic>
      </p:graphicFrame>
      <p:grpSp>
        <p:nvGrpSpPr>
          <p:cNvPr id="36" name="그룹 35"/>
          <p:cNvGrpSpPr/>
          <p:nvPr/>
        </p:nvGrpSpPr>
        <p:grpSpPr>
          <a:xfrm>
            <a:off x="233044" y="996016"/>
            <a:ext cx="6732899" cy="337771"/>
            <a:chOff x="355877" y="2160935"/>
            <a:chExt cx="6061214" cy="417554"/>
          </a:xfrm>
        </p:grpSpPr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감사지원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42" name="양쪽 모서리가 둥근 사각형 41"/>
          <p:cNvSpPr/>
          <p:nvPr/>
        </p:nvSpPr>
        <p:spPr bwMode="auto">
          <a:xfrm>
            <a:off x="239547" y="1470351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영업점 종합현황 조회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3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33044" y="1395755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4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39548" y="1656086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45" name="내용 개체 틀 121"/>
          <p:cNvGraphicFramePr>
            <a:graphicFrameLocks/>
          </p:cNvGraphicFramePr>
          <p:nvPr>
            <p:extLst/>
          </p:nvPr>
        </p:nvGraphicFramePr>
        <p:xfrm>
          <a:off x="2920443" y="1728881"/>
          <a:ext cx="4038997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5996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3379037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+mj-ea"/>
                          <a:ea typeface="+mj-ea"/>
                        </a:rPr>
                        <a:t> 부점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 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4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74032" y="2039886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48" name="그룹 47"/>
          <p:cNvGrpSpPr/>
          <p:nvPr/>
        </p:nvGrpSpPr>
        <p:grpSpPr>
          <a:xfrm>
            <a:off x="3618078" y="1765727"/>
            <a:ext cx="1213268" cy="174549"/>
            <a:chOff x="3158370" y="3194395"/>
            <a:chExt cx="1213268" cy="174549"/>
          </a:xfrm>
        </p:grpSpPr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210033CF-3F00-B2D4-C97E-DA3921EDACF1}"/>
                </a:ext>
              </a:extLst>
            </p:cNvPr>
            <p:cNvSpPr/>
            <p:nvPr/>
          </p:nvSpPr>
          <p:spPr bwMode="auto">
            <a:xfrm>
              <a:off x="3158370" y="3196144"/>
              <a:ext cx="591470" cy="1728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normalizeH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0000</a:t>
              </a:r>
              <a:endParaRPr kumimoji="0" lang="ko-KR" altLang="en-US" sz="7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58" name="그림 57"/>
            <p:cNvPicPr>
              <a:picLocks noChangeAspect="1"/>
            </p:cNvPicPr>
            <p:nvPr/>
          </p:nvPicPr>
          <p:blipFill rotWithShape="1">
            <a:blip r:embed="rId2"/>
            <a:srcRect r="73540"/>
            <a:stretch/>
          </p:blipFill>
          <p:spPr>
            <a:xfrm>
              <a:off x="3554618" y="3208774"/>
              <a:ext cx="164939" cy="147540"/>
            </a:xfrm>
            <a:prstGeom prst="rect">
              <a:avLst/>
            </a:prstGeom>
          </p:spPr>
        </p:pic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210033CF-3F00-B2D4-C97E-DA3921EDACF1}"/>
                </a:ext>
              </a:extLst>
            </p:cNvPr>
            <p:cNvSpPr/>
            <p:nvPr/>
          </p:nvSpPr>
          <p:spPr bwMode="auto">
            <a:xfrm>
              <a:off x="3780168" y="3194395"/>
              <a:ext cx="591470" cy="1728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-100" normalizeH="0" baseline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[</a:t>
              </a:r>
              <a:r>
                <a:rPr kumimoji="0" lang="ko-KR" altLang="en-US" sz="700" b="0" i="0" u="none" strike="noStrike" kern="1200" cap="none" spc="-100" normalizeH="0" baseline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영업점</a:t>
              </a:r>
              <a:r>
                <a:rPr kumimoji="0" lang="en-US" altLang="ko-KR" sz="700" b="0" i="0" u="none" strike="noStrike" kern="1200" cap="none" spc="-100" normalizeH="0" baseline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/</a:t>
              </a:r>
              <a:r>
                <a:rPr kumimoji="0" lang="ko-KR" altLang="en-US" sz="700" b="0" i="0" u="none" strike="noStrike" kern="1200" cap="none" spc="-100" normalizeH="0" baseline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부서명</a:t>
              </a:r>
              <a:r>
                <a:rPr kumimoji="0" lang="en-US" altLang="ko-KR" sz="700" b="0" i="0" u="none" strike="noStrike" kern="1200" cap="none" spc="-100" normalizeH="0" baseline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]</a:t>
              </a:r>
              <a:endParaRPr kumimoji="0" lang="ko-KR" altLang="en-US" sz="700" b="0" i="0" u="none" strike="noStrike" kern="1200" cap="none" spc="-10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17072" y="1764977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2023-12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1" name="이등변 삼각형 60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1796440" y="1845799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99440" y="2039886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초기화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63" name="내용 개체 틀 121"/>
          <p:cNvGraphicFramePr>
            <a:graphicFrameLocks/>
          </p:cNvGraphicFramePr>
          <p:nvPr>
            <p:extLst/>
          </p:nvPr>
        </p:nvGraphicFramePr>
        <p:xfrm>
          <a:off x="236295" y="1723192"/>
          <a:ext cx="6726396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5788846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기준년월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graphicFrame>
        <p:nvGraphicFramePr>
          <p:cNvPr id="64" name="내용 개체 틀 121"/>
          <p:cNvGraphicFramePr>
            <a:graphicFrameLocks/>
          </p:cNvGraphicFramePr>
          <p:nvPr>
            <p:extLst/>
          </p:nvPr>
        </p:nvGraphicFramePr>
        <p:xfrm>
          <a:off x="233044" y="2616320"/>
          <a:ext cx="6726397" cy="66764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85213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656918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705777">
                  <a:extLst>
                    <a:ext uri="{9D8B030D-6E8A-4147-A177-3AD203B41FA5}">
                      <a16:colId xmlns:a16="http://schemas.microsoft.com/office/drawing/2014/main" val="604689256"/>
                    </a:ext>
                  </a:extLst>
                </a:gridCol>
                <a:gridCol w="1536357">
                  <a:extLst>
                    <a:ext uri="{9D8B030D-6E8A-4147-A177-3AD203B41FA5}">
                      <a16:colId xmlns:a16="http://schemas.microsoft.com/office/drawing/2014/main" val="614331178"/>
                    </a:ext>
                  </a:extLst>
                </a:gridCol>
                <a:gridCol w="576622">
                  <a:extLst>
                    <a:ext uri="{9D8B030D-6E8A-4147-A177-3AD203B41FA5}">
                      <a16:colId xmlns:a16="http://schemas.microsoft.com/office/drawing/2014/main" val="1858781748"/>
                    </a:ext>
                  </a:extLst>
                </a:gridCol>
                <a:gridCol w="1665510">
                  <a:extLst>
                    <a:ext uri="{9D8B030D-6E8A-4147-A177-3AD203B41FA5}">
                      <a16:colId xmlns:a16="http://schemas.microsoft.com/office/drawing/2014/main" val="392468474"/>
                    </a:ext>
                  </a:extLst>
                </a:gridCol>
              </a:tblGrid>
              <a:tr h="22254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부점구분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개인형복합점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직할점</a:t>
                      </a: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(PG)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중앙</a:t>
                      </a: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 </a:t>
                      </a: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지역본부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영업그룹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중앙지역그룹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2254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현지점장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 </a:t>
                      </a: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(2023-11-05)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지역구분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서울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주소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서울시 중구 퇴계로</a:t>
                      </a: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60313"/>
                  </a:ext>
                </a:extLst>
              </a:tr>
              <a:tr h="22254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기타정보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….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0528278"/>
                  </a:ext>
                </a:extLst>
              </a:tr>
            </a:tbl>
          </a:graphicData>
        </a:graphic>
      </p:graphicFrame>
      <p:sp>
        <p:nvSpPr>
          <p:cNvPr id="65" name="TextBox 64"/>
          <p:cNvSpPr txBox="1"/>
          <p:nvPr/>
        </p:nvSpPr>
        <p:spPr>
          <a:xfrm>
            <a:off x="233044" y="2185584"/>
            <a:ext cx="1651150" cy="230832"/>
          </a:xfrm>
          <a:prstGeom prst="rect">
            <a:avLst/>
          </a:prstGeom>
          <a:noFill/>
          <a:ln>
            <a:solidFill>
              <a:srgbClr val="BFBFBF"/>
            </a:solidFill>
          </a:ln>
        </p:spPr>
        <p:txBody>
          <a:bodyPr wrap="square" rtlCol="0">
            <a:spAutoFit/>
          </a:bodyPr>
          <a:lstStyle/>
          <a:p>
            <a:r>
              <a:rPr lang="ko-KR" altLang="en-US" sz="9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부점명 </a:t>
            </a:r>
            <a:r>
              <a:rPr lang="en-US" altLang="ko-KR" sz="9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</a:t>
            </a:r>
            <a:r>
              <a:rPr lang="ko-KR" altLang="en-US" sz="9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충무로역종합금융센터</a:t>
            </a:r>
            <a:endParaRPr lang="ko-KR" altLang="en-US" sz="90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66" name="표 65"/>
          <p:cNvGraphicFramePr>
            <a:graphicFrameLocks noGrp="1"/>
          </p:cNvGraphicFramePr>
          <p:nvPr>
            <p:extLst/>
          </p:nvPr>
        </p:nvGraphicFramePr>
        <p:xfrm>
          <a:off x="5147860" y="2236743"/>
          <a:ext cx="1631580" cy="198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48834">
                  <a:extLst>
                    <a:ext uri="{9D8B030D-6E8A-4147-A177-3AD203B41FA5}">
                      <a16:colId xmlns:a16="http://schemas.microsoft.com/office/drawing/2014/main" val="427760411"/>
                    </a:ext>
                  </a:extLst>
                </a:gridCol>
                <a:gridCol w="441373">
                  <a:extLst>
                    <a:ext uri="{9D8B030D-6E8A-4147-A177-3AD203B41FA5}">
                      <a16:colId xmlns:a16="http://schemas.microsoft.com/office/drawing/2014/main" val="523868837"/>
                    </a:ext>
                  </a:extLst>
                </a:gridCol>
                <a:gridCol w="441373">
                  <a:extLst>
                    <a:ext uri="{9D8B030D-6E8A-4147-A177-3AD203B41FA5}">
                      <a16:colId xmlns:a16="http://schemas.microsoft.com/office/drawing/2014/main" val="2713609224"/>
                    </a:ext>
                  </a:extLst>
                </a:gridCol>
              </a:tblGrid>
              <a:tr h="127084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위험평가결과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적정</a:t>
                      </a:r>
                      <a:endParaRPr lang="ko-KR" altLang="en-US" sz="700" b="0">
                        <a:solidFill>
                          <a:schemeClr val="bg1">
                            <a:lumMod val="85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5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5204007"/>
                  </a:ext>
                </a:extLst>
              </a:tr>
            </a:tbl>
          </a:graphicData>
        </a:graphic>
      </p:graphicFrame>
      <p:sp>
        <p:nvSpPr>
          <p:cNvPr id="68" name="TextBox 67"/>
          <p:cNvSpPr txBox="1"/>
          <p:nvPr/>
        </p:nvSpPr>
        <p:spPr>
          <a:xfrm>
            <a:off x="173795" y="2457470"/>
            <a:ext cx="1352990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[</a:t>
            </a:r>
            <a:r>
              <a:rPr lang="ko-KR" altLang="en-US" sz="7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부점현황</a:t>
            </a:r>
            <a:r>
              <a:rPr lang="en-US" altLang="ko-KR" sz="7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]</a:t>
            </a:r>
            <a:endParaRPr lang="ko-KR" altLang="en-US" sz="70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219526" y="5018612"/>
            <a:ext cx="353002" cy="209797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err="1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이전메모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403736" y="5033510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초기화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814977" y="5029691"/>
            <a:ext cx="353002" cy="209797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추가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6" name="직사각형 55"/>
          <p:cNvSpPr/>
          <p:nvPr/>
        </p:nvSpPr>
        <p:spPr bwMode="auto">
          <a:xfrm flipV="1">
            <a:off x="5228928" y="5045383"/>
            <a:ext cx="360000" cy="167335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86" name="표 85"/>
          <p:cNvGraphicFramePr>
            <a:graphicFrameLocks noGrp="1"/>
          </p:cNvGraphicFramePr>
          <p:nvPr>
            <p:extLst/>
          </p:nvPr>
        </p:nvGraphicFramePr>
        <p:xfrm>
          <a:off x="557242" y="3858160"/>
          <a:ext cx="5120352" cy="81151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3411">
                  <a:extLst>
                    <a:ext uri="{9D8B030D-6E8A-4147-A177-3AD203B41FA5}">
                      <a16:colId xmlns:a16="http://schemas.microsoft.com/office/drawing/2014/main" val="1465474783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891283103"/>
                    </a:ext>
                  </a:extLst>
                </a:gridCol>
                <a:gridCol w="724763">
                  <a:extLst>
                    <a:ext uri="{9D8B030D-6E8A-4147-A177-3AD203B41FA5}">
                      <a16:colId xmlns:a16="http://schemas.microsoft.com/office/drawing/2014/main" val="550489374"/>
                    </a:ext>
                  </a:extLst>
                </a:gridCol>
                <a:gridCol w="1046886">
                  <a:extLst>
                    <a:ext uri="{9D8B030D-6E8A-4147-A177-3AD203B41FA5}">
                      <a16:colId xmlns:a16="http://schemas.microsoft.com/office/drawing/2014/main" val="472591316"/>
                    </a:ext>
                  </a:extLst>
                </a:gridCol>
                <a:gridCol w="1046886">
                  <a:extLst>
                    <a:ext uri="{9D8B030D-6E8A-4147-A177-3AD203B41FA5}">
                      <a16:colId xmlns:a16="http://schemas.microsoft.com/office/drawing/2014/main" val="870961491"/>
                    </a:ext>
                  </a:extLst>
                </a:gridCol>
                <a:gridCol w="1046886">
                  <a:extLst>
                    <a:ext uri="{9D8B030D-6E8A-4147-A177-3AD203B41FA5}">
                      <a16:colId xmlns:a16="http://schemas.microsoft.com/office/drawing/2014/main" val="3002331089"/>
                    </a:ext>
                  </a:extLst>
                </a:gridCol>
              </a:tblGrid>
              <a:tr h="25750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일련번호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부점코드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부점명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등록직원번호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등록직원명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등록년월일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0614119"/>
                  </a:ext>
                </a:extLst>
              </a:tr>
              <a:tr h="19268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1234</a:t>
                      </a:r>
                      <a:endParaRPr lang="ko-KR" altLang="en-US" sz="700" b="0" u="none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신사역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1234567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윤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2024-12-31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4645437"/>
                  </a:ext>
                </a:extLst>
              </a:tr>
              <a:tr h="18066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3421</a:t>
                      </a:r>
                      <a:endParaRPr lang="ko-KR" altLang="en-US" sz="700" b="0" u="none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강남역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4569874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2023-12-31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2262495"/>
                  </a:ext>
                </a:extLst>
              </a:tr>
              <a:tr h="18066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5454</a:t>
                      </a:r>
                      <a:endParaRPr lang="ko-KR" altLang="en-US" sz="700" b="0" u="none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구로역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7485961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쾅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2023-11-30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8900"/>
                  </a:ext>
                </a:extLst>
              </a:tr>
            </a:tbl>
          </a:graphicData>
        </a:graphic>
      </p:graphicFrame>
      <p:graphicFrame>
        <p:nvGraphicFramePr>
          <p:cNvPr id="87" name="표 86"/>
          <p:cNvGraphicFramePr>
            <a:graphicFrameLocks noGrp="1"/>
          </p:cNvGraphicFramePr>
          <p:nvPr>
            <p:extLst/>
          </p:nvPr>
        </p:nvGraphicFramePr>
        <p:xfrm>
          <a:off x="557242" y="4888207"/>
          <a:ext cx="5120353" cy="138206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86643">
                  <a:extLst>
                    <a:ext uri="{9D8B030D-6E8A-4147-A177-3AD203B41FA5}">
                      <a16:colId xmlns:a16="http://schemas.microsoft.com/office/drawing/2014/main" val="1630994582"/>
                    </a:ext>
                  </a:extLst>
                </a:gridCol>
                <a:gridCol w="1606079">
                  <a:extLst>
                    <a:ext uri="{9D8B030D-6E8A-4147-A177-3AD203B41FA5}">
                      <a16:colId xmlns:a16="http://schemas.microsoft.com/office/drawing/2014/main" val="2045752900"/>
                    </a:ext>
                  </a:extLst>
                </a:gridCol>
                <a:gridCol w="857137">
                  <a:extLst>
                    <a:ext uri="{9D8B030D-6E8A-4147-A177-3AD203B41FA5}">
                      <a16:colId xmlns:a16="http://schemas.microsoft.com/office/drawing/2014/main" val="3603176770"/>
                    </a:ext>
                  </a:extLst>
                </a:gridCol>
                <a:gridCol w="1870494">
                  <a:extLst>
                    <a:ext uri="{9D8B030D-6E8A-4147-A177-3AD203B41FA5}">
                      <a16:colId xmlns:a16="http://schemas.microsoft.com/office/drawing/2014/main" val="2776715837"/>
                    </a:ext>
                  </a:extLst>
                </a:gridCol>
              </a:tblGrid>
              <a:tr h="22412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일련번호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8451336"/>
                  </a:ext>
                </a:extLst>
              </a:tr>
              <a:tr h="242668"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r>
                        <a:rPr lang="ko-KR" altLang="en-US" sz="7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부점코드</a:t>
                      </a:r>
                      <a:endParaRPr lang="en-US" altLang="ko-KR" sz="7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</a:t>
                      </a:r>
                      <a:r>
                        <a:rPr lang="ko-KR" altLang="en-US" sz="700" b="0" i="0" u="none" strike="noStrike" kern="1200" noProof="0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부점명</a:t>
                      </a:r>
                      <a:endParaRPr lang="ko-KR" altLang="en-US" sz="7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1806225"/>
                  </a:ext>
                </a:extLst>
              </a:tr>
              <a:tr h="242668"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r>
                        <a:rPr lang="ko-KR" altLang="en-US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등록직원번호</a:t>
                      </a:r>
                      <a:endParaRPr lang="en-US" altLang="ko-KR" sz="7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</a:t>
                      </a:r>
                      <a:r>
                        <a:rPr lang="ko-KR" altLang="en-US" sz="7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등록직원명</a:t>
                      </a:r>
                      <a:endParaRPr lang="ko-KR" altLang="en-US" sz="7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4201637"/>
                  </a:ext>
                </a:extLst>
              </a:tr>
              <a:tr h="242668"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r>
                        <a:rPr lang="ko-KR" altLang="en-US" sz="7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등록년월일</a:t>
                      </a:r>
                      <a:endParaRPr lang="en-US" altLang="ko-KR" sz="7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1425522"/>
                  </a:ext>
                </a:extLst>
              </a:tr>
              <a:tr h="24266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메모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메모 내용</a:t>
                      </a: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8665471"/>
                  </a:ext>
                </a:extLst>
              </a:tr>
            </a:tbl>
          </a:graphicData>
        </a:graphic>
      </p:graphicFrame>
      <p:graphicFrame>
        <p:nvGraphicFramePr>
          <p:cNvPr id="85" name="표 84"/>
          <p:cNvGraphicFramePr>
            <a:graphicFrameLocks noGrp="1"/>
          </p:cNvGraphicFramePr>
          <p:nvPr>
            <p:extLst/>
          </p:nvPr>
        </p:nvGraphicFramePr>
        <p:xfrm>
          <a:off x="557242" y="3639629"/>
          <a:ext cx="5120352" cy="21853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20352">
                  <a:extLst>
                    <a:ext uri="{9D8B030D-6E8A-4147-A177-3AD203B41FA5}">
                      <a16:colId xmlns:a16="http://schemas.microsoft.com/office/drawing/2014/main" val="814781478"/>
                    </a:ext>
                  </a:extLst>
                </a:gridCol>
              </a:tblGrid>
              <a:tr h="218531"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메모 목록 조회</a:t>
                      </a: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3543530"/>
                  </a:ext>
                </a:extLst>
              </a:tr>
            </a:tbl>
          </a:graphicData>
        </a:graphic>
      </p:graphicFrame>
      <p:sp>
        <p:nvSpPr>
          <p:cNvPr id="88" name="직사각형 8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364836" y="4916993"/>
            <a:ext cx="1222363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364834" y="5142795"/>
            <a:ext cx="1222363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1234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375258" y="5375376"/>
            <a:ext cx="1222363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1234567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364835" y="5645836"/>
            <a:ext cx="1222363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2024-12-31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844050" y="5157204"/>
            <a:ext cx="1222363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신사역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848604" y="5436135"/>
            <a:ext cx="1222363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윤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99440" y="5018612"/>
            <a:ext cx="353002" cy="209797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err="1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이전메모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783650" y="5033510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초기화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94891" y="5029691"/>
            <a:ext cx="353002" cy="209797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추가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9" name="직사각형 98"/>
          <p:cNvSpPr/>
          <p:nvPr/>
        </p:nvSpPr>
        <p:spPr bwMode="auto">
          <a:xfrm flipV="1">
            <a:off x="6608842" y="5045383"/>
            <a:ext cx="360000" cy="167335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100" name="구부러진 연결선 99"/>
          <p:cNvCxnSpPr>
            <a:stCxn id="96" idx="0"/>
            <a:endCxn id="101" idx="0"/>
          </p:cNvCxnSpPr>
          <p:nvPr/>
        </p:nvCxnSpPr>
        <p:spPr bwMode="auto">
          <a:xfrm rot="16200000" flipV="1">
            <a:off x="2901164" y="1143834"/>
            <a:ext cx="1560271" cy="6189285"/>
          </a:xfrm>
          <a:prstGeom prst="curvedConnector3">
            <a:avLst>
              <a:gd name="adj1" fmla="val 114651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101" name="타원 10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 flipH="1">
            <a:off x="515238" y="3458341"/>
            <a:ext cx="142837" cy="16259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488356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MDD-00016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MDD75G25000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감사역 배정 참고사항 관리</a:t>
                      </a:r>
                      <a:r>
                        <a:rPr lang="en-US" altLang="ko-KR" sz="1200" kern="120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(1/1)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감사역 배정 참고사항 관리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(P59: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임종국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60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30107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264428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164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noProof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신규화면</a:t>
                      </a:r>
                      <a:r>
                        <a:rPr lang="ko-KR" altLang="en-US" sz="8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: </a:t>
                      </a:r>
                      <a:r>
                        <a:rPr lang="ko-KR" altLang="en-US" sz="800" noProof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감사부</a:t>
                      </a:r>
                      <a:r>
                        <a:rPr lang="ko-KR" altLang="en-US" sz="8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소속 직원들의 배정을 위한 </a:t>
                      </a:r>
                      <a:r>
                        <a:rPr lang="ko-KR" altLang="en-US" sz="800" noProof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참고정보를</a:t>
                      </a:r>
                      <a:r>
                        <a:rPr lang="ko-KR" altLang="en-US" sz="8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등록</a:t>
                      </a:r>
                      <a:r>
                        <a:rPr lang="en-US" altLang="ko-KR" sz="8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관리하는 화면</a:t>
                      </a:r>
                      <a:endParaRPr lang="en-US" altLang="ko-KR" sz="800" noProof="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164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검색조건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(Default: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소속직원 전체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 :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대상직원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담당업무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담당지역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139559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b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조회결과값</a:t>
                      </a:r>
                      <a:r>
                        <a:rPr lang="ko-KR" altLang="en-US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표시 </a:t>
                      </a:r>
                      <a:r>
                        <a:rPr lang="en-US" altLang="ko-KR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더블클릭 시 등록 화면 </a:t>
                      </a:r>
                      <a:r>
                        <a:rPr lang="en-US" altLang="ko-KR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Pop-up </a:t>
                      </a:r>
                      <a:r>
                        <a:rPr lang="ko-KR" altLang="en-US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</a:t>
                      </a:r>
                      <a:r>
                        <a:rPr lang="en-US" altLang="ko-KR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① 기본정보</a:t>
                      </a:r>
                      <a:r>
                        <a:rPr lang="en-US" altLang="ko-KR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인사</a:t>
                      </a:r>
                      <a:r>
                        <a:rPr lang="en-US" altLang="ko-KR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DB </a:t>
                      </a:r>
                      <a:r>
                        <a:rPr lang="ko-KR" altLang="en-US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연동</a:t>
                      </a:r>
                      <a:r>
                        <a:rPr lang="en-US" altLang="ko-KR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 : </a:t>
                      </a:r>
                      <a:r>
                        <a:rPr lang="ko-KR" altLang="en-US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감사역</a:t>
                      </a:r>
                      <a:r>
                        <a:rPr lang="en-US" altLang="ko-KR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직책</a:t>
                      </a:r>
                      <a:r>
                        <a:rPr lang="en-US" altLang="ko-KR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b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감사부</a:t>
                      </a:r>
                      <a:r>
                        <a:rPr lang="ko-KR" altLang="en-US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b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전입일자</a:t>
                      </a:r>
                      <a:r>
                        <a:rPr lang="en-US" altLang="ko-KR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업무경력</a:t>
                      </a:r>
                      <a:endParaRPr lang="en-US" altLang="ko-KR" sz="800" b="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② </a:t>
                      </a:r>
                      <a:r>
                        <a:rPr lang="ko-KR" altLang="en-US" sz="800" b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입력정보</a:t>
                      </a:r>
                      <a:r>
                        <a:rPr lang="ko-KR" altLang="en-US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: </a:t>
                      </a:r>
                      <a:r>
                        <a:rPr lang="ko-KR" altLang="en-US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순서</a:t>
                      </a:r>
                      <a:r>
                        <a:rPr lang="en-US" altLang="ko-KR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담당업무</a:t>
                      </a:r>
                      <a:r>
                        <a:rPr lang="en-US" altLang="ko-KR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담당지역</a:t>
                      </a:r>
                      <a:endParaRPr lang="en-US" altLang="ko-KR" sz="800" b="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③ </a:t>
                      </a:r>
                      <a:r>
                        <a:rPr lang="ko-KR" altLang="en-US" sz="800" b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연계정보</a:t>
                      </a:r>
                      <a:r>
                        <a:rPr lang="ko-KR" altLang="en-US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: </a:t>
                      </a:r>
                      <a:r>
                        <a:rPr lang="ko-KR" altLang="en-US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기피등록건수 </a:t>
                      </a:r>
                      <a:r>
                        <a:rPr lang="en-US" altLang="ko-KR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– </a:t>
                      </a:r>
                      <a:r>
                        <a:rPr lang="ko-KR" altLang="en-US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감사업무 기피대상 관리</a:t>
                      </a:r>
                      <a:r>
                        <a:rPr lang="en-US" altLang="ko-KR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 </a:t>
                      </a:r>
                      <a:r>
                        <a:rPr lang="ko-KR" altLang="en-US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화면 연계</a:t>
                      </a:r>
                      <a:r>
                        <a:rPr lang="en-US" altLang="ko-KR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감사배정현황 </a:t>
                      </a:r>
                      <a:r>
                        <a:rPr lang="en-US" altLang="ko-KR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– </a:t>
                      </a:r>
                      <a:r>
                        <a:rPr lang="ko-KR" altLang="en-US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감사계획에서 담당 감사역 배정되었을 경우 해당 감사 종류 표시</a:t>
                      </a:r>
                      <a:r>
                        <a:rPr lang="en-US" altLang="ko-KR" sz="800" b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kumimoji="1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293809">
                <a:tc>
                  <a:txBody>
                    <a:bodyPr/>
                    <a:lstStyle/>
                    <a:p>
                      <a:pPr marL="0" marR="0" lvl="0" indent="0" algn="ctr" defTabSz="914395" rtl="0" eaLnBrk="1" fontAlgn="base" latinLnBrk="1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en-US" altLang="ko-KR" sz="10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4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b="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가</a:t>
                      </a:r>
                      <a:r>
                        <a:rPr lang="en-US" altLang="ko-KR" sz="800" b="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 ‘</a:t>
                      </a:r>
                      <a:r>
                        <a:rPr lang="ko-KR" altLang="en-US" sz="800" b="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등록</a:t>
                      </a:r>
                      <a:r>
                        <a:rPr lang="en-US" altLang="ko-KR" sz="800" b="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’</a:t>
                      </a:r>
                      <a:r>
                        <a:rPr lang="ko-KR" altLang="en-US" sz="800" b="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버튼 클릭 시 </a:t>
                      </a:r>
                      <a:r>
                        <a:rPr lang="ko-KR" altLang="en-US" sz="800" b="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직원별</a:t>
                      </a:r>
                      <a:r>
                        <a:rPr lang="ko-KR" altLang="en-US" sz="800" b="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참고사항 입력 </a:t>
                      </a:r>
                      <a:r>
                        <a:rPr lang="ko-KR" altLang="en-US" sz="800" b="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팝업창이</a:t>
                      </a:r>
                      <a:r>
                        <a:rPr lang="ko-KR" altLang="en-US" sz="800" b="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나타난다</a:t>
                      </a:r>
                      <a:r>
                        <a:rPr lang="en-US" altLang="ko-KR" sz="800" b="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b="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나</a:t>
                      </a:r>
                      <a:r>
                        <a:rPr lang="en-US" altLang="ko-KR" sz="800" b="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 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629054"/>
                  </a:ext>
                </a:extLst>
              </a:tr>
              <a:tr h="2938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en-US" altLang="ko-KR" sz="1000" b="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5</a:t>
                      </a:r>
                      <a:endParaRPr lang="ko-KR" altLang="en-US" sz="1000" b="0" kern="1200" dirty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b="0" kern="12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내근사유</a:t>
                      </a:r>
                      <a:r>
                        <a:rPr lang="ko-KR" altLang="en-US" sz="800" b="0" kern="12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및 </a:t>
                      </a:r>
                      <a:r>
                        <a:rPr lang="ko-KR" altLang="en-US" sz="800" b="0" kern="12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내근기간은</a:t>
                      </a:r>
                      <a:r>
                        <a:rPr lang="ko-KR" altLang="en-US" sz="800" b="0" kern="12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b="0" kern="12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영업감사</a:t>
                      </a:r>
                      <a:r>
                        <a:rPr lang="en-US" altLang="ko-KR" sz="800" b="0" kern="12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b="0" kern="12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감사계획</a:t>
                      </a:r>
                      <a:r>
                        <a:rPr lang="en-US" altLang="ko-KR" sz="800" b="0" kern="12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b="0" kern="12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미배정 감사역 </a:t>
                      </a:r>
                      <a:r>
                        <a:rPr lang="ko-KR" altLang="en-US" sz="800" b="0" kern="12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사유관리의</a:t>
                      </a:r>
                      <a:r>
                        <a:rPr lang="ko-KR" altLang="en-US" sz="800" b="0" kern="12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정보를 표시</a:t>
                      </a:r>
                      <a:endParaRPr lang="en-US" altLang="ko-KR" sz="800" b="0" kern="12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2941955"/>
                  </a:ext>
                </a:extLst>
              </a:tr>
              <a:tr h="29380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endParaRPr lang="ko-KR" altLang="en-US" sz="1000" b="0" kern="1200" dirty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ko-KR" altLang="en-US" sz="800" b="1" kern="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★ </a:t>
                      </a:r>
                      <a:r>
                        <a:rPr lang="ko-KR" altLang="en-US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위에 대한 데이터 확인 필요</a:t>
                      </a:r>
                      <a:r>
                        <a:rPr lang="en-US" altLang="ko-KR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업무경력 계산방법</a:t>
                      </a:r>
                      <a:r>
                        <a:rPr lang="en-US" altLang="ko-KR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 </a:t>
                      </a:r>
                      <a:r>
                        <a:rPr lang="ko-KR" altLang="en-US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입사일</a:t>
                      </a:r>
                      <a:r>
                        <a:rPr lang="en-US" altLang="ko-KR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</a:t>
                      </a:r>
                      <a:r>
                        <a:rPr lang="en-US" altLang="ko-KR" sz="800" b="0" kern="120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b="0" kern="120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발령일</a:t>
                      </a:r>
                      <a:r>
                        <a:rPr lang="en-US" altLang="ko-KR" sz="800" b="0" kern="120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b="0" kern="120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진급 확인 </a:t>
                      </a:r>
                      <a:r>
                        <a:rPr lang="en-US" altLang="ko-KR" sz="800" b="0" kern="120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en-US" altLang="ko-KR" sz="800" b="0" kern="120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담당업무</a:t>
                      </a:r>
                      <a:r>
                        <a:rPr lang="en-US" altLang="ko-KR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b="0" kern="12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여신전문</a:t>
                      </a:r>
                      <a:r>
                        <a:rPr lang="en-US" altLang="ko-KR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내부통제전문</a:t>
                      </a:r>
                      <a:r>
                        <a:rPr lang="en-US" altLang="ko-KR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감사배정현황 콤보에 사용할 인스턴스</a:t>
                      </a:r>
                      <a:r>
                        <a:rPr lang="en-US" altLang="ko-KR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b="0" kern="12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기등록건</a:t>
                      </a:r>
                      <a:r>
                        <a:rPr lang="ko-KR" altLang="en-US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없음</a:t>
                      </a:r>
                      <a:r>
                        <a:rPr lang="en-US" altLang="ko-KR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2697376"/>
                  </a:ext>
                </a:extLst>
              </a:tr>
            </a:tbl>
          </a:graphicData>
        </a:graphic>
      </p:graphicFrame>
      <p:graphicFrame>
        <p:nvGraphicFramePr>
          <p:cNvPr id="25" name="내용 개체 틀 121"/>
          <p:cNvGraphicFramePr>
            <a:graphicFrameLocks/>
          </p:cNvGraphicFramePr>
          <p:nvPr>
            <p:extLst/>
          </p:nvPr>
        </p:nvGraphicFramePr>
        <p:xfrm>
          <a:off x="174858" y="1748052"/>
          <a:ext cx="6726396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469560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514350">
                  <a:extLst>
                    <a:ext uri="{9D8B030D-6E8A-4147-A177-3AD203B41FA5}">
                      <a16:colId xmlns:a16="http://schemas.microsoft.com/office/drawing/2014/main" val="2228377726"/>
                    </a:ext>
                  </a:extLst>
                </a:gridCol>
                <a:gridCol w="914400">
                  <a:extLst>
                    <a:ext uri="{9D8B030D-6E8A-4147-A177-3AD203B41FA5}">
                      <a16:colId xmlns:a16="http://schemas.microsoft.com/office/drawing/2014/main" val="3608977674"/>
                    </a:ext>
                  </a:extLst>
                </a:gridCol>
                <a:gridCol w="769144">
                  <a:extLst>
                    <a:ext uri="{9D8B030D-6E8A-4147-A177-3AD203B41FA5}">
                      <a16:colId xmlns:a16="http://schemas.microsoft.com/office/drawing/2014/main" val="2399256422"/>
                    </a:ext>
                  </a:extLst>
                </a:gridCol>
                <a:gridCol w="2121392">
                  <a:extLst>
                    <a:ext uri="{9D8B030D-6E8A-4147-A177-3AD203B41FA5}">
                      <a16:colId xmlns:a16="http://schemas.microsoft.com/office/drawing/2014/main" val="4015417839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대상직원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담당업무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담당지역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26" name="직사각형 25"/>
          <p:cNvSpPr/>
          <p:nvPr/>
        </p:nvSpPr>
        <p:spPr bwMode="auto">
          <a:xfrm>
            <a:off x="191586" y="1754829"/>
            <a:ext cx="6095591" cy="285553"/>
          </a:xfrm>
          <a:prstGeom prst="rect">
            <a:avLst/>
          </a:prstGeom>
          <a:noFill/>
          <a:ln w="15875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28" name="그룹 27"/>
          <p:cNvGrpSpPr/>
          <p:nvPr/>
        </p:nvGrpSpPr>
        <p:grpSpPr>
          <a:xfrm>
            <a:off x="174858" y="1012649"/>
            <a:ext cx="6732899" cy="337771"/>
            <a:chOff x="355877" y="2160935"/>
            <a:chExt cx="6061214" cy="417554"/>
          </a:xfrm>
        </p:grpSpPr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BF0D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감사지원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31" name="양쪽 모서리가 둥근 사각형 30"/>
          <p:cNvSpPr/>
          <p:nvPr/>
        </p:nvSpPr>
        <p:spPr bwMode="auto">
          <a:xfrm>
            <a:off x="181361" y="1486984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감사역 배정 참고사항 관리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2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174858" y="1412388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3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181362" y="1672719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07177" y="2053401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13829" y="2053401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691464" y="2053401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152860" y="1790997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555723" y="1791031"/>
            <a:ext cx="934552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49" name="그림 48"/>
          <p:cNvPicPr>
            <a:picLocks noChangeAspect="1"/>
          </p:cNvPicPr>
          <p:nvPr/>
        </p:nvPicPr>
        <p:blipFill rotWithShape="1">
          <a:blip r:embed="rId2"/>
          <a:srcRect r="73540"/>
          <a:stretch/>
        </p:blipFill>
        <p:spPr>
          <a:xfrm>
            <a:off x="1565566" y="1802790"/>
            <a:ext cx="183595" cy="164228"/>
          </a:xfrm>
          <a:prstGeom prst="rect">
            <a:avLst/>
          </a:prstGeom>
        </p:spPr>
      </p:pic>
      <p:sp>
        <p:nvSpPr>
          <p:cNvPr id="50" name="직사각형 4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149567" y="1794067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여신전문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1" name="이등변 삼각형 50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3728935" y="1874889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831699" y="1796675"/>
            <a:ext cx="406322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3335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248822" y="1795759"/>
            <a:ext cx="934552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강남지역그룹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54" name="그림 53"/>
          <p:cNvPicPr>
            <a:picLocks noChangeAspect="1"/>
          </p:cNvPicPr>
          <p:nvPr/>
        </p:nvPicPr>
        <p:blipFill rotWithShape="1">
          <a:blip r:embed="rId2"/>
          <a:srcRect r="73540"/>
          <a:stretch/>
        </p:blipFill>
        <p:spPr>
          <a:xfrm>
            <a:off x="5256239" y="1807331"/>
            <a:ext cx="183595" cy="164228"/>
          </a:xfrm>
          <a:prstGeom prst="rect">
            <a:avLst/>
          </a:prstGeom>
        </p:spPr>
      </p:pic>
      <p:graphicFrame>
        <p:nvGraphicFramePr>
          <p:cNvPr id="55" name="표 54"/>
          <p:cNvGraphicFramePr>
            <a:graphicFrameLocks noGrp="1"/>
          </p:cNvGraphicFramePr>
          <p:nvPr>
            <p:extLst/>
          </p:nvPr>
        </p:nvGraphicFramePr>
        <p:xfrm>
          <a:off x="191586" y="2317877"/>
          <a:ext cx="6716170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03467">
                  <a:extLst>
                    <a:ext uri="{9D8B030D-6E8A-4147-A177-3AD203B41FA5}">
                      <a16:colId xmlns:a16="http://schemas.microsoft.com/office/drawing/2014/main" val="2647806698"/>
                    </a:ext>
                  </a:extLst>
                </a:gridCol>
                <a:gridCol w="939767">
                  <a:extLst>
                    <a:ext uri="{9D8B030D-6E8A-4147-A177-3AD203B41FA5}">
                      <a16:colId xmlns:a16="http://schemas.microsoft.com/office/drawing/2014/main" val="3770631931"/>
                    </a:ext>
                  </a:extLst>
                </a:gridCol>
                <a:gridCol w="378493">
                  <a:extLst>
                    <a:ext uri="{9D8B030D-6E8A-4147-A177-3AD203B41FA5}">
                      <a16:colId xmlns:a16="http://schemas.microsoft.com/office/drawing/2014/main" val="4172561946"/>
                    </a:ext>
                  </a:extLst>
                </a:gridCol>
                <a:gridCol w="964741">
                  <a:extLst>
                    <a:ext uri="{9D8B030D-6E8A-4147-A177-3AD203B41FA5}">
                      <a16:colId xmlns:a16="http://schemas.microsoft.com/office/drawing/2014/main" val="1480536561"/>
                    </a:ext>
                  </a:extLst>
                </a:gridCol>
                <a:gridCol w="671617">
                  <a:extLst>
                    <a:ext uri="{9D8B030D-6E8A-4147-A177-3AD203B41FA5}">
                      <a16:colId xmlns:a16="http://schemas.microsoft.com/office/drawing/2014/main" val="754677486"/>
                    </a:ext>
                  </a:extLst>
                </a:gridCol>
                <a:gridCol w="671617">
                  <a:extLst>
                    <a:ext uri="{9D8B030D-6E8A-4147-A177-3AD203B41FA5}">
                      <a16:colId xmlns:a16="http://schemas.microsoft.com/office/drawing/2014/main" val="3961404357"/>
                    </a:ext>
                  </a:extLst>
                </a:gridCol>
                <a:gridCol w="671617">
                  <a:extLst>
                    <a:ext uri="{9D8B030D-6E8A-4147-A177-3AD203B41FA5}">
                      <a16:colId xmlns:a16="http://schemas.microsoft.com/office/drawing/2014/main" val="1365711842"/>
                    </a:ext>
                  </a:extLst>
                </a:gridCol>
                <a:gridCol w="671617">
                  <a:extLst>
                    <a:ext uri="{9D8B030D-6E8A-4147-A177-3AD203B41FA5}">
                      <a16:colId xmlns:a16="http://schemas.microsoft.com/office/drawing/2014/main" val="1461149024"/>
                    </a:ext>
                  </a:extLst>
                </a:gridCol>
                <a:gridCol w="671617">
                  <a:extLst>
                    <a:ext uri="{9D8B030D-6E8A-4147-A177-3AD203B41FA5}">
                      <a16:colId xmlns:a16="http://schemas.microsoft.com/office/drawing/2014/main" val="3285759535"/>
                    </a:ext>
                  </a:extLst>
                </a:gridCol>
                <a:gridCol w="671617">
                  <a:extLst>
                    <a:ext uri="{9D8B030D-6E8A-4147-A177-3AD203B41FA5}">
                      <a16:colId xmlns:a16="http://schemas.microsoft.com/office/drawing/2014/main" val="663420117"/>
                    </a:ext>
                  </a:extLst>
                </a:gridCol>
              </a:tblGrid>
              <a:tr h="17722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감사역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직책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 전입일자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업무경력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순서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담당업무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담당지역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기피등록건수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감사배정현황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0979869"/>
                  </a:ext>
                </a:extLst>
              </a:tr>
              <a:tr h="17722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[1356522] </a:t>
                      </a:r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L3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2020-01-03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여신전문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중앙지역그룹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sng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 u="sng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여신특별감사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5387088"/>
                  </a:ext>
                </a:extLst>
              </a:tr>
              <a:tr h="17722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[1198422] </a:t>
                      </a:r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김철수</a:t>
                      </a: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L3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2014-05-14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9.6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충청지역그룹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sng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ko-KR" altLang="en-US" sz="700" u="sng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미배정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4830211"/>
                  </a:ext>
                </a:extLst>
              </a:tr>
              <a:tr h="17722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[2399865] </a:t>
                      </a:r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박영희</a:t>
                      </a: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L2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2021-02-03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33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경인지역그룹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sng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ko-KR" altLang="en-US" sz="700" u="sng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종합감사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1211812"/>
                  </a:ext>
                </a:extLst>
              </a:tr>
              <a:tr h="17722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[3412566] </a:t>
                      </a:r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이순신</a:t>
                      </a: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L2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2023-06-01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0.5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지역전담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경기지역그룹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sng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700" u="sng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지역감사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1552450"/>
                  </a:ext>
                </a:extLst>
              </a:tr>
              <a:tr h="17722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2848344"/>
                  </a:ext>
                </a:extLst>
              </a:tr>
            </a:tbl>
          </a:graphicData>
        </a:graphic>
      </p:graphicFrame>
      <p:sp>
        <p:nvSpPr>
          <p:cNvPr id="56" name="직사각형 55"/>
          <p:cNvSpPr/>
          <p:nvPr/>
        </p:nvSpPr>
        <p:spPr bwMode="auto">
          <a:xfrm>
            <a:off x="158775" y="1727859"/>
            <a:ext cx="6748981" cy="537516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7" name="직사각형 56"/>
          <p:cNvSpPr/>
          <p:nvPr/>
        </p:nvSpPr>
        <p:spPr bwMode="auto">
          <a:xfrm>
            <a:off x="159196" y="2322052"/>
            <a:ext cx="6748981" cy="1055491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 flipH="1">
            <a:off x="120167" y="1392586"/>
            <a:ext cx="142837" cy="16259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8" name="타원 6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 flipH="1">
            <a:off x="6199457" y="1692543"/>
            <a:ext cx="142837" cy="16259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0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05728" y="3693523"/>
            <a:ext cx="4096958" cy="65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71" name="표 70"/>
          <p:cNvGraphicFramePr>
            <a:graphicFrameLocks noGrp="1"/>
          </p:cNvGraphicFramePr>
          <p:nvPr>
            <p:extLst/>
          </p:nvPr>
        </p:nvGraphicFramePr>
        <p:xfrm>
          <a:off x="199224" y="3855889"/>
          <a:ext cx="4103462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2789">
                  <a:extLst>
                    <a:ext uri="{9D8B030D-6E8A-4147-A177-3AD203B41FA5}">
                      <a16:colId xmlns:a16="http://schemas.microsoft.com/office/drawing/2014/main" val="2647806698"/>
                    </a:ext>
                  </a:extLst>
                </a:gridCol>
                <a:gridCol w="964276">
                  <a:extLst>
                    <a:ext uri="{9D8B030D-6E8A-4147-A177-3AD203B41FA5}">
                      <a16:colId xmlns:a16="http://schemas.microsoft.com/office/drawing/2014/main" val="3770631931"/>
                    </a:ext>
                  </a:extLst>
                </a:gridCol>
                <a:gridCol w="741210">
                  <a:extLst>
                    <a:ext uri="{9D8B030D-6E8A-4147-A177-3AD203B41FA5}">
                      <a16:colId xmlns:a16="http://schemas.microsoft.com/office/drawing/2014/main" val="1480536561"/>
                    </a:ext>
                  </a:extLst>
                </a:gridCol>
                <a:gridCol w="593135">
                  <a:extLst>
                    <a:ext uri="{9D8B030D-6E8A-4147-A177-3AD203B41FA5}">
                      <a16:colId xmlns:a16="http://schemas.microsoft.com/office/drawing/2014/main" val="754677486"/>
                    </a:ext>
                  </a:extLst>
                </a:gridCol>
                <a:gridCol w="593135">
                  <a:extLst>
                    <a:ext uri="{9D8B030D-6E8A-4147-A177-3AD203B41FA5}">
                      <a16:colId xmlns:a16="http://schemas.microsoft.com/office/drawing/2014/main" val="3961404357"/>
                    </a:ext>
                  </a:extLst>
                </a:gridCol>
                <a:gridCol w="878917">
                  <a:extLst>
                    <a:ext uri="{9D8B030D-6E8A-4147-A177-3AD203B41FA5}">
                      <a16:colId xmlns:a16="http://schemas.microsoft.com/office/drawing/2014/main" val="1365711842"/>
                    </a:ext>
                  </a:extLst>
                </a:gridCol>
              </a:tblGrid>
              <a:tr h="16907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대상직원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대상현부점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사유구분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기타사유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등록직원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0979869"/>
                  </a:ext>
                </a:extLst>
              </a:tr>
              <a:tr h="16907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[1356522] 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영등포지점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기타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[1356522] 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5387088"/>
                  </a:ext>
                </a:extLst>
              </a:tr>
              <a:tr h="16907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[1198422] 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김철수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개포지점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기타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[1198422] 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김철수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4830211"/>
                  </a:ext>
                </a:extLst>
              </a:tr>
              <a:tr h="16907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[2399865] 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박영희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을지로지점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기타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[2399865] 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박영희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1211812"/>
                  </a:ext>
                </a:extLst>
              </a:tr>
              <a:tr h="16907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[3412566] 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이순신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신도림지점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기타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[3412566] 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이순신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1552450"/>
                  </a:ext>
                </a:extLst>
              </a:tr>
              <a:tr h="16907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2848344"/>
                  </a:ext>
                </a:extLst>
              </a:tr>
            </a:tbl>
          </a:graphicData>
        </a:graphic>
      </p:graphicFrame>
      <p:graphicFrame>
        <p:nvGraphicFramePr>
          <p:cNvPr id="72" name="표 71"/>
          <p:cNvGraphicFramePr>
            <a:graphicFrameLocks noGrp="1"/>
          </p:cNvGraphicFramePr>
          <p:nvPr>
            <p:extLst/>
          </p:nvPr>
        </p:nvGraphicFramePr>
        <p:xfrm>
          <a:off x="215952" y="3587988"/>
          <a:ext cx="4086734" cy="21853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086734">
                  <a:extLst>
                    <a:ext uri="{9D8B030D-6E8A-4147-A177-3AD203B41FA5}">
                      <a16:colId xmlns:a16="http://schemas.microsoft.com/office/drawing/2014/main" val="814781478"/>
                    </a:ext>
                  </a:extLst>
                </a:gridCol>
              </a:tblGrid>
              <a:tr h="218531"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감사업무 기피대상 목록</a:t>
                      </a:r>
                      <a:endParaRPr lang="en-US" altLang="ko-KR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3543530"/>
                  </a:ext>
                </a:extLst>
              </a:tr>
            </a:tbl>
          </a:graphicData>
        </a:graphic>
      </p:graphicFrame>
      <p:cxnSp>
        <p:nvCxnSpPr>
          <p:cNvPr id="90" name="구부러진 연결선 89"/>
          <p:cNvCxnSpPr>
            <a:stCxn id="93" idx="1"/>
            <a:endCxn id="94" idx="0"/>
          </p:cNvCxnSpPr>
          <p:nvPr/>
        </p:nvCxnSpPr>
        <p:spPr bwMode="auto">
          <a:xfrm rot="10800000" flipV="1">
            <a:off x="2616026" y="3205032"/>
            <a:ext cx="3177780" cy="377219"/>
          </a:xfrm>
          <a:prstGeom prst="curvedConnector2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92" name="직사각형 91"/>
          <p:cNvSpPr/>
          <p:nvPr/>
        </p:nvSpPr>
        <p:spPr bwMode="auto">
          <a:xfrm>
            <a:off x="191586" y="2470938"/>
            <a:ext cx="6682243" cy="247901"/>
          </a:xfrm>
          <a:prstGeom prst="rect">
            <a:avLst/>
          </a:prstGeom>
          <a:noFill/>
          <a:ln w="15875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3" name="직사각형 92"/>
          <p:cNvSpPr/>
          <p:nvPr/>
        </p:nvSpPr>
        <p:spPr bwMode="auto">
          <a:xfrm>
            <a:off x="5793806" y="3081082"/>
            <a:ext cx="243044" cy="247901"/>
          </a:xfrm>
          <a:prstGeom prst="rect">
            <a:avLst/>
          </a:prstGeom>
          <a:noFill/>
          <a:ln w="15875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4" name="타원 9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 flipH="1">
            <a:off x="2544608" y="3582252"/>
            <a:ext cx="142837" cy="16259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7B6CEFD-186E-AC88-7979-44000562DD84}"/>
              </a:ext>
            </a:extLst>
          </p:cNvPr>
          <p:cNvSpPr/>
          <p:nvPr/>
        </p:nvSpPr>
        <p:spPr>
          <a:xfrm>
            <a:off x="2703927" y="4206522"/>
            <a:ext cx="4087055" cy="1828517"/>
          </a:xfrm>
          <a:prstGeom prst="rect">
            <a:avLst/>
          </a:prstGeom>
          <a:solidFill>
            <a:schemeClr val="bg1"/>
          </a:solidFill>
          <a:ln w="15875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Calibri"/>
              <a:ea typeface="맑은 고딕"/>
              <a:cs typeface="+mn-cs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41FA259B-0F65-6F92-E537-2ED6FF55F713}"/>
              </a:ext>
            </a:extLst>
          </p:cNvPr>
          <p:cNvSpPr txBox="1"/>
          <p:nvPr/>
        </p:nvSpPr>
        <p:spPr>
          <a:xfrm>
            <a:off x="2756721" y="4265847"/>
            <a:ext cx="2288706" cy="231453"/>
          </a:xfrm>
          <a:prstGeom prst="rect">
            <a:avLst/>
          </a:prstGeom>
          <a:noFill/>
        </p:spPr>
        <p:txBody>
          <a:bodyPr wrap="square" lIns="36000" rtlCol="0">
            <a:sp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□ 감사역 참고사항 등록 관리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103" name="표 102"/>
          <p:cNvGraphicFramePr>
            <a:graphicFrameLocks noGrp="1"/>
          </p:cNvGraphicFramePr>
          <p:nvPr>
            <p:extLst/>
          </p:nvPr>
        </p:nvGraphicFramePr>
        <p:xfrm>
          <a:off x="2756721" y="4549803"/>
          <a:ext cx="3914741" cy="14061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1424">
                  <a:extLst>
                    <a:ext uri="{9D8B030D-6E8A-4147-A177-3AD203B41FA5}">
                      <a16:colId xmlns:a16="http://schemas.microsoft.com/office/drawing/2014/main" val="1630994582"/>
                    </a:ext>
                  </a:extLst>
                </a:gridCol>
                <a:gridCol w="1227920">
                  <a:extLst>
                    <a:ext uri="{9D8B030D-6E8A-4147-A177-3AD203B41FA5}">
                      <a16:colId xmlns:a16="http://schemas.microsoft.com/office/drawing/2014/main" val="2045752900"/>
                    </a:ext>
                  </a:extLst>
                </a:gridCol>
                <a:gridCol w="655320">
                  <a:extLst>
                    <a:ext uri="{9D8B030D-6E8A-4147-A177-3AD203B41FA5}">
                      <a16:colId xmlns:a16="http://schemas.microsoft.com/office/drawing/2014/main" val="3603176770"/>
                    </a:ext>
                  </a:extLst>
                </a:gridCol>
                <a:gridCol w="1430077">
                  <a:extLst>
                    <a:ext uri="{9D8B030D-6E8A-4147-A177-3AD203B41FA5}">
                      <a16:colId xmlns:a16="http://schemas.microsoft.com/office/drawing/2014/main" val="2776715837"/>
                    </a:ext>
                  </a:extLst>
                </a:gridCol>
              </a:tblGrid>
              <a:tr h="23435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대상직원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8451336"/>
                  </a:ext>
                </a:extLst>
              </a:tr>
              <a:tr h="23435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담당업무</a:t>
                      </a:r>
                      <a:endParaRPr lang="en-US" altLang="ko-KR" sz="700" b="0" i="0" u="none" strike="noStrike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담당지역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1806225"/>
                  </a:ext>
                </a:extLst>
              </a:tr>
              <a:tr h="23435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서열순서</a:t>
                      </a:r>
                      <a:endParaRPr lang="en-US" altLang="ko-KR" sz="700" b="0" i="0" u="none" strike="noStrike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반장우선여부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4201637"/>
                  </a:ext>
                </a:extLst>
              </a:tr>
              <a:tr h="23435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참고사항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</a:t>
                      </a:r>
                      <a:r>
                        <a:rPr kumimoji="0" lang="ko-KR" altLang="en-US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기피등록내역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0" i="0" u="sng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 </a:t>
                      </a:r>
                      <a:r>
                        <a:rPr kumimoji="0" lang="ko-KR" altLang="en-US" sz="700" b="0" i="0" u="sng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건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1425522"/>
                  </a:ext>
                </a:extLst>
              </a:tr>
              <a:tr h="23435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내근사유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파견 </a:t>
                      </a:r>
                      <a:r>
                        <a:rPr lang="en-US" altLang="ko-KR" sz="7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( </a:t>
                      </a:r>
                      <a:r>
                        <a:rPr lang="ko-KR" altLang="en-US" sz="7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영업부 업무개선</a:t>
                      </a:r>
                      <a:r>
                        <a:rPr lang="ko-KR" altLang="en-US" sz="700" kern="1200" baseline="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700" kern="1200" baseline="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TF)</a:t>
                      </a: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내근기간</a:t>
                      </a:r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/>
                        <a:t> 2024.12.23 ~2024.12.27</a:t>
                      </a:r>
                      <a:endParaRPr lang="ko-KR" altLang="en-US" sz="800" dirty="0"/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665471"/>
                  </a:ext>
                </a:extLst>
              </a:tr>
              <a:tr h="23435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침고사항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740255"/>
                  </a:ext>
                </a:extLst>
              </a:tr>
            </a:tbl>
          </a:graphicData>
        </a:graphic>
      </p:graphicFrame>
      <p:sp>
        <p:nvSpPr>
          <p:cNvPr id="10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283798" y="4291573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smtClean="0">
                <a:solidFill>
                  <a:prstClr val="white"/>
                </a:solidFill>
                <a:latin typeface="KB금융 본문체 Medium"/>
                <a:ea typeface="KB금융 본문체 Medium"/>
              </a:rPr>
              <a:t>저장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/>
              <a:ea typeface="KB금융 본문체 Medium"/>
              <a:cs typeface="+mn-cs"/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394210" y="4578556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797073" y="4578590"/>
            <a:ext cx="934552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07" name="그림 106"/>
          <p:cNvPicPr>
            <a:picLocks noChangeAspect="1"/>
          </p:cNvPicPr>
          <p:nvPr/>
        </p:nvPicPr>
        <p:blipFill rotWithShape="1">
          <a:blip r:embed="rId2"/>
          <a:srcRect r="73540"/>
          <a:stretch/>
        </p:blipFill>
        <p:spPr>
          <a:xfrm>
            <a:off x="3806916" y="4590349"/>
            <a:ext cx="183595" cy="164228"/>
          </a:xfrm>
          <a:prstGeom prst="rect">
            <a:avLst/>
          </a:prstGeom>
        </p:spPr>
      </p:pic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393222" y="4806854"/>
            <a:ext cx="109378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normalizeH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선택</a:t>
            </a:r>
            <a:endParaRPr kumimoji="0" lang="ko-KR" altLang="en-US" sz="7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09" name="이등변 삼각형 108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4366475" y="4874679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291873" y="4807840"/>
            <a:ext cx="109378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normalizeH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선택</a:t>
            </a:r>
            <a:endParaRPr kumimoji="0" lang="ko-KR" altLang="en-US" sz="7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1" name="이등변 삼각형 110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6265126" y="4875665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394706" y="5039577"/>
            <a:ext cx="109378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normalizeH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입력</a:t>
            </a:r>
            <a:endParaRPr kumimoji="0" lang="ko-KR" altLang="en-US" sz="7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291873" y="5043102"/>
            <a:ext cx="109378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normalizeH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Y / N</a:t>
            </a:r>
            <a:endParaRPr kumimoji="0" lang="ko-KR" altLang="en-US" sz="7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394210" y="5270716"/>
            <a:ext cx="1092795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5" name="직사각형 114"/>
          <p:cNvSpPr/>
          <p:nvPr/>
        </p:nvSpPr>
        <p:spPr bwMode="auto">
          <a:xfrm>
            <a:off x="2666985" y="4172191"/>
            <a:ext cx="4206844" cy="1916189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634703" y="412360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117" name="구부러진 연결선 116"/>
          <p:cNvCxnSpPr>
            <a:stCxn id="39" idx="2"/>
            <a:endCxn id="101" idx="0"/>
          </p:cNvCxnSpPr>
          <p:nvPr/>
        </p:nvCxnSpPr>
        <p:spPr bwMode="auto">
          <a:xfrm rot="5400000">
            <a:off x="4322900" y="2657957"/>
            <a:ext cx="1973121" cy="1124009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394209" y="5750466"/>
            <a:ext cx="3276000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741383" y="547234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641046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MDD-00031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MDD75G76000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정기부책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현황등록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</a:t>
                      </a:r>
                      <a:r>
                        <a:rPr lang="ko-KR" altLang="en-US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 </a:t>
                      </a:r>
                      <a:r>
                        <a:rPr lang="en-US" altLang="ko-KR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부책감사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부책감사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등록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정기부책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-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현황등록</a:t>
                      </a:r>
                      <a:r>
                        <a:rPr lang="en-US" altLang="ko-KR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(P60:</a:t>
                      </a:r>
                      <a:r>
                        <a:rPr lang="ko-KR" altLang="en-US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김용근</a:t>
                      </a:r>
                      <a:r>
                        <a:rPr lang="en-US" altLang="ko-KR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noProof="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1285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감사년도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및 분기 단위로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조건값을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지정하여 조회 가능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조회조건에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따라 표시된 항목별로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계좌수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금액을 입력 할 수 있으며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값 입력 후 저장을 눌러 데이터를 반영할 수 있음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데이터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미입력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상태일 시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0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으로 출력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</a:tbl>
          </a:graphicData>
        </a:graphic>
      </p:graphicFrame>
      <p:graphicFrame>
        <p:nvGraphicFramePr>
          <p:cNvPr id="16" name="내용 개체 틀 121"/>
          <p:cNvGraphicFramePr>
            <a:graphicFrameLocks/>
          </p:cNvGraphicFramePr>
          <p:nvPr>
            <p:extLst/>
          </p:nvPr>
        </p:nvGraphicFramePr>
        <p:xfrm>
          <a:off x="222367" y="1542115"/>
          <a:ext cx="6712404" cy="197968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27123">
                  <a:extLst>
                    <a:ext uri="{9D8B030D-6E8A-4147-A177-3AD203B41FA5}">
                      <a16:colId xmlns:a16="http://schemas.microsoft.com/office/drawing/2014/main" val="4186060632"/>
                    </a:ext>
                  </a:extLst>
                </a:gridCol>
                <a:gridCol w="1682678">
                  <a:extLst>
                    <a:ext uri="{9D8B030D-6E8A-4147-A177-3AD203B41FA5}">
                      <a16:colId xmlns:a16="http://schemas.microsoft.com/office/drawing/2014/main" val="1325555519"/>
                    </a:ext>
                  </a:extLst>
                </a:gridCol>
                <a:gridCol w="1304901">
                  <a:extLst>
                    <a:ext uri="{9D8B030D-6E8A-4147-A177-3AD203B41FA5}">
                      <a16:colId xmlns:a16="http://schemas.microsoft.com/office/drawing/2014/main" val="2118101267"/>
                    </a:ext>
                  </a:extLst>
                </a:gridCol>
                <a:gridCol w="1398851">
                  <a:extLst>
                    <a:ext uri="{9D8B030D-6E8A-4147-A177-3AD203B41FA5}">
                      <a16:colId xmlns:a16="http://schemas.microsoft.com/office/drawing/2014/main" val="3484451531"/>
                    </a:ext>
                  </a:extLst>
                </a:gridCol>
                <a:gridCol w="1398851">
                  <a:extLst>
                    <a:ext uri="{9D8B030D-6E8A-4147-A177-3AD203B41FA5}">
                      <a16:colId xmlns:a16="http://schemas.microsoft.com/office/drawing/2014/main" val="3526029767"/>
                    </a:ext>
                  </a:extLst>
                </a:gridCol>
              </a:tblGrid>
              <a:tr h="218531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감사년도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분기</a:t>
                      </a: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구분</a:t>
                      </a: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계좌수</a:t>
                      </a:r>
                      <a:r>
                        <a:rPr lang="en-US" altLang="ko-KR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(</a:t>
                      </a: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좌</a:t>
                      </a:r>
                      <a:r>
                        <a:rPr lang="en-US" altLang="ko-KR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)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금액</a:t>
                      </a:r>
                      <a:r>
                        <a:rPr lang="en-US" altLang="ko-KR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(</a:t>
                      </a: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백만원</a:t>
                      </a:r>
                      <a:r>
                        <a:rPr lang="en-US" altLang="ko-KR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)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1669389"/>
                  </a:ext>
                </a:extLst>
              </a:tr>
              <a:tr h="293526">
                <a:tc rowSpan="6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2024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상각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3,642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104,235 </a:t>
                      </a: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원</a:t>
                      </a: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0641114"/>
                  </a:ext>
                </a:extLst>
              </a:tr>
              <a:tr h="293526">
                <a:tc v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매각</a:t>
                      </a: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dirty="0" smtClean="0">
                          <a:ln>
                            <a:solidFill>
                              <a:prstClr val="black">
                                <a:alpha val="0"/>
                              </a:prstClr>
                            </a:solidFill>
                          </a:ln>
                          <a:solidFill>
                            <a:prstClr val="black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1,020</a:t>
                      </a:r>
                      <a:endParaRPr kumimoji="0" lang="ko-KR" altLang="en-US" sz="700" b="0" i="0" u="none" strike="noStrike" kern="1200" cap="none" normalizeH="0" noProof="0" dirty="0" smtClean="0">
                        <a:ln>
                          <a:solidFill>
                            <a:prstClr val="black">
                              <a:alpha val="0"/>
                            </a:prstClr>
                          </a:solidFill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48,354 </a:t>
                      </a: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원</a:t>
                      </a: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9943333"/>
                  </a:ext>
                </a:extLst>
              </a:tr>
              <a:tr h="293526">
                <a:tc v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주택기금</a:t>
                      </a: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423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68,079</a:t>
                      </a:r>
                      <a:r>
                        <a:rPr lang="en-US" altLang="ko-KR" sz="700" baseline="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700" baseline="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원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2394348"/>
                  </a:ext>
                </a:extLst>
              </a:tr>
              <a:tr h="293526">
                <a:tc v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상각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4,136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132,932</a:t>
                      </a:r>
                      <a:r>
                        <a:rPr lang="en-US" altLang="ko-KR" sz="700" baseline="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700" baseline="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원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3758132"/>
                  </a:ext>
                </a:extLst>
              </a:tr>
              <a:tr h="293526">
                <a:tc v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매각</a:t>
                      </a: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1,233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54,366</a:t>
                      </a:r>
                      <a:r>
                        <a:rPr lang="en-US" altLang="ko-KR" sz="700" baseline="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700" baseline="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원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6719247"/>
                  </a:ext>
                </a:extLst>
              </a:tr>
              <a:tr h="293526">
                <a:tc v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주택기금</a:t>
                      </a: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543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79,366</a:t>
                      </a:r>
                      <a:r>
                        <a:rPr lang="en-US" altLang="ko-KR" sz="700" baseline="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700" baseline="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원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1170502"/>
                  </a:ext>
                </a:extLst>
              </a:tr>
            </a:tbl>
          </a:graphicData>
        </a:graphic>
      </p:graphicFrame>
      <p:graphicFrame>
        <p:nvGraphicFramePr>
          <p:cNvPr id="17" name="내용 개체 틀 121"/>
          <p:cNvGraphicFramePr>
            <a:graphicFrameLocks/>
          </p:cNvGraphicFramePr>
          <p:nvPr>
            <p:extLst/>
          </p:nvPr>
        </p:nvGraphicFramePr>
        <p:xfrm>
          <a:off x="208375" y="1178285"/>
          <a:ext cx="6726397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1725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810260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463550">
                  <a:extLst>
                    <a:ext uri="{9D8B030D-6E8A-4147-A177-3AD203B41FA5}">
                      <a16:colId xmlns:a16="http://schemas.microsoft.com/office/drawing/2014/main" val="3183548289"/>
                    </a:ext>
                  </a:extLst>
                </a:gridCol>
                <a:gridCol w="4860862">
                  <a:extLst>
                    <a:ext uri="{9D8B030D-6E8A-4147-A177-3AD203B41FA5}">
                      <a16:colId xmlns:a16="http://schemas.microsoft.com/office/drawing/2014/main" val="2589290911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err="1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감사년도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 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분기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852073" y="1220311"/>
            <a:ext cx="688047" cy="180915"/>
          </a:xfrm>
          <a:prstGeom prst="rect">
            <a:avLst/>
          </a:prstGeom>
          <a:solidFill>
            <a:schemeClr val="bg2">
              <a:lumMod val="7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2023</a:t>
            </a:r>
            <a:endParaRPr kumimoji="0" lang="ko-KR" altLang="en-US" sz="1000" b="0" i="0" u="none" strike="noStrike" kern="1200" cap="none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139743" y="1231169"/>
            <a:ext cx="302467" cy="180915"/>
          </a:xfrm>
          <a:prstGeom prst="rect">
            <a:avLst/>
          </a:prstGeom>
          <a:solidFill>
            <a:schemeClr val="bg2">
              <a:lumMod val="7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749236" y="1224479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31038" y="1224479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저장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12839" y="1224479"/>
            <a:ext cx="360971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b="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08375" y="1069169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704964" y="1345530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" name="직사각형 12"/>
          <p:cNvSpPr/>
          <p:nvPr/>
        </p:nvSpPr>
        <p:spPr bwMode="auto">
          <a:xfrm>
            <a:off x="2764588" y="1497373"/>
            <a:ext cx="4243041" cy="2077099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498697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609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MDD-00024,MDD-00117</a:t>
                      </a:r>
                    </a:p>
                    <a:p>
                      <a:pPr marL="0" algn="ctr" defTabSz="914395" rtl="0" eaLnBrk="1" latinLnBrk="1" hangingPunct="1"/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MDD-00118,MDD-00119</a:t>
                      </a:r>
                      <a:endParaRPr lang="ko-KR" altLang="en-US" sz="8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MDD72G11000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영업감사대시보드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(1/5)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</a:t>
                      </a:r>
                      <a:r>
                        <a:rPr lang="ko-KR" altLang="en-US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 </a:t>
                      </a:r>
                      <a:r>
                        <a:rPr lang="en-US" altLang="ko-KR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noProof="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임점감사</a:t>
                      </a:r>
                      <a:r>
                        <a:rPr lang="en-US" altLang="ko-KR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(P61:</a:t>
                      </a:r>
                      <a:r>
                        <a:rPr lang="ko-KR" altLang="en-US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김용근</a:t>
                      </a:r>
                      <a:r>
                        <a:rPr lang="en-US" altLang="ko-KR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noProof="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1138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영업감사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현황을 한번에 조회할 수 있는 대시보드 제공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</a:tbl>
          </a:graphicData>
        </a:graphic>
      </p:graphicFrame>
      <p:graphicFrame>
        <p:nvGraphicFramePr>
          <p:cNvPr id="16" name="내용 개체 틀 121"/>
          <p:cNvGraphicFramePr>
            <a:graphicFrameLocks/>
          </p:cNvGraphicFramePr>
          <p:nvPr>
            <p:extLst/>
          </p:nvPr>
        </p:nvGraphicFramePr>
        <p:xfrm>
          <a:off x="1169425" y="1244772"/>
          <a:ext cx="3228009" cy="1052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5159">
                  <a:extLst>
                    <a:ext uri="{9D8B030D-6E8A-4147-A177-3AD203B41FA5}">
                      <a16:colId xmlns:a16="http://schemas.microsoft.com/office/drawing/2014/main" val="2118101267"/>
                    </a:ext>
                  </a:extLst>
                </a:gridCol>
                <a:gridCol w="450475">
                  <a:extLst>
                    <a:ext uri="{9D8B030D-6E8A-4147-A177-3AD203B41FA5}">
                      <a16:colId xmlns:a16="http://schemas.microsoft.com/office/drawing/2014/main" val="3484451531"/>
                    </a:ext>
                  </a:extLst>
                </a:gridCol>
                <a:gridCol w="450475">
                  <a:extLst>
                    <a:ext uri="{9D8B030D-6E8A-4147-A177-3AD203B41FA5}">
                      <a16:colId xmlns:a16="http://schemas.microsoft.com/office/drawing/2014/main" val="3526029767"/>
                    </a:ext>
                  </a:extLst>
                </a:gridCol>
                <a:gridCol w="450475">
                  <a:extLst>
                    <a:ext uri="{9D8B030D-6E8A-4147-A177-3AD203B41FA5}">
                      <a16:colId xmlns:a16="http://schemas.microsoft.com/office/drawing/2014/main" val="3885801320"/>
                    </a:ext>
                  </a:extLst>
                </a:gridCol>
                <a:gridCol w="450475">
                  <a:extLst>
                    <a:ext uri="{9D8B030D-6E8A-4147-A177-3AD203B41FA5}">
                      <a16:colId xmlns:a16="http://schemas.microsoft.com/office/drawing/2014/main" val="1446051121"/>
                    </a:ext>
                  </a:extLst>
                </a:gridCol>
                <a:gridCol w="450475">
                  <a:extLst>
                    <a:ext uri="{9D8B030D-6E8A-4147-A177-3AD203B41FA5}">
                      <a16:colId xmlns:a16="http://schemas.microsoft.com/office/drawing/2014/main" val="942946011"/>
                    </a:ext>
                  </a:extLst>
                </a:gridCol>
                <a:gridCol w="450475">
                  <a:extLst>
                    <a:ext uri="{9D8B030D-6E8A-4147-A177-3AD203B41FA5}">
                      <a16:colId xmlns:a16="http://schemas.microsoft.com/office/drawing/2014/main" val="2113428248"/>
                    </a:ext>
                  </a:extLst>
                </a:gridCol>
              </a:tblGrid>
              <a:tr h="209256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종합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지역감사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여신특별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부책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테마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전체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1669389"/>
                  </a:ext>
                </a:extLst>
              </a:tr>
              <a:tr h="281068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계획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30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15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-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-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61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0641114"/>
                  </a:ext>
                </a:extLst>
              </a:tr>
              <a:tr h="281068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실사중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normalizeH="0" noProof="0" dirty="0" smtClean="0">
                          <a:ln>
                            <a:solidFill>
                              <a:prstClr val="black">
                                <a:alpha val="0"/>
                              </a:prstClr>
                            </a:solidFill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kumimoji="0" lang="ko-KR" altLang="en-US" sz="700" b="0" i="0" u="none" strike="noStrike" kern="1200" cap="none" normalizeH="0" noProof="0" dirty="0" smtClean="0">
                        <a:ln>
                          <a:solidFill>
                            <a:prstClr val="black">
                              <a:alpha val="0"/>
                            </a:prstClr>
                          </a:solidFill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6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9943333"/>
                  </a:ext>
                </a:extLst>
              </a:tr>
              <a:tr h="281068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완료</a:t>
                      </a: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진행률</a:t>
                      </a: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5(16.7%)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3(20%)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2(-)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1(25%)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1(-)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12(19.7%)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2394348"/>
                  </a:ext>
                </a:extLst>
              </a:tr>
            </a:tbl>
          </a:graphicData>
        </a:graphic>
      </p:graphicFrame>
      <p:sp>
        <p:nvSpPr>
          <p:cNvPr id="15" name="양쪽 모서리가 둥근 사각형 14"/>
          <p:cNvSpPr/>
          <p:nvPr/>
        </p:nvSpPr>
        <p:spPr bwMode="auto">
          <a:xfrm>
            <a:off x="168344" y="1008793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영업감사대시보드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3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168345" y="1194528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4" name="표 3"/>
          <p:cNvGraphicFramePr>
            <a:graphicFrameLocks noGrp="1"/>
          </p:cNvGraphicFramePr>
          <p:nvPr>
            <p:extLst/>
          </p:nvPr>
        </p:nvGraphicFramePr>
        <p:xfrm>
          <a:off x="211916" y="1244771"/>
          <a:ext cx="918615" cy="1056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18615">
                  <a:extLst>
                    <a:ext uri="{9D8B030D-6E8A-4147-A177-3AD203B41FA5}">
                      <a16:colId xmlns:a16="http://schemas.microsoft.com/office/drawing/2014/main" val="2978708938"/>
                    </a:ext>
                  </a:extLst>
                </a:gridCol>
              </a:tblGrid>
              <a:tr h="1056953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kern="1200" dirty="0" smtClean="0">
                          <a:solidFill>
                            <a:schemeClr val="dk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감사실시현황</a:t>
                      </a:r>
                      <a:endParaRPr lang="en-US" altLang="ko-KR" sz="700" u="sng" kern="1200" dirty="0" smtClean="0">
                        <a:solidFill>
                          <a:schemeClr val="dk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 smtClean="0">
                          <a:solidFill>
                            <a:schemeClr val="dk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  </a:t>
                      </a:r>
                      <a:r>
                        <a:rPr lang="en-US" altLang="ko-KR" sz="1100" kern="1200" dirty="0" smtClean="0">
                          <a:solidFill>
                            <a:schemeClr val="dk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711</a:t>
                      </a:r>
                      <a:r>
                        <a:rPr lang="en-US" altLang="ko-KR" sz="700" kern="1200" dirty="0" smtClean="0">
                          <a:solidFill>
                            <a:schemeClr val="dk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 / </a:t>
                      </a: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 smtClean="0">
                          <a:solidFill>
                            <a:schemeClr val="dk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      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234 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지점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  <a:cs typeface="+mn-cs"/>
                      </a:endParaRPr>
                    </a:p>
                  </a:txBody>
                  <a:tcP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4003563"/>
                  </a:ext>
                </a:extLst>
              </a:tr>
            </a:tbl>
          </a:graphicData>
        </a:graphic>
      </p:graphicFrame>
      <p:grpSp>
        <p:nvGrpSpPr>
          <p:cNvPr id="26" name="그룹 25"/>
          <p:cNvGrpSpPr/>
          <p:nvPr/>
        </p:nvGrpSpPr>
        <p:grpSpPr>
          <a:xfrm>
            <a:off x="4440215" y="1237830"/>
            <a:ext cx="2628000" cy="2340000"/>
            <a:chOff x="3206836" y="2438400"/>
            <a:chExt cx="3813090" cy="3724276"/>
          </a:xfrm>
        </p:grpSpPr>
        <p:grpSp>
          <p:nvGrpSpPr>
            <p:cNvPr id="28" name="그룹 27"/>
            <p:cNvGrpSpPr/>
            <p:nvPr/>
          </p:nvGrpSpPr>
          <p:grpSpPr>
            <a:xfrm>
              <a:off x="3206836" y="2541745"/>
              <a:ext cx="1286838" cy="446006"/>
              <a:chOff x="1455948" y="2926525"/>
              <a:chExt cx="1286838" cy="446006"/>
            </a:xfrm>
          </p:grpSpPr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FC888B5C-484B-582C-1070-BF5ED7268B32}"/>
                  </a:ext>
                </a:extLst>
              </p:cNvPr>
              <p:cNvSpPr txBox="1"/>
              <p:nvPr/>
            </p:nvSpPr>
            <p:spPr>
              <a:xfrm>
                <a:off x="1455948" y="2926525"/>
                <a:ext cx="1286838" cy="446006"/>
              </a:xfrm>
              <a:prstGeom prst="rect">
                <a:avLst/>
              </a:prstGeom>
              <a:noFill/>
              <a:ln>
                <a:solidFill>
                  <a:schemeClr val="lt1">
                    <a:alpha val="0"/>
                  </a:schemeClr>
                </a:solidFill>
              </a:ln>
            </p:spPr>
            <p:txBody>
              <a:bodyPr wrap="square" rtlCol="0">
                <a:spAutoFit/>
              </a:bodyPr>
              <a:lstStyle/>
              <a:p>
                <a:pPr marR="0" lvl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tabLst/>
                  <a:defRPr/>
                </a:pPr>
                <a:r>
                  <a:rPr lang="ko-KR" altLang="en-US" sz="700" noProof="0" smtClean="0">
                    <a:ln>
                      <a:solidFill>
                        <a:srgbClr val="005EB8">
                          <a:alpha val="0"/>
                        </a:srgbClr>
                      </a:solidFill>
                    </a:ln>
                    <a:solidFill>
                      <a:srgbClr val="000000"/>
                    </a:solidFill>
                    <a:latin typeface="KB금융 본문체 Medium" panose="020B0603000000000000" pitchFamily="50" charset="-127"/>
                    <a:ea typeface="KB금융 본문체 Medium" panose="020B0603000000000000" pitchFamily="50" charset="-127"/>
                  </a:rPr>
                  <a:t>지역별 실시현황</a:t>
                </a:r>
                <a:endParaRPr kumimoji="1" lang="ko-KR" altLang="en-US" sz="700" i="0" u="none" strike="noStrike" kern="1200" cap="none" normalizeH="0" baseline="0" noProof="0">
                  <a:ln>
                    <a:solidFill>
                      <a:srgbClr val="005EB8">
                        <a:alpha val="0"/>
                      </a:srgbClr>
                    </a:solidFill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endParaRPr>
              </a:p>
            </p:txBody>
          </p:sp>
          <p:sp>
            <p:nvSpPr>
              <p:cNvPr id="33" name="Line 7">
                <a:extLst>
                  <a:ext uri="{FF2B5EF4-FFF2-40B4-BE49-F238E27FC236}">
                    <a16:creationId xmlns:a16="http://schemas.microsoft.com/office/drawing/2014/main" id="{9967A568-9F03-4D27-9535-F13D4C8E4DF1}"/>
                  </a:ext>
                </a:extLst>
              </p:cNvPr>
              <p:cNvSpPr>
                <a:spLocks noChangeShapeType="1"/>
              </p:cNvSpPr>
              <p:nvPr/>
            </p:nvSpPr>
            <p:spPr bwMode="gray">
              <a:xfrm>
                <a:off x="1612240" y="3289532"/>
                <a:ext cx="974255" cy="1228"/>
              </a:xfrm>
              <a:prstGeom prst="line">
                <a:avLst/>
              </a:prstGeom>
              <a:noFill/>
              <a:ln w="19050">
                <a:solidFill>
                  <a:schemeClr val="tx1">
                    <a:lumMod val="50000"/>
                    <a:lumOff val="50000"/>
                  </a:schemeClr>
                </a:solidFill>
                <a:round/>
                <a:headEnd/>
                <a:tailEnd/>
              </a:ln>
              <a:effectLst/>
            </p:spPr>
            <p:txBody>
              <a:bodyPr lIns="90000" tIns="54000" rIns="90000" bIns="18000"/>
              <a:lstStyle/>
              <a:p>
                <a:pPr marL="0" marR="0" lvl="0" indent="0" algn="ctr" defTabSz="457200" rtl="0" eaLnBrk="0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C2D83"/>
                  </a:buClr>
                  <a:buSzTx/>
                  <a:buFont typeface="Wingdings" pitchFamily="2" charset="2"/>
                  <a:buNone/>
                  <a:tabLst/>
                  <a:defRPr/>
                </a:pPr>
                <a:endParaRPr kumimoji="1" lang="ko-KR" altLang="en-US" sz="700" b="1" i="0" u="none" strike="noStrike" kern="1200" cap="none" spc="0" normalizeH="0" baseline="0" noProof="0">
                  <a:ln>
                    <a:solidFill>
                      <a:srgbClr val="000000"/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endParaRPr>
              </a:p>
            </p:txBody>
          </p:sp>
        </p:grp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FD1B450E-5646-45F7-A894-6E9FF0A7452C}"/>
                </a:ext>
              </a:extLst>
            </p:cNvPr>
            <p:cNvSpPr/>
            <p:nvPr/>
          </p:nvSpPr>
          <p:spPr>
            <a:xfrm>
              <a:off x="3257550" y="2438400"/>
              <a:ext cx="3762376" cy="3724276"/>
            </a:xfrm>
            <a:prstGeom prst="rect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endParaRPr>
            </a:p>
          </p:txBody>
        </p:sp>
        <p:pic>
          <p:nvPicPr>
            <p:cNvPr id="30" name="그림 29"/>
            <p:cNvPicPr>
              <a:picLocks noChangeAspect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9581" b="99102" l="0" r="8388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3521072" y="2787967"/>
              <a:ext cx="3404909" cy="3047613"/>
            </a:xfrm>
            <a:prstGeom prst="rect">
              <a:avLst/>
            </a:prstGeom>
          </p:spPr>
        </p:pic>
        <p:sp>
          <p:nvSpPr>
            <p:cNvPr id="31" name="직사각형 30"/>
            <p:cNvSpPr/>
            <p:nvPr/>
          </p:nvSpPr>
          <p:spPr bwMode="auto">
            <a:xfrm>
              <a:off x="3974298" y="5481245"/>
              <a:ext cx="2368313" cy="304513"/>
            </a:xfrm>
            <a:prstGeom prst="rect">
              <a:avLst/>
            </a:prstGeom>
            <a:solidFill>
              <a:srgbClr val="EAAA00">
                <a:lumMod val="40000"/>
                <a:lumOff val="60000"/>
              </a:srgbClr>
            </a:solidFill>
            <a:ln w="9525" cap="flat" cmpd="sng" algn="ctr">
              <a:solidFill>
                <a:srgbClr val="F1A600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algn="ctr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700" kern="0" smtClean="0">
                  <a:solidFill>
                    <a:srgbClr val="000000"/>
                  </a:solidFill>
                  <a:latin typeface="KB금융 본문체 Bold" panose="020B0803000000000000" pitchFamily="50" charset="-127"/>
                  <a:ea typeface="KB금융 본문체 Bold" panose="020B0803000000000000" pitchFamily="50" charset="-127"/>
                </a:rPr>
                <a:t>(</a:t>
              </a:r>
              <a:r>
                <a:rPr kumimoji="0" lang="ko-KR" altLang="en-US" sz="700" kern="0" smtClean="0">
                  <a:solidFill>
                    <a:srgbClr val="000000"/>
                  </a:solidFill>
                  <a:latin typeface="KB금융 본문체 Bold" panose="020B0803000000000000" pitchFamily="50" charset="-127"/>
                  <a:ea typeface="KB금융 본문체 Bold" panose="020B0803000000000000" pitchFamily="50" charset="-127"/>
                </a:rPr>
                <a:t>지역지도 예시</a:t>
              </a:r>
              <a:r>
                <a:rPr kumimoji="0" lang="en-US" altLang="ko-KR" sz="700" kern="0" smtClean="0">
                  <a:solidFill>
                    <a:srgbClr val="000000"/>
                  </a:solidFill>
                  <a:latin typeface="KB금융 본문체 Bold" panose="020B0803000000000000" pitchFamily="50" charset="-127"/>
                  <a:ea typeface="KB금융 본문체 Bold" panose="020B0803000000000000" pitchFamily="50" charset="-127"/>
                </a:rPr>
                <a:t>)</a:t>
              </a:r>
              <a:endParaRPr kumimoji="0" lang="ko-KR" altLang="en-US" sz="700" i="0" u="none" strike="noStrike" kern="0" cap="none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Bold" panose="020B0803000000000000" pitchFamily="50" charset="-127"/>
                <a:ea typeface="KB금융 본문체 Bold" panose="020B0803000000000000" pitchFamily="50" charset="-127"/>
              </a:endParaRPr>
            </a:p>
          </p:txBody>
        </p:sp>
      </p:grpSp>
      <p:graphicFrame>
        <p:nvGraphicFramePr>
          <p:cNvPr id="35" name="내용 개체 틀 121"/>
          <p:cNvGraphicFramePr>
            <a:graphicFrameLocks/>
          </p:cNvGraphicFramePr>
          <p:nvPr>
            <p:extLst/>
          </p:nvPr>
        </p:nvGraphicFramePr>
        <p:xfrm>
          <a:off x="1211999" y="3693327"/>
          <a:ext cx="3185437" cy="11446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2282">
                  <a:extLst>
                    <a:ext uri="{9D8B030D-6E8A-4147-A177-3AD203B41FA5}">
                      <a16:colId xmlns:a16="http://schemas.microsoft.com/office/drawing/2014/main" val="2118101267"/>
                    </a:ext>
                  </a:extLst>
                </a:gridCol>
                <a:gridCol w="516631">
                  <a:extLst>
                    <a:ext uri="{9D8B030D-6E8A-4147-A177-3AD203B41FA5}">
                      <a16:colId xmlns:a16="http://schemas.microsoft.com/office/drawing/2014/main" val="3484451531"/>
                    </a:ext>
                  </a:extLst>
                </a:gridCol>
                <a:gridCol w="516631">
                  <a:extLst>
                    <a:ext uri="{9D8B030D-6E8A-4147-A177-3AD203B41FA5}">
                      <a16:colId xmlns:a16="http://schemas.microsoft.com/office/drawing/2014/main" val="3526029767"/>
                    </a:ext>
                  </a:extLst>
                </a:gridCol>
                <a:gridCol w="516631">
                  <a:extLst>
                    <a:ext uri="{9D8B030D-6E8A-4147-A177-3AD203B41FA5}">
                      <a16:colId xmlns:a16="http://schemas.microsoft.com/office/drawing/2014/main" val="3885801320"/>
                    </a:ext>
                  </a:extLst>
                </a:gridCol>
                <a:gridCol w="516631">
                  <a:extLst>
                    <a:ext uri="{9D8B030D-6E8A-4147-A177-3AD203B41FA5}">
                      <a16:colId xmlns:a16="http://schemas.microsoft.com/office/drawing/2014/main" val="1446051121"/>
                    </a:ext>
                  </a:extLst>
                </a:gridCol>
                <a:gridCol w="516631">
                  <a:extLst>
                    <a:ext uri="{9D8B030D-6E8A-4147-A177-3AD203B41FA5}">
                      <a16:colId xmlns:a16="http://schemas.microsoft.com/office/drawing/2014/main" val="2113428248"/>
                    </a:ext>
                  </a:extLst>
                </a:gridCol>
              </a:tblGrid>
              <a:tr h="179623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현지조치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주의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시정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문책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전체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1669389"/>
                  </a:ext>
                </a:extLst>
              </a:tr>
              <a:tr h="241264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종합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10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17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0641114"/>
                  </a:ext>
                </a:extLst>
              </a:tr>
              <a:tr h="241264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내부통제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normalizeH="0" noProof="0" dirty="0" smtClean="0">
                          <a:ln>
                            <a:solidFill>
                              <a:prstClr val="black">
                                <a:alpha val="0"/>
                              </a:prstClr>
                            </a:solidFill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15</a:t>
                      </a:r>
                      <a:endParaRPr kumimoji="0" lang="ko-KR" altLang="en-US" sz="700" b="0" i="0" u="none" strike="noStrike" kern="1200" cap="none" normalizeH="0" noProof="0" dirty="0" smtClean="0">
                        <a:ln>
                          <a:solidFill>
                            <a:prstClr val="black">
                              <a:alpha val="0"/>
                            </a:prstClr>
                          </a:solidFill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5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9943333"/>
                  </a:ext>
                </a:extLst>
              </a:tr>
              <a:tr h="241264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통제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5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2394348"/>
                  </a:ext>
                </a:extLst>
              </a:tr>
              <a:tr h="241264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부책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7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7614215"/>
                  </a:ext>
                </a:extLst>
              </a:tr>
            </a:tbl>
          </a:graphicData>
        </a:graphic>
      </p:graphicFrame>
      <p:graphicFrame>
        <p:nvGraphicFramePr>
          <p:cNvPr id="36" name="표 35"/>
          <p:cNvGraphicFramePr>
            <a:graphicFrameLocks noGrp="1"/>
          </p:cNvGraphicFramePr>
          <p:nvPr>
            <p:extLst/>
          </p:nvPr>
        </p:nvGraphicFramePr>
        <p:xfrm>
          <a:off x="208229" y="3681967"/>
          <a:ext cx="961196" cy="1156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61196">
                  <a:extLst>
                    <a:ext uri="{9D8B030D-6E8A-4147-A177-3AD203B41FA5}">
                      <a16:colId xmlns:a16="http://schemas.microsoft.com/office/drawing/2014/main" val="2978708938"/>
                    </a:ext>
                  </a:extLst>
                </a:gridCol>
              </a:tblGrid>
              <a:tr h="1156040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u="sng" kern="1200" dirty="0" smtClean="0">
                        <a:solidFill>
                          <a:schemeClr val="dk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kern="1200" dirty="0" smtClean="0">
                          <a:solidFill>
                            <a:schemeClr val="dk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감사지적현황</a:t>
                      </a:r>
                      <a:endParaRPr lang="en-US" altLang="ko-KR" sz="700" u="sng" kern="1200" dirty="0" smtClean="0">
                        <a:solidFill>
                          <a:schemeClr val="dk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 smtClean="0">
                          <a:solidFill>
                            <a:schemeClr val="dk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  </a:t>
                      </a: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800" kern="1200" dirty="0" smtClean="0">
                          <a:solidFill>
                            <a:schemeClr val="dk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52 </a:t>
                      </a:r>
                      <a:r>
                        <a:rPr lang="ko-KR" altLang="en-US" sz="1800" kern="1200" dirty="0" smtClean="0">
                          <a:solidFill>
                            <a:schemeClr val="dk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건</a:t>
                      </a:r>
                      <a:endParaRPr lang="ko-KR" altLang="en-US" sz="1800" kern="1200" dirty="0">
                        <a:solidFill>
                          <a:schemeClr val="dk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  <a:cs typeface="+mn-cs"/>
                      </a:endParaRPr>
                    </a:p>
                  </a:txBody>
                  <a:tcP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4003563"/>
                  </a:ext>
                </a:extLst>
              </a:tr>
            </a:tbl>
          </a:graphicData>
        </a:graphic>
      </p:graphicFrame>
      <p:pic>
        <p:nvPicPr>
          <p:cNvPr id="6" name="그림 5"/>
          <p:cNvPicPr>
            <a:picLocks noChangeAspect="1"/>
          </p:cNvPicPr>
          <p:nvPr/>
        </p:nvPicPr>
        <p:blipFill rotWithShape="1">
          <a:blip r:embed="rId4"/>
          <a:srcRect r="66868"/>
          <a:stretch/>
        </p:blipFill>
        <p:spPr>
          <a:xfrm>
            <a:off x="208027" y="4923932"/>
            <a:ext cx="1388017" cy="1476872"/>
          </a:xfrm>
          <a:prstGeom prst="rect">
            <a:avLst/>
          </a:prstGeom>
        </p:spPr>
      </p:pic>
      <p:sp>
        <p:nvSpPr>
          <p:cNvPr id="38" name="TextBox 37">
            <a:extLst>
              <a:ext uri="{FF2B5EF4-FFF2-40B4-BE49-F238E27FC236}">
                <a16:creationId xmlns:a16="http://schemas.microsoft.com/office/drawing/2014/main" id="{4723E3A0-AFBB-43E3-9CB8-D797D5A8876D}"/>
              </a:ext>
            </a:extLst>
          </p:cNvPr>
          <p:cNvSpPr txBox="1"/>
          <p:nvPr/>
        </p:nvSpPr>
        <p:spPr>
          <a:xfrm>
            <a:off x="4360785" y="3659475"/>
            <a:ext cx="91644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/>
            <a:r>
              <a:rPr lang="ko-KR" altLang="en-US" sz="1000" u="sng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주요지적사항</a:t>
            </a:r>
            <a:endParaRPr lang="ko-KR" altLang="en-US" sz="1000" u="sng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9" name="내용 개체 틀 121"/>
          <p:cNvGraphicFramePr>
            <a:graphicFrameLocks/>
          </p:cNvGraphicFramePr>
          <p:nvPr>
            <p:extLst/>
          </p:nvPr>
        </p:nvGraphicFramePr>
        <p:xfrm>
          <a:off x="4453237" y="3874901"/>
          <a:ext cx="2614978" cy="249310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4523">
                  <a:extLst>
                    <a:ext uri="{9D8B030D-6E8A-4147-A177-3AD203B41FA5}">
                      <a16:colId xmlns:a16="http://schemas.microsoft.com/office/drawing/2014/main" val="2118101267"/>
                    </a:ext>
                  </a:extLst>
                </a:gridCol>
                <a:gridCol w="1629295">
                  <a:extLst>
                    <a:ext uri="{9D8B030D-6E8A-4147-A177-3AD203B41FA5}">
                      <a16:colId xmlns:a16="http://schemas.microsoft.com/office/drawing/2014/main" val="3484451531"/>
                    </a:ext>
                  </a:extLst>
                </a:gridCol>
                <a:gridCol w="501160">
                  <a:extLst>
                    <a:ext uri="{9D8B030D-6E8A-4147-A177-3AD203B41FA5}">
                      <a16:colId xmlns:a16="http://schemas.microsoft.com/office/drawing/2014/main" val="3526029767"/>
                    </a:ext>
                  </a:extLst>
                </a:gridCol>
              </a:tblGrid>
              <a:tr h="145643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업무</a:t>
                      </a:r>
                      <a:r>
                        <a:rPr lang="en-US" altLang="ko-KR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지적항목</a:t>
                      </a:r>
                      <a:r>
                        <a:rPr lang="en-US" altLang="ko-KR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(</a:t>
                      </a: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소분류</a:t>
                      </a:r>
                      <a:r>
                        <a:rPr lang="en-US" altLang="ko-KR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)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지적건수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1669389"/>
                  </a:ext>
                </a:extLst>
              </a:tr>
              <a:tr h="195622">
                <a:tc rowSpan="3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수신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수 </a:t>
                      </a: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표외출금</a:t>
                      </a: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처리 </a:t>
                      </a: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부적정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0641114"/>
                  </a:ext>
                </a:extLst>
              </a:tr>
              <a:tr h="195622">
                <a:tc v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normalizeH="0" noProof="0" dirty="0" err="1" smtClean="0">
                          <a:ln>
                            <a:solidFill>
                              <a:prstClr val="black">
                                <a:alpha val="0"/>
                              </a:prstClr>
                            </a:solidFill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주식납입금</a:t>
                      </a:r>
                      <a:r>
                        <a:rPr kumimoji="0" lang="ko-KR" altLang="en-US" sz="700" b="0" i="0" u="none" strike="noStrike" kern="1200" cap="none" normalizeH="0" noProof="0" dirty="0" smtClean="0">
                          <a:ln>
                            <a:solidFill>
                              <a:prstClr val="black">
                                <a:alpha val="0"/>
                              </a:prstClr>
                            </a:solidFill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ko-KR" altLang="en-US" sz="700" b="0" i="0" u="none" strike="noStrike" kern="1200" cap="none" normalizeH="0" noProof="0" dirty="0" err="1" smtClean="0">
                          <a:ln>
                            <a:solidFill>
                              <a:prstClr val="black">
                                <a:alpha val="0"/>
                              </a:prstClr>
                            </a:solidFill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지급업무</a:t>
                      </a:r>
                      <a:r>
                        <a:rPr kumimoji="0" lang="ko-KR" altLang="en-US" sz="700" b="0" i="0" u="none" strike="noStrike" kern="1200" cap="none" normalizeH="0" noProof="0" dirty="0" smtClean="0">
                          <a:ln>
                            <a:solidFill>
                              <a:prstClr val="black">
                                <a:alpha val="0"/>
                              </a:prstClr>
                            </a:solidFill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소홀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9943333"/>
                  </a:ext>
                </a:extLst>
              </a:tr>
              <a:tr h="195622">
                <a:tc v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고객정보 관리업무 소홀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2394348"/>
                  </a:ext>
                </a:extLst>
              </a:tr>
              <a:tr h="195622">
                <a:tc rowSpan="6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여신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대출심사 소홀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16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7614215"/>
                  </a:ext>
                </a:extLst>
              </a:tr>
              <a:tr h="195622">
                <a:tc v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대출금 사후관리 소홀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10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1221394"/>
                  </a:ext>
                </a:extLst>
              </a:tr>
              <a:tr h="195622">
                <a:tc v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징구서류</a:t>
                      </a: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누락 또는 미비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9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8160926"/>
                  </a:ext>
                </a:extLst>
              </a:tr>
              <a:tr h="195622">
                <a:tc v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대출가능금액 </a:t>
                      </a: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초과대출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8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4067720"/>
                  </a:ext>
                </a:extLst>
              </a:tr>
              <a:tr h="195622">
                <a:tc v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기한연장업무 취급 불철저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7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9219377"/>
                  </a:ext>
                </a:extLst>
              </a:tr>
              <a:tr h="195622">
                <a:tc v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여신관련 약정서 작성의 적정성 점검 </a:t>
                      </a: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미실시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7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54039977"/>
                  </a:ext>
                </a:extLst>
              </a:tr>
              <a:tr h="195622">
                <a:tc rowSpan="3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기타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중요증서</a:t>
                      </a: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불용처리</a:t>
                      </a: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ㅅ소홀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3560955"/>
                  </a:ext>
                </a:extLst>
              </a:tr>
              <a:tr h="195622">
                <a:tc v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예금잔액조회제도 운영 불철저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72939646"/>
                  </a:ext>
                </a:extLst>
              </a:tr>
              <a:tr h="195622">
                <a:tc v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특명검사</a:t>
                      </a: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미실시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17401878"/>
                  </a:ext>
                </a:extLst>
              </a:tr>
            </a:tbl>
          </a:graphicData>
        </a:graphic>
      </p:graphicFrame>
      <p:sp>
        <p:nvSpPr>
          <p:cNvPr id="41" name="타원 4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68343" y="1000812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5" name="직사각형 24"/>
          <p:cNvSpPr/>
          <p:nvPr/>
        </p:nvSpPr>
        <p:spPr bwMode="auto">
          <a:xfrm>
            <a:off x="231332" y="2355128"/>
            <a:ext cx="4189407" cy="1064029"/>
          </a:xfrm>
          <a:prstGeom prst="rect">
            <a:avLst/>
          </a:prstGeom>
          <a:noFill/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4" name="내용 개체 틀 121"/>
          <p:cNvGraphicFramePr>
            <a:graphicFrameLocks/>
          </p:cNvGraphicFramePr>
          <p:nvPr>
            <p:extLst/>
          </p:nvPr>
        </p:nvGraphicFramePr>
        <p:xfrm>
          <a:off x="231332" y="3438768"/>
          <a:ext cx="4189406" cy="21657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70958">
                  <a:extLst>
                    <a:ext uri="{9D8B030D-6E8A-4147-A177-3AD203B41FA5}">
                      <a16:colId xmlns:a16="http://schemas.microsoft.com/office/drawing/2014/main" val="2118101267"/>
                    </a:ext>
                  </a:extLst>
                </a:gridCol>
                <a:gridCol w="318204">
                  <a:extLst>
                    <a:ext uri="{9D8B030D-6E8A-4147-A177-3AD203B41FA5}">
                      <a16:colId xmlns:a16="http://schemas.microsoft.com/office/drawing/2014/main" val="3484451531"/>
                    </a:ext>
                  </a:extLst>
                </a:gridCol>
                <a:gridCol w="318204">
                  <a:extLst>
                    <a:ext uri="{9D8B030D-6E8A-4147-A177-3AD203B41FA5}">
                      <a16:colId xmlns:a16="http://schemas.microsoft.com/office/drawing/2014/main" val="3526029767"/>
                    </a:ext>
                  </a:extLst>
                </a:gridCol>
                <a:gridCol w="318204">
                  <a:extLst>
                    <a:ext uri="{9D8B030D-6E8A-4147-A177-3AD203B41FA5}">
                      <a16:colId xmlns:a16="http://schemas.microsoft.com/office/drawing/2014/main" val="3885801320"/>
                    </a:ext>
                  </a:extLst>
                </a:gridCol>
                <a:gridCol w="318204">
                  <a:extLst>
                    <a:ext uri="{9D8B030D-6E8A-4147-A177-3AD203B41FA5}">
                      <a16:colId xmlns:a16="http://schemas.microsoft.com/office/drawing/2014/main" val="1446051121"/>
                    </a:ext>
                  </a:extLst>
                </a:gridCol>
                <a:gridCol w="318204">
                  <a:extLst>
                    <a:ext uri="{9D8B030D-6E8A-4147-A177-3AD203B41FA5}">
                      <a16:colId xmlns:a16="http://schemas.microsoft.com/office/drawing/2014/main" val="2113428248"/>
                    </a:ext>
                  </a:extLst>
                </a:gridCol>
                <a:gridCol w="318204">
                  <a:extLst>
                    <a:ext uri="{9D8B030D-6E8A-4147-A177-3AD203B41FA5}">
                      <a16:colId xmlns:a16="http://schemas.microsoft.com/office/drawing/2014/main" val="147513593"/>
                    </a:ext>
                  </a:extLst>
                </a:gridCol>
                <a:gridCol w="318204">
                  <a:extLst>
                    <a:ext uri="{9D8B030D-6E8A-4147-A177-3AD203B41FA5}">
                      <a16:colId xmlns:a16="http://schemas.microsoft.com/office/drawing/2014/main" val="2390441232"/>
                    </a:ext>
                  </a:extLst>
                </a:gridCol>
                <a:gridCol w="318204">
                  <a:extLst>
                    <a:ext uri="{9D8B030D-6E8A-4147-A177-3AD203B41FA5}">
                      <a16:colId xmlns:a16="http://schemas.microsoft.com/office/drawing/2014/main" val="3354170396"/>
                    </a:ext>
                  </a:extLst>
                </a:gridCol>
                <a:gridCol w="318204">
                  <a:extLst>
                    <a:ext uri="{9D8B030D-6E8A-4147-A177-3AD203B41FA5}">
                      <a16:colId xmlns:a16="http://schemas.microsoft.com/office/drawing/2014/main" val="2588702147"/>
                    </a:ext>
                  </a:extLst>
                </a:gridCol>
                <a:gridCol w="318204">
                  <a:extLst>
                    <a:ext uri="{9D8B030D-6E8A-4147-A177-3AD203B41FA5}">
                      <a16:colId xmlns:a16="http://schemas.microsoft.com/office/drawing/2014/main" val="886859123"/>
                    </a:ext>
                  </a:extLst>
                </a:gridCol>
                <a:gridCol w="318204">
                  <a:extLst>
                    <a:ext uri="{9D8B030D-6E8A-4147-A177-3AD203B41FA5}">
                      <a16:colId xmlns:a16="http://schemas.microsoft.com/office/drawing/2014/main" val="1042140376"/>
                    </a:ext>
                  </a:extLst>
                </a:gridCol>
                <a:gridCol w="318204">
                  <a:extLst>
                    <a:ext uri="{9D8B030D-6E8A-4147-A177-3AD203B41FA5}">
                      <a16:colId xmlns:a16="http://schemas.microsoft.com/office/drawing/2014/main" val="3771464828"/>
                    </a:ext>
                  </a:extLst>
                </a:gridCol>
              </a:tblGrid>
              <a:tr h="179623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강남</a:t>
                      </a:r>
                      <a:r>
                        <a:rPr lang="en-US" altLang="ko-KR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강북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강서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경기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경인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남부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대구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동부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부산울산경남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북부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서부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충청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호남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1669389"/>
                  </a:ext>
                </a:extLst>
              </a:tr>
            </a:tbl>
          </a:graphicData>
        </a:graphic>
      </p:graphicFrame>
      <p:sp>
        <p:nvSpPr>
          <p:cNvPr id="37" name="직사각형 36"/>
          <p:cNvSpPr/>
          <p:nvPr/>
        </p:nvSpPr>
        <p:spPr bwMode="auto">
          <a:xfrm flipH="1">
            <a:off x="347039" y="2612823"/>
            <a:ext cx="74815" cy="806334"/>
          </a:xfrm>
          <a:prstGeom prst="rect">
            <a:avLst/>
          </a:prstGeom>
          <a:solidFill>
            <a:srgbClr val="2272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0" name="직사각형 39"/>
          <p:cNvSpPr/>
          <p:nvPr/>
        </p:nvSpPr>
        <p:spPr bwMode="auto">
          <a:xfrm flipH="1">
            <a:off x="459318" y="2771157"/>
            <a:ext cx="74815" cy="6480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2" name="직사각형 41"/>
          <p:cNvSpPr/>
          <p:nvPr/>
        </p:nvSpPr>
        <p:spPr bwMode="auto">
          <a:xfrm flipH="1">
            <a:off x="660497" y="2901776"/>
            <a:ext cx="74815" cy="517381"/>
          </a:xfrm>
          <a:prstGeom prst="rect">
            <a:avLst/>
          </a:prstGeom>
          <a:solidFill>
            <a:srgbClr val="2272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3" name="직사각형 42"/>
          <p:cNvSpPr/>
          <p:nvPr/>
        </p:nvSpPr>
        <p:spPr bwMode="auto">
          <a:xfrm flipH="1">
            <a:off x="785476" y="2771157"/>
            <a:ext cx="74815" cy="6480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4" name="직사각형 43"/>
          <p:cNvSpPr/>
          <p:nvPr/>
        </p:nvSpPr>
        <p:spPr bwMode="auto">
          <a:xfrm flipH="1">
            <a:off x="986655" y="2841720"/>
            <a:ext cx="74815" cy="577437"/>
          </a:xfrm>
          <a:prstGeom prst="rect">
            <a:avLst/>
          </a:prstGeom>
          <a:solidFill>
            <a:srgbClr val="2272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직사각형 44"/>
          <p:cNvSpPr/>
          <p:nvPr/>
        </p:nvSpPr>
        <p:spPr bwMode="auto">
          <a:xfrm flipH="1">
            <a:off x="1117984" y="2771157"/>
            <a:ext cx="74815" cy="6480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6" name="직사각형 45"/>
          <p:cNvSpPr/>
          <p:nvPr/>
        </p:nvSpPr>
        <p:spPr bwMode="auto">
          <a:xfrm flipH="1">
            <a:off x="1287413" y="2891462"/>
            <a:ext cx="74815" cy="527695"/>
          </a:xfrm>
          <a:prstGeom prst="rect">
            <a:avLst/>
          </a:prstGeom>
          <a:solidFill>
            <a:srgbClr val="2272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7" name="직사각형 46"/>
          <p:cNvSpPr/>
          <p:nvPr/>
        </p:nvSpPr>
        <p:spPr bwMode="auto">
          <a:xfrm flipH="1">
            <a:off x="1444142" y="2720352"/>
            <a:ext cx="74815" cy="698805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8" name="직사각형 47"/>
          <p:cNvSpPr/>
          <p:nvPr/>
        </p:nvSpPr>
        <p:spPr bwMode="auto">
          <a:xfrm flipH="1">
            <a:off x="1600871" y="2971367"/>
            <a:ext cx="74815" cy="447790"/>
          </a:xfrm>
          <a:prstGeom prst="rect">
            <a:avLst/>
          </a:prstGeom>
          <a:solidFill>
            <a:srgbClr val="2272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9" name="직사각형 48"/>
          <p:cNvSpPr/>
          <p:nvPr/>
        </p:nvSpPr>
        <p:spPr bwMode="auto">
          <a:xfrm flipH="1">
            <a:off x="1757600" y="2771157"/>
            <a:ext cx="74815" cy="6480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0" name="직사각형 49"/>
          <p:cNvSpPr/>
          <p:nvPr/>
        </p:nvSpPr>
        <p:spPr bwMode="auto">
          <a:xfrm flipH="1">
            <a:off x="1914329" y="2966075"/>
            <a:ext cx="74815" cy="453082"/>
          </a:xfrm>
          <a:prstGeom prst="rect">
            <a:avLst/>
          </a:prstGeom>
          <a:solidFill>
            <a:srgbClr val="2272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1" name="직사각형 50"/>
          <p:cNvSpPr/>
          <p:nvPr/>
        </p:nvSpPr>
        <p:spPr bwMode="auto">
          <a:xfrm flipH="1">
            <a:off x="2071058" y="2771157"/>
            <a:ext cx="74815" cy="6480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2" name="직사각형 51"/>
          <p:cNvSpPr/>
          <p:nvPr/>
        </p:nvSpPr>
        <p:spPr bwMode="auto">
          <a:xfrm flipH="1">
            <a:off x="2227787" y="2745747"/>
            <a:ext cx="74815" cy="673410"/>
          </a:xfrm>
          <a:prstGeom prst="rect">
            <a:avLst/>
          </a:prstGeom>
          <a:solidFill>
            <a:srgbClr val="2272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3" name="직사각형 52"/>
          <p:cNvSpPr/>
          <p:nvPr/>
        </p:nvSpPr>
        <p:spPr bwMode="auto">
          <a:xfrm flipH="1">
            <a:off x="2384516" y="2771157"/>
            <a:ext cx="74815" cy="6480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4" name="직사각형 53"/>
          <p:cNvSpPr/>
          <p:nvPr/>
        </p:nvSpPr>
        <p:spPr bwMode="auto">
          <a:xfrm flipH="1">
            <a:off x="2541245" y="2813484"/>
            <a:ext cx="74815" cy="605673"/>
          </a:xfrm>
          <a:prstGeom prst="rect">
            <a:avLst/>
          </a:prstGeom>
          <a:solidFill>
            <a:srgbClr val="2272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5" name="직사각형 54"/>
          <p:cNvSpPr/>
          <p:nvPr/>
        </p:nvSpPr>
        <p:spPr bwMode="auto">
          <a:xfrm flipH="1">
            <a:off x="2697974" y="2771157"/>
            <a:ext cx="74815" cy="6480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6" name="직사각형 55"/>
          <p:cNvSpPr/>
          <p:nvPr/>
        </p:nvSpPr>
        <p:spPr bwMode="auto">
          <a:xfrm flipH="1">
            <a:off x="2854703" y="2901786"/>
            <a:ext cx="74815" cy="517371"/>
          </a:xfrm>
          <a:prstGeom prst="rect">
            <a:avLst/>
          </a:prstGeom>
          <a:solidFill>
            <a:srgbClr val="2272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7" name="직사각형 56"/>
          <p:cNvSpPr/>
          <p:nvPr/>
        </p:nvSpPr>
        <p:spPr bwMode="auto">
          <a:xfrm flipH="1">
            <a:off x="3011432" y="2771157"/>
            <a:ext cx="74815" cy="6480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8" name="직사각형 57"/>
          <p:cNvSpPr/>
          <p:nvPr/>
        </p:nvSpPr>
        <p:spPr bwMode="auto">
          <a:xfrm flipH="1">
            <a:off x="3168161" y="2726516"/>
            <a:ext cx="74815" cy="692641"/>
          </a:xfrm>
          <a:prstGeom prst="rect">
            <a:avLst/>
          </a:prstGeom>
          <a:solidFill>
            <a:srgbClr val="2272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9" name="직사각형 58"/>
          <p:cNvSpPr/>
          <p:nvPr/>
        </p:nvSpPr>
        <p:spPr bwMode="auto">
          <a:xfrm flipH="1">
            <a:off x="3324890" y="2893075"/>
            <a:ext cx="74815" cy="526082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0" name="직사각형 59"/>
          <p:cNvSpPr/>
          <p:nvPr/>
        </p:nvSpPr>
        <p:spPr bwMode="auto">
          <a:xfrm flipH="1">
            <a:off x="3481619" y="2788098"/>
            <a:ext cx="74815" cy="631059"/>
          </a:xfrm>
          <a:prstGeom prst="rect">
            <a:avLst/>
          </a:prstGeom>
          <a:solidFill>
            <a:srgbClr val="2272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1" name="직사각형 60"/>
          <p:cNvSpPr/>
          <p:nvPr/>
        </p:nvSpPr>
        <p:spPr bwMode="auto">
          <a:xfrm flipH="1">
            <a:off x="3638348" y="2966085"/>
            <a:ext cx="74815" cy="453072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2" name="직사각형 61"/>
          <p:cNvSpPr/>
          <p:nvPr/>
        </p:nvSpPr>
        <p:spPr bwMode="auto">
          <a:xfrm flipH="1">
            <a:off x="3795077" y="3102078"/>
            <a:ext cx="74815" cy="317079"/>
          </a:xfrm>
          <a:prstGeom prst="rect">
            <a:avLst/>
          </a:prstGeom>
          <a:solidFill>
            <a:srgbClr val="2272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3" name="직사각형 62"/>
          <p:cNvSpPr/>
          <p:nvPr/>
        </p:nvSpPr>
        <p:spPr bwMode="auto">
          <a:xfrm flipH="1">
            <a:off x="3951806" y="3102077"/>
            <a:ext cx="74815" cy="31708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4" name="직사각형 63"/>
          <p:cNvSpPr/>
          <p:nvPr/>
        </p:nvSpPr>
        <p:spPr bwMode="auto">
          <a:xfrm flipH="1">
            <a:off x="4108535" y="2879157"/>
            <a:ext cx="74815" cy="540000"/>
          </a:xfrm>
          <a:prstGeom prst="rect">
            <a:avLst/>
          </a:prstGeom>
          <a:solidFill>
            <a:srgbClr val="2272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5" name="직사각형 64"/>
          <p:cNvSpPr/>
          <p:nvPr/>
        </p:nvSpPr>
        <p:spPr bwMode="auto">
          <a:xfrm flipH="1">
            <a:off x="4265264" y="2771157"/>
            <a:ext cx="74815" cy="6480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1881964" y="2400289"/>
            <a:ext cx="1167307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b="1" u="sng" dirty="0" smtClean="0">
                <a:solidFill>
                  <a:schemeClr val="dk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그룹별 </a:t>
            </a:r>
            <a:r>
              <a:rPr lang="en-US" altLang="ko-KR" sz="800" b="1" u="sng" dirty="0" smtClean="0">
                <a:solidFill>
                  <a:schemeClr val="dk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PG</a:t>
            </a:r>
            <a:r>
              <a:rPr lang="ko-KR" altLang="en-US" sz="800" b="1" u="sng" dirty="0" smtClean="0">
                <a:solidFill>
                  <a:schemeClr val="dk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 감사실시현황</a:t>
            </a:r>
            <a:endParaRPr lang="ko-KR" altLang="en-US" b="1" dirty="0"/>
          </a:p>
        </p:txBody>
      </p:sp>
      <p:sp>
        <p:nvSpPr>
          <p:cNvPr id="8" name="직사각형 7"/>
          <p:cNvSpPr/>
          <p:nvPr/>
        </p:nvSpPr>
        <p:spPr bwMode="auto">
          <a:xfrm>
            <a:off x="3832484" y="2425043"/>
            <a:ext cx="99516" cy="98053"/>
          </a:xfrm>
          <a:prstGeom prst="rect">
            <a:avLst/>
          </a:prstGeom>
          <a:solidFill>
            <a:srgbClr val="2272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6" name="직사각형 65"/>
          <p:cNvSpPr/>
          <p:nvPr/>
        </p:nvSpPr>
        <p:spPr bwMode="auto">
          <a:xfrm>
            <a:off x="3836056" y="2554006"/>
            <a:ext cx="99516" cy="98053"/>
          </a:xfrm>
          <a:prstGeom prst="rect">
            <a:avLst/>
          </a:prstGeom>
          <a:solidFill>
            <a:schemeClr val="accent6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3886636" y="2395421"/>
            <a:ext cx="453970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종합감사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3880286" y="2528771"/>
            <a:ext cx="453970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내부통제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5"/>
          <a:srcRect t="6700"/>
          <a:stretch/>
        </p:blipFill>
        <p:spPr>
          <a:xfrm>
            <a:off x="1673686" y="4971010"/>
            <a:ext cx="2723747" cy="1380679"/>
          </a:xfrm>
          <a:prstGeom prst="rect">
            <a:avLst/>
          </a:prstGeom>
        </p:spPr>
      </p:pic>
      <p:sp>
        <p:nvSpPr>
          <p:cNvPr id="69" name="직사각형 68"/>
          <p:cNvSpPr/>
          <p:nvPr/>
        </p:nvSpPr>
        <p:spPr>
          <a:xfrm>
            <a:off x="1641584" y="4933600"/>
            <a:ext cx="990977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800" b="1" u="sng" dirty="0" smtClean="0">
                <a:solidFill>
                  <a:schemeClr val="dk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PG</a:t>
            </a:r>
            <a:r>
              <a:rPr lang="ko-KR" altLang="en-US" sz="800" b="1" u="sng" dirty="0" smtClean="0">
                <a:solidFill>
                  <a:schemeClr val="dk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별 </a:t>
            </a:r>
            <a:r>
              <a:rPr lang="ko-KR" altLang="en-US" sz="800" b="1" u="sng" dirty="0" err="1" smtClean="0">
                <a:solidFill>
                  <a:schemeClr val="dk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지적사항</a:t>
            </a:r>
            <a:r>
              <a:rPr lang="ko-KR" altLang="en-US" sz="800" b="1" u="sng" dirty="0" smtClean="0">
                <a:solidFill>
                  <a:schemeClr val="dk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 현황</a:t>
            </a:r>
            <a:endParaRPr lang="ko-KR" altLang="en-US" b="1" dirty="0"/>
          </a:p>
        </p:txBody>
      </p:sp>
    </p:spTree>
    <p:extLst>
      <p:ext uri="{BB962C8B-B14F-4D97-AF65-F5344CB8AC3E}">
        <p14:creationId xmlns:p14="http://schemas.microsoft.com/office/powerpoint/2010/main" val="14613394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609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MDD-00024,MDD-00117</a:t>
                      </a:r>
                    </a:p>
                    <a:p>
                      <a:pPr marL="0" algn="ctr" defTabSz="914395" rtl="0" eaLnBrk="1" latinLnBrk="1" hangingPunct="1"/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MDD-00118,MDD-00119</a:t>
                      </a:r>
                      <a:endParaRPr lang="ko-KR" altLang="en-US" sz="8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MDD72G11000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영업감사대시보드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(2/5)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</a:t>
                      </a:r>
                      <a:r>
                        <a:rPr lang="ko-KR" altLang="en-US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 </a:t>
                      </a:r>
                      <a:r>
                        <a:rPr lang="en-US" altLang="ko-KR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noProof="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임점감사</a:t>
                      </a:r>
                      <a:r>
                        <a:rPr lang="en-US" altLang="ko-KR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(P62:</a:t>
                      </a:r>
                      <a:r>
                        <a:rPr lang="ko-KR" altLang="en-US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김용근</a:t>
                      </a:r>
                      <a:r>
                        <a:rPr lang="en-US" altLang="ko-KR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noProof="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2484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spcBef>
                          <a:spcPts val="600"/>
                        </a:spcBef>
                        <a:buFontTx/>
                        <a:buNone/>
                        <a:defRPr/>
                      </a:pP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감사실시현황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)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조회년도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 기준으로 등록된 감사대상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부점수와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 실제 감사실시 완료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진행중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)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인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부점수를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 집계하여 수치를 표시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  <a:sym typeface="Wingdings" panose="05000000000000000000" pitchFamily="2" charset="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spcBef>
                          <a:spcPts val="600"/>
                        </a:spcBef>
                        <a:buFontTx/>
                        <a:buNone/>
                        <a:defRPr/>
                      </a:pP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실시현황표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) ‘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감사계획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 등록 화면에 등록된 데이터를 참고하여 전체 계획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부점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실시중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완료 수치를 집계하여 표시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  <a:sym typeface="Wingdings" panose="05000000000000000000" pitchFamily="2" charset="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그룹별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PG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감사 실시 현황 표시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  <a:sym typeface="Wingdings" panose="05000000000000000000" pitchFamily="2" charset="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652472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  <a:sym typeface="Wingdings" panose="05000000000000000000" pitchFamily="2" charset="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386968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  <a:sym typeface="Wingdings" panose="05000000000000000000" pitchFamily="2" charset="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5901202"/>
                  </a:ext>
                </a:extLst>
              </a:tr>
            </a:tbl>
          </a:graphicData>
        </a:graphic>
      </p:graphicFrame>
      <p:graphicFrame>
        <p:nvGraphicFramePr>
          <p:cNvPr id="16" name="내용 개체 틀 121"/>
          <p:cNvGraphicFramePr>
            <a:graphicFrameLocks/>
          </p:cNvGraphicFramePr>
          <p:nvPr>
            <p:extLst/>
          </p:nvPr>
        </p:nvGraphicFramePr>
        <p:xfrm>
          <a:off x="1837112" y="1382899"/>
          <a:ext cx="4979321" cy="16280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0077">
                  <a:extLst>
                    <a:ext uri="{9D8B030D-6E8A-4147-A177-3AD203B41FA5}">
                      <a16:colId xmlns:a16="http://schemas.microsoft.com/office/drawing/2014/main" val="2118101267"/>
                    </a:ext>
                  </a:extLst>
                </a:gridCol>
                <a:gridCol w="694874">
                  <a:extLst>
                    <a:ext uri="{9D8B030D-6E8A-4147-A177-3AD203B41FA5}">
                      <a16:colId xmlns:a16="http://schemas.microsoft.com/office/drawing/2014/main" val="3484451531"/>
                    </a:ext>
                  </a:extLst>
                </a:gridCol>
                <a:gridCol w="694874">
                  <a:extLst>
                    <a:ext uri="{9D8B030D-6E8A-4147-A177-3AD203B41FA5}">
                      <a16:colId xmlns:a16="http://schemas.microsoft.com/office/drawing/2014/main" val="3526029767"/>
                    </a:ext>
                  </a:extLst>
                </a:gridCol>
                <a:gridCol w="694874">
                  <a:extLst>
                    <a:ext uri="{9D8B030D-6E8A-4147-A177-3AD203B41FA5}">
                      <a16:colId xmlns:a16="http://schemas.microsoft.com/office/drawing/2014/main" val="3885801320"/>
                    </a:ext>
                  </a:extLst>
                </a:gridCol>
                <a:gridCol w="694874">
                  <a:extLst>
                    <a:ext uri="{9D8B030D-6E8A-4147-A177-3AD203B41FA5}">
                      <a16:colId xmlns:a16="http://schemas.microsoft.com/office/drawing/2014/main" val="1446051121"/>
                    </a:ext>
                  </a:extLst>
                </a:gridCol>
                <a:gridCol w="694874">
                  <a:extLst>
                    <a:ext uri="{9D8B030D-6E8A-4147-A177-3AD203B41FA5}">
                      <a16:colId xmlns:a16="http://schemas.microsoft.com/office/drawing/2014/main" val="942946011"/>
                    </a:ext>
                  </a:extLst>
                </a:gridCol>
                <a:gridCol w="694874">
                  <a:extLst>
                    <a:ext uri="{9D8B030D-6E8A-4147-A177-3AD203B41FA5}">
                      <a16:colId xmlns:a16="http://schemas.microsoft.com/office/drawing/2014/main" val="2113428248"/>
                    </a:ext>
                  </a:extLst>
                </a:gridCol>
              </a:tblGrid>
              <a:tr h="323698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종합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지역감사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여신특별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부책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테마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전체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1669389"/>
                  </a:ext>
                </a:extLst>
              </a:tr>
              <a:tr h="434784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계획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30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15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-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-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61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0641114"/>
                  </a:ext>
                </a:extLst>
              </a:tr>
              <a:tr h="434784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실사중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normalizeH="0" noProof="0" dirty="0" smtClean="0">
                          <a:ln>
                            <a:solidFill>
                              <a:prstClr val="black">
                                <a:alpha val="0"/>
                              </a:prstClr>
                            </a:solidFill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kumimoji="0" lang="ko-KR" altLang="en-US" sz="700" b="0" i="0" u="none" strike="noStrike" kern="1200" cap="none" normalizeH="0" noProof="0" dirty="0" smtClean="0">
                        <a:ln>
                          <a:solidFill>
                            <a:prstClr val="black">
                              <a:alpha val="0"/>
                            </a:prstClr>
                          </a:solidFill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6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9943333"/>
                  </a:ext>
                </a:extLst>
              </a:tr>
              <a:tr h="434784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완료</a:t>
                      </a: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진행률</a:t>
                      </a: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5(16.7%)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3(20%)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2(-)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1(25%)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1(-)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12(19.7%)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2394348"/>
                  </a:ext>
                </a:extLst>
              </a:tr>
            </a:tbl>
          </a:graphicData>
        </a:graphic>
      </p:graphicFrame>
      <p:sp>
        <p:nvSpPr>
          <p:cNvPr id="15" name="양쪽 모서리가 둥근 사각형 14"/>
          <p:cNvSpPr/>
          <p:nvPr/>
        </p:nvSpPr>
        <p:spPr bwMode="auto">
          <a:xfrm>
            <a:off x="168344" y="1008793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영업감사대시보드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3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168345" y="1194528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4" name="표 3"/>
          <p:cNvGraphicFramePr>
            <a:graphicFrameLocks noGrp="1"/>
          </p:cNvGraphicFramePr>
          <p:nvPr>
            <p:extLst/>
          </p:nvPr>
        </p:nvGraphicFramePr>
        <p:xfrm>
          <a:off x="330343" y="1390635"/>
          <a:ext cx="1431955" cy="16203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31955">
                  <a:extLst>
                    <a:ext uri="{9D8B030D-6E8A-4147-A177-3AD203B41FA5}">
                      <a16:colId xmlns:a16="http://schemas.microsoft.com/office/drawing/2014/main" val="2978708938"/>
                    </a:ext>
                  </a:extLst>
                </a:gridCol>
              </a:tblGrid>
              <a:tr h="1620314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kern="1200" dirty="0" smtClean="0">
                          <a:solidFill>
                            <a:schemeClr val="dk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감사실시현황</a:t>
                      </a:r>
                      <a:endParaRPr lang="en-US" altLang="ko-KR" sz="700" u="sng" kern="1200" dirty="0" smtClean="0">
                        <a:solidFill>
                          <a:schemeClr val="dk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 smtClean="0">
                          <a:solidFill>
                            <a:schemeClr val="dk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          </a:t>
                      </a: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 smtClean="0">
                          <a:solidFill>
                            <a:schemeClr val="dk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             </a:t>
                      </a:r>
                      <a:r>
                        <a:rPr lang="en-US" altLang="ko-KR" sz="1400" kern="1200" dirty="0" smtClean="0">
                          <a:solidFill>
                            <a:schemeClr val="dk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711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 / </a:t>
                      </a: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               </a:t>
                      </a:r>
                      <a:r>
                        <a:rPr lang="en-US" altLang="ko-KR" sz="1400" kern="1200" dirty="0" smtClean="0">
                          <a:solidFill>
                            <a:schemeClr val="dk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234 </a:t>
                      </a:r>
                      <a:r>
                        <a:rPr lang="ko-KR" altLang="en-US" sz="1400" kern="1200" dirty="0" smtClean="0">
                          <a:solidFill>
                            <a:schemeClr val="dk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지점</a:t>
                      </a: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  <a:cs typeface="+mn-cs"/>
                      </a:endParaRPr>
                    </a:p>
                  </a:txBody>
                  <a:tcP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4003563"/>
                  </a:ext>
                </a:extLst>
              </a:tr>
            </a:tbl>
          </a:graphicData>
        </a:graphic>
      </p:graphicFrame>
      <p:sp>
        <p:nvSpPr>
          <p:cNvPr id="41" name="타원 4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09996" y="1309635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795706" y="1242876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90996" y="311568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4" name="직사각형 13"/>
          <p:cNvSpPr/>
          <p:nvPr/>
        </p:nvSpPr>
        <p:spPr bwMode="auto">
          <a:xfrm>
            <a:off x="390996" y="3452408"/>
            <a:ext cx="4189407" cy="1064029"/>
          </a:xfrm>
          <a:prstGeom prst="rect">
            <a:avLst/>
          </a:prstGeom>
          <a:noFill/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17" name="내용 개체 틀 121"/>
          <p:cNvGraphicFramePr>
            <a:graphicFrameLocks/>
          </p:cNvGraphicFramePr>
          <p:nvPr>
            <p:extLst/>
          </p:nvPr>
        </p:nvGraphicFramePr>
        <p:xfrm>
          <a:off x="390996" y="4536048"/>
          <a:ext cx="4189406" cy="21657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70958">
                  <a:extLst>
                    <a:ext uri="{9D8B030D-6E8A-4147-A177-3AD203B41FA5}">
                      <a16:colId xmlns:a16="http://schemas.microsoft.com/office/drawing/2014/main" val="2118101267"/>
                    </a:ext>
                  </a:extLst>
                </a:gridCol>
                <a:gridCol w="318204">
                  <a:extLst>
                    <a:ext uri="{9D8B030D-6E8A-4147-A177-3AD203B41FA5}">
                      <a16:colId xmlns:a16="http://schemas.microsoft.com/office/drawing/2014/main" val="3484451531"/>
                    </a:ext>
                  </a:extLst>
                </a:gridCol>
                <a:gridCol w="318204">
                  <a:extLst>
                    <a:ext uri="{9D8B030D-6E8A-4147-A177-3AD203B41FA5}">
                      <a16:colId xmlns:a16="http://schemas.microsoft.com/office/drawing/2014/main" val="3526029767"/>
                    </a:ext>
                  </a:extLst>
                </a:gridCol>
                <a:gridCol w="318204">
                  <a:extLst>
                    <a:ext uri="{9D8B030D-6E8A-4147-A177-3AD203B41FA5}">
                      <a16:colId xmlns:a16="http://schemas.microsoft.com/office/drawing/2014/main" val="3885801320"/>
                    </a:ext>
                  </a:extLst>
                </a:gridCol>
                <a:gridCol w="318204">
                  <a:extLst>
                    <a:ext uri="{9D8B030D-6E8A-4147-A177-3AD203B41FA5}">
                      <a16:colId xmlns:a16="http://schemas.microsoft.com/office/drawing/2014/main" val="1446051121"/>
                    </a:ext>
                  </a:extLst>
                </a:gridCol>
                <a:gridCol w="318204">
                  <a:extLst>
                    <a:ext uri="{9D8B030D-6E8A-4147-A177-3AD203B41FA5}">
                      <a16:colId xmlns:a16="http://schemas.microsoft.com/office/drawing/2014/main" val="2113428248"/>
                    </a:ext>
                  </a:extLst>
                </a:gridCol>
                <a:gridCol w="318204">
                  <a:extLst>
                    <a:ext uri="{9D8B030D-6E8A-4147-A177-3AD203B41FA5}">
                      <a16:colId xmlns:a16="http://schemas.microsoft.com/office/drawing/2014/main" val="147513593"/>
                    </a:ext>
                  </a:extLst>
                </a:gridCol>
                <a:gridCol w="318204">
                  <a:extLst>
                    <a:ext uri="{9D8B030D-6E8A-4147-A177-3AD203B41FA5}">
                      <a16:colId xmlns:a16="http://schemas.microsoft.com/office/drawing/2014/main" val="2390441232"/>
                    </a:ext>
                  </a:extLst>
                </a:gridCol>
                <a:gridCol w="318204">
                  <a:extLst>
                    <a:ext uri="{9D8B030D-6E8A-4147-A177-3AD203B41FA5}">
                      <a16:colId xmlns:a16="http://schemas.microsoft.com/office/drawing/2014/main" val="3354170396"/>
                    </a:ext>
                  </a:extLst>
                </a:gridCol>
                <a:gridCol w="318204">
                  <a:extLst>
                    <a:ext uri="{9D8B030D-6E8A-4147-A177-3AD203B41FA5}">
                      <a16:colId xmlns:a16="http://schemas.microsoft.com/office/drawing/2014/main" val="2588702147"/>
                    </a:ext>
                  </a:extLst>
                </a:gridCol>
                <a:gridCol w="318204">
                  <a:extLst>
                    <a:ext uri="{9D8B030D-6E8A-4147-A177-3AD203B41FA5}">
                      <a16:colId xmlns:a16="http://schemas.microsoft.com/office/drawing/2014/main" val="886859123"/>
                    </a:ext>
                  </a:extLst>
                </a:gridCol>
                <a:gridCol w="318204">
                  <a:extLst>
                    <a:ext uri="{9D8B030D-6E8A-4147-A177-3AD203B41FA5}">
                      <a16:colId xmlns:a16="http://schemas.microsoft.com/office/drawing/2014/main" val="1042140376"/>
                    </a:ext>
                  </a:extLst>
                </a:gridCol>
                <a:gridCol w="318204">
                  <a:extLst>
                    <a:ext uri="{9D8B030D-6E8A-4147-A177-3AD203B41FA5}">
                      <a16:colId xmlns:a16="http://schemas.microsoft.com/office/drawing/2014/main" val="3771464828"/>
                    </a:ext>
                  </a:extLst>
                </a:gridCol>
              </a:tblGrid>
              <a:tr h="179623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강남</a:t>
                      </a:r>
                      <a:r>
                        <a:rPr lang="en-US" altLang="ko-KR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강북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강서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경기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경인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남부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대구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동부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부산울산경남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북부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서부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충청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호남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1669389"/>
                  </a:ext>
                </a:extLst>
              </a:tr>
            </a:tbl>
          </a:graphicData>
        </a:graphic>
      </p:graphicFrame>
      <p:sp>
        <p:nvSpPr>
          <p:cNvPr id="18" name="직사각형 17"/>
          <p:cNvSpPr/>
          <p:nvPr/>
        </p:nvSpPr>
        <p:spPr bwMode="auto">
          <a:xfrm flipH="1">
            <a:off x="506703" y="3710103"/>
            <a:ext cx="74815" cy="806334"/>
          </a:xfrm>
          <a:prstGeom prst="rect">
            <a:avLst/>
          </a:prstGeom>
          <a:solidFill>
            <a:srgbClr val="2272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9" name="직사각형 18"/>
          <p:cNvSpPr/>
          <p:nvPr/>
        </p:nvSpPr>
        <p:spPr bwMode="auto">
          <a:xfrm flipH="1">
            <a:off x="618982" y="3868437"/>
            <a:ext cx="74815" cy="6480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0" name="직사각형 19"/>
          <p:cNvSpPr/>
          <p:nvPr/>
        </p:nvSpPr>
        <p:spPr bwMode="auto">
          <a:xfrm flipH="1">
            <a:off x="820161" y="3999056"/>
            <a:ext cx="74815" cy="517381"/>
          </a:xfrm>
          <a:prstGeom prst="rect">
            <a:avLst/>
          </a:prstGeom>
          <a:solidFill>
            <a:srgbClr val="2272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1" name="직사각형 20"/>
          <p:cNvSpPr/>
          <p:nvPr/>
        </p:nvSpPr>
        <p:spPr bwMode="auto">
          <a:xfrm flipH="1">
            <a:off x="945140" y="3868437"/>
            <a:ext cx="74815" cy="6480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2" name="직사각형 21"/>
          <p:cNvSpPr/>
          <p:nvPr/>
        </p:nvSpPr>
        <p:spPr bwMode="auto">
          <a:xfrm flipH="1">
            <a:off x="1146319" y="3939000"/>
            <a:ext cx="74815" cy="577437"/>
          </a:xfrm>
          <a:prstGeom prst="rect">
            <a:avLst/>
          </a:prstGeom>
          <a:solidFill>
            <a:srgbClr val="2272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4" name="직사각형 23"/>
          <p:cNvSpPr/>
          <p:nvPr/>
        </p:nvSpPr>
        <p:spPr bwMode="auto">
          <a:xfrm flipH="1">
            <a:off x="1277648" y="3868437"/>
            <a:ext cx="74815" cy="6480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5" name="직사각형 24"/>
          <p:cNvSpPr/>
          <p:nvPr/>
        </p:nvSpPr>
        <p:spPr bwMode="auto">
          <a:xfrm flipH="1">
            <a:off x="1447077" y="3988742"/>
            <a:ext cx="74815" cy="527695"/>
          </a:xfrm>
          <a:prstGeom prst="rect">
            <a:avLst/>
          </a:prstGeom>
          <a:solidFill>
            <a:srgbClr val="2272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6" name="직사각형 25"/>
          <p:cNvSpPr/>
          <p:nvPr/>
        </p:nvSpPr>
        <p:spPr bwMode="auto">
          <a:xfrm flipH="1">
            <a:off x="1603806" y="3817632"/>
            <a:ext cx="74815" cy="698805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8" name="직사각형 27"/>
          <p:cNvSpPr/>
          <p:nvPr/>
        </p:nvSpPr>
        <p:spPr bwMode="auto">
          <a:xfrm flipH="1">
            <a:off x="1760535" y="4068647"/>
            <a:ext cx="74815" cy="447790"/>
          </a:xfrm>
          <a:prstGeom prst="rect">
            <a:avLst/>
          </a:prstGeom>
          <a:solidFill>
            <a:srgbClr val="2272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9" name="직사각형 28"/>
          <p:cNvSpPr/>
          <p:nvPr/>
        </p:nvSpPr>
        <p:spPr bwMode="auto">
          <a:xfrm flipH="1">
            <a:off x="1917264" y="3868437"/>
            <a:ext cx="74815" cy="6480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0" name="직사각형 29"/>
          <p:cNvSpPr/>
          <p:nvPr/>
        </p:nvSpPr>
        <p:spPr bwMode="auto">
          <a:xfrm flipH="1">
            <a:off x="2073993" y="4063355"/>
            <a:ext cx="74815" cy="453082"/>
          </a:xfrm>
          <a:prstGeom prst="rect">
            <a:avLst/>
          </a:prstGeom>
          <a:solidFill>
            <a:srgbClr val="2272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1" name="직사각형 30"/>
          <p:cNvSpPr/>
          <p:nvPr/>
        </p:nvSpPr>
        <p:spPr bwMode="auto">
          <a:xfrm flipH="1">
            <a:off x="2230722" y="3868437"/>
            <a:ext cx="74815" cy="6480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2" name="직사각형 31"/>
          <p:cNvSpPr/>
          <p:nvPr/>
        </p:nvSpPr>
        <p:spPr bwMode="auto">
          <a:xfrm flipH="1">
            <a:off x="2387451" y="3843027"/>
            <a:ext cx="74815" cy="673410"/>
          </a:xfrm>
          <a:prstGeom prst="rect">
            <a:avLst/>
          </a:prstGeom>
          <a:solidFill>
            <a:srgbClr val="2272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3" name="직사각형 32"/>
          <p:cNvSpPr/>
          <p:nvPr/>
        </p:nvSpPr>
        <p:spPr bwMode="auto">
          <a:xfrm flipH="1">
            <a:off x="2544180" y="3868437"/>
            <a:ext cx="74815" cy="6480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4" name="직사각형 33"/>
          <p:cNvSpPr/>
          <p:nvPr/>
        </p:nvSpPr>
        <p:spPr bwMode="auto">
          <a:xfrm flipH="1">
            <a:off x="2700909" y="3910764"/>
            <a:ext cx="74815" cy="605673"/>
          </a:xfrm>
          <a:prstGeom prst="rect">
            <a:avLst/>
          </a:prstGeom>
          <a:solidFill>
            <a:srgbClr val="2272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5" name="직사각형 34"/>
          <p:cNvSpPr/>
          <p:nvPr/>
        </p:nvSpPr>
        <p:spPr bwMode="auto">
          <a:xfrm flipH="1">
            <a:off x="2857638" y="3868437"/>
            <a:ext cx="74815" cy="6480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6" name="직사각형 35"/>
          <p:cNvSpPr/>
          <p:nvPr/>
        </p:nvSpPr>
        <p:spPr bwMode="auto">
          <a:xfrm flipH="1">
            <a:off x="3014367" y="3999066"/>
            <a:ext cx="74815" cy="517371"/>
          </a:xfrm>
          <a:prstGeom prst="rect">
            <a:avLst/>
          </a:prstGeom>
          <a:solidFill>
            <a:srgbClr val="2272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7" name="직사각형 36"/>
          <p:cNvSpPr/>
          <p:nvPr/>
        </p:nvSpPr>
        <p:spPr bwMode="auto">
          <a:xfrm flipH="1">
            <a:off x="3171096" y="3868437"/>
            <a:ext cx="74815" cy="6480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8" name="직사각형 37"/>
          <p:cNvSpPr/>
          <p:nvPr/>
        </p:nvSpPr>
        <p:spPr bwMode="auto">
          <a:xfrm flipH="1">
            <a:off x="3327825" y="3823796"/>
            <a:ext cx="74815" cy="692641"/>
          </a:xfrm>
          <a:prstGeom prst="rect">
            <a:avLst/>
          </a:prstGeom>
          <a:solidFill>
            <a:srgbClr val="2272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9" name="직사각형 38"/>
          <p:cNvSpPr/>
          <p:nvPr/>
        </p:nvSpPr>
        <p:spPr bwMode="auto">
          <a:xfrm flipH="1">
            <a:off x="3484554" y="3990355"/>
            <a:ext cx="74815" cy="526082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0" name="직사각형 39"/>
          <p:cNvSpPr/>
          <p:nvPr/>
        </p:nvSpPr>
        <p:spPr bwMode="auto">
          <a:xfrm flipH="1">
            <a:off x="3641283" y="3885378"/>
            <a:ext cx="74815" cy="631059"/>
          </a:xfrm>
          <a:prstGeom prst="rect">
            <a:avLst/>
          </a:prstGeom>
          <a:solidFill>
            <a:srgbClr val="2272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2" name="직사각형 41"/>
          <p:cNvSpPr/>
          <p:nvPr/>
        </p:nvSpPr>
        <p:spPr bwMode="auto">
          <a:xfrm flipH="1">
            <a:off x="3798012" y="4063365"/>
            <a:ext cx="74815" cy="453072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3" name="직사각형 42"/>
          <p:cNvSpPr/>
          <p:nvPr/>
        </p:nvSpPr>
        <p:spPr bwMode="auto">
          <a:xfrm flipH="1">
            <a:off x="3954741" y="4199358"/>
            <a:ext cx="74815" cy="317079"/>
          </a:xfrm>
          <a:prstGeom prst="rect">
            <a:avLst/>
          </a:prstGeom>
          <a:solidFill>
            <a:srgbClr val="2272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4" name="직사각형 43"/>
          <p:cNvSpPr/>
          <p:nvPr/>
        </p:nvSpPr>
        <p:spPr bwMode="auto">
          <a:xfrm flipH="1">
            <a:off x="4111470" y="4199357"/>
            <a:ext cx="74815" cy="31708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직사각형 44"/>
          <p:cNvSpPr/>
          <p:nvPr/>
        </p:nvSpPr>
        <p:spPr bwMode="auto">
          <a:xfrm flipH="1">
            <a:off x="4268199" y="3976437"/>
            <a:ext cx="74815" cy="540000"/>
          </a:xfrm>
          <a:prstGeom prst="rect">
            <a:avLst/>
          </a:prstGeom>
          <a:solidFill>
            <a:srgbClr val="2272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6" name="직사각형 45"/>
          <p:cNvSpPr/>
          <p:nvPr/>
        </p:nvSpPr>
        <p:spPr bwMode="auto">
          <a:xfrm flipH="1">
            <a:off x="4424928" y="3868437"/>
            <a:ext cx="74815" cy="64800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7" name="직사각형 46"/>
          <p:cNvSpPr/>
          <p:nvPr/>
        </p:nvSpPr>
        <p:spPr>
          <a:xfrm>
            <a:off x="2041628" y="3497569"/>
            <a:ext cx="1167307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b="1" u="sng" dirty="0" smtClean="0">
                <a:solidFill>
                  <a:schemeClr val="dk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그룹별 </a:t>
            </a:r>
            <a:r>
              <a:rPr lang="en-US" altLang="ko-KR" sz="800" b="1" u="sng" dirty="0" smtClean="0">
                <a:solidFill>
                  <a:schemeClr val="dk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PG</a:t>
            </a:r>
            <a:r>
              <a:rPr lang="ko-KR" altLang="en-US" sz="800" b="1" u="sng" dirty="0" smtClean="0">
                <a:solidFill>
                  <a:schemeClr val="dk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 감사실시현황</a:t>
            </a:r>
            <a:endParaRPr lang="ko-KR" altLang="en-US" b="1" dirty="0"/>
          </a:p>
        </p:txBody>
      </p:sp>
      <p:sp>
        <p:nvSpPr>
          <p:cNvPr id="48" name="직사각형 47"/>
          <p:cNvSpPr/>
          <p:nvPr/>
        </p:nvSpPr>
        <p:spPr bwMode="auto">
          <a:xfrm>
            <a:off x="3992148" y="3522323"/>
            <a:ext cx="99516" cy="98053"/>
          </a:xfrm>
          <a:prstGeom prst="rect">
            <a:avLst/>
          </a:prstGeom>
          <a:solidFill>
            <a:srgbClr val="2272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9" name="직사각형 48"/>
          <p:cNvSpPr/>
          <p:nvPr/>
        </p:nvSpPr>
        <p:spPr bwMode="auto">
          <a:xfrm>
            <a:off x="3995720" y="3651286"/>
            <a:ext cx="99516" cy="98053"/>
          </a:xfrm>
          <a:prstGeom prst="rect">
            <a:avLst/>
          </a:prstGeom>
          <a:solidFill>
            <a:schemeClr val="accent6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4046300" y="3492701"/>
            <a:ext cx="453970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종합감사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4039950" y="3626051"/>
            <a:ext cx="453970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내부통제</a:t>
            </a:r>
          </a:p>
        </p:txBody>
      </p:sp>
    </p:spTree>
    <p:extLst>
      <p:ext uri="{BB962C8B-B14F-4D97-AF65-F5344CB8AC3E}">
        <p14:creationId xmlns:p14="http://schemas.microsoft.com/office/powerpoint/2010/main" val="4662752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609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MDD-00024,MDD-00117</a:t>
                      </a:r>
                    </a:p>
                    <a:p>
                      <a:pPr marL="0" algn="ctr" defTabSz="914395" rtl="0" eaLnBrk="1" latinLnBrk="1" hangingPunct="1"/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MDD-00118,MDD-00119</a:t>
                      </a:r>
                      <a:endParaRPr lang="ko-KR" altLang="en-US" sz="8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MDD72G11000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영업감사대시보드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(3/5)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</a:t>
                      </a:r>
                      <a:r>
                        <a:rPr lang="ko-KR" altLang="en-US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 </a:t>
                      </a:r>
                      <a:r>
                        <a:rPr lang="en-US" altLang="ko-KR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noProof="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임점감사</a:t>
                      </a:r>
                      <a:r>
                        <a:rPr lang="en-US" altLang="ko-KR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(P63:</a:t>
                      </a:r>
                      <a:r>
                        <a:rPr lang="ko-KR" altLang="en-US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김용근</a:t>
                      </a:r>
                      <a:r>
                        <a:rPr lang="en-US" altLang="ko-KR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noProof="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1173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지역별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실시현황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 표시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: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기존 감사정보시스템에서 사용중인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지역지도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 템플릿을 활용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조회조건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각 지역그룹에서 감사 실시중인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부점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수를 집계하여 화면에 표시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: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감사실시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부점이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없으면 회색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그외에는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별도 색깔과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부점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숫자를 상단에 표시</a:t>
                      </a:r>
                      <a:endParaRPr kumimoji="1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  <a:sym typeface="Wingdings" panose="05000000000000000000" pitchFamily="2" charset="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</a:tbl>
          </a:graphicData>
        </a:graphic>
      </p:graphicFrame>
      <p:sp>
        <p:nvSpPr>
          <p:cNvPr id="15" name="양쪽 모서리가 둥근 사각형 14"/>
          <p:cNvSpPr/>
          <p:nvPr/>
        </p:nvSpPr>
        <p:spPr bwMode="auto">
          <a:xfrm>
            <a:off x="168344" y="1008793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영업감사대시보드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3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168345" y="1194528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14" name="그룹 13"/>
          <p:cNvGrpSpPr/>
          <p:nvPr/>
        </p:nvGrpSpPr>
        <p:grpSpPr>
          <a:xfrm>
            <a:off x="1170489" y="1547021"/>
            <a:ext cx="1521044" cy="307271"/>
            <a:chOff x="1587904" y="2926525"/>
            <a:chExt cx="1022929" cy="247450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FC888B5C-484B-582C-1070-BF5ED7268B32}"/>
                </a:ext>
              </a:extLst>
            </p:cNvPr>
            <p:cNvSpPr txBox="1"/>
            <p:nvPr/>
          </p:nvSpPr>
          <p:spPr>
            <a:xfrm>
              <a:off x="1587904" y="2926525"/>
              <a:ext cx="1022929" cy="246221"/>
            </a:xfrm>
            <a:prstGeom prst="rect">
              <a:avLst/>
            </a:prstGeom>
            <a:noFill/>
            <a:ln>
              <a:solidFill>
                <a:schemeClr val="lt1">
                  <a:alpha val="0"/>
                </a:schemeClr>
              </a:solidFill>
            </a:ln>
          </p:spPr>
          <p:txBody>
            <a:bodyPr wrap="square" rtlCol="0">
              <a:spAutoFit/>
            </a:bodyPr>
            <a:lstStyle/>
            <a:p>
              <a:pPr marR="0" lvl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tabLst/>
                <a:defRPr/>
              </a:pPr>
              <a:r>
                <a:rPr lang="ko-KR" altLang="en-US" sz="1000" noProof="0" smtClean="0">
                  <a:ln>
                    <a:solidFill>
                      <a:srgbClr val="005EB8">
                        <a:alpha val="0"/>
                      </a:srgbClr>
                    </a:solidFill>
                  </a:ln>
                  <a:solidFill>
                    <a:srgbClr val="000000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지역별 실시현황</a:t>
              </a:r>
              <a:endParaRPr kumimoji="1" lang="ko-KR" altLang="en-US" sz="1000" i="0" u="none" strike="noStrike" kern="1200" cap="none" normalizeH="0" baseline="0" noProof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18" name="Line 7">
              <a:extLst>
                <a:ext uri="{FF2B5EF4-FFF2-40B4-BE49-F238E27FC236}">
                  <a16:creationId xmlns:a16="http://schemas.microsoft.com/office/drawing/2014/main" id="{9967A568-9F03-4D27-9535-F13D4C8E4DF1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612241" y="3172746"/>
              <a:ext cx="974255" cy="1229"/>
            </a:xfrm>
            <a:prstGeom prst="line">
              <a:avLst/>
            </a:prstGeom>
            <a:noFill/>
            <a:ln w="190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</p:spPr>
          <p:txBody>
            <a:bodyPr lIns="90000" tIns="54000" rIns="90000" bIns="18000"/>
            <a:lstStyle/>
            <a:p>
              <a:pPr marL="0" marR="0" lvl="0" indent="0" algn="ctr" defTabSz="457200" rtl="0" eaLnBrk="0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C2D83"/>
                </a:buClr>
                <a:buSzTx/>
                <a:buFont typeface="Wingdings" pitchFamily="2" charset="2"/>
                <a:buNone/>
                <a:tabLst/>
                <a:defRPr/>
              </a:pPr>
              <a:endParaRPr kumimoji="1" lang="ko-KR" altLang="en-US" sz="1200" b="1" i="0" u="none" strike="noStrike" kern="1200" cap="none" spc="0" normalizeH="0" baseline="0" noProof="0">
                <a:ln>
                  <a:solidFill>
                    <a:srgbClr val="000000"/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D1B450E-5646-45F7-A894-6E9FF0A7452C}"/>
              </a:ext>
            </a:extLst>
          </p:cNvPr>
          <p:cNvSpPr/>
          <p:nvPr/>
        </p:nvSpPr>
        <p:spPr>
          <a:xfrm>
            <a:off x="847899" y="1443677"/>
            <a:ext cx="5594466" cy="4624614"/>
          </a:xfrm>
          <a:prstGeom prst="rect">
            <a:avLst/>
          </a:prstGeom>
          <a:noFill/>
          <a:ln w="952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KoPubWorld돋움체 Medium" panose="00000600000000000000" pitchFamily="2" charset="-127"/>
            </a:endParaRPr>
          </a:p>
        </p:txBody>
      </p:sp>
      <p:pic>
        <p:nvPicPr>
          <p:cNvPr id="20" name="그림 19"/>
          <p:cNvPicPr>
            <a:picLocks noChangeAspect="1"/>
          </p:cNvPicPr>
          <p:nvPr/>
        </p:nvPicPr>
        <p:blipFill>
          <a:blip r:embed="rId2">
            <a:extLst/>
          </a:blip>
          <a:stretch>
            <a:fillRect/>
          </a:stretch>
        </p:blipFill>
        <p:spPr>
          <a:xfrm>
            <a:off x="1142912" y="1793242"/>
            <a:ext cx="5062929" cy="39062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270933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609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MDD-00024,MDD-00117</a:t>
                      </a:r>
                    </a:p>
                    <a:p>
                      <a:pPr marL="0" algn="ctr" defTabSz="914395" rtl="0" eaLnBrk="1" latinLnBrk="1" hangingPunct="1"/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MDD-00118,MDD-00119</a:t>
                      </a:r>
                      <a:endParaRPr lang="ko-KR" altLang="en-US" sz="8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MDD72G11000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영업감사대시보드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(4/5)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</a:t>
                      </a:r>
                      <a:r>
                        <a:rPr lang="ko-KR" altLang="en-US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 </a:t>
                      </a:r>
                      <a:r>
                        <a:rPr lang="en-US" altLang="ko-KR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noProof="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임점감사</a:t>
                      </a:r>
                      <a:r>
                        <a:rPr lang="en-US" altLang="ko-KR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(P64:</a:t>
                      </a:r>
                      <a:r>
                        <a:rPr lang="ko-KR" altLang="en-US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김용근</a:t>
                      </a:r>
                      <a:r>
                        <a:rPr lang="en-US" altLang="ko-KR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noProof="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2199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감사지적현황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)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조회년도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 기준으로 등록된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지적건수를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 표시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  <a:sym typeface="Wingdings" panose="05000000000000000000" pitchFamily="2" charset="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지적현황표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) ‘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지적사항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 관리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(AUDIE.01.02.00.00)’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화면에 등록된 데이터를 참고하여 전체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지적내용을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감사종류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지적구분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 별로 수치를 집계하여 표시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  <a:sym typeface="Wingdings" panose="05000000000000000000" pitchFamily="2" charset="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336101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spcBef>
                          <a:spcPts val="600"/>
                        </a:spcBef>
                        <a:buFontTx/>
                        <a:buNone/>
                        <a:defRPr/>
                      </a:pP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업무별 현황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)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지적내용들을 지적 소분류 단위로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Group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지어 수치 집계 후 그래프로 표시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‘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업무구분별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지적사항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(EXCEL)’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화면 참고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)</a:t>
                      </a:r>
                      <a:endParaRPr lang="en-US" altLang="ko-KR" sz="800" dirty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  <a:sym typeface="Wingdings" panose="05000000000000000000" pitchFamily="2" charset="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55474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지역그룹별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 현황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)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지적등록된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부점이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 속한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지역그룹별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PG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별로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Group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지어 수치 집계 후 그래프로 표시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(‘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지적사항현황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(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부점별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)’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화면 참고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5943870"/>
                  </a:ext>
                </a:extLst>
              </a:tr>
            </a:tbl>
          </a:graphicData>
        </a:graphic>
      </p:graphicFrame>
      <p:sp>
        <p:nvSpPr>
          <p:cNvPr id="15" name="양쪽 모서리가 둥근 사각형 14"/>
          <p:cNvSpPr/>
          <p:nvPr/>
        </p:nvSpPr>
        <p:spPr bwMode="auto">
          <a:xfrm>
            <a:off x="168344" y="1008793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영업감사대시보드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3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168345" y="1194528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1" name="내용 개체 틀 121"/>
          <p:cNvGraphicFramePr>
            <a:graphicFrameLocks/>
          </p:cNvGraphicFramePr>
          <p:nvPr>
            <p:extLst/>
          </p:nvPr>
        </p:nvGraphicFramePr>
        <p:xfrm>
          <a:off x="1928554" y="1349986"/>
          <a:ext cx="4966187" cy="169047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8977">
                  <a:extLst>
                    <a:ext uri="{9D8B030D-6E8A-4147-A177-3AD203B41FA5}">
                      <a16:colId xmlns:a16="http://schemas.microsoft.com/office/drawing/2014/main" val="2118101267"/>
                    </a:ext>
                  </a:extLst>
                </a:gridCol>
                <a:gridCol w="805442">
                  <a:extLst>
                    <a:ext uri="{9D8B030D-6E8A-4147-A177-3AD203B41FA5}">
                      <a16:colId xmlns:a16="http://schemas.microsoft.com/office/drawing/2014/main" val="3484451531"/>
                    </a:ext>
                  </a:extLst>
                </a:gridCol>
                <a:gridCol w="805442">
                  <a:extLst>
                    <a:ext uri="{9D8B030D-6E8A-4147-A177-3AD203B41FA5}">
                      <a16:colId xmlns:a16="http://schemas.microsoft.com/office/drawing/2014/main" val="3526029767"/>
                    </a:ext>
                  </a:extLst>
                </a:gridCol>
                <a:gridCol w="805442">
                  <a:extLst>
                    <a:ext uri="{9D8B030D-6E8A-4147-A177-3AD203B41FA5}">
                      <a16:colId xmlns:a16="http://schemas.microsoft.com/office/drawing/2014/main" val="3885801320"/>
                    </a:ext>
                  </a:extLst>
                </a:gridCol>
                <a:gridCol w="805442">
                  <a:extLst>
                    <a:ext uri="{9D8B030D-6E8A-4147-A177-3AD203B41FA5}">
                      <a16:colId xmlns:a16="http://schemas.microsoft.com/office/drawing/2014/main" val="1446051121"/>
                    </a:ext>
                  </a:extLst>
                </a:gridCol>
                <a:gridCol w="805442">
                  <a:extLst>
                    <a:ext uri="{9D8B030D-6E8A-4147-A177-3AD203B41FA5}">
                      <a16:colId xmlns:a16="http://schemas.microsoft.com/office/drawing/2014/main" val="2113428248"/>
                    </a:ext>
                  </a:extLst>
                </a:gridCol>
              </a:tblGrid>
              <a:tr h="265270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현지조치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주의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시정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문책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전체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1669389"/>
                  </a:ext>
                </a:extLst>
              </a:tr>
              <a:tr h="356302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종합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10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17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0641114"/>
                  </a:ext>
                </a:extLst>
              </a:tr>
              <a:tr h="356302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내부통제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normalizeH="0" noProof="0" dirty="0" smtClean="0">
                          <a:ln>
                            <a:solidFill>
                              <a:prstClr val="black">
                                <a:alpha val="0"/>
                              </a:prstClr>
                            </a:solidFill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15</a:t>
                      </a:r>
                      <a:endParaRPr kumimoji="0" lang="ko-KR" altLang="en-US" sz="700" b="0" i="0" u="none" strike="noStrike" kern="1200" cap="none" normalizeH="0" noProof="0" dirty="0" smtClean="0">
                        <a:ln>
                          <a:solidFill>
                            <a:prstClr val="black">
                              <a:alpha val="0"/>
                            </a:prstClr>
                          </a:solidFill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5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9943333"/>
                  </a:ext>
                </a:extLst>
              </a:tr>
              <a:tr h="356302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통제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5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2394348"/>
                  </a:ext>
                </a:extLst>
              </a:tr>
              <a:tr h="356302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부책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7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7614215"/>
                  </a:ext>
                </a:extLst>
              </a:tr>
            </a:tbl>
          </a:graphicData>
        </a:graphic>
      </p:graphicFrame>
      <p:graphicFrame>
        <p:nvGraphicFramePr>
          <p:cNvPr id="12" name="표 11"/>
          <p:cNvGraphicFramePr>
            <a:graphicFrameLocks noGrp="1"/>
          </p:cNvGraphicFramePr>
          <p:nvPr>
            <p:extLst/>
          </p:nvPr>
        </p:nvGraphicFramePr>
        <p:xfrm>
          <a:off x="390098" y="1349986"/>
          <a:ext cx="1420221" cy="169047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20221">
                  <a:extLst>
                    <a:ext uri="{9D8B030D-6E8A-4147-A177-3AD203B41FA5}">
                      <a16:colId xmlns:a16="http://schemas.microsoft.com/office/drawing/2014/main" val="2978708938"/>
                    </a:ext>
                  </a:extLst>
                </a:gridCol>
              </a:tblGrid>
              <a:tr h="1690479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u="sng" kern="1200" dirty="0" smtClean="0">
                        <a:solidFill>
                          <a:schemeClr val="dk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kern="1200" dirty="0" smtClean="0">
                          <a:solidFill>
                            <a:schemeClr val="dk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감사지적현황</a:t>
                      </a:r>
                      <a:endParaRPr lang="en-US" altLang="ko-KR" sz="700" u="sng" kern="1200" dirty="0" smtClean="0">
                        <a:solidFill>
                          <a:schemeClr val="dk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 smtClean="0">
                          <a:solidFill>
                            <a:schemeClr val="dk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  </a:t>
                      </a: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800" kern="1200" dirty="0" smtClean="0">
                          <a:solidFill>
                            <a:schemeClr val="dk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52 </a:t>
                      </a:r>
                      <a:r>
                        <a:rPr lang="ko-KR" altLang="en-US" sz="1800" kern="1200" dirty="0" smtClean="0">
                          <a:solidFill>
                            <a:schemeClr val="dk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건</a:t>
                      </a:r>
                      <a:endParaRPr lang="ko-KR" altLang="en-US" sz="1800" kern="1200" dirty="0">
                        <a:solidFill>
                          <a:schemeClr val="dk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  <a:cs typeface="+mn-cs"/>
                      </a:endParaRPr>
                    </a:p>
                  </a:txBody>
                  <a:tcP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4003563"/>
                  </a:ext>
                </a:extLst>
              </a:tr>
            </a:tbl>
          </a:graphicData>
        </a:graphic>
      </p:graphicFrame>
      <p:pic>
        <p:nvPicPr>
          <p:cNvPr id="13" name="그림 12"/>
          <p:cNvPicPr>
            <a:picLocks noChangeAspect="1"/>
          </p:cNvPicPr>
          <p:nvPr/>
        </p:nvPicPr>
        <p:blipFill rotWithShape="1">
          <a:blip r:embed="rId2"/>
          <a:srcRect r="66891"/>
          <a:stretch/>
        </p:blipFill>
        <p:spPr>
          <a:xfrm>
            <a:off x="390098" y="3193286"/>
            <a:ext cx="2153597" cy="2326365"/>
          </a:xfrm>
          <a:prstGeom prst="rect">
            <a:avLst/>
          </a:prstGeom>
        </p:spPr>
      </p:pic>
      <p:sp>
        <p:nvSpPr>
          <p:cNvPr id="16" name="타원 1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09098" y="1228635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885573" y="1228635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36408" y="3087996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600241" y="3080815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14" name="그림 13"/>
          <p:cNvPicPr>
            <a:picLocks noChangeAspect="1"/>
          </p:cNvPicPr>
          <p:nvPr/>
        </p:nvPicPr>
        <p:blipFill rotWithShape="1">
          <a:blip r:embed="rId3"/>
          <a:srcRect t="6700"/>
          <a:stretch/>
        </p:blipFill>
        <p:spPr>
          <a:xfrm>
            <a:off x="2762241" y="3391592"/>
            <a:ext cx="4198148" cy="2128059"/>
          </a:xfrm>
          <a:prstGeom prst="rect">
            <a:avLst/>
          </a:prstGeom>
        </p:spPr>
      </p:pic>
      <p:sp>
        <p:nvSpPr>
          <p:cNvPr id="17" name="직사각형 16"/>
          <p:cNvSpPr/>
          <p:nvPr/>
        </p:nvSpPr>
        <p:spPr>
          <a:xfrm>
            <a:off x="2730139" y="3354181"/>
            <a:ext cx="1369178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800" b="1" u="sng" dirty="0" smtClean="0">
                <a:solidFill>
                  <a:schemeClr val="dk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PG</a:t>
            </a:r>
            <a:r>
              <a:rPr lang="ko-KR" altLang="en-US" sz="800" b="1" u="sng" dirty="0" smtClean="0">
                <a:solidFill>
                  <a:schemeClr val="dk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별 </a:t>
            </a:r>
            <a:r>
              <a:rPr lang="ko-KR" altLang="en-US" sz="800" b="1" u="sng" dirty="0" err="1" smtClean="0">
                <a:solidFill>
                  <a:schemeClr val="dk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지적사항</a:t>
            </a:r>
            <a:r>
              <a:rPr lang="ko-KR" altLang="en-US" sz="800" b="1" u="sng" dirty="0" smtClean="0">
                <a:solidFill>
                  <a:schemeClr val="dk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 현황</a:t>
            </a:r>
            <a:endParaRPr lang="ko-KR" altLang="en-US" b="1" dirty="0"/>
          </a:p>
        </p:txBody>
      </p:sp>
    </p:spTree>
    <p:extLst>
      <p:ext uri="{BB962C8B-B14F-4D97-AF65-F5344CB8AC3E}">
        <p14:creationId xmlns:p14="http://schemas.microsoft.com/office/powerpoint/2010/main" val="18346999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609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MDD-00024,MDD-00117</a:t>
                      </a:r>
                    </a:p>
                    <a:p>
                      <a:pPr marL="0" algn="ctr" defTabSz="914395" rtl="0" eaLnBrk="1" latinLnBrk="1" hangingPunct="1"/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MDD-00118,MDD-00119</a:t>
                      </a:r>
                      <a:endParaRPr lang="ko-KR" altLang="en-US" sz="8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MDD72G11000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영업감사대시보드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(5/5)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</a:t>
                      </a:r>
                      <a:r>
                        <a:rPr lang="ko-KR" altLang="en-US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 </a:t>
                      </a:r>
                      <a:r>
                        <a:rPr lang="en-US" altLang="ko-KR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noProof="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임점감사</a:t>
                      </a:r>
                      <a:r>
                        <a:rPr lang="en-US" altLang="ko-KR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(P65:</a:t>
                      </a:r>
                      <a:r>
                        <a:rPr lang="ko-KR" altLang="en-US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김용근</a:t>
                      </a:r>
                      <a:r>
                        <a:rPr lang="en-US" altLang="ko-KR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noProof="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5"/>
          <a:ext cx="2606675" cy="188679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54419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18139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>
                        <a:spcBef>
                          <a:spcPts val="600"/>
                        </a:spcBef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심의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조사 업무의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‘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지적코드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 소분류 등록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  <a:sym typeface="Wingdings" panose="05000000000000000000" pitchFamily="2" charset="2"/>
                        </a:rPr>
                        <a:t>화면에 입력된 값을 기준으로 구분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  <a:sym typeface="Wingdings" panose="05000000000000000000" pitchFamily="2" charset="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275801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>
                        <a:spcBef>
                          <a:spcPts val="600"/>
                        </a:spcBef>
                        <a:defRPr/>
                      </a:pP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  <a:sym typeface="Wingdings" panose="05000000000000000000" pitchFamily="2" charset="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49827223"/>
                  </a:ext>
                </a:extLst>
              </a:tr>
              <a:tr h="181399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>
                        <a:spcBef>
                          <a:spcPts val="600"/>
                        </a:spcBef>
                        <a:defRPr/>
                      </a:pP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  <a:sym typeface="Wingdings" panose="05000000000000000000" pitchFamily="2" charset="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5488606"/>
                  </a:ext>
                </a:extLst>
              </a:tr>
              <a:tr h="181398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>
                        <a:spcBef>
                          <a:spcPts val="600"/>
                        </a:spcBef>
                        <a:defRPr/>
                      </a:pP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  <a:sym typeface="Wingdings" panose="05000000000000000000" pitchFamily="2" charset="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426560"/>
                  </a:ext>
                </a:extLst>
              </a:tr>
              <a:tr h="181399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>
                        <a:spcBef>
                          <a:spcPts val="600"/>
                        </a:spcBef>
                        <a:defRPr/>
                      </a:pPr>
                      <a:endParaRPr lang="en-US" altLang="ko-KR" sz="80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  <a:sym typeface="Wingdings" panose="05000000000000000000" pitchFamily="2" charset="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4292609"/>
                  </a:ext>
                </a:extLst>
              </a:tr>
            </a:tbl>
          </a:graphicData>
        </a:graphic>
      </p:graphicFrame>
      <p:sp>
        <p:nvSpPr>
          <p:cNvPr id="15" name="양쪽 모서리가 둥근 사각형 14"/>
          <p:cNvSpPr/>
          <p:nvPr/>
        </p:nvSpPr>
        <p:spPr bwMode="auto">
          <a:xfrm>
            <a:off x="168344" y="1008793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영업감사대시보드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3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168345" y="1194528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154621" y="1314253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4" name="표 166">
            <a:extLst>
              <a:ext uri="{FF2B5EF4-FFF2-40B4-BE49-F238E27FC236}">
                <a16:creationId xmlns:a16="http://schemas.microsoft.com/office/drawing/2014/main" id="{1B6ACCFB-B450-DC36-96FB-8165DBBCBAC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318225" y="1793243"/>
          <a:ext cx="3557712" cy="319428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75497">
                  <a:extLst>
                    <a:ext uri="{9D8B030D-6E8A-4147-A177-3AD203B41FA5}">
                      <a16:colId xmlns:a16="http://schemas.microsoft.com/office/drawing/2014/main" val="3489309211"/>
                    </a:ext>
                  </a:extLst>
                </a:gridCol>
                <a:gridCol w="2269401">
                  <a:extLst>
                    <a:ext uri="{9D8B030D-6E8A-4147-A177-3AD203B41FA5}">
                      <a16:colId xmlns:a16="http://schemas.microsoft.com/office/drawing/2014/main" val="1742854559"/>
                    </a:ext>
                  </a:extLst>
                </a:gridCol>
                <a:gridCol w="712814">
                  <a:extLst>
                    <a:ext uri="{9D8B030D-6E8A-4147-A177-3AD203B41FA5}">
                      <a16:colId xmlns:a16="http://schemas.microsoft.com/office/drawing/2014/main" val="2389987534"/>
                    </a:ext>
                  </a:extLst>
                </a:gridCol>
              </a:tblGrid>
              <a:tr h="23498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solidFill>
                            <a:srgbClr val="4A483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</a:t>
                      </a:r>
                      <a:endParaRPr lang="ko-KR" altLang="en-US" sz="900" b="1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solidFill>
                          <a:srgbClr val="4A483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108552" marR="108552" marT="54277" marB="54277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solidFill>
                            <a:srgbClr val="4A483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지적항목 </a:t>
                      </a:r>
                      <a:r>
                        <a:rPr lang="en-US" altLang="ko-KR" sz="900" b="1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solidFill>
                            <a:srgbClr val="4A483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900" b="1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solidFill>
                            <a:srgbClr val="4A483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소분류</a:t>
                      </a:r>
                      <a:r>
                        <a:rPr lang="en-US" altLang="ko-KR" sz="900" b="1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solidFill>
                            <a:srgbClr val="4A483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900" b="1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solidFill>
                          <a:srgbClr val="4A483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108552" marR="108552" marT="54277" marB="54277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solidFill>
                            <a:srgbClr val="4A483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지적건수</a:t>
                      </a:r>
                      <a:endParaRPr lang="ko-KR" altLang="en-US" sz="900" b="1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solidFill>
                          <a:srgbClr val="4A483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108552" marR="108552" marT="54277" marB="54277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4896729"/>
                  </a:ext>
                </a:extLst>
              </a:tr>
              <a:tr h="234984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수신</a:t>
                      </a:r>
                      <a:endParaRPr lang="ko-KR" altLang="en-US" sz="9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108552" marR="108552" marT="54277" marB="54277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 표외출금 처리 부적정</a:t>
                      </a:r>
                      <a:endParaRPr lang="ko-KR" altLang="en-US" sz="9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108552" marR="108552" marT="54277" marB="54277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9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108552" marR="108552" marT="54277" marB="54277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8030536"/>
                  </a:ext>
                </a:extLst>
              </a:tr>
              <a:tr h="23498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주식납입금 지급업무 소홀</a:t>
                      </a:r>
                      <a:endParaRPr lang="ko-KR" altLang="en-US" sz="9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108552" marR="108552" marT="54277" marB="54277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9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108552" marR="108552" marT="54277" marB="54277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2463205"/>
                  </a:ext>
                </a:extLst>
              </a:tr>
              <a:tr h="23498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고객정보 관리업무 소홀</a:t>
                      </a:r>
                      <a:endParaRPr lang="ko-KR" altLang="en-US" sz="9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108552" marR="108552" marT="54277" marB="54277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9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108552" marR="108552" marT="54277" marB="54277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5481697"/>
                  </a:ext>
                </a:extLst>
              </a:tr>
              <a:tr h="234984">
                <a:tc rowSpan="6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여신</a:t>
                      </a:r>
                      <a:endParaRPr lang="ko-KR" altLang="en-US" sz="9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108552" marR="108552" marT="54277" marB="54277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대출심사 소홀</a:t>
                      </a:r>
                      <a:endParaRPr lang="ko-KR" altLang="en-US" sz="900" b="0" dirty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108552" marR="108552" marT="54277" marB="54277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16</a:t>
                      </a:r>
                      <a:endParaRPr lang="ko-KR" altLang="en-US" sz="9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108552" marR="108552" marT="54277" marB="54277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0961235"/>
                  </a:ext>
                </a:extLst>
              </a:tr>
              <a:tr h="23498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대출금 사후관리 소홀</a:t>
                      </a:r>
                      <a:endParaRPr lang="ko-KR" altLang="en-US" sz="900" b="0" dirty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108552" marR="108552" marT="54277" marB="54277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9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108552" marR="108552" marT="54277" marB="54277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0853202"/>
                  </a:ext>
                </a:extLst>
              </a:tr>
              <a:tr h="23498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 err="1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징구서류</a:t>
                      </a:r>
                      <a:r>
                        <a:rPr lang="ko-KR" altLang="en-US" sz="900" b="0" dirty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누락 또는 미비</a:t>
                      </a:r>
                    </a:p>
                  </a:txBody>
                  <a:tcPr marL="108552" marR="108552" marT="54277" marB="54277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9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108552" marR="108552" marT="54277" marB="54277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0433995"/>
                  </a:ext>
                </a:extLst>
              </a:tr>
              <a:tr h="23498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대출가능금액 </a:t>
                      </a:r>
                      <a:r>
                        <a:rPr lang="ko-KR" altLang="en-US" sz="900" b="0" dirty="0" err="1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초과대출</a:t>
                      </a:r>
                      <a:endParaRPr lang="ko-KR" altLang="en-US" sz="900" b="0" dirty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108552" marR="108552" marT="54277" marB="54277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9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108552" marR="108552" marT="54277" marB="54277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3399229"/>
                  </a:ext>
                </a:extLst>
              </a:tr>
              <a:tr h="23498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기한연장업무 취급 불철저</a:t>
                      </a:r>
                      <a:endParaRPr lang="ko-KR" altLang="en-US" sz="900" b="0" dirty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108552" marR="108552" marT="54277" marB="54277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9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108552" marR="108552" marT="54277" marB="54277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2920125"/>
                  </a:ext>
                </a:extLst>
              </a:tr>
              <a:tr h="23498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여신관련 약정서 작성의 적정성 점검 </a:t>
                      </a:r>
                      <a:r>
                        <a:rPr lang="ko-KR" altLang="en-US" sz="900" b="0" dirty="0" err="1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미실시</a:t>
                      </a:r>
                      <a:endParaRPr lang="ko-KR" altLang="en-US" sz="900" b="0" dirty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108552" marR="108552" marT="54277" marB="54277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9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108552" marR="108552" marT="54277" marB="54277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744682"/>
                  </a:ext>
                </a:extLst>
              </a:tr>
              <a:tr h="234984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기타</a:t>
                      </a:r>
                      <a:endParaRPr lang="ko-KR" altLang="en-US" sz="9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108552" marR="108552" marT="54277" marB="54277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 err="1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중요증서</a:t>
                      </a:r>
                      <a:r>
                        <a:rPr lang="ko-KR" altLang="en-US" sz="900" b="0" dirty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900" b="0" dirty="0" err="1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불용처리</a:t>
                      </a:r>
                      <a:r>
                        <a:rPr lang="ko-KR" altLang="en-US" sz="900" b="0" dirty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소홀</a:t>
                      </a:r>
                      <a:endParaRPr lang="ko-KR" altLang="en-US" sz="900" b="0" dirty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108552" marR="108552" marT="54277" marB="54277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9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108552" marR="108552" marT="54277" marB="54277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9651956"/>
                  </a:ext>
                </a:extLst>
              </a:tr>
              <a:tr h="23498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예금잔액조회제도 운영 불철저</a:t>
                      </a:r>
                      <a:endParaRPr lang="ko-KR" altLang="en-US" sz="900" b="0" dirty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108552" marR="108552" marT="54277" marB="54277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9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108552" marR="108552" marT="54277" marB="54277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59613122"/>
                  </a:ext>
                </a:extLst>
              </a:tr>
              <a:tr h="219888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특명검사 미실시</a:t>
                      </a:r>
                      <a:endParaRPr lang="ko-KR" altLang="en-US" sz="9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108552" marR="108552" marT="54277" marB="54277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900" b="0" dirty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108552" marR="108552" marT="54277" marB="54277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0200421"/>
                  </a:ext>
                </a:extLst>
              </a:tr>
            </a:tbl>
          </a:graphicData>
        </a:graphic>
      </p:graphicFrame>
      <p:grpSp>
        <p:nvGrpSpPr>
          <p:cNvPr id="17" name="그룹 16"/>
          <p:cNvGrpSpPr/>
          <p:nvPr/>
        </p:nvGrpSpPr>
        <p:grpSpPr>
          <a:xfrm>
            <a:off x="3316622" y="1477482"/>
            <a:ext cx="974255" cy="247450"/>
            <a:chOff x="1612241" y="2926525"/>
            <a:chExt cx="974255" cy="247450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FC888B5C-484B-582C-1070-BF5ED7268B32}"/>
                </a:ext>
              </a:extLst>
            </p:cNvPr>
            <p:cNvSpPr txBox="1"/>
            <p:nvPr/>
          </p:nvSpPr>
          <p:spPr>
            <a:xfrm>
              <a:off x="1669146" y="2926525"/>
              <a:ext cx="860444" cy="246221"/>
            </a:xfrm>
            <a:prstGeom prst="rect">
              <a:avLst/>
            </a:prstGeom>
            <a:noFill/>
            <a:ln>
              <a:solidFill>
                <a:schemeClr val="lt1">
                  <a:alpha val="0"/>
                </a:schemeClr>
              </a:solidFill>
            </a:ln>
          </p:spPr>
          <p:txBody>
            <a:bodyPr wrap="square" rtlCol="0">
              <a:spAutoFit/>
            </a:bodyPr>
            <a:lstStyle/>
            <a:p>
              <a:pPr marR="0" lvl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tabLst/>
                <a:defRPr/>
              </a:pPr>
              <a:r>
                <a:rPr lang="ko-KR" altLang="en-US" sz="1000" noProof="0" smtClean="0">
                  <a:ln>
                    <a:solidFill>
                      <a:srgbClr val="005EB8">
                        <a:alpha val="0"/>
                      </a:srgbClr>
                    </a:solidFill>
                  </a:ln>
                  <a:solidFill>
                    <a:srgbClr val="000000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주요지적사항</a:t>
              </a:r>
              <a:endParaRPr kumimoji="1" lang="ko-KR" altLang="en-US" sz="1000" i="0" u="none" strike="noStrike" kern="1200" cap="none" normalizeH="0" baseline="0" noProof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19" name="Line 7">
              <a:extLst>
                <a:ext uri="{FF2B5EF4-FFF2-40B4-BE49-F238E27FC236}">
                  <a16:creationId xmlns:a16="http://schemas.microsoft.com/office/drawing/2014/main" id="{9967A568-9F03-4D27-9535-F13D4C8E4DF1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612241" y="3172746"/>
              <a:ext cx="974255" cy="1229"/>
            </a:xfrm>
            <a:prstGeom prst="line">
              <a:avLst/>
            </a:prstGeom>
            <a:noFill/>
            <a:ln w="190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</p:spPr>
          <p:txBody>
            <a:bodyPr lIns="90000" tIns="54000" rIns="90000" bIns="18000"/>
            <a:lstStyle/>
            <a:p>
              <a:pPr marL="0" marR="0" lvl="0" indent="0" algn="ctr" defTabSz="457200" rtl="0" eaLnBrk="0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C2D83"/>
                </a:buClr>
                <a:buSzTx/>
                <a:buFont typeface="Wingdings" pitchFamily="2" charset="2"/>
                <a:buNone/>
                <a:tabLst/>
                <a:defRPr/>
              </a:pPr>
              <a:endParaRPr kumimoji="1" lang="ko-KR" altLang="en-US" sz="1200" b="1" i="0" u="none" strike="noStrike" kern="1200" cap="none" spc="0" normalizeH="0" baseline="0" noProof="0">
                <a:ln>
                  <a:solidFill>
                    <a:srgbClr val="000000"/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D1B450E-5646-45F7-A894-6E9FF0A7452C}"/>
              </a:ext>
            </a:extLst>
          </p:cNvPr>
          <p:cNvSpPr/>
          <p:nvPr/>
        </p:nvSpPr>
        <p:spPr>
          <a:xfrm>
            <a:off x="3211043" y="1476253"/>
            <a:ext cx="3762376" cy="3622160"/>
          </a:xfrm>
          <a:prstGeom prst="rect">
            <a:avLst/>
          </a:prstGeom>
          <a:noFill/>
          <a:ln w="952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KoPubWorld돋움체 Medium" panose="00000600000000000000" pitchFamily="2" charset="-127"/>
            </a:endParaRPr>
          </a:p>
        </p:txBody>
      </p:sp>
      <p:pic>
        <p:nvPicPr>
          <p:cNvPr id="26" name="그림 25"/>
          <p:cNvPicPr/>
          <p:nvPr/>
        </p:nvPicPr>
        <p:blipFill>
          <a:blip r:embed="rId2"/>
          <a:stretch>
            <a:fillRect/>
          </a:stretch>
        </p:blipFill>
        <p:spPr>
          <a:xfrm>
            <a:off x="278517" y="2844800"/>
            <a:ext cx="2773926" cy="2162944"/>
          </a:xfrm>
          <a:prstGeom prst="rect">
            <a:avLst/>
          </a:prstGeom>
        </p:spPr>
      </p:pic>
      <p:sp>
        <p:nvSpPr>
          <p:cNvPr id="28" name="TextBox 27">
            <a:extLst>
              <a:ext uri="{FF2B5EF4-FFF2-40B4-BE49-F238E27FC236}">
                <a16:creationId xmlns:a16="http://schemas.microsoft.com/office/drawing/2014/main" id="{FC888B5C-484B-582C-1070-BF5ED7268B32}"/>
              </a:ext>
            </a:extLst>
          </p:cNvPr>
          <p:cNvSpPr txBox="1"/>
          <p:nvPr/>
        </p:nvSpPr>
        <p:spPr>
          <a:xfrm>
            <a:off x="168344" y="2599136"/>
            <a:ext cx="860444" cy="246221"/>
          </a:xfrm>
          <a:prstGeom prst="rect">
            <a:avLst/>
          </a:prstGeom>
          <a:noFill/>
          <a:ln>
            <a:solidFill>
              <a:schemeClr val="lt1">
                <a:alpha val="0"/>
              </a:schemeClr>
            </a:solidFill>
          </a:ln>
        </p:spPr>
        <p:txBody>
          <a:bodyPr wrap="square" rtlCol="0">
            <a:spAutoFit/>
          </a:bodyPr>
          <a:lstStyle/>
          <a:p>
            <a:pPr marR="0" lvl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tabLst/>
              <a:defRPr/>
            </a:pPr>
            <a:r>
              <a:rPr lang="en-US" altLang="ko-KR" sz="1000" noProof="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[ </a:t>
            </a:r>
            <a:r>
              <a:rPr lang="ko-KR" altLang="en-US" sz="1000" noProof="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참고 화면</a:t>
            </a:r>
            <a:r>
              <a:rPr lang="en-US" altLang="ko-KR" sz="1000" noProof="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]</a:t>
            </a:r>
            <a:endParaRPr kumimoji="1" lang="ko-KR" altLang="en-US" sz="1000" i="0" u="none" strike="noStrike" kern="1200" cap="none" normalizeH="0" baseline="0" noProof="0">
              <a:ln>
                <a:solidFill>
                  <a:srgbClr val="005EB8">
                    <a:alpha val="0"/>
                  </a:srgbClr>
                </a:solidFill>
              </a:ln>
              <a:solidFill>
                <a:schemeClr val="tx2">
                  <a:lumMod val="60000"/>
                  <a:lumOff val="40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478294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직사각형 8"/>
          <p:cNvSpPr/>
          <p:nvPr/>
        </p:nvSpPr>
        <p:spPr bwMode="auto">
          <a:xfrm>
            <a:off x="443227" y="3796993"/>
            <a:ext cx="6407153" cy="2182628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lvl="0" indent="-85725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673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21259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통합상시감사시스템에서 월별로 산출되는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직원위험평가 결과를 연계하여 조회하는 화면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 내용은 모듈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 AI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위험평가결과 요건과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화면기능을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동일하게 승계함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위치 이동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3198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조회하는 직원의 기본정보 표시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엑셀출력가능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34559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연계되는 정보를 화면에 표시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조회형식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/UI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는 원천시스템과 동일하게 구현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감사지원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항목을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항목으로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메뉴및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기능 재조정 정의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.AI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위험평가결과 연계 협의 하여 구현 여부 확인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★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메뉴위치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감사지원인지 확인 필요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관련화면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– 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통합상시감사시스템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직원위험조회 확인 필요</a:t>
                      </a:r>
                    </a:p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MDD-00026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MDD72S24000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직원위험조회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1" i="0" u="none" strike="noStrike" kern="0" cap="none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</a:t>
                      </a:r>
                      <a:r>
                        <a:rPr kumimoji="0" lang="ko-KR" altLang="en-US" sz="1050" b="1" i="0" u="none" strike="noStrike" kern="0" cap="none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en-US" altLang="ko-KR" sz="1050" b="1" i="0" u="none" strike="noStrike" kern="0" cap="none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kumimoji="0" lang="ko-KR" altLang="en-US" sz="1050" b="1" i="0" u="none" strike="noStrike" kern="0" cap="none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임점감사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AI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위험평가결과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직원위험조회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(P175: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정용욱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4" name="양쪽 모서리가 둥근 사각형 3"/>
          <p:cNvSpPr/>
          <p:nvPr/>
        </p:nvSpPr>
        <p:spPr bwMode="auto">
          <a:xfrm>
            <a:off x="264488" y="1445422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ker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직원위험조회</a:t>
            </a:r>
            <a:endParaRPr kumimoji="0" lang="en-US" altLang="ko-KR" sz="800" kern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64489" y="1631157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" name="직사각형 5"/>
          <p:cNvSpPr/>
          <p:nvPr/>
        </p:nvSpPr>
        <p:spPr bwMode="auto">
          <a:xfrm flipV="1">
            <a:off x="264486" y="1432793"/>
            <a:ext cx="1075897" cy="22836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04025" y="137082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" name="직사각형 7"/>
          <p:cNvSpPr/>
          <p:nvPr/>
        </p:nvSpPr>
        <p:spPr bwMode="auto">
          <a:xfrm>
            <a:off x="440691" y="3817749"/>
            <a:ext cx="6407153" cy="225973"/>
          </a:xfrm>
          <a:prstGeom prst="rect">
            <a:avLst/>
          </a:prstGeom>
          <a:solidFill>
            <a:srgbClr val="FF0000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lvl="0" indent="-85725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최근</a:t>
            </a:r>
            <a:r>
              <a:rPr kumimoji="0" lang="en-US" altLang="ko-KR" sz="700" b="0" i="0" u="none" strike="noStrike" kern="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r>
              <a:rPr kumimoji="0" lang="ko-KR" altLang="en-US" sz="700" b="0" i="0" u="none" strike="noStrike" kern="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년 위반사항</a:t>
            </a:r>
          </a:p>
        </p:txBody>
      </p:sp>
      <p:graphicFrame>
        <p:nvGraphicFramePr>
          <p:cNvPr id="10" name="표 9"/>
          <p:cNvGraphicFramePr>
            <a:graphicFrameLocks noGrp="1"/>
          </p:cNvGraphicFramePr>
          <p:nvPr>
            <p:extLst/>
          </p:nvPr>
        </p:nvGraphicFramePr>
        <p:xfrm>
          <a:off x="506796" y="4122088"/>
          <a:ext cx="5980691" cy="985187"/>
        </p:xfrm>
        <a:graphic>
          <a:graphicData uri="http://schemas.openxmlformats.org/drawingml/2006/table">
            <a:tbl>
              <a:tblPr/>
              <a:tblGrid>
                <a:gridCol w="1393791">
                  <a:extLst>
                    <a:ext uri="{9D8B030D-6E8A-4147-A177-3AD203B41FA5}">
                      <a16:colId xmlns:a16="http://schemas.microsoft.com/office/drawing/2014/main" val="3535032951"/>
                    </a:ext>
                  </a:extLst>
                </a:gridCol>
                <a:gridCol w="610277">
                  <a:extLst>
                    <a:ext uri="{9D8B030D-6E8A-4147-A177-3AD203B41FA5}">
                      <a16:colId xmlns:a16="http://schemas.microsoft.com/office/drawing/2014/main" val="2512635773"/>
                    </a:ext>
                  </a:extLst>
                </a:gridCol>
                <a:gridCol w="641775">
                  <a:extLst>
                    <a:ext uri="{9D8B030D-6E8A-4147-A177-3AD203B41FA5}">
                      <a16:colId xmlns:a16="http://schemas.microsoft.com/office/drawing/2014/main" val="3795378524"/>
                    </a:ext>
                  </a:extLst>
                </a:gridCol>
                <a:gridCol w="2464728">
                  <a:extLst>
                    <a:ext uri="{9D8B030D-6E8A-4147-A177-3AD203B41FA5}">
                      <a16:colId xmlns:a16="http://schemas.microsoft.com/office/drawing/2014/main" val="2761332065"/>
                    </a:ext>
                  </a:extLst>
                </a:gridCol>
                <a:gridCol w="870120">
                  <a:extLst>
                    <a:ext uri="{9D8B030D-6E8A-4147-A177-3AD203B41FA5}">
                      <a16:colId xmlns:a16="http://schemas.microsoft.com/office/drawing/2014/main" val="384189276"/>
                    </a:ext>
                  </a:extLst>
                </a:gridCol>
              </a:tblGrid>
              <a:tr h="21031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지적일자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지적구분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위반 내용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지적감사역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9316118"/>
                  </a:ext>
                </a:extLst>
              </a:tr>
              <a:tr h="1937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AA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시정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법규 준수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OO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8042188"/>
                  </a:ext>
                </a:extLst>
              </a:tr>
              <a:tr h="1937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2023-12-15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AA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주의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가계일반자금대출업무 취급소홀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OO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8791277"/>
                  </a:ext>
                </a:extLst>
              </a:tr>
              <a:tr h="1937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2022-08-07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AA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전세자금대출업무 </a:t>
                      </a:r>
                      <a:r>
                        <a:rPr lang="ko-KR" altLang="en-US" sz="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취급소홀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</a:t>
                      </a:r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OO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79236258"/>
                  </a:ext>
                </a:extLst>
              </a:tr>
              <a:tr h="193719"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21570393"/>
                  </a:ext>
                </a:extLst>
              </a:tr>
            </a:tbl>
          </a:graphicData>
        </a:graphic>
      </p:graphicFrame>
      <p:graphicFrame>
        <p:nvGraphicFramePr>
          <p:cNvPr id="11" name="내용 개체 틀 121"/>
          <p:cNvGraphicFramePr>
            <a:graphicFrameLocks/>
          </p:cNvGraphicFramePr>
          <p:nvPr>
            <p:extLst/>
          </p:nvPr>
        </p:nvGraphicFramePr>
        <p:xfrm>
          <a:off x="257983" y="1727646"/>
          <a:ext cx="6732901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1177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6091724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직원명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933107" y="1769122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345496" y="1769156"/>
            <a:ext cx="934552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4" name="그림 13"/>
          <p:cNvPicPr>
            <a:picLocks noChangeAspect="1"/>
          </p:cNvPicPr>
          <p:nvPr/>
        </p:nvPicPr>
        <p:blipFill rotWithShape="1">
          <a:blip r:embed="rId2"/>
          <a:srcRect r="73540"/>
          <a:stretch/>
        </p:blipFill>
        <p:spPr>
          <a:xfrm>
            <a:off x="1358196" y="1785678"/>
            <a:ext cx="183595" cy="164228"/>
          </a:xfrm>
          <a:prstGeom prst="rect">
            <a:avLst/>
          </a:prstGeom>
        </p:spPr>
      </p:pic>
      <p:sp>
        <p:nvSpPr>
          <p:cNvPr id="1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73644" y="1766252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72523" y="1769122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17" name="표 16"/>
          <p:cNvGraphicFramePr>
            <a:graphicFrameLocks noGrp="1"/>
          </p:cNvGraphicFramePr>
          <p:nvPr>
            <p:extLst/>
          </p:nvPr>
        </p:nvGraphicFramePr>
        <p:xfrm>
          <a:off x="264486" y="2097282"/>
          <a:ext cx="6726396" cy="457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1066">
                  <a:extLst>
                    <a:ext uri="{9D8B030D-6E8A-4147-A177-3AD203B41FA5}">
                      <a16:colId xmlns:a16="http://schemas.microsoft.com/office/drawing/2014/main" val="1639967802"/>
                    </a:ext>
                  </a:extLst>
                </a:gridCol>
                <a:gridCol w="1121066">
                  <a:extLst>
                    <a:ext uri="{9D8B030D-6E8A-4147-A177-3AD203B41FA5}">
                      <a16:colId xmlns:a16="http://schemas.microsoft.com/office/drawing/2014/main" val="2773678255"/>
                    </a:ext>
                  </a:extLst>
                </a:gridCol>
                <a:gridCol w="1121066">
                  <a:extLst>
                    <a:ext uri="{9D8B030D-6E8A-4147-A177-3AD203B41FA5}">
                      <a16:colId xmlns:a16="http://schemas.microsoft.com/office/drawing/2014/main" val="2090651497"/>
                    </a:ext>
                  </a:extLst>
                </a:gridCol>
                <a:gridCol w="1121066">
                  <a:extLst>
                    <a:ext uri="{9D8B030D-6E8A-4147-A177-3AD203B41FA5}">
                      <a16:colId xmlns:a16="http://schemas.microsoft.com/office/drawing/2014/main" val="3023761058"/>
                    </a:ext>
                  </a:extLst>
                </a:gridCol>
                <a:gridCol w="1121066">
                  <a:extLst>
                    <a:ext uri="{9D8B030D-6E8A-4147-A177-3AD203B41FA5}">
                      <a16:colId xmlns:a16="http://schemas.microsoft.com/office/drawing/2014/main" val="3156209256"/>
                    </a:ext>
                  </a:extLst>
                </a:gridCol>
                <a:gridCol w="1121066">
                  <a:extLst>
                    <a:ext uri="{9D8B030D-6E8A-4147-A177-3AD203B41FA5}">
                      <a16:colId xmlns:a16="http://schemas.microsoft.com/office/drawing/2014/main" val="2846709752"/>
                    </a:ext>
                  </a:extLst>
                </a:gridCol>
              </a:tblGrid>
              <a:tr h="1843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주직무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기업고객담당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직급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L2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인사직위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팀원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8764178"/>
                  </a:ext>
                </a:extLst>
              </a:tr>
              <a:tr h="1843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소속 부점명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OO</a:t>
                      </a:r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지점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 지점 근무년수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2.5</a:t>
                      </a:r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책임자 여부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0038279"/>
                  </a:ext>
                </a:extLst>
              </a:tr>
            </a:tbl>
          </a:graphicData>
        </a:graphic>
      </p:graphicFrame>
      <p:sp>
        <p:nvSpPr>
          <p:cNvPr id="18" name="타원 1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83722" y="203749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9" name="직사각형 18"/>
          <p:cNvSpPr/>
          <p:nvPr/>
        </p:nvSpPr>
        <p:spPr bwMode="auto">
          <a:xfrm flipV="1">
            <a:off x="292634" y="2664056"/>
            <a:ext cx="6641010" cy="3614824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83722" y="260208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1" name="직사각형 20"/>
          <p:cNvSpPr/>
          <p:nvPr/>
        </p:nvSpPr>
        <p:spPr bwMode="auto">
          <a:xfrm>
            <a:off x="341631" y="2099525"/>
            <a:ext cx="6615325" cy="486822"/>
          </a:xfrm>
          <a:prstGeom prst="rect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lvl="0" indent="-85725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23" name="그림 2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8868" y="5447165"/>
            <a:ext cx="6013656" cy="397200"/>
          </a:xfrm>
          <a:prstGeom prst="rect">
            <a:avLst/>
          </a:prstGeom>
        </p:spPr>
      </p:pic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438147" y="2909763"/>
          <a:ext cx="3504690" cy="770888"/>
        </p:xfrm>
        <a:graphic>
          <a:graphicData uri="http://schemas.openxmlformats.org/drawingml/2006/table">
            <a:tbl>
              <a:tblPr/>
              <a:tblGrid>
                <a:gridCol w="584115">
                  <a:extLst>
                    <a:ext uri="{9D8B030D-6E8A-4147-A177-3AD203B41FA5}">
                      <a16:colId xmlns:a16="http://schemas.microsoft.com/office/drawing/2014/main" val="3535032951"/>
                    </a:ext>
                  </a:extLst>
                </a:gridCol>
                <a:gridCol w="584115">
                  <a:extLst>
                    <a:ext uri="{9D8B030D-6E8A-4147-A177-3AD203B41FA5}">
                      <a16:colId xmlns:a16="http://schemas.microsoft.com/office/drawing/2014/main" val="2802195698"/>
                    </a:ext>
                  </a:extLst>
                </a:gridCol>
                <a:gridCol w="584115">
                  <a:extLst>
                    <a:ext uri="{9D8B030D-6E8A-4147-A177-3AD203B41FA5}">
                      <a16:colId xmlns:a16="http://schemas.microsoft.com/office/drawing/2014/main" val="1408328253"/>
                    </a:ext>
                  </a:extLst>
                </a:gridCol>
                <a:gridCol w="584115">
                  <a:extLst>
                    <a:ext uri="{9D8B030D-6E8A-4147-A177-3AD203B41FA5}">
                      <a16:colId xmlns:a16="http://schemas.microsoft.com/office/drawing/2014/main" val="3165296892"/>
                    </a:ext>
                  </a:extLst>
                </a:gridCol>
                <a:gridCol w="584115">
                  <a:extLst>
                    <a:ext uri="{9D8B030D-6E8A-4147-A177-3AD203B41FA5}">
                      <a16:colId xmlns:a16="http://schemas.microsoft.com/office/drawing/2014/main" val="3042719797"/>
                    </a:ext>
                  </a:extLst>
                </a:gridCol>
                <a:gridCol w="584115">
                  <a:extLst>
                    <a:ext uri="{9D8B030D-6E8A-4147-A177-3AD203B41FA5}">
                      <a16:colId xmlns:a16="http://schemas.microsoft.com/office/drawing/2014/main" val="1196439270"/>
                    </a:ext>
                  </a:extLst>
                </a:gridCol>
              </a:tblGrid>
              <a:tr h="27122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예측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점검업무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점검업무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점검업무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점검업무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점검업무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9316118"/>
                  </a:ext>
                </a:extLst>
              </a:tr>
              <a:tr h="4996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 smtClean="0">
                          <a:solidFill>
                            <a:schemeClr val="bg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중점</a:t>
                      </a:r>
                      <a:endParaRPr lang="en-US" altLang="ko-KR" sz="1000" b="1" i="0" u="none" strike="noStrike" dirty="0" smtClean="0">
                        <a:solidFill>
                          <a:schemeClr val="bg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1" i="0" u="none" strike="noStrike" dirty="0" err="1" smtClean="0">
                          <a:solidFill>
                            <a:schemeClr val="bg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점검요</a:t>
                      </a:r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당행계좌</a:t>
                      </a:r>
                      <a:r>
                        <a:rPr lang="ko-KR" altLang="en-US" sz="8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1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입금건수</a:t>
                      </a:r>
                      <a:r>
                        <a:rPr lang="ko-KR" altLang="en-US" sz="8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(6</a:t>
                      </a:r>
                      <a:r>
                        <a:rPr lang="ko-KR" altLang="en-US" sz="8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개월</a:t>
                      </a:r>
                      <a:r>
                        <a:rPr lang="en-US" altLang="ko-KR" sz="8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en-US" altLang="ko-KR" sz="800" b="1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r>
                        <a:rPr lang="ko-KR" altLang="en-US" sz="800" b="1" i="0" u="none" strike="noStrike" kern="1200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당행현금</a:t>
                      </a:r>
                      <a:r>
                        <a:rPr lang="ko-KR" altLang="en-US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1" i="0" u="none" strike="noStrike" kern="1200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거래건수</a:t>
                      </a:r>
                      <a:r>
                        <a:rPr lang="ko-KR" altLang="en-US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(3</a:t>
                      </a:r>
                      <a:r>
                        <a:rPr lang="ko-KR" altLang="en-US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개월</a:t>
                      </a:r>
                      <a:r>
                        <a:rPr lang="en-US" altLang="ko-KR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)</a:t>
                      </a:r>
                      <a:endParaRPr lang="en-US" altLang="ko-KR" sz="800" b="1" i="0" u="none" strike="noStrike" kern="1200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r>
                        <a:rPr lang="ko-KR" altLang="en-US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담보대출 금액 </a:t>
                      </a:r>
                      <a:r>
                        <a:rPr lang="en-US" altLang="ko-KR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(6</a:t>
                      </a:r>
                      <a:r>
                        <a:rPr lang="ko-KR" altLang="en-US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개월</a:t>
                      </a:r>
                      <a:r>
                        <a:rPr lang="en-US" altLang="ko-KR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)</a:t>
                      </a:r>
                      <a:endParaRPr lang="en-US" altLang="ko-KR" sz="800" b="1" i="0" u="none" strike="noStrike" kern="1200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r>
                        <a:rPr lang="en-US" altLang="ko-KR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70</a:t>
                      </a:r>
                      <a:r>
                        <a:rPr lang="ko-KR" altLang="en-US" sz="800" b="1" i="0" u="none" strike="noStrike" kern="1200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대이상고객</a:t>
                      </a:r>
                      <a:r>
                        <a:rPr lang="ko-KR" altLang="en-US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거래금액 </a:t>
                      </a:r>
                      <a:r>
                        <a:rPr lang="en-US" altLang="ko-KR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(3</a:t>
                      </a:r>
                      <a:r>
                        <a:rPr lang="ko-KR" altLang="en-US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개월</a:t>
                      </a:r>
                      <a:r>
                        <a:rPr lang="en-US" altLang="ko-KR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)</a:t>
                      </a:r>
                      <a:endParaRPr lang="en-US" altLang="ko-KR" sz="800" b="1" i="0" u="none" strike="noStrike" kern="1200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r>
                        <a:rPr lang="en-US" altLang="ko-KR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PB</a:t>
                      </a:r>
                      <a:r>
                        <a:rPr lang="ko-KR" altLang="en-US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고객 거래금액 </a:t>
                      </a:r>
                      <a:r>
                        <a:rPr lang="en-US" altLang="ko-KR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(1</a:t>
                      </a:r>
                      <a:r>
                        <a:rPr lang="ko-KR" altLang="en-US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개월</a:t>
                      </a:r>
                      <a:r>
                        <a:rPr lang="en-US" altLang="ko-KR" sz="8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)</a:t>
                      </a:r>
                      <a:endParaRPr lang="en-US" altLang="ko-KR" sz="800" b="1" i="0" u="none" strike="noStrike" kern="1200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8042188"/>
                  </a:ext>
                </a:extLst>
              </a:tr>
            </a:tbl>
          </a:graphicData>
        </a:graphic>
      </p:graphicFrame>
      <p:graphicFrame>
        <p:nvGraphicFramePr>
          <p:cNvPr id="25" name="표 24"/>
          <p:cNvGraphicFramePr>
            <a:graphicFrameLocks noGrp="1"/>
          </p:cNvGraphicFramePr>
          <p:nvPr>
            <p:extLst/>
          </p:nvPr>
        </p:nvGraphicFramePr>
        <p:xfrm>
          <a:off x="4051748" y="2919456"/>
          <a:ext cx="2797940" cy="770888"/>
        </p:xfrm>
        <a:graphic>
          <a:graphicData uri="http://schemas.openxmlformats.org/drawingml/2006/table">
            <a:tbl>
              <a:tblPr/>
              <a:tblGrid>
                <a:gridCol w="699485">
                  <a:extLst>
                    <a:ext uri="{9D8B030D-6E8A-4147-A177-3AD203B41FA5}">
                      <a16:colId xmlns:a16="http://schemas.microsoft.com/office/drawing/2014/main" val="3535032951"/>
                    </a:ext>
                  </a:extLst>
                </a:gridCol>
                <a:gridCol w="699485">
                  <a:extLst>
                    <a:ext uri="{9D8B030D-6E8A-4147-A177-3AD203B41FA5}">
                      <a16:colId xmlns:a16="http://schemas.microsoft.com/office/drawing/2014/main" val="1408328253"/>
                    </a:ext>
                  </a:extLst>
                </a:gridCol>
                <a:gridCol w="699485">
                  <a:extLst>
                    <a:ext uri="{9D8B030D-6E8A-4147-A177-3AD203B41FA5}">
                      <a16:colId xmlns:a16="http://schemas.microsoft.com/office/drawing/2014/main" val="3165296892"/>
                    </a:ext>
                  </a:extLst>
                </a:gridCol>
                <a:gridCol w="699485">
                  <a:extLst>
                    <a:ext uri="{9D8B030D-6E8A-4147-A177-3AD203B41FA5}">
                      <a16:colId xmlns:a16="http://schemas.microsoft.com/office/drawing/2014/main" val="3042719797"/>
                    </a:ext>
                  </a:extLst>
                </a:gridCol>
              </a:tblGrid>
              <a:tr h="27122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예측수신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외환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고액기타</a:t>
                      </a:r>
                      <a:endParaRPr lang="ko-KR" altLang="en-US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9316118"/>
                  </a:ext>
                </a:extLst>
              </a:tr>
              <a:tr h="4996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위험요소없음</a:t>
                      </a:r>
                      <a:endParaRPr lang="en-US" altLang="ko-KR" sz="800" b="1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272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 smtClean="0">
                          <a:solidFill>
                            <a:schemeClr val="bg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중점</a:t>
                      </a:r>
                      <a:endParaRPr lang="en-US" altLang="ko-KR" sz="800" b="1" i="0" u="none" strike="noStrike" dirty="0" smtClean="0">
                        <a:solidFill>
                          <a:schemeClr val="bg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1" i="0" u="none" strike="noStrike" dirty="0" err="1" smtClean="0">
                          <a:solidFill>
                            <a:schemeClr val="bg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점검요</a:t>
                      </a:r>
                      <a:endParaRPr lang="en-US" altLang="ko-KR" sz="800" b="1" i="0" u="none" strike="noStrike" dirty="0" smtClean="0">
                        <a:solidFill>
                          <a:schemeClr val="bg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 smtClean="0">
                          <a:solidFill>
                            <a:schemeClr val="bg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중점</a:t>
                      </a:r>
                      <a:endParaRPr lang="en-US" altLang="ko-KR" sz="800" b="1" i="0" u="none" strike="noStrike" dirty="0" smtClean="0">
                        <a:solidFill>
                          <a:schemeClr val="bg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1" i="0" u="none" strike="noStrike" dirty="0" err="1" smtClean="0">
                          <a:solidFill>
                            <a:schemeClr val="bg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점검요</a:t>
                      </a:r>
                      <a:endParaRPr lang="en-US" altLang="ko-KR" sz="800" b="1" i="0" u="none" strike="noStrike" dirty="0" smtClean="0">
                        <a:solidFill>
                          <a:schemeClr val="bg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r>
                        <a:rPr lang="ko-KR" altLang="en-US" sz="8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위험요소없음</a:t>
                      </a:r>
                      <a:endParaRPr lang="en-US" altLang="ko-KR" sz="800" b="1" i="0" u="none" strike="noStrike" kern="1200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272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8042188"/>
                  </a:ext>
                </a:extLst>
              </a:tr>
            </a:tbl>
          </a:graphicData>
        </a:graphic>
      </p:graphicFrame>
      <p:sp>
        <p:nvSpPr>
          <p:cNvPr id="26" name="직사각형 25"/>
          <p:cNvSpPr/>
          <p:nvPr/>
        </p:nvSpPr>
        <p:spPr>
          <a:xfrm>
            <a:off x="397202" y="2634782"/>
            <a:ext cx="819455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직원항목</a:t>
            </a:r>
            <a:endParaRPr lang="ko-KR" altLang="en-US" dirty="0"/>
          </a:p>
        </p:txBody>
      </p:sp>
      <p:sp>
        <p:nvSpPr>
          <p:cNvPr id="27" name="직사각형 26"/>
          <p:cNvSpPr/>
          <p:nvPr/>
        </p:nvSpPr>
        <p:spPr>
          <a:xfrm>
            <a:off x="4216444" y="2634782"/>
            <a:ext cx="819455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소속부점</a:t>
            </a:r>
            <a:endParaRPr lang="ko-KR" altLang="en-US" dirty="0"/>
          </a:p>
        </p:txBody>
      </p:sp>
      <p:sp>
        <p:nvSpPr>
          <p:cNvPr id="28" name="직사각형 27"/>
          <p:cNvSpPr/>
          <p:nvPr/>
        </p:nvSpPr>
        <p:spPr>
          <a:xfrm>
            <a:off x="443227" y="5169244"/>
            <a:ext cx="2981907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소속부점</a:t>
            </a:r>
            <a:r>
              <a:rPr lang="ko-KR" altLang="en-US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lang="en-US" altLang="ko-KR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– </a:t>
            </a:r>
            <a:r>
              <a:rPr lang="ko-KR" altLang="en-US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상시감시내역</a:t>
            </a:r>
            <a:r>
              <a:rPr lang="en-US" altLang="ko-KR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lang="ko-KR" altLang="en-US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이전월 </a:t>
            </a:r>
            <a:r>
              <a:rPr lang="en-US" altLang="ko-KR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M-1)</a:t>
            </a:r>
            <a:endParaRPr lang="ko-KR" altLang="en-US" dirty="0"/>
          </a:p>
        </p:txBody>
      </p:sp>
      <p:sp>
        <p:nvSpPr>
          <p:cNvPr id="29" name="곱셈 기호 28"/>
          <p:cNvSpPr/>
          <p:nvPr/>
        </p:nvSpPr>
        <p:spPr bwMode="auto">
          <a:xfrm>
            <a:off x="6094413" y="1434813"/>
            <a:ext cx="488934" cy="474990"/>
          </a:xfrm>
          <a:prstGeom prst="mathMultiply">
            <a:avLst/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5062668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0190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21259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통합상시감사시스템에서 월별로 산출되는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부점위험평가 결과를 연계하여 조회하는 화면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 내용은 모듈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 AI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위험평가결과 요건과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화면기능을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동일하게 승계함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조회된 내용 엑셀로 출력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위치 이동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라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감사지원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항목을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항목으로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메뉴및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기능 재조정 정의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))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마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위험평가결과 연계 협의 하여 구현 여부 확인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3198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연계되는 정보를 화면에 표시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조회형식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/UI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는 원천시스템과 동일하게 구현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34559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★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메뉴위치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감사지원인지 확인 필요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관련화면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– 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통합상시감사시스템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부점위험조회 확인 필요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(MOT.CM.01.04.01.00)</a:t>
                      </a:r>
                    </a:p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MDD-00027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MDD72S25000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부점위험조회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1" i="0" u="none" strike="noStrike" kern="0" cap="none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</a:t>
                      </a:r>
                      <a:r>
                        <a:rPr kumimoji="0" lang="ko-KR" altLang="en-US" sz="1050" b="1" i="0" u="none" strike="noStrike" kern="0" cap="none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en-US" altLang="ko-KR" sz="1050" b="1" i="0" u="none" strike="noStrike" kern="0" cap="none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kumimoji="0" lang="ko-KR" altLang="en-US" sz="1050" b="1" i="0" u="none" strike="noStrike" kern="0" cap="none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임점감사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AI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위험평가결과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부점위험조회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(P176: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정용욱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27" name="양쪽 모서리가 둥근 사각형 26"/>
          <p:cNvSpPr/>
          <p:nvPr/>
        </p:nvSpPr>
        <p:spPr bwMode="auto">
          <a:xfrm>
            <a:off x="264488" y="1087964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kern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부점위험조회</a:t>
            </a:r>
            <a:endParaRPr kumimoji="0" lang="en-US" altLang="ko-KR" sz="800" kern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9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64489" y="1273699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0" name="직사각형 29"/>
          <p:cNvSpPr/>
          <p:nvPr/>
        </p:nvSpPr>
        <p:spPr bwMode="auto">
          <a:xfrm flipV="1">
            <a:off x="264486" y="1075335"/>
            <a:ext cx="1075897" cy="22836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04025" y="101336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32" name="내용 개체 틀 121"/>
          <p:cNvGraphicFramePr>
            <a:graphicFrameLocks/>
          </p:cNvGraphicFramePr>
          <p:nvPr>
            <p:extLst/>
          </p:nvPr>
        </p:nvGraphicFramePr>
        <p:xfrm>
          <a:off x="257983" y="1370188"/>
          <a:ext cx="6732901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1177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6091724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부서</a:t>
                      </a:r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명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33" name="직사각형 3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933107" y="1411664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345496" y="1411698"/>
            <a:ext cx="934552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35" name="그림 34"/>
          <p:cNvPicPr>
            <a:picLocks noChangeAspect="1"/>
          </p:cNvPicPr>
          <p:nvPr/>
        </p:nvPicPr>
        <p:blipFill rotWithShape="1">
          <a:blip r:embed="rId2"/>
          <a:srcRect r="73540"/>
          <a:stretch/>
        </p:blipFill>
        <p:spPr>
          <a:xfrm>
            <a:off x="1358196" y="1428220"/>
            <a:ext cx="183595" cy="164228"/>
          </a:xfrm>
          <a:prstGeom prst="rect">
            <a:avLst/>
          </a:prstGeom>
        </p:spPr>
      </p:pic>
      <p:sp>
        <p:nvSpPr>
          <p:cNvPr id="3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73644" y="1408794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72523" y="1411664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04025" y="162903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7" name="표 16"/>
          <p:cNvGraphicFramePr>
            <a:graphicFrameLocks noGrp="1"/>
          </p:cNvGraphicFramePr>
          <p:nvPr>
            <p:extLst/>
          </p:nvPr>
        </p:nvGraphicFramePr>
        <p:xfrm>
          <a:off x="304925" y="1962499"/>
          <a:ext cx="3144856" cy="770888"/>
        </p:xfrm>
        <a:graphic>
          <a:graphicData uri="http://schemas.openxmlformats.org/drawingml/2006/table">
            <a:tbl>
              <a:tblPr/>
              <a:tblGrid>
                <a:gridCol w="786214">
                  <a:extLst>
                    <a:ext uri="{9D8B030D-6E8A-4147-A177-3AD203B41FA5}">
                      <a16:colId xmlns:a16="http://schemas.microsoft.com/office/drawing/2014/main" val="3535032951"/>
                    </a:ext>
                  </a:extLst>
                </a:gridCol>
                <a:gridCol w="786214">
                  <a:extLst>
                    <a:ext uri="{9D8B030D-6E8A-4147-A177-3AD203B41FA5}">
                      <a16:colId xmlns:a16="http://schemas.microsoft.com/office/drawing/2014/main" val="1408328253"/>
                    </a:ext>
                  </a:extLst>
                </a:gridCol>
                <a:gridCol w="786214">
                  <a:extLst>
                    <a:ext uri="{9D8B030D-6E8A-4147-A177-3AD203B41FA5}">
                      <a16:colId xmlns:a16="http://schemas.microsoft.com/office/drawing/2014/main" val="3165296892"/>
                    </a:ext>
                  </a:extLst>
                </a:gridCol>
                <a:gridCol w="786214">
                  <a:extLst>
                    <a:ext uri="{9D8B030D-6E8A-4147-A177-3AD203B41FA5}">
                      <a16:colId xmlns:a16="http://schemas.microsoft.com/office/drawing/2014/main" val="3042719797"/>
                    </a:ext>
                  </a:extLst>
                </a:gridCol>
              </a:tblGrid>
              <a:tr h="27122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예측 수신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예측 여신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예측 외환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예측 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고액기타</a:t>
                      </a:r>
                      <a:endParaRPr lang="ko-KR" altLang="en-US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9316118"/>
                  </a:ext>
                </a:extLst>
              </a:tr>
              <a:tr h="4996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위험요소없음</a:t>
                      </a:r>
                      <a:endParaRPr lang="en-US" altLang="ko-KR" sz="800" b="1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 smtClean="0">
                          <a:solidFill>
                            <a:schemeClr val="bg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중점</a:t>
                      </a:r>
                      <a:endParaRPr lang="en-US" altLang="ko-KR" sz="800" b="1" i="0" u="none" strike="noStrike" dirty="0" smtClean="0">
                        <a:solidFill>
                          <a:schemeClr val="bg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1" i="0" u="none" strike="noStrike" dirty="0" err="1" smtClean="0">
                          <a:solidFill>
                            <a:schemeClr val="bg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점검요</a:t>
                      </a:r>
                      <a:endParaRPr lang="en-US" altLang="ko-KR" sz="800" b="1" i="0" u="none" strike="noStrike" dirty="0" smtClean="0">
                        <a:solidFill>
                          <a:schemeClr val="bg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 smtClean="0">
                          <a:solidFill>
                            <a:schemeClr val="bg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중점</a:t>
                      </a:r>
                      <a:endParaRPr lang="en-US" altLang="ko-KR" sz="800" b="1" i="0" u="none" strike="noStrike" dirty="0" smtClean="0">
                        <a:solidFill>
                          <a:schemeClr val="bg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1" i="0" u="none" strike="noStrike" dirty="0" err="1" smtClean="0">
                          <a:solidFill>
                            <a:schemeClr val="bg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점검요</a:t>
                      </a:r>
                      <a:endParaRPr lang="en-US" altLang="ko-KR" sz="800" b="1" i="0" u="none" strike="noStrike" dirty="0" smtClean="0">
                        <a:solidFill>
                          <a:schemeClr val="bg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r>
                        <a:rPr lang="ko-KR" altLang="en-US" sz="8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위험요소없음</a:t>
                      </a:r>
                      <a:endParaRPr lang="en-US" altLang="ko-KR" sz="800" b="1" i="0" u="none" strike="noStrike" kern="1200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8042188"/>
                  </a:ext>
                </a:extLst>
              </a:tr>
            </a:tbl>
          </a:graphicData>
        </a:graphic>
      </p:graphicFrame>
      <p:pic>
        <p:nvPicPr>
          <p:cNvPr id="18" name="그림 17"/>
          <p:cNvPicPr>
            <a:picLocks noChangeAspect="1"/>
          </p:cNvPicPr>
          <p:nvPr/>
        </p:nvPicPr>
        <p:blipFill rotWithShape="1">
          <a:blip r:embed="rId3"/>
          <a:srcRect l="50427" t="14352" b="44435"/>
          <a:stretch/>
        </p:blipFill>
        <p:spPr>
          <a:xfrm>
            <a:off x="3624348" y="1962499"/>
            <a:ext cx="3309295" cy="2177229"/>
          </a:xfrm>
          <a:prstGeom prst="rect">
            <a:avLst/>
          </a:prstGeom>
        </p:spPr>
      </p:pic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314391" y="2890671"/>
          <a:ext cx="3144857" cy="1249150"/>
        </p:xfrm>
        <a:graphic>
          <a:graphicData uri="http://schemas.openxmlformats.org/drawingml/2006/table">
            <a:tbl>
              <a:tblPr/>
              <a:tblGrid>
                <a:gridCol w="786214">
                  <a:extLst>
                    <a:ext uri="{9D8B030D-6E8A-4147-A177-3AD203B41FA5}">
                      <a16:colId xmlns:a16="http://schemas.microsoft.com/office/drawing/2014/main" val="3329129807"/>
                    </a:ext>
                  </a:extLst>
                </a:gridCol>
                <a:gridCol w="2358643">
                  <a:extLst>
                    <a:ext uri="{9D8B030D-6E8A-4147-A177-3AD203B41FA5}">
                      <a16:colId xmlns:a16="http://schemas.microsoft.com/office/drawing/2014/main" val="2203962903"/>
                    </a:ext>
                  </a:extLst>
                </a:gridCol>
              </a:tblGrid>
              <a:tr h="24983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점검항목</a:t>
                      </a:r>
                      <a:r>
                        <a:rPr lang="en-US" altLang="ko-KR" sz="8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en-US" altLang="ko-KR" sz="800" b="1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개인대출평균시간수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(3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개월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C7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51892"/>
                  </a:ext>
                </a:extLst>
              </a:tr>
              <a:tr h="24983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점검항목</a:t>
                      </a:r>
                      <a:r>
                        <a:rPr lang="en-US" altLang="ko-KR" sz="8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en-US" altLang="ko-KR" sz="800" b="1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외화환전해외송금최대시간수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전월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C7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0294135"/>
                  </a:ext>
                </a:extLst>
              </a:tr>
              <a:tr h="24983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점검항목</a:t>
                      </a:r>
                      <a:r>
                        <a:rPr lang="en-US" altLang="ko-KR" sz="8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en-US" altLang="ko-KR" sz="800" b="1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여신신규거래건수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(3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개월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C7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2431707"/>
                  </a:ext>
                </a:extLst>
              </a:tr>
              <a:tr h="24983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점검항목</a:t>
                      </a:r>
                      <a:r>
                        <a:rPr lang="en-US" altLang="ko-KR" sz="8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en-US" altLang="ko-KR" sz="800" b="1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현금거래금액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(3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개월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C7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5681158"/>
                  </a:ext>
                </a:extLst>
              </a:tr>
              <a:tr h="24983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점검항목</a:t>
                      </a:r>
                      <a:r>
                        <a:rPr lang="en-US" altLang="ko-KR" sz="8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en-US" altLang="ko-KR" sz="800" b="1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전화연락금지고객거래금액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전월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C7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5962986"/>
                  </a:ext>
                </a:extLst>
              </a:tr>
            </a:tbl>
          </a:graphicData>
        </a:graphic>
      </p:graphicFrame>
      <p:sp>
        <p:nvSpPr>
          <p:cNvPr id="20" name="직사각형 19"/>
          <p:cNvSpPr/>
          <p:nvPr/>
        </p:nvSpPr>
        <p:spPr>
          <a:xfrm>
            <a:off x="264486" y="1683801"/>
            <a:ext cx="1628972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부점현황</a:t>
            </a:r>
            <a:r>
              <a:rPr lang="en-US" altLang="ko-KR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lang="ko-KR" altLang="en-US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전월 기준</a:t>
            </a:r>
            <a:r>
              <a:rPr lang="en-US" altLang="ko-KR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endParaRPr lang="ko-KR" altLang="en-US" dirty="0"/>
          </a:p>
        </p:txBody>
      </p:sp>
      <p:sp>
        <p:nvSpPr>
          <p:cNvPr id="22" name="직사각형 21"/>
          <p:cNvSpPr/>
          <p:nvPr/>
        </p:nvSpPr>
        <p:spPr>
          <a:xfrm>
            <a:off x="264486" y="4223360"/>
            <a:ext cx="1893467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부점현황</a:t>
            </a:r>
            <a:r>
              <a:rPr lang="en-US" altLang="ko-KR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lang="ko-KR" altLang="en-US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전전월 </a:t>
            </a:r>
            <a:r>
              <a:rPr lang="en-US" altLang="ko-KR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6</a:t>
            </a:r>
            <a:r>
              <a:rPr lang="ko-KR" altLang="en-US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개월</a:t>
            </a:r>
            <a:r>
              <a:rPr lang="en-US" altLang="ko-KR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endParaRPr lang="ko-KR" altLang="en-US" dirty="0"/>
          </a:p>
        </p:txBody>
      </p:sp>
      <p:graphicFrame>
        <p:nvGraphicFramePr>
          <p:cNvPr id="23" name="표 22"/>
          <p:cNvGraphicFramePr>
            <a:graphicFrameLocks noGrp="1"/>
          </p:cNvGraphicFramePr>
          <p:nvPr>
            <p:extLst/>
          </p:nvPr>
        </p:nvGraphicFramePr>
        <p:xfrm>
          <a:off x="333314" y="4571413"/>
          <a:ext cx="6785195" cy="1679996"/>
        </p:xfrm>
        <a:graphic>
          <a:graphicData uri="http://schemas.openxmlformats.org/drawingml/2006/table">
            <a:tbl>
              <a:tblPr/>
              <a:tblGrid>
                <a:gridCol w="650806">
                  <a:extLst>
                    <a:ext uri="{9D8B030D-6E8A-4147-A177-3AD203B41FA5}">
                      <a16:colId xmlns:a16="http://schemas.microsoft.com/office/drawing/2014/main" val="3535032951"/>
                    </a:ext>
                  </a:extLst>
                </a:gridCol>
                <a:gridCol w="437356">
                  <a:extLst>
                    <a:ext uri="{9D8B030D-6E8A-4147-A177-3AD203B41FA5}">
                      <a16:colId xmlns:a16="http://schemas.microsoft.com/office/drawing/2014/main" val="2657482371"/>
                    </a:ext>
                  </a:extLst>
                </a:gridCol>
                <a:gridCol w="432262">
                  <a:extLst>
                    <a:ext uri="{9D8B030D-6E8A-4147-A177-3AD203B41FA5}">
                      <a16:colId xmlns:a16="http://schemas.microsoft.com/office/drawing/2014/main" val="1408328253"/>
                    </a:ext>
                  </a:extLst>
                </a:gridCol>
                <a:gridCol w="382386">
                  <a:extLst>
                    <a:ext uri="{9D8B030D-6E8A-4147-A177-3AD203B41FA5}">
                      <a16:colId xmlns:a16="http://schemas.microsoft.com/office/drawing/2014/main" val="3165296892"/>
                    </a:ext>
                  </a:extLst>
                </a:gridCol>
                <a:gridCol w="382385">
                  <a:extLst>
                    <a:ext uri="{9D8B030D-6E8A-4147-A177-3AD203B41FA5}">
                      <a16:colId xmlns:a16="http://schemas.microsoft.com/office/drawing/2014/main" val="3042719797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3198621616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3341737898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2578677773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1455483158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777968122"/>
                    </a:ext>
                  </a:extLst>
                </a:gridCol>
              </a:tblGrid>
              <a:tr h="2981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기준년월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예측 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예측 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예측 외환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예측 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고액기타</a:t>
                      </a:r>
                      <a:endParaRPr lang="ko-KR" altLang="en-US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점검항목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점검항목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점검항목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점검항목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점검항목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9316118"/>
                  </a:ext>
                </a:extLst>
              </a:tr>
              <a:tr h="23030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2024-12</a:t>
                      </a:r>
                      <a:endParaRPr lang="en-US" altLang="ko-KR" sz="800" b="1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1" i="0" u="none" strike="noStrike" dirty="0" smtClean="0">
                        <a:solidFill>
                          <a:schemeClr val="bg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 err="1" smtClean="0">
                          <a:solidFill>
                            <a:schemeClr val="bg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위험예측</a:t>
                      </a:r>
                      <a:endParaRPr lang="en-US" altLang="ko-KR" sz="800" b="1" i="0" u="none" strike="noStrike" dirty="0" smtClean="0">
                        <a:solidFill>
                          <a:schemeClr val="bg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 err="1" smtClean="0">
                          <a:solidFill>
                            <a:schemeClr val="bg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위험예측</a:t>
                      </a:r>
                      <a:endParaRPr lang="en-US" altLang="ko-KR" sz="800" b="1" i="0" u="none" strike="noStrike" dirty="0" smtClean="0">
                        <a:solidFill>
                          <a:schemeClr val="bg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endParaRPr lang="en-US" altLang="ko-KR" sz="800" b="1" i="0" u="none" strike="noStrike" kern="1200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개인대출평균시간수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(3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개월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개인대출평균시간수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(3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개월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개인대출평균시간수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(3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개월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개인대출평균시간수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(3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개월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개인대출평균시간수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(3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개월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8042188"/>
                  </a:ext>
                </a:extLst>
              </a:tr>
              <a:tr h="230301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1" i="0" u="none" strike="noStrike" dirty="0" smtClean="0">
                        <a:solidFill>
                          <a:schemeClr val="bg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1" i="0" u="none" strike="noStrike" dirty="0" smtClean="0">
                        <a:solidFill>
                          <a:schemeClr val="bg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 err="1" smtClean="0">
                          <a:solidFill>
                            <a:schemeClr val="bg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위험예측</a:t>
                      </a:r>
                      <a:endParaRPr lang="en-US" altLang="ko-KR" sz="800" b="1" i="0" u="none" strike="noStrike" dirty="0" smtClean="0">
                        <a:solidFill>
                          <a:schemeClr val="bg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endParaRPr lang="en-US" altLang="ko-KR" sz="800" b="1" i="0" u="none" strike="noStrike" kern="1200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외화환전해외송금최대시간수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전월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외화환전해외송금최대시간수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전월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외화환전해외송금최대시간수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전월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외화환전해외송금최대시간수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전월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외화환전해외송금최대시간수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전월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7120894"/>
                  </a:ext>
                </a:extLst>
              </a:tr>
              <a:tr h="230301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1" i="0" u="none" strike="noStrike" dirty="0" smtClean="0">
                        <a:solidFill>
                          <a:schemeClr val="bg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u="none" strike="noStrike" dirty="0" err="1" smtClean="0">
                          <a:solidFill>
                            <a:schemeClr val="bg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위험예측</a:t>
                      </a:r>
                      <a:endParaRPr lang="en-US" altLang="ko-KR" sz="800" b="1" i="0" u="none" strike="noStrike" dirty="0" smtClean="0">
                        <a:solidFill>
                          <a:schemeClr val="bg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u="none" strike="noStrike" dirty="0" err="1" smtClean="0">
                          <a:solidFill>
                            <a:schemeClr val="bg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위험예측</a:t>
                      </a:r>
                      <a:endParaRPr lang="en-US" altLang="ko-KR" sz="800" b="1" i="0" u="none" strike="noStrike" dirty="0" smtClean="0">
                        <a:solidFill>
                          <a:schemeClr val="bg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endParaRPr lang="en-US" altLang="ko-KR" sz="800" b="1" i="0" u="none" strike="noStrike" kern="1200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여신신규거래건수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(3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개월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여신신규거래건수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(3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개월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여신신규거래건수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(3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개월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여신신규거래건수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(3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개월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여신신규거래건수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(3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개월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4206403"/>
                  </a:ext>
                </a:extLst>
              </a:tr>
              <a:tr h="230301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u="none" strike="noStrike" dirty="0" err="1" smtClean="0">
                          <a:solidFill>
                            <a:schemeClr val="bg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위험예측</a:t>
                      </a:r>
                      <a:endParaRPr lang="en-US" altLang="ko-KR" sz="800" b="1" i="0" u="none" strike="noStrike" dirty="0" smtClean="0">
                        <a:solidFill>
                          <a:schemeClr val="bg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1" i="0" u="none" strike="noStrike" dirty="0" smtClean="0">
                        <a:solidFill>
                          <a:schemeClr val="bg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1" i="0" u="none" strike="noStrike" dirty="0" smtClean="0">
                        <a:solidFill>
                          <a:schemeClr val="bg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endParaRPr lang="en-US" altLang="ko-KR" sz="800" b="1" i="0" u="none" strike="noStrike" kern="1200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현금거래금액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(3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개월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현금거래금액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(3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개월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현금거래금액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(3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개월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현금거래금액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(3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개월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현금거래금액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(3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개월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0429274"/>
                  </a:ext>
                </a:extLst>
              </a:tr>
              <a:tr h="23030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2024-08</a:t>
                      </a:r>
                      <a:endParaRPr lang="en-US" altLang="ko-KR" sz="800" b="1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위험예측</a:t>
                      </a:r>
                      <a:endParaRPr kumimoji="0" lang="en-US" altLang="ko-KR" sz="8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위험예측</a:t>
                      </a:r>
                      <a:endParaRPr kumimoji="0" lang="en-US" altLang="ko-KR" sz="8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위험예측</a:t>
                      </a:r>
                      <a:endParaRPr kumimoji="0" lang="en-US" altLang="ko-KR" sz="8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endParaRPr lang="en-US" altLang="ko-KR" sz="800" b="1" i="0" u="none" strike="noStrike" kern="1200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전화연락금지고객거래금액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전월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전화연락금지고객거래금액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전월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전화연락금지고객거래금액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전월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전화연락금지고객거래금액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전월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전화연락금지고객거래금액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전월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5318118"/>
                  </a:ext>
                </a:extLst>
              </a:tr>
              <a:tr h="23030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2024-07</a:t>
                      </a:r>
                      <a:endParaRPr lang="en-US" altLang="ko-KR" sz="800" b="1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위험예측</a:t>
                      </a:r>
                      <a:endParaRPr kumimoji="0" lang="en-US" altLang="ko-KR" sz="8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위험예측</a:t>
                      </a:r>
                      <a:endParaRPr kumimoji="0" lang="en-US" altLang="ko-KR" sz="8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위험예측</a:t>
                      </a:r>
                      <a:endParaRPr kumimoji="0" lang="en-US" altLang="ko-KR" sz="8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endParaRPr lang="en-US" altLang="ko-KR" sz="800" b="1" i="0" u="none" strike="noStrike" kern="1200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전화연락금지고객거래금액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전월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전화연락금지고객거래금액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전월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전화연락금지고객거래금액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전월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전화연락금지고객거래금액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전월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전화연락금지고객거래금액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전월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7957028"/>
                  </a:ext>
                </a:extLst>
              </a:tr>
            </a:tbl>
          </a:graphicData>
        </a:graphic>
      </p:graphicFrame>
      <p:sp>
        <p:nvSpPr>
          <p:cNvPr id="25" name="곱셈 기호 24"/>
          <p:cNvSpPr/>
          <p:nvPr/>
        </p:nvSpPr>
        <p:spPr bwMode="auto">
          <a:xfrm>
            <a:off x="6094413" y="1135555"/>
            <a:ext cx="488934" cy="474990"/>
          </a:xfrm>
          <a:prstGeom prst="mathMultiply">
            <a:avLst/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149010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65327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21259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.1)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신규화면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AI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부점위험평가결과 연계하여 월말 기준 전체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평가결과를 적재함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월별 적재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2)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적재대상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매월말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부점위험평가 결과로 산출된 데이터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데이터 세부내용은 모듈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위험유형평가 결과 문서* 참조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위치 이동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3198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각 월별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AI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부점위험평가를 표시하며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고위험으로 평가된 항목은 붉은색으로 별도 표시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34559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★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메뉴위치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감사지원인지 확인 필요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본 화면은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미확정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요구사항으로 실제 구축단계에서 요건 확정하여 반영 필요</a:t>
                      </a:r>
                    </a:p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MDD-00028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MDD72S26000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부점위험조회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월별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1" i="0" u="none" strike="noStrike" kern="0" cap="none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</a:t>
                      </a:r>
                      <a:r>
                        <a:rPr kumimoji="0" lang="ko-KR" altLang="en-US" sz="1050" b="1" i="0" u="none" strike="noStrike" kern="0" cap="none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en-US" altLang="ko-KR" sz="1050" b="1" i="0" u="none" strike="noStrike" kern="0" cap="none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kumimoji="0" lang="ko-KR" altLang="en-US" sz="1050" b="1" i="0" u="none" strike="noStrike" kern="0" cap="none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임점감사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AI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위험평가결과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부점위험조회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월별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(P177: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정용욱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20" name="양쪽 모서리가 둥근 사각형 19"/>
          <p:cNvSpPr/>
          <p:nvPr/>
        </p:nvSpPr>
        <p:spPr bwMode="auto">
          <a:xfrm>
            <a:off x="256175" y="1445421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829361" fontAlgn="ctr">
              <a:defRPr/>
            </a:pPr>
            <a:r>
              <a:rPr lang="ko-KR" altLang="en-US" sz="80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부점위험조회</a:t>
            </a:r>
            <a:r>
              <a:rPr lang="en-US" altLang="ko-KR" sz="80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lang="ko-KR" altLang="en-US" sz="80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월별</a:t>
            </a:r>
            <a:r>
              <a:rPr lang="en-US" altLang="ko-KR" sz="80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endParaRPr lang="ko-KR" altLang="en-US" sz="80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2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56176" y="1631156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95712" y="137082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5" name="내용 개체 틀 121"/>
          <p:cNvGraphicFramePr>
            <a:graphicFrameLocks/>
          </p:cNvGraphicFramePr>
          <p:nvPr>
            <p:extLst/>
          </p:nvPr>
        </p:nvGraphicFramePr>
        <p:xfrm>
          <a:off x="249672" y="1723125"/>
          <a:ext cx="6727092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5314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074546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3188398220"/>
                    </a:ext>
                  </a:extLst>
                </a:gridCol>
                <a:gridCol w="1560644">
                  <a:extLst>
                    <a:ext uri="{9D8B030D-6E8A-4147-A177-3AD203B41FA5}">
                      <a16:colId xmlns:a16="http://schemas.microsoft.com/office/drawing/2014/main" val="2169705326"/>
                    </a:ext>
                  </a:extLst>
                </a:gridCol>
                <a:gridCol w="3121288">
                  <a:extLst>
                    <a:ext uri="{9D8B030D-6E8A-4147-A177-3AD203B41FA5}">
                      <a16:colId xmlns:a16="http://schemas.microsoft.com/office/drawing/2014/main" val="1364551469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기준년월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PG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26" name="직사각형 2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775117" y="1765123"/>
            <a:ext cx="724642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2024-06</a:t>
            </a:r>
            <a:endParaRPr kumimoji="0" lang="ko-KR" altLang="en-US" sz="10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28" name="그림 2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318660" y="1768963"/>
            <a:ext cx="181098" cy="173224"/>
          </a:xfrm>
          <a:prstGeom prst="rect">
            <a:avLst/>
          </a:prstGeom>
        </p:spPr>
      </p:pic>
      <p:sp>
        <p:nvSpPr>
          <p:cNvPr id="41" name="직사각형 4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335009" y="1768431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747398" y="1768465"/>
            <a:ext cx="934552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       </a:t>
            </a:r>
            <a:endParaRPr kumimoji="0" lang="ko-KR" altLang="en-US" sz="10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43" name="그림 42"/>
          <p:cNvPicPr>
            <a:picLocks noChangeAspect="1"/>
          </p:cNvPicPr>
          <p:nvPr/>
        </p:nvPicPr>
        <p:blipFill rotWithShape="1">
          <a:blip r:embed="rId3"/>
          <a:srcRect r="73540"/>
          <a:stretch/>
        </p:blipFill>
        <p:spPr>
          <a:xfrm>
            <a:off x="2760098" y="1784987"/>
            <a:ext cx="183595" cy="164228"/>
          </a:xfrm>
          <a:prstGeom prst="rect">
            <a:avLst/>
          </a:prstGeom>
        </p:spPr>
      </p:pic>
      <p:sp>
        <p:nvSpPr>
          <p:cNvPr id="4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38686" y="1762187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조회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49850" y="1762221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엑셀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49" name="표 48"/>
          <p:cNvGraphicFramePr>
            <a:graphicFrameLocks noGrp="1"/>
          </p:cNvGraphicFramePr>
          <p:nvPr>
            <p:extLst/>
          </p:nvPr>
        </p:nvGraphicFramePr>
        <p:xfrm>
          <a:off x="249674" y="2299387"/>
          <a:ext cx="6628920" cy="133297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2342">
                  <a:extLst>
                    <a:ext uri="{9D8B030D-6E8A-4147-A177-3AD203B41FA5}">
                      <a16:colId xmlns:a16="http://schemas.microsoft.com/office/drawing/2014/main" val="4222655358"/>
                    </a:ext>
                  </a:extLst>
                </a:gridCol>
                <a:gridCol w="434978">
                  <a:extLst>
                    <a:ext uri="{9D8B030D-6E8A-4147-A177-3AD203B41FA5}">
                      <a16:colId xmlns:a16="http://schemas.microsoft.com/office/drawing/2014/main" val="186770077"/>
                    </a:ext>
                  </a:extLst>
                </a:gridCol>
                <a:gridCol w="459600">
                  <a:extLst>
                    <a:ext uri="{9D8B030D-6E8A-4147-A177-3AD203B41FA5}">
                      <a16:colId xmlns:a16="http://schemas.microsoft.com/office/drawing/2014/main" val="2488434539"/>
                    </a:ext>
                  </a:extLst>
                </a:gridCol>
                <a:gridCol w="468000">
                  <a:extLst>
                    <a:ext uri="{9D8B030D-6E8A-4147-A177-3AD203B41FA5}">
                      <a16:colId xmlns:a16="http://schemas.microsoft.com/office/drawing/2014/main" val="141677541"/>
                    </a:ext>
                  </a:extLst>
                </a:gridCol>
                <a:gridCol w="468000">
                  <a:extLst>
                    <a:ext uri="{9D8B030D-6E8A-4147-A177-3AD203B41FA5}">
                      <a16:colId xmlns:a16="http://schemas.microsoft.com/office/drawing/2014/main" val="3232258472"/>
                    </a:ext>
                  </a:extLst>
                </a:gridCol>
                <a:gridCol w="468000">
                  <a:extLst>
                    <a:ext uri="{9D8B030D-6E8A-4147-A177-3AD203B41FA5}">
                      <a16:colId xmlns:a16="http://schemas.microsoft.com/office/drawing/2014/main" val="614498430"/>
                    </a:ext>
                  </a:extLst>
                </a:gridCol>
                <a:gridCol w="468000">
                  <a:extLst>
                    <a:ext uri="{9D8B030D-6E8A-4147-A177-3AD203B41FA5}">
                      <a16:colId xmlns:a16="http://schemas.microsoft.com/office/drawing/2014/main" val="3856516695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05782182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321632229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127332626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3452614948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3350473271"/>
                    </a:ext>
                  </a:extLst>
                </a:gridCol>
              </a:tblGrid>
              <a:tr h="2818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순번</a:t>
                      </a:r>
                      <a:endParaRPr lang="ko-KR" altLang="en-US" sz="700" b="1" i="0" u="none" strike="noStrike">
                        <a:solidFill>
                          <a:srgbClr val="FFFFFF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부점명</a:t>
                      </a:r>
                      <a:endParaRPr lang="ko-KR" altLang="en-US" sz="700" b="1" i="0" u="none" strike="noStrike">
                        <a:solidFill>
                          <a:srgbClr val="FFFFFF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 err="1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부점코드</a:t>
                      </a:r>
                      <a:endParaRPr lang="ko-KR" altLang="en-US" sz="700" b="1" i="0" u="none" strike="noStrike" dirty="0">
                        <a:solidFill>
                          <a:srgbClr val="FFFFFF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예측 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수신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예측 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예측 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외환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예측 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고액기타</a:t>
                      </a:r>
                      <a:endParaRPr lang="ko-KR" altLang="en-US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점검항목</a:t>
                      </a:r>
                      <a:r>
                        <a:rPr lang="en-US" altLang="ko-KR" sz="7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점검항목</a:t>
                      </a:r>
                      <a:r>
                        <a:rPr lang="en-US" altLang="ko-KR" sz="7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 b="1" i="0" u="none" strike="noStrike" dirty="0" smtClean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점검항목</a:t>
                      </a:r>
                      <a:r>
                        <a:rPr lang="en-US" altLang="ko-KR" sz="7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점검항목</a:t>
                      </a:r>
                      <a:r>
                        <a:rPr lang="en-US" altLang="ko-KR" sz="7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점검항목</a:t>
                      </a:r>
                      <a:r>
                        <a:rPr lang="en-US" altLang="ko-KR" sz="7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8534438"/>
                  </a:ext>
                </a:extLst>
              </a:tr>
              <a:tr h="21022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OO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지점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0365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Y</a:t>
                      </a:r>
                      <a:endParaRPr lang="en-US" altLang="ko-KR" sz="700" b="0" i="0" u="none" strike="noStrike" dirty="0">
                        <a:solidFill>
                          <a:srgbClr val="FF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Y</a:t>
                      </a:r>
                      <a:endParaRPr lang="en-US" altLang="ko-KR" sz="700" b="0" i="0" u="none" strike="noStrike" dirty="0">
                        <a:solidFill>
                          <a:srgbClr val="FF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Y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Y</a:t>
                      </a:r>
                      <a:endParaRPr lang="en-US" altLang="ko-KR" sz="700" b="0" i="0" u="none" strike="noStrike" dirty="0">
                        <a:solidFill>
                          <a:srgbClr val="FF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>
                        <a:solidFill>
                          <a:srgbClr val="FF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dirty="0">
                        <a:solidFill>
                          <a:srgbClr val="FF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>
                        <a:solidFill>
                          <a:srgbClr val="FF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>
                        <a:solidFill>
                          <a:srgbClr val="FF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>
                        <a:solidFill>
                          <a:srgbClr val="FF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280798"/>
                  </a:ext>
                </a:extLst>
              </a:tr>
              <a:tr h="21022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ㅁㅁ지점</a:t>
                      </a:r>
                      <a:endParaRPr lang="en-US" altLang="ko-KR" sz="700" b="0" i="0" u="none" strike="noStrike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0688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Y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9939474"/>
                  </a:ext>
                </a:extLst>
              </a:tr>
              <a:tr h="21022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AA</a:t>
                      </a:r>
                      <a:r>
                        <a:rPr lang="ko-KR" altLang="en-US" sz="700" b="0" i="0" u="none" strike="noStrike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지점</a:t>
                      </a:r>
                      <a:endParaRPr lang="en-US" altLang="ko-KR" sz="700" b="0" i="0" u="none" strike="noStrike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1084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Y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Y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947492"/>
                  </a:ext>
                </a:extLst>
              </a:tr>
              <a:tr h="21022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BB</a:t>
                      </a:r>
                      <a:r>
                        <a:rPr lang="ko-KR" altLang="en-US" sz="700" b="0" i="0" u="none" strike="noStrike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지점</a:t>
                      </a:r>
                      <a:endParaRPr lang="en-US" altLang="ko-KR" sz="700" b="0" i="0" u="none" strike="noStrike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2453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Y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FF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Y</a:t>
                      </a:r>
                      <a:endParaRPr lang="en-US" altLang="ko-KR" sz="700" b="0" i="0" u="none" strike="noStrike">
                        <a:solidFill>
                          <a:srgbClr val="FF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Y</a:t>
                      </a:r>
                      <a:endParaRPr lang="en-US" altLang="ko-KR" sz="700" b="0" i="0" u="none" strike="noStrike" dirty="0">
                        <a:solidFill>
                          <a:srgbClr val="FF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dirty="0">
                        <a:solidFill>
                          <a:srgbClr val="FF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dirty="0">
                        <a:solidFill>
                          <a:srgbClr val="FF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dirty="0">
                        <a:solidFill>
                          <a:srgbClr val="FF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dirty="0">
                        <a:solidFill>
                          <a:srgbClr val="FF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dirty="0">
                        <a:solidFill>
                          <a:srgbClr val="FF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1707721"/>
                  </a:ext>
                </a:extLst>
              </a:tr>
              <a:tr h="21022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86" marR="7786" marT="7786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8125431"/>
                  </a:ext>
                </a:extLst>
              </a:tr>
            </a:tbl>
          </a:graphicData>
        </a:graphic>
      </p:graphicFrame>
      <p:sp>
        <p:nvSpPr>
          <p:cNvPr id="51" name="직사각형 50"/>
          <p:cNvSpPr/>
          <p:nvPr/>
        </p:nvSpPr>
        <p:spPr bwMode="auto">
          <a:xfrm>
            <a:off x="249673" y="2299387"/>
            <a:ext cx="6727092" cy="1332976"/>
          </a:xfrm>
          <a:prstGeom prst="rect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lvl="0" indent="-85725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56222" y="222734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117997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236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21259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신규화면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AI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위험평가결과 연계하여 월말 기준 현황을 대시보드 형태로 제공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위치 이동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3198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지역그룹별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위험직원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현황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–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지역그룹별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고위험직원으로 평가된 인력 수를 전월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당월로 분류하여 표시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34559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위험직원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세부현황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–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평가월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기준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AI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모델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분류값에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따른 세부내역을 그래프 형태로 표기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세부항목은 모듈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모델에 따라 변동 가능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지역그룹별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위험부점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현황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– AI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부점위험평가 결과를 기준으로 각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지역그룹별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위험대상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Y’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부점개수를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집계 후 표시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위험부점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숫자가 많은 그룹으로 순위 표시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조회년도의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전행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위험부점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개수를 월별로 집계하여 표시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월별 변화율 별도 표시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대시보드에서 지역그룹 단위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클릭시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별도 당월 위험부점으로 평가된 개별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조회할 수 있는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팝업창이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출력되며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상세결과는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부점위험조회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(AUDAS.04.08.02.00)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화면으로 링크하여 상세내역을 직접 조회할 수 있도록 기능 제공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</a:tbl>
          </a:graphicData>
        </a:graphic>
      </p:graphicFrame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MDD-00029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MDD72S27000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AI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위험평가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현황조회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1" i="0" u="none" strike="noStrike" kern="0" cap="none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</a:t>
                      </a:r>
                      <a:r>
                        <a:rPr kumimoji="0" lang="ko-KR" altLang="en-US" sz="1050" b="1" i="0" u="none" strike="noStrike" kern="0" cap="none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en-US" altLang="ko-KR" sz="1050" b="1" i="0" u="none" strike="noStrike" kern="0" cap="none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kumimoji="0" lang="ko-KR" altLang="en-US" sz="1050" b="1" i="0" u="none" strike="noStrike" kern="0" cap="none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임점감사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&gt; AI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위험평가결과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AI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위험평가 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현황조회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(P178,P179: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정용욱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136" name="차트 135"/>
          <p:cNvGraphicFramePr/>
          <p:nvPr>
            <p:extLst/>
          </p:nvPr>
        </p:nvGraphicFramePr>
        <p:xfrm>
          <a:off x="295547" y="2988917"/>
          <a:ext cx="3096681" cy="230110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40" name="양쪽 모서리가 둥근 사각형 139"/>
          <p:cNvSpPr/>
          <p:nvPr/>
        </p:nvSpPr>
        <p:spPr bwMode="auto">
          <a:xfrm>
            <a:off x="256175" y="971588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829361" fontAlgn="ctr">
              <a:defRPr/>
            </a:pPr>
            <a:r>
              <a:rPr lang="en-US" altLang="ko-KR" sz="80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AI</a:t>
            </a:r>
            <a:r>
              <a:rPr lang="ko-KR" altLang="en-US" sz="80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위험평가 현황조회</a:t>
            </a:r>
          </a:p>
        </p:txBody>
      </p:sp>
      <p:sp>
        <p:nvSpPr>
          <p:cNvPr id="142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56176" y="115732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43" name="타원 14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95712" y="89699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44" name="Text Box 39">
            <a:extLst>
              <a:ext uri="{FF2B5EF4-FFF2-40B4-BE49-F238E27FC236}">
                <a16:creationId xmlns:a16="http://schemas.microsoft.com/office/drawing/2014/main" id="{0C6A76A4-9FDA-D68A-AF81-090FF3653C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2785" y="1260736"/>
            <a:ext cx="3399906" cy="3568951"/>
          </a:xfrm>
          <a:prstGeom prst="rect">
            <a:avLst/>
          </a:prstGeom>
          <a:noFill/>
          <a:ln w="6350" algn="ctr">
            <a:solidFill>
              <a:schemeClr val="bg2">
                <a:lumMod val="90000"/>
              </a:schemeClr>
            </a:solidFill>
            <a:miter lim="800000"/>
            <a:headEnd/>
            <a:tailEnd/>
          </a:ln>
          <a:effectLst/>
        </p:spPr>
        <p:txBody>
          <a:bodyPr wrap="square" lIns="108000" tIns="144000" rIns="108000" bIns="72000" anchor="t" anchorCtr="0">
            <a:noAutofit/>
          </a:bodyPr>
          <a:lstStyle/>
          <a:p>
            <a:pPr marL="0" marR="0" lvl="0" indent="0" algn="l" defTabSz="101758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C2D83"/>
              </a:buClr>
              <a:buSzPct val="80000"/>
              <a:buFontTx/>
              <a:buNone/>
              <a:tabLst/>
              <a:defRPr/>
            </a:pPr>
            <a:endParaRPr kumimoji="1" lang="en-US" altLang="ko-KR" sz="1600" b="1" i="0" u="none" strike="noStrike" kern="0" cap="none" spc="-100" normalizeH="0" baseline="0" noProof="0">
              <a:ln w="12700">
                <a:solidFill>
                  <a:srgbClr val="005EB8">
                    <a:alpha val="0"/>
                  </a:srgbClr>
                </a:solidFill>
              </a:ln>
              <a:solidFill>
                <a:srgbClr val="4A483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FC888B5C-484B-582C-1070-BF5ED7268B32}"/>
              </a:ext>
            </a:extLst>
          </p:cNvPr>
          <p:cNvSpPr txBox="1"/>
          <p:nvPr/>
        </p:nvSpPr>
        <p:spPr>
          <a:xfrm>
            <a:off x="3616120" y="1301731"/>
            <a:ext cx="2493733" cy="246221"/>
          </a:xfrm>
          <a:prstGeom prst="rect">
            <a:avLst/>
          </a:prstGeom>
          <a:noFill/>
          <a:ln>
            <a:solidFill>
              <a:schemeClr val="lt1">
                <a:alpha val="0"/>
              </a:schemeClr>
            </a:solidFill>
          </a:ln>
        </p:spPr>
        <p:txBody>
          <a:bodyPr wrap="square" rtlCol="0">
            <a:spAutoFit/>
          </a:bodyPr>
          <a:lstStyle/>
          <a:p>
            <a:pPr marL="171450" marR="0" lvl="0" indent="-17145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l"/>
              <a:tabLst/>
              <a:defRPr/>
            </a:pPr>
            <a:r>
              <a:rPr lang="ko-KR" altLang="en-US" sz="1000" noProof="0" dirty="0" err="1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지역그룹별</a:t>
            </a:r>
            <a:r>
              <a:rPr lang="ko-KR" altLang="en-US" sz="1000" noProof="0" dirty="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lang="ko-KR" altLang="en-US" sz="1000" noProof="0" dirty="0" err="1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위험부점</a:t>
            </a:r>
            <a:r>
              <a:rPr lang="ko-KR" altLang="en-US" sz="1000" noProof="0" dirty="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lang="ko-KR" altLang="en-US" sz="1000" dirty="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현황 </a:t>
            </a:r>
            <a:r>
              <a:rPr lang="en-US" altLang="ko-KR" sz="1000" dirty="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lang="ko-KR" altLang="en-US" sz="1000" dirty="0" err="1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조회월기준</a:t>
            </a:r>
            <a:r>
              <a:rPr lang="en-US" altLang="ko-KR" sz="1000" dirty="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endParaRPr kumimoji="1" lang="ko-KR" altLang="en-US" sz="1000" i="0" u="none" strike="noStrike" kern="1200" cap="none" normalizeH="0" baseline="0" noProof="0" dirty="0">
              <a:ln>
                <a:solidFill>
                  <a:srgbClr val="005EB8">
                    <a:alpha val="0"/>
                  </a:srgbClr>
                </a:solidFill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FC888B5C-484B-582C-1070-BF5ED7268B32}"/>
              </a:ext>
            </a:extLst>
          </p:cNvPr>
          <p:cNvSpPr txBox="1"/>
          <p:nvPr/>
        </p:nvSpPr>
        <p:spPr>
          <a:xfrm>
            <a:off x="3616121" y="3212748"/>
            <a:ext cx="2187420" cy="246221"/>
          </a:xfrm>
          <a:prstGeom prst="rect">
            <a:avLst/>
          </a:prstGeom>
          <a:noFill/>
          <a:ln>
            <a:solidFill>
              <a:schemeClr val="lt1">
                <a:alpha val="0"/>
              </a:schemeClr>
            </a:solidFill>
          </a:ln>
        </p:spPr>
        <p:txBody>
          <a:bodyPr wrap="square" rtlCol="0">
            <a:spAutoFit/>
          </a:bodyPr>
          <a:lstStyle/>
          <a:p>
            <a:pPr marL="171450" marR="0" lvl="0" indent="-17145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l"/>
              <a:tabLst/>
              <a:defRPr/>
            </a:pPr>
            <a:r>
              <a:rPr lang="ko-KR" altLang="en-US" sz="1000" dirty="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전행</a:t>
            </a:r>
            <a:r>
              <a:rPr lang="ko-KR" altLang="en-US" sz="1000" noProof="0" dirty="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lang="ko-KR" altLang="en-US" sz="1000" noProof="0" dirty="0" err="1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위험부점</a:t>
            </a:r>
            <a:r>
              <a:rPr lang="ko-KR" altLang="en-US" sz="1000" noProof="0" dirty="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lang="ko-KR" altLang="en-US" sz="1000" dirty="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현황 </a:t>
            </a:r>
            <a:r>
              <a:rPr lang="en-US" altLang="ko-KR" sz="1000" dirty="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(‘24</a:t>
            </a:r>
            <a:r>
              <a:rPr lang="ko-KR" altLang="en-US" sz="1000" dirty="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년도</a:t>
            </a:r>
            <a:r>
              <a:rPr lang="en-US" altLang="ko-KR" sz="1000" dirty="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endParaRPr kumimoji="1" lang="ko-KR" altLang="en-US" sz="1000" i="0" u="none" strike="noStrike" kern="1200" cap="none" normalizeH="0" baseline="0" noProof="0" dirty="0">
              <a:ln>
                <a:solidFill>
                  <a:srgbClr val="005EB8">
                    <a:alpha val="0"/>
                  </a:srgbClr>
                </a:solidFill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76" name="Text Box 39">
            <a:extLst>
              <a:ext uri="{FF2B5EF4-FFF2-40B4-BE49-F238E27FC236}">
                <a16:creationId xmlns:a16="http://schemas.microsoft.com/office/drawing/2014/main" id="{0C6A76A4-9FDA-D68A-AF81-090FF3653C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7688" y="1260735"/>
            <a:ext cx="3284919" cy="3568951"/>
          </a:xfrm>
          <a:prstGeom prst="rect">
            <a:avLst/>
          </a:prstGeom>
          <a:noFill/>
          <a:ln w="6350" algn="ctr">
            <a:solidFill>
              <a:schemeClr val="bg2">
                <a:lumMod val="90000"/>
              </a:schemeClr>
            </a:solidFill>
            <a:miter lim="800000"/>
            <a:headEnd/>
            <a:tailEnd/>
          </a:ln>
          <a:effectLst/>
        </p:spPr>
        <p:txBody>
          <a:bodyPr wrap="square" lIns="108000" tIns="144000" rIns="108000" bIns="72000" anchor="t" anchorCtr="0">
            <a:noAutofit/>
          </a:bodyPr>
          <a:lstStyle/>
          <a:p>
            <a:pPr marL="0" marR="0" lvl="0" indent="0" algn="l" defTabSz="101758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C2D83"/>
              </a:buClr>
              <a:buSzPct val="80000"/>
              <a:buFontTx/>
              <a:buNone/>
              <a:tabLst/>
              <a:defRPr/>
            </a:pPr>
            <a:endParaRPr kumimoji="1" lang="en-US" altLang="ko-KR" sz="1600" b="1" i="0" u="none" strike="noStrike" kern="0" cap="none" spc="-100" normalizeH="0" baseline="0" noProof="0">
              <a:ln w="12700">
                <a:solidFill>
                  <a:srgbClr val="005EB8">
                    <a:alpha val="0"/>
                  </a:srgbClr>
                </a:solidFill>
              </a:ln>
              <a:solidFill>
                <a:srgbClr val="4A483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FC888B5C-484B-582C-1070-BF5ED7268B32}"/>
              </a:ext>
            </a:extLst>
          </p:cNvPr>
          <p:cNvSpPr txBox="1"/>
          <p:nvPr/>
        </p:nvSpPr>
        <p:spPr>
          <a:xfrm>
            <a:off x="256174" y="1302014"/>
            <a:ext cx="2493733" cy="246221"/>
          </a:xfrm>
          <a:prstGeom prst="rect">
            <a:avLst/>
          </a:prstGeom>
          <a:noFill/>
          <a:ln>
            <a:solidFill>
              <a:schemeClr val="lt1">
                <a:alpha val="0"/>
              </a:schemeClr>
            </a:solidFill>
          </a:ln>
        </p:spPr>
        <p:txBody>
          <a:bodyPr wrap="square" rtlCol="0">
            <a:spAutoFit/>
          </a:bodyPr>
          <a:lstStyle/>
          <a:p>
            <a:pPr marL="171450" marR="0" lvl="0" indent="-17145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l"/>
              <a:tabLst/>
              <a:defRPr/>
            </a:pPr>
            <a:r>
              <a:rPr lang="ko-KR" altLang="en-US" sz="1000" noProof="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지역그룹별 위험직원수 </a:t>
            </a:r>
            <a:r>
              <a:rPr lang="ko-KR" altLang="en-US" sz="100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현황 </a:t>
            </a:r>
            <a:r>
              <a:rPr lang="en-US" altLang="ko-KR" sz="100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lang="ko-KR" altLang="en-US" sz="100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조회월기준</a:t>
            </a:r>
            <a:r>
              <a:rPr lang="en-US" altLang="ko-KR" sz="100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endParaRPr kumimoji="1" lang="ko-KR" altLang="en-US" sz="1000" i="0" u="none" strike="noStrike" kern="1200" cap="none" normalizeH="0" baseline="0" noProof="0">
              <a:ln>
                <a:solidFill>
                  <a:srgbClr val="005EB8">
                    <a:alpha val="0"/>
                  </a:srgbClr>
                </a:solidFill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178" name="차트 177">
            <a:extLst>
              <a:ext uri="{FF2B5EF4-FFF2-40B4-BE49-F238E27FC236}">
                <a16:creationId xmlns:a16="http://schemas.microsoft.com/office/drawing/2014/main" id="{9510F14C-3B13-812E-07F3-09C94826797D}"/>
              </a:ext>
            </a:extLst>
          </p:cNvPr>
          <p:cNvGraphicFramePr/>
          <p:nvPr>
            <p:extLst/>
          </p:nvPr>
        </p:nvGraphicFramePr>
        <p:xfrm>
          <a:off x="273216" y="1551356"/>
          <a:ext cx="3145074" cy="180697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79" name="TextBox 178"/>
          <p:cNvSpPr txBox="1"/>
          <p:nvPr/>
        </p:nvSpPr>
        <p:spPr>
          <a:xfrm>
            <a:off x="2896061" y="1671204"/>
            <a:ext cx="572021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lang="ko-KR" altLang="en-US" sz="7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기준 </a:t>
            </a:r>
            <a:r>
              <a:rPr lang="en-US" altLang="ko-KR" sz="7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</a:t>
            </a:r>
            <a:r>
              <a:rPr lang="ko-KR" altLang="en-US" sz="7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명</a:t>
            </a:r>
            <a:r>
              <a:rPr lang="en-US" altLang="ko-KR" sz="7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endParaRPr lang="ko-KR" altLang="en-US" sz="70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FC888B5C-484B-582C-1070-BF5ED7268B32}"/>
              </a:ext>
            </a:extLst>
          </p:cNvPr>
          <p:cNvSpPr txBox="1"/>
          <p:nvPr/>
        </p:nvSpPr>
        <p:spPr>
          <a:xfrm>
            <a:off x="273216" y="3196338"/>
            <a:ext cx="2493733" cy="246221"/>
          </a:xfrm>
          <a:prstGeom prst="rect">
            <a:avLst/>
          </a:prstGeom>
          <a:noFill/>
          <a:ln>
            <a:solidFill>
              <a:schemeClr val="lt1">
                <a:alpha val="0"/>
              </a:schemeClr>
            </a:solidFill>
          </a:ln>
        </p:spPr>
        <p:txBody>
          <a:bodyPr wrap="square" rtlCol="0">
            <a:spAutoFit/>
          </a:bodyPr>
          <a:lstStyle/>
          <a:p>
            <a:pPr marL="171450" marR="0" lvl="0" indent="-17145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l"/>
              <a:tabLst/>
              <a:defRPr/>
            </a:pPr>
            <a:r>
              <a:rPr lang="ko-KR" altLang="en-US" sz="1000" noProof="0" dirty="0" err="1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위험직원</a:t>
            </a:r>
            <a:r>
              <a:rPr lang="ko-KR" altLang="en-US" sz="1000" noProof="0" dirty="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lang="ko-KR" altLang="en-US" sz="1000" noProof="0" dirty="0" err="1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담당업무별</a:t>
            </a:r>
            <a:r>
              <a:rPr lang="ko-KR" altLang="en-US" sz="1000" noProof="0" dirty="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lang="ko-KR" altLang="en-US" sz="1000" dirty="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현황 </a:t>
            </a:r>
            <a:r>
              <a:rPr lang="en-US" altLang="ko-KR" sz="1000" dirty="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lang="ko-KR" altLang="en-US" sz="1000" dirty="0" err="1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조회월기준</a:t>
            </a:r>
            <a:r>
              <a:rPr lang="en-US" altLang="ko-KR" sz="1000" dirty="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endParaRPr kumimoji="1" lang="ko-KR" altLang="en-US" sz="1000" i="0" u="none" strike="noStrike" kern="1200" cap="none" normalizeH="0" baseline="0" noProof="0" dirty="0">
              <a:ln>
                <a:solidFill>
                  <a:srgbClr val="005EB8">
                    <a:alpha val="0"/>
                  </a:srgbClr>
                </a:solidFill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81" name="TextBox 180"/>
          <p:cNvSpPr txBox="1"/>
          <p:nvPr/>
        </p:nvSpPr>
        <p:spPr>
          <a:xfrm>
            <a:off x="2896640" y="3378417"/>
            <a:ext cx="572021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lang="ko-KR" altLang="en-US" sz="7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기준 </a:t>
            </a:r>
            <a:r>
              <a:rPr lang="en-US" altLang="ko-KR" sz="7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</a:t>
            </a:r>
            <a:r>
              <a:rPr lang="ko-KR" altLang="en-US" sz="7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명</a:t>
            </a:r>
            <a:r>
              <a:rPr lang="en-US" altLang="ko-KR" sz="7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endParaRPr lang="ko-KR" altLang="en-US" sz="70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82" name="직사각형 181"/>
          <p:cNvSpPr/>
          <p:nvPr/>
        </p:nvSpPr>
        <p:spPr bwMode="auto">
          <a:xfrm>
            <a:off x="249671" y="1249814"/>
            <a:ext cx="6732899" cy="3579872"/>
          </a:xfrm>
          <a:prstGeom prst="rect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lvl="0" indent="-85725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83" name="타원 18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33318" y="134687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84" name="타원 18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41616" y="321886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85" name="타원 18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722433" y="132640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86" name="타원 18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682053" y="326584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187" name="구부러진 연결선 186"/>
          <p:cNvCxnSpPr/>
          <p:nvPr/>
        </p:nvCxnSpPr>
        <p:spPr bwMode="auto">
          <a:xfrm rot="5400000">
            <a:off x="1972764" y="2464366"/>
            <a:ext cx="2758847" cy="2237021"/>
          </a:xfrm>
          <a:prstGeom prst="curvedConnector3">
            <a:avLst>
              <a:gd name="adj1" fmla="val 61969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188" name="오른쪽 화살표 187"/>
          <p:cNvSpPr/>
          <p:nvPr/>
        </p:nvSpPr>
        <p:spPr bwMode="auto">
          <a:xfrm>
            <a:off x="822592" y="2813252"/>
            <a:ext cx="398794" cy="243985"/>
          </a:xfrm>
          <a:prstGeom prst="rightArrow">
            <a:avLst/>
          </a:prstGeom>
          <a:solidFill>
            <a:srgbClr val="FFC000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lvl="0" indent="-85725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89" name="표 188"/>
          <p:cNvGraphicFramePr>
            <a:graphicFrameLocks noGrp="1"/>
          </p:cNvGraphicFramePr>
          <p:nvPr>
            <p:extLst/>
          </p:nvPr>
        </p:nvGraphicFramePr>
        <p:xfrm>
          <a:off x="1330547" y="5096710"/>
          <a:ext cx="1806256" cy="12526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55260">
                  <a:extLst>
                    <a:ext uri="{9D8B030D-6E8A-4147-A177-3AD203B41FA5}">
                      <a16:colId xmlns:a16="http://schemas.microsoft.com/office/drawing/2014/main" val="343963166"/>
                    </a:ext>
                  </a:extLst>
                </a:gridCol>
                <a:gridCol w="625498">
                  <a:extLst>
                    <a:ext uri="{9D8B030D-6E8A-4147-A177-3AD203B41FA5}">
                      <a16:colId xmlns:a16="http://schemas.microsoft.com/office/drawing/2014/main" val="247214182"/>
                    </a:ext>
                  </a:extLst>
                </a:gridCol>
                <a:gridCol w="625498">
                  <a:extLst>
                    <a:ext uri="{9D8B030D-6E8A-4147-A177-3AD203B41FA5}">
                      <a16:colId xmlns:a16="http://schemas.microsoft.com/office/drawing/2014/main" val="1910275192"/>
                    </a:ext>
                  </a:extLst>
                </a:gridCol>
              </a:tblGrid>
              <a:tr h="18387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지역그룹</a:t>
                      </a:r>
                      <a:endParaRPr lang="ko-KR" altLang="en-US" sz="10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위험부점</a:t>
                      </a:r>
                      <a:endParaRPr lang="ko-KR" altLang="en-US" sz="10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상세결과</a:t>
                      </a:r>
                      <a:endParaRPr lang="ko-KR" altLang="en-US" sz="10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2262338"/>
                  </a:ext>
                </a:extLst>
              </a:tr>
              <a:tr h="17238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강남</a:t>
                      </a:r>
                      <a:endParaRPr lang="en-US" altLang="ko-KR" sz="900" b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남성역 지점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u="sng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</a:t>
                      </a:r>
                      <a:endParaRPr lang="ko-KR" altLang="en-US" sz="900" b="0" u="sng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1549519"/>
                  </a:ext>
                </a:extLst>
              </a:tr>
              <a:tr h="172381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강남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이수역 지점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u="sng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23475542"/>
                  </a:ext>
                </a:extLst>
              </a:tr>
              <a:tr h="172381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강남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서초역 지점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u="sng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0612851"/>
                  </a:ext>
                </a:extLst>
              </a:tr>
              <a:tr h="18387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강남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교대역 지점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u="sng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0238435"/>
                  </a:ext>
                </a:extLst>
              </a:tr>
              <a:tr h="18387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9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강남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학동 지점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u="sng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45918579"/>
                  </a:ext>
                </a:extLst>
              </a:tr>
              <a:tr h="18387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10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6540625"/>
                  </a:ext>
                </a:extLst>
              </a:tr>
            </a:tbl>
          </a:graphicData>
        </a:graphic>
      </p:graphicFrame>
      <p:sp>
        <p:nvSpPr>
          <p:cNvPr id="190" name="TextBox 189"/>
          <p:cNvSpPr txBox="1"/>
          <p:nvPr/>
        </p:nvSpPr>
        <p:spPr>
          <a:xfrm>
            <a:off x="1276743" y="4846796"/>
            <a:ext cx="168788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[</a:t>
            </a:r>
            <a:r>
              <a:rPr kumimoji="1" lang="ko-KR" alt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별도 </a:t>
            </a: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Pop-UP]</a:t>
            </a:r>
            <a:endParaRPr kumimoji="1" lang="ko-KR" altLang="en-US" sz="10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191" name="구부러진 연결선 190"/>
          <p:cNvCxnSpPr/>
          <p:nvPr/>
        </p:nvCxnSpPr>
        <p:spPr bwMode="auto">
          <a:xfrm rot="16200000" flipH="1">
            <a:off x="2889207" y="3858725"/>
            <a:ext cx="434180" cy="423036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193" name="타원 19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035966" y="254029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94" name="직사각형 193"/>
          <p:cNvSpPr/>
          <p:nvPr/>
        </p:nvSpPr>
        <p:spPr bwMode="auto">
          <a:xfrm>
            <a:off x="1239180" y="4858314"/>
            <a:ext cx="2343606" cy="1549370"/>
          </a:xfrm>
          <a:prstGeom prst="rect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lvl="0" indent="-85725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96" name="타원 19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061053" y="195532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6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197" name="구부러진 연결선 196"/>
          <p:cNvCxnSpPr/>
          <p:nvPr/>
        </p:nvCxnSpPr>
        <p:spPr bwMode="auto">
          <a:xfrm>
            <a:off x="2953840" y="5370818"/>
            <a:ext cx="843624" cy="454774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78761" y="4843279"/>
            <a:ext cx="2331092" cy="1563009"/>
          </a:xfrm>
          <a:prstGeom prst="rect">
            <a:avLst/>
          </a:prstGeom>
        </p:spPr>
      </p:pic>
      <p:grpSp>
        <p:nvGrpSpPr>
          <p:cNvPr id="220" name="그룹 219"/>
          <p:cNvGrpSpPr/>
          <p:nvPr/>
        </p:nvGrpSpPr>
        <p:grpSpPr>
          <a:xfrm>
            <a:off x="3697005" y="3263382"/>
            <a:ext cx="3129156" cy="1525344"/>
            <a:chOff x="730327" y="2666099"/>
            <a:chExt cx="3129156" cy="1525344"/>
          </a:xfrm>
        </p:grpSpPr>
        <p:sp>
          <p:nvSpPr>
            <p:cNvPr id="221" name="Text Box 39">
              <a:extLst>
                <a:ext uri="{FF2B5EF4-FFF2-40B4-BE49-F238E27FC236}">
                  <a16:creationId xmlns:a16="http://schemas.microsoft.com/office/drawing/2014/main" id="{0C6A76A4-9FDA-D68A-AF81-090FF3653C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0327" y="2666099"/>
              <a:ext cx="3129156" cy="1525344"/>
            </a:xfrm>
            <a:prstGeom prst="rect">
              <a:avLst/>
            </a:prstGeom>
            <a:noFill/>
            <a:ln w="6350" algn="ctr">
              <a:solidFill>
                <a:schemeClr val="bg2">
                  <a:lumMod val="9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108000" tIns="144000" rIns="108000" bIns="72000" anchor="t" anchorCtr="0">
              <a:noAutofit/>
            </a:bodyPr>
            <a:lstStyle/>
            <a:p>
              <a:pPr marL="0" marR="0" lvl="0" indent="0" algn="l" defTabSz="101758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C2D83"/>
                </a:buClr>
                <a:buSzPct val="80000"/>
                <a:buFontTx/>
                <a:buNone/>
                <a:tabLst/>
                <a:defRPr/>
              </a:pPr>
              <a:endParaRPr kumimoji="1" lang="en-US" altLang="ko-KR" sz="1600" b="1" i="0" u="none" strike="noStrike" kern="0" cap="none" spc="-100" normalizeH="0" baseline="0" noProof="0">
                <a:ln w="12700">
                  <a:solidFill>
                    <a:srgbClr val="005EB8">
                      <a:alpha val="0"/>
                    </a:srgbClr>
                  </a:solidFill>
                </a:ln>
                <a:solidFill>
                  <a:srgbClr val="4A483F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222" name="TextBox 221"/>
            <p:cNvSpPr txBox="1"/>
            <p:nvPr/>
          </p:nvSpPr>
          <p:spPr>
            <a:xfrm>
              <a:off x="2247279" y="3626204"/>
              <a:ext cx="68330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04</a:t>
              </a:r>
              <a:r>
                <a:rPr kumimoji="1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월</a:t>
              </a:r>
            </a:p>
          </p:txBody>
        </p:sp>
        <p:cxnSp>
          <p:nvCxnSpPr>
            <p:cNvPr id="223" name="직선 연결선 222"/>
            <p:cNvCxnSpPr/>
            <p:nvPr/>
          </p:nvCxnSpPr>
          <p:spPr bwMode="auto">
            <a:xfrm flipV="1">
              <a:off x="907659" y="3274866"/>
              <a:ext cx="2781594" cy="1664"/>
            </a:xfrm>
            <a:prstGeom prst="line">
              <a:avLst/>
            </a:prstGeom>
            <a:solidFill>
              <a:schemeClr val="accent1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28398" dir="1593903" algn="ctr" rotWithShape="0">
                      <a:schemeClr val="tx1"/>
                    </a:outerShdw>
                  </a:effectLst>
                </a14:hiddenEffects>
              </a:ext>
            </a:extLst>
          </p:spPr>
        </p:cxnSp>
        <p:cxnSp>
          <p:nvCxnSpPr>
            <p:cNvPr id="224" name="직선 연결선 223"/>
            <p:cNvCxnSpPr/>
            <p:nvPr/>
          </p:nvCxnSpPr>
          <p:spPr bwMode="auto">
            <a:xfrm flipV="1">
              <a:off x="904108" y="2926586"/>
              <a:ext cx="2781594" cy="1664"/>
            </a:xfrm>
            <a:prstGeom prst="line">
              <a:avLst/>
            </a:prstGeom>
            <a:solidFill>
              <a:schemeClr val="accent1"/>
            </a:solidFill>
            <a:ln w="3175" cap="flat" cmpd="sng" algn="ctr">
              <a:solidFill>
                <a:srgbClr val="CFCFC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28398" dir="1593903" algn="ctr" rotWithShape="0">
                      <a:schemeClr val="tx1"/>
                    </a:outerShdw>
                  </a:effectLst>
                </a14:hiddenEffects>
              </a:ext>
            </a:extLst>
          </p:spPr>
        </p:cxnSp>
        <p:cxnSp>
          <p:nvCxnSpPr>
            <p:cNvPr id="225" name="직선 연결선 224"/>
            <p:cNvCxnSpPr/>
            <p:nvPr/>
          </p:nvCxnSpPr>
          <p:spPr bwMode="auto">
            <a:xfrm flipV="1">
              <a:off x="897689" y="3609447"/>
              <a:ext cx="2781594" cy="166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rgbClr val="4D4D4D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28398" dir="1593903" algn="ctr" rotWithShape="0">
                      <a:schemeClr val="tx1"/>
                    </a:outerShdw>
                  </a:effectLst>
                </a14:hiddenEffects>
              </a:ext>
            </a:extLst>
          </p:spPr>
        </p:cxnSp>
        <p:sp>
          <p:nvSpPr>
            <p:cNvPr id="226" name="TextBox 225"/>
            <p:cNvSpPr txBox="1"/>
            <p:nvPr/>
          </p:nvSpPr>
          <p:spPr>
            <a:xfrm>
              <a:off x="849897" y="3624705"/>
              <a:ext cx="59416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02</a:t>
              </a:r>
              <a:r>
                <a:rPr kumimoji="1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월</a:t>
              </a:r>
            </a:p>
          </p:txBody>
        </p:sp>
        <p:sp>
          <p:nvSpPr>
            <p:cNvPr id="227" name="TextBox 226"/>
            <p:cNvSpPr txBox="1"/>
            <p:nvPr/>
          </p:nvSpPr>
          <p:spPr>
            <a:xfrm>
              <a:off x="1504019" y="3629078"/>
              <a:ext cx="68330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03</a:t>
              </a:r>
              <a:r>
                <a:rPr kumimoji="1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월</a:t>
              </a:r>
            </a:p>
          </p:txBody>
        </p:sp>
        <p:sp>
          <p:nvSpPr>
            <p:cNvPr id="228" name="TextBox 227"/>
            <p:cNvSpPr txBox="1"/>
            <p:nvPr/>
          </p:nvSpPr>
          <p:spPr>
            <a:xfrm>
              <a:off x="2990539" y="3629078"/>
              <a:ext cx="59416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05</a:t>
              </a:r>
              <a:r>
                <a:rPr kumimoji="1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월</a:t>
              </a:r>
            </a:p>
          </p:txBody>
        </p:sp>
        <p:cxnSp>
          <p:nvCxnSpPr>
            <p:cNvPr id="229" name="직선 연결선 228"/>
            <p:cNvCxnSpPr/>
            <p:nvPr/>
          </p:nvCxnSpPr>
          <p:spPr bwMode="auto">
            <a:xfrm>
              <a:off x="897689" y="2910474"/>
              <a:ext cx="0" cy="69897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rgbClr val="4D4D4D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28398" dir="1593903" algn="ctr" rotWithShape="0">
                      <a:schemeClr val="tx1"/>
                    </a:outerShdw>
                  </a:effectLst>
                </a14:hiddenEffects>
              </a:ext>
            </a:extLst>
          </p:spPr>
        </p:cxnSp>
        <p:sp>
          <p:nvSpPr>
            <p:cNvPr id="230" name="직사각형 229"/>
            <p:cNvSpPr/>
            <p:nvPr/>
          </p:nvSpPr>
          <p:spPr bwMode="auto">
            <a:xfrm>
              <a:off x="958855" y="3065372"/>
              <a:ext cx="90000" cy="540000"/>
            </a:xfrm>
            <a:prstGeom prst="rect">
              <a:avLst/>
            </a:prstGeom>
            <a:solidFill>
              <a:srgbClr val="FFBF0D"/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lvl="0" indent="-85725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1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231" name="직사각형 230"/>
            <p:cNvSpPr/>
            <p:nvPr/>
          </p:nvSpPr>
          <p:spPr bwMode="auto">
            <a:xfrm>
              <a:off x="996057" y="3881676"/>
              <a:ext cx="252000" cy="72000"/>
            </a:xfrm>
            <a:prstGeom prst="rect">
              <a:avLst/>
            </a:prstGeom>
            <a:solidFill>
              <a:srgbClr val="FFBF0D"/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lvl="0" indent="-85725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1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232" name="TextBox 231"/>
            <p:cNvSpPr txBox="1"/>
            <p:nvPr/>
          </p:nvSpPr>
          <p:spPr>
            <a:xfrm>
              <a:off x="1130081" y="3820391"/>
              <a:ext cx="112764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: </a:t>
              </a:r>
              <a:r>
                <a:rPr kumimoji="1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수신 </a:t>
              </a:r>
              <a:r>
                <a:rPr lang="ko-KR" altLang="en-US" sz="800" dirty="0" smtClean="0">
                  <a:solidFill>
                    <a:srgbClr val="000000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위험 </a:t>
              </a:r>
              <a:r>
                <a:rPr lang="ko-KR" altLang="en-US" sz="800" dirty="0" err="1" smtClean="0">
                  <a:solidFill>
                    <a:srgbClr val="000000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부점</a:t>
              </a:r>
              <a:r>
                <a:rPr lang="ko-KR" altLang="en-US" sz="800" dirty="0" smtClean="0">
                  <a:solidFill>
                    <a:srgbClr val="000000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 개</a:t>
              </a:r>
              <a:r>
                <a:rPr kumimoji="1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수</a:t>
              </a:r>
            </a:p>
          </p:txBody>
        </p:sp>
        <p:sp>
          <p:nvSpPr>
            <p:cNvPr id="233" name="직사각형 232"/>
            <p:cNvSpPr/>
            <p:nvPr/>
          </p:nvSpPr>
          <p:spPr bwMode="auto">
            <a:xfrm>
              <a:off x="1071139" y="2885372"/>
              <a:ext cx="90000" cy="720000"/>
            </a:xfrm>
            <a:prstGeom prst="rect">
              <a:avLst/>
            </a:prstGeom>
            <a:solidFill>
              <a:srgbClr val="2272FF"/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lvl="0" indent="-85725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1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234" name="직사각형 233"/>
            <p:cNvSpPr/>
            <p:nvPr/>
          </p:nvSpPr>
          <p:spPr bwMode="auto">
            <a:xfrm>
              <a:off x="1183423" y="3173372"/>
              <a:ext cx="90000" cy="432000"/>
            </a:xfrm>
            <a:prstGeom prst="rect">
              <a:avLst/>
            </a:prstGeom>
            <a:solidFill>
              <a:schemeClr val="accent2"/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lvl="0" indent="-85725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1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235" name="직사각형 234"/>
            <p:cNvSpPr/>
            <p:nvPr/>
          </p:nvSpPr>
          <p:spPr bwMode="auto">
            <a:xfrm>
              <a:off x="1295708" y="3245372"/>
              <a:ext cx="90000" cy="360000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lvl="0" indent="-85725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1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236" name="직사각형 235"/>
            <p:cNvSpPr/>
            <p:nvPr/>
          </p:nvSpPr>
          <p:spPr bwMode="auto">
            <a:xfrm rot="10800000">
              <a:off x="2406724" y="3895450"/>
              <a:ext cx="252000" cy="72000"/>
            </a:xfrm>
            <a:prstGeom prst="rect">
              <a:avLst/>
            </a:prstGeom>
            <a:solidFill>
              <a:srgbClr val="2272FF"/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lvl="0" indent="-85725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1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237" name="직사각형 236"/>
            <p:cNvSpPr/>
            <p:nvPr/>
          </p:nvSpPr>
          <p:spPr bwMode="auto">
            <a:xfrm rot="10800000">
              <a:off x="996057" y="4024001"/>
              <a:ext cx="252000" cy="72000"/>
            </a:xfrm>
            <a:prstGeom prst="rect">
              <a:avLst/>
            </a:prstGeom>
            <a:solidFill>
              <a:schemeClr val="accent2"/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lvl="0" indent="-85725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1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238" name="직사각형 237"/>
            <p:cNvSpPr/>
            <p:nvPr/>
          </p:nvSpPr>
          <p:spPr bwMode="auto">
            <a:xfrm rot="10800000">
              <a:off x="2406725" y="4030981"/>
              <a:ext cx="252000" cy="72000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lvl="0" indent="-85725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1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239" name="TextBox 238"/>
            <p:cNvSpPr txBox="1"/>
            <p:nvPr/>
          </p:nvSpPr>
          <p:spPr>
            <a:xfrm>
              <a:off x="2545424" y="3829520"/>
              <a:ext cx="112764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: </a:t>
              </a:r>
              <a:r>
                <a:rPr kumimoji="1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여신 </a:t>
              </a:r>
              <a:r>
                <a:rPr lang="ko-KR" altLang="en-US" sz="800" dirty="0" smtClean="0">
                  <a:solidFill>
                    <a:srgbClr val="000000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위험 </a:t>
              </a:r>
              <a:r>
                <a:rPr lang="ko-KR" altLang="en-US" sz="800" dirty="0" err="1" smtClean="0">
                  <a:solidFill>
                    <a:srgbClr val="000000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부점</a:t>
              </a:r>
              <a:r>
                <a:rPr lang="ko-KR" altLang="en-US" sz="800" dirty="0" smtClean="0">
                  <a:solidFill>
                    <a:srgbClr val="000000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 개</a:t>
              </a:r>
              <a:r>
                <a:rPr kumimoji="1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수</a:t>
              </a:r>
            </a:p>
          </p:txBody>
        </p:sp>
        <p:sp>
          <p:nvSpPr>
            <p:cNvPr id="240" name="TextBox 239"/>
            <p:cNvSpPr txBox="1"/>
            <p:nvPr/>
          </p:nvSpPr>
          <p:spPr>
            <a:xfrm>
              <a:off x="1129324" y="3957615"/>
              <a:ext cx="112764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: </a:t>
              </a:r>
              <a:r>
                <a:rPr kumimoji="1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외환 </a:t>
              </a:r>
              <a:r>
                <a:rPr lang="ko-KR" altLang="en-US" sz="800" dirty="0" smtClean="0">
                  <a:solidFill>
                    <a:srgbClr val="000000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위험 </a:t>
              </a:r>
              <a:r>
                <a:rPr lang="ko-KR" altLang="en-US" sz="800" dirty="0" err="1" smtClean="0">
                  <a:solidFill>
                    <a:srgbClr val="000000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부점</a:t>
              </a:r>
              <a:r>
                <a:rPr lang="ko-KR" altLang="en-US" sz="800" dirty="0" smtClean="0">
                  <a:solidFill>
                    <a:srgbClr val="000000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 개</a:t>
              </a:r>
              <a:r>
                <a:rPr kumimoji="1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수</a:t>
              </a:r>
            </a:p>
          </p:txBody>
        </p:sp>
        <p:sp>
          <p:nvSpPr>
            <p:cNvPr id="241" name="TextBox 240"/>
            <p:cNvSpPr txBox="1"/>
            <p:nvPr/>
          </p:nvSpPr>
          <p:spPr>
            <a:xfrm>
              <a:off x="2593052" y="3969649"/>
              <a:ext cx="123349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: </a:t>
              </a:r>
              <a:r>
                <a:rPr kumimoji="1" lang="ko-KR" altLang="en-US" sz="800" b="0" i="0" u="none" strike="noStrike" kern="1200" cap="none" spc="0" normalizeH="0" baseline="0" noProof="0" dirty="0" err="1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고액기타</a:t>
              </a:r>
              <a:r>
                <a:rPr kumimoji="1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r>
                <a:rPr lang="ko-KR" altLang="en-US" sz="800" dirty="0" smtClean="0">
                  <a:solidFill>
                    <a:srgbClr val="000000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위험 </a:t>
              </a:r>
              <a:r>
                <a:rPr lang="ko-KR" altLang="en-US" sz="800" dirty="0" err="1" smtClean="0">
                  <a:solidFill>
                    <a:srgbClr val="000000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부점</a:t>
              </a:r>
              <a:r>
                <a:rPr lang="ko-KR" altLang="en-US" sz="800" dirty="0" smtClean="0">
                  <a:solidFill>
                    <a:srgbClr val="000000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 개</a:t>
              </a:r>
              <a:r>
                <a:rPr kumimoji="1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수</a:t>
              </a:r>
            </a:p>
          </p:txBody>
        </p:sp>
        <p:sp>
          <p:nvSpPr>
            <p:cNvPr id="242" name="직사각형 241"/>
            <p:cNvSpPr/>
            <p:nvPr/>
          </p:nvSpPr>
          <p:spPr bwMode="auto">
            <a:xfrm>
              <a:off x="1607312" y="3338512"/>
              <a:ext cx="90000" cy="266859"/>
            </a:xfrm>
            <a:prstGeom prst="rect">
              <a:avLst/>
            </a:prstGeom>
            <a:solidFill>
              <a:srgbClr val="FFBF0D"/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lvl="0" indent="-85725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1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243" name="직사각형 242"/>
            <p:cNvSpPr/>
            <p:nvPr/>
          </p:nvSpPr>
          <p:spPr bwMode="auto">
            <a:xfrm>
              <a:off x="1719596" y="2993372"/>
              <a:ext cx="90000" cy="612000"/>
            </a:xfrm>
            <a:prstGeom prst="rect">
              <a:avLst/>
            </a:prstGeom>
            <a:solidFill>
              <a:srgbClr val="2272FF"/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lvl="0" indent="-85725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1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244" name="직사각형 243"/>
            <p:cNvSpPr/>
            <p:nvPr/>
          </p:nvSpPr>
          <p:spPr bwMode="auto">
            <a:xfrm>
              <a:off x="1831880" y="3065372"/>
              <a:ext cx="90000" cy="540000"/>
            </a:xfrm>
            <a:prstGeom prst="rect">
              <a:avLst/>
            </a:prstGeom>
            <a:solidFill>
              <a:schemeClr val="accent2"/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lvl="0" indent="-85725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1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245" name="직사각형 244"/>
            <p:cNvSpPr/>
            <p:nvPr/>
          </p:nvSpPr>
          <p:spPr bwMode="auto">
            <a:xfrm>
              <a:off x="1944165" y="3389622"/>
              <a:ext cx="90000" cy="215749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lvl="0" indent="-85725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1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246" name="직사각형 245"/>
            <p:cNvSpPr/>
            <p:nvPr/>
          </p:nvSpPr>
          <p:spPr bwMode="auto">
            <a:xfrm>
              <a:off x="2353055" y="3176453"/>
              <a:ext cx="90000" cy="428918"/>
            </a:xfrm>
            <a:prstGeom prst="rect">
              <a:avLst/>
            </a:prstGeom>
            <a:solidFill>
              <a:srgbClr val="FFBF0D"/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lvl="0" indent="-85725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1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247" name="직사각형 246"/>
            <p:cNvSpPr/>
            <p:nvPr/>
          </p:nvSpPr>
          <p:spPr bwMode="auto">
            <a:xfrm>
              <a:off x="2465339" y="2929666"/>
              <a:ext cx="90000" cy="675705"/>
            </a:xfrm>
            <a:prstGeom prst="rect">
              <a:avLst/>
            </a:prstGeom>
            <a:solidFill>
              <a:srgbClr val="2272FF"/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lvl="0" indent="-85725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1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248" name="직사각형 247"/>
            <p:cNvSpPr/>
            <p:nvPr/>
          </p:nvSpPr>
          <p:spPr bwMode="auto">
            <a:xfrm>
              <a:off x="2577623" y="3309104"/>
              <a:ext cx="90000" cy="296267"/>
            </a:xfrm>
            <a:prstGeom prst="rect">
              <a:avLst/>
            </a:prstGeom>
            <a:solidFill>
              <a:schemeClr val="accent2"/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lvl="0" indent="-85725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1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249" name="직사각형 248"/>
            <p:cNvSpPr/>
            <p:nvPr/>
          </p:nvSpPr>
          <p:spPr bwMode="auto">
            <a:xfrm>
              <a:off x="2689908" y="3203481"/>
              <a:ext cx="90000" cy="401890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lvl="0" indent="-85725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1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250" name="직사각형 249"/>
            <p:cNvSpPr/>
            <p:nvPr/>
          </p:nvSpPr>
          <p:spPr bwMode="auto">
            <a:xfrm>
              <a:off x="3086934" y="3179069"/>
              <a:ext cx="90000" cy="428918"/>
            </a:xfrm>
            <a:prstGeom prst="rect">
              <a:avLst/>
            </a:prstGeom>
            <a:solidFill>
              <a:srgbClr val="FFBF0D"/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lvl="0" indent="-85725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1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251" name="직사각형 250"/>
            <p:cNvSpPr/>
            <p:nvPr/>
          </p:nvSpPr>
          <p:spPr bwMode="auto">
            <a:xfrm>
              <a:off x="3199218" y="2932282"/>
              <a:ext cx="90000" cy="675705"/>
            </a:xfrm>
            <a:prstGeom prst="rect">
              <a:avLst/>
            </a:prstGeom>
            <a:solidFill>
              <a:srgbClr val="2272FF"/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lvl="0" indent="-85725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1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252" name="직사각형 251"/>
            <p:cNvSpPr/>
            <p:nvPr/>
          </p:nvSpPr>
          <p:spPr bwMode="auto">
            <a:xfrm>
              <a:off x="3311502" y="3311720"/>
              <a:ext cx="90000" cy="296267"/>
            </a:xfrm>
            <a:prstGeom prst="rect">
              <a:avLst/>
            </a:prstGeom>
            <a:solidFill>
              <a:schemeClr val="accent2"/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lvl="0" indent="-85725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1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253" name="직사각형 252"/>
            <p:cNvSpPr/>
            <p:nvPr/>
          </p:nvSpPr>
          <p:spPr bwMode="auto">
            <a:xfrm>
              <a:off x="3423787" y="3206097"/>
              <a:ext cx="90000" cy="401890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lvl="0" indent="-85725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1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graphicFrame>
        <p:nvGraphicFramePr>
          <p:cNvPr id="254" name="표 253"/>
          <p:cNvGraphicFramePr>
            <a:graphicFrameLocks noGrp="1"/>
          </p:cNvGraphicFramePr>
          <p:nvPr>
            <p:extLst/>
          </p:nvPr>
        </p:nvGraphicFramePr>
        <p:xfrm>
          <a:off x="3733164" y="1568077"/>
          <a:ext cx="3093000" cy="1616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7533">
                  <a:extLst>
                    <a:ext uri="{9D8B030D-6E8A-4147-A177-3AD203B41FA5}">
                      <a16:colId xmlns:a16="http://schemas.microsoft.com/office/drawing/2014/main" val="343963166"/>
                    </a:ext>
                  </a:extLst>
                </a:gridCol>
                <a:gridCol w="735075">
                  <a:extLst>
                    <a:ext uri="{9D8B030D-6E8A-4147-A177-3AD203B41FA5}">
                      <a16:colId xmlns:a16="http://schemas.microsoft.com/office/drawing/2014/main" val="3195941493"/>
                    </a:ext>
                  </a:extLst>
                </a:gridCol>
                <a:gridCol w="245049">
                  <a:extLst>
                    <a:ext uri="{9D8B030D-6E8A-4147-A177-3AD203B41FA5}">
                      <a16:colId xmlns:a16="http://schemas.microsoft.com/office/drawing/2014/main" val="247214182"/>
                    </a:ext>
                  </a:extLst>
                </a:gridCol>
                <a:gridCol w="245049">
                  <a:extLst>
                    <a:ext uri="{9D8B030D-6E8A-4147-A177-3AD203B41FA5}">
                      <a16:colId xmlns:a16="http://schemas.microsoft.com/office/drawing/2014/main" val="1655763334"/>
                    </a:ext>
                  </a:extLst>
                </a:gridCol>
                <a:gridCol w="245049">
                  <a:extLst>
                    <a:ext uri="{9D8B030D-6E8A-4147-A177-3AD203B41FA5}">
                      <a16:colId xmlns:a16="http://schemas.microsoft.com/office/drawing/2014/main" val="4077179675"/>
                    </a:ext>
                  </a:extLst>
                </a:gridCol>
                <a:gridCol w="245049">
                  <a:extLst>
                    <a:ext uri="{9D8B030D-6E8A-4147-A177-3AD203B41FA5}">
                      <a16:colId xmlns:a16="http://schemas.microsoft.com/office/drawing/2014/main" val="3367959957"/>
                    </a:ext>
                  </a:extLst>
                </a:gridCol>
                <a:gridCol w="245049">
                  <a:extLst>
                    <a:ext uri="{9D8B030D-6E8A-4147-A177-3AD203B41FA5}">
                      <a16:colId xmlns:a16="http://schemas.microsoft.com/office/drawing/2014/main" val="1910275192"/>
                    </a:ext>
                  </a:extLst>
                </a:gridCol>
                <a:gridCol w="245049">
                  <a:extLst>
                    <a:ext uri="{9D8B030D-6E8A-4147-A177-3AD203B41FA5}">
                      <a16:colId xmlns:a16="http://schemas.microsoft.com/office/drawing/2014/main" val="1549898421"/>
                    </a:ext>
                  </a:extLst>
                </a:gridCol>
                <a:gridCol w="245049">
                  <a:extLst>
                    <a:ext uri="{9D8B030D-6E8A-4147-A177-3AD203B41FA5}">
                      <a16:colId xmlns:a16="http://schemas.microsoft.com/office/drawing/2014/main" val="1242572420"/>
                    </a:ext>
                  </a:extLst>
                </a:gridCol>
                <a:gridCol w="245049">
                  <a:extLst>
                    <a:ext uri="{9D8B030D-6E8A-4147-A177-3AD203B41FA5}">
                      <a16:colId xmlns:a16="http://schemas.microsoft.com/office/drawing/2014/main" val="1244603093"/>
                    </a:ext>
                  </a:extLst>
                </a:gridCol>
              </a:tblGrid>
              <a:tr h="188400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순위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지역그룹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위험부점</a:t>
                      </a:r>
                      <a:endParaRPr lang="en-US" altLang="ko-KR" sz="8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전전월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위험부점</a:t>
                      </a:r>
                      <a:endParaRPr lang="en-US" altLang="ko-KR" sz="8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전월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2262338"/>
                  </a:ext>
                </a:extLst>
              </a:tr>
              <a:tr h="1884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수신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여신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외환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고액기타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수신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여신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외환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고액기타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3118916"/>
                  </a:ext>
                </a:extLst>
              </a:tr>
              <a:tr h="20797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u="sng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강남</a:t>
                      </a:r>
                      <a:endParaRPr lang="en-US" altLang="ko-KR" sz="900" b="0" u="sng" smtClean="0">
                        <a:solidFill>
                          <a:srgbClr val="2272F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u="none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900" b="1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u="none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900" b="1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u="none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900" b="1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549519"/>
                  </a:ext>
                </a:extLst>
              </a:tr>
              <a:tr h="20797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동부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3475542"/>
                  </a:ext>
                </a:extLst>
              </a:tr>
              <a:tr h="20797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강서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0612851"/>
                  </a:ext>
                </a:extLst>
              </a:tr>
              <a:tr h="20797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남부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238435"/>
                  </a:ext>
                </a:extLst>
              </a:tr>
              <a:tr h="20797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65406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61260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34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21259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진행상태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지적년월일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감사부점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관련부점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감사계획년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감사종류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감사차수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귀책부점의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조회조건에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지적구분이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문책인 건을 조회 한다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 조건에 맞는 목록이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문책심의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의뢰를 할 항목을 선택 하고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문책심의의뢰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 하면 문책심의의뢰가 진행된다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단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문책보고서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작성이 완료된 내역만 선택된다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문책보고서등록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 하면 문책 보고서를 작성 할 수 있는 팝업 화면이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MDD-00143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MDD75D35000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지적사항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문책관리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조사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지적사항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심의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지적사항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문책관리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(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임종국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4" name="표 3"/>
          <p:cNvGraphicFramePr>
            <a:graphicFrameLocks noGrp="1"/>
          </p:cNvGraphicFramePr>
          <p:nvPr>
            <p:extLst/>
          </p:nvPr>
        </p:nvGraphicFramePr>
        <p:xfrm>
          <a:off x="228964" y="2560517"/>
          <a:ext cx="6752676" cy="1271421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283637">
                  <a:extLst>
                    <a:ext uri="{9D8B030D-6E8A-4147-A177-3AD203B41FA5}">
                      <a16:colId xmlns:a16="http://schemas.microsoft.com/office/drawing/2014/main" val="3624654645"/>
                    </a:ext>
                  </a:extLst>
                </a:gridCol>
                <a:gridCol w="416681">
                  <a:extLst>
                    <a:ext uri="{9D8B030D-6E8A-4147-A177-3AD203B41FA5}">
                      <a16:colId xmlns:a16="http://schemas.microsoft.com/office/drawing/2014/main" val="2871289063"/>
                    </a:ext>
                  </a:extLst>
                </a:gridCol>
                <a:gridCol w="398278">
                  <a:extLst>
                    <a:ext uri="{9D8B030D-6E8A-4147-A177-3AD203B41FA5}">
                      <a16:colId xmlns:a16="http://schemas.microsoft.com/office/drawing/2014/main" val="1626178617"/>
                    </a:ext>
                  </a:extLst>
                </a:gridCol>
                <a:gridCol w="398278">
                  <a:extLst>
                    <a:ext uri="{9D8B030D-6E8A-4147-A177-3AD203B41FA5}">
                      <a16:colId xmlns:a16="http://schemas.microsoft.com/office/drawing/2014/main" val="774076054"/>
                    </a:ext>
                  </a:extLst>
                </a:gridCol>
                <a:gridCol w="398278">
                  <a:extLst>
                    <a:ext uri="{9D8B030D-6E8A-4147-A177-3AD203B41FA5}">
                      <a16:colId xmlns:a16="http://schemas.microsoft.com/office/drawing/2014/main" val="303880439"/>
                    </a:ext>
                  </a:extLst>
                </a:gridCol>
                <a:gridCol w="398278">
                  <a:extLst>
                    <a:ext uri="{9D8B030D-6E8A-4147-A177-3AD203B41FA5}">
                      <a16:colId xmlns:a16="http://schemas.microsoft.com/office/drawing/2014/main" val="3160621450"/>
                    </a:ext>
                  </a:extLst>
                </a:gridCol>
                <a:gridCol w="398278">
                  <a:extLst>
                    <a:ext uri="{9D8B030D-6E8A-4147-A177-3AD203B41FA5}">
                      <a16:colId xmlns:a16="http://schemas.microsoft.com/office/drawing/2014/main" val="1919260293"/>
                    </a:ext>
                  </a:extLst>
                </a:gridCol>
                <a:gridCol w="507621">
                  <a:extLst>
                    <a:ext uri="{9D8B030D-6E8A-4147-A177-3AD203B41FA5}">
                      <a16:colId xmlns:a16="http://schemas.microsoft.com/office/drawing/2014/main" val="808142443"/>
                    </a:ext>
                  </a:extLst>
                </a:gridCol>
                <a:gridCol w="507621">
                  <a:extLst>
                    <a:ext uri="{9D8B030D-6E8A-4147-A177-3AD203B41FA5}">
                      <a16:colId xmlns:a16="http://schemas.microsoft.com/office/drawing/2014/main" val="3686710118"/>
                    </a:ext>
                  </a:extLst>
                </a:gridCol>
                <a:gridCol w="507621">
                  <a:extLst>
                    <a:ext uri="{9D8B030D-6E8A-4147-A177-3AD203B41FA5}">
                      <a16:colId xmlns:a16="http://schemas.microsoft.com/office/drawing/2014/main" val="2538171718"/>
                    </a:ext>
                  </a:extLst>
                </a:gridCol>
                <a:gridCol w="507621">
                  <a:extLst>
                    <a:ext uri="{9D8B030D-6E8A-4147-A177-3AD203B41FA5}">
                      <a16:colId xmlns:a16="http://schemas.microsoft.com/office/drawing/2014/main" val="9498873"/>
                    </a:ext>
                  </a:extLst>
                </a:gridCol>
                <a:gridCol w="507621">
                  <a:extLst>
                    <a:ext uri="{9D8B030D-6E8A-4147-A177-3AD203B41FA5}">
                      <a16:colId xmlns:a16="http://schemas.microsoft.com/office/drawing/2014/main" val="2928774212"/>
                    </a:ext>
                  </a:extLst>
                </a:gridCol>
                <a:gridCol w="507621">
                  <a:extLst>
                    <a:ext uri="{9D8B030D-6E8A-4147-A177-3AD203B41FA5}">
                      <a16:colId xmlns:a16="http://schemas.microsoft.com/office/drawing/2014/main" val="3590269117"/>
                    </a:ext>
                  </a:extLst>
                </a:gridCol>
                <a:gridCol w="507621">
                  <a:extLst>
                    <a:ext uri="{9D8B030D-6E8A-4147-A177-3AD203B41FA5}">
                      <a16:colId xmlns:a16="http://schemas.microsoft.com/office/drawing/2014/main" val="3895841144"/>
                    </a:ext>
                  </a:extLst>
                </a:gridCol>
                <a:gridCol w="507621">
                  <a:extLst>
                    <a:ext uri="{9D8B030D-6E8A-4147-A177-3AD203B41FA5}">
                      <a16:colId xmlns:a16="http://schemas.microsoft.com/office/drawing/2014/main" val="1028707175"/>
                    </a:ext>
                  </a:extLst>
                </a:gridCol>
              </a:tblGrid>
              <a:tr h="14590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선택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심의의뢰일자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심의의뢰감사역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진행상태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부점명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관련부점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지적구분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감사계획년도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감사종류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감사차수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감사구분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대분류지적내용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소분류지적내용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지적감사역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지적년월일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7035972"/>
                  </a:ext>
                </a:extLst>
              </a:tr>
              <a:tr h="145906"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3125279"/>
                  </a:ext>
                </a:extLst>
              </a:tr>
              <a:tr h="145906"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0507909"/>
                  </a:ext>
                </a:extLst>
              </a:tr>
              <a:tr h="145906"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4951374"/>
                  </a:ext>
                </a:extLst>
              </a:tr>
              <a:tr h="145906"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6729722"/>
                  </a:ext>
                </a:extLst>
              </a:tr>
              <a:tr h="145906"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l" fontAlgn="b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4386251"/>
                  </a:ext>
                </a:extLst>
              </a:tr>
              <a:tr h="145906"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l" fontAlgn="b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7368002"/>
                  </a:ext>
                </a:extLst>
              </a:tr>
              <a:tr h="145906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5036972"/>
                  </a:ext>
                </a:extLst>
              </a:tr>
            </a:tbl>
          </a:graphicData>
        </a:graphic>
      </p:graphicFrame>
      <p:sp>
        <p:nvSpPr>
          <p:cNvPr id="5" name="양쪽 모서리가 둥근 사각형 4"/>
          <p:cNvSpPr/>
          <p:nvPr/>
        </p:nvSpPr>
        <p:spPr bwMode="auto">
          <a:xfrm>
            <a:off x="247862" y="1129532"/>
            <a:ext cx="12988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80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지적사항</a:t>
            </a:r>
            <a:r>
              <a:rPr kumimoji="0" lang="ko-KR" altLang="en-US" sz="8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ko-KR" altLang="en-US" sz="80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문책관리</a:t>
            </a:r>
            <a:endParaRPr kumimoji="0" lang="ko-KR" altLang="en-US" sz="8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47863" y="1315267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230728" y="2304623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조회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40" name="그룹 39"/>
          <p:cNvGrpSpPr/>
          <p:nvPr/>
        </p:nvGrpSpPr>
        <p:grpSpPr>
          <a:xfrm>
            <a:off x="5168889" y="1373381"/>
            <a:ext cx="1672389" cy="180949"/>
            <a:chOff x="767866" y="4535786"/>
            <a:chExt cx="1672389" cy="180949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767866" y="4535786"/>
              <a:ext cx="397573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180255" y="4535820"/>
              <a:ext cx="1260000" cy="18091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   </a:t>
              </a:r>
              <a:endParaRPr kumimoji="0" lang="ko-KR" altLang="en-US" sz="10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pic>
          <p:nvPicPr>
            <p:cNvPr id="11" name="그림 10"/>
            <p:cNvPicPr>
              <a:picLocks noChangeAspect="1"/>
            </p:cNvPicPr>
            <p:nvPr/>
          </p:nvPicPr>
          <p:blipFill rotWithShape="1">
            <a:blip r:embed="rId2"/>
            <a:srcRect r="73540"/>
            <a:stretch/>
          </p:blipFill>
          <p:spPr>
            <a:xfrm>
              <a:off x="1192955" y="4552342"/>
              <a:ext cx="183595" cy="164228"/>
            </a:xfrm>
            <a:prstGeom prst="rect">
              <a:avLst/>
            </a:prstGeom>
          </p:spPr>
        </p:pic>
      </p:grpSp>
      <p:sp>
        <p:nvSpPr>
          <p:cNvPr id="1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21638" y="2304623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엑셀출력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87399" y="105493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090822" y="290224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0" name="직사각형 19"/>
          <p:cNvSpPr/>
          <p:nvPr/>
        </p:nvSpPr>
        <p:spPr bwMode="auto">
          <a:xfrm>
            <a:off x="320624" y="2814515"/>
            <a:ext cx="108111" cy="10278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1" name="직사각형 20"/>
          <p:cNvSpPr/>
          <p:nvPr/>
        </p:nvSpPr>
        <p:spPr bwMode="auto">
          <a:xfrm>
            <a:off x="320624" y="2959382"/>
            <a:ext cx="108111" cy="10278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2" name="직사각형 21"/>
          <p:cNvSpPr/>
          <p:nvPr/>
        </p:nvSpPr>
        <p:spPr bwMode="auto">
          <a:xfrm>
            <a:off x="320623" y="3110890"/>
            <a:ext cx="108111" cy="10278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3" name="직사각형 22"/>
          <p:cNvSpPr/>
          <p:nvPr/>
        </p:nvSpPr>
        <p:spPr bwMode="auto">
          <a:xfrm>
            <a:off x="320623" y="3255955"/>
            <a:ext cx="108111" cy="10278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4" name="직사각형 23"/>
          <p:cNvSpPr/>
          <p:nvPr/>
        </p:nvSpPr>
        <p:spPr bwMode="auto">
          <a:xfrm>
            <a:off x="320623" y="3399169"/>
            <a:ext cx="108111" cy="10278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5" name="직사각형 24"/>
          <p:cNvSpPr/>
          <p:nvPr/>
        </p:nvSpPr>
        <p:spPr bwMode="auto">
          <a:xfrm>
            <a:off x="320622" y="3542358"/>
            <a:ext cx="108111" cy="10278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4" name="내용 개체 틀 121"/>
          <p:cNvGraphicFramePr>
            <a:graphicFrameLocks/>
          </p:cNvGraphicFramePr>
          <p:nvPr>
            <p:extLst/>
          </p:nvPr>
        </p:nvGraphicFramePr>
        <p:xfrm>
          <a:off x="256202" y="1353521"/>
          <a:ext cx="6725437" cy="89018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9458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898667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781055">
                  <a:extLst>
                    <a:ext uri="{9D8B030D-6E8A-4147-A177-3AD203B41FA5}">
                      <a16:colId xmlns:a16="http://schemas.microsoft.com/office/drawing/2014/main" val="3522951179"/>
                    </a:ext>
                  </a:extLst>
                </a:gridCol>
                <a:gridCol w="1016279">
                  <a:extLst>
                    <a:ext uri="{9D8B030D-6E8A-4147-A177-3AD203B41FA5}">
                      <a16:colId xmlns:a16="http://schemas.microsoft.com/office/drawing/2014/main" val="3684581381"/>
                    </a:ext>
                  </a:extLst>
                </a:gridCol>
                <a:gridCol w="898667">
                  <a:extLst>
                    <a:ext uri="{9D8B030D-6E8A-4147-A177-3AD203B41FA5}">
                      <a16:colId xmlns:a16="http://schemas.microsoft.com/office/drawing/2014/main" val="873595552"/>
                    </a:ext>
                  </a:extLst>
                </a:gridCol>
                <a:gridCol w="105047">
                  <a:extLst>
                    <a:ext uri="{9D8B030D-6E8A-4147-A177-3AD203B41FA5}">
                      <a16:colId xmlns:a16="http://schemas.microsoft.com/office/drawing/2014/main" val="4041343408"/>
                    </a:ext>
                  </a:extLst>
                </a:gridCol>
                <a:gridCol w="565265">
                  <a:extLst>
                    <a:ext uri="{9D8B030D-6E8A-4147-A177-3AD203B41FA5}">
                      <a16:colId xmlns:a16="http://schemas.microsoft.com/office/drawing/2014/main" val="1858781748"/>
                    </a:ext>
                  </a:extLst>
                </a:gridCol>
                <a:gridCol w="1860999">
                  <a:extLst>
                    <a:ext uri="{9D8B030D-6E8A-4147-A177-3AD203B41FA5}">
                      <a16:colId xmlns:a16="http://schemas.microsoft.com/office/drawing/2014/main" val="392468474"/>
                    </a:ext>
                  </a:extLst>
                </a:gridCol>
              </a:tblGrid>
              <a:tr h="22254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진행상태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지적년월일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감사부점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2254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지적구분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문책</a:t>
                      </a: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관련부점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60313"/>
                  </a:ext>
                </a:extLst>
              </a:tr>
              <a:tr h="22254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감사종류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감사차수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0528278"/>
                  </a:ext>
                </a:extLst>
              </a:tr>
              <a:tr h="22254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귀책부점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정렬기준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1133465"/>
                  </a:ext>
                </a:extLst>
              </a:tr>
            </a:tbl>
          </a:graphicData>
        </a:graphic>
      </p:graphicFrame>
      <p:grpSp>
        <p:nvGrpSpPr>
          <p:cNvPr id="35" name="그룹 34"/>
          <p:cNvGrpSpPr/>
          <p:nvPr/>
        </p:nvGrpSpPr>
        <p:grpSpPr>
          <a:xfrm>
            <a:off x="890850" y="1375298"/>
            <a:ext cx="688047" cy="180915"/>
            <a:chOff x="3888573" y="3542054"/>
            <a:chExt cx="688047" cy="180915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3888573" y="3542054"/>
              <a:ext cx="68804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normalizeH="0" baseline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전 체</a:t>
              </a:r>
              <a:endParaRPr kumimoji="0" lang="ko-KR" altLang="en-US" sz="1000" b="0" i="0" u="none" strike="noStrike" kern="1200" cap="none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37" name="이등변 삼각형 36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4455435" y="3622344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597677" y="1375582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2024-02-25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564424" y="1372172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2024-03-29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7" name="그림 1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38077" y="1379422"/>
            <a:ext cx="181098" cy="173224"/>
          </a:xfrm>
          <a:prstGeom prst="rect">
            <a:avLst/>
          </a:prstGeom>
        </p:spPr>
      </p:pic>
      <p:pic>
        <p:nvPicPr>
          <p:cNvPr id="18" name="그림 1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18926" y="1380770"/>
            <a:ext cx="164611" cy="157454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3357921" y="1345208"/>
            <a:ext cx="28565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~</a:t>
            </a:r>
            <a:endParaRPr lang="ko-KR" altLang="en-US" sz="1200" dirty="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41" name="그룹 40"/>
          <p:cNvGrpSpPr/>
          <p:nvPr/>
        </p:nvGrpSpPr>
        <p:grpSpPr>
          <a:xfrm>
            <a:off x="2586407" y="1592285"/>
            <a:ext cx="1672389" cy="180949"/>
            <a:chOff x="767866" y="4535786"/>
            <a:chExt cx="1672389" cy="180949"/>
          </a:xfrm>
        </p:grpSpPr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767866" y="4535786"/>
              <a:ext cx="397573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180255" y="4535820"/>
              <a:ext cx="1260000" cy="18091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   </a:t>
              </a:r>
              <a:endParaRPr kumimoji="0" lang="ko-KR" altLang="en-US" sz="10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pic>
          <p:nvPicPr>
            <p:cNvPr id="44" name="그림 43"/>
            <p:cNvPicPr>
              <a:picLocks noChangeAspect="1"/>
            </p:cNvPicPr>
            <p:nvPr/>
          </p:nvPicPr>
          <p:blipFill rotWithShape="1">
            <a:blip r:embed="rId2"/>
            <a:srcRect r="73540"/>
            <a:stretch/>
          </p:blipFill>
          <p:spPr>
            <a:xfrm>
              <a:off x="1192955" y="4552342"/>
              <a:ext cx="183595" cy="164228"/>
            </a:xfrm>
            <a:prstGeom prst="rect">
              <a:avLst/>
            </a:prstGeom>
          </p:spPr>
        </p:pic>
      </p:grpSp>
      <p:grpSp>
        <p:nvGrpSpPr>
          <p:cNvPr id="45" name="그룹 44"/>
          <p:cNvGrpSpPr/>
          <p:nvPr/>
        </p:nvGrpSpPr>
        <p:grpSpPr>
          <a:xfrm>
            <a:off x="885308" y="1810330"/>
            <a:ext cx="688047" cy="180915"/>
            <a:chOff x="3888573" y="3542054"/>
            <a:chExt cx="688047" cy="180915"/>
          </a:xfrm>
        </p:grpSpPr>
        <p:sp>
          <p:nvSpPr>
            <p:cNvPr id="46" name="직사각형 45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3888573" y="3542054"/>
              <a:ext cx="68804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normalizeH="0" baseline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전 체</a:t>
              </a:r>
              <a:endParaRPr kumimoji="0" lang="ko-KR" altLang="en-US" sz="1000" b="0" i="0" u="none" strike="noStrike" kern="1200" cap="none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47" name="이등변 삼각형 46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4455435" y="3622344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grpSp>
        <p:nvGrpSpPr>
          <p:cNvPr id="48" name="그룹 47"/>
          <p:cNvGrpSpPr/>
          <p:nvPr/>
        </p:nvGrpSpPr>
        <p:grpSpPr>
          <a:xfrm>
            <a:off x="2575562" y="1813099"/>
            <a:ext cx="688047" cy="180915"/>
            <a:chOff x="3888573" y="3542054"/>
            <a:chExt cx="688047" cy="180915"/>
          </a:xfrm>
        </p:grpSpPr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3888573" y="3542054"/>
              <a:ext cx="68804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normalizeH="0" baseline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전 체</a:t>
              </a:r>
              <a:endParaRPr kumimoji="0" lang="ko-KR" altLang="en-US" sz="1000" b="0" i="0" u="none" strike="noStrike" kern="1200" cap="none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50" name="이등변 삼각형 49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4455435" y="3622344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grpSp>
        <p:nvGrpSpPr>
          <p:cNvPr id="51" name="그룹 50"/>
          <p:cNvGrpSpPr/>
          <p:nvPr/>
        </p:nvGrpSpPr>
        <p:grpSpPr>
          <a:xfrm>
            <a:off x="4497647" y="1818642"/>
            <a:ext cx="688047" cy="180915"/>
            <a:chOff x="3888573" y="3542054"/>
            <a:chExt cx="688047" cy="180915"/>
          </a:xfrm>
        </p:grpSpPr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3888573" y="3542054"/>
              <a:ext cx="68804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normalizeH="0" baseline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전 체</a:t>
              </a:r>
              <a:endParaRPr kumimoji="0" lang="ko-KR" altLang="en-US" sz="1000" b="0" i="0" u="none" strike="noStrike" kern="1200" cap="none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53" name="이등변 삼각형 52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4455435" y="3622344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grpSp>
        <p:nvGrpSpPr>
          <p:cNvPr id="54" name="그룹 53"/>
          <p:cNvGrpSpPr/>
          <p:nvPr/>
        </p:nvGrpSpPr>
        <p:grpSpPr>
          <a:xfrm>
            <a:off x="892036" y="2044027"/>
            <a:ext cx="1672389" cy="180949"/>
            <a:chOff x="767866" y="4535786"/>
            <a:chExt cx="1672389" cy="180949"/>
          </a:xfrm>
        </p:grpSpPr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767866" y="4535786"/>
              <a:ext cx="397573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180255" y="4535820"/>
              <a:ext cx="1260000" cy="18091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   </a:t>
              </a:r>
              <a:endParaRPr kumimoji="0" lang="ko-KR" altLang="en-US" sz="10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pic>
          <p:nvPicPr>
            <p:cNvPr id="57" name="그림 56"/>
            <p:cNvPicPr>
              <a:picLocks noChangeAspect="1"/>
            </p:cNvPicPr>
            <p:nvPr/>
          </p:nvPicPr>
          <p:blipFill rotWithShape="1">
            <a:blip r:embed="rId2"/>
            <a:srcRect r="73540"/>
            <a:stretch/>
          </p:blipFill>
          <p:spPr>
            <a:xfrm>
              <a:off x="1192955" y="4552342"/>
              <a:ext cx="183595" cy="164228"/>
            </a:xfrm>
            <a:prstGeom prst="rect">
              <a:avLst/>
            </a:prstGeom>
          </p:spPr>
        </p:pic>
      </p:grpSp>
      <p:grpSp>
        <p:nvGrpSpPr>
          <p:cNvPr id="58" name="그룹 57"/>
          <p:cNvGrpSpPr/>
          <p:nvPr/>
        </p:nvGrpSpPr>
        <p:grpSpPr>
          <a:xfrm>
            <a:off x="4503432" y="2044011"/>
            <a:ext cx="1404000" cy="180915"/>
            <a:chOff x="3888572" y="3542054"/>
            <a:chExt cx="1404000" cy="180915"/>
          </a:xfrm>
        </p:grpSpPr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3888572" y="3542054"/>
              <a:ext cx="1404000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normalizeH="0" baseline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기본</a:t>
              </a:r>
              <a:r>
                <a:rPr kumimoji="0" lang="en-US" altLang="ko-KR" sz="700" b="0" i="0" u="none" strike="noStrike" kern="1200" cap="none" normalizeH="0" baseline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(</a:t>
              </a:r>
              <a:r>
                <a:rPr kumimoji="0" lang="ko-KR" altLang="en-US" sz="700" b="0" i="0" u="none" strike="noStrike" kern="1200" cap="none" normalizeH="0" baseline="0" noProof="0" dirty="0" err="1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감사계획년</a:t>
              </a:r>
              <a:r>
                <a:rPr kumimoji="0" lang="en-US" altLang="ko-KR" sz="700" b="0" i="0" u="none" strike="noStrike" kern="1200" cap="none" normalizeH="0" baseline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+</a:t>
              </a:r>
              <a:r>
                <a:rPr kumimoji="0" lang="ko-KR" altLang="en-US" sz="700" b="0" i="0" u="none" strike="noStrike" kern="1200" cap="none" normalizeH="0" baseline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차수</a:t>
              </a:r>
              <a:r>
                <a:rPr kumimoji="0" lang="en-US" altLang="ko-KR" sz="700" b="0" i="0" u="none" strike="noStrike" kern="1200" cap="none" normalizeH="0" baseline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)</a:t>
              </a:r>
              <a:endParaRPr kumimoji="0" lang="ko-KR" altLang="en-US" sz="1000" b="0" i="0" u="none" strike="noStrike" kern="1200" cap="none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60" name="이등변 삼각형 59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5170329" y="3622344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6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581300" y="2304623"/>
            <a:ext cx="612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문책보고서등록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959694" y="2304623"/>
            <a:ext cx="612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문책심의의뢰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3" name="타원 6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20622" y="294989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4" name="타원 6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039639" y="217076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69773450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323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21259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대분류지적내용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+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소분류지적내용이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해당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지적건명은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수정 가능 하다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MDD-00143</a:t>
                      </a:r>
                      <a:endParaRPr lang="ko-KR" altLang="en-US" sz="12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MDD75D35001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문책보고서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등록 팝업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조사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지적사항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심의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지적사항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문책관리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(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임종국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51" name="양쪽 모서리가 둥근 사각형 50"/>
          <p:cNvSpPr/>
          <p:nvPr/>
        </p:nvSpPr>
        <p:spPr bwMode="auto">
          <a:xfrm>
            <a:off x="247862" y="999992"/>
            <a:ext cx="12988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80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문책보고서</a:t>
            </a:r>
            <a:r>
              <a:rPr kumimoji="0" lang="ko-KR" altLang="en-US" sz="8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등록</a:t>
            </a:r>
            <a:endParaRPr kumimoji="0" lang="ko-KR" altLang="en-US" sz="8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53" name="내용 개체 틀 121"/>
          <p:cNvGraphicFramePr>
            <a:graphicFrameLocks/>
          </p:cNvGraphicFramePr>
          <p:nvPr>
            <p:extLst/>
          </p:nvPr>
        </p:nvGraphicFramePr>
        <p:xfrm>
          <a:off x="331399" y="1327500"/>
          <a:ext cx="4864438" cy="22254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9458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4264980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</a:tblGrid>
              <a:tr h="22254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u="none" strike="noStrike" dirty="0" err="1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지적건명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대분류지적내용 </a:t>
                      </a:r>
                      <a:r>
                        <a:rPr lang="en-US" altLang="ko-KR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+ </a:t>
                      </a:r>
                      <a:r>
                        <a:rPr lang="ko-KR" altLang="en-US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소분류지적내용 </a:t>
                      </a:r>
                      <a:r>
                        <a:rPr lang="en-US" altLang="ko-KR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+ </a:t>
                      </a:r>
                      <a:r>
                        <a:rPr lang="ko-KR" altLang="en-US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수정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graphicFrame>
        <p:nvGraphicFramePr>
          <p:cNvPr id="54" name="내용 개체 틀 121"/>
          <p:cNvGraphicFramePr>
            <a:graphicFrameLocks/>
          </p:cNvGraphicFramePr>
          <p:nvPr>
            <p:extLst/>
          </p:nvPr>
        </p:nvGraphicFramePr>
        <p:xfrm>
          <a:off x="331397" y="1768001"/>
          <a:ext cx="6242522" cy="66764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31543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640080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32460">
                  <a:extLst>
                    <a:ext uri="{9D8B030D-6E8A-4147-A177-3AD203B41FA5}">
                      <a16:colId xmlns:a16="http://schemas.microsoft.com/office/drawing/2014/main" val="3163287512"/>
                    </a:ext>
                  </a:extLst>
                </a:gridCol>
                <a:gridCol w="624840">
                  <a:extLst>
                    <a:ext uri="{9D8B030D-6E8A-4147-A177-3AD203B41FA5}">
                      <a16:colId xmlns:a16="http://schemas.microsoft.com/office/drawing/2014/main" val="4080726027"/>
                    </a:ext>
                  </a:extLst>
                </a:gridCol>
                <a:gridCol w="1295400">
                  <a:extLst>
                    <a:ext uri="{9D8B030D-6E8A-4147-A177-3AD203B41FA5}">
                      <a16:colId xmlns:a16="http://schemas.microsoft.com/office/drawing/2014/main" val="3072500295"/>
                    </a:ext>
                  </a:extLst>
                </a:gridCol>
                <a:gridCol w="647700">
                  <a:extLst>
                    <a:ext uri="{9D8B030D-6E8A-4147-A177-3AD203B41FA5}">
                      <a16:colId xmlns:a16="http://schemas.microsoft.com/office/drawing/2014/main" val="2904203773"/>
                    </a:ext>
                  </a:extLst>
                </a:gridCol>
                <a:gridCol w="1170499">
                  <a:extLst>
                    <a:ext uri="{9D8B030D-6E8A-4147-A177-3AD203B41FA5}">
                      <a16:colId xmlns:a16="http://schemas.microsoft.com/office/drawing/2014/main" val="1892728299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1017302928"/>
                    </a:ext>
                  </a:extLst>
                </a:gridCol>
              </a:tblGrid>
              <a:tr h="22254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관련구분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직위</a:t>
                      </a: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직급</a:t>
                      </a: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관련직원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입행년월일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근무기간내용</a:t>
                      </a: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소속부점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22547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1645863"/>
                  </a:ext>
                </a:extLst>
              </a:tr>
              <a:tr h="222547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8752346"/>
                  </a:ext>
                </a:extLst>
              </a:tr>
            </a:tbl>
          </a:graphicData>
        </a:graphic>
      </p:graphicFrame>
      <p:graphicFrame>
        <p:nvGraphicFramePr>
          <p:cNvPr id="55" name="내용 개체 틀 121"/>
          <p:cNvGraphicFramePr>
            <a:graphicFrameLocks/>
          </p:cNvGraphicFramePr>
          <p:nvPr>
            <p:extLst/>
          </p:nvPr>
        </p:nvGraphicFramePr>
        <p:xfrm>
          <a:off x="323777" y="2469445"/>
          <a:ext cx="6242523" cy="3888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69283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888140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4585100">
                  <a:extLst>
                    <a:ext uri="{9D8B030D-6E8A-4147-A177-3AD203B41FA5}">
                      <a16:colId xmlns:a16="http://schemas.microsoft.com/office/drawing/2014/main" val="4197703502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u="none" strike="noStrike" dirty="0" err="1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조사경위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텍스트 </a:t>
                      </a:r>
                      <a:r>
                        <a:rPr lang="en-US" altLang="ko-KR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AREA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위규개요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텍스트 </a:t>
                      </a:r>
                      <a:r>
                        <a:rPr lang="en-US" altLang="ko-KR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AREA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6306576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위규경위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텍스트 </a:t>
                      </a:r>
                      <a:r>
                        <a:rPr lang="en-US" altLang="ko-KR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AREA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96031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조사자의견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텍스트 </a:t>
                      </a:r>
                      <a:r>
                        <a:rPr lang="en-US" altLang="ko-KR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AREA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50528278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금융사고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대상여부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및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법률의견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텍스트 </a:t>
                      </a:r>
                      <a:r>
                        <a:rPr lang="en-US" altLang="ko-KR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AREA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4536842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세부지적내용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지적사항의</a:t>
                      </a:r>
                      <a:r>
                        <a:rPr kumimoji="0" lang="ko-KR" altLang="en-US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세부지적</a:t>
                      </a:r>
                      <a:r>
                        <a:rPr kumimoji="0" lang="ko-KR" altLang="en-US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내용 </a:t>
                      </a: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+ </a:t>
                      </a:r>
                      <a:r>
                        <a:rPr kumimoji="0" lang="ko-KR" altLang="en-US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수정 가능</a:t>
                      </a: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44146599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종합의견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지적사항의</a:t>
                      </a:r>
                      <a:r>
                        <a:rPr kumimoji="0" lang="ko-KR" altLang="en-US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종합의견</a:t>
                      </a:r>
                      <a:r>
                        <a:rPr kumimoji="0" lang="ko-KR" altLang="en-US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내용 </a:t>
                      </a: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+ </a:t>
                      </a:r>
                      <a:r>
                        <a:rPr kumimoji="0" lang="ko-KR" altLang="en-US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수정 가능</a:t>
                      </a: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0C8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5673848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관련근거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발췌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-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인사규정</a:t>
                      </a: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0767498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업무메뉴얼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-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업무매뉴얼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기금여신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6519611"/>
                  </a:ext>
                </a:extLst>
              </a:tr>
            </a:tbl>
          </a:graphicData>
        </a:graphic>
      </p:graphicFrame>
      <p:sp>
        <p:nvSpPr>
          <p:cNvPr id="56" name="TextBox 55"/>
          <p:cNvSpPr txBox="1"/>
          <p:nvPr/>
        </p:nvSpPr>
        <p:spPr>
          <a:xfrm>
            <a:off x="247862" y="1549234"/>
            <a:ext cx="66396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  <a:sym typeface="Wingdings" panose="05000000000000000000" pitchFamily="2" charset="2"/>
              </a:rPr>
              <a:t> </a:t>
            </a:r>
            <a:r>
              <a:rPr lang="ko-KR" altLang="en-US" sz="8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관련직원</a:t>
            </a:r>
            <a:endParaRPr lang="ko-KR" altLang="en-US" sz="800" dirty="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486183" y="1106099"/>
            <a:ext cx="54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저장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938597" y="1106099"/>
            <a:ext cx="54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임시저장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391011" y="1106099"/>
            <a:ext cx="54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err="1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보고서출력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033770" y="1106099"/>
            <a:ext cx="54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닫기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383424" y="1000950"/>
            <a:ext cx="144000" cy="144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965627" y="988139"/>
            <a:ext cx="144000" cy="144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010359" y="1237814"/>
            <a:ext cx="144000" cy="144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49896688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MDD-00060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MDD75MDP000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감사운영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감사선택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내감사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(P69,P70: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김태훈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304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 하면 조회 조건에 맞는 로그인한 감사역이 배정된 해당년도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감사목록이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14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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에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347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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에서 특정 감사를 선택 하고 클릭하면 해당 감사의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진척관리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  연계되어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팝업 창 아님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)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</a:tbl>
          </a:graphicData>
        </a:graphic>
      </p:graphicFrame>
      <p:sp>
        <p:nvSpPr>
          <p:cNvPr id="4" name="양쪽 모서리가 둥근 사각형 3"/>
          <p:cNvSpPr/>
          <p:nvPr/>
        </p:nvSpPr>
        <p:spPr bwMode="auto">
          <a:xfrm>
            <a:off x="264486" y="1129537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900" b="1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내감사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/>
          </p:nvPr>
        </p:nvGraphicFramePr>
        <p:xfrm>
          <a:off x="233042" y="1903680"/>
          <a:ext cx="6732902" cy="2773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5350">
                  <a:extLst>
                    <a:ext uri="{9D8B030D-6E8A-4147-A177-3AD203B41FA5}">
                      <a16:colId xmlns:a16="http://schemas.microsoft.com/office/drawing/2014/main" val="2426106912"/>
                    </a:ext>
                  </a:extLst>
                </a:gridCol>
                <a:gridCol w="365760">
                  <a:extLst>
                    <a:ext uri="{9D8B030D-6E8A-4147-A177-3AD203B41FA5}">
                      <a16:colId xmlns:a16="http://schemas.microsoft.com/office/drawing/2014/main" val="157696043"/>
                    </a:ext>
                  </a:extLst>
                </a:gridCol>
                <a:gridCol w="532014">
                  <a:extLst>
                    <a:ext uri="{9D8B030D-6E8A-4147-A177-3AD203B41FA5}">
                      <a16:colId xmlns:a16="http://schemas.microsoft.com/office/drawing/2014/main" val="1421297000"/>
                    </a:ext>
                  </a:extLst>
                </a:gridCol>
                <a:gridCol w="573579">
                  <a:extLst>
                    <a:ext uri="{9D8B030D-6E8A-4147-A177-3AD203B41FA5}">
                      <a16:colId xmlns:a16="http://schemas.microsoft.com/office/drawing/2014/main" val="3582745889"/>
                    </a:ext>
                  </a:extLst>
                </a:gridCol>
                <a:gridCol w="523701">
                  <a:extLst>
                    <a:ext uri="{9D8B030D-6E8A-4147-A177-3AD203B41FA5}">
                      <a16:colId xmlns:a16="http://schemas.microsoft.com/office/drawing/2014/main" val="3292794991"/>
                    </a:ext>
                  </a:extLst>
                </a:gridCol>
                <a:gridCol w="706582">
                  <a:extLst>
                    <a:ext uri="{9D8B030D-6E8A-4147-A177-3AD203B41FA5}">
                      <a16:colId xmlns:a16="http://schemas.microsoft.com/office/drawing/2014/main" val="1828931321"/>
                    </a:ext>
                  </a:extLst>
                </a:gridCol>
                <a:gridCol w="623455">
                  <a:extLst>
                    <a:ext uri="{9D8B030D-6E8A-4147-A177-3AD203B41FA5}">
                      <a16:colId xmlns:a16="http://schemas.microsoft.com/office/drawing/2014/main" val="461435787"/>
                    </a:ext>
                  </a:extLst>
                </a:gridCol>
                <a:gridCol w="964276">
                  <a:extLst>
                    <a:ext uri="{9D8B030D-6E8A-4147-A177-3AD203B41FA5}">
                      <a16:colId xmlns:a16="http://schemas.microsoft.com/office/drawing/2014/main" val="2502540127"/>
                    </a:ext>
                  </a:extLst>
                </a:gridCol>
                <a:gridCol w="706582">
                  <a:extLst>
                    <a:ext uri="{9D8B030D-6E8A-4147-A177-3AD203B41FA5}">
                      <a16:colId xmlns:a16="http://schemas.microsoft.com/office/drawing/2014/main" val="1440062905"/>
                    </a:ext>
                  </a:extLst>
                </a:gridCol>
                <a:gridCol w="709521">
                  <a:extLst>
                    <a:ext uri="{9D8B030D-6E8A-4147-A177-3AD203B41FA5}">
                      <a16:colId xmlns:a16="http://schemas.microsoft.com/office/drawing/2014/main" val="1447650789"/>
                    </a:ext>
                  </a:extLst>
                </a:gridCol>
                <a:gridCol w="612082">
                  <a:extLst>
                    <a:ext uri="{9D8B030D-6E8A-4147-A177-3AD203B41FA5}">
                      <a16:colId xmlns:a16="http://schemas.microsoft.com/office/drawing/2014/main" val="61177697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차수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팀구분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감사종류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감사구분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대표부점코드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대표부점명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감사명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실시시작일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실시종료일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감사역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79101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본점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부문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1706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테크기획부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IT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운영 적정성 점검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....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2024-03-25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2024-04-03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50771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44838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84820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35011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30769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90669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35371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16486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91418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8052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97127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43969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6023375"/>
                  </a:ext>
                </a:extLst>
              </a:tr>
            </a:tbl>
          </a:graphicData>
        </a:graphic>
      </p:graphicFrame>
      <p:graphicFrame>
        <p:nvGraphicFramePr>
          <p:cNvPr id="6" name="내용 개체 틀 121"/>
          <p:cNvGraphicFramePr>
            <a:graphicFrameLocks/>
          </p:cNvGraphicFramePr>
          <p:nvPr>
            <p:extLst/>
          </p:nvPr>
        </p:nvGraphicFramePr>
        <p:xfrm>
          <a:off x="233042" y="1397715"/>
          <a:ext cx="6726396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97736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814647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5114013">
                  <a:extLst>
                    <a:ext uri="{9D8B030D-6E8A-4147-A177-3AD203B41FA5}">
                      <a16:colId xmlns:a16="http://schemas.microsoft.com/office/drawing/2014/main" val="1329683172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감사목록검색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895310" y="1436677"/>
            <a:ext cx="1548000" cy="194211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501296" y="1450888"/>
            <a:ext cx="468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검색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12" name="그룹 11"/>
          <p:cNvGrpSpPr/>
          <p:nvPr/>
        </p:nvGrpSpPr>
        <p:grpSpPr>
          <a:xfrm>
            <a:off x="1077411" y="1436123"/>
            <a:ext cx="688047" cy="180915"/>
            <a:chOff x="1443172" y="2626267"/>
            <a:chExt cx="688047" cy="180915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43172" y="2626267"/>
              <a:ext cx="68804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감사명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11" name="이등변 삼각형 10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2022540" y="2707089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19" name="타원 1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05694" y="1782817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492162" y="128888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643159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MDD-00060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MDD75MDP001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내감사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진척관리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감사운영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감사선택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특정감사 클릭 시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(P69,P70: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김태훈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 smtClean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5253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304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프로세스단계는 감사자료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통제절차평가 및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감사진행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347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기타자료등록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 하면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감사자료의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감사실시계획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제출자료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및 감사일정 및 업무분장 항목에 중에 선택된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세부항목에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첨부파일을 등록 할  수 있는 팝업 창이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프로세스스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 단계는 감사자료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통제절차평가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및 감사진행으로 고정이다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감사조서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외 다른 세부단계항목은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한행으로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표시하며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감사조서는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여러건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 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여러건의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행으로 표시한다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문서명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항목을 클릭 하면 선택 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세부단계의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신규 등록 및 등록한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첨부파일 및 내용을 수정 할 있는 팝업 창이 나타난다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각각의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세부단계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항목의 등록 미등록 여부 상태를 보여준다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승인상태는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미승인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승인요청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 완료 단계로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.(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감사조서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감사보고서 및 귀임보고서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감사일보 세부 항목만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승인상태를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표시한다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.)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감사실시통보서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 하면 해당 감사의 감사실시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통보서를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출력 할 수 있는 팝업 창이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243395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감사실시계획등록 팝업으로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파일추가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클릭 후 등록 파일 선택 후 등록 버튼을 클릭하면 첨부파일이 등록된다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1278944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제출자료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 팝업으로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파일추가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클릭 후 등록 파일 선택 후 등록 버튼을 클릭하면 첨부파일이 등록된다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26235888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감사일정 및 업무분장 등록 팝업으로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파일추가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클릭 후 등록 파일 선택 후 등록 버튼을 클릭하면 첨부파일이 등록된다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643442"/>
                  </a:ext>
                </a:extLst>
              </a:tr>
            </a:tbl>
          </a:graphicData>
        </a:graphic>
      </p:graphicFrame>
      <p:graphicFrame>
        <p:nvGraphicFramePr>
          <p:cNvPr id="4" name="표 3"/>
          <p:cNvGraphicFramePr>
            <a:graphicFrameLocks noGrp="1"/>
          </p:cNvGraphicFramePr>
          <p:nvPr>
            <p:extLst/>
          </p:nvPr>
        </p:nvGraphicFramePr>
        <p:xfrm>
          <a:off x="233042" y="1782300"/>
          <a:ext cx="6732902" cy="2133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47860">
                  <a:extLst>
                    <a:ext uri="{9D8B030D-6E8A-4147-A177-3AD203B41FA5}">
                      <a16:colId xmlns:a16="http://schemas.microsoft.com/office/drawing/2014/main" val="2426106912"/>
                    </a:ext>
                  </a:extLst>
                </a:gridCol>
                <a:gridCol w="1047403">
                  <a:extLst>
                    <a:ext uri="{9D8B030D-6E8A-4147-A177-3AD203B41FA5}">
                      <a16:colId xmlns:a16="http://schemas.microsoft.com/office/drawing/2014/main" val="157696043"/>
                    </a:ext>
                  </a:extLst>
                </a:gridCol>
                <a:gridCol w="2660073">
                  <a:extLst>
                    <a:ext uri="{9D8B030D-6E8A-4147-A177-3AD203B41FA5}">
                      <a16:colId xmlns:a16="http://schemas.microsoft.com/office/drawing/2014/main" val="1421297000"/>
                    </a:ext>
                  </a:extLst>
                </a:gridCol>
                <a:gridCol w="565266">
                  <a:extLst>
                    <a:ext uri="{9D8B030D-6E8A-4147-A177-3AD203B41FA5}">
                      <a16:colId xmlns:a16="http://schemas.microsoft.com/office/drawing/2014/main" val="3582745889"/>
                    </a:ext>
                  </a:extLst>
                </a:gridCol>
                <a:gridCol w="565265">
                  <a:extLst>
                    <a:ext uri="{9D8B030D-6E8A-4147-A177-3AD203B41FA5}">
                      <a16:colId xmlns:a16="http://schemas.microsoft.com/office/drawing/2014/main" val="3292794991"/>
                    </a:ext>
                  </a:extLst>
                </a:gridCol>
                <a:gridCol w="515389">
                  <a:extLst>
                    <a:ext uri="{9D8B030D-6E8A-4147-A177-3AD203B41FA5}">
                      <a16:colId xmlns:a16="http://schemas.microsoft.com/office/drawing/2014/main" val="2519424080"/>
                    </a:ext>
                  </a:extLst>
                </a:gridCol>
                <a:gridCol w="631646">
                  <a:extLst>
                    <a:ext uri="{9D8B030D-6E8A-4147-A177-3AD203B41FA5}">
                      <a16:colId xmlns:a16="http://schemas.microsoft.com/office/drawing/2014/main" val="182893132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단계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세부단계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문서명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작성자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등록일시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상태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승인상태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79101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감사자료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감사실시계획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2024_3_</a:t>
                      </a:r>
                      <a:r>
                        <a:rPr lang="ko-KR" altLang="en-US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  <a:r>
                        <a:rPr lang="en-US" altLang="ko-KR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_</a:t>
                      </a:r>
                      <a:r>
                        <a:rPr lang="ko-KR" altLang="en-US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부문</a:t>
                      </a:r>
                      <a:r>
                        <a:rPr lang="en-US" altLang="ko-KR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_</a:t>
                      </a:r>
                      <a:r>
                        <a:rPr lang="ko-KR" altLang="en-US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감사실시계획서</a:t>
                      </a:r>
                      <a:endParaRPr lang="ko-KR" altLang="en-US" sz="800" b="1" dirty="0">
                        <a:solidFill>
                          <a:srgbClr val="2272F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50771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제출자료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2024_3_</a:t>
                      </a:r>
                      <a:r>
                        <a:rPr lang="ko-KR" altLang="en-US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  <a:r>
                        <a:rPr lang="en-US" altLang="ko-KR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_</a:t>
                      </a:r>
                      <a:r>
                        <a:rPr lang="ko-KR" altLang="en-US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부문</a:t>
                      </a:r>
                      <a:r>
                        <a:rPr lang="en-US" altLang="ko-KR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_</a:t>
                      </a:r>
                      <a:r>
                        <a:rPr lang="ko-KR" altLang="en-US" sz="800" b="1" dirty="0" err="1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제출자료</a:t>
                      </a:r>
                      <a:endParaRPr lang="ko-KR" altLang="en-US" sz="800" b="1" dirty="0">
                        <a:solidFill>
                          <a:srgbClr val="2272F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44838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감사일정 및 업무분장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2024_3_</a:t>
                      </a:r>
                      <a:r>
                        <a:rPr lang="ko-KR" altLang="en-US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  <a:r>
                        <a:rPr lang="en-US" altLang="ko-KR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_</a:t>
                      </a:r>
                      <a:r>
                        <a:rPr lang="ko-KR" altLang="en-US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부문</a:t>
                      </a:r>
                      <a:r>
                        <a:rPr lang="en-US" altLang="ko-KR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_</a:t>
                      </a:r>
                      <a:r>
                        <a:rPr lang="ko-KR" altLang="en-US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업무분장</a:t>
                      </a:r>
                      <a:endParaRPr lang="ko-KR" altLang="en-US" sz="800" b="1" dirty="0">
                        <a:solidFill>
                          <a:srgbClr val="2272F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6131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통제절차평가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감사조서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2024_3_</a:t>
                      </a:r>
                      <a:r>
                        <a:rPr lang="ko-KR" altLang="en-US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  <a:r>
                        <a:rPr lang="en-US" altLang="ko-KR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_</a:t>
                      </a:r>
                      <a:r>
                        <a:rPr lang="ko-KR" altLang="en-US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부문</a:t>
                      </a:r>
                      <a:r>
                        <a:rPr lang="en-US" altLang="ko-KR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_</a:t>
                      </a:r>
                      <a:r>
                        <a:rPr lang="ko-KR" altLang="en-US" sz="800" b="1" dirty="0" err="1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감사조서</a:t>
                      </a:r>
                      <a:endParaRPr lang="ko-KR" altLang="en-US" sz="800" b="1" dirty="0">
                        <a:solidFill>
                          <a:srgbClr val="2272F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미승인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84820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감사조서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미승인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35011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감사보고서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30769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요약보고서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91700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귀임보고서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7708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감사진행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감사일보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4930387"/>
                  </a:ext>
                </a:extLst>
              </a:tr>
            </a:tbl>
          </a:graphicData>
        </a:graphic>
      </p:graphicFrame>
      <p:graphicFrame>
        <p:nvGraphicFramePr>
          <p:cNvPr id="5" name="내용 개체 틀 121"/>
          <p:cNvGraphicFramePr>
            <a:graphicFrameLocks/>
          </p:cNvGraphicFramePr>
          <p:nvPr>
            <p:extLst/>
          </p:nvPr>
        </p:nvGraphicFramePr>
        <p:xfrm>
          <a:off x="233042" y="1217587"/>
          <a:ext cx="6726397" cy="432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55209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473769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473769">
                  <a:extLst>
                    <a:ext uri="{9D8B030D-6E8A-4147-A177-3AD203B41FA5}">
                      <a16:colId xmlns:a16="http://schemas.microsoft.com/office/drawing/2014/main" val="2621545262"/>
                    </a:ext>
                  </a:extLst>
                </a:gridCol>
                <a:gridCol w="682473">
                  <a:extLst>
                    <a:ext uri="{9D8B030D-6E8A-4147-A177-3AD203B41FA5}">
                      <a16:colId xmlns:a16="http://schemas.microsoft.com/office/drawing/2014/main" val="3462470828"/>
                    </a:ext>
                  </a:extLst>
                </a:gridCol>
                <a:gridCol w="789709">
                  <a:extLst>
                    <a:ext uri="{9D8B030D-6E8A-4147-A177-3AD203B41FA5}">
                      <a16:colId xmlns:a16="http://schemas.microsoft.com/office/drawing/2014/main" val="1434998030"/>
                    </a:ext>
                  </a:extLst>
                </a:gridCol>
                <a:gridCol w="581891">
                  <a:extLst>
                    <a:ext uri="{9D8B030D-6E8A-4147-A177-3AD203B41FA5}">
                      <a16:colId xmlns:a16="http://schemas.microsoft.com/office/drawing/2014/main" val="543828912"/>
                    </a:ext>
                  </a:extLst>
                </a:gridCol>
                <a:gridCol w="2869577">
                  <a:extLst>
                    <a:ext uri="{9D8B030D-6E8A-4147-A177-3AD203B41FA5}">
                      <a16:colId xmlns:a16="http://schemas.microsoft.com/office/drawing/2014/main" val="3578717184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baseline="0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800" b="0" i="0" u="none" strike="noStrike" baseline="0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선택한 </a:t>
                      </a:r>
                      <a:r>
                        <a:rPr lang="ko-KR" altLang="en-US" sz="800" b="0" i="0" u="none" strike="noStrike" baseline="0" dirty="0" err="1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감사목록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34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3218" marR="3218" marT="3218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부문감사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테크기획부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IT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운영 적정성 점검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……..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프로세스 단계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77572011"/>
                  </a:ext>
                </a:extLst>
              </a:tr>
            </a:tbl>
          </a:graphicData>
        </a:graphic>
      </p:graphicFrame>
      <p:sp>
        <p:nvSpPr>
          <p:cNvPr id="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251780" y="1443571"/>
            <a:ext cx="610527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감사실시 통보서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590598" y="1443571"/>
            <a:ext cx="610527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기타자료</a:t>
            </a:r>
            <a:r>
              <a:rPr kumimoji="0" lang="ko-KR" altLang="en-US" sz="800" spc="-100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ko-KR" altLang="en-US" sz="800" spc="-10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spc="-100" dirty="0">
              <a:solidFill>
                <a:schemeClr val="bg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8" name="그룹 7"/>
          <p:cNvGrpSpPr/>
          <p:nvPr/>
        </p:nvGrpSpPr>
        <p:grpSpPr>
          <a:xfrm>
            <a:off x="1185075" y="1457726"/>
            <a:ext cx="645876" cy="180915"/>
            <a:chOff x="1417837" y="4018047"/>
            <a:chExt cx="645876" cy="180915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17837" y="4018047"/>
              <a:ext cx="645876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전체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10" name="이등변 삼각형 9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1930700" y="4090556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1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301529" y="3737103"/>
            <a:ext cx="610527" cy="144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spc="-10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감사일보</a:t>
            </a:r>
            <a:endParaRPr kumimoji="0" lang="ko-KR" altLang="en-US" sz="700" spc="-100" dirty="0">
              <a:solidFill>
                <a:schemeClr val="bg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104075" y="1368235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602230" y="1287902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758681" y="1811652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742351" y="181441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889806" y="2249451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814861" y="168000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6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349055" y="168467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7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277008" y="1280121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8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23" name="그룹 22"/>
          <p:cNvGrpSpPr/>
          <p:nvPr/>
        </p:nvGrpSpPr>
        <p:grpSpPr>
          <a:xfrm>
            <a:off x="433987" y="4217567"/>
            <a:ext cx="2527900" cy="1584717"/>
            <a:chOff x="433987" y="4217567"/>
            <a:chExt cx="2527900" cy="1584717"/>
          </a:xfrm>
        </p:grpSpPr>
        <p:pic>
          <p:nvPicPr>
            <p:cNvPr id="19" name="그림 18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433987" y="4217567"/>
              <a:ext cx="2527900" cy="1584717"/>
            </a:xfrm>
            <a:prstGeom prst="rect">
              <a:avLst/>
            </a:prstGeom>
            <a:ln>
              <a:solidFill>
                <a:schemeClr val="tx1"/>
              </a:solidFill>
            </a:ln>
          </p:spPr>
        </p:pic>
        <p:sp>
          <p:nvSpPr>
            <p:cNvPr id="22" name="TextBox 21"/>
            <p:cNvSpPr txBox="1"/>
            <p:nvPr/>
          </p:nvSpPr>
          <p:spPr>
            <a:xfrm>
              <a:off x="433987" y="4217567"/>
              <a:ext cx="651140" cy="169277"/>
            </a:xfrm>
            <a:prstGeom prst="rect">
              <a:avLst/>
            </a:prstGeom>
            <a:solidFill>
              <a:srgbClr val="A29D9A"/>
            </a:solidFill>
          </p:spPr>
          <p:txBody>
            <a:bodyPr wrap="none" rtlCol="0" anchor="ctr" anchorCtr="0">
              <a:spAutoFit/>
            </a:bodyPr>
            <a:lstStyle/>
            <a:p>
              <a:r>
                <a:rPr lang="ko-KR" altLang="en-US" sz="500" dirty="0" smtClean="0">
                  <a:solidFill>
                    <a:schemeClr val="bg1">
                      <a:lumMod val="95000"/>
                    </a:schemeClr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감사실시계획 등록</a:t>
              </a:r>
            </a:p>
          </p:txBody>
        </p:sp>
      </p:grpSp>
      <p:grpSp>
        <p:nvGrpSpPr>
          <p:cNvPr id="25" name="그룹 24"/>
          <p:cNvGrpSpPr/>
          <p:nvPr/>
        </p:nvGrpSpPr>
        <p:grpSpPr>
          <a:xfrm>
            <a:off x="2332290" y="4789067"/>
            <a:ext cx="2527900" cy="1584717"/>
            <a:chOff x="433987" y="4217567"/>
            <a:chExt cx="2527900" cy="1584717"/>
          </a:xfrm>
        </p:grpSpPr>
        <p:pic>
          <p:nvPicPr>
            <p:cNvPr id="26" name="그림 25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433987" y="4217567"/>
              <a:ext cx="2527900" cy="1584717"/>
            </a:xfrm>
            <a:prstGeom prst="rect">
              <a:avLst/>
            </a:prstGeom>
            <a:ln>
              <a:solidFill>
                <a:schemeClr val="tx1"/>
              </a:solidFill>
            </a:ln>
          </p:spPr>
        </p:pic>
        <p:sp>
          <p:nvSpPr>
            <p:cNvPr id="27" name="TextBox 26"/>
            <p:cNvSpPr txBox="1"/>
            <p:nvPr/>
          </p:nvSpPr>
          <p:spPr>
            <a:xfrm>
              <a:off x="433987" y="4217567"/>
              <a:ext cx="538930" cy="169277"/>
            </a:xfrm>
            <a:prstGeom prst="rect">
              <a:avLst/>
            </a:prstGeom>
            <a:solidFill>
              <a:srgbClr val="A29D9A"/>
            </a:solidFill>
          </p:spPr>
          <p:txBody>
            <a:bodyPr wrap="none" rtlCol="0" anchor="ctr" anchorCtr="0">
              <a:spAutoFit/>
            </a:bodyPr>
            <a:lstStyle/>
            <a:p>
              <a:r>
                <a:rPr lang="ko-KR" altLang="en-US" sz="500" smtClean="0">
                  <a:solidFill>
                    <a:schemeClr val="bg1">
                      <a:lumMod val="95000"/>
                    </a:schemeClr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제출자료</a:t>
              </a:r>
              <a:r>
                <a:rPr lang="ko-KR" altLang="en-US" sz="500" dirty="0" smtClean="0">
                  <a:solidFill>
                    <a:schemeClr val="bg1">
                      <a:lumMod val="95000"/>
                    </a:schemeClr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 등록</a:t>
              </a:r>
            </a:p>
          </p:txBody>
        </p:sp>
      </p:grpSp>
      <p:grpSp>
        <p:nvGrpSpPr>
          <p:cNvPr id="29" name="그룹 28"/>
          <p:cNvGrpSpPr/>
          <p:nvPr/>
        </p:nvGrpSpPr>
        <p:grpSpPr>
          <a:xfrm>
            <a:off x="4338280" y="4165985"/>
            <a:ext cx="2527900" cy="1584717"/>
            <a:chOff x="433987" y="4217567"/>
            <a:chExt cx="2527900" cy="1584717"/>
          </a:xfrm>
        </p:grpSpPr>
        <p:pic>
          <p:nvPicPr>
            <p:cNvPr id="30" name="그림 29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433987" y="4217567"/>
              <a:ext cx="2527900" cy="1584717"/>
            </a:xfrm>
            <a:prstGeom prst="rect">
              <a:avLst/>
            </a:prstGeom>
            <a:ln>
              <a:solidFill>
                <a:schemeClr val="tx1"/>
              </a:solidFill>
            </a:ln>
          </p:spPr>
        </p:pic>
        <p:sp>
          <p:nvSpPr>
            <p:cNvPr id="31" name="TextBox 30"/>
            <p:cNvSpPr txBox="1"/>
            <p:nvPr/>
          </p:nvSpPr>
          <p:spPr>
            <a:xfrm>
              <a:off x="433987" y="4217567"/>
              <a:ext cx="854721" cy="169277"/>
            </a:xfrm>
            <a:prstGeom prst="rect">
              <a:avLst/>
            </a:prstGeom>
            <a:solidFill>
              <a:srgbClr val="A29D9A"/>
            </a:solidFill>
          </p:spPr>
          <p:txBody>
            <a:bodyPr wrap="none" rtlCol="0" anchor="ctr" anchorCtr="0">
              <a:spAutoFit/>
            </a:bodyPr>
            <a:lstStyle/>
            <a:p>
              <a:r>
                <a:rPr lang="ko-KR" altLang="en-US" sz="500" dirty="0" smtClean="0">
                  <a:solidFill>
                    <a:schemeClr val="bg1">
                      <a:lumMod val="95000"/>
                    </a:schemeClr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감사일정 및 업무분장 등록</a:t>
              </a:r>
            </a:p>
          </p:txBody>
        </p:sp>
      </p:grpSp>
      <p:sp>
        <p:nvSpPr>
          <p:cNvPr id="32" name="타원 3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195577" y="411535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9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226462" y="4108717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11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096135" y="4711705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10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96890350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MDD-00060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MDD75MDP005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감사조서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및 키워드 등록 파업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감사운영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감사선택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특정감사 클릭 시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(P69,P70: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김태훈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27635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304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감사조서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정보를 입력 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347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작성한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감사조서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 파일을 선택 할 수 있는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팝업창이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등록할 파일을 선택 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감사조서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파일을 삭제 할 수 있는 버튼이다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승인관리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감사조서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등록하고 승인요청 및 승인 내역을 관리 하는 팝업 창이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 하면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감사조서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파일을 등록 할 수 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닫기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감사조서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파일이 선택되어 있어도 저장하지 않고 팝업 창을 닫는다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2003979"/>
                  </a:ext>
                </a:extLst>
              </a:tr>
            </a:tbl>
          </a:graphicData>
        </a:graphic>
      </p:graphicFrame>
      <p:sp>
        <p:nvSpPr>
          <p:cNvPr id="20" name="타원 1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557511" y="4755587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018279" y="4925766"/>
            <a:ext cx="504000" cy="180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닫기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479017" y="4925766"/>
            <a:ext cx="504000" cy="180000"/>
          </a:xfrm>
          <a:prstGeom prst="roundRect">
            <a:avLst>
              <a:gd name="adj" fmla="val 10228"/>
            </a:avLst>
          </a:prstGeom>
          <a:solidFill>
            <a:srgbClr val="F7C21A"/>
          </a:solidFill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bg1">
                    <a:lumMod val="9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spc="-100" dirty="0">
              <a:solidFill>
                <a:schemeClr val="bg1">
                  <a:lumMod val="95000"/>
                </a:schemeClr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964260" y="4760946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640762" y="1592808"/>
          <a:ext cx="5897108" cy="30834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2000">
                  <a:extLst>
                    <a:ext uri="{9D8B030D-6E8A-4147-A177-3AD203B41FA5}">
                      <a16:colId xmlns:a16="http://schemas.microsoft.com/office/drawing/2014/main" val="2486140938"/>
                    </a:ext>
                  </a:extLst>
                </a:gridCol>
                <a:gridCol w="1933049">
                  <a:extLst>
                    <a:ext uri="{9D8B030D-6E8A-4147-A177-3AD203B41FA5}">
                      <a16:colId xmlns:a16="http://schemas.microsoft.com/office/drawing/2014/main" val="3260402595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1205990331"/>
                    </a:ext>
                  </a:extLst>
                </a:gridCol>
                <a:gridCol w="2128059">
                  <a:extLst>
                    <a:ext uri="{9D8B030D-6E8A-4147-A177-3AD203B41FA5}">
                      <a16:colId xmlns:a16="http://schemas.microsoft.com/office/drawing/2014/main" val="3033585643"/>
                    </a:ext>
                  </a:extLst>
                </a:gridCol>
              </a:tblGrid>
              <a:tr h="275970">
                <a:tc gridSpan="4">
                  <a:txBody>
                    <a:bodyPr/>
                    <a:lstStyle/>
                    <a:p>
                      <a:pPr latinLnBrk="1"/>
                      <a:r>
                        <a:rPr lang="ko-KR" altLang="en-US" sz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감사조서</a:t>
                      </a:r>
                      <a:r>
                        <a:rPr lang="ko-KR" altLang="en-US" sz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등록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01929310"/>
                  </a:ext>
                </a:extLst>
              </a:tr>
              <a:tr h="27597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감사단위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년도 </a:t>
                      </a:r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회차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– </a:t>
                      </a:r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태크그룹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종합감사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018352"/>
                  </a:ext>
                </a:extLst>
              </a:tr>
              <a:tr h="27597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작성자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등록일시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2024-06-05</a:t>
                      </a:r>
                      <a:r>
                        <a:rPr lang="en-US" altLang="ko-KR" sz="10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11:11:11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7934186"/>
                  </a:ext>
                </a:extLst>
              </a:tr>
              <a:tr h="339112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자료내용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감사조서</a:t>
                      </a:r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98174742"/>
                  </a:ext>
                </a:extLst>
              </a:tr>
              <a:tr h="27597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감사조서첨부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23801193"/>
                  </a:ext>
                </a:extLst>
              </a:tr>
              <a:tr h="27597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관련자료첨부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11163170"/>
                  </a:ext>
                </a:extLst>
              </a:tr>
            </a:tbl>
          </a:graphicData>
        </a:graphic>
      </p:graphicFrame>
      <p:graphicFrame>
        <p:nvGraphicFramePr>
          <p:cNvPr id="30" name="표 29"/>
          <p:cNvGraphicFramePr>
            <a:graphicFrameLocks noGrp="1"/>
          </p:cNvGraphicFramePr>
          <p:nvPr>
            <p:extLst/>
          </p:nvPr>
        </p:nvGraphicFramePr>
        <p:xfrm>
          <a:off x="1789456" y="3230569"/>
          <a:ext cx="4553158" cy="365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42">
                  <a:extLst>
                    <a:ext uri="{9D8B030D-6E8A-4147-A177-3AD203B41FA5}">
                      <a16:colId xmlns:a16="http://schemas.microsoft.com/office/drawing/2014/main" val="1407529745"/>
                    </a:ext>
                  </a:extLst>
                </a:gridCol>
                <a:gridCol w="3099405">
                  <a:extLst>
                    <a:ext uri="{9D8B030D-6E8A-4147-A177-3AD203B41FA5}">
                      <a16:colId xmlns:a16="http://schemas.microsoft.com/office/drawing/2014/main" val="1544300979"/>
                    </a:ext>
                  </a:extLst>
                </a:gridCol>
                <a:gridCol w="617281">
                  <a:extLst>
                    <a:ext uri="{9D8B030D-6E8A-4147-A177-3AD203B41FA5}">
                      <a16:colId xmlns:a16="http://schemas.microsoft.com/office/drawing/2014/main" val="2900065581"/>
                    </a:ext>
                  </a:extLst>
                </a:gridCol>
                <a:gridCol w="480830">
                  <a:extLst>
                    <a:ext uri="{9D8B030D-6E8A-4147-A177-3AD203B41FA5}">
                      <a16:colId xmlns:a16="http://schemas.microsoft.com/office/drawing/2014/main" val="1706968747"/>
                    </a:ext>
                  </a:extLst>
                </a:gridCol>
              </a:tblGrid>
              <a:tr h="180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파일명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파일크기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80936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latinLnBrk="1"/>
                      <a:endParaRPr lang="ko-KR" altLang="en-US" sz="6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452105"/>
                  </a:ext>
                </a:extLst>
              </a:tr>
            </a:tbl>
          </a:graphicData>
        </a:graphic>
      </p:graphicFrame>
      <p:sp>
        <p:nvSpPr>
          <p:cNvPr id="3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456754" y="3050569"/>
            <a:ext cx="432000" cy="144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파일추가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922006" y="3050569"/>
            <a:ext cx="432000" cy="144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파일삭제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6" name="표 35"/>
          <p:cNvGraphicFramePr>
            <a:graphicFrameLocks noGrp="1"/>
          </p:cNvGraphicFramePr>
          <p:nvPr>
            <p:extLst/>
          </p:nvPr>
        </p:nvGraphicFramePr>
        <p:xfrm>
          <a:off x="1770064" y="3884500"/>
          <a:ext cx="4553158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42">
                  <a:extLst>
                    <a:ext uri="{9D8B030D-6E8A-4147-A177-3AD203B41FA5}">
                      <a16:colId xmlns:a16="http://schemas.microsoft.com/office/drawing/2014/main" val="1407529745"/>
                    </a:ext>
                  </a:extLst>
                </a:gridCol>
                <a:gridCol w="3099405">
                  <a:extLst>
                    <a:ext uri="{9D8B030D-6E8A-4147-A177-3AD203B41FA5}">
                      <a16:colId xmlns:a16="http://schemas.microsoft.com/office/drawing/2014/main" val="1544300979"/>
                    </a:ext>
                  </a:extLst>
                </a:gridCol>
                <a:gridCol w="617281">
                  <a:extLst>
                    <a:ext uri="{9D8B030D-6E8A-4147-A177-3AD203B41FA5}">
                      <a16:colId xmlns:a16="http://schemas.microsoft.com/office/drawing/2014/main" val="2900065581"/>
                    </a:ext>
                  </a:extLst>
                </a:gridCol>
                <a:gridCol w="480830">
                  <a:extLst>
                    <a:ext uri="{9D8B030D-6E8A-4147-A177-3AD203B41FA5}">
                      <a16:colId xmlns:a16="http://schemas.microsoft.com/office/drawing/2014/main" val="1706968747"/>
                    </a:ext>
                  </a:extLst>
                </a:gridCol>
              </a:tblGrid>
              <a:tr h="180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파일명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파일크기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80936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latinLnBrk="1"/>
                      <a:endParaRPr lang="ko-KR" altLang="en-US" sz="6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45210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latinLnBrk="1"/>
                      <a:endParaRPr lang="ko-KR" altLang="en-US" sz="6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837146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latinLnBrk="1"/>
                      <a:endParaRPr lang="ko-KR" altLang="en-US" sz="6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3298986"/>
                  </a:ext>
                </a:extLst>
              </a:tr>
            </a:tbl>
          </a:graphicData>
        </a:graphic>
      </p:graphicFrame>
      <p:sp>
        <p:nvSpPr>
          <p:cNvPr id="3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437362" y="3704500"/>
            <a:ext cx="432000" cy="144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파일추가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902614" y="3704500"/>
            <a:ext cx="432000" cy="144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파일삭제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933153" y="4920225"/>
            <a:ext cx="504000" cy="180000"/>
          </a:xfrm>
          <a:prstGeom prst="roundRect">
            <a:avLst>
              <a:gd name="adj" fmla="val 10228"/>
            </a:avLst>
          </a:prstGeom>
          <a:solidFill>
            <a:srgbClr val="F7C21A"/>
          </a:solidFill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bg1">
                    <a:lumMod val="9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승인관리</a:t>
            </a:r>
            <a:endParaRPr kumimoji="0" lang="ko-KR" altLang="en-US" sz="800" spc="-100" dirty="0">
              <a:solidFill>
                <a:schemeClr val="bg1">
                  <a:lumMod val="95000"/>
                </a:schemeClr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059045" y="4766670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6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646608" y="2870569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023451" y="2873342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020803" y="249425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31852610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MDD-00060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현행유지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유지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승인관리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팝업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감사운영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감사선택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특정감사 클릭 시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(P69,P70: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김태훈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2581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304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승인관리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화면과 세부 내역은 기존 프로그램 유지 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347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2003979"/>
                  </a:ext>
                </a:extLst>
              </a:tr>
            </a:tbl>
          </a:graphicData>
        </a:graphic>
      </p:graphicFrame>
      <p:pic>
        <p:nvPicPr>
          <p:cNvPr id="20" name="그림 19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532" t="11220" r="8546" b="7345"/>
          <a:stretch/>
        </p:blipFill>
        <p:spPr>
          <a:xfrm>
            <a:off x="1274181" y="1785300"/>
            <a:ext cx="5052588" cy="3868616"/>
          </a:xfrm>
          <a:prstGeom prst="rect">
            <a:avLst/>
          </a:prstGeom>
          <a:ln w="15875">
            <a:solidFill>
              <a:srgbClr val="C00000"/>
            </a:solidFill>
          </a:ln>
        </p:spPr>
      </p:pic>
    </p:spTree>
    <p:extLst>
      <p:ext uri="{BB962C8B-B14F-4D97-AF65-F5344CB8AC3E}">
        <p14:creationId xmlns:p14="http://schemas.microsoft.com/office/powerpoint/2010/main" val="3576428201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MDD-00060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MDD75MDP006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감사보고서 및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요약보고서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등록 팝업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감사운영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감사선택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특정감사 클릭 시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(P69,P70: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김태훈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2845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304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감사보고서 및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요약보고서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자료 내용의 정보를 입력한다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347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작성한 감사보고서 파일을 선택 할 수 있는 팝업 창이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등록할 파일을 선택 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등록된 감사보고서 파일을 삭제 할 수 있는 버튼이다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승인관리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감사보고서 및 요약보고서를 등록하고 승인요청 및 승인 내역을 관리 하는 팝업 창이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감사보고서 및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요약보고서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파일을 등록 할 수 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닫기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감사보고서 및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요약보고서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파일이 선택되어 있어도 저장하지 않고 팝업 창을 닫는다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</a:tbl>
          </a:graphicData>
        </a:graphic>
      </p:graphicFrame>
      <p:sp>
        <p:nvSpPr>
          <p:cNvPr id="6" name="타원 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557511" y="544554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018279" y="5615723"/>
            <a:ext cx="504000" cy="180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닫기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479017" y="5615723"/>
            <a:ext cx="504000" cy="180000"/>
          </a:xfrm>
          <a:prstGeom prst="roundRect">
            <a:avLst>
              <a:gd name="adj" fmla="val 10228"/>
            </a:avLst>
          </a:prstGeom>
          <a:solidFill>
            <a:srgbClr val="F7C21A"/>
          </a:solidFill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bg1">
                    <a:lumMod val="9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spc="-100" dirty="0">
              <a:solidFill>
                <a:schemeClr val="bg1">
                  <a:lumMod val="95000"/>
                </a:schemeClr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964260" y="5450903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30" name="표 29"/>
          <p:cNvGraphicFramePr>
            <a:graphicFrameLocks noGrp="1"/>
          </p:cNvGraphicFramePr>
          <p:nvPr>
            <p:extLst/>
          </p:nvPr>
        </p:nvGraphicFramePr>
        <p:xfrm>
          <a:off x="640762" y="1592808"/>
          <a:ext cx="5897108" cy="37844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2000">
                  <a:extLst>
                    <a:ext uri="{9D8B030D-6E8A-4147-A177-3AD203B41FA5}">
                      <a16:colId xmlns:a16="http://schemas.microsoft.com/office/drawing/2014/main" val="2486140938"/>
                    </a:ext>
                  </a:extLst>
                </a:gridCol>
                <a:gridCol w="1933049">
                  <a:extLst>
                    <a:ext uri="{9D8B030D-6E8A-4147-A177-3AD203B41FA5}">
                      <a16:colId xmlns:a16="http://schemas.microsoft.com/office/drawing/2014/main" val="3260402595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1205990331"/>
                    </a:ext>
                  </a:extLst>
                </a:gridCol>
                <a:gridCol w="2128059">
                  <a:extLst>
                    <a:ext uri="{9D8B030D-6E8A-4147-A177-3AD203B41FA5}">
                      <a16:colId xmlns:a16="http://schemas.microsoft.com/office/drawing/2014/main" val="3033585643"/>
                    </a:ext>
                  </a:extLst>
                </a:gridCol>
              </a:tblGrid>
              <a:tr h="275970">
                <a:tc gridSpan="4">
                  <a:txBody>
                    <a:bodyPr/>
                    <a:lstStyle/>
                    <a:p>
                      <a:pPr latinLnBrk="1"/>
                      <a:r>
                        <a:rPr lang="ko-KR" altLang="en-US" sz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감사보고서 및 </a:t>
                      </a:r>
                      <a:r>
                        <a:rPr lang="ko-KR" altLang="en-US" sz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요약보고서</a:t>
                      </a:r>
                      <a:r>
                        <a:rPr lang="ko-KR" altLang="en-US" sz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등록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01929310"/>
                  </a:ext>
                </a:extLst>
              </a:tr>
              <a:tr h="27597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감사단위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년도 </a:t>
                      </a:r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회차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– </a:t>
                      </a:r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태크그룹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종합감사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018352"/>
                  </a:ext>
                </a:extLst>
              </a:tr>
              <a:tr h="27597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작성자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등록일시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2024-06-05</a:t>
                      </a:r>
                      <a:r>
                        <a:rPr lang="en-US" altLang="ko-KR" sz="10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11:11:11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7934186"/>
                  </a:ext>
                </a:extLst>
              </a:tr>
              <a:tr h="339112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자료내용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감사보고서 및 </a:t>
                      </a:r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요약보고서</a:t>
                      </a:r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98174742"/>
                  </a:ext>
                </a:extLst>
              </a:tr>
              <a:tr h="27597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감사보고서첨부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23801193"/>
                  </a:ext>
                </a:extLst>
              </a:tr>
              <a:tr h="27597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요약보고서첨부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16114250"/>
                  </a:ext>
                </a:extLst>
              </a:tr>
              <a:tr h="27597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관련자료첨부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11163170"/>
                  </a:ext>
                </a:extLst>
              </a:tr>
            </a:tbl>
          </a:graphicData>
        </a:graphic>
      </p:graphicFrame>
      <p:graphicFrame>
        <p:nvGraphicFramePr>
          <p:cNvPr id="31" name="표 30"/>
          <p:cNvGraphicFramePr>
            <a:graphicFrameLocks noGrp="1"/>
          </p:cNvGraphicFramePr>
          <p:nvPr>
            <p:extLst/>
          </p:nvPr>
        </p:nvGraphicFramePr>
        <p:xfrm>
          <a:off x="1789456" y="3230569"/>
          <a:ext cx="4553158" cy="365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42">
                  <a:extLst>
                    <a:ext uri="{9D8B030D-6E8A-4147-A177-3AD203B41FA5}">
                      <a16:colId xmlns:a16="http://schemas.microsoft.com/office/drawing/2014/main" val="1407529745"/>
                    </a:ext>
                  </a:extLst>
                </a:gridCol>
                <a:gridCol w="3099405">
                  <a:extLst>
                    <a:ext uri="{9D8B030D-6E8A-4147-A177-3AD203B41FA5}">
                      <a16:colId xmlns:a16="http://schemas.microsoft.com/office/drawing/2014/main" val="1544300979"/>
                    </a:ext>
                  </a:extLst>
                </a:gridCol>
                <a:gridCol w="617281">
                  <a:extLst>
                    <a:ext uri="{9D8B030D-6E8A-4147-A177-3AD203B41FA5}">
                      <a16:colId xmlns:a16="http://schemas.microsoft.com/office/drawing/2014/main" val="2900065581"/>
                    </a:ext>
                  </a:extLst>
                </a:gridCol>
                <a:gridCol w="480830">
                  <a:extLst>
                    <a:ext uri="{9D8B030D-6E8A-4147-A177-3AD203B41FA5}">
                      <a16:colId xmlns:a16="http://schemas.microsoft.com/office/drawing/2014/main" val="1706968747"/>
                    </a:ext>
                  </a:extLst>
                </a:gridCol>
              </a:tblGrid>
              <a:tr h="180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파일명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파일크기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80936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latinLnBrk="1"/>
                      <a:endParaRPr lang="ko-KR" altLang="en-US" sz="6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452105"/>
                  </a:ext>
                </a:extLst>
              </a:tr>
            </a:tbl>
          </a:graphicData>
        </a:graphic>
      </p:graphicFrame>
      <p:sp>
        <p:nvSpPr>
          <p:cNvPr id="3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456754" y="3050569"/>
            <a:ext cx="432000" cy="144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파일추가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922006" y="3050569"/>
            <a:ext cx="432000" cy="144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파일삭제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4" name="표 33"/>
          <p:cNvGraphicFramePr>
            <a:graphicFrameLocks noGrp="1"/>
          </p:cNvGraphicFramePr>
          <p:nvPr>
            <p:extLst/>
          </p:nvPr>
        </p:nvGraphicFramePr>
        <p:xfrm>
          <a:off x="1775604" y="3923294"/>
          <a:ext cx="4553158" cy="365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42">
                  <a:extLst>
                    <a:ext uri="{9D8B030D-6E8A-4147-A177-3AD203B41FA5}">
                      <a16:colId xmlns:a16="http://schemas.microsoft.com/office/drawing/2014/main" val="1407529745"/>
                    </a:ext>
                  </a:extLst>
                </a:gridCol>
                <a:gridCol w="3099405">
                  <a:extLst>
                    <a:ext uri="{9D8B030D-6E8A-4147-A177-3AD203B41FA5}">
                      <a16:colId xmlns:a16="http://schemas.microsoft.com/office/drawing/2014/main" val="1544300979"/>
                    </a:ext>
                  </a:extLst>
                </a:gridCol>
                <a:gridCol w="617281">
                  <a:extLst>
                    <a:ext uri="{9D8B030D-6E8A-4147-A177-3AD203B41FA5}">
                      <a16:colId xmlns:a16="http://schemas.microsoft.com/office/drawing/2014/main" val="2900065581"/>
                    </a:ext>
                  </a:extLst>
                </a:gridCol>
                <a:gridCol w="480830">
                  <a:extLst>
                    <a:ext uri="{9D8B030D-6E8A-4147-A177-3AD203B41FA5}">
                      <a16:colId xmlns:a16="http://schemas.microsoft.com/office/drawing/2014/main" val="1706968747"/>
                    </a:ext>
                  </a:extLst>
                </a:gridCol>
              </a:tblGrid>
              <a:tr h="180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파일명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파일크기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80936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latinLnBrk="1"/>
                      <a:endParaRPr lang="ko-KR" altLang="en-US" sz="6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452105"/>
                  </a:ext>
                </a:extLst>
              </a:tr>
            </a:tbl>
          </a:graphicData>
        </a:graphic>
      </p:graphicFrame>
      <p:sp>
        <p:nvSpPr>
          <p:cNvPr id="3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442902" y="3743294"/>
            <a:ext cx="432000" cy="144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파일추가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908154" y="3743294"/>
            <a:ext cx="432000" cy="144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파일삭제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7" name="표 36"/>
          <p:cNvGraphicFramePr>
            <a:graphicFrameLocks noGrp="1"/>
          </p:cNvGraphicFramePr>
          <p:nvPr>
            <p:extLst/>
          </p:nvPr>
        </p:nvGraphicFramePr>
        <p:xfrm>
          <a:off x="1770064" y="4574457"/>
          <a:ext cx="4553158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42">
                  <a:extLst>
                    <a:ext uri="{9D8B030D-6E8A-4147-A177-3AD203B41FA5}">
                      <a16:colId xmlns:a16="http://schemas.microsoft.com/office/drawing/2014/main" val="1407529745"/>
                    </a:ext>
                  </a:extLst>
                </a:gridCol>
                <a:gridCol w="3099405">
                  <a:extLst>
                    <a:ext uri="{9D8B030D-6E8A-4147-A177-3AD203B41FA5}">
                      <a16:colId xmlns:a16="http://schemas.microsoft.com/office/drawing/2014/main" val="1544300979"/>
                    </a:ext>
                  </a:extLst>
                </a:gridCol>
                <a:gridCol w="617281">
                  <a:extLst>
                    <a:ext uri="{9D8B030D-6E8A-4147-A177-3AD203B41FA5}">
                      <a16:colId xmlns:a16="http://schemas.microsoft.com/office/drawing/2014/main" val="2900065581"/>
                    </a:ext>
                  </a:extLst>
                </a:gridCol>
                <a:gridCol w="480830">
                  <a:extLst>
                    <a:ext uri="{9D8B030D-6E8A-4147-A177-3AD203B41FA5}">
                      <a16:colId xmlns:a16="http://schemas.microsoft.com/office/drawing/2014/main" val="1706968747"/>
                    </a:ext>
                  </a:extLst>
                </a:gridCol>
              </a:tblGrid>
              <a:tr h="180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파일명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파일크기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80936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latinLnBrk="1"/>
                      <a:endParaRPr lang="ko-KR" altLang="en-US" sz="6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45210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latinLnBrk="1"/>
                      <a:endParaRPr lang="ko-KR" altLang="en-US" sz="6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837146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latinLnBrk="1"/>
                      <a:endParaRPr lang="ko-KR" altLang="en-US" sz="6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3298986"/>
                  </a:ext>
                </a:extLst>
              </a:tr>
            </a:tbl>
          </a:graphicData>
        </a:graphic>
      </p:graphicFrame>
      <p:sp>
        <p:nvSpPr>
          <p:cNvPr id="3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437362" y="4394457"/>
            <a:ext cx="432000" cy="144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파일추가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902614" y="4394457"/>
            <a:ext cx="432000" cy="144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파일삭제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933153" y="5610182"/>
            <a:ext cx="504000" cy="180000"/>
          </a:xfrm>
          <a:prstGeom prst="roundRect">
            <a:avLst>
              <a:gd name="adj" fmla="val 10228"/>
            </a:avLst>
          </a:prstGeom>
          <a:solidFill>
            <a:srgbClr val="F7C21A"/>
          </a:solidFill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bg1">
                    <a:lumMod val="9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승인관리</a:t>
            </a:r>
            <a:endParaRPr kumimoji="0" lang="ko-KR" altLang="en-US" sz="800" spc="-100" dirty="0">
              <a:solidFill>
                <a:schemeClr val="bg1">
                  <a:lumMod val="95000"/>
                </a:schemeClr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059045" y="5456627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6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646608" y="2870569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023451" y="2873342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020803" y="249425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14174873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MDD-00060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MDD75MDP007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귀임보고서 및 키워드 등록 파업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감사운영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감사선택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특정감사 클릭 시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(P69,P70: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김태훈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23315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304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귀임보고서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자료 정보를 입력 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347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작성한 귀임보고서 파일을 선택 할 수 있는 팝업 창이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등록할 파일을 선택 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등록된 귀임보고서 파일을 삭제 할 수 있는 버튼이다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 하면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귀임보고서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파일을 등록 할 수 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닫기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귀임보고서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파일이 선택되어 있어도 저장하지 않고 팝업 창을 닫는다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</a:tbl>
          </a:graphicData>
        </a:graphic>
      </p:graphicFrame>
      <p:sp>
        <p:nvSpPr>
          <p:cNvPr id="20" name="타원 1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050436" y="471402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511204" y="4884203"/>
            <a:ext cx="504000" cy="180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닫기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971942" y="4884203"/>
            <a:ext cx="504000" cy="180000"/>
          </a:xfrm>
          <a:prstGeom prst="roundRect">
            <a:avLst>
              <a:gd name="adj" fmla="val 10228"/>
            </a:avLst>
          </a:prstGeom>
          <a:solidFill>
            <a:srgbClr val="F7C21A"/>
          </a:solidFill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bg1">
                    <a:lumMod val="9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spc="-100" dirty="0">
              <a:solidFill>
                <a:schemeClr val="bg1">
                  <a:lumMod val="95000"/>
                </a:schemeClr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0" name="표 29"/>
          <p:cNvGraphicFramePr>
            <a:graphicFrameLocks noGrp="1"/>
          </p:cNvGraphicFramePr>
          <p:nvPr>
            <p:extLst/>
          </p:nvPr>
        </p:nvGraphicFramePr>
        <p:xfrm>
          <a:off x="640762" y="1592808"/>
          <a:ext cx="5897108" cy="30834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2000">
                  <a:extLst>
                    <a:ext uri="{9D8B030D-6E8A-4147-A177-3AD203B41FA5}">
                      <a16:colId xmlns:a16="http://schemas.microsoft.com/office/drawing/2014/main" val="2486140938"/>
                    </a:ext>
                  </a:extLst>
                </a:gridCol>
                <a:gridCol w="1933049">
                  <a:extLst>
                    <a:ext uri="{9D8B030D-6E8A-4147-A177-3AD203B41FA5}">
                      <a16:colId xmlns:a16="http://schemas.microsoft.com/office/drawing/2014/main" val="3260402595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1205990331"/>
                    </a:ext>
                  </a:extLst>
                </a:gridCol>
                <a:gridCol w="2128059">
                  <a:extLst>
                    <a:ext uri="{9D8B030D-6E8A-4147-A177-3AD203B41FA5}">
                      <a16:colId xmlns:a16="http://schemas.microsoft.com/office/drawing/2014/main" val="3033585643"/>
                    </a:ext>
                  </a:extLst>
                </a:gridCol>
              </a:tblGrid>
              <a:tr h="275970">
                <a:tc gridSpan="4">
                  <a:txBody>
                    <a:bodyPr/>
                    <a:lstStyle/>
                    <a:p>
                      <a:pPr latinLnBrk="1"/>
                      <a:r>
                        <a:rPr lang="ko-KR" altLang="en-US" sz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귀임보고서</a:t>
                      </a:r>
                      <a:r>
                        <a:rPr lang="ko-KR" altLang="en-US" sz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등록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01929310"/>
                  </a:ext>
                </a:extLst>
              </a:tr>
              <a:tr h="27597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감사단위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년도 </a:t>
                      </a:r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회차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– </a:t>
                      </a:r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태크그룹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종합감사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018352"/>
                  </a:ext>
                </a:extLst>
              </a:tr>
              <a:tr h="27597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작성자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등록일시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2024-06-05</a:t>
                      </a:r>
                      <a:r>
                        <a:rPr lang="en-US" altLang="ko-KR" sz="10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11:11:11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7934186"/>
                  </a:ext>
                </a:extLst>
              </a:tr>
              <a:tr h="339112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자료내용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귀임보고서</a:t>
                      </a:r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98174742"/>
                  </a:ext>
                </a:extLst>
              </a:tr>
              <a:tr h="27597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귀임보고서첨부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23801193"/>
                  </a:ext>
                </a:extLst>
              </a:tr>
              <a:tr h="27597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관련자료첨부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11163170"/>
                  </a:ext>
                </a:extLst>
              </a:tr>
            </a:tbl>
          </a:graphicData>
        </a:graphic>
      </p:graphicFrame>
      <p:graphicFrame>
        <p:nvGraphicFramePr>
          <p:cNvPr id="31" name="표 30"/>
          <p:cNvGraphicFramePr>
            <a:graphicFrameLocks noGrp="1"/>
          </p:cNvGraphicFramePr>
          <p:nvPr>
            <p:extLst/>
          </p:nvPr>
        </p:nvGraphicFramePr>
        <p:xfrm>
          <a:off x="1789456" y="3230569"/>
          <a:ext cx="4553158" cy="365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42">
                  <a:extLst>
                    <a:ext uri="{9D8B030D-6E8A-4147-A177-3AD203B41FA5}">
                      <a16:colId xmlns:a16="http://schemas.microsoft.com/office/drawing/2014/main" val="1407529745"/>
                    </a:ext>
                  </a:extLst>
                </a:gridCol>
                <a:gridCol w="3099405">
                  <a:extLst>
                    <a:ext uri="{9D8B030D-6E8A-4147-A177-3AD203B41FA5}">
                      <a16:colId xmlns:a16="http://schemas.microsoft.com/office/drawing/2014/main" val="1544300979"/>
                    </a:ext>
                  </a:extLst>
                </a:gridCol>
                <a:gridCol w="617281">
                  <a:extLst>
                    <a:ext uri="{9D8B030D-6E8A-4147-A177-3AD203B41FA5}">
                      <a16:colId xmlns:a16="http://schemas.microsoft.com/office/drawing/2014/main" val="2900065581"/>
                    </a:ext>
                  </a:extLst>
                </a:gridCol>
                <a:gridCol w="480830">
                  <a:extLst>
                    <a:ext uri="{9D8B030D-6E8A-4147-A177-3AD203B41FA5}">
                      <a16:colId xmlns:a16="http://schemas.microsoft.com/office/drawing/2014/main" val="1706968747"/>
                    </a:ext>
                  </a:extLst>
                </a:gridCol>
              </a:tblGrid>
              <a:tr h="180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파일명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파일크기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80936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latinLnBrk="1"/>
                      <a:endParaRPr lang="ko-KR" altLang="en-US" sz="6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452105"/>
                  </a:ext>
                </a:extLst>
              </a:tr>
            </a:tbl>
          </a:graphicData>
        </a:graphic>
      </p:graphicFrame>
      <p:sp>
        <p:nvSpPr>
          <p:cNvPr id="3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456754" y="3050569"/>
            <a:ext cx="432000" cy="144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파일추가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922006" y="3050569"/>
            <a:ext cx="432000" cy="144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파일삭제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7" name="표 36"/>
          <p:cNvGraphicFramePr>
            <a:graphicFrameLocks noGrp="1"/>
          </p:cNvGraphicFramePr>
          <p:nvPr>
            <p:extLst/>
          </p:nvPr>
        </p:nvGraphicFramePr>
        <p:xfrm>
          <a:off x="1778377" y="3884500"/>
          <a:ext cx="4553158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42">
                  <a:extLst>
                    <a:ext uri="{9D8B030D-6E8A-4147-A177-3AD203B41FA5}">
                      <a16:colId xmlns:a16="http://schemas.microsoft.com/office/drawing/2014/main" val="1407529745"/>
                    </a:ext>
                  </a:extLst>
                </a:gridCol>
                <a:gridCol w="3099405">
                  <a:extLst>
                    <a:ext uri="{9D8B030D-6E8A-4147-A177-3AD203B41FA5}">
                      <a16:colId xmlns:a16="http://schemas.microsoft.com/office/drawing/2014/main" val="1544300979"/>
                    </a:ext>
                  </a:extLst>
                </a:gridCol>
                <a:gridCol w="617281">
                  <a:extLst>
                    <a:ext uri="{9D8B030D-6E8A-4147-A177-3AD203B41FA5}">
                      <a16:colId xmlns:a16="http://schemas.microsoft.com/office/drawing/2014/main" val="2900065581"/>
                    </a:ext>
                  </a:extLst>
                </a:gridCol>
                <a:gridCol w="480830">
                  <a:extLst>
                    <a:ext uri="{9D8B030D-6E8A-4147-A177-3AD203B41FA5}">
                      <a16:colId xmlns:a16="http://schemas.microsoft.com/office/drawing/2014/main" val="1706968747"/>
                    </a:ext>
                  </a:extLst>
                </a:gridCol>
              </a:tblGrid>
              <a:tr h="180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파일명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파일크기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80936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latinLnBrk="1"/>
                      <a:endParaRPr lang="ko-KR" altLang="en-US" sz="6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45210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latinLnBrk="1"/>
                      <a:endParaRPr lang="ko-KR" altLang="en-US" sz="6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837146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latinLnBrk="1"/>
                      <a:endParaRPr lang="ko-KR" altLang="en-US" sz="6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3298986"/>
                  </a:ext>
                </a:extLst>
              </a:tr>
            </a:tbl>
          </a:graphicData>
        </a:graphic>
      </p:graphicFrame>
      <p:sp>
        <p:nvSpPr>
          <p:cNvPr id="3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445675" y="3704500"/>
            <a:ext cx="432000" cy="144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파일추가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910927" y="3704500"/>
            <a:ext cx="432000" cy="144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파일삭제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551970" y="4725107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646608" y="2870569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023451" y="2873342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020803" y="249425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30366314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MDD-00060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MDD75MDP000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감사일보 등록 파업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감사운영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감사선택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특정감사 클릭 시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(P69,P70: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김태훈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2581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304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감사일보 활동내용 및 지시 내용을 등록 할 수 있는 팝업 창이다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347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</a:tbl>
          </a:graphicData>
        </a:graphic>
      </p:graphicFrame>
      <p:pic>
        <p:nvPicPr>
          <p:cNvPr id="30" name="그림 2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42962" y="1523406"/>
            <a:ext cx="5491163" cy="4153494"/>
          </a:xfrm>
          <a:prstGeom prst="rect">
            <a:avLst/>
          </a:prstGeom>
        </p:spPr>
      </p:pic>
      <p:sp>
        <p:nvSpPr>
          <p:cNvPr id="34" name="타원 3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837126" y="1347825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93601769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MDD-00060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MDD75MDP000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진행감사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감사운영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감사선택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진행감사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(P69,P70: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김태훈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1097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304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 하면 조회 조건에 현재 진행중인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감사목록이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14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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에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347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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에서 특정 감사를 선택 하고 클릭하면 해당 감사의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진척관리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  연계되어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팝업 창 아님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)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</a:tbl>
          </a:graphicData>
        </a:graphic>
      </p:graphicFrame>
      <p:sp>
        <p:nvSpPr>
          <p:cNvPr id="4" name="양쪽 모서리가 둥근 사각형 3"/>
          <p:cNvSpPr/>
          <p:nvPr/>
        </p:nvSpPr>
        <p:spPr bwMode="auto">
          <a:xfrm>
            <a:off x="264486" y="1129537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900" b="1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진행감사</a:t>
            </a:r>
            <a:endParaRPr kumimoji="0" lang="ko-KR" altLang="en-US" sz="9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/>
          </p:nvPr>
        </p:nvGraphicFramePr>
        <p:xfrm>
          <a:off x="233042" y="1903680"/>
          <a:ext cx="6732902" cy="2773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5350">
                  <a:extLst>
                    <a:ext uri="{9D8B030D-6E8A-4147-A177-3AD203B41FA5}">
                      <a16:colId xmlns:a16="http://schemas.microsoft.com/office/drawing/2014/main" val="2426106912"/>
                    </a:ext>
                  </a:extLst>
                </a:gridCol>
                <a:gridCol w="365760">
                  <a:extLst>
                    <a:ext uri="{9D8B030D-6E8A-4147-A177-3AD203B41FA5}">
                      <a16:colId xmlns:a16="http://schemas.microsoft.com/office/drawing/2014/main" val="157696043"/>
                    </a:ext>
                  </a:extLst>
                </a:gridCol>
                <a:gridCol w="532014">
                  <a:extLst>
                    <a:ext uri="{9D8B030D-6E8A-4147-A177-3AD203B41FA5}">
                      <a16:colId xmlns:a16="http://schemas.microsoft.com/office/drawing/2014/main" val="1421297000"/>
                    </a:ext>
                  </a:extLst>
                </a:gridCol>
                <a:gridCol w="573579">
                  <a:extLst>
                    <a:ext uri="{9D8B030D-6E8A-4147-A177-3AD203B41FA5}">
                      <a16:colId xmlns:a16="http://schemas.microsoft.com/office/drawing/2014/main" val="3582745889"/>
                    </a:ext>
                  </a:extLst>
                </a:gridCol>
                <a:gridCol w="523701">
                  <a:extLst>
                    <a:ext uri="{9D8B030D-6E8A-4147-A177-3AD203B41FA5}">
                      <a16:colId xmlns:a16="http://schemas.microsoft.com/office/drawing/2014/main" val="3292794991"/>
                    </a:ext>
                  </a:extLst>
                </a:gridCol>
                <a:gridCol w="706582">
                  <a:extLst>
                    <a:ext uri="{9D8B030D-6E8A-4147-A177-3AD203B41FA5}">
                      <a16:colId xmlns:a16="http://schemas.microsoft.com/office/drawing/2014/main" val="1828931321"/>
                    </a:ext>
                  </a:extLst>
                </a:gridCol>
                <a:gridCol w="623455">
                  <a:extLst>
                    <a:ext uri="{9D8B030D-6E8A-4147-A177-3AD203B41FA5}">
                      <a16:colId xmlns:a16="http://schemas.microsoft.com/office/drawing/2014/main" val="461435787"/>
                    </a:ext>
                  </a:extLst>
                </a:gridCol>
                <a:gridCol w="964276">
                  <a:extLst>
                    <a:ext uri="{9D8B030D-6E8A-4147-A177-3AD203B41FA5}">
                      <a16:colId xmlns:a16="http://schemas.microsoft.com/office/drawing/2014/main" val="2502540127"/>
                    </a:ext>
                  </a:extLst>
                </a:gridCol>
                <a:gridCol w="706582">
                  <a:extLst>
                    <a:ext uri="{9D8B030D-6E8A-4147-A177-3AD203B41FA5}">
                      <a16:colId xmlns:a16="http://schemas.microsoft.com/office/drawing/2014/main" val="1440062905"/>
                    </a:ext>
                  </a:extLst>
                </a:gridCol>
                <a:gridCol w="709521">
                  <a:extLst>
                    <a:ext uri="{9D8B030D-6E8A-4147-A177-3AD203B41FA5}">
                      <a16:colId xmlns:a16="http://schemas.microsoft.com/office/drawing/2014/main" val="1447650789"/>
                    </a:ext>
                  </a:extLst>
                </a:gridCol>
                <a:gridCol w="612082">
                  <a:extLst>
                    <a:ext uri="{9D8B030D-6E8A-4147-A177-3AD203B41FA5}">
                      <a16:colId xmlns:a16="http://schemas.microsoft.com/office/drawing/2014/main" val="61177697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차수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팀구분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감사종류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감사구분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대표부점코드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대표부점명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감사명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실시시작일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실시종료일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감사역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79101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본점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부문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1706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테크기획부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IT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운영 적정성 점검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....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2024-03-25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2024-04-03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50771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44838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84820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35011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30769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90669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35371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16486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91418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8052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97127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43969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6023375"/>
                  </a:ext>
                </a:extLst>
              </a:tr>
            </a:tbl>
          </a:graphicData>
        </a:graphic>
      </p:graphicFrame>
      <p:graphicFrame>
        <p:nvGraphicFramePr>
          <p:cNvPr id="6" name="내용 개체 틀 121"/>
          <p:cNvGraphicFramePr>
            <a:graphicFrameLocks/>
          </p:cNvGraphicFramePr>
          <p:nvPr>
            <p:extLst/>
          </p:nvPr>
        </p:nvGraphicFramePr>
        <p:xfrm>
          <a:off x="233042" y="1397715"/>
          <a:ext cx="6726396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97736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814647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5114013">
                  <a:extLst>
                    <a:ext uri="{9D8B030D-6E8A-4147-A177-3AD203B41FA5}">
                      <a16:colId xmlns:a16="http://schemas.microsoft.com/office/drawing/2014/main" val="1329683172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감사목록검색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895310" y="1436677"/>
            <a:ext cx="1548000" cy="194211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501296" y="1450888"/>
            <a:ext cx="468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검색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12" name="그룹 11"/>
          <p:cNvGrpSpPr/>
          <p:nvPr/>
        </p:nvGrpSpPr>
        <p:grpSpPr>
          <a:xfrm>
            <a:off x="1077411" y="1436123"/>
            <a:ext cx="688047" cy="180915"/>
            <a:chOff x="1443172" y="2626267"/>
            <a:chExt cx="688047" cy="180915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43172" y="2626267"/>
              <a:ext cx="68804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감사명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11" name="이등변 삼각형 10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2022540" y="2707089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19" name="타원 1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05694" y="1782817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492162" y="128888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07268304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MDD-00060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MDD75MDP001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진행감사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진척관리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감사운영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감사선택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특정감사 클릭 시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(P69,P70: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김태훈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5253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304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프로세스단계는 감사자료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통제절차평가 및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감사진행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347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기타자료등록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 하면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감사자료의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감사실시계획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제출자료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및 감사일정 및 업무분장 항목에 중에 선택된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세부항목에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첨부파일을 등록 할  수 있는 팝업 창이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프로세스스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 단계는 감사자료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통제절차평가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및 감사진행으로 고정이다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감사조서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외 다른 세부단계항목은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한행으로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표시하며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감사조서는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여러건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 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여러건의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행으로 표시한다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문서명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항목을 클릭 하면 선택 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세부단계의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신규 등록 및 등록한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첨부파일 및 내용을 수정 할 있는 팝업 창이 나타난다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각각의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세부단계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항목의 등록 미등록 여부 상태를 보여준다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승인상태는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미승인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승인요청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 완료 단계로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.(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감사조서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감사보고서 및 귀임보고서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감사일보 세부 항목만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승인상태를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표시한다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.)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감사실시통보서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 하면 해당 감사의 감사실시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통보서를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출력 할 수 있는 팝업 창이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243395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감사실시계획등록 팝업으로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파일추가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클릭 후 등록 파일 선택 후 등록 버튼을 클릭하면 첨부파일이 등록된다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1278944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제출자료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 팝업으로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파일추가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클릭 후 등록 파일 선택 후 등록 버튼을 클릭하면 첨부파일이 등록된다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26235888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감사일정 및 업무분장 등록 팝업으로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파일추가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클릭 후 등록 파일 선택 후 등록 버튼을 클릭하면 첨부파일이 등록된다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643442"/>
                  </a:ext>
                </a:extLst>
              </a:tr>
            </a:tbl>
          </a:graphicData>
        </a:graphic>
      </p:graphicFrame>
      <p:graphicFrame>
        <p:nvGraphicFramePr>
          <p:cNvPr id="4" name="표 3"/>
          <p:cNvGraphicFramePr>
            <a:graphicFrameLocks noGrp="1"/>
          </p:cNvGraphicFramePr>
          <p:nvPr>
            <p:extLst/>
          </p:nvPr>
        </p:nvGraphicFramePr>
        <p:xfrm>
          <a:off x="233042" y="1782300"/>
          <a:ext cx="6732902" cy="2133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47860">
                  <a:extLst>
                    <a:ext uri="{9D8B030D-6E8A-4147-A177-3AD203B41FA5}">
                      <a16:colId xmlns:a16="http://schemas.microsoft.com/office/drawing/2014/main" val="2426106912"/>
                    </a:ext>
                  </a:extLst>
                </a:gridCol>
                <a:gridCol w="1047403">
                  <a:extLst>
                    <a:ext uri="{9D8B030D-6E8A-4147-A177-3AD203B41FA5}">
                      <a16:colId xmlns:a16="http://schemas.microsoft.com/office/drawing/2014/main" val="157696043"/>
                    </a:ext>
                  </a:extLst>
                </a:gridCol>
                <a:gridCol w="2660073">
                  <a:extLst>
                    <a:ext uri="{9D8B030D-6E8A-4147-A177-3AD203B41FA5}">
                      <a16:colId xmlns:a16="http://schemas.microsoft.com/office/drawing/2014/main" val="1421297000"/>
                    </a:ext>
                  </a:extLst>
                </a:gridCol>
                <a:gridCol w="565266">
                  <a:extLst>
                    <a:ext uri="{9D8B030D-6E8A-4147-A177-3AD203B41FA5}">
                      <a16:colId xmlns:a16="http://schemas.microsoft.com/office/drawing/2014/main" val="3582745889"/>
                    </a:ext>
                  </a:extLst>
                </a:gridCol>
                <a:gridCol w="565265">
                  <a:extLst>
                    <a:ext uri="{9D8B030D-6E8A-4147-A177-3AD203B41FA5}">
                      <a16:colId xmlns:a16="http://schemas.microsoft.com/office/drawing/2014/main" val="3292794991"/>
                    </a:ext>
                  </a:extLst>
                </a:gridCol>
                <a:gridCol w="515389">
                  <a:extLst>
                    <a:ext uri="{9D8B030D-6E8A-4147-A177-3AD203B41FA5}">
                      <a16:colId xmlns:a16="http://schemas.microsoft.com/office/drawing/2014/main" val="2519424080"/>
                    </a:ext>
                  </a:extLst>
                </a:gridCol>
                <a:gridCol w="631646">
                  <a:extLst>
                    <a:ext uri="{9D8B030D-6E8A-4147-A177-3AD203B41FA5}">
                      <a16:colId xmlns:a16="http://schemas.microsoft.com/office/drawing/2014/main" val="182893132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단계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세부단계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문서명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작성자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등록일시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상태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승인상태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79101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감사자료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감사실시계획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2024_3_</a:t>
                      </a:r>
                      <a:r>
                        <a:rPr lang="ko-KR" altLang="en-US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  <a:r>
                        <a:rPr lang="en-US" altLang="ko-KR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_</a:t>
                      </a:r>
                      <a:r>
                        <a:rPr lang="ko-KR" altLang="en-US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부문</a:t>
                      </a:r>
                      <a:r>
                        <a:rPr lang="en-US" altLang="ko-KR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_</a:t>
                      </a:r>
                      <a:r>
                        <a:rPr lang="ko-KR" altLang="en-US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감사실시계획서</a:t>
                      </a:r>
                      <a:endParaRPr lang="ko-KR" altLang="en-US" sz="800" b="1" dirty="0">
                        <a:solidFill>
                          <a:srgbClr val="2272F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50771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제출자료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2024_3_</a:t>
                      </a:r>
                      <a:r>
                        <a:rPr lang="ko-KR" altLang="en-US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  <a:r>
                        <a:rPr lang="en-US" altLang="ko-KR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_</a:t>
                      </a:r>
                      <a:r>
                        <a:rPr lang="ko-KR" altLang="en-US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부문</a:t>
                      </a:r>
                      <a:r>
                        <a:rPr lang="en-US" altLang="ko-KR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_</a:t>
                      </a:r>
                      <a:r>
                        <a:rPr lang="ko-KR" altLang="en-US" sz="800" b="1" dirty="0" err="1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제출자료</a:t>
                      </a:r>
                      <a:endParaRPr lang="ko-KR" altLang="en-US" sz="800" b="1" dirty="0">
                        <a:solidFill>
                          <a:srgbClr val="2272F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44838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감사일정 및 업무분장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2024_3_</a:t>
                      </a:r>
                      <a:r>
                        <a:rPr lang="ko-KR" altLang="en-US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  <a:r>
                        <a:rPr lang="en-US" altLang="ko-KR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_</a:t>
                      </a:r>
                      <a:r>
                        <a:rPr lang="ko-KR" altLang="en-US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부문</a:t>
                      </a:r>
                      <a:r>
                        <a:rPr lang="en-US" altLang="ko-KR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_</a:t>
                      </a:r>
                      <a:r>
                        <a:rPr lang="ko-KR" altLang="en-US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업무분장</a:t>
                      </a:r>
                      <a:endParaRPr lang="ko-KR" altLang="en-US" sz="800" b="1" dirty="0">
                        <a:solidFill>
                          <a:srgbClr val="2272F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6131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통제절차평가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감사조서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2024_3_</a:t>
                      </a:r>
                      <a:r>
                        <a:rPr lang="ko-KR" altLang="en-US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  <a:r>
                        <a:rPr lang="en-US" altLang="ko-KR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_</a:t>
                      </a:r>
                      <a:r>
                        <a:rPr lang="ko-KR" altLang="en-US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부문</a:t>
                      </a:r>
                      <a:r>
                        <a:rPr lang="en-US" altLang="ko-KR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_</a:t>
                      </a:r>
                      <a:r>
                        <a:rPr lang="ko-KR" altLang="en-US" sz="800" b="1" dirty="0" err="1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감사조서</a:t>
                      </a:r>
                      <a:endParaRPr lang="ko-KR" altLang="en-US" sz="800" b="1" dirty="0">
                        <a:solidFill>
                          <a:srgbClr val="2272F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미승인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84820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감사조서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35011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감사보고서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30769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요약보고서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83141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귀임보고서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7708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감사진행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감사일보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4930387"/>
                  </a:ext>
                </a:extLst>
              </a:tr>
            </a:tbl>
          </a:graphicData>
        </a:graphic>
      </p:graphicFrame>
      <p:graphicFrame>
        <p:nvGraphicFramePr>
          <p:cNvPr id="5" name="내용 개체 틀 121"/>
          <p:cNvGraphicFramePr>
            <a:graphicFrameLocks/>
          </p:cNvGraphicFramePr>
          <p:nvPr>
            <p:extLst/>
          </p:nvPr>
        </p:nvGraphicFramePr>
        <p:xfrm>
          <a:off x="233042" y="1217587"/>
          <a:ext cx="6726397" cy="432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55209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473769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473769">
                  <a:extLst>
                    <a:ext uri="{9D8B030D-6E8A-4147-A177-3AD203B41FA5}">
                      <a16:colId xmlns:a16="http://schemas.microsoft.com/office/drawing/2014/main" val="2621545262"/>
                    </a:ext>
                  </a:extLst>
                </a:gridCol>
                <a:gridCol w="682473">
                  <a:extLst>
                    <a:ext uri="{9D8B030D-6E8A-4147-A177-3AD203B41FA5}">
                      <a16:colId xmlns:a16="http://schemas.microsoft.com/office/drawing/2014/main" val="3462470828"/>
                    </a:ext>
                  </a:extLst>
                </a:gridCol>
                <a:gridCol w="789709">
                  <a:extLst>
                    <a:ext uri="{9D8B030D-6E8A-4147-A177-3AD203B41FA5}">
                      <a16:colId xmlns:a16="http://schemas.microsoft.com/office/drawing/2014/main" val="1434998030"/>
                    </a:ext>
                  </a:extLst>
                </a:gridCol>
                <a:gridCol w="581891">
                  <a:extLst>
                    <a:ext uri="{9D8B030D-6E8A-4147-A177-3AD203B41FA5}">
                      <a16:colId xmlns:a16="http://schemas.microsoft.com/office/drawing/2014/main" val="543828912"/>
                    </a:ext>
                  </a:extLst>
                </a:gridCol>
                <a:gridCol w="2869577">
                  <a:extLst>
                    <a:ext uri="{9D8B030D-6E8A-4147-A177-3AD203B41FA5}">
                      <a16:colId xmlns:a16="http://schemas.microsoft.com/office/drawing/2014/main" val="3578717184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baseline="0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800" b="0" i="0" u="none" strike="noStrike" baseline="0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선택한 </a:t>
                      </a:r>
                      <a:r>
                        <a:rPr lang="ko-KR" altLang="en-US" sz="800" b="0" i="0" u="none" strike="noStrike" baseline="0" dirty="0" err="1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감사목록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34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</a:p>
                  </a:txBody>
                  <a:tcPr marL="3218" marR="3218" marT="3218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부문감사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테크기획부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IT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운영 적정성 점검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……..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프로세스 단계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77572011"/>
                  </a:ext>
                </a:extLst>
              </a:tr>
            </a:tbl>
          </a:graphicData>
        </a:graphic>
      </p:graphicFrame>
      <p:sp>
        <p:nvSpPr>
          <p:cNvPr id="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251780" y="1443571"/>
            <a:ext cx="610527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감사실시 통보서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590598" y="1443571"/>
            <a:ext cx="610527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기타자료</a:t>
            </a:r>
            <a:r>
              <a:rPr kumimoji="0" lang="ko-KR" altLang="en-US" sz="800" b="0" i="0" u="none" strike="noStrike" kern="1200" cap="none" spc="-1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 </a:t>
            </a: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등록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8" name="그룹 7"/>
          <p:cNvGrpSpPr/>
          <p:nvPr/>
        </p:nvGrpSpPr>
        <p:grpSpPr>
          <a:xfrm>
            <a:off x="1185075" y="1457726"/>
            <a:ext cx="645876" cy="180915"/>
            <a:chOff x="1417837" y="4018047"/>
            <a:chExt cx="645876" cy="180915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17837" y="4018047"/>
              <a:ext cx="645876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전체</a:t>
              </a:r>
              <a:endParaRPr kumimoji="0" lang="ko-KR" altLang="en-US" sz="10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10" name="이등변 삼각형 9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1930700" y="4090556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1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143587" y="3728793"/>
            <a:ext cx="610527" cy="144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감사일보</a:t>
            </a:r>
            <a:endParaRPr kumimoji="0" lang="ko-KR" altLang="en-US" sz="7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104075" y="1368235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602230" y="1287902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758681" y="1811652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742351" y="181441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889806" y="2249451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814861" y="168000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6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349055" y="168467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7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277008" y="1280121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8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23" name="그룹 22"/>
          <p:cNvGrpSpPr/>
          <p:nvPr/>
        </p:nvGrpSpPr>
        <p:grpSpPr>
          <a:xfrm>
            <a:off x="433987" y="4217567"/>
            <a:ext cx="2527900" cy="1584717"/>
            <a:chOff x="433987" y="4217567"/>
            <a:chExt cx="2527900" cy="1584717"/>
          </a:xfrm>
        </p:grpSpPr>
        <p:pic>
          <p:nvPicPr>
            <p:cNvPr id="19" name="그림 18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433987" y="4217567"/>
              <a:ext cx="2527900" cy="1584717"/>
            </a:xfrm>
            <a:prstGeom prst="rect">
              <a:avLst/>
            </a:prstGeom>
            <a:ln>
              <a:solidFill>
                <a:schemeClr val="tx1"/>
              </a:solidFill>
            </a:ln>
          </p:spPr>
        </p:pic>
        <p:sp>
          <p:nvSpPr>
            <p:cNvPr id="22" name="TextBox 21"/>
            <p:cNvSpPr txBox="1"/>
            <p:nvPr/>
          </p:nvSpPr>
          <p:spPr>
            <a:xfrm>
              <a:off x="433987" y="4217567"/>
              <a:ext cx="651140" cy="169277"/>
            </a:xfrm>
            <a:prstGeom prst="rect">
              <a:avLst/>
            </a:prstGeom>
            <a:solidFill>
              <a:srgbClr val="A29D9A"/>
            </a:solidFill>
          </p:spPr>
          <p:txBody>
            <a:bodyPr wrap="none" rtlCol="0" anchor="ctr" anchorCtr="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5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감사실시계획 등록</a:t>
              </a:r>
            </a:p>
          </p:txBody>
        </p:sp>
      </p:grpSp>
      <p:grpSp>
        <p:nvGrpSpPr>
          <p:cNvPr id="25" name="그룹 24"/>
          <p:cNvGrpSpPr/>
          <p:nvPr/>
        </p:nvGrpSpPr>
        <p:grpSpPr>
          <a:xfrm>
            <a:off x="2332290" y="4789067"/>
            <a:ext cx="2527900" cy="1584717"/>
            <a:chOff x="433987" y="4217567"/>
            <a:chExt cx="2527900" cy="1584717"/>
          </a:xfrm>
        </p:grpSpPr>
        <p:pic>
          <p:nvPicPr>
            <p:cNvPr id="26" name="그림 25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433987" y="4217567"/>
              <a:ext cx="2527900" cy="1584717"/>
            </a:xfrm>
            <a:prstGeom prst="rect">
              <a:avLst/>
            </a:prstGeom>
            <a:ln>
              <a:solidFill>
                <a:schemeClr val="tx1"/>
              </a:solidFill>
            </a:ln>
          </p:spPr>
        </p:pic>
        <p:sp>
          <p:nvSpPr>
            <p:cNvPr id="27" name="TextBox 26"/>
            <p:cNvSpPr txBox="1"/>
            <p:nvPr/>
          </p:nvSpPr>
          <p:spPr>
            <a:xfrm>
              <a:off x="433987" y="4217567"/>
              <a:ext cx="538930" cy="169277"/>
            </a:xfrm>
            <a:prstGeom prst="rect">
              <a:avLst/>
            </a:prstGeom>
            <a:solidFill>
              <a:srgbClr val="A29D9A"/>
            </a:solidFill>
          </p:spPr>
          <p:txBody>
            <a:bodyPr wrap="none" rtlCol="0" anchor="ctr" anchorCtr="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5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제출자료</a:t>
              </a:r>
              <a:r>
                <a:rPr kumimoji="1" lang="ko-KR" altLang="en-US" sz="5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등록</a:t>
              </a:r>
            </a:p>
          </p:txBody>
        </p:sp>
      </p:grpSp>
      <p:grpSp>
        <p:nvGrpSpPr>
          <p:cNvPr id="29" name="그룹 28"/>
          <p:cNvGrpSpPr/>
          <p:nvPr/>
        </p:nvGrpSpPr>
        <p:grpSpPr>
          <a:xfrm>
            <a:off x="4292435" y="4189717"/>
            <a:ext cx="2527900" cy="1584717"/>
            <a:chOff x="433987" y="4217567"/>
            <a:chExt cx="2527900" cy="1584717"/>
          </a:xfrm>
        </p:grpSpPr>
        <p:pic>
          <p:nvPicPr>
            <p:cNvPr id="30" name="그림 29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433987" y="4217567"/>
              <a:ext cx="2527900" cy="1584717"/>
            </a:xfrm>
            <a:prstGeom prst="rect">
              <a:avLst/>
            </a:prstGeom>
            <a:ln>
              <a:solidFill>
                <a:schemeClr val="tx1"/>
              </a:solidFill>
            </a:ln>
          </p:spPr>
        </p:pic>
        <p:sp>
          <p:nvSpPr>
            <p:cNvPr id="31" name="TextBox 30"/>
            <p:cNvSpPr txBox="1"/>
            <p:nvPr/>
          </p:nvSpPr>
          <p:spPr>
            <a:xfrm>
              <a:off x="433987" y="4217567"/>
              <a:ext cx="854721" cy="169277"/>
            </a:xfrm>
            <a:prstGeom prst="rect">
              <a:avLst/>
            </a:prstGeom>
            <a:solidFill>
              <a:srgbClr val="A29D9A"/>
            </a:solidFill>
          </p:spPr>
          <p:txBody>
            <a:bodyPr wrap="none" rtlCol="0" anchor="ctr" anchorCtr="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5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감사일정 및 업무분장 등록</a:t>
              </a:r>
            </a:p>
          </p:txBody>
        </p:sp>
      </p:grpSp>
      <p:sp>
        <p:nvSpPr>
          <p:cNvPr id="32" name="타원 3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195577" y="411535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9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226462" y="4108717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11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096135" y="4711705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10</a:t>
            </a:r>
            <a:endParaRPr kumimoji="1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9081593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MDD-00060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MDD75MDP005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감사조서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및 키워드 등록 파업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감사운영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감사선택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특정감사 클릭 시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(P69,P70: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김태훈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27635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304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감사조서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정보를 입력 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347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작성한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감사조서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 파일을 선택 할 수 있는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팝업창이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등록할 파일을 선택 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감사조서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파일을 삭제 할 수 있는 버튼이다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승인관리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감사조서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등록하고 승인요청 및 승인 내역을 관리 하는 팝업 창이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 하면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감사조서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파일을 등록 할 수 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닫기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감사조서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파일이 선택되어 있어도 저장하지 않고 팝업 창을 닫는다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2003979"/>
                  </a:ext>
                </a:extLst>
              </a:tr>
            </a:tbl>
          </a:graphicData>
        </a:graphic>
      </p:graphicFrame>
      <p:sp>
        <p:nvSpPr>
          <p:cNvPr id="20" name="타원 1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557511" y="4755587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018279" y="4925766"/>
            <a:ext cx="504000" cy="180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닫기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479017" y="4925766"/>
            <a:ext cx="504000" cy="180000"/>
          </a:xfrm>
          <a:prstGeom prst="roundRect">
            <a:avLst>
              <a:gd name="adj" fmla="val 10228"/>
            </a:avLst>
          </a:prstGeom>
          <a:solidFill>
            <a:srgbClr val="F7C21A"/>
          </a:solidFill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bg1">
                    <a:lumMod val="9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spc="-100" dirty="0">
              <a:solidFill>
                <a:schemeClr val="bg1">
                  <a:lumMod val="95000"/>
                </a:schemeClr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964260" y="4760946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4" name="표 23"/>
          <p:cNvGraphicFramePr>
            <a:graphicFrameLocks noGrp="1"/>
          </p:cNvGraphicFramePr>
          <p:nvPr/>
        </p:nvGraphicFramePr>
        <p:xfrm>
          <a:off x="640762" y="1592808"/>
          <a:ext cx="5897108" cy="30834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2000">
                  <a:extLst>
                    <a:ext uri="{9D8B030D-6E8A-4147-A177-3AD203B41FA5}">
                      <a16:colId xmlns:a16="http://schemas.microsoft.com/office/drawing/2014/main" val="2486140938"/>
                    </a:ext>
                  </a:extLst>
                </a:gridCol>
                <a:gridCol w="1933049">
                  <a:extLst>
                    <a:ext uri="{9D8B030D-6E8A-4147-A177-3AD203B41FA5}">
                      <a16:colId xmlns:a16="http://schemas.microsoft.com/office/drawing/2014/main" val="3260402595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1205990331"/>
                    </a:ext>
                  </a:extLst>
                </a:gridCol>
                <a:gridCol w="2128059">
                  <a:extLst>
                    <a:ext uri="{9D8B030D-6E8A-4147-A177-3AD203B41FA5}">
                      <a16:colId xmlns:a16="http://schemas.microsoft.com/office/drawing/2014/main" val="3033585643"/>
                    </a:ext>
                  </a:extLst>
                </a:gridCol>
              </a:tblGrid>
              <a:tr h="275970">
                <a:tc gridSpan="4">
                  <a:txBody>
                    <a:bodyPr/>
                    <a:lstStyle/>
                    <a:p>
                      <a:pPr latinLnBrk="1"/>
                      <a:r>
                        <a:rPr lang="ko-KR" altLang="en-US" sz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감사조서</a:t>
                      </a:r>
                      <a:r>
                        <a:rPr lang="ko-KR" altLang="en-US" sz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등록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01929310"/>
                  </a:ext>
                </a:extLst>
              </a:tr>
              <a:tr h="27597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감사단위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년도 </a:t>
                      </a:r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회차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– </a:t>
                      </a:r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태크그룹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종합감사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018352"/>
                  </a:ext>
                </a:extLst>
              </a:tr>
              <a:tr h="27597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작성자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등록일시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2024-06-05</a:t>
                      </a:r>
                      <a:r>
                        <a:rPr lang="en-US" altLang="ko-KR" sz="10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11:11:11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7934186"/>
                  </a:ext>
                </a:extLst>
              </a:tr>
              <a:tr h="339112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자료내용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감사조서</a:t>
                      </a:r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98174742"/>
                  </a:ext>
                </a:extLst>
              </a:tr>
              <a:tr h="27597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감사조서첨부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23801193"/>
                  </a:ext>
                </a:extLst>
              </a:tr>
              <a:tr h="27597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관련자료첨부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11163170"/>
                  </a:ext>
                </a:extLst>
              </a:tr>
            </a:tbl>
          </a:graphicData>
        </a:graphic>
      </p:graphicFrame>
      <p:graphicFrame>
        <p:nvGraphicFramePr>
          <p:cNvPr id="30" name="표 29"/>
          <p:cNvGraphicFramePr>
            <a:graphicFrameLocks noGrp="1"/>
          </p:cNvGraphicFramePr>
          <p:nvPr/>
        </p:nvGraphicFramePr>
        <p:xfrm>
          <a:off x="1789456" y="3230569"/>
          <a:ext cx="4553158" cy="365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42">
                  <a:extLst>
                    <a:ext uri="{9D8B030D-6E8A-4147-A177-3AD203B41FA5}">
                      <a16:colId xmlns:a16="http://schemas.microsoft.com/office/drawing/2014/main" val="1407529745"/>
                    </a:ext>
                  </a:extLst>
                </a:gridCol>
                <a:gridCol w="3099405">
                  <a:extLst>
                    <a:ext uri="{9D8B030D-6E8A-4147-A177-3AD203B41FA5}">
                      <a16:colId xmlns:a16="http://schemas.microsoft.com/office/drawing/2014/main" val="1544300979"/>
                    </a:ext>
                  </a:extLst>
                </a:gridCol>
                <a:gridCol w="617281">
                  <a:extLst>
                    <a:ext uri="{9D8B030D-6E8A-4147-A177-3AD203B41FA5}">
                      <a16:colId xmlns:a16="http://schemas.microsoft.com/office/drawing/2014/main" val="2900065581"/>
                    </a:ext>
                  </a:extLst>
                </a:gridCol>
                <a:gridCol w="480830">
                  <a:extLst>
                    <a:ext uri="{9D8B030D-6E8A-4147-A177-3AD203B41FA5}">
                      <a16:colId xmlns:a16="http://schemas.microsoft.com/office/drawing/2014/main" val="1706968747"/>
                    </a:ext>
                  </a:extLst>
                </a:gridCol>
              </a:tblGrid>
              <a:tr h="180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파일명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파일크기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80936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latinLnBrk="1"/>
                      <a:endParaRPr lang="ko-KR" altLang="en-US" sz="6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452105"/>
                  </a:ext>
                </a:extLst>
              </a:tr>
            </a:tbl>
          </a:graphicData>
        </a:graphic>
      </p:graphicFrame>
      <p:sp>
        <p:nvSpPr>
          <p:cNvPr id="3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456754" y="3050569"/>
            <a:ext cx="432000" cy="144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파일추가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922006" y="3050569"/>
            <a:ext cx="432000" cy="144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파일삭제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6" name="표 35"/>
          <p:cNvGraphicFramePr>
            <a:graphicFrameLocks noGrp="1"/>
          </p:cNvGraphicFramePr>
          <p:nvPr/>
        </p:nvGraphicFramePr>
        <p:xfrm>
          <a:off x="1770064" y="3884500"/>
          <a:ext cx="4553158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42">
                  <a:extLst>
                    <a:ext uri="{9D8B030D-6E8A-4147-A177-3AD203B41FA5}">
                      <a16:colId xmlns:a16="http://schemas.microsoft.com/office/drawing/2014/main" val="1407529745"/>
                    </a:ext>
                  </a:extLst>
                </a:gridCol>
                <a:gridCol w="3099405">
                  <a:extLst>
                    <a:ext uri="{9D8B030D-6E8A-4147-A177-3AD203B41FA5}">
                      <a16:colId xmlns:a16="http://schemas.microsoft.com/office/drawing/2014/main" val="1544300979"/>
                    </a:ext>
                  </a:extLst>
                </a:gridCol>
                <a:gridCol w="617281">
                  <a:extLst>
                    <a:ext uri="{9D8B030D-6E8A-4147-A177-3AD203B41FA5}">
                      <a16:colId xmlns:a16="http://schemas.microsoft.com/office/drawing/2014/main" val="2900065581"/>
                    </a:ext>
                  </a:extLst>
                </a:gridCol>
                <a:gridCol w="480830">
                  <a:extLst>
                    <a:ext uri="{9D8B030D-6E8A-4147-A177-3AD203B41FA5}">
                      <a16:colId xmlns:a16="http://schemas.microsoft.com/office/drawing/2014/main" val="1706968747"/>
                    </a:ext>
                  </a:extLst>
                </a:gridCol>
              </a:tblGrid>
              <a:tr h="180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파일명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파일크기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80936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latinLnBrk="1"/>
                      <a:endParaRPr lang="ko-KR" altLang="en-US" sz="6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45210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latinLnBrk="1"/>
                      <a:endParaRPr lang="ko-KR" altLang="en-US" sz="6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837146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latinLnBrk="1"/>
                      <a:endParaRPr lang="ko-KR" altLang="en-US" sz="6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3298986"/>
                  </a:ext>
                </a:extLst>
              </a:tr>
            </a:tbl>
          </a:graphicData>
        </a:graphic>
      </p:graphicFrame>
      <p:sp>
        <p:nvSpPr>
          <p:cNvPr id="3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437362" y="3704500"/>
            <a:ext cx="432000" cy="144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파일추가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902614" y="3704500"/>
            <a:ext cx="432000" cy="144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파일삭제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933153" y="4920225"/>
            <a:ext cx="504000" cy="180000"/>
          </a:xfrm>
          <a:prstGeom prst="roundRect">
            <a:avLst>
              <a:gd name="adj" fmla="val 10228"/>
            </a:avLst>
          </a:prstGeom>
          <a:solidFill>
            <a:srgbClr val="F7C21A"/>
          </a:solidFill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bg1">
                    <a:lumMod val="9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승인관리</a:t>
            </a:r>
            <a:endParaRPr kumimoji="0" lang="ko-KR" altLang="en-US" sz="800" spc="-100" dirty="0">
              <a:solidFill>
                <a:schemeClr val="bg1">
                  <a:lumMod val="95000"/>
                </a:schemeClr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059045" y="4766670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6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646608" y="2870569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023451" y="2873342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020803" y="249425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83208614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MDD-00060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MDD75MDP006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감사보고서 및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요약보고서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등록 팝업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감사운영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감사선택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특정감사 클릭 시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(P69,P70: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김태훈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2845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304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감사보고서 및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요약보고서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자료 내용의 정보를 입력한다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347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작성한 감사보고서 파일을 선택 할 수 있는 팝업 창이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등록할 파일을 선택 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등록된 감사보고서 파일을 삭제 할 수 있는 버튼이다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승인관리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감사보고서 및 요약보고서를 등록하고 승인요청 및 승인 내역을 관리 하는 팝업 창이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감사보고서 및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요약보고서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파일을 등록 할 수 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닫기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감사보고서 및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요약보고서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파일이 선택되어 있어도 저장하지 않고 팝업 창을 닫는다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</a:tbl>
          </a:graphicData>
        </a:graphic>
      </p:graphicFrame>
      <p:sp>
        <p:nvSpPr>
          <p:cNvPr id="6" name="타원 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557511" y="544554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018279" y="5615723"/>
            <a:ext cx="504000" cy="180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닫기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479017" y="5615723"/>
            <a:ext cx="504000" cy="180000"/>
          </a:xfrm>
          <a:prstGeom prst="roundRect">
            <a:avLst>
              <a:gd name="adj" fmla="val 10228"/>
            </a:avLst>
          </a:prstGeom>
          <a:solidFill>
            <a:srgbClr val="F7C21A"/>
          </a:solidFill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bg1">
                    <a:lumMod val="9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spc="-100" dirty="0">
              <a:solidFill>
                <a:schemeClr val="bg1">
                  <a:lumMod val="95000"/>
                </a:schemeClr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964260" y="5450903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30" name="표 29"/>
          <p:cNvGraphicFramePr>
            <a:graphicFrameLocks noGrp="1"/>
          </p:cNvGraphicFramePr>
          <p:nvPr/>
        </p:nvGraphicFramePr>
        <p:xfrm>
          <a:off x="640762" y="1592808"/>
          <a:ext cx="5897108" cy="37844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2000">
                  <a:extLst>
                    <a:ext uri="{9D8B030D-6E8A-4147-A177-3AD203B41FA5}">
                      <a16:colId xmlns:a16="http://schemas.microsoft.com/office/drawing/2014/main" val="2486140938"/>
                    </a:ext>
                  </a:extLst>
                </a:gridCol>
                <a:gridCol w="1933049">
                  <a:extLst>
                    <a:ext uri="{9D8B030D-6E8A-4147-A177-3AD203B41FA5}">
                      <a16:colId xmlns:a16="http://schemas.microsoft.com/office/drawing/2014/main" val="3260402595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1205990331"/>
                    </a:ext>
                  </a:extLst>
                </a:gridCol>
                <a:gridCol w="2128059">
                  <a:extLst>
                    <a:ext uri="{9D8B030D-6E8A-4147-A177-3AD203B41FA5}">
                      <a16:colId xmlns:a16="http://schemas.microsoft.com/office/drawing/2014/main" val="3033585643"/>
                    </a:ext>
                  </a:extLst>
                </a:gridCol>
              </a:tblGrid>
              <a:tr h="275970">
                <a:tc gridSpan="4">
                  <a:txBody>
                    <a:bodyPr/>
                    <a:lstStyle/>
                    <a:p>
                      <a:pPr latinLnBrk="1"/>
                      <a:r>
                        <a:rPr lang="ko-KR" altLang="en-US" sz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감사보고서 및 </a:t>
                      </a:r>
                      <a:r>
                        <a:rPr lang="ko-KR" altLang="en-US" sz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요약보고서</a:t>
                      </a:r>
                      <a:r>
                        <a:rPr lang="ko-KR" altLang="en-US" sz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등록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01929310"/>
                  </a:ext>
                </a:extLst>
              </a:tr>
              <a:tr h="27597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감사단위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년도 </a:t>
                      </a:r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회차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– </a:t>
                      </a:r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태크그룹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종합감사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018352"/>
                  </a:ext>
                </a:extLst>
              </a:tr>
              <a:tr h="27597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작성자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등록일시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2024-06-05</a:t>
                      </a:r>
                      <a:r>
                        <a:rPr lang="en-US" altLang="ko-KR" sz="10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11:11:11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7934186"/>
                  </a:ext>
                </a:extLst>
              </a:tr>
              <a:tr h="339112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자료내용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감사보고서 및 </a:t>
                      </a:r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요약보고서</a:t>
                      </a:r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98174742"/>
                  </a:ext>
                </a:extLst>
              </a:tr>
              <a:tr h="27597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감사보고서첨부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23801193"/>
                  </a:ext>
                </a:extLst>
              </a:tr>
              <a:tr h="27597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요약보고서첨부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16114250"/>
                  </a:ext>
                </a:extLst>
              </a:tr>
              <a:tr h="27597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관련자료첨부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11163170"/>
                  </a:ext>
                </a:extLst>
              </a:tr>
            </a:tbl>
          </a:graphicData>
        </a:graphic>
      </p:graphicFrame>
      <p:graphicFrame>
        <p:nvGraphicFramePr>
          <p:cNvPr id="31" name="표 30"/>
          <p:cNvGraphicFramePr>
            <a:graphicFrameLocks noGrp="1"/>
          </p:cNvGraphicFramePr>
          <p:nvPr/>
        </p:nvGraphicFramePr>
        <p:xfrm>
          <a:off x="1789456" y="3230569"/>
          <a:ext cx="4553158" cy="365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42">
                  <a:extLst>
                    <a:ext uri="{9D8B030D-6E8A-4147-A177-3AD203B41FA5}">
                      <a16:colId xmlns:a16="http://schemas.microsoft.com/office/drawing/2014/main" val="1407529745"/>
                    </a:ext>
                  </a:extLst>
                </a:gridCol>
                <a:gridCol w="3099405">
                  <a:extLst>
                    <a:ext uri="{9D8B030D-6E8A-4147-A177-3AD203B41FA5}">
                      <a16:colId xmlns:a16="http://schemas.microsoft.com/office/drawing/2014/main" val="1544300979"/>
                    </a:ext>
                  </a:extLst>
                </a:gridCol>
                <a:gridCol w="617281">
                  <a:extLst>
                    <a:ext uri="{9D8B030D-6E8A-4147-A177-3AD203B41FA5}">
                      <a16:colId xmlns:a16="http://schemas.microsoft.com/office/drawing/2014/main" val="2900065581"/>
                    </a:ext>
                  </a:extLst>
                </a:gridCol>
                <a:gridCol w="480830">
                  <a:extLst>
                    <a:ext uri="{9D8B030D-6E8A-4147-A177-3AD203B41FA5}">
                      <a16:colId xmlns:a16="http://schemas.microsoft.com/office/drawing/2014/main" val="1706968747"/>
                    </a:ext>
                  </a:extLst>
                </a:gridCol>
              </a:tblGrid>
              <a:tr h="180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파일명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파일크기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80936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latinLnBrk="1"/>
                      <a:endParaRPr lang="ko-KR" altLang="en-US" sz="6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452105"/>
                  </a:ext>
                </a:extLst>
              </a:tr>
            </a:tbl>
          </a:graphicData>
        </a:graphic>
      </p:graphicFrame>
      <p:sp>
        <p:nvSpPr>
          <p:cNvPr id="3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456754" y="3050569"/>
            <a:ext cx="432000" cy="144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파일추가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922006" y="3050569"/>
            <a:ext cx="432000" cy="144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파일삭제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4" name="표 33"/>
          <p:cNvGraphicFramePr>
            <a:graphicFrameLocks noGrp="1"/>
          </p:cNvGraphicFramePr>
          <p:nvPr/>
        </p:nvGraphicFramePr>
        <p:xfrm>
          <a:off x="1775604" y="3923294"/>
          <a:ext cx="4553158" cy="365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42">
                  <a:extLst>
                    <a:ext uri="{9D8B030D-6E8A-4147-A177-3AD203B41FA5}">
                      <a16:colId xmlns:a16="http://schemas.microsoft.com/office/drawing/2014/main" val="1407529745"/>
                    </a:ext>
                  </a:extLst>
                </a:gridCol>
                <a:gridCol w="3099405">
                  <a:extLst>
                    <a:ext uri="{9D8B030D-6E8A-4147-A177-3AD203B41FA5}">
                      <a16:colId xmlns:a16="http://schemas.microsoft.com/office/drawing/2014/main" val="1544300979"/>
                    </a:ext>
                  </a:extLst>
                </a:gridCol>
                <a:gridCol w="617281">
                  <a:extLst>
                    <a:ext uri="{9D8B030D-6E8A-4147-A177-3AD203B41FA5}">
                      <a16:colId xmlns:a16="http://schemas.microsoft.com/office/drawing/2014/main" val="2900065581"/>
                    </a:ext>
                  </a:extLst>
                </a:gridCol>
                <a:gridCol w="480830">
                  <a:extLst>
                    <a:ext uri="{9D8B030D-6E8A-4147-A177-3AD203B41FA5}">
                      <a16:colId xmlns:a16="http://schemas.microsoft.com/office/drawing/2014/main" val="1706968747"/>
                    </a:ext>
                  </a:extLst>
                </a:gridCol>
              </a:tblGrid>
              <a:tr h="180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파일명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파일크기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80936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latinLnBrk="1"/>
                      <a:endParaRPr lang="ko-KR" altLang="en-US" sz="6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452105"/>
                  </a:ext>
                </a:extLst>
              </a:tr>
            </a:tbl>
          </a:graphicData>
        </a:graphic>
      </p:graphicFrame>
      <p:sp>
        <p:nvSpPr>
          <p:cNvPr id="3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442902" y="3743294"/>
            <a:ext cx="432000" cy="144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파일추가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908154" y="3743294"/>
            <a:ext cx="432000" cy="144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파일삭제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7" name="표 36"/>
          <p:cNvGraphicFramePr>
            <a:graphicFrameLocks noGrp="1"/>
          </p:cNvGraphicFramePr>
          <p:nvPr/>
        </p:nvGraphicFramePr>
        <p:xfrm>
          <a:off x="1770064" y="4574457"/>
          <a:ext cx="4553158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42">
                  <a:extLst>
                    <a:ext uri="{9D8B030D-6E8A-4147-A177-3AD203B41FA5}">
                      <a16:colId xmlns:a16="http://schemas.microsoft.com/office/drawing/2014/main" val="1407529745"/>
                    </a:ext>
                  </a:extLst>
                </a:gridCol>
                <a:gridCol w="3099405">
                  <a:extLst>
                    <a:ext uri="{9D8B030D-6E8A-4147-A177-3AD203B41FA5}">
                      <a16:colId xmlns:a16="http://schemas.microsoft.com/office/drawing/2014/main" val="1544300979"/>
                    </a:ext>
                  </a:extLst>
                </a:gridCol>
                <a:gridCol w="617281">
                  <a:extLst>
                    <a:ext uri="{9D8B030D-6E8A-4147-A177-3AD203B41FA5}">
                      <a16:colId xmlns:a16="http://schemas.microsoft.com/office/drawing/2014/main" val="2900065581"/>
                    </a:ext>
                  </a:extLst>
                </a:gridCol>
                <a:gridCol w="480830">
                  <a:extLst>
                    <a:ext uri="{9D8B030D-6E8A-4147-A177-3AD203B41FA5}">
                      <a16:colId xmlns:a16="http://schemas.microsoft.com/office/drawing/2014/main" val="1706968747"/>
                    </a:ext>
                  </a:extLst>
                </a:gridCol>
              </a:tblGrid>
              <a:tr h="180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파일명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파일크기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80936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latinLnBrk="1"/>
                      <a:endParaRPr lang="ko-KR" altLang="en-US" sz="6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45210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latinLnBrk="1"/>
                      <a:endParaRPr lang="ko-KR" altLang="en-US" sz="6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837146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latinLnBrk="1"/>
                      <a:endParaRPr lang="ko-KR" altLang="en-US" sz="6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3298986"/>
                  </a:ext>
                </a:extLst>
              </a:tr>
            </a:tbl>
          </a:graphicData>
        </a:graphic>
      </p:graphicFrame>
      <p:sp>
        <p:nvSpPr>
          <p:cNvPr id="3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437362" y="4394457"/>
            <a:ext cx="432000" cy="144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파일추가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902614" y="4394457"/>
            <a:ext cx="432000" cy="144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파일삭제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933153" y="5610182"/>
            <a:ext cx="504000" cy="180000"/>
          </a:xfrm>
          <a:prstGeom prst="roundRect">
            <a:avLst>
              <a:gd name="adj" fmla="val 10228"/>
            </a:avLst>
          </a:prstGeom>
          <a:solidFill>
            <a:srgbClr val="F7C21A"/>
          </a:solidFill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bg1">
                    <a:lumMod val="9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승인관리</a:t>
            </a:r>
            <a:endParaRPr kumimoji="0" lang="ko-KR" altLang="en-US" sz="800" spc="-100" dirty="0">
              <a:solidFill>
                <a:schemeClr val="bg1">
                  <a:lumMod val="95000"/>
                </a:schemeClr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059045" y="5456627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6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646608" y="2870569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023451" y="2873342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020803" y="249425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49788068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MDD-00060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MDD75MDP007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귀임보고서 및 키워드 등록 파업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감사운영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감사선택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특정감사 클릭 시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(P69,P70: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김태훈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23315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304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귀임보고서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자료 정보를 입력 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347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작성한 귀임보고서 파일을 선택 할 수 있는 팝업 창이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등록할 파일을 선택 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등록된 귀임보고서 파일을 삭제 할 수 있는 버튼이다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 하면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귀임보고서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파일을 등록 할 수 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닫기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귀임보고서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파일이 선택되어 있어도 저장하지 않고 팝업 창을 닫는다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</a:tbl>
          </a:graphicData>
        </a:graphic>
      </p:graphicFrame>
      <p:sp>
        <p:nvSpPr>
          <p:cNvPr id="20" name="타원 1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050436" y="471402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511204" y="4884203"/>
            <a:ext cx="504000" cy="180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-10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닫기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971942" y="4884203"/>
            <a:ext cx="504000" cy="180000"/>
          </a:xfrm>
          <a:prstGeom prst="roundRect">
            <a:avLst>
              <a:gd name="adj" fmla="val 10228"/>
            </a:avLst>
          </a:prstGeom>
          <a:solidFill>
            <a:srgbClr val="F7C21A"/>
          </a:solidFill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bg1">
                    <a:lumMod val="9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spc="-100" dirty="0">
              <a:solidFill>
                <a:schemeClr val="bg1">
                  <a:lumMod val="95000"/>
                </a:schemeClr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0" name="표 29"/>
          <p:cNvGraphicFramePr>
            <a:graphicFrameLocks noGrp="1"/>
          </p:cNvGraphicFramePr>
          <p:nvPr/>
        </p:nvGraphicFramePr>
        <p:xfrm>
          <a:off x="640762" y="1592808"/>
          <a:ext cx="5897108" cy="30834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2000">
                  <a:extLst>
                    <a:ext uri="{9D8B030D-6E8A-4147-A177-3AD203B41FA5}">
                      <a16:colId xmlns:a16="http://schemas.microsoft.com/office/drawing/2014/main" val="2486140938"/>
                    </a:ext>
                  </a:extLst>
                </a:gridCol>
                <a:gridCol w="1933049">
                  <a:extLst>
                    <a:ext uri="{9D8B030D-6E8A-4147-A177-3AD203B41FA5}">
                      <a16:colId xmlns:a16="http://schemas.microsoft.com/office/drawing/2014/main" val="3260402595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1205990331"/>
                    </a:ext>
                  </a:extLst>
                </a:gridCol>
                <a:gridCol w="2128059">
                  <a:extLst>
                    <a:ext uri="{9D8B030D-6E8A-4147-A177-3AD203B41FA5}">
                      <a16:colId xmlns:a16="http://schemas.microsoft.com/office/drawing/2014/main" val="3033585643"/>
                    </a:ext>
                  </a:extLst>
                </a:gridCol>
              </a:tblGrid>
              <a:tr h="275970">
                <a:tc gridSpan="4">
                  <a:txBody>
                    <a:bodyPr/>
                    <a:lstStyle/>
                    <a:p>
                      <a:pPr latinLnBrk="1"/>
                      <a:r>
                        <a:rPr lang="ko-KR" altLang="en-US" sz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귀임보고서</a:t>
                      </a:r>
                      <a:r>
                        <a:rPr lang="ko-KR" altLang="en-US" sz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등록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01929310"/>
                  </a:ext>
                </a:extLst>
              </a:tr>
              <a:tr h="27597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감사단위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년도 </a:t>
                      </a:r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회차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– </a:t>
                      </a:r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태크그룹</a:t>
                      </a:r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종합감사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018352"/>
                  </a:ext>
                </a:extLst>
              </a:tr>
              <a:tr h="27597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작성자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등록일시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2024-06-05</a:t>
                      </a:r>
                      <a:r>
                        <a:rPr lang="en-US" altLang="ko-KR" sz="10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11:11:11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7934186"/>
                  </a:ext>
                </a:extLst>
              </a:tr>
              <a:tr h="339112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자료내용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10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귀임보고서</a:t>
                      </a:r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98174742"/>
                  </a:ext>
                </a:extLst>
              </a:tr>
              <a:tr h="27597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귀임보고서첨부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23801193"/>
                  </a:ext>
                </a:extLst>
              </a:tr>
              <a:tr h="27597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관련자료첨부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10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11163170"/>
                  </a:ext>
                </a:extLst>
              </a:tr>
            </a:tbl>
          </a:graphicData>
        </a:graphic>
      </p:graphicFrame>
      <p:graphicFrame>
        <p:nvGraphicFramePr>
          <p:cNvPr id="31" name="표 30"/>
          <p:cNvGraphicFramePr>
            <a:graphicFrameLocks noGrp="1"/>
          </p:cNvGraphicFramePr>
          <p:nvPr/>
        </p:nvGraphicFramePr>
        <p:xfrm>
          <a:off x="1789456" y="3230569"/>
          <a:ext cx="4553158" cy="365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42">
                  <a:extLst>
                    <a:ext uri="{9D8B030D-6E8A-4147-A177-3AD203B41FA5}">
                      <a16:colId xmlns:a16="http://schemas.microsoft.com/office/drawing/2014/main" val="1407529745"/>
                    </a:ext>
                  </a:extLst>
                </a:gridCol>
                <a:gridCol w="3099405">
                  <a:extLst>
                    <a:ext uri="{9D8B030D-6E8A-4147-A177-3AD203B41FA5}">
                      <a16:colId xmlns:a16="http://schemas.microsoft.com/office/drawing/2014/main" val="1544300979"/>
                    </a:ext>
                  </a:extLst>
                </a:gridCol>
                <a:gridCol w="617281">
                  <a:extLst>
                    <a:ext uri="{9D8B030D-6E8A-4147-A177-3AD203B41FA5}">
                      <a16:colId xmlns:a16="http://schemas.microsoft.com/office/drawing/2014/main" val="2900065581"/>
                    </a:ext>
                  </a:extLst>
                </a:gridCol>
                <a:gridCol w="480830">
                  <a:extLst>
                    <a:ext uri="{9D8B030D-6E8A-4147-A177-3AD203B41FA5}">
                      <a16:colId xmlns:a16="http://schemas.microsoft.com/office/drawing/2014/main" val="1706968747"/>
                    </a:ext>
                  </a:extLst>
                </a:gridCol>
              </a:tblGrid>
              <a:tr h="180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파일명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파일크기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80936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latinLnBrk="1"/>
                      <a:endParaRPr lang="ko-KR" altLang="en-US" sz="6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452105"/>
                  </a:ext>
                </a:extLst>
              </a:tr>
            </a:tbl>
          </a:graphicData>
        </a:graphic>
      </p:graphicFrame>
      <p:sp>
        <p:nvSpPr>
          <p:cNvPr id="3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456754" y="3050569"/>
            <a:ext cx="432000" cy="144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파일추가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922006" y="3050569"/>
            <a:ext cx="432000" cy="144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파일삭제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7" name="표 36"/>
          <p:cNvGraphicFramePr>
            <a:graphicFrameLocks noGrp="1"/>
          </p:cNvGraphicFramePr>
          <p:nvPr/>
        </p:nvGraphicFramePr>
        <p:xfrm>
          <a:off x="1778377" y="3884500"/>
          <a:ext cx="4553158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42">
                  <a:extLst>
                    <a:ext uri="{9D8B030D-6E8A-4147-A177-3AD203B41FA5}">
                      <a16:colId xmlns:a16="http://schemas.microsoft.com/office/drawing/2014/main" val="1407529745"/>
                    </a:ext>
                  </a:extLst>
                </a:gridCol>
                <a:gridCol w="3099405">
                  <a:extLst>
                    <a:ext uri="{9D8B030D-6E8A-4147-A177-3AD203B41FA5}">
                      <a16:colId xmlns:a16="http://schemas.microsoft.com/office/drawing/2014/main" val="1544300979"/>
                    </a:ext>
                  </a:extLst>
                </a:gridCol>
                <a:gridCol w="617281">
                  <a:extLst>
                    <a:ext uri="{9D8B030D-6E8A-4147-A177-3AD203B41FA5}">
                      <a16:colId xmlns:a16="http://schemas.microsoft.com/office/drawing/2014/main" val="2900065581"/>
                    </a:ext>
                  </a:extLst>
                </a:gridCol>
                <a:gridCol w="480830">
                  <a:extLst>
                    <a:ext uri="{9D8B030D-6E8A-4147-A177-3AD203B41FA5}">
                      <a16:colId xmlns:a16="http://schemas.microsoft.com/office/drawing/2014/main" val="1706968747"/>
                    </a:ext>
                  </a:extLst>
                </a:gridCol>
              </a:tblGrid>
              <a:tr h="180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파일명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파일크기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80936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latinLnBrk="1"/>
                      <a:endParaRPr lang="ko-KR" altLang="en-US" sz="6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45210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latinLnBrk="1"/>
                      <a:endParaRPr lang="ko-KR" altLang="en-US" sz="6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837146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latinLnBrk="1"/>
                      <a:endParaRPr lang="ko-KR" altLang="en-US" sz="6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3298986"/>
                  </a:ext>
                </a:extLst>
              </a:tr>
            </a:tbl>
          </a:graphicData>
        </a:graphic>
      </p:graphicFrame>
      <p:sp>
        <p:nvSpPr>
          <p:cNvPr id="3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445675" y="3704500"/>
            <a:ext cx="432000" cy="144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파일추가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910927" y="3704500"/>
            <a:ext cx="432000" cy="144000"/>
          </a:xfrm>
          <a:prstGeom prst="roundRect">
            <a:avLst>
              <a:gd name="adj" fmla="val 10228"/>
            </a:avLst>
          </a:prstGeom>
          <a:noFill/>
          <a:ln w="12700">
            <a:solidFill>
              <a:schemeClr val="tx1"/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파일삭제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551970" y="4725107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646608" y="2870569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023451" y="2873342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020803" y="249425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34562408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MDD-00060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MDD75MDP000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감사일보 등록 파업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감사운영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감사선택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진행감사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특정감사 클릭 시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(P69,P70: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김태훈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2581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304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감사일보 활동내용 및 지시 내용을 등록 할 수 있는 팝업 창이다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347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</a:tbl>
          </a:graphicData>
        </a:graphic>
      </p:graphicFrame>
      <p:pic>
        <p:nvPicPr>
          <p:cNvPr id="30" name="그림 2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42962" y="1523406"/>
            <a:ext cx="5491163" cy="4153494"/>
          </a:xfrm>
          <a:prstGeom prst="rect">
            <a:avLst/>
          </a:prstGeom>
        </p:spPr>
      </p:pic>
      <p:sp>
        <p:nvSpPr>
          <p:cNvPr id="34" name="타원 3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837126" y="1347825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278250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MDD-00061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MDD75MDP800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연도별 검색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감사운영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전체감사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연도별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(P71: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김태훈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69" name="표 68"/>
          <p:cNvGraphicFramePr>
            <a:graphicFrameLocks noGrp="1"/>
          </p:cNvGraphicFramePr>
          <p:nvPr>
            <p:extLst/>
          </p:nvPr>
        </p:nvGraphicFramePr>
        <p:xfrm>
          <a:off x="7207250" y="662793"/>
          <a:ext cx="2606675" cy="3755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kumimoji="0" lang="en-US" altLang="ko-KR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연도별</a:t>
                      </a:r>
                      <a:r>
                        <a:rPr kumimoji="0" lang="en-US" altLang="ko-KR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화면에 </a:t>
                      </a:r>
                      <a:r>
                        <a:rPr kumimoji="0" lang="en-US" altLang="ko-KR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감사보고서 조회</a:t>
                      </a:r>
                      <a:r>
                        <a:rPr kumimoji="0" lang="en-US" altLang="ko-KR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열을 추가</a:t>
                      </a:r>
                      <a:endParaRPr lang="en-US" altLang="ko-KR" sz="800" b="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Tx/>
                        <a:buNone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클릭시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Pop-Up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창 생성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선택한 감사의 문서등록현황과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개별문서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다운로드 또는 전체 보고서 일괄 다운로드 기능 제공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sp>
        <p:nvSpPr>
          <p:cNvPr id="23" name="직사각형 22">
            <a:extLst>
              <a:ext uri="{FF2B5EF4-FFF2-40B4-BE49-F238E27FC236}">
                <a16:creationId xmlns:a16="http://schemas.microsoft.com/office/drawing/2014/main" id="{68CB9370-D759-4248-8572-5FDA4EF6101B}"/>
              </a:ext>
            </a:extLst>
          </p:cNvPr>
          <p:cNvSpPr/>
          <p:nvPr/>
        </p:nvSpPr>
        <p:spPr>
          <a:xfrm>
            <a:off x="2938641" y="3401058"/>
            <a:ext cx="3748406" cy="1687777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742856">
              <a:defRPr/>
            </a:pPr>
            <a:endParaRPr lang="ko-KR" altLang="en-US" sz="813" b="1">
              <a:solidFill>
                <a:srgbClr val="0070C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D494E968-62DE-442C-9EE6-DD6B90DDF615}"/>
              </a:ext>
            </a:extLst>
          </p:cNvPr>
          <p:cNvSpPr/>
          <p:nvPr/>
        </p:nvSpPr>
        <p:spPr bwMode="auto">
          <a:xfrm>
            <a:off x="6453788" y="3451488"/>
            <a:ext cx="183080" cy="112609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lIns="0" tIns="0" rIns="0" bIns="0" rtlCol="0" anchor="ctr" anchorCtr="0">
            <a:noAutofit/>
          </a:bodyPr>
          <a:lstStyle/>
          <a:p>
            <a:pPr algn="ctr" defTabSz="742856">
              <a:defRPr/>
            </a:pPr>
            <a:r>
              <a:rPr lang="en-US" altLang="ko-KR" sz="516" b="1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X</a:t>
            </a:r>
            <a:endParaRPr lang="ko-KR" altLang="en-US" sz="516" b="1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60B97788-F115-4669-A08F-46D3A46FC7DA}"/>
              </a:ext>
            </a:extLst>
          </p:cNvPr>
          <p:cNvSpPr txBox="1"/>
          <p:nvPr/>
        </p:nvSpPr>
        <p:spPr>
          <a:xfrm>
            <a:off x="3015684" y="3400363"/>
            <a:ext cx="2056036" cy="397277"/>
          </a:xfrm>
          <a:prstGeom prst="rect">
            <a:avLst/>
          </a:prstGeom>
          <a:noFill/>
        </p:spPr>
        <p:txBody>
          <a:bodyPr wrap="square" lIns="29250" rtlCol="0">
            <a:spAutoFit/>
          </a:bodyPr>
          <a:lstStyle/>
          <a:p>
            <a:pPr defTabSz="742856">
              <a:defRPr/>
            </a:pPr>
            <a:r>
              <a:rPr lang="ko-KR" altLang="en-US" sz="800" smtClean="0">
                <a:solidFill>
                  <a:prstClr val="black">
                    <a:lumMod val="75000"/>
                    <a:lumOff val="25000"/>
                  </a:prst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감사결과별 문서 현황</a:t>
            </a:r>
            <a:endParaRPr lang="ko-KR" altLang="en-US" sz="800">
              <a:solidFill>
                <a:prstClr val="black">
                  <a:lumMod val="75000"/>
                  <a:lumOff val="25000"/>
                </a:prstClr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061CAA5C-4EB7-4E67-85DA-E29F266F438F}"/>
              </a:ext>
            </a:extLst>
          </p:cNvPr>
          <p:cNvSpPr/>
          <p:nvPr/>
        </p:nvSpPr>
        <p:spPr>
          <a:xfrm>
            <a:off x="3053752" y="3587950"/>
            <a:ext cx="3598247" cy="51858"/>
          </a:xfrm>
          <a:prstGeom prst="rect">
            <a:avLst/>
          </a:prstGeom>
          <a:solidFill>
            <a:srgbClr val="625950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742856">
              <a:defRPr/>
            </a:pPr>
            <a:endParaRPr lang="ko-KR" altLang="en-US" sz="813" dirty="0">
              <a:solidFill>
                <a:schemeClr val="bg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6" name="양쪽 모서리가 둥근 사각형 25"/>
          <p:cNvSpPr/>
          <p:nvPr/>
        </p:nvSpPr>
        <p:spPr bwMode="auto">
          <a:xfrm>
            <a:off x="320147" y="1054727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noProof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연도별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7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313644" y="980131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8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320148" y="1240462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0" name="직사각형 29"/>
          <p:cNvSpPr/>
          <p:nvPr/>
        </p:nvSpPr>
        <p:spPr bwMode="auto">
          <a:xfrm flipV="1">
            <a:off x="320145" y="1042098"/>
            <a:ext cx="1075897" cy="22836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59684" y="98012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41" name="표 40"/>
          <p:cNvGraphicFramePr>
            <a:graphicFrameLocks noGrp="1"/>
          </p:cNvGraphicFramePr>
          <p:nvPr>
            <p:extLst/>
          </p:nvPr>
        </p:nvGraphicFramePr>
        <p:xfrm>
          <a:off x="297735" y="1976975"/>
          <a:ext cx="6732902" cy="807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5103">
                  <a:extLst>
                    <a:ext uri="{9D8B030D-6E8A-4147-A177-3AD203B41FA5}">
                      <a16:colId xmlns:a16="http://schemas.microsoft.com/office/drawing/2014/main" val="2426106912"/>
                    </a:ext>
                  </a:extLst>
                </a:gridCol>
                <a:gridCol w="465512">
                  <a:extLst>
                    <a:ext uri="{9D8B030D-6E8A-4147-A177-3AD203B41FA5}">
                      <a16:colId xmlns:a16="http://schemas.microsoft.com/office/drawing/2014/main" val="157696043"/>
                    </a:ext>
                  </a:extLst>
                </a:gridCol>
                <a:gridCol w="423949">
                  <a:extLst>
                    <a:ext uri="{9D8B030D-6E8A-4147-A177-3AD203B41FA5}">
                      <a16:colId xmlns:a16="http://schemas.microsoft.com/office/drawing/2014/main" val="1421297000"/>
                    </a:ext>
                  </a:extLst>
                </a:gridCol>
                <a:gridCol w="340822">
                  <a:extLst>
                    <a:ext uri="{9D8B030D-6E8A-4147-A177-3AD203B41FA5}">
                      <a16:colId xmlns:a16="http://schemas.microsoft.com/office/drawing/2014/main" val="3582745889"/>
                    </a:ext>
                  </a:extLst>
                </a:gridCol>
                <a:gridCol w="615142">
                  <a:extLst>
                    <a:ext uri="{9D8B030D-6E8A-4147-A177-3AD203B41FA5}">
                      <a16:colId xmlns:a16="http://schemas.microsoft.com/office/drawing/2014/main" val="3292794991"/>
                    </a:ext>
                  </a:extLst>
                </a:gridCol>
                <a:gridCol w="623455">
                  <a:extLst>
                    <a:ext uri="{9D8B030D-6E8A-4147-A177-3AD203B41FA5}">
                      <a16:colId xmlns:a16="http://schemas.microsoft.com/office/drawing/2014/main" val="1828931321"/>
                    </a:ext>
                  </a:extLst>
                </a:gridCol>
                <a:gridCol w="693931">
                  <a:extLst>
                    <a:ext uri="{9D8B030D-6E8A-4147-A177-3AD203B41FA5}">
                      <a16:colId xmlns:a16="http://schemas.microsoft.com/office/drawing/2014/main" val="461435787"/>
                    </a:ext>
                  </a:extLst>
                </a:gridCol>
                <a:gridCol w="769109">
                  <a:extLst>
                    <a:ext uri="{9D8B030D-6E8A-4147-A177-3AD203B41FA5}">
                      <a16:colId xmlns:a16="http://schemas.microsoft.com/office/drawing/2014/main" val="2502540127"/>
                    </a:ext>
                  </a:extLst>
                </a:gridCol>
                <a:gridCol w="931025">
                  <a:extLst>
                    <a:ext uri="{9D8B030D-6E8A-4147-A177-3AD203B41FA5}">
                      <a16:colId xmlns:a16="http://schemas.microsoft.com/office/drawing/2014/main" val="1440062905"/>
                    </a:ext>
                  </a:extLst>
                </a:gridCol>
                <a:gridCol w="773084">
                  <a:extLst>
                    <a:ext uri="{9D8B030D-6E8A-4147-A177-3AD203B41FA5}">
                      <a16:colId xmlns:a16="http://schemas.microsoft.com/office/drawing/2014/main" val="1447650789"/>
                    </a:ext>
                  </a:extLst>
                </a:gridCol>
                <a:gridCol w="581770">
                  <a:extLst>
                    <a:ext uri="{9D8B030D-6E8A-4147-A177-3AD203B41FA5}">
                      <a16:colId xmlns:a16="http://schemas.microsoft.com/office/drawing/2014/main" val="61177697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pc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감사보고서진행상태</a:t>
                      </a:r>
                      <a:endParaRPr lang="ko-KR" altLang="en-US" sz="700" b="0" spc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팀구분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차수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감사종류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감사구분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실시시작일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실시종료일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감사역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감사보고서 조회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79101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876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본점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부문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2024-03-11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2024-03-28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sng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</a:t>
                      </a:r>
                      <a:endParaRPr lang="ko-KR" altLang="en-US" sz="700" u="sng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50771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3076989"/>
                  </a:ext>
                </a:extLst>
              </a:tr>
            </a:tbl>
          </a:graphicData>
        </a:graphic>
      </p:graphicFrame>
      <p:graphicFrame>
        <p:nvGraphicFramePr>
          <p:cNvPr id="42" name="표 41"/>
          <p:cNvGraphicFramePr>
            <a:graphicFrameLocks noGrp="1"/>
          </p:cNvGraphicFramePr>
          <p:nvPr>
            <p:extLst/>
          </p:nvPr>
        </p:nvGraphicFramePr>
        <p:xfrm>
          <a:off x="3056206" y="3679514"/>
          <a:ext cx="3142660" cy="990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6950">
                  <a:extLst>
                    <a:ext uri="{9D8B030D-6E8A-4147-A177-3AD203B41FA5}">
                      <a16:colId xmlns:a16="http://schemas.microsoft.com/office/drawing/2014/main" val="3310972714"/>
                    </a:ext>
                  </a:extLst>
                </a:gridCol>
                <a:gridCol w="465513">
                  <a:extLst>
                    <a:ext uri="{9D8B030D-6E8A-4147-A177-3AD203B41FA5}">
                      <a16:colId xmlns:a16="http://schemas.microsoft.com/office/drawing/2014/main" val="2426106912"/>
                    </a:ext>
                  </a:extLst>
                </a:gridCol>
                <a:gridCol w="399011">
                  <a:extLst>
                    <a:ext uri="{9D8B030D-6E8A-4147-A177-3AD203B41FA5}">
                      <a16:colId xmlns:a16="http://schemas.microsoft.com/office/drawing/2014/main" val="3582745889"/>
                    </a:ext>
                  </a:extLst>
                </a:gridCol>
                <a:gridCol w="914400">
                  <a:extLst>
                    <a:ext uri="{9D8B030D-6E8A-4147-A177-3AD203B41FA5}">
                      <a16:colId xmlns:a16="http://schemas.microsoft.com/office/drawing/2014/main" val="461435787"/>
                    </a:ext>
                  </a:extLst>
                </a:gridCol>
                <a:gridCol w="986786">
                  <a:extLst>
                    <a:ext uri="{9D8B030D-6E8A-4147-A177-3AD203B41FA5}">
                      <a16:colId xmlns:a16="http://schemas.microsoft.com/office/drawing/2014/main" val="392773552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계획년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차수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감사명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문서구분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79101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IT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운영 적정성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감사보고서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50771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요약보고서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199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귀임보고서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26327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감사조서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0322162"/>
                  </a:ext>
                </a:extLst>
              </a:tr>
            </a:tbl>
          </a:graphicData>
        </a:graphic>
      </p:graphicFrame>
      <p:sp>
        <p:nvSpPr>
          <p:cNvPr id="43" name="Freeform 46">
            <a:extLst>
              <a:ext uri="{FF2B5EF4-FFF2-40B4-BE49-F238E27FC236}">
                <a16:creationId xmlns:a16="http://schemas.microsoft.com/office/drawing/2014/main" id="{36BBD547-1346-F115-36F1-EB48123B65CE}"/>
              </a:ext>
            </a:extLst>
          </p:cNvPr>
          <p:cNvSpPr>
            <a:spLocks noEditPoints="1"/>
          </p:cNvSpPr>
          <p:nvPr/>
        </p:nvSpPr>
        <p:spPr bwMode="auto">
          <a:xfrm>
            <a:off x="3202884" y="3910761"/>
            <a:ext cx="113293" cy="113535"/>
          </a:xfrm>
          <a:custGeom>
            <a:avLst/>
            <a:gdLst/>
            <a:ahLst/>
            <a:cxnLst>
              <a:cxn ang="0">
                <a:pos x="55" y="44"/>
              </a:cxn>
              <a:cxn ang="0">
                <a:pos x="44" y="55"/>
              </a:cxn>
              <a:cxn ang="0">
                <a:pos x="10" y="55"/>
              </a:cxn>
              <a:cxn ang="0">
                <a:pos x="0" y="44"/>
              </a:cxn>
              <a:cxn ang="0">
                <a:pos x="0" y="10"/>
              </a:cxn>
              <a:cxn ang="0">
                <a:pos x="10" y="0"/>
              </a:cxn>
              <a:cxn ang="0">
                <a:pos x="44" y="0"/>
              </a:cxn>
              <a:cxn ang="0">
                <a:pos x="55" y="10"/>
              </a:cxn>
              <a:cxn ang="0">
                <a:pos x="55" y="44"/>
              </a:cxn>
              <a:cxn ang="0">
                <a:pos x="46" y="20"/>
              </a:cxn>
              <a:cxn ang="0">
                <a:pos x="46" y="17"/>
              </a:cxn>
              <a:cxn ang="0">
                <a:pos x="42" y="13"/>
              </a:cxn>
              <a:cxn ang="0">
                <a:pos x="39" y="13"/>
              </a:cxn>
              <a:cxn ang="0">
                <a:pos x="23" y="30"/>
              </a:cxn>
              <a:cxn ang="0">
                <a:pos x="15" y="22"/>
              </a:cxn>
              <a:cxn ang="0">
                <a:pos x="12" y="22"/>
              </a:cxn>
              <a:cxn ang="0">
                <a:pos x="8" y="26"/>
              </a:cxn>
              <a:cxn ang="0">
                <a:pos x="8" y="29"/>
              </a:cxn>
              <a:cxn ang="0">
                <a:pos x="21" y="42"/>
              </a:cxn>
              <a:cxn ang="0">
                <a:pos x="24" y="42"/>
              </a:cxn>
              <a:cxn ang="0">
                <a:pos x="46" y="20"/>
              </a:cxn>
            </a:cxnLst>
            <a:rect l="0" t="0" r="r" b="b"/>
            <a:pathLst>
              <a:path w="55" h="55">
                <a:moveTo>
                  <a:pt x="55" y="44"/>
                </a:moveTo>
                <a:cubicBezTo>
                  <a:pt x="55" y="50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0"/>
                </a:cubicBezTo>
                <a:lnTo>
                  <a:pt x="55" y="44"/>
                </a:lnTo>
                <a:close/>
                <a:moveTo>
                  <a:pt x="46" y="20"/>
                </a:moveTo>
                <a:cubicBezTo>
                  <a:pt x="47" y="19"/>
                  <a:pt x="47" y="17"/>
                  <a:pt x="46" y="17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2"/>
                  <a:pt x="40" y="12"/>
                  <a:pt x="39" y="13"/>
                </a:cubicBezTo>
                <a:cubicBezTo>
                  <a:pt x="23" y="30"/>
                  <a:pt x="23" y="30"/>
                  <a:pt x="23" y="30"/>
                </a:cubicBezTo>
                <a:cubicBezTo>
                  <a:pt x="15" y="22"/>
                  <a:pt x="15" y="22"/>
                  <a:pt x="15" y="22"/>
                </a:cubicBezTo>
                <a:cubicBezTo>
                  <a:pt x="14" y="21"/>
                  <a:pt x="13" y="21"/>
                  <a:pt x="12" y="22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7"/>
                  <a:pt x="7" y="28"/>
                  <a:pt x="8" y="29"/>
                </a:cubicBezTo>
                <a:cubicBezTo>
                  <a:pt x="21" y="42"/>
                  <a:pt x="21" y="42"/>
                  <a:pt x="21" y="42"/>
                </a:cubicBezTo>
                <a:cubicBezTo>
                  <a:pt x="22" y="43"/>
                  <a:pt x="23" y="43"/>
                  <a:pt x="24" y="42"/>
                </a:cubicBezTo>
                <a:lnTo>
                  <a:pt x="46" y="20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100687" tIns="50343" rIns="100687" bIns="50343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135923" rtl="0" eaLnBrk="0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202" b="0" i="0" u="none" strike="noStrike" kern="0" cap="none" spc="0" normalizeH="0" baseline="0" noProof="0">
              <a:ln>
                <a:solidFill>
                  <a:srgbClr val="F9A84A"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2" name="Freeform 46">
            <a:extLst>
              <a:ext uri="{FF2B5EF4-FFF2-40B4-BE49-F238E27FC236}">
                <a16:creationId xmlns:a16="http://schemas.microsoft.com/office/drawing/2014/main" id="{36BBD547-1346-F115-36F1-EB48123B65CE}"/>
              </a:ext>
            </a:extLst>
          </p:cNvPr>
          <p:cNvSpPr>
            <a:spLocks noEditPoints="1"/>
          </p:cNvSpPr>
          <p:nvPr/>
        </p:nvSpPr>
        <p:spPr bwMode="auto">
          <a:xfrm>
            <a:off x="3202884" y="4106779"/>
            <a:ext cx="113293" cy="113535"/>
          </a:xfrm>
          <a:custGeom>
            <a:avLst/>
            <a:gdLst/>
            <a:ahLst/>
            <a:cxnLst>
              <a:cxn ang="0">
                <a:pos x="55" y="44"/>
              </a:cxn>
              <a:cxn ang="0">
                <a:pos x="44" y="55"/>
              </a:cxn>
              <a:cxn ang="0">
                <a:pos x="10" y="55"/>
              </a:cxn>
              <a:cxn ang="0">
                <a:pos x="0" y="44"/>
              </a:cxn>
              <a:cxn ang="0">
                <a:pos x="0" y="10"/>
              </a:cxn>
              <a:cxn ang="0">
                <a:pos x="10" y="0"/>
              </a:cxn>
              <a:cxn ang="0">
                <a:pos x="44" y="0"/>
              </a:cxn>
              <a:cxn ang="0">
                <a:pos x="55" y="10"/>
              </a:cxn>
              <a:cxn ang="0">
                <a:pos x="55" y="44"/>
              </a:cxn>
              <a:cxn ang="0">
                <a:pos x="46" y="20"/>
              </a:cxn>
              <a:cxn ang="0">
                <a:pos x="46" y="17"/>
              </a:cxn>
              <a:cxn ang="0">
                <a:pos x="42" y="13"/>
              </a:cxn>
              <a:cxn ang="0">
                <a:pos x="39" y="13"/>
              </a:cxn>
              <a:cxn ang="0">
                <a:pos x="23" y="30"/>
              </a:cxn>
              <a:cxn ang="0">
                <a:pos x="15" y="22"/>
              </a:cxn>
              <a:cxn ang="0">
                <a:pos x="12" y="22"/>
              </a:cxn>
              <a:cxn ang="0">
                <a:pos x="8" y="26"/>
              </a:cxn>
              <a:cxn ang="0">
                <a:pos x="8" y="29"/>
              </a:cxn>
              <a:cxn ang="0">
                <a:pos x="21" y="42"/>
              </a:cxn>
              <a:cxn ang="0">
                <a:pos x="24" y="42"/>
              </a:cxn>
              <a:cxn ang="0">
                <a:pos x="46" y="20"/>
              </a:cxn>
            </a:cxnLst>
            <a:rect l="0" t="0" r="r" b="b"/>
            <a:pathLst>
              <a:path w="55" h="55">
                <a:moveTo>
                  <a:pt x="55" y="44"/>
                </a:moveTo>
                <a:cubicBezTo>
                  <a:pt x="55" y="50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0"/>
                </a:cubicBezTo>
                <a:lnTo>
                  <a:pt x="55" y="44"/>
                </a:lnTo>
                <a:close/>
                <a:moveTo>
                  <a:pt x="46" y="20"/>
                </a:moveTo>
                <a:cubicBezTo>
                  <a:pt x="47" y="19"/>
                  <a:pt x="47" y="17"/>
                  <a:pt x="46" y="17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2"/>
                  <a:pt x="40" y="12"/>
                  <a:pt x="39" y="13"/>
                </a:cubicBezTo>
                <a:cubicBezTo>
                  <a:pt x="23" y="30"/>
                  <a:pt x="23" y="30"/>
                  <a:pt x="23" y="30"/>
                </a:cubicBezTo>
                <a:cubicBezTo>
                  <a:pt x="15" y="22"/>
                  <a:pt x="15" y="22"/>
                  <a:pt x="15" y="22"/>
                </a:cubicBezTo>
                <a:cubicBezTo>
                  <a:pt x="14" y="21"/>
                  <a:pt x="13" y="21"/>
                  <a:pt x="12" y="22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7"/>
                  <a:pt x="7" y="28"/>
                  <a:pt x="8" y="29"/>
                </a:cubicBezTo>
                <a:cubicBezTo>
                  <a:pt x="21" y="42"/>
                  <a:pt x="21" y="42"/>
                  <a:pt x="21" y="42"/>
                </a:cubicBezTo>
                <a:cubicBezTo>
                  <a:pt x="22" y="43"/>
                  <a:pt x="23" y="43"/>
                  <a:pt x="24" y="42"/>
                </a:cubicBezTo>
                <a:lnTo>
                  <a:pt x="46" y="20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100687" tIns="50343" rIns="100687" bIns="50343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135923" rtl="0" eaLnBrk="0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202" b="0" i="0" u="none" strike="noStrike" kern="0" cap="none" spc="0" normalizeH="0" baseline="0" noProof="0">
              <a:ln>
                <a:solidFill>
                  <a:srgbClr val="F9A84A"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3" name="Freeform 46">
            <a:extLst>
              <a:ext uri="{FF2B5EF4-FFF2-40B4-BE49-F238E27FC236}">
                <a16:creationId xmlns:a16="http://schemas.microsoft.com/office/drawing/2014/main" id="{36BBD547-1346-F115-36F1-EB48123B65CE}"/>
              </a:ext>
            </a:extLst>
          </p:cNvPr>
          <p:cNvSpPr>
            <a:spLocks noEditPoints="1"/>
          </p:cNvSpPr>
          <p:nvPr/>
        </p:nvSpPr>
        <p:spPr bwMode="auto">
          <a:xfrm>
            <a:off x="3202884" y="4302797"/>
            <a:ext cx="113293" cy="113535"/>
          </a:xfrm>
          <a:custGeom>
            <a:avLst/>
            <a:gdLst/>
            <a:ahLst/>
            <a:cxnLst>
              <a:cxn ang="0">
                <a:pos x="55" y="44"/>
              </a:cxn>
              <a:cxn ang="0">
                <a:pos x="44" y="55"/>
              </a:cxn>
              <a:cxn ang="0">
                <a:pos x="10" y="55"/>
              </a:cxn>
              <a:cxn ang="0">
                <a:pos x="0" y="44"/>
              </a:cxn>
              <a:cxn ang="0">
                <a:pos x="0" y="10"/>
              </a:cxn>
              <a:cxn ang="0">
                <a:pos x="10" y="0"/>
              </a:cxn>
              <a:cxn ang="0">
                <a:pos x="44" y="0"/>
              </a:cxn>
              <a:cxn ang="0">
                <a:pos x="55" y="10"/>
              </a:cxn>
              <a:cxn ang="0">
                <a:pos x="55" y="44"/>
              </a:cxn>
              <a:cxn ang="0">
                <a:pos x="46" y="20"/>
              </a:cxn>
              <a:cxn ang="0">
                <a:pos x="46" y="17"/>
              </a:cxn>
              <a:cxn ang="0">
                <a:pos x="42" y="13"/>
              </a:cxn>
              <a:cxn ang="0">
                <a:pos x="39" y="13"/>
              </a:cxn>
              <a:cxn ang="0">
                <a:pos x="23" y="30"/>
              </a:cxn>
              <a:cxn ang="0">
                <a:pos x="15" y="22"/>
              </a:cxn>
              <a:cxn ang="0">
                <a:pos x="12" y="22"/>
              </a:cxn>
              <a:cxn ang="0">
                <a:pos x="8" y="26"/>
              </a:cxn>
              <a:cxn ang="0">
                <a:pos x="8" y="29"/>
              </a:cxn>
              <a:cxn ang="0">
                <a:pos x="21" y="42"/>
              </a:cxn>
              <a:cxn ang="0">
                <a:pos x="24" y="42"/>
              </a:cxn>
              <a:cxn ang="0">
                <a:pos x="46" y="20"/>
              </a:cxn>
            </a:cxnLst>
            <a:rect l="0" t="0" r="r" b="b"/>
            <a:pathLst>
              <a:path w="55" h="55">
                <a:moveTo>
                  <a:pt x="55" y="44"/>
                </a:moveTo>
                <a:cubicBezTo>
                  <a:pt x="55" y="50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0"/>
                </a:cubicBezTo>
                <a:lnTo>
                  <a:pt x="55" y="44"/>
                </a:lnTo>
                <a:close/>
                <a:moveTo>
                  <a:pt x="46" y="20"/>
                </a:moveTo>
                <a:cubicBezTo>
                  <a:pt x="47" y="19"/>
                  <a:pt x="47" y="17"/>
                  <a:pt x="46" y="17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2"/>
                  <a:pt x="40" y="12"/>
                  <a:pt x="39" y="13"/>
                </a:cubicBezTo>
                <a:cubicBezTo>
                  <a:pt x="23" y="30"/>
                  <a:pt x="23" y="30"/>
                  <a:pt x="23" y="30"/>
                </a:cubicBezTo>
                <a:cubicBezTo>
                  <a:pt x="15" y="22"/>
                  <a:pt x="15" y="22"/>
                  <a:pt x="15" y="22"/>
                </a:cubicBezTo>
                <a:cubicBezTo>
                  <a:pt x="14" y="21"/>
                  <a:pt x="13" y="21"/>
                  <a:pt x="12" y="22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7"/>
                  <a:pt x="7" y="28"/>
                  <a:pt x="8" y="29"/>
                </a:cubicBezTo>
                <a:cubicBezTo>
                  <a:pt x="21" y="42"/>
                  <a:pt x="21" y="42"/>
                  <a:pt x="21" y="42"/>
                </a:cubicBezTo>
                <a:cubicBezTo>
                  <a:pt x="22" y="43"/>
                  <a:pt x="23" y="43"/>
                  <a:pt x="24" y="42"/>
                </a:cubicBezTo>
                <a:lnTo>
                  <a:pt x="46" y="20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100687" tIns="50343" rIns="100687" bIns="50343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135923" rtl="0" eaLnBrk="0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202" b="0" i="0" u="none" strike="noStrike" kern="0" cap="none" spc="0" normalizeH="0" baseline="0" noProof="0">
              <a:ln>
                <a:solidFill>
                  <a:srgbClr val="F9A84A"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4" name="직사각형 53"/>
          <p:cNvSpPr/>
          <p:nvPr/>
        </p:nvSpPr>
        <p:spPr bwMode="auto">
          <a:xfrm>
            <a:off x="6439403" y="1989118"/>
            <a:ext cx="591233" cy="704799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5" name="직사각형 54"/>
          <p:cNvSpPr/>
          <p:nvPr/>
        </p:nvSpPr>
        <p:spPr bwMode="auto">
          <a:xfrm>
            <a:off x="2896064" y="3344880"/>
            <a:ext cx="3894349" cy="1871175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56" name="연결선: 꺾임 95">
            <a:extLst>
              <a:ext uri="{FF2B5EF4-FFF2-40B4-BE49-F238E27FC236}">
                <a16:creationId xmlns:a16="http://schemas.microsoft.com/office/drawing/2014/main" id="{B142995A-BCD9-F7CF-FE0C-70EB43BD7C02}"/>
              </a:ext>
            </a:extLst>
          </p:cNvPr>
          <p:cNvCxnSpPr>
            <a:cxnSpLocks/>
            <a:stCxn id="54" idx="2"/>
            <a:endCxn id="55" idx="0"/>
          </p:cNvCxnSpPr>
          <p:nvPr/>
        </p:nvCxnSpPr>
        <p:spPr bwMode="auto">
          <a:xfrm rot="5400000">
            <a:off x="5463649" y="2073508"/>
            <a:ext cx="650963" cy="1891781"/>
          </a:xfrm>
          <a:prstGeom prst="bentConnector3">
            <a:avLst>
              <a:gd name="adj1" fmla="val 50000"/>
            </a:avLst>
          </a:prstGeom>
          <a:solidFill>
            <a:schemeClr val="accent1"/>
          </a:solidFill>
          <a:ln w="9525" cap="flat" cmpd="sng" algn="ctr">
            <a:solidFill>
              <a:srgbClr val="755500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20145" y="1330651"/>
            <a:ext cx="6726396" cy="579059"/>
          </a:xfrm>
          <a:prstGeom prst="rect">
            <a:avLst/>
          </a:prstGeom>
        </p:spPr>
      </p:pic>
      <p:sp>
        <p:nvSpPr>
          <p:cNvPr id="57" name="타원 5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404522" y="190201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9" name="Freeform 46">
            <a:extLst>
              <a:ext uri="{FF2B5EF4-FFF2-40B4-BE49-F238E27FC236}">
                <a16:creationId xmlns:a16="http://schemas.microsoft.com/office/drawing/2014/main" id="{36BBD547-1346-F115-36F1-EB48123B65CE}"/>
              </a:ext>
            </a:extLst>
          </p:cNvPr>
          <p:cNvSpPr>
            <a:spLocks noEditPoints="1"/>
          </p:cNvSpPr>
          <p:nvPr/>
        </p:nvSpPr>
        <p:spPr bwMode="auto">
          <a:xfrm>
            <a:off x="3197342" y="3714027"/>
            <a:ext cx="113293" cy="113535"/>
          </a:xfrm>
          <a:custGeom>
            <a:avLst/>
            <a:gdLst/>
            <a:ahLst/>
            <a:cxnLst>
              <a:cxn ang="0">
                <a:pos x="55" y="44"/>
              </a:cxn>
              <a:cxn ang="0">
                <a:pos x="44" y="55"/>
              </a:cxn>
              <a:cxn ang="0">
                <a:pos x="10" y="55"/>
              </a:cxn>
              <a:cxn ang="0">
                <a:pos x="0" y="44"/>
              </a:cxn>
              <a:cxn ang="0">
                <a:pos x="0" y="10"/>
              </a:cxn>
              <a:cxn ang="0">
                <a:pos x="10" y="0"/>
              </a:cxn>
              <a:cxn ang="0">
                <a:pos x="44" y="0"/>
              </a:cxn>
              <a:cxn ang="0">
                <a:pos x="55" y="10"/>
              </a:cxn>
              <a:cxn ang="0">
                <a:pos x="55" y="44"/>
              </a:cxn>
              <a:cxn ang="0">
                <a:pos x="46" y="20"/>
              </a:cxn>
              <a:cxn ang="0">
                <a:pos x="46" y="17"/>
              </a:cxn>
              <a:cxn ang="0">
                <a:pos x="42" y="13"/>
              </a:cxn>
              <a:cxn ang="0">
                <a:pos x="39" y="13"/>
              </a:cxn>
              <a:cxn ang="0">
                <a:pos x="23" y="30"/>
              </a:cxn>
              <a:cxn ang="0">
                <a:pos x="15" y="22"/>
              </a:cxn>
              <a:cxn ang="0">
                <a:pos x="12" y="22"/>
              </a:cxn>
              <a:cxn ang="0">
                <a:pos x="8" y="26"/>
              </a:cxn>
              <a:cxn ang="0">
                <a:pos x="8" y="29"/>
              </a:cxn>
              <a:cxn ang="0">
                <a:pos x="21" y="42"/>
              </a:cxn>
              <a:cxn ang="0">
                <a:pos x="24" y="42"/>
              </a:cxn>
              <a:cxn ang="0">
                <a:pos x="46" y="20"/>
              </a:cxn>
            </a:cxnLst>
            <a:rect l="0" t="0" r="r" b="b"/>
            <a:pathLst>
              <a:path w="55" h="55">
                <a:moveTo>
                  <a:pt x="55" y="44"/>
                </a:moveTo>
                <a:cubicBezTo>
                  <a:pt x="55" y="50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0"/>
                </a:cubicBezTo>
                <a:lnTo>
                  <a:pt x="55" y="44"/>
                </a:lnTo>
                <a:close/>
                <a:moveTo>
                  <a:pt x="46" y="20"/>
                </a:moveTo>
                <a:cubicBezTo>
                  <a:pt x="47" y="19"/>
                  <a:pt x="47" y="17"/>
                  <a:pt x="46" y="17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2"/>
                  <a:pt x="40" y="12"/>
                  <a:pt x="39" y="13"/>
                </a:cubicBezTo>
                <a:cubicBezTo>
                  <a:pt x="23" y="30"/>
                  <a:pt x="23" y="30"/>
                  <a:pt x="23" y="30"/>
                </a:cubicBezTo>
                <a:cubicBezTo>
                  <a:pt x="15" y="22"/>
                  <a:pt x="15" y="22"/>
                  <a:pt x="15" y="22"/>
                </a:cubicBezTo>
                <a:cubicBezTo>
                  <a:pt x="14" y="21"/>
                  <a:pt x="13" y="21"/>
                  <a:pt x="12" y="22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7"/>
                  <a:pt x="7" y="28"/>
                  <a:pt x="8" y="29"/>
                </a:cubicBezTo>
                <a:cubicBezTo>
                  <a:pt x="21" y="42"/>
                  <a:pt x="21" y="42"/>
                  <a:pt x="21" y="42"/>
                </a:cubicBezTo>
                <a:cubicBezTo>
                  <a:pt x="22" y="43"/>
                  <a:pt x="23" y="43"/>
                  <a:pt x="24" y="42"/>
                </a:cubicBezTo>
                <a:lnTo>
                  <a:pt x="46" y="20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100687" tIns="50343" rIns="100687" bIns="50343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135923" rtl="0" eaLnBrk="0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202" b="0" i="0" u="none" strike="noStrike" kern="0" cap="none" spc="0" normalizeH="0" baseline="0" noProof="0">
              <a:ln>
                <a:solidFill>
                  <a:srgbClr val="F9A84A"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472475" y="4805436"/>
            <a:ext cx="504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다운로드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4" name="Freeform 46">
            <a:extLst>
              <a:ext uri="{FF2B5EF4-FFF2-40B4-BE49-F238E27FC236}">
                <a16:creationId xmlns:a16="http://schemas.microsoft.com/office/drawing/2014/main" id="{36BBD547-1346-F115-36F1-EB48123B65CE}"/>
              </a:ext>
            </a:extLst>
          </p:cNvPr>
          <p:cNvSpPr>
            <a:spLocks noEditPoints="1"/>
          </p:cNvSpPr>
          <p:nvPr/>
        </p:nvSpPr>
        <p:spPr bwMode="auto">
          <a:xfrm>
            <a:off x="3205653" y="4496762"/>
            <a:ext cx="113293" cy="113535"/>
          </a:xfrm>
          <a:custGeom>
            <a:avLst/>
            <a:gdLst/>
            <a:ahLst/>
            <a:cxnLst>
              <a:cxn ang="0">
                <a:pos x="55" y="44"/>
              </a:cxn>
              <a:cxn ang="0">
                <a:pos x="44" y="55"/>
              </a:cxn>
              <a:cxn ang="0">
                <a:pos x="10" y="55"/>
              </a:cxn>
              <a:cxn ang="0">
                <a:pos x="0" y="44"/>
              </a:cxn>
              <a:cxn ang="0">
                <a:pos x="0" y="10"/>
              </a:cxn>
              <a:cxn ang="0">
                <a:pos x="10" y="0"/>
              </a:cxn>
              <a:cxn ang="0">
                <a:pos x="44" y="0"/>
              </a:cxn>
              <a:cxn ang="0">
                <a:pos x="55" y="10"/>
              </a:cxn>
              <a:cxn ang="0">
                <a:pos x="55" y="44"/>
              </a:cxn>
              <a:cxn ang="0">
                <a:pos x="46" y="20"/>
              </a:cxn>
              <a:cxn ang="0">
                <a:pos x="46" y="17"/>
              </a:cxn>
              <a:cxn ang="0">
                <a:pos x="42" y="13"/>
              </a:cxn>
              <a:cxn ang="0">
                <a:pos x="39" y="13"/>
              </a:cxn>
              <a:cxn ang="0">
                <a:pos x="23" y="30"/>
              </a:cxn>
              <a:cxn ang="0">
                <a:pos x="15" y="22"/>
              </a:cxn>
              <a:cxn ang="0">
                <a:pos x="12" y="22"/>
              </a:cxn>
              <a:cxn ang="0">
                <a:pos x="8" y="26"/>
              </a:cxn>
              <a:cxn ang="0">
                <a:pos x="8" y="29"/>
              </a:cxn>
              <a:cxn ang="0">
                <a:pos x="21" y="42"/>
              </a:cxn>
              <a:cxn ang="0">
                <a:pos x="24" y="42"/>
              </a:cxn>
              <a:cxn ang="0">
                <a:pos x="46" y="20"/>
              </a:cxn>
            </a:cxnLst>
            <a:rect l="0" t="0" r="r" b="b"/>
            <a:pathLst>
              <a:path w="55" h="55">
                <a:moveTo>
                  <a:pt x="55" y="44"/>
                </a:moveTo>
                <a:cubicBezTo>
                  <a:pt x="55" y="50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0"/>
                </a:cubicBezTo>
                <a:lnTo>
                  <a:pt x="55" y="44"/>
                </a:lnTo>
                <a:close/>
                <a:moveTo>
                  <a:pt x="46" y="20"/>
                </a:moveTo>
                <a:cubicBezTo>
                  <a:pt x="47" y="19"/>
                  <a:pt x="47" y="17"/>
                  <a:pt x="46" y="17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2"/>
                  <a:pt x="40" y="12"/>
                  <a:pt x="39" y="13"/>
                </a:cubicBezTo>
                <a:cubicBezTo>
                  <a:pt x="23" y="30"/>
                  <a:pt x="23" y="30"/>
                  <a:pt x="23" y="30"/>
                </a:cubicBezTo>
                <a:cubicBezTo>
                  <a:pt x="15" y="22"/>
                  <a:pt x="15" y="22"/>
                  <a:pt x="15" y="22"/>
                </a:cubicBezTo>
                <a:cubicBezTo>
                  <a:pt x="14" y="21"/>
                  <a:pt x="13" y="21"/>
                  <a:pt x="12" y="22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7"/>
                  <a:pt x="7" y="28"/>
                  <a:pt x="8" y="29"/>
                </a:cubicBezTo>
                <a:cubicBezTo>
                  <a:pt x="21" y="42"/>
                  <a:pt x="21" y="42"/>
                  <a:pt x="21" y="42"/>
                </a:cubicBezTo>
                <a:cubicBezTo>
                  <a:pt x="22" y="43"/>
                  <a:pt x="23" y="43"/>
                  <a:pt x="24" y="42"/>
                </a:cubicBezTo>
                <a:lnTo>
                  <a:pt x="46" y="20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100687" tIns="50343" rIns="100687" bIns="50343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135923" rtl="0" eaLnBrk="0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202" b="0" i="0" u="none" strike="noStrike" kern="0" cap="none" spc="0" normalizeH="0" baseline="0" noProof="0">
              <a:ln>
                <a:solidFill>
                  <a:srgbClr val="F9A84A"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565500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MDD-00060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감사실시계획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(New)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사전감사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사전감사자료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감사실시계획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(P70: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김태훈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7207250" y="662793"/>
          <a:ext cx="2606675" cy="359504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33473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기존</a:t>
                      </a:r>
                      <a:r>
                        <a:rPr kumimoji="0" lang="ko-KR" altLang="en-US" sz="800" b="0" kern="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감사실시계획 메뉴명 </a:t>
                      </a:r>
                      <a:r>
                        <a:rPr kumimoji="0" lang="en-US" altLang="ko-KR" sz="800" b="0" kern="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-&gt; (</a:t>
                      </a:r>
                      <a:r>
                        <a:rPr kumimoji="0" lang="ko-KR" altLang="en-US" sz="800" b="0" kern="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</a:t>
                      </a:r>
                      <a:r>
                        <a:rPr kumimoji="0" lang="en-US" altLang="ko-KR" sz="800" b="0" kern="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kumimoji="0" lang="ko-KR" altLang="en-US" sz="800" b="0" kern="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감사실시계획으로</a:t>
                      </a:r>
                      <a:r>
                        <a:rPr kumimoji="0" lang="en-US" altLang="ko-KR" sz="800" b="0" kern="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ko-KR" altLang="en-US" sz="800" b="0" kern="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변경</a:t>
                      </a:r>
                      <a:endParaRPr lang="en-US" altLang="ko-KR" sz="800" b="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36824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Tx/>
                        <a:buNone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해당 감사년도의 감사 목록이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최근 감사  순으로 목록 표시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보기 링크를 클릭하면 내 감사 또는 진행감사에서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등록한 감사실시계획서를 다운로드 받을 수 있는 파일다운로드 팝업 창이 나타난다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sp>
        <p:nvSpPr>
          <p:cNvPr id="7" name="양쪽 모서리가 둥근 사각형 6"/>
          <p:cNvSpPr/>
          <p:nvPr/>
        </p:nvSpPr>
        <p:spPr bwMode="auto">
          <a:xfrm>
            <a:off x="239791" y="1207127"/>
            <a:ext cx="936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noProof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감시실시계획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39792" y="1392862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9" name="표 8"/>
          <p:cNvGraphicFramePr>
            <a:graphicFrameLocks noGrp="1"/>
          </p:cNvGraphicFramePr>
          <p:nvPr>
            <p:extLst/>
          </p:nvPr>
        </p:nvGraphicFramePr>
        <p:xfrm>
          <a:off x="259684" y="1815964"/>
          <a:ext cx="6673130" cy="2773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7489">
                  <a:extLst>
                    <a:ext uri="{9D8B030D-6E8A-4147-A177-3AD203B41FA5}">
                      <a16:colId xmlns:a16="http://schemas.microsoft.com/office/drawing/2014/main" val="800905440"/>
                    </a:ext>
                  </a:extLst>
                </a:gridCol>
                <a:gridCol w="411674">
                  <a:extLst>
                    <a:ext uri="{9D8B030D-6E8A-4147-A177-3AD203B41FA5}">
                      <a16:colId xmlns:a16="http://schemas.microsoft.com/office/drawing/2014/main" val="3407321604"/>
                    </a:ext>
                  </a:extLst>
                </a:gridCol>
                <a:gridCol w="598797">
                  <a:extLst>
                    <a:ext uri="{9D8B030D-6E8A-4147-A177-3AD203B41FA5}">
                      <a16:colId xmlns:a16="http://schemas.microsoft.com/office/drawing/2014/main" val="1426357061"/>
                    </a:ext>
                  </a:extLst>
                </a:gridCol>
                <a:gridCol w="645580">
                  <a:extLst>
                    <a:ext uri="{9D8B030D-6E8A-4147-A177-3AD203B41FA5}">
                      <a16:colId xmlns:a16="http://schemas.microsoft.com/office/drawing/2014/main" val="1099832380"/>
                    </a:ext>
                  </a:extLst>
                </a:gridCol>
                <a:gridCol w="589441">
                  <a:extLst>
                    <a:ext uri="{9D8B030D-6E8A-4147-A177-3AD203B41FA5}">
                      <a16:colId xmlns:a16="http://schemas.microsoft.com/office/drawing/2014/main" val="672329033"/>
                    </a:ext>
                  </a:extLst>
                </a:gridCol>
                <a:gridCol w="795279">
                  <a:extLst>
                    <a:ext uri="{9D8B030D-6E8A-4147-A177-3AD203B41FA5}">
                      <a16:colId xmlns:a16="http://schemas.microsoft.com/office/drawing/2014/main" val="3751315043"/>
                    </a:ext>
                  </a:extLst>
                </a:gridCol>
                <a:gridCol w="701717">
                  <a:extLst>
                    <a:ext uri="{9D8B030D-6E8A-4147-A177-3AD203B41FA5}">
                      <a16:colId xmlns:a16="http://schemas.microsoft.com/office/drawing/2014/main" val="4040908099"/>
                    </a:ext>
                  </a:extLst>
                </a:gridCol>
                <a:gridCol w="1085321">
                  <a:extLst>
                    <a:ext uri="{9D8B030D-6E8A-4147-A177-3AD203B41FA5}">
                      <a16:colId xmlns:a16="http://schemas.microsoft.com/office/drawing/2014/main" val="2441844411"/>
                    </a:ext>
                  </a:extLst>
                </a:gridCol>
                <a:gridCol w="571498">
                  <a:extLst>
                    <a:ext uri="{9D8B030D-6E8A-4147-A177-3AD203B41FA5}">
                      <a16:colId xmlns:a16="http://schemas.microsoft.com/office/drawing/2014/main" val="4107778018"/>
                    </a:ext>
                  </a:extLst>
                </a:gridCol>
                <a:gridCol w="806334">
                  <a:extLst>
                    <a:ext uri="{9D8B030D-6E8A-4147-A177-3AD203B41FA5}">
                      <a16:colId xmlns:a16="http://schemas.microsoft.com/office/drawing/2014/main" val="234469270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차수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팀구분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감사종류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감사구분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대표부점코드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대표부점명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감사명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감사역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감사실시계획서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6863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본점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부문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1706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테크기획부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IT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운영 적정성 점검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....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sng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보기</a:t>
                      </a:r>
                      <a:endParaRPr lang="ko-KR" altLang="en-US" sz="700" u="sng" dirty="0">
                        <a:solidFill>
                          <a:srgbClr val="2272F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486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8912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7252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95999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82436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13497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9525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83384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6876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51824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17680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43638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2622599"/>
                  </a:ext>
                </a:extLst>
              </a:tr>
            </a:tbl>
          </a:graphicData>
        </a:graphic>
      </p:graphicFrame>
      <p:grpSp>
        <p:nvGrpSpPr>
          <p:cNvPr id="10" name="그룹 9"/>
          <p:cNvGrpSpPr/>
          <p:nvPr/>
        </p:nvGrpSpPr>
        <p:grpSpPr>
          <a:xfrm>
            <a:off x="1018806" y="1521031"/>
            <a:ext cx="645876" cy="180915"/>
            <a:chOff x="1417837" y="4018047"/>
            <a:chExt cx="645876" cy="180915"/>
          </a:xfrm>
        </p:grpSpPr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17837" y="4018047"/>
              <a:ext cx="645876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1200" cap="none" spc="0" normalizeH="0" baseline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2025</a:t>
              </a:r>
              <a:endParaRPr kumimoji="0" lang="ko-KR" altLang="en-US" sz="10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12" name="이등변 삼각형 11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1930700" y="4090556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graphicFrame>
        <p:nvGraphicFramePr>
          <p:cNvPr id="13" name="내용 개체 틀 121"/>
          <p:cNvGraphicFramePr>
            <a:graphicFrameLocks/>
          </p:cNvGraphicFramePr>
          <p:nvPr>
            <p:extLst/>
          </p:nvPr>
        </p:nvGraphicFramePr>
        <p:xfrm>
          <a:off x="249672" y="1475421"/>
          <a:ext cx="6683142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76406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6006736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u="none" strike="noStrike" dirty="0" err="1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감사년도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1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428224" y="1523145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67997" y="114638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362148" y="144125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290105" y="191785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1" name="직사각형 20"/>
          <p:cNvSpPr/>
          <p:nvPr/>
        </p:nvSpPr>
        <p:spPr bwMode="auto">
          <a:xfrm>
            <a:off x="5029199" y="4699000"/>
            <a:ext cx="307975" cy="197947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22" name="그림 2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39743" y="2310098"/>
            <a:ext cx="2554445" cy="16094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58738058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MDD-00060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제출자료목록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(New)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사전감사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사전감사자료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제출자료목록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(P70: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김태훈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7207250" y="662793"/>
          <a:ext cx="2606675" cy="3755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기존</a:t>
                      </a:r>
                      <a:r>
                        <a:rPr kumimoji="0" lang="ko-KR" altLang="en-US" sz="800" b="0" kern="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제출자료목록 메뉴명 </a:t>
                      </a:r>
                      <a:r>
                        <a:rPr kumimoji="0" lang="en-US" altLang="ko-KR" sz="800" b="0" kern="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-&gt; (</a:t>
                      </a:r>
                      <a:r>
                        <a:rPr kumimoji="0" lang="ko-KR" altLang="en-US" sz="800" b="0" kern="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</a:t>
                      </a:r>
                      <a:r>
                        <a:rPr kumimoji="0" lang="en-US" altLang="ko-KR" sz="800" b="0" kern="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kumimoji="0" lang="ko-KR" altLang="en-US" sz="800" b="0" kern="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제출자료목록으로</a:t>
                      </a:r>
                      <a:r>
                        <a:rPr kumimoji="0" lang="en-US" altLang="ko-KR" sz="800" b="0" kern="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ko-KR" altLang="en-US" sz="800" b="0" kern="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변경</a:t>
                      </a:r>
                      <a:endParaRPr lang="en-US" altLang="ko-KR" sz="800" b="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Tx/>
                        <a:buNone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해당 감사년도의 감사 목록이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최근 감사  순으로 목록 표시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보기 링크를 클릭하면 내 감사 또는 진행감사에서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등록한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제출자료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목록을 다운로드 받을 수 있는 파일다운로드 팝업 창이 나타난다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sp>
        <p:nvSpPr>
          <p:cNvPr id="5" name="양쪽 모서리가 둥근 사각형 4"/>
          <p:cNvSpPr/>
          <p:nvPr/>
        </p:nvSpPr>
        <p:spPr bwMode="auto">
          <a:xfrm>
            <a:off x="239791" y="1207127"/>
            <a:ext cx="936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noProof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제출자료목록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39792" y="1392862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/>
          </p:nvPr>
        </p:nvGraphicFramePr>
        <p:xfrm>
          <a:off x="259684" y="1815964"/>
          <a:ext cx="6673130" cy="2773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7489">
                  <a:extLst>
                    <a:ext uri="{9D8B030D-6E8A-4147-A177-3AD203B41FA5}">
                      <a16:colId xmlns:a16="http://schemas.microsoft.com/office/drawing/2014/main" val="800905440"/>
                    </a:ext>
                  </a:extLst>
                </a:gridCol>
                <a:gridCol w="411674">
                  <a:extLst>
                    <a:ext uri="{9D8B030D-6E8A-4147-A177-3AD203B41FA5}">
                      <a16:colId xmlns:a16="http://schemas.microsoft.com/office/drawing/2014/main" val="3407321604"/>
                    </a:ext>
                  </a:extLst>
                </a:gridCol>
                <a:gridCol w="598797">
                  <a:extLst>
                    <a:ext uri="{9D8B030D-6E8A-4147-A177-3AD203B41FA5}">
                      <a16:colId xmlns:a16="http://schemas.microsoft.com/office/drawing/2014/main" val="1426357061"/>
                    </a:ext>
                  </a:extLst>
                </a:gridCol>
                <a:gridCol w="645580">
                  <a:extLst>
                    <a:ext uri="{9D8B030D-6E8A-4147-A177-3AD203B41FA5}">
                      <a16:colId xmlns:a16="http://schemas.microsoft.com/office/drawing/2014/main" val="1099832380"/>
                    </a:ext>
                  </a:extLst>
                </a:gridCol>
                <a:gridCol w="589441">
                  <a:extLst>
                    <a:ext uri="{9D8B030D-6E8A-4147-A177-3AD203B41FA5}">
                      <a16:colId xmlns:a16="http://schemas.microsoft.com/office/drawing/2014/main" val="672329033"/>
                    </a:ext>
                  </a:extLst>
                </a:gridCol>
                <a:gridCol w="795279">
                  <a:extLst>
                    <a:ext uri="{9D8B030D-6E8A-4147-A177-3AD203B41FA5}">
                      <a16:colId xmlns:a16="http://schemas.microsoft.com/office/drawing/2014/main" val="3751315043"/>
                    </a:ext>
                  </a:extLst>
                </a:gridCol>
                <a:gridCol w="701717">
                  <a:extLst>
                    <a:ext uri="{9D8B030D-6E8A-4147-A177-3AD203B41FA5}">
                      <a16:colId xmlns:a16="http://schemas.microsoft.com/office/drawing/2014/main" val="4040908099"/>
                    </a:ext>
                  </a:extLst>
                </a:gridCol>
                <a:gridCol w="1085321">
                  <a:extLst>
                    <a:ext uri="{9D8B030D-6E8A-4147-A177-3AD203B41FA5}">
                      <a16:colId xmlns:a16="http://schemas.microsoft.com/office/drawing/2014/main" val="2441844411"/>
                    </a:ext>
                  </a:extLst>
                </a:gridCol>
                <a:gridCol w="571498">
                  <a:extLst>
                    <a:ext uri="{9D8B030D-6E8A-4147-A177-3AD203B41FA5}">
                      <a16:colId xmlns:a16="http://schemas.microsoft.com/office/drawing/2014/main" val="4107778018"/>
                    </a:ext>
                  </a:extLst>
                </a:gridCol>
                <a:gridCol w="806334">
                  <a:extLst>
                    <a:ext uri="{9D8B030D-6E8A-4147-A177-3AD203B41FA5}">
                      <a16:colId xmlns:a16="http://schemas.microsoft.com/office/drawing/2014/main" val="234469270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차수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팀구분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감사종류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감사구분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대표부점코드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대표부점명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감사명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감사역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제출자료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6863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본점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부문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1706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테크기획부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IT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운영 적정성 점검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....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sng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보기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486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8912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7252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95999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82436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13497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9525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83384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6876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51824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17680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43638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2622599"/>
                  </a:ext>
                </a:extLst>
              </a:tr>
            </a:tbl>
          </a:graphicData>
        </a:graphic>
      </p:graphicFrame>
      <p:grpSp>
        <p:nvGrpSpPr>
          <p:cNvPr id="8" name="그룹 7"/>
          <p:cNvGrpSpPr/>
          <p:nvPr/>
        </p:nvGrpSpPr>
        <p:grpSpPr>
          <a:xfrm>
            <a:off x="1018806" y="1521031"/>
            <a:ext cx="645876" cy="180915"/>
            <a:chOff x="1417837" y="4018047"/>
            <a:chExt cx="645876" cy="180915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17837" y="4018047"/>
              <a:ext cx="645876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1200" cap="none" spc="0" normalizeH="0" baseline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2025</a:t>
              </a:r>
              <a:endParaRPr kumimoji="0" lang="ko-KR" altLang="en-US" sz="10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10" name="이등변 삼각형 9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1930700" y="4090556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graphicFrame>
        <p:nvGraphicFramePr>
          <p:cNvPr id="11" name="내용 개체 틀 121"/>
          <p:cNvGraphicFramePr>
            <a:graphicFrameLocks/>
          </p:cNvGraphicFramePr>
          <p:nvPr>
            <p:extLst/>
          </p:nvPr>
        </p:nvGraphicFramePr>
        <p:xfrm>
          <a:off x="249672" y="1475421"/>
          <a:ext cx="6683142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76406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6006736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u="none" strike="noStrike" dirty="0" err="1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감사년도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1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428224" y="1523145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97784" y="113252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362148" y="144125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290105" y="191785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8" name="직사각형 17"/>
          <p:cNvSpPr/>
          <p:nvPr/>
        </p:nvSpPr>
        <p:spPr bwMode="auto">
          <a:xfrm>
            <a:off x="5238750" y="3914775"/>
            <a:ext cx="795338" cy="17145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20" name="그림 1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53779" y="2540553"/>
            <a:ext cx="2554445" cy="16094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42741479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MDD-00060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감사일정 및 업무분장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사전감사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사전감사자료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감사일정 및 업무분장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(P70: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김태훈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7207250" y="662793"/>
          <a:ext cx="2606675" cy="3755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해당 감사년도의 감사 목록이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최근 감사  순으로 목록 표시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보기 링크를 클릭하면 내 감사 또는 진행감사에서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등록한 감사일정 및 업무분장을 다운로드 받을 수 있는 파일다운로드 팝업 창이 나타난다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sp>
        <p:nvSpPr>
          <p:cNvPr id="4" name="양쪽 모서리가 둥근 사각형 3"/>
          <p:cNvSpPr/>
          <p:nvPr/>
        </p:nvSpPr>
        <p:spPr bwMode="auto">
          <a:xfrm>
            <a:off x="239791" y="1207127"/>
            <a:ext cx="936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noProof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감사일정 및 업무분장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39792" y="1392862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/>
          </p:nvPr>
        </p:nvGraphicFramePr>
        <p:xfrm>
          <a:off x="259684" y="1815964"/>
          <a:ext cx="6673130" cy="2880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7489">
                  <a:extLst>
                    <a:ext uri="{9D8B030D-6E8A-4147-A177-3AD203B41FA5}">
                      <a16:colId xmlns:a16="http://schemas.microsoft.com/office/drawing/2014/main" val="800905440"/>
                    </a:ext>
                  </a:extLst>
                </a:gridCol>
                <a:gridCol w="411674">
                  <a:extLst>
                    <a:ext uri="{9D8B030D-6E8A-4147-A177-3AD203B41FA5}">
                      <a16:colId xmlns:a16="http://schemas.microsoft.com/office/drawing/2014/main" val="3407321604"/>
                    </a:ext>
                  </a:extLst>
                </a:gridCol>
                <a:gridCol w="423946">
                  <a:extLst>
                    <a:ext uri="{9D8B030D-6E8A-4147-A177-3AD203B41FA5}">
                      <a16:colId xmlns:a16="http://schemas.microsoft.com/office/drawing/2014/main" val="1426357061"/>
                    </a:ext>
                  </a:extLst>
                </a:gridCol>
                <a:gridCol w="515389">
                  <a:extLst>
                    <a:ext uri="{9D8B030D-6E8A-4147-A177-3AD203B41FA5}">
                      <a16:colId xmlns:a16="http://schemas.microsoft.com/office/drawing/2014/main" val="1099832380"/>
                    </a:ext>
                  </a:extLst>
                </a:gridCol>
                <a:gridCol w="556953">
                  <a:extLst>
                    <a:ext uri="{9D8B030D-6E8A-4147-A177-3AD203B41FA5}">
                      <a16:colId xmlns:a16="http://schemas.microsoft.com/office/drawing/2014/main" val="672329033"/>
                    </a:ext>
                  </a:extLst>
                </a:gridCol>
                <a:gridCol w="681643">
                  <a:extLst>
                    <a:ext uri="{9D8B030D-6E8A-4147-A177-3AD203B41FA5}">
                      <a16:colId xmlns:a16="http://schemas.microsoft.com/office/drawing/2014/main" val="3751315043"/>
                    </a:ext>
                  </a:extLst>
                </a:gridCol>
                <a:gridCol w="698269">
                  <a:extLst>
                    <a:ext uri="{9D8B030D-6E8A-4147-A177-3AD203B41FA5}">
                      <a16:colId xmlns:a16="http://schemas.microsoft.com/office/drawing/2014/main" val="4040908099"/>
                    </a:ext>
                  </a:extLst>
                </a:gridCol>
                <a:gridCol w="1263535">
                  <a:extLst>
                    <a:ext uri="{9D8B030D-6E8A-4147-A177-3AD203B41FA5}">
                      <a16:colId xmlns:a16="http://schemas.microsoft.com/office/drawing/2014/main" val="2441844411"/>
                    </a:ext>
                  </a:extLst>
                </a:gridCol>
                <a:gridCol w="847898">
                  <a:extLst>
                    <a:ext uri="{9D8B030D-6E8A-4147-A177-3AD203B41FA5}">
                      <a16:colId xmlns:a16="http://schemas.microsoft.com/office/drawing/2014/main" val="4107778018"/>
                    </a:ext>
                  </a:extLst>
                </a:gridCol>
                <a:gridCol w="806334">
                  <a:extLst>
                    <a:ext uri="{9D8B030D-6E8A-4147-A177-3AD203B41FA5}">
                      <a16:colId xmlns:a16="http://schemas.microsoft.com/office/drawing/2014/main" val="234469270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차수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팀구분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감사종류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감사구분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대표부점코드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대표부점명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감사명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감사역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감사일정및업무분장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6863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본점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부문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1706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테크기획부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IT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운영 적정성 점검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....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sng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보기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486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8912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7252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95999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82436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13497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9525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83384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6876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51824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17680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43638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2622599"/>
                  </a:ext>
                </a:extLst>
              </a:tr>
            </a:tbl>
          </a:graphicData>
        </a:graphic>
      </p:graphicFrame>
      <p:grpSp>
        <p:nvGrpSpPr>
          <p:cNvPr id="7" name="그룹 6"/>
          <p:cNvGrpSpPr/>
          <p:nvPr/>
        </p:nvGrpSpPr>
        <p:grpSpPr>
          <a:xfrm>
            <a:off x="1018806" y="1521031"/>
            <a:ext cx="645876" cy="180915"/>
            <a:chOff x="1417837" y="4018047"/>
            <a:chExt cx="645876" cy="180915"/>
          </a:xfrm>
        </p:grpSpPr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17837" y="4018047"/>
              <a:ext cx="645876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1200" cap="none" spc="0" normalizeH="0" baseline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2025</a:t>
              </a:r>
              <a:endParaRPr kumimoji="0" lang="ko-KR" altLang="en-US" sz="10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9" name="이등변 삼각형 8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1930700" y="4090556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graphicFrame>
        <p:nvGraphicFramePr>
          <p:cNvPr id="10" name="내용 개체 틀 121"/>
          <p:cNvGraphicFramePr>
            <a:graphicFrameLocks/>
          </p:cNvGraphicFramePr>
          <p:nvPr>
            <p:extLst/>
          </p:nvPr>
        </p:nvGraphicFramePr>
        <p:xfrm>
          <a:off x="249672" y="1475421"/>
          <a:ext cx="6683142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76406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6006736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u="none" strike="noStrike" dirty="0" err="1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감사년도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1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428224" y="1523145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362148" y="144125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290618" y="210239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23" name="그림 2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05977" y="3891582"/>
            <a:ext cx="2554445" cy="16094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3543739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4" name="내용 개체 틀 121"/>
          <p:cNvGraphicFramePr>
            <a:graphicFrameLocks/>
          </p:cNvGraphicFramePr>
          <p:nvPr>
            <p:extLst/>
          </p:nvPr>
        </p:nvGraphicFramePr>
        <p:xfrm>
          <a:off x="281902" y="1488872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5788848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조회대상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4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72109" y="1377618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9" name="양쪽 모서리가 둥근 사각형 28"/>
          <p:cNvSpPr/>
          <p:nvPr/>
        </p:nvSpPr>
        <p:spPr bwMode="auto">
          <a:xfrm>
            <a:off x="290215" y="1157889"/>
            <a:ext cx="1231013" cy="194874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글로벌영업점 감사업무 매뉴얼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MDD-00070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MDD75MBP300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글로벌영업점 감사업무 매뉴얼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사전감사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감사업무방법서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글로벌영업점 감사업무 매뉴얼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(P73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이지원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65" name="타원 6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61256" y="99906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69" name="표 68"/>
          <p:cNvGraphicFramePr>
            <a:graphicFrameLocks noGrp="1"/>
          </p:cNvGraphicFramePr>
          <p:nvPr>
            <p:extLst/>
          </p:nvPr>
        </p:nvGraphicFramePr>
        <p:xfrm>
          <a:off x="7207250" y="662793"/>
          <a:ext cx="2606675" cy="598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국외 영업점 감사업무 매뉴얼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 기존 화면 기능은 유지하고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국가별 메뉴를 통합한 하나의 화면으로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글로벌영업점 감사업무 매뉴얼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이라는 명칭으로 신규 화면을 만든다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참고 화면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국외영업점 감사업무 매뉴얼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]: 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 MDD75MBO000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 조건을 아래와 같이한다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</a:p>
                    <a:p>
                      <a:pPr latinLnBrk="1"/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가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 대상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: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옆의 표 내역으로 하되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각 지점 명칭 및 개수는 재확인 필요하다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indent="0" latinLnBrk="1">
                        <a:buFontTx/>
                        <a:buNone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국외영업점별 감사업무메뉴얼도 하나의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게시판임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kern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kumimoji="0" lang="en-US" altLang="ko-KR" sz="800" b="0" kern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중국현지법인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광저우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, </a:t>
                      </a:r>
                      <a:r>
                        <a:rPr lang="ko-KR" altLang="en-US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하얼빈 지점 통합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): </a:t>
                      </a:r>
                      <a:r>
                        <a:rPr kumimoji="0" lang="ko-KR" altLang="en-US" sz="800" b="0" kern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광저우</a:t>
                      </a:r>
                      <a:r>
                        <a:rPr kumimoji="0" lang="en-US" altLang="ko-KR" sz="800" b="0" kern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kumimoji="0" lang="ko-KR" altLang="en-US" sz="800" b="0" kern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하얼빈 자료 통합 </a:t>
                      </a:r>
                      <a:r>
                        <a:rPr kumimoji="0" lang="en-US" altLang="ko-KR" sz="800" b="0" kern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-&gt; </a:t>
                      </a:r>
                      <a:r>
                        <a:rPr kumimoji="0" lang="ko-KR" altLang="en-US" sz="800" b="0" kern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중국현지법인 에 대한 처리 방안 확인</a:t>
                      </a:r>
                      <a:r>
                        <a:rPr kumimoji="0" lang="en-US" altLang="ko-KR" sz="800" b="0" kern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kumimoji="0" lang="ko-KR" altLang="en-US" sz="800" b="0" kern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r>
                        <a:rPr kumimoji="0" lang="en-US" altLang="ko-KR" sz="800" b="0" kern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kumimoji="0" lang="ko-KR" altLang="en-US" sz="800" b="0" i="0" u="none" strike="noStrike" kern="0" cap="none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171450" indent="-171450" latinLnBrk="1">
                        <a:buFontTx/>
                        <a:buChar char="-"/>
                      </a:pP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57225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8846583"/>
                  </a:ext>
                </a:extLst>
              </a:tr>
            </a:tbl>
          </a:graphicData>
        </a:graphic>
      </p:graphicFrame>
      <p:graphicFrame>
        <p:nvGraphicFramePr>
          <p:cNvPr id="36" name="표 35"/>
          <p:cNvGraphicFramePr>
            <a:graphicFrameLocks noGrp="1"/>
          </p:cNvGraphicFramePr>
          <p:nvPr>
            <p:extLst/>
          </p:nvPr>
        </p:nvGraphicFramePr>
        <p:xfrm>
          <a:off x="256013" y="1891966"/>
          <a:ext cx="6742494" cy="560052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2404060">
                  <a:extLst>
                    <a:ext uri="{9D8B030D-6E8A-4147-A177-3AD203B41FA5}">
                      <a16:colId xmlns:a16="http://schemas.microsoft.com/office/drawing/2014/main" val="4259443528"/>
                    </a:ext>
                  </a:extLst>
                </a:gridCol>
                <a:gridCol w="922712">
                  <a:extLst>
                    <a:ext uri="{9D8B030D-6E8A-4147-A177-3AD203B41FA5}">
                      <a16:colId xmlns:a16="http://schemas.microsoft.com/office/drawing/2014/main" val="2119051089"/>
                    </a:ext>
                  </a:extLst>
                </a:gridCol>
                <a:gridCol w="1105593">
                  <a:extLst>
                    <a:ext uri="{9D8B030D-6E8A-4147-A177-3AD203B41FA5}">
                      <a16:colId xmlns:a16="http://schemas.microsoft.com/office/drawing/2014/main" val="2532418022"/>
                    </a:ext>
                  </a:extLst>
                </a:gridCol>
                <a:gridCol w="922713">
                  <a:extLst>
                    <a:ext uri="{9D8B030D-6E8A-4147-A177-3AD203B41FA5}">
                      <a16:colId xmlns:a16="http://schemas.microsoft.com/office/drawing/2014/main" val="2848667511"/>
                    </a:ext>
                  </a:extLst>
                </a:gridCol>
                <a:gridCol w="781396">
                  <a:extLst>
                    <a:ext uri="{9D8B030D-6E8A-4147-A177-3AD203B41FA5}">
                      <a16:colId xmlns:a16="http://schemas.microsoft.com/office/drawing/2014/main" val="3024964874"/>
                    </a:ext>
                  </a:extLst>
                </a:gridCol>
                <a:gridCol w="606020">
                  <a:extLst>
                    <a:ext uri="{9D8B030D-6E8A-4147-A177-3AD203B41FA5}">
                      <a16:colId xmlns:a16="http://schemas.microsoft.com/office/drawing/2014/main" val="2999402366"/>
                    </a:ext>
                  </a:extLst>
                </a:gridCol>
              </a:tblGrid>
              <a:tr h="14001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제목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게시자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최종게시일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최종수정일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첨부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조회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541704"/>
                  </a:ext>
                </a:extLst>
              </a:tr>
              <a:tr h="140013"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4588187"/>
                  </a:ext>
                </a:extLst>
              </a:tr>
              <a:tr h="140013"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0130473"/>
                  </a:ext>
                </a:extLst>
              </a:tr>
              <a:tr h="140013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u="none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435405"/>
                  </a:ext>
                </a:extLst>
              </a:tr>
            </a:tbl>
          </a:graphicData>
        </a:graphic>
      </p:graphicFrame>
      <p:cxnSp>
        <p:nvCxnSpPr>
          <p:cNvPr id="34" name="구부러진 연결선 33"/>
          <p:cNvCxnSpPr>
            <a:endCxn id="21" idx="3"/>
          </p:cNvCxnSpPr>
          <p:nvPr/>
        </p:nvCxnSpPr>
        <p:spPr bwMode="auto">
          <a:xfrm flipH="1" flipV="1">
            <a:off x="1945284" y="1622340"/>
            <a:ext cx="240164" cy="993164"/>
          </a:xfrm>
          <a:prstGeom prst="curvedConnector3">
            <a:avLst>
              <a:gd name="adj1" fmla="val -115015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graphicFrame>
        <p:nvGraphicFramePr>
          <p:cNvPr id="37" name="표 36"/>
          <p:cNvGraphicFramePr>
            <a:graphicFrameLocks noGrp="1"/>
          </p:cNvGraphicFramePr>
          <p:nvPr>
            <p:extLst/>
          </p:nvPr>
        </p:nvGraphicFramePr>
        <p:xfrm>
          <a:off x="1034222" y="2566432"/>
          <a:ext cx="1502343" cy="3533559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343">
                  <a:extLst>
                    <a:ext uri="{9D8B030D-6E8A-4147-A177-3AD203B41FA5}">
                      <a16:colId xmlns:a16="http://schemas.microsoft.com/office/drawing/2014/main" val="4259443528"/>
                    </a:ext>
                  </a:extLst>
                </a:gridCol>
              </a:tblGrid>
              <a:tr h="21232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국외영업점별 감사업무 매뉴얼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541704"/>
                  </a:ext>
                </a:extLst>
              </a:tr>
              <a:tr h="207577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뉴욕지점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4588187"/>
                  </a:ext>
                </a:extLst>
              </a:tr>
              <a:tr h="207577"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동경지점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1442022"/>
                  </a:ext>
                </a:extLst>
              </a:tr>
              <a:tr h="207577"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구루그람지점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1357333"/>
                  </a:ext>
                </a:extLst>
              </a:tr>
              <a:tr h="207577"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첸나이지점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3047519"/>
                  </a:ext>
                </a:extLst>
              </a:tr>
              <a:tr h="207577"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푸네지점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6508097"/>
                  </a:ext>
                </a:extLst>
              </a:tr>
              <a:tr h="207577"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런던지점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2838301"/>
                  </a:ext>
                </a:extLst>
              </a:tr>
              <a:tr h="207577"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홍콩지점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0898808"/>
                  </a:ext>
                </a:extLst>
              </a:tr>
              <a:tr h="207577"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싱가포르지점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467550"/>
                  </a:ext>
                </a:extLst>
              </a:tr>
              <a:tr h="207577"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호치민지점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4943522"/>
                  </a:ext>
                </a:extLst>
              </a:tr>
              <a:tr h="207577"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하노이지점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410427"/>
                  </a:ext>
                </a:extLst>
              </a:tr>
              <a:tr h="207577"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오클랜드지점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6657752"/>
                  </a:ext>
                </a:extLst>
              </a:tr>
              <a:tr h="207577"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중국현지법인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98715"/>
                  </a:ext>
                </a:extLst>
              </a:tr>
              <a:tr h="207577"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MF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미얀마법인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0175847"/>
                  </a:ext>
                </a:extLst>
              </a:tr>
              <a:tr h="207577"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미얀마은행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7957114"/>
                  </a:ext>
                </a:extLst>
              </a:tr>
              <a:tr h="207577"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KB Bank(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인도네시아</a:t>
                      </a:r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638769"/>
                  </a:ext>
                </a:extLst>
              </a:tr>
              <a:tr h="207577"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KB Prasac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413452"/>
                  </a:ext>
                </a:extLst>
              </a:tr>
            </a:tbl>
          </a:graphicData>
        </a:graphic>
      </p:graphicFrame>
      <p:sp>
        <p:nvSpPr>
          <p:cNvPr id="38" name="이등변 삼각형 37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2384166" y="2643696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73534" y="1532865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뉴욕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6" name="이등변 삼각형 45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1852902" y="1605374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372505" y="1531458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779157" y="1531458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답변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85809" y="1531458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수정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92462" y="1531458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검색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1" name="직사각형 50"/>
          <p:cNvSpPr/>
          <p:nvPr/>
        </p:nvSpPr>
        <p:spPr bwMode="auto">
          <a:xfrm>
            <a:off x="283942" y="1480559"/>
            <a:ext cx="1785945" cy="296993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56013" y="140300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458567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2880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기존 화면의 기능과 동일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조회대상을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선택하면 해당 내용을 조회한다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 대상 목록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VOC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자료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승인권자별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체크리스트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운영리스크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대외규정상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준수대상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계량지표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점검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)Letter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발송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)BMP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관련자료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 제출 명세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금융감독원 업무보고서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사업그룹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모니터링자료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RM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50529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strike="noStrike" dirty="0" err="1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대외규정상</a:t>
                      </a:r>
                      <a:r>
                        <a:rPr lang="ko-KR" altLang="en-US" sz="70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700" u="none" strike="noStrike" dirty="0" err="1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준수대상</a:t>
                      </a:r>
                      <a:r>
                        <a:rPr lang="ko-KR" altLang="en-US" sz="70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700" u="none" strike="noStrike" dirty="0" err="1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계량지표</a:t>
                      </a:r>
                      <a:r>
                        <a:rPr lang="ko-KR" altLang="en-US" sz="700" u="none" strike="noStrike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점검</a:t>
                      </a:r>
                      <a:r>
                        <a:rPr lang="en-US" altLang="ko-KR" sz="8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</a:t>
                      </a:r>
                      <a:r>
                        <a:rPr lang="ko-KR" altLang="en-US" sz="8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연도별 점검</a:t>
                      </a:r>
                      <a:r>
                        <a:rPr lang="en-US" altLang="ko-KR" sz="8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운영리스크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연도별 관리 필요 여부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67248504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MDD-00069 MDD-00071</a:t>
                      </a:r>
                      <a:endParaRPr lang="ko-KR" altLang="en-US" sz="9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MDD75MBP000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과거자료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모음</a:t>
                      </a:r>
                      <a:endParaRPr lang="en-US" altLang="ko-KR" sz="12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정보관리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과거자료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모음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(P74: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이지원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19" name="양쪽 모서리가 둥근 사각형 18"/>
          <p:cNvSpPr/>
          <p:nvPr/>
        </p:nvSpPr>
        <p:spPr bwMode="auto">
          <a:xfrm>
            <a:off x="256175" y="1162789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과거자료</a:t>
            </a:r>
            <a:r>
              <a:rPr kumimoji="0" lang="ko-KR" altLang="en-US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모음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0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49672" y="1088193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1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56176" y="1348524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2" name="직사각형 21"/>
          <p:cNvSpPr/>
          <p:nvPr/>
        </p:nvSpPr>
        <p:spPr bwMode="auto">
          <a:xfrm flipV="1">
            <a:off x="256173" y="1150160"/>
            <a:ext cx="1075897" cy="22836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95712" y="108819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24" name="그림 23"/>
          <p:cNvPicPr>
            <a:picLocks noChangeAspect="1"/>
          </p:cNvPicPr>
          <p:nvPr/>
        </p:nvPicPr>
        <p:blipFill rotWithShape="1">
          <a:blip r:embed="rId2"/>
          <a:srcRect t="25303"/>
          <a:stretch/>
        </p:blipFill>
        <p:spPr>
          <a:xfrm>
            <a:off x="223137" y="1772414"/>
            <a:ext cx="6752931" cy="495962"/>
          </a:xfrm>
          <a:prstGeom prst="rect">
            <a:avLst/>
          </a:prstGeom>
        </p:spPr>
      </p:pic>
      <p:graphicFrame>
        <p:nvGraphicFramePr>
          <p:cNvPr id="25" name="내용 개체 틀 121"/>
          <p:cNvGraphicFramePr>
            <a:graphicFrameLocks/>
          </p:cNvGraphicFramePr>
          <p:nvPr>
            <p:extLst/>
          </p:nvPr>
        </p:nvGraphicFramePr>
        <p:xfrm>
          <a:off x="249672" y="1475421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5788848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조회대상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26" name="직사각형 2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41304" y="1502788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VOC</a:t>
            </a:r>
            <a:r>
              <a:rPr kumimoji="0" lang="ko-KR" altLang="en-US" sz="8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자료</a:t>
            </a:r>
            <a:endParaRPr kumimoji="0" lang="ko-KR" altLang="en-US" sz="8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7" name="이등변 삼각형 26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1820672" y="1583610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340275" y="1526320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746927" y="1526320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답변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53579" y="1526320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수정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60232" y="1526320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검색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4" name="직사각형 33"/>
          <p:cNvSpPr/>
          <p:nvPr/>
        </p:nvSpPr>
        <p:spPr bwMode="auto">
          <a:xfrm>
            <a:off x="251712" y="1475421"/>
            <a:ext cx="1785945" cy="296993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171104" y="143210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/>
          </p:nvPr>
        </p:nvGraphicFramePr>
        <p:xfrm>
          <a:off x="588090" y="2457446"/>
          <a:ext cx="6062567" cy="364174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7432">
                  <a:extLst>
                    <a:ext uri="{9D8B030D-6E8A-4147-A177-3AD203B41FA5}">
                      <a16:colId xmlns:a16="http://schemas.microsoft.com/office/drawing/2014/main" val="69399570"/>
                    </a:ext>
                  </a:extLst>
                </a:gridCol>
                <a:gridCol w="323404">
                  <a:extLst>
                    <a:ext uri="{9D8B030D-6E8A-4147-A177-3AD203B41FA5}">
                      <a16:colId xmlns:a16="http://schemas.microsoft.com/office/drawing/2014/main" val="2723976180"/>
                    </a:ext>
                  </a:extLst>
                </a:gridCol>
                <a:gridCol w="323404">
                  <a:extLst>
                    <a:ext uri="{9D8B030D-6E8A-4147-A177-3AD203B41FA5}">
                      <a16:colId xmlns:a16="http://schemas.microsoft.com/office/drawing/2014/main" val="1641601961"/>
                    </a:ext>
                  </a:extLst>
                </a:gridCol>
                <a:gridCol w="1291951">
                  <a:extLst>
                    <a:ext uri="{9D8B030D-6E8A-4147-A177-3AD203B41FA5}">
                      <a16:colId xmlns:a16="http://schemas.microsoft.com/office/drawing/2014/main" val="2915692955"/>
                    </a:ext>
                  </a:extLst>
                </a:gridCol>
                <a:gridCol w="982870">
                  <a:extLst>
                    <a:ext uri="{9D8B030D-6E8A-4147-A177-3AD203B41FA5}">
                      <a16:colId xmlns:a16="http://schemas.microsoft.com/office/drawing/2014/main" val="153655409"/>
                    </a:ext>
                  </a:extLst>
                </a:gridCol>
                <a:gridCol w="347619">
                  <a:extLst>
                    <a:ext uri="{9D8B030D-6E8A-4147-A177-3AD203B41FA5}">
                      <a16:colId xmlns:a16="http://schemas.microsoft.com/office/drawing/2014/main" val="1547002997"/>
                    </a:ext>
                  </a:extLst>
                </a:gridCol>
                <a:gridCol w="404969">
                  <a:extLst>
                    <a:ext uri="{9D8B030D-6E8A-4147-A177-3AD203B41FA5}">
                      <a16:colId xmlns:a16="http://schemas.microsoft.com/office/drawing/2014/main" val="279693442"/>
                    </a:ext>
                  </a:extLst>
                </a:gridCol>
                <a:gridCol w="407440">
                  <a:extLst>
                    <a:ext uri="{9D8B030D-6E8A-4147-A177-3AD203B41FA5}">
                      <a16:colId xmlns:a16="http://schemas.microsoft.com/office/drawing/2014/main" val="1376887926"/>
                    </a:ext>
                  </a:extLst>
                </a:gridCol>
                <a:gridCol w="1713478">
                  <a:extLst>
                    <a:ext uri="{9D8B030D-6E8A-4147-A177-3AD203B41FA5}">
                      <a16:colId xmlns:a16="http://schemas.microsoft.com/office/drawing/2014/main" val="1895788174"/>
                    </a:ext>
                  </a:extLst>
                </a:gridCol>
              </a:tblGrid>
              <a:tr h="16968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No</a:t>
                      </a:r>
                      <a:endParaRPr 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메뉴</a:t>
                      </a:r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(1</a:t>
                      </a:r>
                      <a:r>
                        <a:rPr 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Lvl)</a:t>
                      </a:r>
                      <a:endParaRPr 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메뉴</a:t>
                      </a:r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(2</a:t>
                      </a:r>
                      <a:r>
                        <a:rPr 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Lvl)</a:t>
                      </a:r>
                      <a:endParaRPr lang="en-US" sz="600" b="1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메뉴</a:t>
                      </a:r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(3</a:t>
                      </a:r>
                      <a:r>
                        <a:rPr 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Lvl)</a:t>
                      </a:r>
                      <a:endParaRPr lang="en-US" sz="600" b="1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메뉴</a:t>
                      </a:r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(4</a:t>
                      </a:r>
                      <a:r>
                        <a:rPr 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Lvl)</a:t>
                      </a:r>
                      <a:endParaRPr lang="en-US" sz="600" b="1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메뉴</a:t>
                      </a:r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(5</a:t>
                      </a:r>
                      <a:r>
                        <a:rPr 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Lvl)</a:t>
                      </a:r>
                      <a:endParaRPr lang="en-US" sz="600" b="1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자료 건수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최종 등재년도</a:t>
                      </a:r>
                      <a:endParaRPr lang="ko-KR" altLang="en-US" sz="600" b="1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(To-Be)SelectBox Option 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명칭</a:t>
                      </a:r>
                      <a:endParaRPr lang="ko-KR" altLang="en-US" sz="600" b="1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1829229"/>
                  </a:ext>
                </a:extLst>
              </a:tr>
              <a:tr h="16968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본부감사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사전감사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사전감사자료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VOC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자료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9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2012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VOC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자료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3114407"/>
                  </a:ext>
                </a:extLst>
              </a:tr>
              <a:tr h="16968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본부감사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 err="1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사전감사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사전감사자료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승인권자별 체크리스트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45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2016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 err="1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승인권자별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체크리스트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6344303"/>
                  </a:ext>
                </a:extLst>
              </a:tr>
              <a:tr h="16968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본부감사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사전감사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사전감사자료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운영리스크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46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2017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 err="1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운영리스크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3233714"/>
                  </a:ext>
                </a:extLst>
              </a:tr>
              <a:tr h="16968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본부감사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사전감사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사전감사자료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대외규정상 준수대상 계량지표 점검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참고자료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2017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 err="1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대외규정상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600" u="none" strike="noStrike" dirty="0" err="1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준수대상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600" u="none" strike="noStrike" dirty="0" err="1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계량지표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점검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8899317"/>
                  </a:ext>
                </a:extLst>
              </a:tr>
              <a:tr h="16968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5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본부감사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사전감사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사전감사자료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 err="1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대외규정상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600" u="none" strike="noStrike" dirty="0" err="1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준수대상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600" u="none" strike="noStrike" dirty="0" err="1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계량지표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점검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연도별 점검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31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2018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 err="1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대외규정상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600" u="none" strike="noStrike" dirty="0" err="1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준수대상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600" u="none" strike="noStrike" dirty="0" err="1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계량지표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점검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7817825"/>
                  </a:ext>
                </a:extLst>
              </a:tr>
              <a:tr h="16968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6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본부감사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사전감사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구</a:t>
                      </a:r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r>
                        <a:rPr 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Letter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발송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9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2008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구</a:t>
                      </a:r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r>
                        <a:rPr 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Letter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발송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4813806"/>
                  </a:ext>
                </a:extLst>
              </a:tr>
              <a:tr h="16968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7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본부감사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사전감사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구</a:t>
                      </a:r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r>
                        <a:rPr 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BMP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관련자료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 err="1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사업본부별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 err="1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재무기획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2003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구</a:t>
                      </a:r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r>
                        <a:rPr 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BMP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관련자료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0753770"/>
                  </a:ext>
                </a:extLst>
              </a:tr>
              <a:tr h="16968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8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본부감사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사전감사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구</a:t>
                      </a:r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r>
                        <a:rPr 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BMP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관련자료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사업본부별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 err="1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리스크관리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2003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구</a:t>
                      </a:r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r>
                        <a:rPr 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BMP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관련자료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1407914"/>
                  </a:ext>
                </a:extLst>
              </a:tr>
              <a:tr h="16968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9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본부감사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사전감사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구</a:t>
                      </a:r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r>
                        <a:rPr 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BMP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관련자료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 err="1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사업본부별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전산정보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5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2003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구</a:t>
                      </a:r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r>
                        <a:rPr 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BMP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관련자료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7990282"/>
                  </a:ext>
                </a:extLst>
              </a:tr>
              <a:tr h="16968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10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본부감사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사전감사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구</a:t>
                      </a:r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r>
                        <a:rPr 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BMP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관련자료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사업본부별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영업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2003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구</a:t>
                      </a:r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r>
                        <a:rPr 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BMP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관련자료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610481"/>
                  </a:ext>
                </a:extLst>
              </a:tr>
              <a:tr h="16968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11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본부감사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사전감사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구</a:t>
                      </a:r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r>
                        <a:rPr 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BMP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관련자료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사업본부별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개인고객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2003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구</a:t>
                      </a:r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r>
                        <a:rPr 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BMP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관련자료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649302"/>
                  </a:ext>
                </a:extLst>
              </a:tr>
              <a:tr h="16968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12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본부감사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사전감사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구</a:t>
                      </a:r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r>
                        <a:rPr 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BMP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관련자료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사업본부별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기업고객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2003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구</a:t>
                      </a:r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r>
                        <a:rPr 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BMP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관련자료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0978534"/>
                  </a:ext>
                </a:extLst>
              </a:tr>
              <a:tr h="16968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13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본부감사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사전감사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구</a:t>
                      </a:r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r>
                        <a:rPr 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BMP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관련자료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사업본부별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국제금융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2003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구</a:t>
                      </a:r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r>
                        <a:rPr 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BMP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관련자료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4530254"/>
                  </a:ext>
                </a:extLst>
              </a:tr>
              <a:tr h="16968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14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본부감사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사전감사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구</a:t>
                      </a:r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r>
                        <a:rPr 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BMP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관련자료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사업본부별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자본시장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2003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구</a:t>
                      </a:r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r>
                        <a:rPr 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BMP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관련자료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7987487"/>
                  </a:ext>
                </a:extLst>
              </a:tr>
              <a:tr h="16968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15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본부감사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사전감사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구</a:t>
                      </a:r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r>
                        <a:rPr 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BMP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관련자료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사업본부별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카드사업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2007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구</a:t>
                      </a:r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r>
                        <a:rPr 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BMP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관련자료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325245"/>
                  </a:ext>
                </a:extLst>
              </a:tr>
              <a:tr h="16968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16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본부감사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사전감사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구</a:t>
                      </a:r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r>
                        <a:rPr 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BMP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관련자료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사업본부별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준법감시팀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2003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구</a:t>
                      </a:r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r>
                        <a:rPr 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BMP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관련자료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7978566"/>
                  </a:ext>
                </a:extLst>
              </a:tr>
              <a:tr h="16968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17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본부감사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사전감사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구</a:t>
                      </a:r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r>
                        <a:rPr 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BMP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관련자료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사업본부별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PB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본부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2003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구</a:t>
                      </a:r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r>
                        <a:rPr 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BMP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관련자료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169765"/>
                  </a:ext>
                </a:extLst>
              </a:tr>
              <a:tr h="16968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18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본부감사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감사결과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지적사항관리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지적사항 제출 명세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9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2018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지적사항 제출 명세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792179"/>
                  </a:ext>
                </a:extLst>
              </a:tr>
              <a:tr h="16968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19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본부감사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정보관리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금융감독원 업무보고서</a:t>
                      </a:r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/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사업그룹 모니터링자료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76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2010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금융감독원 업무보고서</a:t>
                      </a:r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/</a:t>
                      </a:r>
                      <a:r>
                        <a:rPr lang="ko-KR" altLang="en-US" sz="600" u="none" strike="noStrike" dirty="0" err="1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사업그룹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모니터링자료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6943813"/>
                  </a:ext>
                </a:extLst>
              </a:tr>
              <a:tr h="16968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본부감사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정보관리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RM</a:t>
                      </a:r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스퀘어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정기</a:t>
                      </a:r>
                      <a:r>
                        <a:rPr 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RM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보고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2020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정기</a:t>
                      </a:r>
                      <a:r>
                        <a:rPr 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RM</a:t>
                      </a:r>
                      <a:r>
                        <a:rPr lang="ko-KR" altLang="en-US" sz="600" u="none" strike="noStrike" dirty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보고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395" marR="6395" marT="639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6672366"/>
                  </a:ext>
                </a:extLst>
              </a:tr>
            </a:tbl>
          </a:graphicData>
        </a:graphic>
      </p:graphicFrame>
      <p:sp>
        <p:nvSpPr>
          <p:cNvPr id="36" name="타원 3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992147" y="237766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983825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988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감사단위추가를 누르면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감사선택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팝업이 호출되고 사용자가 배정감사역으로 포함된 감사 목록을 조회한다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감사단위추가로 선택된 감사의 지적사항 목록을 보여준다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더블클릭하면 지적사항 상세 팝업이 호출된다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키워드를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 수기 입력한다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.(3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개이상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필수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  <a:p>
                      <a:pPr marL="85725" marR="0" indent="-85725" defTabSz="91440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※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ko-KR" altLang="en-US" sz="800" b="0" i="0" u="none" strike="noStrike" kern="0" cap="none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키워드 입력 방법</a:t>
                      </a:r>
                      <a:r>
                        <a:rPr kumimoji="0" lang="en-US" altLang="ko-KR" sz="800" b="0" i="0" u="none" strike="noStrike" kern="0" cap="none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kumimoji="0" lang="ko-KR" altLang="en-US" sz="800" b="0" i="0" u="none" strike="noStrike" kern="0" cap="none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업무영역 및 </a:t>
                      </a:r>
                      <a:r>
                        <a:rPr kumimoji="0" lang="ko-KR" altLang="en-US" sz="800" b="0" i="0" u="none" strike="noStrike" kern="0" cap="none" normalizeH="0" baseline="0" noProof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조치요인</a:t>
                      </a:r>
                      <a:r>
                        <a:rPr kumimoji="0" lang="ko-KR" altLang="en-US" sz="800" b="0" i="0" u="none" strike="noStrike" kern="0" cap="none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목록은 팝업 창에서 선택하고 </a:t>
                      </a:r>
                      <a:r>
                        <a:rPr kumimoji="0" lang="ko-KR" altLang="en-US" sz="800" b="0" i="0" u="none" strike="noStrike" kern="0" cap="none" normalizeH="0" baseline="0" noProof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그외</a:t>
                      </a:r>
                      <a:r>
                        <a:rPr kumimoji="0" lang="ko-KR" altLang="en-US" sz="800" b="0" i="0" u="none" strike="noStrike" kern="0" cap="none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키워드</a:t>
                      </a:r>
                      <a:r>
                        <a:rPr kumimoji="0" lang="en-US" altLang="ko-KR" sz="800" b="0" i="0" u="none" strike="noStrike" kern="0" cap="none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r>
                        <a:rPr kumimoji="0" lang="ko-KR" altLang="en-US" sz="800" b="0" i="0" u="none" strike="noStrike" kern="0" cap="none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개는 </a:t>
                      </a:r>
                      <a:r>
                        <a:rPr kumimoji="0" lang="en-US" altLang="ko-KR" sz="800" b="0" kern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input box</a:t>
                      </a:r>
                      <a:r>
                        <a:rPr kumimoji="0" lang="ko-KR" altLang="en-US" sz="800" b="0" kern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에 수기로 입력함</a:t>
                      </a:r>
                      <a:endParaRPr kumimoji="0" lang="ko-KR" altLang="en-US" sz="800" b="0" i="0" u="none" strike="noStrike" kern="0" cap="none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내용을 입력하고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MDD-00065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MDD75MC1000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지적사항 등록</a:t>
                      </a:r>
                      <a:endParaRPr lang="en-US" altLang="ko-KR" sz="12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감사결과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지적사항 관리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지적사항 등록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(P75: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이지원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31" name="양쪽 모서리가 둥근 사각형 30"/>
          <p:cNvSpPr/>
          <p:nvPr/>
        </p:nvSpPr>
        <p:spPr bwMode="auto">
          <a:xfrm>
            <a:off x="272800" y="1162788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지적현황 등록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66297" y="108819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7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72801" y="134852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39" name="그림 3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66297" y="1451936"/>
            <a:ext cx="6732899" cy="3377758"/>
          </a:xfrm>
          <a:prstGeom prst="rect">
            <a:avLst/>
          </a:prstGeom>
        </p:spPr>
      </p:pic>
      <p:graphicFrame>
        <p:nvGraphicFramePr>
          <p:cNvPr id="40" name="표 39"/>
          <p:cNvGraphicFramePr>
            <a:graphicFrameLocks noGrp="1"/>
          </p:cNvGraphicFramePr>
          <p:nvPr>
            <p:extLst/>
          </p:nvPr>
        </p:nvGraphicFramePr>
        <p:xfrm>
          <a:off x="3740588" y="1779290"/>
          <a:ext cx="3258608" cy="182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9440">
                  <a:extLst>
                    <a:ext uri="{9D8B030D-6E8A-4147-A177-3AD203B41FA5}">
                      <a16:colId xmlns:a16="http://schemas.microsoft.com/office/drawing/2014/main" val="3183066879"/>
                    </a:ext>
                  </a:extLst>
                </a:gridCol>
                <a:gridCol w="2759168">
                  <a:extLst>
                    <a:ext uri="{9D8B030D-6E8A-4147-A177-3AD203B41FA5}">
                      <a16:colId xmlns:a16="http://schemas.microsoft.com/office/drawing/2014/main" val="357822918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키워드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baseline="0" dirty="0" err="1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실명제위반</a:t>
                      </a:r>
                      <a:r>
                        <a:rPr lang="ko-KR" altLang="en-US" sz="600" b="0" baseline="0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고객확인의무    키워드</a:t>
                      </a:r>
                      <a:r>
                        <a:rPr lang="en-US" altLang="ko-KR" sz="600" b="0" baseline="0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600" b="0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1408445"/>
                  </a:ext>
                </a:extLst>
              </a:tr>
            </a:tbl>
          </a:graphicData>
        </a:graphic>
      </p:graphicFrame>
      <p:sp>
        <p:nvSpPr>
          <p:cNvPr id="42" name="직사각형 41"/>
          <p:cNvSpPr/>
          <p:nvPr/>
        </p:nvSpPr>
        <p:spPr bwMode="auto">
          <a:xfrm>
            <a:off x="3734192" y="1786585"/>
            <a:ext cx="3264389" cy="175585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710218" y="1677830"/>
            <a:ext cx="124381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124408" y="153689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03997" y="435596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035568" y="419640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0" name="표 19"/>
          <p:cNvGraphicFramePr>
            <a:graphicFrameLocks noGrp="1"/>
          </p:cNvGraphicFramePr>
          <p:nvPr>
            <p:extLst/>
          </p:nvPr>
        </p:nvGraphicFramePr>
        <p:xfrm>
          <a:off x="3710219" y="2075213"/>
          <a:ext cx="1498471" cy="3638309"/>
        </p:xfrm>
        <a:graphic>
          <a:graphicData uri="http://schemas.openxmlformats.org/drawingml/2006/table">
            <a:tbl>
              <a:tblPr/>
              <a:tblGrid>
                <a:gridCol w="162774">
                  <a:extLst>
                    <a:ext uri="{9D8B030D-6E8A-4147-A177-3AD203B41FA5}">
                      <a16:colId xmlns:a16="http://schemas.microsoft.com/office/drawing/2014/main" val="3367280948"/>
                    </a:ext>
                  </a:extLst>
                </a:gridCol>
                <a:gridCol w="445232">
                  <a:extLst>
                    <a:ext uri="{9D8B030D-6E8A-4147-A177-3AD203B41FA5}">
                      <a16:colId xmlns:a16="http://schemas.microsoft.com/office/drawing/2014/main" val="1994725753"/>
                    </a:ext>
                  </a:extLst>
                </a:gridCol>
                <a:gridCol w="211378">
                  <a:extLst>
                    <a:ext uri="{9D8B030D-6E8A-4147-A177-3AD203B41FA5}">
                      <a16:colId xmlns:a16="http://schemas.microsoft.com/office/drawing/2014/main" val="3829994468"/>
                    </a:ext>
                  </a:extLst>
                </a:gridCol>
                <a:gridCol w="679087">
                  <a:extLst>
                    <a:ext uri="{9D8B030D-6E8A-4147-A177-3AD203B41FA5}">
                      <a16:colId xmlns:a16="http://schemas.microsoft.com/office/drawing/2014/main" val="2849039667"/>
                    </a:ext>
                  </a:extLst>
                </a:gridCol>
              </a:tblGrid>
              <a:tr h="19114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1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No</a:t>
                      </a:r>
                    </a:p>
                  </a:txBody>
                  <a:tcPr marL="7093" marR="7093" marT="7093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1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업무영역</a:t>
                      </a:r>
                      <a:r>
                        <a:rPr lang="en-US" altLang="ko-KR" sz="6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endParaRPr lang="en-US" altLang="ko-KR" sz="600" b="1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1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No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1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업무영역</a:t>
                      </a:r>
                      <a:r>
                        <a:rPr lang="en-US" altLang="ko-KR" sz="6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endParaRPr lang="en-US" altLang="ko-KR" sz="600" b="1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5122320"/>
                  </a:ext>
                </a:extLst>
              </a:tr>
              <a:tr h="14903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</a:p>
                  </a:txBody>
                  <a:tcPr marL="7093" marR="7093" marT="7093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수신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23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소비자보호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243043078"/>
                  </a:ext>
                </a:extLst>
              </a:tr>
              <a:tr h="14903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</a:p>
                  </a:txBody>
                  <a:tcPr marL="7093" marR="7093" marT="7093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기금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24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컴플라이언스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77635217"/>
                  </a:ext>
                </a:extLst>
              </a:tr>
              <a:tr h="14903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</a:p>
                  </a:txBody>
                  <a:tcPr marL="7093" marR="7093" marT="7093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수탁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25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자금세탁방지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3380865"/>
                  </a:ext>
                </a:extLst>
              </a:tr>
              <a:tr h="14903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</a:t>
                      </a:r>
                    </a:p>
                  </a:txBody>
                  <a:tcPr marL="7093" marR="7093" marT="7093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여신공통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26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리스크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97891210"/>
                  </a:ext>
                </a:extLst>
              </a:tr>
              <a:tr h="14903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5</a:t>
                      </a:r>
                    </a:p>
                  </a:txBody>
                  <a:tcPr marL="7093" marR="7093" marT="7093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가계여신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27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계약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97550757"/>
                  </a:ext>
                </a:extLst>
              </a:tr>
              <a:tr h="14903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6</a:t>
                      </a:r>
                    </a:p>
                  </a:txBody>
                  <a:tcPr marL="7093" marR="7093" marT="7093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기업여신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28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자본시장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32324307"/>
                  </a:ext>
                </a:extLst>
              </a:tr>
              <a:tr h="14903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7</a:t>
                      </a:r>
                    </a:p>
                  </a:txBody>
                  <a:tcPr marL="7093" marR="7093" marT="7093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외환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29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IB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437769767"/>
                  </a:ext>
                </a:extLst>
              </a:tr>
              <a:tr h="14903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8</a:t>
                      </a:r>
                    </a:p>
                  </a:txBody>
                  <a:tcPr marL="7093" marR="7093" marT="7093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투신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30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파생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314001763"/>
                  </a:ext>
                </a:extLst>
              </a:tr>
              <a:tr h="14903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9</a:t>
                      </a:r>
                    </a:p>
                  </a:txBody>
                  <a:tcPr marL="7093" marR="7093" marT="7093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신탁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31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마케팅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50255823"/>
                  </a:ext>
                </a:extLst>
              </a:tr>
              <a:tr h="14903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10</a:t>
                      </a:r>
                    </a:p>
                  </a:txBody>
                  <a:tcPr marL="7093" marR="7093" marT="7093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연금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32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영업지원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397475452"/>
                  </a:ext>
                </a:extLst>
              </a:tr>
              <a:tr h="14903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11</a:t>
                      </a:r>
                    </a:p>
                  </a:txBody>
                  <a:tcPr marL="7093" marR="7093" marT="7093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방카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33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PB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807356111"/>
                  </a:ext>
                </a:extLst>
              </a:tr>
              <a:tr h="14903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12</a:t>
                      </a:r>
                    </a:p>
                  </a:txBody>
                  <a:tcPr marL="7093" marR="7093" marT="7093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글로벌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34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회계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09871834"/>
                  </a:ext>
                </a:extLst>
              </a:tr>
              <a:tr h="14903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13</a:t>
                      </a:r>
                    </a:p>
                  </a:txBody>
                  <a:tcPr marL="7093" marR="7093" marT="7093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기관영업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35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재무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240028615"/>
                  </a:ext>
                </a:extLst>
              </a:tr>
              <a:tr h="19114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14</a:t>
                      </a:r>
                    </a:p>
                  </a:txBody>
                  <a:tcPr marL="7093" marR="7093" marT="7093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전자금융</a:t>
                      </a:r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개인</a:t>
                      </a:r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36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인사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/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복지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/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연수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552822540"/>
                  </a:ext>
                </a:extLst>
              </a:tr>
              <a:tr h="19114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15</a:t>
                      </a:r>
                    </a:p>
                  </a:txBody>
                  <a:tcPr marL="7093" marR="7093" marT="7093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전자금융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기업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37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경영관리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·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전략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27872204"/>
                  </a:ext>
                </a:extLst>
              </a:tr>
              <a:tr h="19114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16</a:t>
                      </a:r>
                    </a:p>
                  </a:txBody>
                  <a:tcPr marL="7093" marR="7093" marT="7093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임베디드금융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38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고객관리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83413183"/>
                  </a:ext>
                </a:extLst>
              </a:tr>
              <a:tr h="14903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17</a:t>
                      </a:r>
                    </a:p>
                  </a:txBody>
                  <a:tcPr marL="7093" marR="7093" marT="7093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디지털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기타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39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자산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/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시설관리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29428158"/>
                  </a:ext>
                </a:extLst>
              </a:tr>
              <a:tr h="14903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18</a:t>
                      </a:r>
                    </a:p>
                  </a:txBody>
                  <a:tcPr marL="7093" marR="7093" marT="7093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통신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40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보안</a:t>
                      </a: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/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경비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490873988"/>
                  </a:ext>
                </a:extLst>
              </a:tr>
              <a:tr h="14903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19</a:t>
                      </a:r>
                    </a:p>
                  </a:txBody>
                  <a:tcPr marL="7093" marR="7093" marT="7093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IT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41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ESG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23344559"/>
                  </a:ext>
                </a:extLst>
              </a:tr>
              <a:tr h="14903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</a:t>
                      </a:r>
                    </a:p>
                  </a:txBody>
                  <a:tcPr marL="7093" marR="7093" marT="7093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AI/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데이터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42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업무지원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41265269"/>
                  </a:ext>
                </a:extLst>
              </a:tr>
              <a:tr h="14903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21</a:t>
                      </a:r>
                    </a:p>
                  </a:txBody>
                  <a:tcPr marL="7093" marR="7093" marT="7093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정보보안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43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증권대행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977493252"/>
                  </a:ext>
                </a:extLst>
              </a:tr>
              <a:tr h="19114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22</a:t>
                      </a:r>
                    </a:p>
                  </a:txBody>
                  <a:tcPr marL="7093" marR="7093" marT="7093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고객정보보호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44</a:t>
                      </a: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펀드서비스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7093" marR="7093" marT="709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829449826"/>
                  </a:ext>
                </a:extLst>
              </a:tr>
            </a:tbl>
          </a:graphicData>
        </a:graphic>
      </p:graphicFrame>
      <p:graphicFrame>
        <p:nvGraphicFramePr>
          <p:cNvPr id="21" name="표 20"/>
          <p:cNvGraphicFramePr>
            <a:graphicFrameLocks noGrp="1"/>
          </p:cNvGraphicFramePr>
          <p:nvPr>
            <p:extLst/>
          </p:nvPr>
        </p:nvGraphicFramePr>
        <p:xfrm>
          <a:off x="5254504" y="2066900"/>
          <a:ext cx="1800001" cy="4146243"/>
        </p:xfrm>
        <a:graphic>
          <a:graphicData uri="http://schemas.openxmlformats.org/drawingml/2006/table">
            <a:tbl>
              <a:tblPr/>
              <a:tblGrid>
                <a:gridCol w="247060">
                  <a:extLst>
                    <a:ext uri="{9D8B030D-6E8A-4147-A177-3AD203B41FA5}">
                      <a16:colId xmlns:a16="http://schemas.microsoft.com/office/drawing/2014/main" val="4141572891"/>
                    </a:ext>
                  </a:extLst>
                </a:gridCol>
                <a:gridCol w="517647">
                  <a:extLst>
                    <a:ext uri="{9D8B030D-6E8A-4147-A177-3AD203B41FA5}">
                      <a16:colId xmlns:a16="http://schemas.microsoft.com/office/drawing/2014/main" val="3996868068"/>
                    </a:ext>
                  </a:extLst>
                </a:gridCol>
                <a:gridCol w="517647">
                  <a:extLst>
                    <a:ext uri="{9D8B030D-6E8A-4147-A177-3AD203B41FA5}">
                      <a16:colId xmlns:a16="http://schemas.microsoft.com/office/drawing/2014/main" val="1678762555"/>
                    </a:ext>
                  </a:extLst>
                </a:gridCol>
                <a:gridCol w="517647">
                  <a:extLst>
                    <a:ext uri="{9D8B030D-6E8A-4147-A177-3AD203B41FA5}">
                      <a16:colId xmlns:a16="http://schemas.microsoft.com/office/drawing/2014/main" val="2744837991"/>
                    </a:ext>
                  </a:extLst>
                </a:gridCol>
              </a:tblGrid>
              <a:tr h="14826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1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No</a:t>
                      </a:r>
                    </a:p>
                  </a:txBody>
                  <a:tcPr marL="6951" marR="6951" marT="6951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1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조치요인</a:t>
                      </a:r>
                      <a:endParaRPr lang="en-US" altLang="ko-KR" sz="600" b="1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b="1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No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1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조치요인</a:t>
                      </a:r>
                      <a:endParaRPr lang="en-US" altLang="ko-KR" sz="600" b="1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068452"/>
                  </a:ext>
                </a:extLst>
              </a:tr>
              <a:tr h="15865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</a:p>
                  </a:txBody>
                  <a:tcPr marL="6951" marR="6951" marT="6951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BCP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26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순환근무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83859543"/>
                  </a:ext>
                </a:extLst>
              </a:tr>
              <a:tr h="15865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</a:p>
                  </a:txBody>
                  <a:tcPr marL="6951" marR="6951" marT="6951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KPI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27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업무기준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0740188"/>
                  </a:ext>
                </a:extLst>
              </a:tr>
              <a:tr h="15865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</a:p>
                  </a:txBody>
                  <a:tcPr marL="6951" marR="6951" marT="6951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감정평가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28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업무절차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98971"/>
                  </a:ext>
                </a:extLst>
              </a:tr>
              <a:tr h="15865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</a:t>
                      </a:r>
                    </a:p>
                  </a:txBody>
                  <a:tcPr marL="6951" marR="6951" marT="6951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겸직 관리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29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여신심사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5467052"/>
                  </a:ext>
                </a:extLst>
              </a:tr>
              <a:tr h="15865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5</a:t>
                      </a:r>
                    </a:p>
                  </a:txBody>
                  <a:tcPr marL="6951" marR="6951" marT="6951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계정처리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30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연수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3693961"/>
                  </a:ext>
                </a:extLst>
              </a:tr>
              <a:tr h="15865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6</a:t>
                      </a:r>
                    </a:p>
                  </a:txBody>
                  <a:tcPr marL="6951" marR="6951" marT="6951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고객정보 관리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31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요주의인물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7854507"/>
                  </a:ext>
                </a:extLst>
              </a:tr>
              <a:tr h="15865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7</a:t>
                      </a:r>
                    </a:p>
                  </a:txBody>
                  <a:tcPr marL="6951" marR="6951" marT="6951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관리체계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32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운영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477967"/>
                  </a:ext>
                </a:extLst>
              </a:tr>
              <a:tr h="15865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8</a:t>
                      </a:r>
                    </a:p>
                  </a:txBody>
                  <a:tcPr marL="6951" marR="6951" marT="6951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교육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33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운영기준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1723564"/>
                  </a:ext>
                </a:extLst>
              </a:tr>
              <a:tr h="15865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9</a:t>
                      </a:r>
                    </a:p>
                  </a:txBody>
                  <a:tcPr marL="6951" marR="6951" marT="6951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권한 관리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34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운영절차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950871"/>
                  </a:ext>
                </a:extLst>
              </a:tr>
              <a:tr h="15865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10</a:t>
                      </a:r>
                    </a:p>
                  </a:txBody>
                  <a:tcPr marL="6951" marR="6951" marT="6951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금융사고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35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위원회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35836522"/>
                  </a:ext>
                </a:extLst>
              </a:tr>
              <a:tr h="15865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11</a:t>
                      </a:r>
                    </a:p>
                  </a:txBody>
                  <a:tcPr marL="6951" marR="6951" marT="6951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내규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36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이사회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3990452"/>
                  </a:ext>
                </a:extLst>
              </a:tr>
              <a:tr h="15865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12</a:t>
                      </a:r>
                    </a:p>
                  </a:txBody>
                  <a:tcPr marL="6951" marR="6951" marT="6951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내부감사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37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익스포져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6048320"/>
                  </a:ext>
                </a:extLst>
              </a:tr>
              <a:tr h="15865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13</a:t>
                      </a:r>
                    </a:p>
                  </a:txBody>
                  <a:tcPr marL="6951" marR="6951" marT="6951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내부고발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38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인력운영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7225606"/>
                  </a:ext>
                </a:extLst>
              </a:tr>
              <a:tr h="15865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14</a:t>
                      </a:r>
                    </a:p>
                  </a:txBody>
                  <a:tcPr marL="6951" marR="6951" marT="6951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내부통제 공통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39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장애오류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5735155"/>
                  </a:ext>
                </a:extLst>
              </a:tr>
              <a:tr h="15865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15</a:t>
                      </a:r>
                    </a:p>
                  </a:txBody>
                  <a:tcPr marL="6951" marR="6951" marT="6951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녹취파일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40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전결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2186172"/>
                  </a:ext>
                </a:extLst>
              </a:tr>
              <a:tr h="15865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16</a:t>
                      </a:r>
                    </a:p>
                  </a:txBody>
                  <a:tcPr marL="6951" marR="6951" marT="6951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대내외보고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41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전산 프로세스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5633412"/>
                  </a:ext>
                </a:extLst>
              </a:tr>
              <a:tr h="15865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17</a:t>
                      </a:r>
                    </a:p>
                  </a:txBody>
                  <a:tcPr marL="6951" marR="6951" marT="6951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명령휴가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42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전산시스템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97045081"/>
                  </a:ext>
                </a:extLst>
              </a:tr>
              <a:tr h="15865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18</a:t>
                      </a:r>
                    </a:p>
                  </a:txBody>
                  <a:tcPr marL="6951" marR="6951" marT="6951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모니터링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43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접근통제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5939761"/>
                  </a:ext>
                </a:extLst>
              </a:tr>
              <a:tr h="15865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19</a:t>
                      </a:r>
                    </a:p>
                  </a:txBody>
                  <a:tcPr marL="6951" marR="6951" marT="6951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문서관리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44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정보 파기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8964022"/>
                  </a:ext>
                </a:extLst>
              </a:tr>
              <a:tr h="15865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</a:t>
                      </a:r>
                    </a:p>
                  </a:txBody>
                  <a:tcPr marL="6951" marR="6951" marT="6951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민원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45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조기경보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9427191"/>
                  </a:ext>
                </a:extLst>
              </a:tr>
              <a:tr h="15865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21</a:t>
                      </a:r>
                    </a:p>
                  </a:txBody>
                  <a:tcPr marL="6951" marR="6951" marT="6951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비대면채널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46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조직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31382042"/>
                  </a:ext>
                </a:extLst>
              </a:tr>
              <a:tr h="15865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22</a:t>
                      </a:r>
                    </a:p>
                  </a:txBody>
                  <a:tcPr marL="6951" marR="6951" marT="6951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비상대책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47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직무분리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4017540"/>
                  </a:ext>
                </a:extLst>
              </a:tr>
              <a:tr h="19016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23</a:t>
                      </a:r>
                    </a:p>
                  </a:txBody>
                  <a:tcPr marL="6951" marR="6951" marT="6951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사내근로복지기금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48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충당부채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1554519"/>
                  </a:ext>
                </a:extLst>
              </a:tr>
              <a:tr h="15865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24</a:t>
                      </a:r>
                    </a:p>
                  </a:txBody>
                  <a:tcPr marL="6951" marR="6951" marT="6951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사전검토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49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퇴직금 </a:t>
                      </a:r>
                      <a:r>
                        <a:rPr lang="ko-KR" altLang="en-US" sz="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지급업무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6936335"/>
                  </a:ext>
                </a:extLst>
              </a:tr>
              <a:tr h="15865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25</a:t>
                      </a:r>
                    </a:p>
                  </a:txBody>
                  <a:tcPr marL="6951" marR="6951" marT="6951" marB="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사후관리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6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50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평가기준</a:t>
                      </a:r>
                    </a:p>
                  </a:txBody>
                  <a:tcPr marL="6951" marR="6951" marT="69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7600268"/>
                  </a:ext>
                </a:extLst>
              </a:tr>
            </a:tbl>
          </a:graphicData>
        </a:graphic>
      </p:graphicFrame>
      <p:sp>
        <p:nvSpPr>
          <p:cNvPr id="3" name="직사각형 2"/>
          <p:cNvSpPr/>
          <p:nvPr/>
        </p:nvSpPr>
        <p:spPr bwMode="auto">
          <a:xfrm>
            <a:off x="1393023" y="1825913"/>
            <a:ext cx="360000" cy="108000"/>
          </a:xfrm>
          <a:prstGeom prst="rect">
            <a:avLst/>
          </a:prstGeom>
          <a:solidFill>
            <a:srgbClr val="EFEFEF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500" i="0" u="none" strike="noStrike" kern="0" cap="none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업무영역</a:t>
            </a:r>
          </a:p>
        </p:txBody>
      </p:sp>
      <p:sp>
        <p:nvSpPr>
          <p:cNvPr id="4" name="직사각형 3"/>
          <p:cNvSpPr/>
          <p:nvPr/>
        </p:nvSpPr>
        <p:spPr bwMode="auto">
          <a:xfrm>
            <a:off x="2521869" y="1786298"/>
            <a:ext cx="419503" cy="187229"/>
          </a:xfrm>
          <a:prstGeom prst="rect">
            <a:avLst/>
          </a:prstGeom>
          <a:solidFill>
            <a:srgbClr val="F0F0F0"/>
          </a:solidFill>
          <a:ln w="3175" cap="flat" cmpd="sng" algn="ctr">
            <a:solidFill>
              <a:schemeClr val="bg2">
                <a:lumMod val="90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500" i="0" u="none" strike="noStrike" kern="0" cap="none" normalizeH="0" baseline="0" noProof="0" dirty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조치요인</a:t>
            </a:r>
            <a:endParaRPr kumimoji="0" lang="ko-KR" altLang="en-US" sz="500" i="0" u="none" strike="noStrike" kern="0" cap="none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973723" y="1786298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조치요인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2" name="이등변 삼각형 21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3553091" y="1859380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cxnSp>
        <p:nvCxnSpPr>
          <p:cNvPr id="23" name="구부러진 연결선 22"/>
          <p:cNvCxnSpPr>
            <a:endCxn id="3" idx="2"/>
          </p:cNvCxnSpPr>
          <p:nvPr/>
        </p:nvCxnSpPr>
        <p:spPr bwMode="auto">
          <a:xfrm rot="10800000">
            <a:off x="1573023" y="1933913"/>
            <a:ext cx="2137196" cy="475114"/>
          </a:xfrm>
          <a:prstGeom prst="curvedConnector2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cxnSp>
        <p:nvCxnSpPr>
          <p:cNvPr id="24" name="구부러진 연결선 23"/>
          <p:cNvCxnSpPr>
            <a:stCxn id="21" idx="0"/>
            <a:endCxn id="4" idx="0"/>
          </p:cNvCxnSpPr>
          <p:nvPr/>
        </p:nvCxnSpPr>
        <p:spPr bwMode="auto">
          <a:xfrm rot="16200000" flipV="1">
            <a:off x="4302762" y="215157"/>
            <a:ext cx="280602" cy="3422883"/>
          </a:xfrm>
          <a:prstGeom prst="curvedConnector3">
            <a:avLst>
              <a:gd name="adj1" fmla="val 181468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29989784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470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부서별조회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감사역별조회 메뉴는 삭제하고 지적사항명세에 조회 조건 추가함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검색조건 추가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조치상태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해당무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미완료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완료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검색조건 추가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감사역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검색조건 추가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 제목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검색조건 추가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부서조회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검색조건 추가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팀구분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해당무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본점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국외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UNIT],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디지털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업무영역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버튼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클릭시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업무영역 선택 하는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팝업창이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조치요인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버튼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클릭시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조치요인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선택 하는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팝업창이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MDD-00067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MDD75MC3000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 명세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감사결과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지적사항관리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 명세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(P76: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최진용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1" name="표 30"/>
          <p:cNvGraphicFramePr>
            <a:graphicFrameLocks noGrp="1"/>
          </p:cNvGraphicFramePr>
          <p:nvPr>
            <p:extLst/>
          </p:nvPr>
        </p:nvGraphicFramePr>
        <p:xfrm>
          <a:off x="200877" y="3153768"/>
          <a:ext cx="6732902" cy="594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5103">
                  <a:extLst>
                    <a:ext uri="{9D8B030D-6E8A-4147-A177-3AD203B41FA5}">
                      <a16:colId xmlns:a16="http://schemas.microsoft.com/office/drawing/2014/main" val="2426106912"/>
                    </a:ext>
                  </a:extLst>
                </a:gridCol>
                <a:gridCol w="465512">
                  <a:extLst>
                    <a:ext uri="{9D8B030D-6E8A-4147-A177-3AD203B41FA5}">
                      <a16:colId xmlns:a16="http://schemas.microsoft.com/office/drawing/2014/main" val="157696043"/>
                    </a:ext>
                  </a:extLst>
                </a:gridCol>
                <a:gridCol w="423949">
                  <a:extLst>
                    <a:ext uri="{9D8B030D-6E8A-4147-A177-3AD203B41FA5}">
                      <a16:colId xmlns:a16="http://schemas.microsoft.com/office/drawing/2014/main" val="1421297000"/>
                    </a:ext>
                  </a:extLst>
                </a:gridCol>
                <a:gridCol w="340822">
                  <a:extLst>
                    <a:ext uri="{9D8B030D-6E8A-4147-A177-3AD203B41FA5}">
                      <a16:colId xmlns:a16="http://schemas.microsoft.com/office/drawing/2014/main" val="3582745889"/>
                    </a:ext>
                  </a:extLst>
                </a:gridCol>
                <a:gridCol w="615142">
                  <a:extLst>
                    <a:ext uri="{9D8B030D-6E8A-4147-A177-3AD203B41FA5}">
                      <a16:colId xmlns:a16="http://schemas.microsoft.com/office/drawing/2014/main" val="3292794991"/>
                    </a:ext>
                  </a:extLst>
                </a:gridCol>
                <a:gridCol w="623455">
                  <a:extLst>
                    <a:ext uri="{9D8B030D-6E8A-4147-A177-3AD203B41FA5}">
                      <a16:colId xmlns:a16="http://schemas.microsoft.com/office/drawing/2014/main" val="1828931321"/>
                    </a:ext>
                  </a:extLst>
                </a:gridCol>
                <a:gridCol w="1281966">
                  <a:extLst>
                    <a:ext uri="{9D8B030D-6E8A-4147-A177-3AD203B41FA5}">
                      <a16:colId xmlns:a16="http://schemas.microsoft.com/office/drawing/2014/main" val="461435787"/>
                    </a:ext>
                  </a:extLst>
                </a:gridCol>
                <a:gridCol w="606829">
                  <a:extLst>
                    <a:ext uri="{9D8B030D-6E8A-4147-A177-3AD203B41FA5}">
                      <a16:colId xmlns:a16="http://schemas.microsoft.com/office/drawing/2014/main" val="2502540127"/>
                    </a:ext>
                  </a:extLst>
                </a:gridCol>
                <a:gridCol w="814648">
                  <a:extLst>
                    <a:ext uri="{9D8B030D-6E8A-4147-A177-3AD203B41FA5}">
                      <a16:colId xmlns:a16="http://schemas.microsoft.com/office/drawing/2014/main" val="1440062905"/>
                    </a:ext>
                  </a:extLst>
                </a:gridCol>
                <a:gridCol w="590203">
                  <a:extLst>
                    <a:ext uri="{9D8B030D-6E8A-4147-A177-3AD203B41FA5}">
                      <a16:colId xmlns:a16="http://schemas.microsoft.com/office/drawing/2014/main" val="1447650789"/>
                    </a:ext>
                  </a:extLst>
                </a:gridCol>
                <a:gridCol w="455273">
                  <a:extLst>
                    <a:ext uri="{9D8B030D-6E8A-4147-A177-3AD203B41FA5}">
                      <a16:colId xmlns:a16="http://schemas.microsoft.com/office/drawing/2014/main" val="61177697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u="none" spc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700" b="0" u="none" spc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계획년</a:t>
                      </a:r>
                      <a:endParaRPr lang="ko-KR" altLang="en-US" sz="7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팀구분</a:t>
                      </a:r>
                      <a:endParaRPr lang="ko-KR" altLang="en-US" sz="7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차수</a:t>
                      </a:r>
                      <a:endParaRPr lang="ko-KR" altLang="en-US" sz="7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감사종류</a:t>
                      </a:r>
                      <a:endParaRPr lang="ko-KR" altLang="en-US" sz="7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감사구분</a:t>
                      </a:r>
                      <a:endParaRPr lang="ko-KR" altLang="en-US" sz="7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감사명</a:t>
                      </a:r>
                      <a:endParaRPr lang="ko-KR" altLang="en-US" sz="7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지적유형</a:t>
                      </a:r>
                      <a:endParaRPr lang="ko-KR" altLang="en-US" sz="7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최종지적유형</a:t>
                      </a:r>
                      <a:endParaRPr lang="ko-KR" altLang="en-US" sz="7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위험유형</a:t>
                      </a:r>
                      <a:endParaRPr lang="ko-KR" altLang="en-US" sz="7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79101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본점</a:t>
                      </a:r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종합</a:t>
                      </a:r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테크본부 종합감사</a:t>
                      </a:r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개선사항</a:t>
                      </a:r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정보보호</a:t>
                      </a:r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50771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3076989"/>
                  </a:ext>
                </a:extLst>
              </a:tr>
            </a:tbl>
          </a:graphicData>
        </a:graphic>
      </p:graphicFrame>
      <p:sp>
        <p:nvSpPr>
          <p:cNvPr id="39" name="양쪽 모서리가 둥근 사각형 38"/>
          <p:cNvSpPr/>
          <p:nvPr/>
        </p:nvSpPr>
        <p:spPr bwMode="auto">
          <a:xfrm>
            <a:off x="200878" y="1102429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지적사항 명세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0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194375" y="1027833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1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00879" y="1288164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43" name="내용 개체 틀 121"/>
          <p:cNvGraphicFramePr>
            <a:graphicFrameLocks/>
          </p:cNvGraphicFramePr>
          <p:nvPr>
            <p:extLst/>
          </p:nvPr>
        </p:nvGraphicFramePr>
        <p:xfrm>
          <a:off x="203900" y="1399311"/>
          <a:ext cx="6726398" cy="162813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2102682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922351">
                  <a:extLst>
                    <a:ext uri="{9D8B030D-6E8A-4147-A177-3AD203B41FA5}">
                      <a16:colId xmlns:a16="http://schemas.microsoft.com/office/drawing/2014/main" val="3720080369"/>
                    </a:ext>
                  </a:extLst>
                </a:gridCol>
                <a:gridCol w="2763815">
                  <a:extLst>
                    <a:ext uri="{9D8B030D-6E8A-4147-A177-3AD203B41FA5}">
                      <a16:colId xmlns:a16="http://schemas.microsoft.com/office/drawing/2014/main" val="2676593064"/>
                    </a:ext>
                  </a:extLst>
                </a:gridCol>
              </a:tblGrid>
              <a:tr h="25899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지적사항 </a:t>
                      </a:r>
                      <a:r>
                        <a:rPr lang="ko-KR" altLang="en-US" sz="700" u="none" strike="noStrike" dirty="0" err="1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실행예정일</a:t>
                      </a:r>
                      <a:r>
                        <a:rPr lang="ko-KR" altLang="en-US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연장여부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58993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조회구분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53392747"/>
                  </a:ext>
                </a:extLst>
              </a:tr>
              <a:tr h="25899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조치상태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감사역</a:t>
                      </a: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2002261"/>
                  </a:ext>
                </a:extLst>
              </a:tr>
              <a:tr h="258993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 제목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부서조회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124332"/>
                  </a:ext>
                </a:extLst>
              </a:tr>
              <a:tr h="258993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팀구분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감사구분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2864465"/>
                  </a:ext>
                </a:extLst>
              </a:tr>
              <a:tr h="258993"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키워드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검색어</a:t>
                      </a:r>
                      <a:endParaRPr lang="ko-KR" altLang="en-US" sz="6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9791145"/>
                  </a:ext>
                </a:extLst>
              </a:tr>
            </a:tbl>
          </a:graphicData>
        </a:graphic>
      </p:graphicFrame>
      <p:sp>
        <p:nvSpPr>
          <p:cNvPr id="44" name="직사각형 4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178387" y="1464622"/>
            <a:ext cx="980142" cy="15828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감사시작일</a:t>
            </a: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기준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이등변 삼각형 44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2044008" y="1522814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272254" y="1434372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7" name="이등변 삼각형 46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4851622" y="1515194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184719" y="1703657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2024-03-25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259531" y="1700247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2024-03-29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54" name="그림 5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25119" y="1707497"/>
            <a:ext cx="181098" cy="173224"/>
          </a:xfrm>
          <a:prstGeom prst="rect">
            <a:avLst/>
          </a:prstGeom>
        </p:spPr>
      </p:pic>
      <p:pic>
        <p:nvPicPr>
          <p:cNvPr id="55" name="그림 5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898793" y="1708845"/>
            <a:ext cx="181098" cy="173224"/>
          </a:xfrm>
          <a:prstGeom prst="rect">
            <a:avLst/>
          </a:prstGeom>
        </p:spPr>
      </p:pic>
      <p:cxnSp>
        <p:nvCxnSpPr>
          <p:cNvPr id="56" name="직선 연결선 55"/>
          <p:cNvCxnSpPr/>
          <p:nvPr/>
        </p:nvCxnSpPr>
        <p:spPr bwMode="auto">
          <a:xfrm>
            <a:off x="2063366" y="1794109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5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712241" y="1432814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검색</a:t>
            </a:r>
            <a:endParaRPr kumimoji="0" lang="ko-KR" altLang="en-US" sz="800" spc="-100" dirty="0">
              <a:solidFill>
                <a:schemeClr val="bg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10015" y="1432814"/>
            <a:ext cx="424711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엑셀출력</a:t>
            </a:r>
            <a:endParaRPr kumimoji="0" lang="ko-KR" altLang="en-US" sz="8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72501" y="1432814"/>
            <a:ext cx="314867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인쇄</a:t>
            </a:r>
            <a:endParaRPr kumimoji="0" lang="ko-KR" altLang="en-US" sz="8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2" name="직사각형 61"/>
          <p:cNvSpPr/>
          <p:nvPr/>
        </p:nvSpPr>
        <p:spPr bwMode="auto">
          <a:xfrm>
            <a:off x="218885" y="1368521"/>
            <a:ext cx="6708389" cy="2152107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3" name="타원 6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182805" y="185405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178387" y="2254729"/>
            <a:ext cx="118291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185578" y="1949168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진행중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2" name="이등변 삼각형 71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1755421" y="2007765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맑은 고딕"/>
              <a:cs typeface="+mn-cs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272097" y="1959306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78" name="그림 7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16573" y="1981757"/>
            <a:ext cx="141879" cy="150746"/>
          </a:xfrm>
          <a:prstGeom prst="rect">
            <a:avLst/>
          </a:prstGeom>
        </p:spPr>
      </p:pic>
      <p:sp>
        <p:nvSpPr>
          <p:cNvPr id="102" name="직사각형 101"/>
          <p:cNvSpPr/>
          <p:nvPr/>
        </p:nvSpPr>
        <p:spPr bwMode="auto">
          <a:xfrm>
            <a:off x="4035106" y="2265137"/>
            <a:ext cx="1581681" cy="175410"/>
          </a:xfrm>
          <a:prstGeom prst="rect">
            <a:avLst/>
          </a:prstGeom>
          <a:noFill/>
          <a:ln w="12701">
            <a:noFill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defTabSz="914395" fontAlgn="ctr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 dirty="0">
                <a:latin typeface="+mj-ea"/>
              </a:rPr>
              <a:t> </a:t>
            </a:r>
            <a:r>
              <a:rPr lang="ko-KR" altLang="en-US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○ 실행예정부서  ◎ </a:t>
            </a:r>
            <a:r>
              <a:rPr lang="ko-KR" altLang="en-US" sz="8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실행부서</a:t>
            </a:r>
            <a:endParaRPr lang="ko-KR" altLang="en-US" sz="8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593678" y="2259632"/>
            <a:ext cx="9991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04" name="그림 10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444469" y="2282202"/>
            <a:ext cx="141879" cy="150746"/>
          </a:xfrm>
          <a:prstGeom prst="rect">
            <a:avLst/>
          </a:prstGeom>
        </p:spPr>
      </p:pic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196428" y="2813081"/>
            <a:ext cx="2425234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검색 키워드 입력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40415" y="187862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8" name="타원 10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46735" y="214957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9" name="타원 10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169552" y="215885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0" name="타원 10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170874" y="244642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6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1" name="타원 11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50705" y="243980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3" name="타원 11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764162" y="271279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7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196428" y="2525022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9" name="이등변 삼각형 48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1775796" y="2605844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266953" y="2526348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1" name="이등변 삼각형 50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4846321" y="2607170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377401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9066" y="1163184"/>
            <a:ext cx="6864691" cy="4017612"/>
          </a:xfrm>
          <a:prstGeom prst="rect">
            <a:avLst/>
          </a:prstGeom>
        </p:spPr>
      </p:pic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634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승인요청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버튼을 클릭 하면 해당 부서 인원 중 승인을 할 수 있는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부서장</a:t>
                      </a:r>
                      <a:r>
                        <a:rPr lang="en-US" altLang="ko-KR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</a:t>
                      </a:r>
                      <a:r>
                        <a:rPr lang="ko-KR" altLang="en-US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감사통할책임자등등</a:t>
                      </a:r>
                      <a:r>
                        <a:rPr lang="en-US" altLang="ko-KR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부서원을 선택 할 수 있는 </a:t>
                      </a:r>
                      <a:r>
                        <a:rPr lang="ko-KR" altLang="en-US" sz="800" dirty="0" err="1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팝업창이</a:t>
                      </a:r>
                      <a:r>
                        <a:rPr lang="ko-KR" altLang="en-US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나타난다</a:t>
                      </a:r>
                      <a:r>
                        <a:rPr lang="en-US" altLang="ko-KR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선택한 승인을 할 수 있는 </a:t>
                      </a:r>
                      <a:r>
                        <a:rPr lang="ko-KR" altLang="en-US" sz="800" dirty="0" err="1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승인자와</a:t>
                      </a:r>
                      <a:r>
                        <a:rPr lang="ko-KR" altLang="en-US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해당 </a:t>
                      </a:r>
                      <a:r>
                        <a:rPr lang="ko-KR" altLang="en-US" sz="800" dirty="0" err="1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지적감사역에게</a:t>
                      </a:r>
                      <a:r>
                        <a:rPr lang="ko-KR" altLang="en-US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조치 알림을 쪽지로 발송한다</a:t>
                      </a:r>
                      <a:r>
                        <a:rPr lang="en-US" altLang="ko-KR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en-US" altLang="ko-KR" sz="8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감사정보시스템에서 감사역이 해당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대한 조치내용을 확인 할 수 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승인요청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버튼은 최초에는 보이지 않고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승인요청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 한 후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승인을 요청 받은 직원이 감사정보시스템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부점용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에 접속하여 해당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대한 조치 내용을 확인 한 후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해당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대한 승인 상태로 바뀐다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요청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직원이름과 요청 일시를 출력한다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승인직원이름과 승인 일시를 출력한다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MDD-00064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MDD75MC4001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자점감사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작성자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6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lvl="0" algn="l" defTabSz="914395" rtl="0" eaLnBrk="1" fontAlgn="auto" latinLnBrk="1" hangingPunct="1">
                        <a:spcBef>
                          <a:spcPts val="30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지적사항 조회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kern="0" dirty="0" err="1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자점감사</a:t>
                      </a:r>
                      <a:r>
                        <a:rPr kumimoji="0" lang="ko-KR" altLang="en-US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</a:t>
                      </a:r>
                      <a:r>
                        <a:rPr kumimoji="0" lang="en-US" altLang="ko-KR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&gt; </a:t>
                      </a:r>
                      <a:r>
                        <a:rPr kumimoji="0" lang="ko-KR" altLang="en-US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지적사항 관리 </a:t>
                      </a:r>
                      <a:r>
                        <a:rPr kumimoji="0" lang="en-US" altLang="ko-KR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&gt; </a:t>
                      </a:r>
                      <a:r>
                        <a:rPr kumimoji="0" lang="ko-KR" altLang="en-US" sz="1050" kern="120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본부감사 지적사항 관리</a:t>
                      </a:r>
                      <a:r>
                        <a:rPr kumimoji="0" lang="ko-KR" altLang="en-US" sz="1050" baseline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(P66: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최진용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34" name="직사각형 33"/>
          <p:cNvSpPr/>
          <p:nvPr/>
        </p:nvSpPr>
        <p:spPr bwMode="auto">
          <a:xfrm>
            <a:off x="1041952" y="2411727"/>
            <a:ext cx="1625048" cy="248866"/>
          </a:xfrm>
          <a:prstGeom prst="rect">
            <a:avLst/>
          </a:prstGeom>
          <a:noFill/>
          <a:ln w="15875">
            <a:solidFill>
              <a:srgbClr val="FFBF0D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45" name="구부러진 연결선 44"/>
          <p:cNvCxnSpPr>
            <a:stCxn id="34" idx="0"/>
          </p:cNvCxnSpPr>
          <p:nvPr/>
        </p:nvCxnSpPr>
        <p:spPr bwMode="auto">
          <a:xfrm rot="16200000" flipH="1">
            <a:off x="1860004" y="2406199"/>
            <a:ext cx="921054" cy="932111"/>
          </a:xfrm>
          <a:prstGeom prst="curvedConnector4">
            <a:avLst>
              <a:gd name="adj1" fmla="val -24819"/>
              <a:gd name="adj2" fmla="val 93585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86587" y="990957"/>
            <a:ext cx="4191000" cy="3000375"/>
          </a:xfrm>
          <a:prstGeom prst="rect">
            <a:avLst/>
          </a:prstGeom>
        </p:spPr>
      </p:pic>
      <p:pic>
        <p:nvPicPr>
          <p:cNvPr id="4" name="그림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6587" y="4407529"/>
            <a:ext cx="4181475" cy="1714500"/>
          </a:xfrm>
          <a:prstGeom prst="rect">
            <a:avLst/>
          </a:prstGeom>
        </p:spPr>
      </p:pic>
      <p:sp>
        <p:nvSpPr>
          <p:cNvPr id="1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569174" y="5884733"/>
            <a:ext cx="563335" cy="173242"/>
          </a:xfrm>
          <a:prstGeom prst="roundRect">
            <a:avLst>
              <a:gd name="adj" fmla="val 10228"/>
            </a:avLst>
          </a:prstGeom>
          <a:solidFill>
            <a:srgbClr val="F17315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승인요청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8" name="직사각형 17"/>
          <p:cNvSpPr/>
          <p:nvPr/>
        </p:nvSpPr>
        <p:spPr bwMode="auto">
          <a:xfrm>
            <a:off x="3944509" y="5875208"/>
            <a:ext cx="591371" cy="188130"/>
          </a:xfrm>
          <a:prstGeom prst="rect">
            <a:avLst/>
          </a:prstGeom>
          <a:solidFill>
            <a:srgbClr val="F17315"/>
          </a:solidFill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승인</a:t>
            </a:r>
            <a:endParaRPr kumimoji="0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504241" y="5768865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864999" y="574186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786586" y="3995103"/>
            <a:ext cx="4181475" cy="412425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903820" y="3998753"/>
            <a:ext cx="523192" cy="18917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요청자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905145" y="4206810"/>
            <a:ext cx="523192" cy="18917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승인자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916823" y="4000081"/>
            <a:ext cx="523192" cy="18917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요청일시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918148" y="4208138"/>
            <a:ext cx="523192" cy="18917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승인일시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423563" y="4001405"/>
            <a:ext cx="1492729" cy="18917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김대리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424888" y="4209462"/>
            <a:ext cx="1492729" cy="18917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박팀장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464659" y="3986828"/>
            <a:ext cx="1357026" cy="18917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2025-01-02 10:10:10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465984" y="4194885"/>
            <a:ext cx="1357026" cy="18917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lvl="0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70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2025-01-02 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10:20:20</a:t>
            </a:r>
            <a:endParaRPr kumimoji="0" lang="ko-KR" altLang="en-US" sz="70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819888" y="3925486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821219" y="4117641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611020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80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조회일 기준 실행완료예정일까지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달 이내 기간이 남은 대상들은 색깔 별도 표시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 등록 시 첨부한 본부에서 등록한 지적사항 문서들을 조회화면에서 바로 다운로드할 수 있는 기능 제공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지적등록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시 첨부한 지점에서 등록한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조치이행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문서중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smtClean="0">
                          <a:solidFill>
                            <a:srgbClr val="00B0F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승인요청 버튼을 클릭한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내역을 조회화면에서 바로 다운로드할 수 있는 기능 제공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MDD-00068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MDD75MC3000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 조회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감사결과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지적사항관리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 명세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(P77: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최진용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39" name="양쪽 모서리가 둥근 사각형 38"/>
          <p:cNvSpPr/>
          <p:nvPr/>
        </p:nvSpPr>
        <p:spPr bwMode="auto">
          <a:xfrm>
            <a:off x="200878" y="1102429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지적사항 명세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0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194375" y="1027833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1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00879" y="1288164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43" name="내용 개체 틀 121"/>
          <p:cNvGraphicFramePr>
            <a:graphicFrameLocks/>
          </p:cNvGraphicFramePr>
          <p:nvPr>
            <p:extLst/>
          </p:nvPr>
        </p:nvGraphicFramePr>
        <p:xfrm>
          <a:off x="203900" y="1399311"/>
          <a:ext cx="6726398" cy="164668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2102682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922351">
                  <a:extLst>
                    <a:ext uri="{9D8B030D-6E8A-4147-A177-3AD203B41FA5}">
                      <a16:colId xmlns:a16="http://schemas.microsoft.com/office/drawing/2014/main" val="3720080369"/>
                    </a:ext>
                  </a:extLst>
                </a:gridCol>
                <a:gridCol w="2763815">
                  <a:extLst>
                    <a:ext uri="{9D8B030D-6E8A-4147-A177-3AD203B41FA5}">
                      <a16:colId xmlns:a16="http://schemas.microsoft.com/office/drawing/2014/main" val="2676593064"/>
                    </a:ext>
                  </a:extLst>
                </a:gridCol>
              </a:tblGrid>
              <a:tr h="25899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지적사항 </a:t>
                      </a:r>
                      <a:r>
                        <a:rPr lang="ko-KR" altLang="en-US" sz="700" u="none" strike="noStrike" dirty="0" err="1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실행예정일</a:t>
                      </a:r>
                      <a:r>
                        <a:rPr lang="ko-KR" altLang="en-US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연장여부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58993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조회구분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53392747"/>
                  </a:ext>
                </a:extLst>
              </a:tr>
              <a:tr h="25899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조치상태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감사역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2002261"/>
                  </a:ext>
                </a:extLst>
              </a:tr>
              <a:tr h="258993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 제목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부서조회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124332"/>
                  </a:ext>
                </a:extLst>
              </a:tr>
              <a:tr h="258993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팀구분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감사구분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2864465"/>
                  </a:ext>
                </a:extLst>
              </a:tr>
              <a:tr h="258993"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Keyword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키워드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검색어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9791145"/>
                  </a:ext>
                </a:extLst>
              </a:tr>
            </a:tbl>
          </a:graphicData>
        </a:graphic>
      </p:graphicFrame>
      <p:sp>
        <p:nvSpPr>
          <p:cNvPr id="44" name="직사각형 4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178387" y="1464622"/>
            <a:ext cx="980142" cy="15828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감사시작일</a:t>
            </a: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기준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이등변 삼각형 44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2044008" y="1522814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272254" y="1434372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7" name="이등변 삼각형 46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4851622" y="1515194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184719" y="1703657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2024-03-25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259531" y="1700247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2024-03-29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54" name="그림 5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25119" y="1707497"/>
            <a:ext cx="181098" cy="173224"/>
          </a:xfrm>
          <a:prstGeom prst="rect">
            <a:avLst/>
          </a:prstGeom>
        </p:spPr>
      </p:pic>
      <p:pic>
        <p:nvPicPr>
          <p:cNvPr id="55" name="그림 5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898793" y="1708845"/>
            <a:ext cx="181098" cy="173224"/>
          </a:xfrm>
          <a:prstGeom prst="rect">
            <a:avLst/>
          </a:prstGeom>
        </p:spPr>
      </p:pic>
      <p:cxnSp>
        <p:nvCxnSpPr>
          <p:cNvPr id="56" name="직선 연결선 55"/>
          <p:cNvCxnSpPr/>
          <p:nvPr/>
        </p:nvCxnSpPr>
        <p:spPr bwMode="auto">
          <a:xfrm>
            <a:off x="2063366" y="1794109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5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712241" y="1432814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검색</a:t>
            </a:r>
            <a:endParaRPr kumimoji="0" lang="ko-KR" altLang="en-US" sz="800" spc="-100">
              <a:solidFill>
                <a:schemeClr val="bg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10015" y="1432814"/>
            <a:ext cx="424711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엑셀출력</a:t>
            </a:r>
            <a:endParaRPr kumimoji="0" lang="ko-KR" altLang="en-US" sz="8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72501" y="1432814"/>
            <a:ext cx="314867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인쇄</a:t>
            </a:r>
            <a:endParaRPr kumimoji="0" lang="ko-KR" altLang="en-US" sz="8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2" name="직사각형 61"/>
          <p:cNvSpPr/>
          <p:nvPr/>
        </p:nvSpPr>
        <p:spPr bwMode="auto">
          <a:xfrm>
            <a:off x="218885" y="1368521"/>
            <a:ext cx="6708389" cy="2152107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178387" y="2254729"/>
            <a:ext cx="118291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185578" y="1949168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진행중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2" name="이등변 삼각형 71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1755421" y="2007765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맑은 고딕"/>
              <a:cs typeface="+mn-cs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272097" y="1959306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78" name="그림 7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16573" y="1981757"/>
            <a:ext cx="141879" cy="150746"/>
          </a:xfrm>
          <a:prstGeom prst="rect">
            <a:avLst/>
          </a:prstGeom>
        </p:spPr>
      </p:pic>
      <p:sp>
        <p:nvSpPr>
          <p:cNvPr id="79" name="직사각형 78"/>
          <p:cNvSpPr/>
          <p:nvPr/>
        </p:nvSpPr>
        <p:spPr bwMode="auto">
          <a:xfrm>
            <a:off x="589488" y="2815974"/>
            <a:ext cx="2601376" cy="175410"/>
          </a:xfrm>
          <a:prstGeom prst="rect">
            <a:avLst/>
          </a:prstGeom>
          <a:noFill/>
          <a:ln w="12701">
            <a:noFill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defTabSz="914395" fontAlgn="ctr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 dirty="0">
                <a:latin typeface="+mj-ea"/>
              </a:rPr>
              <a:t> </a:t>
            </a:r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◎ </a:t>
            </a:r>
            <a:r>
              <a:rPr lang="ko-KR" altLang="en-US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lang="ko-KR" altLang="en-US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○ 지적사항 </a:t>
            </a:r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○ </a:t>
            </a:r>
            <a:r>
              <a:rPr lang="ko-KR" altLang="en-US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감사보고서 </a:t>
            </a:r>
            <a:endParaRPr lang="ko-KR" altLang="en-US" sz="8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02" name="직사각형 101"/>
          <p:cNvSpPr/>
          <p:nvPr/>
        </p:nvSpPr>
        <p:spPr bwMode="auto">
          <a:xfrm>
            <a:off x="4035106" y="2265137"/>
            <a:ext cx="1581681" cy="175410"/>
          </a:xfrm>
          <a:prstGeom prst="rect">
            <a:avLst/>
          </a:prstGeom>
          <a:noFill/>
          <a:ln w="12701">
            <a:noFill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defTabSz="914395" fontAlgn="ctr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 dirty="0">
                <a:latin typeface="+mj-ea"/>
              </a:rPr>
              <a:t> </a:t>
            </a:r>
            <a:r>
              <a:rPr lang="ko-KR" altLang="en-US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○ 실행예정부서  ◎ </a:t>
            </a:r>
            <a:r>
              <a:rPr lang="ko-KR" altLang="en-US" sz="8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실행부서</a:t>
            </a:r>
            <a:endParaRPr lang="ko-KR" altLang="en-US" sz="8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593678" y="2259632"/>
            <a:ext cx="9991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04" name="그림 10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444469" y="2282202"/>
            <a:ext cx="141879" cy="150746"/>
          </a:xfrm>
          <a:prstGeom prst="rect">
            <a:avLst/>
          </a:prstGeom>
        </p:spPr>
      </p:pic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259915" y="2812759"/>
            <a:ext cx="2425234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검색 키워드 입력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48" name="표 47"/>
          <p:cNvGraphicFramePr>
            <a:graphicFrameLocks noGrp="1"/>
          </p:cNvGraphicFramePr>
          <p:nvPr>
            <p:extLst/>
          </p:nvPr>
        </p:nvGraphicFramePr>
        <p:xfrm>
          <a:off x="200875" y="3090152"/>
          <a:ext cx="6732902" cy="990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7013">
                  <a:extLst>
                    <a:ext uri="{9D8B030D-6E8A-4147-A177-3AD203B41FA5}">
                      <a16:colId xmlns:a16="http://schemas.microsoft.com/office/drawing/2014/main" val="2426106912"/>
                    </a:ext>
                  </a:extLst>
                </a:gridCol>
                <a:gridCol w="472440">
                  <a:extLst>
                    <a:ext uri="{9D8B030D-6E8A-4147-A177-3AD203B41FA5}">
                      <a16:colId xmlns:a16="http://schemas.microsoft.com/office/drawing/2014/main" val="157696043"/>
                    </a:ext>
                  </a:extLst>
                </a:gridCol>
                <a:gridCol w="441960">
                  <a:extLst>
                    <a:ext uri="{9D8B030D-6E8A-4147-A177-3AD203B41FA5}">
                      <a16:colId xmlns:a16="http://schemas.microsoft.com/office/drawing/2014/main" val="1421297000"/>
                    </a:ext>
                  </a:extLst>
                </a:gridCol>
                <a:gridCol w="373380">
                  <a:extLst>
                    <a:ext uri="{9D8B030D-6E8A-4147-A177-3AD203B41FA5}">
                      <a16:colId xmlns:a16="http://schemas.microsoft.com/office/drawing/2014/main" val="3582745889"/>
                    </a:ext>
                  </a:extLst>
                </a:gridCol>
                <a:gridCol w="541020">
                  <a:extLst>
                    <a:ext uri="{9D8B030D-6E8A-4147-A177-3AD203B41FA5}">
                      <a16:colId xmlns:a16="http://schemas.microsoft.com/office/drawing/2014/main" val="3292794991"/>
                    </a:ext>
                  </a:extLst>
                </a:gridCol>
                <a:gridCol w="518160">
                  <a:extLst>
                    <a:ext uri="{9D8B030D-6E8A-4147-A177-3AD203B41FA5}">
                      <a16:colId xmlns:a16="http://schemas.microsoft.com/office/drawing/2014/main" val="1828931321"/>
                    </a:ext>
                  </a:extLst>
                </a:gridCol>
                <a:gridCol w="1173480">
                  <a:extLst>
                    <a:ext uri="{9D8B030D-6E8A-4147-A177-3AD203B41FA5}">
                      <a16:colId xmlns:a16="http://schemas.microsoft.com/office/drawing/2014/main" val="461435787"/>
                    </a:ext>
                  </a:extLst>
                </a:gridCol>
                <a:gridCol w="541020">
                  <a:extLst>
                    <a:ext uri="{9D8B030D-6E8A-4147-A177-3AD203B41FA5}">
                      <a16:colId xmlns:a16="http://schemas.microsoft.com/office/drawing/2014/main" val="2502540127"/>
                    </a:ext>
                  </a:extLst>
                </a:gridCol>
                <a:gridCol w="495633">
                  <a:extLst>
                    <a:ext uri="{9D8B030D-6E8A-4147-A177-3AD203B41FA5}">
                      <a16:colId xmlns:a16="http://schemas.microsoft.com/office/drawing/2014/main" val="1440062905"/>
                    </a:ext>
                  </a:extLst>
                </a:gridCol>
                <a:gridCol w="502587">
                  <a:extLst>
                    <a:ext uri="{9D8B030D-6E8A-4147-A177-3AD203B41FA5}">
                      <a16:colId xmlns:a16="http://schemas.microsoft.com/office/drawing/2014/main" val="1447650789"/>
                    </a:ext>
                  </a:extLst>
                </a:gridCol>
                <a:gridCol w="348723">
                  <a:extLst>
                    <a:ext uri="{9D8B030D-6E8A-4147-A177-3AD203B41FA5}">
                      <a16:colId xmlns:a16="http://schemas.microsoft.com/office/drawing/2014/main" val="611776971"/>
                    </a:ext>
                  </a:extLst>
                </a:gridCol>
                <a:gridCol w="603777">
                  <a:extLst>
                    <a:ext uri="{9D8B030D-6E8A-4147-A177-3AD203B41FA5}">
                      <a16:colId xmlns:a16="http://schemas.microsoft.com/office/drawing/2014/main" val="2983565245"/>
                    </a:ext>
                  </a:extLst>
                </a:gridCol>
                <a:gridCol w="413709">
                  <a:extLst>
                    <a:ext uri="{9D8B030D-6E8A-4147-A177-3AD203B41FA5}">
                      <a16:colId xmlns:a16="http://schemas.microsoft.com/office/drawing/2014/main" val="189125781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u="none" spc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700" b="0" u="none" spc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계획년</a:t>
                      </a:r>
                      <a:endParaRPr lang="ko-KR" altLang="en-US" sz="7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팀구분</a:t>
                      </a:r>
                      <a:endParaRPr lang="ko-KR" altLang="en-US" sz="7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차수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감사종류</a:t>
                      </a:r>
                      <a:endParaRPr lang="ko-KR" altLang="en-US" sz="7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감사구분</a:t>
                      </a:r>
                      <a:endParaRPr lang="ko-KR" altLang="en-US" sz="7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감사명</a:t>
                      </a:r>
                      <a:endParaRPr lang="ko-KR" altLang="en-US" sz="7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지적유형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u="none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79101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smtClean="0">
                          <a:solidFill>
                            <a:srgbClr val="7555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u="none">
                        <a:solidFill>
                          <a:srgbClr val="7555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smtClean="0">
                          <a:solidFill>
                            <a:srgbClr val="7555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700" u="none">
                        <a:solidFill>
                          <a:srgbClr val="7555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smtClean="0">
                          <a:solidFill>
                            <a:srgbClr val="7555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본점</a:t>
                      </a:r>
                      <a:endParaRPr lang="ko-KR" altLang="en-US" sz="700" u="none">
                        <a:solidFill>
                          <a:srgbClr val="7555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smtClean="0">
                          <a:solidFill>
                            <a:srgbClr val="7555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 u="none">
                        <a:solidFill>
                          <a:srgbClr val="7555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smtClean="0">
                          <a:solidFill>
                            <a:srgbClr val="7555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  <a:endParaRPr lang="ko-KR" altLang="en-US" sz="700" u="none">
                        <a:solidFill>
                          <a:srgbClr val="7555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smtClean="0">
                          <a:solidFill>
                            <a:srgbClr val="7555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종합</a:t>
                      </a:r>
                      <a:endParaRPr lang="ko-KR" altLang="en-US" sz="700" u="none">
                        <a:solidFill>
                          <a:srgbClr val="7555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smtClean="0">
                          <a:solidFill>
                            <a:srgbClr val="7555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테크본부 종합감사</a:t>
                      </a:r>
                      <a:endParaRPr lang="ko-KR" altLang="en-US" sz="700" u="none">
                        <a:solidFill>
                          <a:srgbClr val="7555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smtClean="0">
                          <a:solidFill>
                            <a:srgbClr val="7555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개선사항</a:t>
                      </a:r>
                      <a:endParaRPr lang="ko-KR" altLang="en-US" sz="700" u="none">
                        <a:solidFill>
                          <a:srgbClr val="7555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u="none">
                        <a:solidFill>
                          <a:srgbClr val="7555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sng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</a:t>
                      </a:r>
                      <a:endParaRPr lang="ko-KR" altLang="en-US" sz="700" u="none" dirty="0">
                        <a:solidFill>
                          <a:srgbClr val="7555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u="none" dirty="0">
                        <a:solidFill>
                          <a:srgbClr val="7555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sng" dirty="0" err="1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조치이행</a:t>
                      </a:r>
                      <a:endParaRPr lang="ko-KR" altLang="en-US" sz="700" u="sng" dirty="0">
                        <a:solidFill>
                          <a:srgbClr val="2272F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u="none" dirty="0">
                        <a:solidFill>
                          <a:srgbClr val="7555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50771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본점</a:t>
                      </a:r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부문</a:t>
                      </a:r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위험관리본부 업무실태 점검</a:t>
                      </a:r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개선사항</a:t>
                      </a:r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</a:t>
                      </a:r>
                      <a:endParaRPr lang="ko-KR" altLang="en-US" sz="700" u="none" dirty="0" smtClean="0">
                        <a:solidFill>
                          <a:srgbClr val="7555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sng" dirty="0" err="1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조치이행</a:t>
                      </a:r>
                      <a:endParaRPr lang="ko-KR" altLang="en-US" sz="700" u="sng" dirty="0">
                        <a:solidFill>
                          <a:srgbClr val="2272F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30769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본점</a:t>
                      </a:r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부문</a:t>
                      </a:r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위험관리본부 업무실태 점검</a:t>
                      </a: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문책사항</a:t>
                      </a:r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</a:t>
                      </a:r>
                      <a:endParaRPr lang="ko-KR" altLang="en-US" sz="700" u="none" dirty="0" smtClean="0">
                        <a:solidFill>
                          <a:srgbClr val="7555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sng" dirty="0" err="1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조치이행</a:t>
                      </a:r>
                      <a:endParaRPr lang="ko-KR" altLang="en-US" sz="700" u="sng" dirty="0">
                        <a:solidFill>
                          <a:srgbClr val="2272F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13253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2427390"/>
                  </a:ext>
                </a:extLst>
              </a:tr>
            </a:tbl>
          </a:graphicData>
        </a:graphic>
      </p:graphicFrame>
      <p:sp>
        <p:nvSpPr>
          <p:cNvPr id="49" name="직사각형 48"/>
          <p:cNvSpPr/>
          <p:nvPr/>
        </p:nvSpPr>
        <p:spPr bwMode="auto">
          <a:xfrm>
            <a:off x="213131" y="3103375"/>
            <a:ext cx="6781108" cy="359116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193283" y="323960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3" name="타원 6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918920" y="323659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196428" y="2525022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5" name="이등변 삼각형 64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1775796" y="2605844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50082" y="321452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266953" y="2526348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1" name="이등변 삼각형 50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4846321" y="2607170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915848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927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감사단위추가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버튼을 클릭하면 등록된 감사를 조회하는 팝업을 호출하고 선택한다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감사선택시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지적사항 개수 항목 추가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지적사항추가 버튼을 클릭하면 지적사항 목록을 조회하는 팝업을 호출하고 선택한다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선택된 내용을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지적사항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대상부점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심의제목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심의사항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지적유형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항목에 추가된다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부점조회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팝업을 호출하여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선택한다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해당 지적의 담당 감사역 자동으로 선택되며 수정이 필요한 경우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돋보기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직원 선택 팝업을 호출하여 담당검사역을 선택한다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추가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버튼을 눌러 행을 추가하고 추가된 행의 돋보기 버튼을 눌러 직원선택팝업을 호출하고 선택한다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 추가 버튼을 눌러 파일을 업로드한다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저장 버튼을 눌러 입력한 내용을 저장한다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MDD-00063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MDD75MG8001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심의의뢰</a:t>
                      </a:r>
                      <a:endParaRPr lang="en-US" altLang="ko-KR" sz="12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감사결과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지적사항 관리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심의의뢰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(P78: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이지원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14" name="양쪽 모서리가 둥근 사각형 13"/>
          <p:cNvSpPr/>
          <p:nvPr/>
        </p:nvSpPr>
        <p:spPr bwMode="auto">
          <a:xfrm>
            <a:off x="222924" y="1112912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심의의뢰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16421" y="1038316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25" y="1298647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7" name="직사각형 16"/>
          <p:cNvSpPr/>
          <p:nvPr/>
        </p:nvSpPr>
        <p:spPr bwMode="auto">
          <a:xfrm flipV="1">
            <a:off x="222922" y="1100283"/>
            <a:ext cx="1075897" cy="22836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19" name="그림 1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1264" y="1403417"/>
            <a:ext cx="4033196" cy="3538775"/>
          </a:xfrm>
          <a:prstGeom prst="rect">
            <a:avLst/>
          </a:prstGeom>
        </p:spPr>
      </p:pic>
      <p:sp>
        <p:nvSpPr>
          <p:cNvPr id="20" name="직사각형 19"/>
          <p:cNvSpPr/>
          <p:nvPr/>
        </p:nvSpPr>
        <p:spPr bwMode="auto">
          <a:xfrm>
            <a:off x="300067" y="2355347"/>
            <a:ext cx="3900829" cy="902659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22" name="그룹 21"/>
          <p:cNvGrpSpPr/>
          <p:nvPr/>
        </p:nvGrpSpPr>
        <p:grpSpPr>
          <a:xfrm>
            <a:off x="4391058" y="1676819"/>
            <a:ext cx="2633031" cy="1258932"/>
            <a:chOff x="4615502" y="2898790"/>
            <a:chExt cx="2633031" cy="1258932"/>
          </a:xfrm>
        </p:grpSpPr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68CB9370-D759-4248-8572-5FDA4EF6101B}"/>
                </a:ext>
              </a:extLst>
            </p:cNvPr>
            <p:cNvSpPr/>
            <p:nvPr/>
          </p:nvSpPr>
          <p:spPr>
            <a:xfrm>
              <a:off x="4615502" y="2898790"/>
              <a:ext cx="2633031" cy="125893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742856">
                <a:defRPr/>
              </a:pPr>
              <a:endParaRPr lang="ko-KR" altLang="en-US" sz="813" b="1">
                <a:solidFill>
                  <a:srgbClr val="0070C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061CAA5C-4EB7-4E67-85DA-E29F266F438F}"/>
                </a:ext>
              </a:extLst>
            </p:cNvPr>
            <p:cNvSpPr/>
            <p:nvPr/>
          </p:nvSpPr>
          <p:spPr>
            <a:xfrm>
              <a:off x="4626393" y="2914649"/>
              <a:ext cx="2614235" cy="217588"/>
            </a:xfrm>
            <a:prstGeom prst="rect">
              <a:avLst/>
            </a:prstGeom>
            <a:solidFill>
              <a:srgbClr val="625950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742856">
                <a:defRPr/>
              </a:pPr>
              <a:endParaRPr lang="ko-KR" altLang="en-US" sz="813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D494E968-62DE-442C-9EE6-DD6B90DDF615}"/>
                </a:ext>
              </a:extLst>
            </p:cNvPr>
            <p:cNvSpPr/>
            <p:nvPr/>
          </p:nvSpPr>
          <p:spPr bwMode="auto">
            <a:xfrm>
              <a:off x="7077239" y="2971800"/>
              <a:ext cx="96525" cy="86038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0" tIns="0" rIns="0" bIns="0" rtlCol="0" anchor="ctr" anchorCtr="0">
              <a:noAutofit/>
            </a:bodyPr>
            <a:lstStyle/>
            <a:p>
              <a:pPr algn="ctr" defTabSz="742856">
                <a:defRPr/>
              </a:pPr>
              <a:r>
                <a:rPr lang="en-US" altLang="ko-KR" sz="516" b="1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X</a:t>
              </a:r>
              <a:endParaRPr lang="ko-KR" altLang="en-US" sz="516" b="1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60B97788-F115-4669-A08F-46D3A46FC7DA}"/>
                </a:ext>
              </a:extLst>
            </p:cNvPr>
            <p:cNvSpPr txBox="1"/>
            <p:nvPr/>
          </p:nvSpPr>
          <p:spPr>
            <a:xfrm>
              <a:off x="4661286" y="2914649"/>
              <a:ext cx="1444242" cy="215444"/>
            </a:xfrm>
            <a:prstGeom prst="rect">
              <a:avLst/>
            </a:prstGeom>
            <a:noFill/>
          </p:spPr>
          <p:txBody>
            <a:bodyPr wrap="square" lIns="29250" rtlCol="0">
              <a:spAutoFit/>
            </a:bodyPr>
            <a:lstStyle/>
            <a:p>
              <a:pPr defTabSz="742856">
                <a:defRPr/>
              </a:pPr>
              <a:r>
                <a:rPr lang="ko-KR" altLang="en-US" sz="800" dirty="0" smtClean="0">
                  <a:solidFill>
                    <a:schemeClr val="bg1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지적사항 선택</a:t>
              </a:r>
              <a:endParaRPr lang="ko-KR" altLang="en-US" sz="800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4436842" y="2001754"/>
          <a:ext cx="2478550" cy="502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22194">
                  <a:extLst>
                    <a:ext uri="{9D8B030D-6E8A-4147-A177-3AD203B41FA5}">
                      <a16:colId xmlns:a16="http://schemas.microsoft.com/office/drawing/2014/main" val="154274646"/>
                    </a:ext>
                  </a:extLst>
                </a:gridCol>
                <a:gridCol w="419100">
                  <a:extLst>
                    <a:ext uri="{9D8B030D-6E8A-4147-A177-3AD203B41FA5}">
                      <a16:colId xmlns:a16="http://schemas.microsoft.com/office/drawing/2014/main" val="1241599669"/>
                    </a:ext>
                  </a:extLst>
                </a:gridCol>
                <a:gridCol w="792480">
                  <a:extLst>
                    <a:ext uri="{9D8B030D-6E8A-4147-A177-3AD203B41FA5}">
                      <a16:colId xmlns:a16="http://schemas.microsoft.com/office/drawing/2014/main" val="2584476780"/>
                    </a:ext>
                  </a:extLst>
                </a:gridCol>
                <a:gridCol w="533400">
                  <a:extLst>
                    <a:ext uri="{9D8B030D-6E8A-4147-A177-3AD203B41FA5}">
                      <a16:colId xmlns:a16="http://schemas.microsoft.com/office/drawing/2014/main" val="1916591751"/>
                    </a:ext>
                  </a:extLst>
                </a:gridCol>
                <a:gridCol w="411376">
                  <a:extLst>
                    <a:ext uri="{9D8B030D-6E8A-4147-A177-3AD203B41FA5}">
                      <a16:colId xmlns:a16="http://schemas.microsoft.com/office/drawing/2014/main" val="125975393"/>
                    </a:ext>
                  </a:extLst>
                </a:gridCol>
              </a:tblGrid>
              <a:tr h="124497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지적유형</a:t>
                      </a:r>
                      <a:endParaRPr lang="ko-KR" altLang="en-US" sz="5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지적사항제목</a:t>
                      </a:r>
                      <a:endParaRPr lang="ko-KR" altLang="en-US" sz="5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실행부서</a:t>
                      </a:r>
                      <a:endParaRPr lang="ko-KR" altLang="en-US" sz="5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감사역</a:t>
                      </a:r>
                      <a:endParaRPr lang="ko-KR" altLang="en-US" sz="5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9643042"/>
                  </a:ext>
                </a:extLst>
              </a:tr>
              <a:tr h="124497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개선사항</a:t>
                      </a:r>
                      <a:endParaRPr lang="ko-KR" altLang="en-US" sz="5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여신 취급업무</a:t>
                      </a:r>
                      <a:r>
                        <a:rPr lang="en-US" altLang="ko-KR" sz="5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5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여신심사부</a:t>
                      </a:r>
                      <a:endParaRPr lang="ko-KR" altLang="en-US" sz="5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endParaRPr lang="ko-KR" altLang="en-US" sz="5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327491"/>
                  </a:ext>
                </a:extLst>
              </a:tr>
              <a:tr h="124497"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문책사항</a:t>
                      </a:r>
                      <a:endParaRPr lang="ko-KR" altLang="en-US" sz="5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담보취급</a:t>
                      </a:r>
                      <a:r>
                        <a:rPr lang="ko-KR" altLang="en-US" sz="500" b="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절차 불철저</a:t>
                      </a:r>
                      <a:r>
                        <a:rPr lang="en-US" altLang="ko-KR" sz="500" b="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5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여신심사부</a:t>
                      </a:r>
                      <a:endParaRPr lang="ko-KR" altLang="en-US" sz="5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최감사</a:t>
                      </a:r>
                      <a:endParaRPr lang="ko-KR" altLang="en-US" sz="5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190611"/>
                  </a:ext>
                </a:extLst>
              </a:tr>
            </a:tbl>
          </a:graphicData>
        </a:graphic>
      </p:graphicFrame>
      <p:sp>
        <p:nvSpPr>
          <p:cNvPr id="2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485106" y="2202267"/>
            <a:ext cx="226781" cy="98546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6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선택</a:t>
            </a:r>
            <a:endParaRPr kumimoji="0" lang="ko-KR" altLang="en-US" sz="6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485105" y="2370330"/>
            <a:ext cx="226781" cy="98546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6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선택</a:t>
            </a:r>
            <a:endParaRPr kumimoji="0" lang="ko-KR" altLang="en-US" sz="6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0" name="직사각형 29"/>
          <p:cNvSpPr/>
          <p:nvPr/>
        </p:nvSpPr>
        <p:spPr bwMode="auto">
          <a:xfrm>
            <a:off x="4436009" y="2316404"/>
            <a:ext cx="2479383" cy="184922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33" name="연결선: 꺾임 95">
            <a:extLst>
              <a:ext uri="{FF2B5EF4-FFF2-40B4-BE49-F238E27FC236}">
                <a16:creationId xmlns:a16="http://schemas.microsoft.com/office/drawing/2014/main" id="{B142995A-BCD9-F7CF-FE0C-70EB43BD7C02}"/>
              </a:ext>
            </a:extLst>
          </p:cNvPr>
          <p:cNvCxnSpPr>
            <a:cxnSpLocks/>
            <a:stCxn id="27" idx="2"/>
            <a:endCxn id="20" idx="3"/>
          </p:cNvCxnSpPr>
          <p:nvPr/>
        </p:nvCxnSpPr>
        <p:spPr bwMode="auto">
          <a:xfrm rot="5400000">
            <a:off x="4787506" y="1918065"/>
            <a:ext cx="302003" cy="1475221"/>
          </a:xfrm>
          <a:prstGeom prst="bentConnector2">
            <a:avLst/>
          </a:prstGeom>
          <a:solidFill>
            <a:schemeClr val="accent1"/>
          </a:solidFill>
          <a:ln w="9525" cap="flat" cmpd="sng" algn="ctr">
            <a:solidFill>
              <a:srgbClr val="755500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34" name="TextBox 33"/>
          <p:cNvSpPr txBox="1"/>
          <p:nvPr/>
        </p:nvSpPr>
        <p:spPr>
          <a:xfrm>
            <a:off x="1397601" y="2684192"/>
            <a:ext cx="267669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‘</a:t>
            </a:r>
            <a:r>
              <a:rPr lang="ko-KR" altLang="en-US" sz="10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지적사항내역</a:t>
            </a:r>
            <a:r>
              <a:rPr lang="en-US" altLang="ko-KR" sz="10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’</a:t>
            </a:r>
            <a:r>
              <a:rPr lang="ko-KR" altLang="en-US" sz="10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입력 내용 연계</a:t>
            </a:r>
          </a:p>
        </p:txBody>
      </p:sp>
      <p:sp>
        <p:nvSpPr>
          <p:cNvPr id="35" name="직사각형 34"/>
          <p:cNvSpPr/>
          <p:nvPr/>
        </p:nvSpPr>
        <p:spPr bwMode="auto">
          <a:xfrm>
            <a:off x="1594917" y="1810517"/>
            <a:ext cx="580940" cy="170624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45" name="구부러진 연결선 44"/>
          <p:cNvCxnSpPr>
            <a:endCxn id="27" idx="1"/>
          </p:cNvCxnSpPr>
          <p:nvPr/>
        </p:nvCxnSpPr>
        <p:spPr bwMode="auto">
          <a:xfrm>
            <a:off x="2175857" y="1835867"/>
            <a:ext cx="2260985" cy="417347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18" name="타원 1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594917" y="156631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531540" y="175608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313327" y="212248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296932" y="328036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9" name="직사각형 48"/>
          <p:cNvSpPr/>
          <p:nvPr/>
        </p:nvSpPr>
        <p:spPr bwMode="auto">
          <a:xfrm>
            <a:off x="300067" y="3438846"/>
            <a:ext cx="3900829" cy="601140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00067" y="336279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306349" y="406234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6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885387" y="459585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7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17814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30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조회대상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참고자료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연도별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근기표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MDD-00072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MDD75MBP200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내부통제평가근기표 조회</a:t>
                      </a:r>
                      <a:endParaRPr lang="en-US" altLang="ko-KR" sz="12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감사결과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내부통제평가근기표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(P79: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이지원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31" name="양쪽 모서리가 둥근 사각형 30"/>
          <p:cNvSpPr/>
          <p:nvPr/>
        </p:nvSpPr>
        <p:spPr bwMode="auto">
          <a:xfrm>
            <a:off x="264488" y="1171102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내부통제평가근기표 조회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57985" y="1096506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7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64489" y="1356837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8" name="직사각형 37"/>
          <p:cNvSpPr/>
          <p:nvPr/>
        </p:nvSpPr>
        <p:spPr bwMode="auto">
          <a:xfrm flipV="1">
            <a:off x="264486" y="1158473"/>
            <a:ext cx="1075897" cy="22836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04025" y="109650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40" name="그림 39"/>
          <p:cNvPicPr>
            <a:picLocks noChangeAspect="1"/>
          </p:cNvPicPr>
          <p:nvPr/>
        </p:nvPicPr>
        <p:blipFill rotWithShape="1">
          <a:blip r:embed="rId2"/>
          <a:srcRect t="25303"/>
          <a:stretch/>
        </p:blipFill>
        <p:spPr>
          <a:xfrm>
            <a:off x="231450" y="1780727"/>
            <a:ext cx="6752931" cy="495962"/>
          </a:xfrm>
          <a:prstGeom prst="rect">
            <a:avLst/>
          </a:prstGeom>
        </p:spPr>
      </p:pic>
      <p:graphicFrame>
        <p:nvGraphicFramePr>
          <p:cNvPr id="41" name="내용 개체 틀 121"/>
          <p:cNvGraphicFramePr>
            <a:graphicFrameLocks/>
          </p:cNvGraphicFramePr>
          <p:nvPr>
            <p:extLst/>
          </p:nvPr>
        </p:nvGraphicFramePr>
        <p:xfrm>
          <a:off x="257985" y="1483734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5788848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조회대상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42" name="직사각형 4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49617" y="1511101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참고자료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3" name="이등변 삼각형 42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1828985" y="1591923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348588" y="1534633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755240" y="1534633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답변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61892" y="1534633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수정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68545" y="1534633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검색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8" name="직사각형 47"/>
          <p:cNvSpPr/>
          <p:nvPr/>
        </p:nvSpPr>
        <p:spPr bwMode="auto">
          <a:xfrm>
            <a:off x="260025" y="1483734"/>
            <a:ext cx="1785945" cy="296993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90202" y="143210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50" name="구부러진 연결선 49"/>
          <p:cNvCxnSpPr>
            <a:stCxn id="51" idx="3"/>
            <a:endCxn id="48" idx="3"/>
          </p:cNvCxnSpPr>
          <p:nvPr/>
        </p:nvCxnSpPr>
        <p:spPr bwMode="auto">
          <a:xfrm flipH="1" flipV="1">
            <a:off x="2045970" y="1632231"/>
            <a:ext cx="128023" cy="945887"/>
          </a:xfrm>
          <a:prstGeom prst="curvedConnector3">
            <a:avLst>
              <a:gd name="adj1" fmla="val -178562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pic>
        <p:nvPicPr>
          <p:cNvPr id="51" name="그림 5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0418" y="2139968"/>
            <a:ext cx="1933575" cy="8763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03245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30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[</a:t>
                      </a:r>
                      <a:r>
                        <a:rPr lang="ko-KR" altLang="en-US" sz="80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지적사항사후점검</a:t>
                      </a:r>
                      <a:r>
                        <a:rPr lang="en-US" altLang="ko-KR" sz="80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], [</a:t>
                      </a:r>
                      <a:r>
                        <a:rPr lang="ko-KR" altLang="en-US" sz="80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분기점검</a:t>
                      </a:r>
                      <a:r>
                        <a:rPr lang="en-US" altLang="ko-KR" sz="80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], [</a:t>
                      </a:r>
                      <a:r>
                        <a:rPr lang="ko-KR" altLang="en-US" sz="80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현장감사</a:t>
                      </a:r>
                      <a:r>
                        <a:rPr lang="en-US" altLang="ko-KR" sz="80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 </a:t>
                      </a:r>
                      <a:r>
                        <a:rPr lang="ko-KR" altLang="en-US" sz="80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메뉴를</a:t>
                      </a:r>
                      <a:r>
                        <a:rPr lang="ko-KR" altLang="en-US" sz="800" baseline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통합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MDD-00073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MDD75MBP500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지적사항사후점검내용조회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감사결과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지적사항사후점검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(P80: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이지원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38" name="양쪽 모서리가 둥근 사각형 37"/>
          <p:cNvSpPr/>
          <p:nvPr/>
        </p:nvSpPr>
        <p:spPr bwMode="auto">
          <a:xfrm>
            <a:off x="272441" y="1070627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지적사항사후점검 내용조회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0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65938" y="996031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1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72442" y="1256362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0" name="직사각형 59"/>
          <p:cNvSpPr/>
          <p:nvPr/>
        </p:nvSpPr>
        <p:spPr bwMode="auto">
          <a:xfrm flipV="1">
            <a:off x="272439" y="1057998"/>
            <a:ext cx="1075897" cy="22836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66" name="그림 65"/>
          <p:cNvPicPr>
            <a:picLocks noChangeAspect="1"/>
          </p:cNvPicPr>
          <p:nvPr/>
        </p:nvPicPr>
        <p:blipFill rotWithShape="1">
          <a:blip r:embed="rId2"/>
          <a:srcRect t="25303"/>
          <a:stretch/>
        </p:blipFill>
        <p:spPr>
          <a:xfrm>
            <a:off x="239403" y="1680252"/>
            <a:ext cx="6752931" cy="495962"/>
          </a:xfrm>
          <a:prstGeom prst="rect">
            <a:avLst/>
          </a:prstGeom>
        </p:spPr>
      </p:pic>
      <p:graphicFrame>
        <p:nvGraphicFramePr>
          <p:cNvPr id="67" name="내용 개체 틀 121"/>
          <p:cNvGraphicFramePr>
            <a:graphicFrameLocks/>
          </p:cNvGraphicFramePr>
          <p:nvPr>
            <p:extLst/>
          </p:nvPr>
        </p:nvGraphicFramePr>
        <p:xfrm>
          <a:off x="265938" y="1383259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5788848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조회대상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68" name="직사각형 6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57570" y="1410626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분기점검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9" name="이등변 삼각형 68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1836938" y="1491448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356541" y="1434158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763193" y="1434158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답변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69845" y="1434158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수정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76498" y="1434158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검색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0" name="직사각형 79"/>
          <p:cNvSpPr/>
          <p:nvPr/>
        </p:nvSpPr>
        <p:spPr bwMode="auto">
          <a:xfrm>
            <a:off x="267978" y="1383259"/>
            <a:ext cx="1785945" cy="296993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52035" y="1599727"/>
            <a:ext cx="733415" cy="44963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-10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지적사항사후점검</a:t>
            </a:r>
            <a:endParaRPr kumimoji="0" lang="en-US" altLang="ko-KR" sz="700" b="0" i="0" u="none" strike="noStrike" kern="1200" cap="none" spc="-100" normalizeH="0" baseline="0" noProof="0" dirty="0" smtClean="0">
              <a:ln>
                <a:solidFill>
                  <a:prstClr val="black">
                    <a:alpha val="0"/>
                  </a:prstClr>
                </a:solidFill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pc="-10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분기점검</a:t>
            </a:r>
            <a:endParaRPr kumimoji="0" lang="en-US" altLang="ko-KR" sz="700" spc="-100" dirty="0" smtClean="0">
              <a:ln>
                <a:solidFill>
                  <a:prstClr val="black">
                    <a:alpha val="0"/>
                  </a:prstClr>
                </a:solidFill>
              </a:ln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-100" normalizeH="0" baseline="0" noProof="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현장감사</a:t>
            </a:r>
            <a:endParaRPr kumimoji="0" lang="ko-KR" altLang="en-US" sz="700" b="0" i="0" u="none" strike="noStrike" kern="1200" cap="none" spc="-10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197944" y="132203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569821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30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중요정보보고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,(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구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중요정보보고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수검정보보고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,(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구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수검정보보고를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한화면의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텝으로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통합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MDD-00074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MDD72MBC000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글로벌 정보보고 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국외점포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정보보고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(P81: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이지원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6" name="양쪽 모서리가 둥근 사각형 5"/>
          <p:cNvSpPr/>
          <p:nvPr/>
        </p:nvSpPr>
        <p:spPr bwMode="auto">
          <a:xfrm>
            <a:off x="305336" y="1441373"/>
            <a:ext cx="1075896" cy="178279"/>
          </a:xfrm>
          <a:prstGeom prst="round2SameRect">
            <a:avLst/>
          </a:prstGeom>
          <a:solidFill>
            <a:schemeClr val="bg2">
              <a:lumMod val="75000"/>
            </a:schemeClr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중요정보보고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" name="양쪽 모서리가 둥근 사각형 6"/>
          <p:cNvSpPr/>
          <p:nvPr/>
        </p:nvSpPr>
        <p:spPr bwMode="auto">
          <a:xfrm>
            <a:off x="1381232" y="1441372"/>
            <a:ext cx="1075896" cy="178279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(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구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)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중요정보보고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" name="양쪽 모서리가 둥근 사각형 7"/>
          <p:cNvSpPr/>
          <p:nvPr/>
        </p:nvSpPr>
        <p:spPr bwMode="auto">
          <a:xfrm>
            <a:off x="2457128" y="1441372"/>
            <a:ext cx="1075896" cy="178279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수검정보보고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" name="양쪽 모서리가 둥근 사각형 8"/>
          <p:cNvSpPr/>
          <p:nvPr/>
        </p:nvSpPr>
        <p:spPr bwMode="auto">
          <a:xfrm>
            <a:off x="3533024" y="1441371"/>
            <a:ext cx="1075896" cy="178279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(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구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)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수검정보보고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1" name="내용 개체 틀 121"/>
          <p:cNvGraphicFramePr>
            <a:graphicFrameLocks/>
          </p:cNvGraphicFramePr>
          <p:nvPr>
            <p:extLst/>
          </p:nvPr>
        </p:nvGraphicFramePr>
        <p:xfrm>
          <a:off x="332016" y="1630480"/>
          <a:ext cx="6726398" cy="5179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5788848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</a:tblGrid>
              <a:tr h="258993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baseline="0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BO</a:t>
                      </a:r>
                      <a:r>
                        <a:rPr lang="ko-KR" altLang="en-US" sz="700" b="0" i="0" u="none" strike="noStrike" baseline="0" dirty="0" err="1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58993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접수년월일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392747"/>
                  </a:ext>
                </a:extLst>
              </a:tr>
            </a:tbl>
          </a:graphicData>
        </a:graphic>
      </p:graphicFrame>
      <p:sp>
        <p:nvSpPr>
          <p:cNvPr id="12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314367" y="1381769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699461" y="1901245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06114" y="1901245"/>
            <a:ext cx="481557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엑셀출력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34324" y="1901245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인쇄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91875" y="1646090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0000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704264" y="1646124"/>
            <a:ext cx="1217354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동경지점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8" name="그림 17"/>
          <p:cNvPicPr>
            <a:picLocks noChangeAspect="1"/>
          </p:cNvPicPr>
          <p:nvPr/>
        </p:nvPicPr>
        <p:blipFill rotWithShape="1">
          <a:blip r:embed="rId2"/>
          <a:srcRect r="73540"/>
          <a:stretch/>
        </p:blipFill>
        <p:spPr>
          <a:xfrm>
            <a:off x="1716964" y="1662646"/>
            <a:ext cx="183595" cy="164228"/>
          </a:xfrm>
          <a:prstGeom prst="rect">
            <a:avLst/>
          </a:prstGeom>
        </p:spPr>
      </p:pic>
      <p:sp>
        <p:nvSpPr>
          <p:cNvPr id="19" name="직사각형 1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93515" y="1912146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368327" y="1908736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2024-03-31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21" name="그림 2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933915" y="1915986"/>
            <a:ext cx="181098" cy="173224"/>
          </a:xfrm>
          <a:prstGeom prst="rect">
            <a:avLst/>
          </a:prstGeom>
        </p:spPr>
      </p:pic>
      <p:pic>
        <p:nvPicPr>
          <p:cNvPr id="22" name="그림 2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007589" y="1917334"/>
            <a:ext cx="181098" cy="173224"/>
          </a:xfrm>
          <a:prstGeom prst="rect">
            <a:avLst/>
          </a:prstGeom>
        </p:spPr>
      </p:pic>
      <p:cxnSp>
        <p:nvCxnSpPr>
          <p:cNvPr id="23" name="직선 연결선 22"/>
          <p:cNvCxnSpPr/>
          <p:nvPr/>
        </p:nvCxnSpPr>
        <p:spPr bwMode="auto">
          <a:xfrm>
            <a:off x="2172162" y="2002598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24" name="직사각형 23"/>
          <p:cNvSpPr/>
          <p:nvPr/>
        </p:nvSpPr>
        <p:spPr bwMode="auto">
          <a:xfrm flipV="1">
            <a:off x="320891" y="1636015"/>
            <a:ext cx="5183334" cy="52059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94410" y="138176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6" name="양쪽 모서리가 둥근 사각형 25"/>
          <p:cNvSpPr/>
          <p:nvPr/>
        </p:nvSpPr>
        <p:spPr bwMode="auto">
          <a:xfrm>
            <a:off x="314365" y="1162790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글로벌 정보보고 관리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27" name="그림 2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7221" y="2317124"/>
            <a:ext cx="6672357" cy="2895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85936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55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[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전체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], [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미국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], [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일본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], [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홍콩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], [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영국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], [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뉴질랜드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], [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인도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], [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중국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], [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베트남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], [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캄보디아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], [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미얀마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], [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통합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RM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보고서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], [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화상회의자료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메뉴를 통합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2821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MDD-00075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MDD75MBP600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AID(Audit info/monitoring Dashboard</a:t>
                      </a:r>
                      <a:endParaRPr lang="ko-KR" altLang="en-US" sz="105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국외점포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AID(Audit info/monitoring Dashboard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(P82: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이지원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4" name="양쪽 모서리가 둥근 사각형 3"/>
          <p:cNvSpPr/>
          <p:nvPr/>
        </p:nvSpPr>
        <p:spPr bwMode="auto">
          <a:xfrm>
            <a:off x="232682" y="1046770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en-US" altLang="ko-KR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AID(Audit info/monitoring Dashboard</a:t>
            </a:r>
            <a:endParaRPr kumimoji="0" lang="ko-KR" altLang="en-US" sz="7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26179" y="972174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32683" y="1232505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" name="직사각형 6"/>
          <p:cNvSpPr/>
          <p:nvPr/>
        </p:nvSpPr>
        <p:spPr bwMode="auto">
          <a:xfrm flipV="1">
            <a:off x="232680" y="1034141"/>
            <a:ext cx="1075897" cy="22836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9" name="그림 8"/>
          <p:cNvPicPr>
            <a:picLocks noChangeAspect="1"/>
          </p:cNvPicPr>
          <p:nvPr/>
        </p:nvPicPr>
        <p:blipFill rotWithShape="1">
          <a:blip r:embed="rId2"/>
          <a:srcRect t="25303"/>
          <a:stretch/>
        </p:blipFill>
        <p:spPr>
          <a:xfrm>
            <a:off x="199644" y="1656395"/>
            <a:ext cx="6752931" cy="495962"/>
          </a:xfrm>
          <a:prstGeom prst="rect">
            <a:avLst/>
          </a:prstGeom>
        </p:spPr>
      </p:pic>
      <p:graphicFrame>
        <p:nvGraphicFramePr>
          <p:cNvPr id="10" name="내용 개체 틀 121"/>
          <p:cNvGraphicFramePr>
            <a:graphicFrameLocks/>
          </p:cNvGraphicFramePr>
          <p:nvPr>
            <p:extLst/>
          </p:nvPr>
        </p:nvGraphicFramePr>
        <p:xfrm>
          <a:off x="226179" y="1359402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5788848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조회대상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11" name="직사각형 1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17811" y="1386769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미국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2" name="이등변 삼각형 11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1797179" y="1467591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316782" y="1410301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723434" y="1410301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답변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30086" y="1410301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수정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36739" y="1410301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검색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228219" y="1359402"/>
            <a:ext cx="1785945" cy="296993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20231" y="1572196"/>
            <a:ext cx="733415" cy="1411141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-10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전체</a:t>
            </a:r>
            <a:endParaRPr kumimoji="0" lang="en-US" altLang="ko-KR" sz="700" b="0" i="0" u="none" strike="noStrike" kern="1200" cap="none" spc="-100" normalizeH="0" baseline="0" noProof="0" dirty="0" smtClean="0">
              <a:ln>
                <a:solidFill>
                  <a:prstClr val="black">
                    <a:alpha val="0"/>
                  </a:prstClr>
                </a:solidFill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-10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미국</a:t>
            </a:r>
            <a:endParaRPr kumimoji="0" lang="en-US" altLang="ko-KR" sz="700" b="0" i="0" u="none" strike="noStrike" kern="1200" cap="none" spc="-100" normalizeH="0" baseline="0" noProof="0" dirty="0" smtClean="0">
              <a:ln>
                <a:solidFill>
                  <a:prstClr val="black">
                    <a:alpha val="0"/>
                  </a:prstClr>
                </a:solidFill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-10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일본</a:t>
            </a:r>
            <a:endParaRPr kumimoji="0" lang="en-US" altLang="ko-KR" sz="700" b="0" i="0" u="none" strike="noStrike" kern="1200" cap="none" spc="-100" normalizeH="0" baseline="0" noProof="0" dirty="0" smtClean="0">
              <a:ln>
                <a:solidFill>
                  <a:prstClr val="black">
                    <a:alpha val="0"/>
                  </a:prstClr>
                </a:solidFill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-10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홍콩</a:t>
            </a:r>
            <a:endParaRPr kumimoji="0" lang="en-US" altLang="ko-KR" sz="700" b="0" i="0" u="none" strike="noStrike" kern="1200" cap="none" spc="-100" normalizeH="0" baseline="0" noProof="0" dirty="0" smtClean="0">
              <a:ln>
                <a:solidFill>
                  <a:prstClr val="black">
                    <a:alpha val="0"/>
                  </a:prstClr>
                </a:solidFill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-10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영국</a:t>
            </a:r>
            <a:endParaRPr kumimoji="0" lang="en-US" altLang="ko-KR" sz="700" b="0" i="0" u="none" strike="noStrike" kern="1200" cap="none" spc="-100" normalizeH="0" baseline="0" noProof="0" dirty="0" smtClean="0">
              <a:ln>
                <a:solidFill>
                  <a:prstClr val="black">
                    <a:alpha val="0"/>
                  </a:prstClr>
                </a:solidFill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-10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뉴질랜드</a:t>
            </a:r>
            <a:endParaRPr kumimoji="0" lang="en-US" altLang="ko-KR" sz="700" b="0" i="0" u="none" strike="noStrike" kern="1200" cap="none" spc="-100" normalizeH="0" baseline="0" noProof="0" dirty="0" smtClean="0">
              <a:ln>
                <a:solidFill>
                  <a:prstClr val="black">
                    <a:alpha val="0"/>
                  </a:prstClr>
                </a:solidFill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-10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인도</a:t>
            </a:r>
            <a:endParaRPr kumimoji="0" lang="en-US" altLang="ko-KR" sz="700" b="0" i="0" u="none" strike="noStrike" kern="1200" cap="none" spc="-100" normalizeH="0" baseline="0" noProof="0" dirty="0" smtClean="0">
              <a:ln>
                <a:solidFill>
                  <a:prstClr val="black">
                    <a:alpha val="0"/>
                  </a:prstClr>
                </a:solidFill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-10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중국</a:t>
            </a:r>
            <a:endParaRPr kumimoji="0" lang="en-US" altLang="ko-KR" sz="700" b="0" i="0" u="none" strike="noStrike" kern="1200" cap="none" spc="-100" normalizeH="0" baseline="0" noProof="0" dirty="0" smtClean="0">
              <a:ln>
                <a:solidFill>
                  <a:prstClr val="black">
                    <a:alpha val="0"/>
                  </a:prstClr>
                </a:solidFill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-10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베트남</a:t>
            </a:r>
            <a:endParaRPr kumimoji="0" lang="en-US" altLang="ko-KR" sz="700" b="0" i="0" u="none" strike="noStrike" kern="1200" cap="none" spc="-100" normalizeH="0" baseline="0" noProof="0" dirty="0" smtClean="0">
              <a:ln>
                <a:solidFill>
                  <a:prstClr val="black">
                    <a:alpha val="0"/>
                  </a:prstClr>
                </a:solidFill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-10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캄보디아</a:t>
            </a:r>
            <a:endParaRPr kumimoji="0" lang="en-US" altLang="ko-KR" sz="700" b="0" i="0" u="none" strike="noStrike" kern="1200" cap="none" spc="-100" normalizeH="0" baseline="0" noProof="0" dirty="0" smtClean="0">
              <a:ln>
                <a:solidFill>
                  <a:prstClr val="black">
                    <a:alpha val="0"/>
                  </a:prstClr>
                </a:solidFill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-10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미얀마</a:t>
            </a:r>
            <a:endParaRPr kumimoji="0" lang="en-US" altLang="ko-KR" sz="700" b="0" i="0" u="none" strike="noStrike" kern="1200" cap="none" spc="-100" normalizeH="0" baseline="0" noProof="0" dirty="0" smtClean="0">
              <a:ln>
                <a:solidFill>
                  <a:prstClr val="black">
                    <a:alpha val="0"/>
                  </a:prstClr>
                </a:solidFill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-10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통합</a:t>
            </a:r>
            <a:r>
              <a:rPr kumimoji="0" lang="en-US" altLang="ko-KR" sz="700" b="0" i="0" u="none" strike="noStrike" kern="1200" cap="none" spc="-10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RM</a:t>
            </a:r>
            <a:r>
              <a:rPr kumimoji="0" lang="ko-KR" altLang="en-US" sz="700" b="0" i="0" u="none" strike="noStrike" kern="1200" cap="none" spc="-10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보고서</a:t>
            </a:r>
            <a:endParaRPr kumimoji="0" lang="en-US" altLang="ko-KR" sz="700" b="0" i="0" u="none" strike="noStrike" kern="1200" cap="none" spc="-100" normalizeH="0" baseline="0" noProof="0" dirty="0" smtClean="0">
              <a:ln>
                <a:solidFill>
                  <a:prstClr val="black">
                    <a:alpha val="0"/>
                  </a:prstClr>
                </a:solidFill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-10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화상회의자료</a:t>
            </a:r>
            <a:endParaRPr kumimoji="0" lang="en-US" altLang="ko-KR" sz="700" b="0" i="0" u="none" strike="noStrike" kern="1200" cap="none" spc="-100" normalizeH="0" baseline="0" noProof="0" dirty="0" smtClean="0">
              <a:ln>
                <a:solidFill>
                  <a:prstClr val="black">
                    <a:alpha val="0"/>
                  </a:prstClr>
                </a:solidFill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166138" y="129817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100398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30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[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감사제도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운영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], [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정보수집자료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 –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본부감사자료실메뉴 변경하여 통합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[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금융감독원 업무보고서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사업그룹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모니터링자료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본부감사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정보관리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과거자료모음 메뉴로 통합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MDD-00076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MDD75MBP100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 자료실</a:t>
                      </a:r>
                      <a:endParaRPr kumimoji="0" lang="ko-KR" altLang="en-US" sz="12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정보관리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자료실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(P83: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이지원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19" name="양쪽 모서리가 둥근 사각형 18"/>
          <p:cNvSpPr/>
          <p:nvPr/>
        </p:nvSpPr>
        <p:spPr bwMode="auto">
          <a:xfrm>
            <a:off x="272440" y="1094479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본부감사 자료실</a:t>
            </a:r>
            <a:endParaRPr kumimoji="0" lang="ko-KR" altLang="en-US" sz="7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0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65937" y="1019883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1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72441" y="1280214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3" name="직사각형 22"/>
          <p:cNvSpPr/>
          <p:nvPr/>
        </p:nvSpPr>
        <p:spPr bwMode="auto">
          <a:xfrm flipV="1">
            <a:off x="272438" y="1081850"/>
            <a:ext cx="1075897" cy="22836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25" name="그림 24"/>
          <p:cNvPicPr>
            <a:picLocks noChangeAspect="1"/>
          </p:cNvPicPr>
          <p:nvPr/>
        </p:nvPicPr>
        <p:blipFill rotWithShape="1">
          <a:blip r:embed="rId2"/>
          <a:srcRect t="25303"/>
          <a:stretch/>
        </p:blipFill>
        <p:spPr>
          <a:xfrm>
            <a:off x="239402" y="1704104"/>
            <a:ext cx="6752931" cy="495962"/>
          </a:xfrm>
          <a:prstGeom prst="rect">
            <a:avLst/>
          </a:prstGeom>
        </p:spPr>
      </p:pic>
      <p:sp>
        <p:nvSpPr>
          <p:cNvPr id="27" name="직사각형 2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57569" y="1434478"/>
            <a:ext cx="740515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감사제도</a:t>
            </a: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/</a:t>
            </a:r>
            <a:r>
              <a:rPr kumimoji="0" lang="ko-KR" altLang="en-US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운영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8" name="이등변 삼각형 27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1892404" y="1509048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356540" y="1458010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763192" y="1458010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답변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69844" y="1458010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수정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76497" y="1458010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검색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4" name="직사각형 33"/>
          <p:cNvSpPr/>
          <p:nvPr/>
        </p:nvSpPr>
        <p:spPr bwMode="auto">
          <a:xfrm>
            <a:off x="267977" y="1407111"/>
            <a:ext cx="1785945" cy="296993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6" name="내용 개체 틀 121"/>
          <p:cNvGraphicFramePr>
            <a:graphicFrameLocks/>
          </p:cNvGraphicFramePr>
          <p:nvPr>
            <p:extLst/>
          </p:nvPr>
        </p:nvGraphicFramePr>
        <p:xfrm>
          <a:off x="265937" y="1407111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5788848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조회대상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24" name="타원 2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197940" y="132998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54095" y="1620165"/>
            <a:ext cx="1572141" cy="408756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-10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감사제도</a:t>
            </a:r>
            <a:r>
              <a:rPr kumimoji="0" lang="en-US" altLang="ko-KR" sz="700" b="0" i="0" u="none" strike="noStrike" kern="1200" cap="none" spc="-10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/</a:t>
            </a:r>
            <a:r>
              <a:rPr kumimoji="0" lang="ko-KR" altLang="en-US" sz="700" b="0" i="0" u="none" strike="noStrike" kern="1200" cap="none" spc="-10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운영</a:t>
            </a:r>
            <a:endParaRPr kumimoji="0" lang="en-US" altLang="ko-KR" sz="700" b="0" i="0" u="none" strike="noStrike" kern="1200" cap="none" spc="-100" normalizeH="0" baseline="0" noProof="0" dirty="0" smtClean="0">
              <a:ln>
                <a:solidFill>
                  <a:prstClr val="black">
                    <a:alpha val="0"/>
                  </a:prstClr>
                </a:solidFill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-10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정보수집자료</a:t>
            </a:r>
            <a:endParaRPr kumimoji="0" lang="en-US" altLang="ko-KR" sz="700" b="0" i="0" u="none" strike="noStrike" kern="1200" cap="none" spc="-100" normalizeH="0" baseline="0" noProof="0" dirty="0" smtClean="0">
              <a:ln>
                <a:solidFill>
                  <a:prstClr val="black">
                    <a:alpha val="0"/>
                  </a:prstClr>
                </a:solidFill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263613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" name="그림 60"/>
          <p:cNvPicPr>
            <a:picLocks noChangeAspect="1"/>
          </p:cNvPicPr>
          <p:nvPr/>
        </p:nvPicPr>
        <p:blipFill rotWithShape="1">
          <a:blip r:embed="rId2"/>
          <a:srcRect r="23025"/>
          <a:stretch/>
        </p:blipFill>
        <p:spPr>
          <a:xfrm>
            <a:off x="310103" y="2159187"/>
            <a:ext cx="6694997" cy="493060"/>
          </a:xfrm>
          <a:prstGeom prst="rect">
            <a:avLst/>
          </a:prstGeom>
        </p:spPr>
      </p:pic>
      <p:pic>
        <p:nvPicPr>
          <p:cNvPr id="58" name="그림 57"/>
          <p:cNvPicPr>
            <a:picLocks noChangeAspect="1"/>
          </p:cNvPicPr>
          <p:nvPr/>
        </p:nvPicPr>
        <p:blipFill rotWithShape="1">
          <a:blip r:embed="rId3"/>
          <a:srcRect r="37436"/>
          <a:stretch/>
        </p:blipFill>
        <p:spPr>
          <a:xfrm>
            <a:off x="287287" y="1638988"/>
            <a:ext cx="6717812" cy="520197"/>
          </a:xfrm>
          <a:prstGeom prst="rect">
            <a:avLst/>
          </a:prstGeom>
        </p:spPr>
      </p:pic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877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다면평가 결과와 다면평가 현황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 기능을 한 화면에 통합하여 구성한다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vl="0">
                        <a:spcBef>
                          <a:spcPts val="0"/>
                        </a:spcBef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다면평가현황조회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(MDD75MA7000)</a:t>
                      </a:r>
                    </a:p>
                    <a:p>
                      <a:pPr>
                        <a:spcBef>
                          <a:spcPts val="0"/>
                        </a:spcBef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다면평가결과조회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(MDD75MA7100)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다면평가현황 조회 버튼을 클릭하여 현황을 확인할 수 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다면평가 결과를 엑셀다운로드 버튼을 클릭하여 다면평가결과를 다운로드할 수 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MDD-00077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MDD75MA7200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다면평가 과거 이력조회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관리자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다면평가 과거 이력조회 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(P84: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강지웅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pic>
        <p:nvPicPr>
          <p:cNvPr id="24" name="그림 23"/>
          <p:cNvPicPr>
            <a:picLocks noChangeAspect="1"/>
          </p:cNvPicPr>
          <p:nvPr/>
        </p:nvPicPr>
        <p:blipFill rotWithShape="1">
          <a:blip r:embed="rId4"/>
          <a:srcRect r="20045" b="68132"/>
          <a:stretch/>
        </p:blipFill>
        <p:spPr>
          <a:xfrm>
            <a:off x="264924" y="1108440"/>
            <a:ext cx="6748605" cy="481821"/>
          </a:xfrm>
          <a:prstGeom prst="rect">
            <a:avLst/>
          </a:prstGeom>
        </p:spPr>
      </p:pic>
      <p:pic>
        <p:nvPicPr>
          <p:cNvPr id="26" name="그림 2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4924" y="3163178"/>
            <a:ext cx="3761881" cy="3122361"/>
          </a:xfrm>
          <a:prstGeom prst="rect">
            <a:avLst/>
          </a:prstGeom>
        </p:spPr>
      </p:pic>
      <p:sp>
        <p:nvSpPr>
          <p:cNvPr id="39" name="직사각형 38"/>
          <p:cNvSpPr/>
          <p:nvPr/>
        </p:nvSpPr>
        <p:spPr bwMode="auto">
          <a:xfrm>
            <a:off x="1904321" y="1899086"/>
            <a:ext cx="369200" cy="172373"/>
          </a:xfrm>
          <a:prstGeom prst="rect">
            <a:avLst/>
          </a:prstGeom>
          <a:noFill/>
          <a:ln w="15875">
            <a:solidFill>
              <a:srgbClr val="FFBF0D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40" name="구부러진 연결선 39"/>
          <p:cNvCxnSpPr>
            <a:stCxn id="39" idx="2"/>
            <a:endCxn id="26" idx="0"/>
          </p:cNvCxnSpPr>
          <p:nvPr/>
        </p:nvCxnSpPr>
        <p:spPr bwMode="auto">
          <a:xfrm rot="16200000" flipH="1">
            <a:off x="1571534" y="2588846"/>
            <a:ext cx="1091719" cy="56944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41" name="직사각형 40"/>
          <p:cNvSpPr/>
          <p:nvPr/>
        </p:nvSpPr>
        <p:spPr bwMode="auto">
          <a:xfrm>
            <a:off x="266503" y="3156829"/>
            <a:ext cx="3760302" cy="3128710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2" name="직사각형 41"/>
          <p:cNvSpPr/>
          <p:nvPr/>
        </p:nvSpPr>
        <p:spPr bwMode="auto">
          <a:xfrm>
            <a:off x="2596490" y="2389774"/>
            <a:ext cx="711254" cy="211335"/>
          </a:xfrm>
          <a:prstGeom prst="rect">
            <a:avLst/>
          </a:prstGeom>
          <a:noFill/>
          <a:ln w="15875">
            <a:solidFill>
              <a:srgbClr val="FFBF0D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31" name="그림 30"/>
          <p:cNvPicPr>
            <a:picLocks noChangeAspect="1"/>
          </p:cNvPicPr>
          <p:nvPr/>
        </p:nvPicPr>
        <p:blipFill rotWithShape="1">
          <a:blip r:embed="rId6"/>
          <a:srcRect r="40995"/>
          <a:stretch/>
        </p:blipFill>
        <p:spPr>
          <a:xfrm>
            <a:off x="4377546" y="4387164"/>
            <a:ext cx="2499377" cy="1800225"/>
          </a:xfrm>
          <a:prstGeom prst="rect">
            <a:avLst/>
          </a:prstGeom>
        </p:spPr>
      </p:pic>
      <p:cxnSp>
        <p:nvCxnSpPr>
          <p:cNvPr id="43" name="구부러진 연결선 42"/>
          <p:cNvCxnSpPr>
            <a:endCxn id="31" idx="0"/>
          </p:cNvCxnSpPr>
          <p:nvPr/>
        </p:nvCxnSpPr>
        <p:spPr bwMode="auto">
          <a:xfrm>
            <a:off x="3365703" y="2478727"/>
            <a:ext cx="2261532" cy="1908437"/>
          </a:xfrm>
          <a:prstGeom prst="curvedConnector2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50" name="직사각형 49"/>
          <p:cNvSpPr/>
          <p:nvPr/>
        </p:nvSpPr>
        <p:spPr bwMode="auto">
          <a:xfrm>
            <a:off x="4402068" y="4387164"/>
            <a:ext cx="2474855" cy="1800225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19867" y="1422357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716820" y="1804811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555245" y="2316725"/>
            <a:ext cx="170206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959712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62"/>
          <a:ext cx="2606675" cy="563658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266835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56331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평가 결과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과거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부점명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결과 항목 추가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과거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부점명은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검색 시작일 기준으로 과거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부점명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표시하며 과거 기준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부점명은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5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년이내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데이터만 조회</a:t>
                      </a:r>
                      <a:endParaRPr lang="en-US" altLang="ko-KR" sz="800" dirty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305377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가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 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본부감사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감사운영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감사선택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내감사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&gt;(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구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대표부점명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조회결과에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항목추가</a:t>
                      </a:r>
                      <a:endParaRPr lang="ko-KR" altLang="en-US" sz="80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나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 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본부감사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감사운영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전체감사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연도별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연도별 검색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&gt;(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구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대표부점명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조회결과에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항목추가</a:t>
                      </a:r>
                      <a:endParaRPr lang="ko-KR" altLang="en-US" sz="80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다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 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본부감사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감사운영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전체감사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연도별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감사목록검색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&gt;(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구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대표부점명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조회결과에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항목추가</a:t>
                      </a:r>
                      <a:endParaRPr lang="ko-KR" altLang="en-US" sz="80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라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 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본부감사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감사결과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지적사항관리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내 지적사항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년도별검색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&gt;(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구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실행부서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조회결과에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항목추가</a:t>
                      </a:r>
                      <a:endParaRPr lang="ko-KR" altLang="en-US" sz="80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마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 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본부감사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감사결과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지적사항관리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감사별조회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감사목록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검색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&gt;(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구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실행부서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조회결과에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항목추가</a:t>
                      </a:r>
                      <a:endParaRPr lang="ko-KR" altLang="en-US" sz="80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바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본부감사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감사결과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지적사항관리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감사역별조회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&gt;(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구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실행부서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조회결과에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항목추가</a:t>
                      </a:r>
                      <a:endParaRPr lang="ko-KR" altLang="en-US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사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본부감사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감사결과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지적사항관리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지적사항 명세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&gt;(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구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실행부서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조회결과에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항목추가</a:t>
                      </a:r>
                      <a:endParaRPr lang="ko-KR" altLang="en-US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아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본부감사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감사결과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지적사항관리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심의의뢰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&gt;(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구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대상부점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조회결과에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항목추가</a:t>
                      </a:r>
                      <a:endParaRPr lang="ko-KR" altLang="en-US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자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 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본부감사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관리자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수감부서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설문조사 관리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감사별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평가 결과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부서별 평가 결과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&gt;(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구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부점명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조회결과에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항목추가</a:t>
                      </a:r>
                      <a:endParaRPr lang="ko-KR" altLang="en-US" sz="80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차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 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본부감사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관리자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수감부서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설문조사 관리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감사별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평가 결과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개인별 평가 결과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&gt;(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구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부점명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조회결과에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항목추가</a:t>
                      </a:r>
                      <a:endParaRPr lang="ko-KR" altLang="en-US" sz="80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카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본부감사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관리자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수감부서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설문조사 관리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감사별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평가 결과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감사실시 명세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&gt;(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구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부점명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조회결과에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항목추가</a:t>
                      </a:r>
                      <a:endParaRPr lang="en-US" altLang="ko-KR" sz="80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27395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7874313"/>
                  </a:ext>
                </a:extLst>
              </a:tr>
              <a:tr h="27395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9986535"/>
                  </a:ext>
                </a:extLst>
              </a:tr>
              <a:tr h="27395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415742"/>
                  </a:ext>
                </a:extLst>
              </a:tr>
              <a:tr h="27395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4177105"/>
                  </a:ext>
                </a:extLst>
              </a:tr>
              <a:tr h="27395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49160"/>
                  </a:ext>
                </a:extLst>
              </a:tr>
              <a:tr h="27395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7413725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MDD-00066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MDD75MA8000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감사별</a:t>
                      </a:r>
                      <a:r>
                        <a:rPr kumimoji="0" lang="ko-KR" altLang="en-US" sz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평가 결과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100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</a:t>
                      </a:r>
                      <a:r>
                        <a:rPr lang="ko-KR" altLang="en-US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0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관리자</a:t>
                      </a:r>
                      <a:r>
                        <a:rPr lang="ko-KR" altLang="en-US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수감부서</a:t>
                      </a:r>
                      <a:r>
                        <a:rPr lang="ko-KR" altLang="en-US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설문조사 관리 </a:t>
                      </a:r>
                      <a:r>
                        <a:rPr lang="en-US" altLang="ko-KR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감사별</a:t>
                      </a:r>
                      <a:r>
                        <a:rPr lang="ko-KR" altLang="en-US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평가결과 </a:t>
                      </a:r>
                      <a:r>
                        <a:rPr lang="en-US" altLang="ko-KR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부서별 평가 결과</a:t>
                      </a:r>
                      <a:r>
                        <a:rPr lang="en-US" altLang="ko-KR" sz="10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(P85:</a:t>
                      </a:r>
                      <a:r>
                        <a:rPr lang="ko-KR" altLang="en-US" sz="10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최진용</a:t>
                      </a:r>
                      <a:r>
                        <a:rPr lang="en-US" altLang="ko-KR" sz="10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55" name="양쪽 모서리가 둥근 사각형 54"/>
          <p:cNvSpPr/>
          <p:nvPr/>
        </p:nvSpPr>
        <p:spPr bwMode="auto">
          <a:xfrm>
            <a:off x="320148" y="1102436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감사별 평가 결과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313645" y="1027840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7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320149" y="1288171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8" name="직사각형 57"/>
          <p:cNvSpPr/>
          <p:nvPr/>
        </p:nvSpPr>
        <p:spPr bwMode="auto">
          <a:xfrm flipV="1">
            <a:off x="320146" y="1089807"/>
            <a:ext cx="1075897" cy="22836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59685" y="102783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60" name="내용 개체 틀 121"/>
          <p:cNvGraphicFramePr>
            <a:graphicFrameLocks/>
          </p:cNvGraphicFramePr>
          <p:nvPr>
            <p:extLst/>
          </p:nvPr>
        </p:nvGraphicFramePr>
        <p:xfrm>
          <a:off x="313645" y="1390129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5788848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기준년월일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61" name="직사각형 6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396043" y="1430451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2023-03-25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470855" y="1427041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2023-03-28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63" name="그림 6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36443" y="1434291"/>
            <a:ext cx="181098" cy="173224"/>
          </a:xfrm>
          <a:prstGeom prst="rect">
            <a:avLst/>
          </a:prstGeom>
        </p:spPr>
      </p:pic>
      <p:pic>
        <p:nvPicPr>
          <p:cNvPr id="64" name="그림 6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10117" y="1435639"/>
            <a:ext cx="181098" cy="173224"/>
          </a:xfrm>
          <a:prstGeom prst="rect">
            <a:avLst/>
          </a:prstGeom>
        </p:spPr>
      </p:pic>
      <p:cxnSp>
        <p:nvCxnSpPr>
          <p:cNvPr id="65" name="직선 연결선 64"/>
          <p:cNvCxnSpPr/>
          <p:nvPr/>
        </p:nvCxnSpPr>
        <p:spPr bwMode="auto">
          <a:xfrm>
            <a:off x="2274690" y="1520903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66" name="TextBox 65"/>
          <p:cNvSpPr txBox="1"/>
          <p:nvPr/>
        </p:nvSpPr>
        <p:spPr>
          <a:xfrm>
            <a:off x="313645" y="1907933"/>
            <a:ext cx="1018900" cy="230832"/>
          </a:xfrm>
          <a:prstGeom prst="rect">
            <a:avLst/>
          </a:prstGeom>
          <a:solidFill>
            <a:schemeClr val="bg2">
              <a:lumMod val="50000"/>
            </a:schemeClr>
          </a:solidFill>
          <a:ln w="6350">
            <a:solidFill>
              <a:schemeClr val="bg2">
                <a:lumMod val="9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부서별 평가 결과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332545" y="1908221"/>
            <a:ext cx="1018900" cy="230832"/>
          </a:xfrm>
          <a:prstGeom prst="rect">
            <a:avLst/>
          </a:prstGeom>
          <a:noFill/>
          <a:ln w="6350">
            <a:solidFill>
              <a:schemeClr val="bg2">
                <a:lumMod val="9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개인별 평가 결과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351445" y="1911895"/>
            <a:ext cx="1018900" cy="230832"/>
          </a:xfrm>
          <a:prstGeom prst="rect">
            <a:avLst/>
          </a:prstGeom>
          <a:noFill/>
          <a:ln w="6350">
            <a:solidFill>
              <a:schemeClr val="bg2">
                <a:lumMod val="9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개인별 평가 결과</a:t>
            </a:r>
          </a:p>
        </p:txBody>
      </p:sp>
      <p:sp>
        <p:nvSpPr>
          <p:cNvPr id="6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30781" y="1434291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990981" y="1709136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엑셀출력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397633" y="1709136"/>
            <a:ext cx="612248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설문항목 조회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72" name="표 71"/>
          <p:cNvGraphicFramePr>
            <a:graphicFrameLocks noGrp="1"/>
          </p:cNvGraphicFramePr>
          <p:nvPr>
            <p:extLst/>
          </p:nvPr>
        </p:nvGraphicFramePr>
        <p:xfrm>
          <a:off x="356577" y="2226975"/>
          <a:ext cx="6565396" cy="792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3854">
                  <a:extLst>
                    <a:ext uri="{9D8B030D-6E8A-4147-A177-3AD203B41FA5}">
                      <a16:colId xmlns:a16="http://schemas.microsoft.com/office/drawing/2014/main" val="2426106912"/>
                    </a:ext>
                  </a:extLst>
                </a:gridCol>
                <a:gridCol w="357447">
                  <a:extLst>
                    <a:ext uri="{9D8B030D-6E8A-4147-A177-3AD203B41FA5}">
                      <a16:colId xmlns:a16="http://schemas.microsoft.com/office/drawing/2014/main" val="157696043"/>
                    </a:ext>
                  </a:extLst>
                </a:gridCol>
                <a:gridCol w="1080655">
                  <a:extLst>
                    <a:ext uri="{9D8B030D-6E8A-4147-A177-3AD203B41FA5}">
                      <a16:colId xmlns:a16="http://schemas.microsoft.com/office/drawing/2014/main" val="1421297000"/>
                    </a:ext>
                  </a:extLst>
                </a:gridCol>
                <a:gridCol w="548640">
                  <a:extLst>
                    <a:ext uri="{9D8B030D-6E8A-4147-A177-3AD203B41FA5}">
                      <a16:colId xmlns:a16="http://schemas.microsoft.com/office/drawing/2014/main" val="3582745889"/>
                    </a:ext>
                  </a:extLst>
                </a:gridCol>
                <a:gridCol w="939338">
                  <a:extLst>
                    <a:ext uri="{9D8B030D-6E8A-4147-A177-3AD203B41FA5}">
                      <a16:colId xmlns:a16="http://schemas.microsoft.com/office/drawing/2014/main" val="3292794991"/>
                    </a:ext>
                  </a:extLst>
                </a:gridCol>
                <a:gridCol w="939338">
                  <a:extLst>
                    <a:ext uri="{9D8B030D-6E8A-4147-A177-3AD203B41FA5}">
                      <a16:colId xmlns:a16="http://schemas.microsoft.com/office/drawing/2014/main" val="1828931321"/>
                    </a:ext>
                  </a:extLst>
                </a:gridCol>
                <a:gridCol w="914400">
                  <a:extLst>
                    <a:ext uri="{9D8B030D-6E8A-4147-A177-3AD203B41FA5}">
                      <a16:colId xmlns:a16="http://schemas.microsoft.com/office/drawing/2014/main" val="461435787"/>
                    </a:ext>
                  </a:extLst>
                </a:gridCol>
                <a:gridCol w="773084">
                  <a:extLst>
                    <a:ext uri="{9D8B030D-6E8A-4147-A177-3AD203B41FA5}">
                      <a16:colId xmlns:a16="http://schemas.microsoft.com/office/drawing/2014/main" val="2502540127"/>
                    </a:ext>
                  </a:extLst>
                </a:gridCol>
                <a:gridCol w="340360">
                  <a:extLst>
                    <a:ext uri="{9D8B030D-6E8A-4147-A177-3AD203B41FA5}">
                      <a16:colId xmlns:a16="http://schemas.microsoft.com/office/drawing/2014/main" val="144006290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44765078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pc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계획년</a:t>
                      </a:r>
                      <a:endParaRPr lang="ko-KR" altLang="en-US" sz="700" b="0" spc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차수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감사명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부점코드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부점명</a:t>
                      </a:r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현재</a:t>
                      </a:r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부점명</a:t>
                      </a:r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기준년월</a:t>
                      </a:r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감사자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착수일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답</a:t>
                      </a:r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79101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12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</a:t>
                      </a:r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 센터 종합감사</a:t>
                      </a: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..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2572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부산업무지원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UNIT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ㅁㅁ업무지원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UNIT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김감사</a:t>
                      </a: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,***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2023-03-25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90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50771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12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</a:t>
                      </a:r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 센터 종합감사</a:t>
                      </a: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..</a:t>
                      </a:r>
                      <a:endParaRPr lang="ko-KR" altLang="en-US" sz="70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2611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대구업무지원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UNIT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XX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업무지원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UNIT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최감사</a:t>
                      </a: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,***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2023-03-25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85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98720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3076989"/>
                  </a:ext>
                </a:extLst>
              </a:tr>
            </a:tbl>
          </a:graphicData>
        </a:graphic>
      </p:graphicFrame>
      <p:sp>
        <p:nvSpPr>
          <p:cNvPr id="73" name="직사각형 72"/>
          <p:cNvSpPr/>
          <p:nvPr/>
        </p:nvSpPr>
        <p:spPr bwMode="auto">
          <a:xfrm>
            <a:off x="3758385" y="2226975"/>
            <a:ext cx="935778" cy="792480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4" name="타원 7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706119" y="214166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5" name="직사각형 74"/>
          <p:cNvSpPr/>
          <p:nvPr/>
        </p:nvSpPr>
        <p:spPr bwMode="auto">
          <a:xfrm>
            <a:off x="1360610" y="1405586"/>
            <a:ext cx="912452" cy="256680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76" name="구부러진 연결선 75"/>
          <p:cNvCxnSpPr>
            <a:endCxn id="73" idx="0"/>
          </p:cNvCxnSpPr>
          <p:nvPr/>
        </p:nvCxnSpPr>
        <p:spPr bwMode="auto">
          <a:xfrm>
            <a:off x="2273062" y="1520903"/>
            <a:ext cx="1953212" cy="706072"/>
          </a:xfrm>
          <a:prstGeom prst="curvedConnector2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13603010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80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본부 부서 디지털 내부통제 점검을 위해 기 선정된 주요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점검항목에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대한 현황을 조회하고 점검대상 존재 시 세부내역을 확인할 수 있도록 기능 제공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등록버튼은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시스템운영팀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(IT)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만 사용 가능하도록 권한 부여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점검항목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등록 후 데이터 연계 해야 하기 때문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점검항목을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 변경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할수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있는 화면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[], [], [], [], []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[], [], [], [], []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[], [], [], [], []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MDD-00032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MDD75MM1000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내부통제점검 체크리스트 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90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디지털 내부통제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 내부통제 점검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내부통제점검 체크리스트 관리</a:t>
                      </a:r>
                      <a:r>
                        <a:rPr lang="en-US" altLang="ko-KR" sz="9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(P88,P89:</a:t>
                      </a:r>
                      <a:r>
                        <a:rPr lang="ko-KR" altLang="en-US" sz="9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최진용</a:t>
                      </a:r>
                      <a:r>
                        <a:rPr lang="en-US" altLang="ko-KR" sz="9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9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22" name="양쪽 모서리가 둥근 사각형 21"/>
          <p:cNvSpPr/>
          <p:nvPr/>
        </p:nvSpPr>
        <p:spPr bwMode="auto">
          <a:xfrm>
            <a:off x="240639" y="1046773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6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내부통제점검 체크리스트 관리</a:t>
            </a:r>
            <a:endParaRPr kumimoji="0" lang="ko-KR" altLang="en-US" sz="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34136" y="972177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40640" y="1232508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80176" y="97217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39" name="내용 개체 틀 121"/>
          <p:cNvGraphicFramePr>
            <a:graphicFrameLocks/>
          </p:cNvGraphicFramePr>
          <p:nvPr>
            <p:extLst/>
          </p:nvPr>
        </p:nvGraphicFramePr>
        <p:xfrm>
          <a:off x="234136" y="1317840"/>
          <a:ext cx="6726398" cy="5442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86643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1035050">
                  <a:extLst>
                    <a:ext uri="{9D8B030D-6E8A-4147-A177-3AD203B41FA5}">
                      <a16:colId xmlns:a16="http://schemas.microsoft.com/office/drawing/2014/main" val="3089572302"/>
                    </a:ext>
                  </a:extLst>
                </a:gridCol>
                <a:gridCol w="2887363">
                  <a:extLst>
                    <a:ext uri="{9D8B030D-6E8A-4147-A177-3AD203B41FA5}">
                      <a16:colId xmlns:a16="http://schemas.microsoft.com/office/drawing/2014/main" val="566354469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구분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kumimoji="0" lang="ko-KR" altLang="en-US" sz="700" i="0" u="none" strike="noStrike" kern="1200" cap="none" spc="-100" normalizeH="0" baseline="0" noProof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사용여부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점검항목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5963"/>
                  </a:ext>
                </a:extLst>
              </a:tr>
            </a:tbl>
          </a:graphicData>
        </a:graphic>
      </p:graphicFrame>
      <p:sp>
        <p:nvSpPr>
          <p:cNvPr id="4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72386" y="1619846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56496" y="1619603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spc="-100" dirty="0">
              <a:solidFill>
                <a:schemeClr val="bg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18148" y="1355856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현물감사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3" name="이등변 삼각형 42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1797516" y="1436678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44" name="표 43"/>
          <p:cNvGraphicFramePr>
            <a:graphicFrameLocks noGrp="1"/>
          </p:cNvGraphicFramePr>
          <p:nvPr>
            <p:extLst/>
          </p:nvPr>
        </p:nvGraphicFramePr>
        <p:xfrm>
          <a:off x="240636" y="2008226"/>
          <a:ext cx="6784708" cy="2362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6691">
                  <a:extLst>
                    <a:ext uri="{9D8B030D-6E8A-4147-A177-3AD203B41FA5}">
                      <a16:colId xmlns:a16="http://schemas.microsoft.com/office/drawing/2014/main" val="1331128428"/>
                    </a:ext>
                  </a:extLst>
                </a:gridCol>
                <a:gridCol w="750424">
                  <a:extLst>
                    <a:ext uri="{9D8B030D-6E8A-4147-A177-3AD203B41FA5}">
                      <a16:colId xmlns:a16="http://schemas.microsoft.com/office/drawing/2014/main" val="1272726100"/>
                    </a:ext>
                  </a:extLst>
                </a:gridCol>
                <a:gridCol w="2028305">
                  <a:extLst>
                    <a:ext uri="{9D8B030D-6E8A-4147-A177-3AD203B41FA5}">
                      <a16:colId xmlns:a16="http://schemas.microsoft.com/office/drawing/2014/main" val="3916414754"/>
                    </a:ext>
                  </a:extLst>
                </a:gridCol>
                <a:gridCol w="2261062">
                  <a:extLst>
                    <a:ext uri="{9D8B030D-6E8A-4147-A177-3AD203B41FA5}">
                      <a16:colId xmlns:a16="http://schemas.microsoft.com/office/drawing/2014/main" val="4005126742"/>
                    </a:ext>
                  </a:extLst>
                </a:gridCol>
                <a:gridCol w="721776">
                  <a:extLst>
                    <a:ext uri="{9D8B030D-6E8A-4147-A177-3AD203B41FA5}">
                      <a16:colId xmlns:a16="http://schemas.microsoft.com/office/drawing/2014/main" val="4055771960"/>
                    </a:ext>
                  </a:extLst>
                </a:gridCol>
                <a:gridCol w="666450">
                  <a:extLst>
                    <a:ext uri="{9D8B030D-6E8A-4147-A177-3AD203B41FA5}">
                      <a16:colId xmlns:a16="http://schemas.microsoft.com/office/drawing/2014/main" val="1275535428"/>
                    </a:ext>
                  </a:extLst>
                </a:gridCol>
              </a:tblGrid>
              <a:tr h="1524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 분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점검항목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세부내용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점검방식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점검주기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9259509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8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현물감사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현금</a:t>
                      </a:r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외화포함</a:t>
                      </a:r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및 수입인지 관리의 적정성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현금</a:t>
                      </a:r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외화포함</a:t>
                      </a:r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및 수입인지</a:t>
                      </a:r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·</a:t>
                      </a:r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증지 잔량 일치 여부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현황점검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8396529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중요증서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관리의 적정성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인장날인 사무분담 지정현황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현황점검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일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3414658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3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담보</a:t>
                      </a:r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유가증권 및 거래처 통장</a:t>
                      </a:r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인장 관리의 적정성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담보</a:t>
                      </a:r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유가증권 실물 일치 여부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현황점검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일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1808253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4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증권 확인 여부</a:t>
                      </a:r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</a:t>
                      </a:r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 이상 점검</a:t>
                      </a:r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·</a:t>
                      </a:r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확인</a:t>
                      </a:r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현황점검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일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5053764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5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6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거래처 통장 및 인장보관 및 관리 적정 여부 등</a:t>
                      </a:r>
                      <a:endParaRPr lang="ko-KR" altLang="en-US" sz="7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현황점검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일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4867666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6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법적서류</a:t>
                      </a:r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법인인감</a:t>
                      </a:r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지배인인감</a:t>
                      </a:r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관리의 적정성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법적서류 잔량 및 보관의 적정 여부</a:t>
                      </a:r>
                      <a:endParaRPr lang="ko-KR" altLang="en-US" sz="7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현황점검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일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4680484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7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법적서류 관리의 적정 여부</a:t>
                      </a:r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사무분담 등</a:t>
                      </a:r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현황점검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일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5253379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8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6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법인인감카드 관리의 적정 여부 등</a:t>
                      </a:r>
                      <a:endParaRPr lang="ko-KR" altLang="en-US" sz="7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현황점검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일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2183352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9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중요인장</a:t>
                      </a:r>
                      <a:endParaRPr lang="ko-KR" altLang="en-US" sz="7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u="none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중요인장</a:t>
                      </a:r>
                      <a:r>
                        <a:rPr lang="ko-KR" altLang="en-US" sz="700" b="0" u="none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관리의 적정성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직인 날인 절차 준수 여부 등</a:t>
                      </a:r>
                      <a:endParaRPr lang="ko-KR" altLang="en-US" sz="7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Rule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일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8029183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10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spc="-10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사무분담</a:t>
                      </a:r>
                      <a:r>
                        <a:rPr lang="ko-KR" altLang="en-US" sz="700" b="0" u="none" spc="-10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근태</a:t>
                      </a:r>
                      <a:endParaRPr lang="ko-KR" altLang="en-US" sz="700" b="0" u="none" spc="-100" baseline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사무분담 및 전결권 재위임 업무의 적정성</a:t>
                      </a:r>
                      <a:endParaRPr lang="ko-KR" altLang="en-US" sz="7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사무분담 내역의 적정 여부</a:t>
                      </a:r>
                      <a:r>
                        <a:rPr lang="en-US" altLang="ko-KR" sz="7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통합사용자권한 부여 포함</a:t>
                      </a:r>
                      <a:r>
                        <a:rPr lang="en-US" altLang="ko-KR" sz="7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7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현황점검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일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3302665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4231037"/>
                  </a:ext>
                </a:extLst>
              </a:tr>
            </a:tbl>
          </a:graphicData>
        </a:graphic>
      </p:graphicFrame>
      <p:sp>
        <p:nvSpPr>
          <p:cNvPr id="45" name="직사각형 4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18147" y="1624570"/>
            <a:ext cx="2823274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현금</a:t>
            </a:r>
            <a:r>
              <a:rPr kumimoji="0" lang="en-US" altLang="ko-KR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외화포함</a:t>
            </a:r>
            <a:r>
              <a:rPr kumimoji="0" lang="en-US" altLang="ko-KR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 </a:t>
            </a: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및 수입인지 관리의 적정성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6" name="이등변 삼각형 45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3921591" y="1707292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740606" y="1619603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엑셀출력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59468" y="1349718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사용중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9" name="이등변 삼각형 48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4738836" y="1430540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130087" y="154773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C7B6CEFD-186E-AC88-7979-44000562DD84}"/>
              </a:ext>
            </a:extLst>
          </p:cNvPr>
          <p:cNvSpPr/>
          <p:nvPr/>
        </p:nvSpPr>
        <p:spPr>
          <a:xfrm>
            <a:off x="1267108" y="3971127"/>
            <a:ext cx="4087055" cy="2322330"/>
          </a:xfrm>
          <a:prstGeom prst="rect">
            <a:avLst/>
          </a:prstGeom>
          <a:solidFill>
            <a:schemeClr val="bg1"/>
          </a:solidFill>
          <a:ln w="15875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Calibri"/>
              <a:ea typeface="맑은 고딕"/>
              <a:cs typeface="+mn-cs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41FA259B-0F65-6F92-E537-2ED6FF55F713}"/>
              </a:ext>
            </a:extLst>
          </p:cNvPr>
          <p:cNvSpPr txBox="1"/>
          <p:nvPr/>
        </p:nvSpPr>
        <p:spPr>
          <a:xfrm>
            <a:off x="1319902" y="4030451"/>
            <a:ext cx="2288706" cy="231453"/>
          </a:xfrm>
          <a:prstGeom prst="rect">
            <a:avLst/>
          </a:prstGeom>
          <a:noFill/>
        </p:spPr>
        <p:txBody>
          <a:bodyPr wrap="square" lIns="36000" rtlCol="0">
            <a:sp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□ 점검항목 등록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81" name="표 80"/>
          <p:cNvGraphicFramePr>
            <a:graphicFrameLocks noGrp="1"/>
          </p:cNvGraphicFramePr>
          <p:nvPr>
            <p:extLst/>
          </p:nvPr>
        </p:nvGraphicFramePr>
        <p:xfrm>
          <a:off x="1319902" y="4314407"/>
          <a:ext cx="3914741" cy="18748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1424">
                  <a:extLst>
                    <a:ext uri="{9D8B030D-6E8A-4147-A177-3AD203B41FA5}">
                      <a16:colId xmlns:a16="http://schemas.microsoft.com/office/drawing/2014/main" val="1630994582"/>
                    </a:ext>
                  </a:extLst>
                </a:gridCol>
                <a:gridCol w="1370658">
                  <a:extLst>
                    <a:ext uri="{9D8B030D-6E8A-4147-A177-3AD203B41FA5}">
                      <a16:colId xmlns:a16="http://schemas.microsoft.com/office/drawing/2014/main" val="2045752900"/>
                    </a:ext>
                  </a:extLst>
                </a:gridCol>
                <a:gridCol w="534736">
                  <a:extLst>
                    <a:ext uri="{9D8B030D-6E8A-4147-A177-3AD203B41FA5}">
                      <a16:colId xmlns:a16="http://schemas.microsoft.com/office/drawing/2014/main" val="3804821378"/>
                    </a:ext>
                  </a:extLst>
                </a:gridCol>
                <a:gridCol w="1407923">
                  <a:extLst>
                    <a:ext uri="{9D8B030D-6E8A-4147-A177-3AD203B41FA5}">
                      <a16:colId xmlns:a16="http://schemas.microsoft.com/office/drawing/2014/main" val="1440958626"/>
                    </a:ext>
                  </a:extLst>
                </a:gridCol>
              </a:tblGrid>
              <a:tr h="23435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97225063"/>
                  </a:ext>
                </a:extLst>
              </a:tr>
              <a:tr h="23435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점검항목</a:t>
                      </a:r>
                      <a:endParaRPr lang="en-US" altLang="ko-KR" sz="700" b="0" i="0" u="none" strike="noStrike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6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081754"/>
                  </a:ext>
                </a:extLst>
              </a:tr>
              <a:tr h="23435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세부내용</a:t>
                      </a:r>
                      <a:endParaRPr lang="en-US" altLang="ko-KR" sz="700" b="0" i="0" u="none" strike="noStrike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09832990"/>
                  </a:ext>
                </a:extLst>
              </a:tr>
              <a:tr h="23435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요청자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사용여부</a:t>
                      </a:r>
                      <a:endParaRPr lang="en-US" altLang="ko-KR" sz="700" kern="120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0125726"/>
                  </a:ext>
                </a:extLst>
              </a:tr>
              <a:tr h="23435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점검시작일자</a:t>
                      </a:r>
                      <a:endParaRPr lang="en-US" altLang="ko-KR" sz="700" b="0" i="0" u="none" strike="noStrike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점검종료일자</a:t>
                      </a:r>
                      <a:endParaRPr lang="en-US" altLang="ko-KR" sz="700" kern="120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8451336"/>
                  </a:ext>
                </a:extLst>
              </a:tr>
              <a:tr h="23435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점검방식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kern="120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점검주기</a:t>
                      </a:r>
                      <a:endParaRPr lang="en-US" altLang="ko-KR" sz="700" kern="120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630807"/>
                  </a:ext>
                </a:extLst>
              </a:tr>
              <a:tr h="234355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연계대상정보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비고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1806225"/>
                  </a:ext>
                </a:extLst>
              </a:tr>
              <a:tr h="23435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대상화면번호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4201637"/>
                  </a:ext>
                </a:extLst>
              </a:tr>
            </a:tbl>
          </a:graphicData>
        </a:graphic>
      </p:graphicFrame>
      <p:sp>
        <p:nvSpPr>
          <p:cNvPr id="82" name="직사각형 8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959979" y="4574776"/>
            <a:ext cx="3122411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lvl="0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중요증서 관리의 적정성</a:t>
            </a:r>
            <a:endParaRPr kumimoji="0" lang="ko-KR" altLang="en-US" sz="70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959979" y="5038504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김보안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846979" y="4056177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smtClean="0">
                <a:solidFill>
                  <a:prstClr val="white"/>
                </a:solidFill>
                <a:latin typeface="KB금융 본문체 Medium"/>
                <a:ea typeface="KB금융 본문체 Medium"/>
              </a:rPr>
              <a:t>저장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/>
              <a:ea typeface="KB금융 본문체 Medium"/>
              <a:cs typeface="+mn-cs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959979" y="4340969"/>
            <a:ext cx="1289242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lvl="0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현물감사</a:t>
            </a:r>
            <a:endParaRPr kumimoji="0" lang="ko-KR" altLang="en-US" sz="70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86" name="그림 8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482473" y="5048056"/>
            <a:ext cx="160730" cy="170775"/>
          </a:xfrm>
          <a:prstGeom prst="rect">
            <a:avLst/>
          </a:prstGeom>
        </p:spPr>
      </p:pic>
      <p:sp>
        <p:nvSpPr>
          <p:cNvPr id="87" name="이등변 삼각형 86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3144812" y="4418925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850896" y="5031805"/>
            <a:ext cx="789129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사용 </a:t>
            </a:r>
            <a:r>
              <a:rPr kumimoji="0" lang="en-US" altLang="ko-KR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/ </a:t>
            </a: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미사용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9" name="이등변 삼각형 88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4478151" y="5105322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959979" y="4804823"/>
            <a:ext cx="3122411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lvl="0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중요증서 불용처분의 적정 여부</a:t>
            </a:r>
            <a:endParaRPr kumimoji="0" lang="ko-KR" altLang="en-US" sz="70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850896" y="5286237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9999-12-31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92" name="그림 9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90158" y="5294835"/>
            <a:ext cx="181098" cy="173224"/>
          </a:xfrm>
          <a:prstGeom prst="rect">
            <a:avLst/>
          </a:prstGeom>
        </p:spPr>
      </p:pic>
      <p:sp>
        <p:nvSpPr>
          <p:cNvPr id="93" name="직사각형 9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959979" y="5281097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2024-03-25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94" name="그림 9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99241" y="5289695"/>
            <a:ext cx="181098" cy="173224"/>
          </a:xfrm>
          <a:prstGeom prst="rect">
            <a:avLst/>
          </a:prstGeom>
        </p:spPr>
      </p:pic>
      <p:sp>
        <p:nvSpPr>
          <p:cNvPr id="95" name="직사각형 9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959979" y="5516276"/>
            <a:ext cx="820360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lvl="0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현황점검</a:t>
            </a:r>
            <a:endParaRPr kumimoji="0" lang="ko-KR" altLang="en-US" sz="70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851464" y="5509898"/>
            <a:ext cx="820360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lvl="0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일별</a:t>
            </a:r>
            <a:endParaRPr kumimoji="0" lang="ko-KR" altLang="en-US" sz="70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7" name="이등변 삼각형 96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2674751" y="5587922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959979" y="5749268"/>
            <a:ext cx="3122411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lvl="0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700" dirty="0" err="1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Mystar</a:t>
            </a:r>
            <a:r>
              <a:rPr kumimoji="0" lang="en-US" altLang="ko-KR" sz="70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– </a:t>
            </a:r>
            <a:r>
              <a:rPr kumimoji="0" lang="ko-KR" altLang="en-US" sz="70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중요증서수급조회 화면 </a:t>
            </a:r>
            <a:r>
              <a:rPr kumimoji="0" lang="en-US" altLang="ko-KR" sz="70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(04-XX-XXX)</a:t>
            </a:r>
            <a:endParaRPr kumimoji="0" lang="ko-KR" altLang="en-US" sz="70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9" name="이등변 삼각형 98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4487430" y="5583724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953357" y="5978780"/>
            <a:ext cx="820360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lvl="0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본부감사</a:t>
            </a:r>
            <a:endParaRPr kumimoji="0" lang="ko-KR" altLang="en-US" sz="70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01" name="이등변 삼각형 100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2668129" y="6050426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807713" y="5980275"/>
            <a:ext cx="2283971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lvl="0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MDD72M00000 | 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본부감사</a:t>
            </a:r>
            <a:endParaRPr kumimoji="0" lang="ko-KR" altLang="en-US" sz="70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03" name="이등변 삼각형 102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4943126" y="6058231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04" name="타원 10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217511" y="387879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266544" y="422997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291727" y="543989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225220" y="544917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6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01759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80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본부 부서 디지털 내부통제 점검을 위해 기 선정된 주요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점검항목에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대한 현황을 조회하고 점검대상 존재 시 세부내역을 확인할 수 있도록 기능 제공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조회조건에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점검항목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목록 추가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점검항목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선택시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검색조건 기준년월일을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점검주기에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따라 일 월로 변경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점검항목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상세보기를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팝업으로 구현 할지 아니면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점검항목별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메뉴로 별도 구현 할지 추후 정의하여 화면 기능 구현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메뉴 위치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–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-&gt;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디지털내부통제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정보관리 오른쪽에 신규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중메뉴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신설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MDD-00033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MDD75MM2000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내부통제점검 체크리스트 </a:t>
                      </a:r>
                      <a:r>
                        <a:rPr kumimoji="0" lang="ko-KR" altLang="en-US" sz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현황조회</a:t>
                      </a:r>
                      <a:endParaRPr kumimoji="0" lang="ko-KR" altLang="en-US" sz="12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90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디지털 내부통제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 내부통제 점검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내부통제점검 체크리스트 </a:t>
                      </a:r>
                      <a:r>
                        <a:rPr lang="ko-KR" altLang="en-US" sz="9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현황조회</a:t>
                      </a:r>
                      <a:r>
                        <a:rPr lang="en-US" altLang="ko-KR" sz="9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(P90,P91:</a:t>
                      </a:r>
                      <a:r>
                        <a:rPr lang="ko-KR" altLang="en-US" sz="9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최진용</a:t>
                      </a:r>
                      <a:r>
                        <a:rPr lang="en-US" altLang="ko-KR" sz="9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9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4" name="양쪽 모서리가 둥근 사각형 3"/>
          <p:cNvSpPr/>
          <p:nvPr/>
        </p:nvSpPr>
        <p:spPr bwMode="auto">
          <a:xfrm>
            <a:off x="272446" y="1086531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6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내부통제점검 체크리스트 관리</a:t>
            </a:r>
            <a:endParaRPr kumimoji="0" lang="ko-KR" altLang="en-US" sz="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65943" y="1011935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72447" y="1272266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11983" y="101193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8" name="내용 개체 틀 121"/>
          <p:cNvGraphicFramePr>
            <a:graphicFrameLocks/>
          </p:cNvGraphicFramePr>
          <p:nvPr>
            <p:extLst/>
          </p:nvPr>
        </p:nvGraphicFramePr>
        <p:xfrm>
          <a:off x="265943" y="1357598"/>
          <a:ext cx="6726398" cy="81641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86643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1035050">
                  <a:extLst>
                    <a:ext uri="{9D8B030D-6E8A-4147-A177-3AD203B41FA5}">
                      <a16:colId xmlns:a16="http://schemas.microsoft.com/office/drawing/2014/main" val="3089572302"/>
                    </a:ext>
                  </a:extLst>
                </a:gridCol>
                <a:gridCol w="2887363">
                  <a:extLst>
                    <a:ext uri="{9D8B030D-6E8A-4147-A177-3AD203B41FA5}">
                      <a16:colId xmlns:a16="http://schemas.microsoft.com/office/drawing/2014/main" val="566354469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부서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kumimoji="0" lang="ko-KR" altLang="en-US" sz="700" i="0" u="none" strike="noStrike" kern="1200" cap="none" spc="-100" normalizeH="0" baseline="0" noProof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기준년월일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점검항목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15660795"/>
                  </a:ext>
                </a:extLst>
              </a:tr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점검구분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                          (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 </a:t>
                      </a: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점검대상</a:t>
                      </a: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5963"/>
                  </a:ext>
                </a:extLst>
              </a:tr>
            </a:tbl>
          </a:graphicData>
        </a:graphic>
      </p:graphicFrame>
      <p:sp>
        <p:nvSpPr>
          <p:cNvPr id="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04193" y="1659604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49955" y="1401155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0503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662344" y="1401189"/>
            <a:ext cx="1217354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r>
              <a:rPr kumimoji="0" lang="ko-KR" altLang="en-US" sz="70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재무기획부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2" name="그림 11"/>
          <p:cNvPicPr>
            <a:picLocks noChangeAspect="1"/>
          </p:cNvPicPr>
          <p:nvPr/>
        </p:nvPicPr>
        <p:blipFill rotWithShape="1">
          <a:blip r:embed="rId2"/>
          <a:srcRect r="73540"/>
          <a:stretch/>
        </p:blipFill>
        <p:spPr>
          <a:xfrm>
            <a:off x="1675044" y="1417711"/>
            <a:ext cx="183595" cy="164228"/>
          </a:xfrm>
          <a:prstGeom prst="rect">
            <a:avLst/>
          </a:prstGeom>
        </p:spPr>
      </p:pic>
      <p:sp>
        <p:nvSpPr>
          <p:cNvPr id="1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88303" y="1659361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엑셀출력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33629" y="1398772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208441" y="1395362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2024-11-31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74029" y="1402612"/>
            <a:ext cx="181098" cy="173224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847703" y="1403960"/>
            <a:ext cx="181098" cy="173224"/>
          </a:xfrm>
          <a:prstGeom prst="rect">
            <a:avLst/>
          </a:prstGeom>
        </p:spPr>
      </p:pic>
      <p:cxnSp>
        <p:nvCxnSpPr>
          <p:cNvPr id="18" name="직선 연결선 17"/>
          <p:cNvCxnSpPr/>
          <p:nvPr/>
        </p:nvCxnSpPr>
        <p:spPr bwMode="auto">
          <a:xfrm>
            <a:off x="5012276" y="1489224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49955" y="1675476"/>
            <a:ext cx="794621" cy="216161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ko-KR" altLang="en-US" sz="70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점검항목별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0" name="이등변 삼각형 19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1945705" y="1756298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21" name="표 20"/>
          <p:cNvGraphicFramePr>
            <a:graphicFrameLocks noGrp="1"/>
          </p:cNvGraphicFramePr>
          <p:nvPr>
            <p:extLst/>
          </p:nvPr>
        </p:nvGraphicFramePr>
        <p:xfrm>
          <a:off x="272443" y="2047984"/>
          <a:ext cx="6726398" cy="2209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5842">
                  <a:extLst>
                    <a:ext uri="{9D8B030D-6E8A-4147-A177-3AD203B41FA5}">
                      <a16:colId xmlns:a16="http://schemas.microsoft.com/office/drawing/2014/main" val="1331128428"/>
                    </a:ext>
                  </a:extLst>
                </a:gridCol>
                <a:gridCol w="648393">
                  <a:extLst>
                    <a:ext uri="{9D8B030D-6E8A-4147-A177-3AD203B41FA5}">
                      <a16:colId xmlns:a16="http://schemas.microsoft.com/office/drawing/2014/main" val="1272726100"/>
                    </a:ext>
                  </a:extLst>
                </a:gridCol>
                <a:gridCol w="1172095">
                  <a:extLst>
                    <a:ext uri="{9D8B030D-6E8A-4147-A177-3AD203B41FA5}">
                      <a16:colId xmlns:a16="http://schemas.microsoft.com/office/drawing/2014/main" val="3916414754"/>
                    </a:ext>
                  </a:extLst>
                </a:gridCol>
                <a:gridCol w="2211185">
                  <a:extLst>
                    <a:ext uri="{9D8B030D-6E8A-4147-A177-3AD203B41FA5}">
                      <a16:colId xmlns:a16="http://schemas.microsoft.com/office/drawing/2014/main" val="4005126742"/>
                    </a:ext>
                  </a:extLst>
                </a:gridCol>
                <a:gridCol w="423949">
                  <a:extLst>
                    <a:ext uri="{9D8B030D-6E8A-4147-A177-3AD203B41FA5}">
                      <a16:colId xmlns:a16="http://schemas.microsoft.com/office/drawing/2014/main" val="4055771960"/>
                    </a:ext>
                  </a:extLst>
                </a:gridCol>
                <a:gridCol w="515389">
                  <a:extLst>
                    <a:ext uri="{9D8B030D-6E8A-4147-A177-3AD203B41FA5}">
                      <a16:colId xmlns:a16="http://schemas.microsoft.com/office/drawing/2014/main" val="1275535428"/>
                    </a:ext>
                  </a:extLst>
                </a:gridCol>
                <a:gridCol w="947651">
                  <a:extLst>
                    <a:ext uri="{9D8B030D-6E8A-4147-A177-3AD203B41FA5}">
                      <a16:colId xmlns:a16="http://schemas.microsoft.com/office/drawing/2014/main" val="2931161416"/>
                    </a:ext>
                  </a:extLst>
                </a:gridCol>
                <a:gridCol w="531894">
                  <a:extLst>
                    <a:ext uri="{9D8B030D-6E8A-4147-A177-3AD203B41FA5}">
                      <a16:colId xmlns:a16="http://schemas.microsoft.com/office/drawing/2014/main" val="3920934338"/>
                    </a:ext>
                  </a:extLst>
                </a:gridCol>
              </a:tblGrid>
              <a:tr h="1524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 분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점검항목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세부내용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점검방식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점검주기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최종갱신일자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점검대상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9259509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8"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현물감사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현금</a:t>
                      </a:r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외화포함</a:t>
                      </a:r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및 수입인지 관리</a:t>
                      </a:r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..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현금</a:t>
                      </a:r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외화포함</a:t>
                      </a:r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및 수입인지</a:t>
                      </a:r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·</a:t>
                      </a:r>
                      <a:r>
                        <a:rPr lang="ko-KR" altLang="en-US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증지 잔량 일치 여부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현황점검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2024-03-29 08:43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8396529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중요증서</a:t>
                      </a:r>
                      <a:r>
                        <a:rPr lang="ko-KR" altLang="en-US" sz="6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관리의 적정성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인장날인 사무분담 지정현황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현황점검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일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2024-03-29 07:23</a:t>
                      </a:r>
                      <a:endParaRPr kumimoji="0" lang="ko-KR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3414658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3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담보</a:t>
                      </a:r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유가증권 및 거래처 통장</a:t>
                      </a:r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담보</a:t>
                      </a:r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유가증권 실물 일치 여부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현황점검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일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2024-03-29 09:00</a:t>
                      </a:r>
                      <a:endParaRPr kumimoji="0" lang="ko-KR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1808253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4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증권 확인 여부</a:t>
                      </a:r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</a:t>
                      </a:r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r>
                        <a:rPr lang="ko-KR" altLang="en-US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 이상 점검</a:t>
                      </a:r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·</a:t>
                      </a:r>
                      <a:r>
                        <a:rPr lang="ko-KR" altLang="en-US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확인</a:t>
                      </a:r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현황점검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일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2024-03-21 14:54</a:t>
                      </a:r>
                      <a:endParaRPr kumimoji="0" lang="ko-KR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5053764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5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6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거래처 통장 및 인장보관 및 관리 적정 여부 등</a:t>
                      </a:r>
                      <a:endParaRPr lang="ko-KR" altLang="en-US" sz="6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현황점검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일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2024-03-22 17:11</a:t>
                      </a:r>
                      <a:endParaRPr kumimoji="0" lang="ko-KR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4867666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6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법적서류</a:t>
                      </a:r>
                      <a:r>
                        <a:rPr lang="en-US" altLang="ko-KR" sz="6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6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법인인감</a:t>
                      </a:r>
                      <a:r>
                        <a:rPr lang="en-US" altLang="ko-KR" sz="6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6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지배인인감</a:t>
                      </a:r>
                      <a:r>
                        <a:rPr lang="en-US" altLang="ko-KR" sz="6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)…</a:t>
                      </a:r>
                      <a:endParaRPr lang="ko-KR" altLang="en-US" sz="6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u="none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법적서류</a:t>
                      </a:r>
                      <a:r>
                        <a:rPr lang="ko-KR" altLang="en-US" sz="600" b="0" u="none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잔량 및 보관의 적정 여부</a:t>
                      </a:r>
                      <a:endParaRPr lang="ko-KR" altLang="en-US" sz="600" b="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현황점검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일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2024-03-28 10:13</a:t>
                      </a:r>
                      <a:endParaRPr kumimoji="0" lang="ko-KR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4680484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7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법적서류</a:t>
                      </a:r>
                      <a:r>
                        <a:rPr lang="ko-KR" altLang="en-US" sz="6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관리의 적정 여부</a:t>
                      </a:r>
                      <a:r>
                        <a:rPr lang="en-US" altLang="ko-KR" sz="6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6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사무분담</a:t>
                      </a:r>
                      <a:r>
                        <a:rPr lang="ko-KR" altLang="en-US" sz="6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</a:t>
                      </a:r>
                      <a:r>
                        <a:rPr lang="en-US" altLang="ko-KR" sz="6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현황점검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일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2024-03-25 05:03</a:t>
                      </a:r>
                      <a:endParaRPr kumimoji="0" lang="ko-KR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5253379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8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6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법인인감카드 관리의 적정 여부 등</a:t>
                      </a:r>
                      <a:endParaRPr lang="ko-KR" altLang="en-US" sz="6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현황점검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일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2024-03-25 05:03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2183352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9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중요인장</a:t>
                      </a:r>
                      <a:endParaRPr lang="ko-KR" altLang="en-US" sz="6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중요인장 관리의 적정성</a:t>
                      </a:r>
                      <a:endParaRPr lang="ko-KR" altLang="en-US" sz="6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직인 날인 절차 준수 여부 등</a:t>
                      </a:r>
                      <a:endParaRPr lang="ko-KR" altLang="en-US" sz="6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Rule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일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2024-03-29 11:24</a:t>
                      </a:r>
                      <a:endParaRPr kumimoji="0" lang="ko-KR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8029183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10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u="none" spc="-10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사무분담   근태</a:t>
                      </a:r>
                      <a:endParaRPr lang="ko-KR" altLang="en-US" sz="600" b="0" u="none" spc="-100" baseline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사무분담 및 전결권 재위임 업무</a:t>
                      </a:r>
                      <a:r>
                        <a:rPr lang="en-US" altLang="ko-KR" sz="600" b="0" u="none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6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u="none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사무분담</a:t>
                      </a:r>
                      <a:r>
                        <a:rPr lang="ko-KR" altLang="en-US" sz="600" b="0" u="none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내역의 적정 여부</a:t>
                      </a:r>
                      <a:r>
                        <a:rPr lang="en-US" altLang="ko-KR" sz="600" b="0" u="none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600" b="0" u="none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통합사용자권한 부여 포함</a:t>
                      </a:r>
                      <a:r>
                        <a:rPr lang="en-US" altLang="ko-KR" sz="600" b="0" u="none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600" b="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현황점검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일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2024-03-29 08:43</a:t>
                      </a:r>
                      <a:endParaRPr kumimoji="0" lang="ko-KR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3302665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u="none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4231037"/>
                  </a:ext>
                </a:extLst>
              </a:tr>
            </a:tbl>
          </a:graphicData>
        </a:graphic>
      </p:graphicFrame>
      <p:sp>
        <p:nvSpPr>
          <p:cNvPr id="22" name="직사각형 21"/>
          <p:cNvSpPr/>
          <p:nvPr/>
        </p:nvSpPr>
        <p:spPr bwMode="auto">
          <a:xfrm>
            <a:off x="1188365" y="2410134"/>
            <a:ext cx="5810476" cy="224038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95354" y="155907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69350" y="1902693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점검대상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134934" y="230782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201808" y="52158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140542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30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법적서류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사무분담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지정현황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조회용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화면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조회조건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–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부서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: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부점별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또는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전체부서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조회 가능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조회기준일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: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현재일자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고정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조회기준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–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직원 사무분담내용에 ‘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법적서류’가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포함된 직원을 표시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MDD-00034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MDD72MM5000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법적서류</a:t>
                      </a:r>
                      <a:r>
                        <a:rPr lang="ko-KR" altLang="en-US" sz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사무분담</a:t>
                      </a:r>
                      <a:r>
                        <a:rPr lang="ko-KR" altLang="en-US" sz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지정현황</a:t>
                      </a:r>
                      <a:endParaRPr kumimoji="0" lang="ko-KR" altLang="en-US" sz="12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90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디지털 내부통제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내부통제 현황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9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법적서류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점검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9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법적서류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사무분담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지정현황</a:t>
                      </a:r>
                      <a:r>
                        <a:rPr lang="en-US" altLang="ko-KR" sz="9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(P92:</a:t>
                      </a:r>
                      <a:r>
                        <a:rPr lang="ko-KR" altLang="en-US" sz="9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이미선</a:t>
                      </a:r>
                      <a:r>
                        <a:rPr lang="en-US" altLang="ko-KR" sz="9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9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2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89792" y="996033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7" name="양쪽 모서리가 둥근 사각형 26"/>
          <p:cNvSpPr/>
          <p:nvPr/>
        </p:nvSpPr>
        <p:spPr bwMode="auto">
          <a:xfrm>
            <a:off x="296295" y="1070629"/>
            <a:ext cx="12988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법적서류 사무분담 지정현황</a:t>
            </a:r>
            <a:endParaRPr kumimoji="0" lang="ko-KR" altLang="en-US" sz="80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8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96296" y="1256364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9" name="내용 개체 틀 121"/>
          <p:cNvGraphicFramePr>
            <a:graphicFrameLocks/>
          </p:cNvGraphicFramePr>
          <p:nvPr>
            <p:extLst/>
          </p:nvPr>
        </p:nvGraphicFramePr>
        <p:xfrm>
          <a:off x="289792" y="1341696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86643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1035050">
                  <a:extLst>
                    <a:ext uri="{9D8B030D-6E8A-4147-A177-3AD203B41FA5}">
                      <a16:colId xmlns:a16="http://schemas.microsoft.com/office/drawing/2014/main" val="3089572302"/>
                    </a:ext>
                  </a:extLst>
                </a:gridCol>
                <a:gridCol w="2887363">
                  <a:extLst>
                    <a:ext uri="{9D8B030D-6E8A-4147-A177-3AD203B41FA5}">
                      <a16:colId xmlns:a16="http://schemas.microsoft.com/office/drawing/2014/main" val="566354469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부서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kumimoji="0" lang="ko-KR" altLang="en-US" sz="700" i="0" u="none" strike="noStrike" kern="1200" cap="none" spc="-100" normalizeH="0" baseline="0" noProof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조회기준일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3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28763" y="1378425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73804" y="1385253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686193" y="1385287"/>
            <a:ext cx="1217354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34" name="그림 33"/>
          <p:cNvPicPr>
            <a:picLocks noChangeAspect="1"/>
          </p:cNvPicPr>
          <p:nvPr/>
        </p:nvPicPr>
        <p:blipFill rotWithShape="1">
          <a:blip r:embed="rId2"/>
          <a:srcRect r="73540"/>
          <a:stretch/>
        </p:blipFill>
        <p:spPr>
          <a:xfrm>
            <a:off x="1698893" y="1401809"/>
            <a:ext cx="183595" cy="164228"/>
          </a:xfrm>
          <a:prstGeom prst="rect">
            <a:avLst/>
          </a:prstGeom>
        </p:spPr>
      </p:pic>
      <p:sp>
        <p:nvSpPr>
          <p:cNvPr id="3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212873" y="1378182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엑셀출력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57478" y="1382870"/>
            <a:ext cx="821497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2024-04-04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37" name="그림 3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97878" y="1386710"/>
            <a:ext cx="181098" cy="173224"/>
          </a:xfrm>
          <a:prstGeom prst="rect">
            <a:avLst/>
          </a:prstGeom>
        </p:spPr>
      </p:pic>
      <p:sp>
        <p:nvSpPr>
          <p:cNvPr id="38" name="타원 3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35832" y="99603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39" name="표 38"/>
          <p:cNvGraphicFramePr>
            <a:graphicFrameLocks noGrp="1"/>
          </p:cNvGraphicFramePr>
          <p:nvPr>
            <p:extLst/>
          </p:nvPr>
        </p:nvGraphicFramePr>
        <p:xfrm>
          <a:off x="296294" y="1705031"/>
          <a:ext cx="6726395" cy="689262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345279">
                  <a:extLst>
                    <a:ext uri="{9D8B030D-6E8A-4147-A177-3AD203B41FA5}">
                      <a16:colId xmlns:a16="http://schemas.microsoft.com/office/drawing/2014/main" val="4259443528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2119051089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2532418022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2848667511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3024964874"/>
                    </a:ext>
                  </a:extLst>
                </a:gridCol>
              </a:tblGrid>
              <a:tr h="2297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부점코드</a:t>
                      </a:r>
                      <a:endParaRPr lang="ko-KR" altLang="en-US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부점한글명</a:t>
                      </a:r>
                      <a:endParaRPr lang="ko-KR" altLang="en-US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법적서류업무담당</a:t>
                      </a:r>
                      <a:r>
                        <a:rPr lang="en-US" altLang="ko-KR" sz="9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(L0</a:t>
                      </a:r>
                      <a:r>
                        <a:rPr lang="ko-KR" altLang="en-US" sz="9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이상</a:t>
                      </a:r>
                      <a:r>
                        <a:rPr lang="en-US" altLang="ko-KR" sz="9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법적서류관리담당</a:t>
                      </a:r>
                      <a:r>
                        <a:rPr lang="en-US" altLang="ko-KR" sz="9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(L2</a:t>
                      </a:r>
                      <a:r>
                        <a:rPr lang="ko-KR" altLang="en-US" sz="9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이상</a:t>
                      </a:r>
                      <a:r>
                        <a:rPr lang="en-US" altLang="ko-KR" sz="9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비고</a:t>
                      </a:r>
                      <a:endParaRPr lang="ko-KR" altLang="en-US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541704"/>
                  </a:ext>
                </a:extLst>
              </a:tr>
              <a:tr h="22975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0003</a:t>
                      </a:r>
                      <a:endParaRPr lang="en-US" altLang="ko-KR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WM</a:t>
                      </a:r>
                      <a:r>
                        <a:rPr lang="ko-KR" altLang="en-US" sz="9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기획부            </a:t>
                      </a:r>
                      <a:endParaRPr lang="ko-KR" altLang="en-US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[2345123]</a:t>
                      </a:r>
                      <a:r>
                        <a:rPr lang="en-US" altLang="ko-KR" sz="700" b="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r>
                        <a:rPr lang="ko-KR" altLang="en-US" sz="9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[3421665] </a:t>
                      </a:r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김대리</a:t>
                      </a:r>
                      <a:r>
                        <a:rPr lang="ko-KR" altLang="en-US" sz="9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4588187"/>
                  </a:ext>
                </a:extLst>
              </a:tr>
              <a:tr h="22975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0503</a:t>
                      </a:r>
                      <a:endParaRPr lang="en-US" altLang="ko-KR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재무기획부</a:t>
                      </a:r>
                      <a:endParaRPr lang="ko-KR" altLang="en-US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[3325533]</a:t>
                      </a:r>
                      <a:r>
                        <a:rPr lang="en-US" altLang="ko-KR" sz="700" b="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이순신</a:t>
                      </a:r>
                      <a:endParaRPr lang="ko-KR" altLang="en-US" sz="700" b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[3325533]</a:t>
                      </a:r>
                      <a:r>
                        <a:rPr lang="en-US" altLang="ko-KR" sz="700" b="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이순신</a:t>
                      </a:r>
                      <a:r>
                        <a:rPr lang="ko-KR" altLang="en-US" sz="9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등록직원 </a:t>
                      </a:r>
                      <a:r>
                        <a:rPr lang="en-US" altLang="ko-KR" sz="9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r>
                        <a:rPr lang="ko-KR" altLang="en-US" sz="9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</a:t>
                      </a:r>
                      <a:r>
                        <a:rPr lang="ko-KR" altLang="en-US" sz="900" b="0" u="none" strike="noStrike" baseline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900" b="0" u="none" strike="noStrike" baseline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</a:t>
                      </a:r>
                      <a:endParaRPr lang="ko-KR" altLang="en-US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0130473"/>
                  </a:ext>
                </a:extLst>
              </a:tr>
            </a:tbl>
          </a:graphicData>
        </a:graphic>
      </p:graphicFrame>
      <p:sp>
        <p:nvSpPr>
          <p:cNvPr id="40" name="직사각형 39"/>
          <p:cNvSpPr/>
          <p:nvPr/>
        </p:nvSpPr>
        <p:spPr bwMode="auto">
          <a:xfrm>
            <a:off x="277397" y="1330046"/>
            <a:ext cx="5900178" cy="292550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48782" y="126673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48782" y="166567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02348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55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법인인감카드 보유현황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조회용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화면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조회조건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–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부서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: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부점별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또는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전체부서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조회 가능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조회기준일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: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현재일자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고정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조회기준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–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법인인감카드 보유 내역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u="none" strike="noStrike" dirty="0" err="1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법인인감카드발급사유코드</a:t>
                      </a:r>
                      <a:endParaRPr lang="en-US" altLang="ko-KR" sz="800" b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en-US" altLang="ko-KR" sz="8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1:</a:t>
                      </a:r>
                      <a:r>
                        <a:rPr lang="ko-KR" altLang="en-US" sz="8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</a:t>
                      </a:r>
                      <a:r>
                        <a:rPr lang="en-US" altLang="ko-KR" sz="8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2:</a:t>
                      </a:r>
                      <a:r>
                        <a:rPr lang="ko-KR" altLang="en-US" sz="8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분실</a:t>
                      </a:r>
                      <a:r>
                        <a:rPr lang="en-US" altLang="ko-KR" sz="8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3:</a:t>
                      </a:r>
                      <a:r>
                        <a:rPr lang="ko-KR" altLang="en-US" sz="8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훼손</a:t>
                      </a:r>
                      <a:endParaRPr lang="en-US" altLang="ko-KR" sz="800" b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법적서류</a:t>
                      </a:r>
                      <a:r>
                        <a:rPr lang="ko-KR" altLang="en-US" sz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사무분담</a:t>
                      </a:r>
                      <a:r>
                        <a:rPr lang="ko-KR" altLang="en-US" sz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지정현황</a:t>
                      </a:r>
                      <a:endParaRPr kumimoji="0" lang="ko-KR" altLang="en-US" sz="12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90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디지털 내부통제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내부통제 현황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법인인감카드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9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법인인감카드보유현황</a:t>
                      </a:r>
                      <a:r>
                        <a:rPr lang="en-US" altLang="ko-KR" sz="9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 OOO )</a:t>
                      </a:r>
                      <a:endParaRPr lang="ko-KR" altLang="en-US" sz="9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4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89792" y="996033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" name="양쪽 모서리가 둥근 사각형 4"/>
          <p:cNvSpPr/>
          <p:nvPr/>
        </p:nvSpPr>
        <p:spPr bwMode="auto">
          <a:xfrm>
            <a:off x="296295" y="1070629"/>
            <a:ext cx="12988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법인인감카드 보유현황</a:t>
            </a:r>
            <a:endParaRPr kumimoji="0" lang="ko-KR" altLang="en-US" sz="8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96296" y="1256364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7" name="내용 개체 틀 121"/>
          <p:cNvGraphicFramePr>
            <a:graphicFrameLocks/>
          </p:cNvGraphicFramePr>
          <p:nvPr>
            <p:extLst/>
          </p:nvPr>
        </p:nvGraphicFramePr>
        <p:xfrm>
          <a:off x="289792" y="1341696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86643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1035050">
                  <a:extLst>
                    <a:ext uri="{9D8B030D-6E8A-4147-A177-3AD203B41FA5}">
                      <a16:colId xmlns:a16="http://schemas.microsoft.com/office/drawing/2014/main" val="3089572302"/>
                    </a:ext>
                  </a:extLst>
                </a:gridCol>
                <a:gridCol w="2887363">
                  <a:extLst>
                    <a:ext uri="{9D8B030D-6E8A-4147-A177-3AD203B41FA5}">
                      <a16:colId xmlns:a16="http://schemas.microsoft.com/office/drawing/2014/main" val="566354469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부서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kumimoji="0" lang="ko-KR" altLang="en-US" sz="700" i="0" u="none" strike="noStrike" kern="1200" cap="none" spc="-100" normalizeH="0" baseline="0" noProof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조회기준일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28763" y="1378425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73804" y="1385253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686193" y="1385287"/>
            <a:ext cx="1217354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1" name="그림 10"/>
          <p:cNvPicPr>
            <a:picLocks noChangeAspect="1"/>
          </p:cNvPicPr>
          <p:nvPr/>
        </p:nvPicPr>
        <p:blipFill rotWithShape="1">
          <a:blip r:embed="rId2"/>
          <a:srcRect r="73540"/>
          <a:stretch/>
        </p:blipFill>
        <p:spPr>
          <a:xfrm>
            <a:off x="1698893" y="1401809"/>
            <a:ext cx="183595" cy="164228"/>
          </a:xfrm>
          <a:prstGeom prst="rect">
            <a:avLst/>
          </a:prstGeom>
        </p:spPr>
      </p:pic>
      <p:sp>
        <p:nvSpPr>
          <p:cNvPr id="1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212873" y="1378182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엑셀출력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57478" y="1382870"/>
            <a:ext cx="821497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2024-04-04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4" name="그림 1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97878" y="1386710"/>
            <a:ext cx="181098" cy="173224"/>
          </a:xfrm>
          <a:prstGeom prst="rect">
            <a:avLst/>
          </a:prstGeom>
        </p:spPr>
      </p:pic>
      <p:sp>
        <p:nvSpPr>
          <p:cNvPr id="15" name="타원 1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35832" y="99603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6" name="표 15"/>
          <p:cNvGraphicFramePr>
            <a:graphicFrameLocks noGrp="1"/>
          </p:cNvGraphicFramePr>
          <p:nvPr>
            <p:extLst/>
          </p:nvPr>
        </p:nvGraphicFramePr>
        <p:xfrm>
          <a:off x="296294" y="1705031"/>
          <a:ext cx="6726395" cy="689262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345279">
                  <a:extLst>
                    <a:ext uri="{9D8B030D-6E8A-4147-A177-3AD203B41FA5}">
                      <a16:colId xmlns:a16="http://schemas.microsoft.com/office/drawing/2014/main" val="4259443528"/>
                    </a:ext>
                  </a:extLst>
                </a:gridCol>
                <a:gridCol w="1184754">
                  <a:extLst>
                    <a:ext uri="{9D8B030D-6E8A-4147-A177-3AD203B41FA5}">
                      <a16:colId xmlns:a16="http://schemas.microsoft.com/office/drawing/2014/main" val="2119051089"/>
                    </a:ext>
                  </a:extLst>
                </a:gridCol>
                <a:gridCol w="1704109">
                  <a:extLst>
                    <a:ext uri="{9D8B030D-6E8A-4147-A177-3AD203B41FA5}">
                      <a16:colId xmlns:a16="http://schemas.microsoft.com/office/drawing/2014/main" val="2532418022"/>
                    </a:ext>
                  </a:extLst>
                </a:gridCol>
                <a:gridCol w="1146974">
                  <a:extLst>
                    <a:ext uri="{9D8B030D-6E8A-4147-A177-3AD203B41FA5}">
                      <a16:colId xmlns:a16="http://schemas.microsoft.com/office/drawing/2014/main" val="2848667511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3024964874"/>
                    </a:ext>
                  </a:extLst>
                </a:gridCol>
              </a:tblGrid>
              <a:tr h="2297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u="none" strike="noStrike" dirty="0" err="1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부점코드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u="none" strike="noStrike" dirty="0" err="1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부점한글명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법인인감카드번호</a:t>
                      </a:r>
                      <a:endParaRPr lang="en-US" altLang="ko-KR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발급년월일</a:t>
                      </a:r>
                      <a:endParaRPr lang="en-US" altLang="ko-KR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u="none" strike="noStrike" dirty="0" err="1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법인인감카드발급사유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541704"/>
                  </a:ext>
                </a:extLst>
              </a:tr>
              <a:tr h="22975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0003</a:t>
                      </a:r>
                      <a:endParaRPr lang="en-US" altLang="ko-KR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WM</a:t>
                      </a:r>
                      <a:r>
                        <a:rPr lang="ko-KR" altLang="en-US" sz="9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기획부            </a:t>
                      </a:r>
                      <a:endParaRPr lang="ko-KR" altLang="en-US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0002-5148-2547-000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2024-12-30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4588187"/>
                  </a:ext>
                </a:extLst>
              </a:tr>
              <a:tr h="22975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0503</a:t>
                      </a:r>
                      <a:endParaRPr lang="en-US" altLang="ko-KR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재무기획부</a:t>
                      </a:r>
                      <a:endParaRPr lang="ko-KR" altLang="en-US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0000-0000-0000-0000</a:t>
                      </a:r>
                      <a:endParaRPr lang="ko-KR" altLang="en-US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2025-01-10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분실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0130473"/>
                  </a:ext>
                </a:extLst>
              </a:tr>
            </a:tbl>
          </a:graphicData>
        </a:graphic>
      </p:graphicFrame>
      <p:sp>
        <p:nvSpPr>
          <p:cNvPr id="17" name="직사각형 16"/>
          <p:cNvSpPr/>
          <p:nvPr/>
        </p:nvSpPr>
        <p:spPr bwMode="auto">
          <a:xfrm>
            <a:off x="277397" y="1330046"/>
            <a:ext cx="5900178" cy="292550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48782" y="126673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48782" y="166567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34270411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72109" y="1377618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9" name="양쪽 모서리가 둥근 사각형 28"/>
          <p:cNvSpPr/>
          <p:nvPr/>
        </p:nvSpPr>
        <p:spPr bwMode="auto">
          <a:xfrm>
            <a:off x="290216" y="1166201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법적서류 재고현황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MDD-00035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MDD72MM5100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8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법적서류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재고현황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디지털 내부통제 </a:t>
                      </a:r>
                      <a:r>
                        <a:rPr lang="en-US" altLang="ko-KR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내부통제 현황 </a:t>
                      </a:r>
                      <a:r>
                        <a:rPr lang="en-US" altLang="ko-KR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법적서류 점검 </a:t>
                      </a:r>
                      <a:r>
                        <a:rPr lang="en-US" altLang="ko-KR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법적서류</a:t>
                      </a:r>
                      <a:r>
                        <a:rPr lang="ko-KR" altLang="en-US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재고현황</a:t>
                      </a:r>
                      <a:r>
                        <a:rPr lang="en-US" altLang="ko-KR" sz="10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(P93</a:t>
                      </a:r>
                      <a:r>
                        <a:rPr lang="en-US" altLang="ko-KR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:</a:t>
                      </a:r>
                      <a:r>
                        <a:rPr lang="ko-KR" altLang="en-US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이미선</a:t>
                      </a:r>
                      <a:r>
                        <a:rPr lang="en-US" altLang="ko-KR" sz="10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1" name="내용 개체 틀 121"/>
          <p:cNvGraphicFramePr>
            <a:graphicFrameLocks/>
          </p:cNvGraphicFramePr>
          <p:nvPr>
            <p:extLst/>
          </p:nvPr>
        </p:nvGraphicFramePr>
        <p:xfrm>
          <a:off x="290216" y="1492044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86643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1035050">
                  <a:extLst>
                    <a:ext uri="{9D8B030D-6E8A-4147-A177-3AD203B41FA5}">
                      <a16:colId xmlns:a16="http://schemas.microsoft.com/office/drawing/2014/main" val="3089572302"/>
                    </a:ext>
                  </a:extLst>
                </a:gridCol>
                <a:gridCol w="2887363">
                  <a:extLst>
                    <a:ext uri="{9D8B030D-6E8A-4147-A177-3AD203B41FA5}">
                      <a16:colId xmlns:a16="http://schemas.microsoft.com/office/drawing/2014/main" val="566354469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부서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kumimoji="0" lang="ko-KR" altLang="en-US" sz="700" i="0" u="none" strike="noStrike" kern="1200" cap="none" spc="-100" normalizeH="0" baseline="0" noProof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조회기준일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3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29187" y="1528773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74228" y="1535601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686617" y="1535635"/>
            <a:ext cx="1217354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42" name="그림 41"/>
          <p:cNvPicPr>
            <a:picLocks noChangeAspect="1"/>
          </p:cNvPicPr>
          <p:nvPr/>
        </p:nvPicPr>
        <p:blipFill rotWithShape="1">
          <a:blip r:embed="rId2"/>
          <a:srcRect r="73540"/>
          <a:stretch/>
        </p:blipFill>
        <p:spPr>
          <a:xfrm>
            <a:off x="1699317" y="1552157"/>
            <a:ext cx="183595" cy="164228"/>
          </a:xfrm>
          <a:prstGeom prst="rect">
            <a:avLst/>
          </a:prstGeom>
        </p:spPr>
      </p:pic>
      <p:sp>
        <p:nvSpPr>
          <p:cNvPr id="4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213297" y="1528530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엑셀출력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57902" y="1533218"/>
            <a:ext cx="821497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2024-04-04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45" name="그림 4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98302" y="1537058"/>
            <a:ext cx="181098" cy="173224"/>
          </a:xfrm>
          <a:prstGeom prst="rect">
            <a:avLst/>
          </a:prstGeom>
        </p:spPr>
      </p:pic>
      <p:graphicFrame>
        <p:nvGraphicFramePr>
          <p:cNvPr id="46" name="표 45"/>
          <p:cNvGraphicFramePr>
            <a:graphicFrameLocks noGrp="1"/>
          </p:cNvGraphicFramePr>
          <p:nvPr>
            <p:extLst/>
          </p:nvPr>
        </p:nvGraphicFramePr>
        <p:xfrm>
          <a:off x="296718" y="1855379"/>
          <a:ext cx="6726395" cy="689262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345279">
                  <a:extLst>
                    <a:ext uri="{9D8B030D-6E8A-4147-A177-3AD203B41FA5}">
                      <a16:colId xmlns:a16="http://schemas.microsoft.com/office/drawing/2014/main" val="4259443528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2119051089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2532418022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2848667511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3024964874"/>
                    </a:ext>
                  </a:extLst>
                </a:gridCol>
              </a:tblGrid>
              <a:tr h="2297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부점코드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부점한글명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인감서류구분</a:t>
                      </a:r>
                      <a:endParaRPr lang="en-US" altLang="ko-KR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재고수량</a:t>
                      </a:r>
                      <a:endParaRPr lang="en-US" altLang="ko-KR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인수예정수량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541704"/>
                  </a:ext>
                </a:extLst>
              </a:tr>
              <a:tr h="22975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0003</a:t>
                      </a:r>
                      <a:endParaRPr lang="en-US" altLang="ko-KR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WM</a:t>
                      </a:r>
                      <a:r>
                        <a:rPr lang="ko-KR" altLang="en-US" sz="9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기획부            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법인인감증명서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sng" strike="noStrike" dirty="0" smtClean="0">
                          <a:solidFill>
                            <a:srgbClr val="2272FF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900" b="0" i="0" u="sng" strike="noStrike" dirty="0">
                        <a:solidFill>
                          <a:srgbClr val="2272FF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4588187"/>
                  </a:ext>
                </a:extLst>
              </a:tr>
              <a:tr h="22975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0503</a:t>
                      </a:r>
                      <a:endParaRPr lang="en-US" altLang="ko-KR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재무기획부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지배인감확인서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sng" strike="noStrike" dirty="0" smtClean="0">
                          <a:solidFill>
                            <a:srgbClr val="2272FF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900" b="0" i="0" u="sng" strike="noStrike" dirty="0">
                        <a:solidFill>
                          <a:srgbClr val="2272FF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0130473"/>
                  </a:ext>
                </a:extLst>
              </a:tr>
            </a:tbl>
          </a:graphicData>
        </a:graphic>
      </p:graphicFrame>
      <p:sp>
        <p:nvSpPr>
          <p:cNvPr id="47" name="직사각형 46"/>
          <p:cNvSpPr/>
          <p:nvPr/>
        </p:nvSpPr>
        <p:spPr bwMode="auto">
          <a:xfrm>
            <a:off x="277821" y="1480394"/>
            <a:ext cx="5900178" cy="292550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72109" y="460334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1" name="직사각형 60"/>
          <p:cNvSpPr/>
          <p:nvPr/>
        </p:nvSpPr>
        <p:spPr bwMode="auto">
          <a:xfrm>
            <a:off x="4875950" y="2059376"/>
            <a:ext cx="251983" cy="232287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62" name="구부러진 연결선 61"/>
          <p:cNvCxnSpPr>
            <a:stCxn id="61" idx="3"/>
          </p:cNvCxnSpPr>
          <p:nvPr/>
        </p:nvCxnSpPr>
        <p:spPr bwMode="auto">
          <a:xfrm>
            <a:off x="5127933" y="2175520"/>
            <a:ext cx="374073" cy="456937"/>
          </a:xfrm>
          <a:prstGeom prst="curvedConnector2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graphicFrame>
        <p:nvGraphicFramePr>
          <p:cNvPr id="63" name="표 62"/>
          <p:cNvGraphicFramePr>
            <a:graphicFrameLocks noGrp="1"/>
          </p:cNvGraphicFramePr>
          <p:nvPr>
            <p:extLst/>
          </p:nvPr>
        </p:nvGraphicFramePr>
        <p:xfrm>
          <a:off x="296718" y="4876984"/>
          <a:ext cx="6726395" cy="919016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345279">
                  <a:extLst>
                    <a:ext uri="{9D8B030D-6E8A-4147-A177-3AD203B41FA5}">
                      <a16:colId xmlns:a16="http://schemas.microsoft.com/office/drawing/2014/main" val="4259443528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2119051089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2532418022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2848667511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3024964874"/>
                    </a:ext>
                  </a:extLst>
                </a:gridCol>
              </a:tblGrid>
              <a:tr h="2297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조회정보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연계시스템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연계테이블</a:t>
                      </a:r>
                      <a:endParaRPr lang="en-US" altLang="ko-KR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연계정보</a:t>
                      </a:r>
                      <a:endParaRPr lang="en-US" altLang="ko-KR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연계정보</a:t>
                      </a: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541704"/>
                  </a:ext>
                </a:extLst>
              </a:tr>
              <a:tr h="229754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인감서류구분</a:t>
                      </a:r>
                      <a:endParaRPr lang="en-US" altLang="ko-KR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경영정보</a:t>
                      </a: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</a:t>
                      </a: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종합물자관리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TSMAJLE51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인감서류구분</a:t>
                      </a: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</a:t>
                      </a:r>
                      <a:r>
                        <a:rPr lang="en-US" altLang="ko-KR" sz="900" b="0" i="0" u="none" strike="noStrike" baseline="0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번호</a:t>
                      </a:r>
                      <a:endParaRPr lang="ko-KR" altLang="en-US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인감서류상태구분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4588187"/>
                  </a:ext>
                </a:extLst>
              </a:tr>
              <a:tr h="229754"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재고수량</a:t>
                      </a:r>
                      <a:endParaRPr lang="en-US" altLang="ko-KR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경영정보</a:t>
                      </a: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</a:t>
                      </a: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종합물자관리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TSMAJLE51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인감서류구분</a:t>
                      </a: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</a:t>
                      </a:r>
                      <a:r>
                        <a:rPr lang="en-US" altLang="ko-KR" sz="900" b="0" i="0" u="none" strike="noStrike" baseline="0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번호</a:t>
                      </a:r>
                      <a:endParaRPr lang="ko-KR" altLang="en-US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인감서류상태구분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0130473"/>
                  </a:ext>
                </a:extLst>
              </a:tr>
              <a:tr h="229754"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인수예정수량</a:t>
                      </a:r>
                      <a:endParaRPr lang="en-US" altLang="ko-KR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경영정보</a:t>
                      </a: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</a:t>
                      </a: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종합물자관리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TSMAJLE53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부점코드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인수예정수량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7325307"/>
                  </a:ext>
                </a:extLst>
              </a:tr>
            </a:tbl>
          </a:graphicData>
        </a:graphic>
      </p:graphicFrame>
      <p:sp>
        <p:nvSpPr>
          <p:cNvPr id="65" name="타원 6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52943" y="99906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6" name="타원 6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50836" y="136711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58299" y="178186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8" name="타원 6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188152" y="259392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69" name="표 68"/>
          <p:cNvGraphicFramePr>
            <a:graphicFrameLocks noGrp="1"/>
          </p:cNvGraphicFramePr>
          <p:nvPr>
            <p:extLst/>
          </p:nvPr>
        </p:nvGraphicFramePr>
        <p:xfrm>
          <a:off x="7207250" y="662793"/>
          <a:ext cx="2606675" cy="5401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법적 서류 재고 현황 조회 용 화면이다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 조건을 아래와 같이한다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 별 또는 전체 부서 조회 가능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 기준일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현재 일자 고정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 결과는 부점 별 인감 서류 보유현황 표시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재고 수량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인수예정수량 존재 시 클릭하여 세부내용 조회 가능하다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sng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※ </a:t>
                      </a:r>
                      <a:r>
                        <a:rPr lang="ko-KR" altLang="en-US" sz="800" u="sng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조회기준은 담당자 최종 확인 필요하다</a:t>
                      </a:r>
                      <a:r>
                        <a:rPr lang="en-US" altLang="ko-KR" sz="800" u="sng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조회된 결과의 재고 수량 클릭 시 법적 서류 재고 현황 상세 팝업 호출한다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 정보는 아래와 같다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테이블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TSMAJLE51(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법적서류원장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), TSMAJLE55(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법적 서류 재고 원장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컬럼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인감서류구분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인감서류번호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인감서류상태구분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인수예정수량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해당 테이블 생성 및 배치프로그램 개발 예정</a:t>
                      </a:r>
                      <a:endParaRPr lang="ko-KR" altLang="en-US" sz="800" dirty="0">
                        <a:solidFill>
                          <a:srgbClr val="2272F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57225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8846583"/>
                  </a:ext>
                </a:extLst>
              </a:tr>
            </a:tbl>
          </a:graphicData>
        </a:graphic>
      </p:graphicFrame>
      <p:grpSp>
        <p:nvGrpSpPr>
          <p:cNvPr id="71" name="그룹 70"/>
          <p:cNvGrpSpPr/>
          <p:nvPr/>
        </p:nvGrpSpPr>
        <p:grpSpPr>
          <a:xfrm>
            <a:off x="1188152" y="2777416"/>
            <a:ext cx="5762334" cy="1258932"/>
            <a:chOff x="4615502" y="2898790"/>
            <a:chExt cx="2633031" cy="1258932"/>
          </a:xfrm>
        </p:grpSpPr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68CB9370-D759-4248-8572-5FDA4EF6101B}"/>
                </a:ext>
              </a:extLst>
            </p:cNvPr>
            <p:cNvSpPr/>
            <p:nvPr/>
          </p:nvSpPr>
          <p:spPr>
            <a:xfrm>
              <a:off x="4615502" y="2898790"/>
              <a:ext cx="2633031" cy="125893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742856">
                <a:defRPr/>
              </a:pPr>
              <a:endParaRPr lang="ko-KR" altLang="en-US" sz="813" b="1" dirty="0">
                <a:solidFill>
                  <a:srgbClr val="0070C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061CAA5C-4EB7-4E67-85DA-E29F266F438F}"/>
                </a:ext>
              </a:extLst>
            </p:cNvPr>
            <p:cNvSpPr/>
            <p:nvPr/>
          </p:nvSpPr>
          <p:spPr>
            <a:xfrm>
              <a:off x="4626393" y="2914649"/>
              <a:ext cx="2614235" cy="217588"/>
            </a:xfrm>
            <a:prstGeom prst="rect">
              <a:avLst/>
            </a:prstGeom>
            <a:solidFill>
              <a:srgbClr val="625950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742856">
                <a:defRPr/>
              </a:pPr>
              <a:endParaRPr lang="ko-KR" altLang="en-US" sz="813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74" name="직사각형 73">
              <a:extLst>
                <a:ext uri="{FF2B5EF4-FFF2-40B4-BE49-F238E27FC236}">
                  <a16:creationId xmlns:a16="http://schemas.microsoft.com/office/drawing/2014/main" id="{D494E968-62DE-442C-9EE6-DD6B90DDF615}"/>
                </a:ext>
              </a:extLst>
            </p:cNvPr>
            <p:cNvSpPr/>
            <p:nvPr/>
          </p:nvSpPr>
          <p:spPr bwMode="auto">
            <a:xfrm>
              <a:off x="7155262" y="2965428"/>
              <a:ext cx="55289" cy="103496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0" tIns="0" rIns="0" bIns="0" rtlCol="0" anchor="ctr" anchorCtr="0">
              <a:noAutofit/>
            </a:bodyPr>
            <a:lstStyle/>
            <a:p>
              <a:pPr algn="ctr" defTabSz="742856">
                <a:defRPr/>
              </a:pPr>
              <a:r>
                <a:rPr lang="en-US" altLang="ko-KR" sz="516" b="1" dirty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X</a:t>
              </a:r>
              <a:endParaRPr lang="ko-KR" altLang="en-US" sz="516" b="1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60B97788-F115-4669-A08F-46D3A46FC7DA}"/>
                </a:ext>
              </a:extLst>
            </p:cNvPr>
            <p:cNvSpPr txBox="1"/>
            <p:nvPr/>
          </p:nvSpPr>
          <p:spPr>
            <a:xfrm>
              <a:off x="4661286" y="2914649"/>
              <a:ext cx="1444242" cy="215444"/>
            </a:xfrm>
            <a:prstGeom prst="rect">
              <a:avLst/>
            </a:prstGeom>
            <a:noFill/>
          </p:spPr>
          <p:txBody>
            <a:bodyPr wrap="square" lIns="29250" rtlCol="0">
              <a:spAutoFit/>
            </a:bodyPr>
            <a:lstStyle/>
            <a:p>
              <a:pPr defTabSz="742856">
                <a:defRPr/>
              </a:pPr>
              <a:r>
                <a:rPr lang="ko-KR" altLang="en-US" sz="800" dirty="0" smtClean="0">
                  <a:solidFill>
                    <a:schemeClr val="bg1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법적서류 재고현황 상세</a:t>
              </a:r>
              <a:endParaRPr lang="ko-KR" altLang="en-US" sz="800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graphicFrame>
        <p:nvGraphicFramePr>
          <p:cNvPr id="76" name="표 75"/>
          <p:cNvGraphicFramePr>
            <a:graphicFrameLocks noGrp="1"/>
          </p:cNvGraphicFramePr>
          <p:nvPr>
            <p:extLst/>
          </p:nvPr>
        </p:nvGraphicFramePr>
        <p:xfrm>
          <a:off x="1233936" y="3046261"/>
          <a:ext cx="5633428" cy="22440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85208">
                  <a:extLst>
                    <a:ext uri="{9D8B030D-6E8A-4147-A177-3AD203B41FA5}">
                      <a16:colId xmlns:a16="http://schemas.microsoft.com/office/drawing/2014/main" val="1939624350"/>
                    </a:ext>
                  </a:extLst>
                </a:gridCol>
                <a:gridCol w="1563159">
                  <a:extLst>
                    <a:ext uri="{9D8B030D-6E8A-4147-A177-3AD203B41FA5}">
                      <a16:colId xmlns:a16="http://schemas.microsoft.com/office/drawing/2014/main" val="2251154852"/>
                    </a:ext>
                  </a:extLst>
                </a:gridCol>
                <a:gridCol w="866865">
                  <a:extLst>
                    <a:ext uri="{9D8B030D-6E8A-4147-A177-3AD203B41FA5}">
                      <a16:colId xmlns:a16="http://schemas.microsoft.com/office/drawing/2014/main" val="3155779549"/>
                    </a:ext>
                  </a:extLst>
                </a:gridCol>
                <a:gridCol w="2418196">
                  <a:extLst>
                    <a:ext uri="{9D8B030D-6E8A-4147-A177-3AD203B41FA5}">
                      <a16:colId xmlns:a16="http://schemas.microsoft.com/office/drawing/2014/main" val="2652665766"/>
                    </a:ext>
                  </a:extLst>
                </a:gridCol>
              </a:tblGrid>
              <a:tr h="22440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부점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kumimoji="0" lang="ko-KR" altLang="en-US" sz="700" i="0" u="none" strike="noStrike" kern="1200" cap="none" spc="-100" normalizeH="0" baseline="0" noProof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조회기준일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0586675"/>
                  </a:ext>
                </a:extLst>
              </a:tr>
            </a:tbl>
          </a:graphicData>
        </a:graphic>
      </p:graphicFrame>
      <p:sp>
        <p:nvSpPr>
          <p:cNvPr id="77" name="직사각형 7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058007" y="3076626"/>
            <a:ext cx="334865" cy="152380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0003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400546" y="3076660"/>
            <a:ext cx="1025345" cy="15238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       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WM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기획부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</p:txBody>
      </p:sp>
      <p:pic>
        <p:nvPicPr>
          <p:cNvPr id="79" name="그림 78"/>
          <p:cNvPicPr>
            <a:picLocks noChangeAspect="1"/>
          </p:cNvPicPr>
          <p:nvPr/>
        </p:nvPicPr>
        <p:blipFill rotWithShape="1">
          <a:blip r:embed="rId2"/>
          <a:srcRect r="73540"/>
          <a:stretch/>
        </p:blipFill>
        <p:spPr>
          <a:xfrm>
            <a:off x="2413246" y="3090549"/>
            <a:ext cx="154637" cy="138325"/>
          </a:xfrm>
          <a:prstGeom prst="rect">
            <a:avLst/>
          </a:prstGeom>
        </p:spPr>
      </p:pic>
      <p:sp>
        <p:nvSpPr>
          <p:cNvPr id="80" name="직사각형 7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480067" y="3064246"/>
            <a:ext cx="821497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2024-04-04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</p:txBody>
      </p:sp>
      <p:pic>
        <p:nvPicPr>
          <p:cNvPr id="81" name="그림 8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0467" y="3068086"/>
            <a:ext cx="181098" cy="173224"/>
          </a:xfrm>
          <a:prstGeom prst="rect">
            <a:avLst/>
          </a:prstGeom>
        </p:spPr>
      </p:pic>
      <p:graphicFrame>
        <p:nvGraphicFramePr>
          <p:cNvPr id="82" name="표 81"/>
          <p:cNvGraphicFramePr>
            <a:graphicFrameLocks noGrp="1"/>
          </p:cNvGraphicFramePr>
          <p:nvPr>
            <p:extLst/>
          </p:nvPr>
        </p:nvGraphicFramePr>
        <p:xfrm>
          <a:off x="1245369" y="3358384"/>
          <a:ext cx="5621994" cy="560052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936999">
                  <a:extLst>
                    <a:ext uri="{9D8B030D-6E8A-4147-A177-3AD203B41FA5}">
                      <a16:colId xmlns:a16="http://schemas.microsoft.com/office/drawing/2014/main" val="4259443528"/>
                    </a:ext>
                  </a:extLst>
                </a:gridCol>
                <a:gridCol w="936999">
                  <a:extLst>
                    <a:ext uri="{9D8B030D-6E8A-4147-A177-3AD203B41FA5}">
                      <a16:colId xmlns:a16="http://schemas.microsoft.com/office/drawing/2014/main" val="2119051089"/>
                    </a:ext>
                  </a:extLst>
                </a:gridCol>
                <a:gridCol w="936999">
                  <a:extLst>
                    <a:ext uri="{9D8B030D-6E8A-4147-A177-3AD203B41FA5}">
                      <a16:colId xmlns:a16="http://schemas.microsoft.com/office/drawing/2014/main" val="2532418022"/>
                    </a:ext>
                  </a:extLst>
                </a:gridCol>
                <a:gridCol w="936999">
                  <a:extLst>
                    <a:ext uri="{9D8B030D-6E8A-4147-A177-3AD203B41FA5}">
                      <a16:colId xmlns:a16="http://schemas.microsoft.com/office/drawing/2014/main" val="2848667511"/>
                    </a:ext>
                  </a:extLst>
                </a:gridCol>
                <a:gridCol w="936999">
                  <a:extLst>
                    <a:ext uri="{9D8B030D-6E8A-4147-A177-3AD203B41FA5}">
                      <a16:colId xmlns:a16="http://schemas.microsoft.com/office/drawing/2014/main" val="3024964874"/>
                    </a:ext>
                  </a:extLst>
                </a:gridCol>
                <a:gridCol w="936999">
                  <a:extLst>
                    <a:ext uri="{9D8B030D-6E8A-4147-A177-3AD203B41FA5}">
                      <a16:colId xmlns:a16="http://schemas.microsoft.com/office/drawing/2014/main" val="2999402366"/>
                    </a:ext>
                  </a:extLst>
                </a:gridCol>
              </a:tblGrid>
              <a:tr h="14001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부점코드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부점한글명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원장일련번호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법적서류구분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등록일자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유효기간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541704"/>
                  </a:ext>
                </a:extLst>
              </a:tr>
              <a:tr h="140013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0003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700" b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WM</a:t>
                      </a:r>
                      <a:r>
                        <a:rPr lang="ko-KR" altLang="en-US" sz="700" b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기획부            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202311041000443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법인인감증명서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20230103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20230403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4588187"/>
                  </a:ext>
                </a:extLst>
              </a:tr>
              <a:tr h="140013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0003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700" b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WM</a:t>
                      </a:r>
                      <a:r>
                        <a:rPr lang="ko-KR" altLang="en-US" sz="700" b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기획부            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202311041006728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법인인감증명서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20230428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20230728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0130473"/>
                  </a:ext>
                </a:extLst>
              </a:tr>
              <a:tr h="140013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en-US" altLang="ko-KR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u="none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4354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689261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8190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32650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MDD-00036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MDD72MM6000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8339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부점별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법적서류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교부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폐기 현황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8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8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8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디지털 내부통제 </a:t>
                      </a:r>
                      <a:r>
                        <a:rPr lang="en-US" altLang="ko-KR" sz="8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8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내부통제 현황 </a:t>
                      </a:r>
                      <a:r>
                        <a:rPr lang="en-US" altLang="ko-KR" sz="8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8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법적서류 점검 </a:t>
                      </a:r>
                      <a:r>
                        <a:rPr lang="en-US" altLang="ko-KR" sz="8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8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부점별 법적서류 교부</a:t>
                      </a:r>
                      <a:r>
                        <a:rPr lang="en-US" altLang="ko-KR" sz="8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폐기 현황</a:t>
                      </a:r>
                      <a:r>
                        <a:rPr lang="en-US" altLang="ko-KR" sz="8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(P94</a:t>
                      </a:r>
                      <a:r>
                        <a:rPr lang="en-US" altLang="ko-KR" sz="8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:</a:t>
                      </a:r>
                      <a:r>
                        <a:rPr lang="ko-KR" altLang="en-US" sz="8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이미선</a:t>
                      </a:r>
                      <a:r>
                        <a:rPr lang="en-US" altLang="ko-KR" sz="8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85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69" name="표 68"/>
          <p:cNvGraphicFramePr>
            <a:graphicFrameLocks noGrp="1"/>
          </p:cNvGraphicFramePr>
          <p:nvPr>
            <p:extLst/>
          </p:nvPr>
        </p:nvGraphicFramePr>
        <p:xfrm>
          <a:off x="7207250" y="662793"/>
          <a:ext cx="2606675" cy="552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부점별 법적 서류 교부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폐기 현황 조회용 화면이다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 조건을 아래와 같이한다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부점별 또는 전체부서 조회 가능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조회기준일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현재 일자 고정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조회구분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교부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일반폐기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 결과는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 기준의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부점별 법적 서류 보유현황 상세내역을 표기한다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경영정보시스템 데이터 연계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en-US" altLang="ko-KR" sz="800" u="sng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※ </a:t>
                      </a:r>
                      <a:r>
                        <a:rPr lang="ko-KR" altLang="en-US" sz="800" u="sng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조회기준은 담당자 최종 확인 필요하다</a:t>
                      </a:r>
                      <a:r>
                        <a:rPr lang="en-US" altLang="ko-KR" sz="800" u="sng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 정보는 아래와 같다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테이블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TSMAJLE51(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법적서류원장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컬럼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인감서류구분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인감서류번호 등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해당 테이블 생성 및 배치프로그램 개발 예정</a:t>
                      </a:r>
                      <a:endParaRPr lang="ko-KR" altLang="en-US" sz="800" dirty="0">
                        <a:solidFill>
                          <a:srgbClr val="2272F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57225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8846583"/>
                  </a:ext>
                </a:extLst>
              </a:tr>
            </a:tbl>
          </a:graphicData>
        </a:graphic>
      </p:graphicFrame>
      <p:graphicFrame>
        <p:nvGraphicFramePr>
          <p:cNvPr id="86" name="표 85"/>
          <p:cNvGraphicFramePr>
            <a:graphicFrameLocks noGrp="1"/>
          </p:cNvGraphicFramePr>
          <p:nvPr>
            <p:extLst/>
          </p:nvPr>
        </p:nvGraphicFramePr>
        <p:xfrm>
          <a:off x="270527" y="1878881"/>
          <a:ext cx="6726394" cy="1167248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635153">
                  <a:extLst>
                    <a:ext uri="{9D8B030D-6E8A-4147-A177-3AD203B41FA5}">
                      <a16:colId xmlns:a16="http://schemas.microsoft.com/office/drawing/2014/main" val="3624654645"/>
                    </a:ext>
                  </a:extLst>
                </a:gridCol>
                <a:gridCol w="687535">
                  <a:extLst>
                    <a:ext uri="{9D8B030D-6E8A-4147-A177-3AD203B41FA5}">
                      <a16:colId xmlns:a16="http://schemas.microsoft.com/office/drawing/2014/main" val="2871289063"/>
                    </a:ext>
                  </a:extLst>
                </a:gridCol>
                <a:gridCol w="936358">
                  <a:extLst>
                    <a:ext uri="{9D8B030D-6E8A-4147-A177-3AD203B41FA5}">
                      <a16:colId xmlns:a16="http://schemas.microsoft.com/office/drawing/2014/main" val="1626178617"/>
                    </a:ext>
                  </a:extLst>
                </a:gridCol>
                <a:gridCol w="936358">
                  <a:extLst>
                    <a:ext uri="{9D8B030D-6E8A-4147-A177-3AD203B41FA5}">
                      <a16:colId xmlns:a16="http://schemas.microsoft.com/office/drawing/2014/main" val="808142443"/>
                    </a:ext>
                  </a:extLst>
                </a:gridCol>
                <a:gridCol w="687535">
                  <a:extLst>
                    <a:ext uri="{9D8B030D-6E8A-4147-A177-3AD203B41FA5}">
                      <a16:colId xmlns:a16="http://schemas.microsoft.com/office/drawing/2014/main" val="3686710118"/>
                    </a:ext>
                  </a:extLst>
                </a:gridCol>
                <a:gridCol w="862630">
                  <a:extLst>
                    <a:ext uri="{9D8B030D-6E8A-4147-A177-3AD203B41FA5}">
                      <a16:colId xmlns:a16="http://schemas.microsoft.com/office/drawing/2014/main" val="2538171718"/>
                    </a:ext>
                  </a:extLst>
                </a:gridCol>
                <a:gridCol w="762903">
                  <a:extLst>
                    <a:ext uri="{9D8B030D-6E8A-4147-A177-3AD203B41FA5}">
                      <a16:colId xmlns:a16="http://schemas.microsoft.com/office/drawing/2014/main" val="931071289"/>
                    </a:ext>
                  </a:extLst>
                </a:gridCol>
                <a:gridCol w="608961">
                  <a:extLst>
                    <a:ext uri="{9D8B030D-6E8A-4147-A177-3AD203B41FA5}">
                      <a16:colId xmlns:a16="http://schemas.microsoft.com/office/drawing/2014/main" val="3130633624"/>
                    </a:ext>
                  </a:extLst>
                </a:gridCol>
                <a:gridCol w="608961">
                  <a:extLst>
                    <a:ext uri="{9D8B030D-6E8A-4147-A177-3AD203B41FA5}">
                      <a16:colId xmlns:a16="http://schemas.microsoft.com/office/drawing/2014/main" val="407474371"/>
                    </a:ext>
                  </a:extLst>
                </a:gridCol>
              </a:tblGrid>
              <a:tr h="14590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부점코드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부점명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원장일련번호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법적서류구분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등록일자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유효기간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법적서류상태구분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승인여부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처리일자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7035972"/>
                  </a:ext>
                </a:extLst>
              </a:tr>
              <a:tr h="145906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0003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WM</a:t>
                      </a:r>
                      <a:r>
                        <a:rPr lang="ko-KR" altLang="en-US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기획부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202311041000443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법인인감증명서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20230103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20230403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교부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20230113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3125279"/>
                  </a:ext>
                </a:extLst>
              </a:tr>
              <a:tr h="145906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0003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WM</a:t>
                      </a:r>
                      <a:r>
                        <a:rPr lang="ko-KR" altLang="en-US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기획부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202311041006728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법인인감증명서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20230428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20230728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교부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20230504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0507909"/>
                  </a:ext>
                </a:extLst>
              </a:tr>
              <a:tr h="145906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0003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WM</a:t>
                      </a:r>
                      <a:r>
                        <a:rPr lang="ko-KR" altLang="en-US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기획부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202311042006728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지배인인감확인서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20230504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20230804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교부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20230504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4951374"/>
                  </a:ext>
                </a:extLst>
              </a:tr>
              <a:tr h="145906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0011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비서부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202211041002430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법인인감증명서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20220120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20221107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교부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20221107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6729722"/>
                  </a:ext>
                </a:extLst>
              </a:tr>
              <a:tr h="145906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0011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비서부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202311041003831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법인인감증명서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20230307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20230607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교부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20230317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4386251"/>
                  </a:ext>
                </a:extLst>
              </a:tr>
              <a:tr h="145906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1104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총무부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202311041010796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법인인감증명서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20230710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20231010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일반폐기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20230725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7368002"/>
                  </a:ext>
                </a:extLst>
              </a:tr>
              <a:tr h="145906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239" marR="6239" marT="62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5036972"/>
                  </a:ext>
                </a:extLst>
              </a:tr>
            </a:tbl>
          </a:graphicData>
        </a:graphic>
      </p:graphicFrame>
      <p:sp>
        <p:nvSpPr>
          <p:cNvPr id="87" name="양쪽 모서리가 둥근 사각형 86"/>
          <p:cNvSpPr/>
          <p:nvPr/>
        </p:nvSpPr>
        <p:spPr bwMode="auto">
          <a:xfrm>
            <a:off x="289425" y="1171102"/>
            <a:ext cx="12988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 spc="-1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부점별 법적서류 교부</a:t>
            </a:r>
            <a:r>
              <a:rPr lang="en-US" altLang="ko-KR" sz="800" spc="-1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/</a:t>
            </a:r>
            <a:r>
              <a:rPr lang="ko-KR" altLang="en-US" sz="800" spc="-1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폐기 현황</a:t>
            </a:r>
            <a:endParaRPr kumimoji="0" lang="ko-KR" altLang="en-US" sz="800" spc="-1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8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89426" y="137346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89" name="내용 개체 틀 121"/>
          <p:cNvGraphicFramePr>
            <a:graphicFrameLocks/>
          </p:cNvGraphicFramePr>
          <p:nvPr>
            <p:extLst/>
          </p:nvPr>
        </p:nvGraphicFramePr>
        <p:xfrm>
          <a:off x="282922" y="1458795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16793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527050">
                  <a:extLst>
                    <a:ext uri="{9D8B030D-6E8A-4147-A177-3AD203B41FA5}">
                      <a16:colId xmlns:a16="http://schemas.microsoft.com/office/drawing/2014/main" val="3089572302"/>
                    </a:ext>
                  </a:extLst>
                </a:gridCol>
                <a:gridCol w="946150">
                  <a:extLst>
                    <a:ext uri="{9D8B030D-6E8A-4147-A177-3AD203B41FA5}">
                      <a16:colId xmlns:a16="http://schemas.microsoft.com/office/drawing/2014/main" val="566354469"/>
                    </a:ext>
                  </a:extLst>
                </a:gridCol>
                <a:gridCol w="552450">
                  <a:extLst>
                    <a:ext uri="{9D8B030D-6E8A-4147-A177-3AD203B41FA5}">
                      <a16:colId xmlns:a16="http://schemas.microsoft.com/office/drawing/2014/main" val="3613786125"/>
                    </a:ext>
                  </a:extLst>
                </a:gridCol>
                <a:gridCol w="2595263">
                  <a:extLst>
                    <a:ext uri="{9D8B030D-6E8A-4147-A177-3AD203B41FA5}">
                      <a16:colId xmlns:a16="http://schemas.microsoft.com/office/drawing/2014/main" val="2343557175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부서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kumimoji="0" lang="ko-KR" altLang="en-US" sz="700" i="0" u="none" strike="noStrike" kern="1200" cap="none" spc="-100" normalizeH="0" baseline="0" noProof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조회기준일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조회구분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9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21893" y="1503837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66934" y="1510665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679323" y="1510699"/>
            <a:ext cx="625584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93" name="그림 92"/>
          <p:cNvPicPr>
            <a:picLocks noChangeAspect="1"/>
          </p:cNvPicPr>
          <p:nvPr/>
        </p:nvPicPr>
        <p:blipFill rotWithShape="1">
          <a:blip r:embed="rId2"/>
          <a:srcRect r="73540"/>
          <a:stretch/>
        </p:blipFill>
        <p:spPr>
          <a:xfrm>
            <a:off x="1692023" y="1527221"/>
            <a:ext cx="183595" cy="164228"/>
          </a:xfrm>
          <a:prstGeom prst="rect">
            <a:avLst/>
          </a:prstGeom>
        </p:spPr>
      </p:pic>
      <p:sp>
        <p:nvSpPr>
          <p:cNvPr id="9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206003" y="1503594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엑셀출력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970359" y="1508975"/>
            <a:ext cx="821497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2024-04-04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96" name="그림 9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10759" y="1512815"/>
            <a:ext cx="181098" cy="173224"/>
          </a:xfrm>
          <a:prstGeom prst="rect">
            <a:avLst/>
          </a:prstGeom>
        </p:spPr>
      </p:pic>
      <p:sp>
        <p:nvSpPr>
          <p:cNvPr id="97" name="직사각형 96"/>
          <p:cNvSpPr/>
          <p:nvPr/>
        </p:nvSpPr>
        <p:spPr bwMode="auto">
          <a:xfrm>
            <a:off x="270527" y="1455458"/>
            <a:ext cx="5900178" cy="292550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50225" y="137552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9" name="타원 9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58538" y="179108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00" name="표 99"/>
          <p:cNvGraphicFramePr>
            <a:graphicFrameLocks noGrp="1"/>
          </p:cNvGraphicFramePr>
          <p:nvPr>
            <p:extLst/>
          </p:nvPr>
        </p:nvGraphicFramePr>
        <p:xfrm>
          <a:off x="270527" y="3559483"/>
          <a:ext cx="6726395" cy="905304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345279">
                  <a:extLst>
                    <a:ext uri="{9D8B030D-6E8A-4147-A177-3AD203B41FA5}">
                      <a16:colId xmlns:a16="http://schemas.microsoft.com/office/drawing/2014/main" val="4259443528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2119051089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2532418022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2848667511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3024964874"/>
                    </a:ext>
                  </a:extLst>
                </a:gridCol>
              </a:tblGrid>
              <a:tr h="2304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조회정보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연계시스템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연계테이블</a:t>
                      </a:r>
                      <a:endParaRPr lang="en-US" altLang="ko-KR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연계정보</a:t>
                      </a:r>
                      <a:endParaRPr lang="en-US" altLang="ko-KR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연계정보</a:t>
                      </a: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541704"/>
                  </a:ext>
                </a:extLst>
              </a:tr>
              <a:tr h="674904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법적서류정보 관련 내용</a:t>
                      </a:r>
                      <a:endParaRPr lang="en-US" altLang="ko-KR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경영정보</a:t>
                      </a: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</a:t>
                      </a: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종합물자관리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TSMAJLE51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부점코드</a:t>
                      </a:r>
                      <a:endParaRPr lang="en-US" altLang="ko-KR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인감서류구분</a:t>
                      </a:r>
                      <a:endParaRPr lang="en-US" altLang="ko-KR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인감서류번호</a:t>
                      </a:r>
                      <a:endParaRPr lang="en-US" altLang="ko-KR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인감서류상태구분</a:t>
                      </a:r>
                      <a:endParaRPr lang="en-US" altLang="ko-KR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등록년월일</a:t>
                      </a:r>
                      <a:endParaRPr lang="en-US" altLang="ko-KR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유효기간년월일</a:t>
                      </a:r>
                      <a:endParaRPr lang="en-US" altLang="ko-KR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승인여부</a:t>
                      </a:r>
                      <a:endParaRPr lang="en-US" altLang="ko-KR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시스템최종처리일시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4588187"/>
                  </a:ext>
                </a:extLst>
              </a:tr>
            </a:tbl>
          </a:graphicData>
        </a:graphic>
      </p:graphicFrame>
      <p:sp>
        <p:nvSpPr>
          <p:cNvPr id="101" name="타원 10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69150" y="334535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457308" y="1505124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03" name="이등변 삼각형 102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5036676" y="1585946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04" name="TextBox 103"/>
          <p:cNvSpPr txBox="1"/>
          <p:nvPr/>
        </p:nvSpPr>
        <p:spPr>
          <a:xfrm>
            <a:off x="5103275" y="1507522"/>
            <a:ext cx="730250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lang="ko-KR" altLang="en-US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교부</a:t>
            </a:r>
            <a:r>
              <a:rPr lang="en-US" altLang="ko-KR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/</a:t>
            </a:r>
            <a:r>
              <a:rPr lang="ko-KR" altLang="en-US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일반폐기</a:t>
            </a:r>
            <a:r>
              <a:rPr lang="en-US" altLang="ko-KR" sz="7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endParaRPr lang="ko-KR" altLang="en-US" sz="700" dirty="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05" name="타원 10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52943" y="99906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54001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MDD-00037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MDD72MM8000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인장날인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사무분담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지정현황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디지털 내부통제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내부통제 현황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인장날인 점검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인장날인 </a:t>
                      </a:r>
                      <a:r>
                        <a:rPr lang="ko-KR" altLang="en-US" sz="9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사무분담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지정현황</a:t>
                      </a:r>
                      <a:r>
                        <a:rPr lang="en-US" altLang="ko-KR" sz="9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(P95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: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최진용</a:t>
                      </a:r>
                      <a:r>
                        <a:rPr lang="en-US" altLang="ko-KR" sz="9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9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69" name="표 68"/>
          <p:cNvGraphicFramePr>
            <a:graphicFrameLocks noGrp="1"/>
          </p:cNvGraphicFramePr>
          <p:nvPr>
            <p:extLst/>
          </p:nvPr>
        </p:nvGraphicFramePr>
        <p:xfrm>
          <a:off x="7207250" y="662793"/>
          <a:ext cx="2606675" cy="56042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인장 날인 사무 분담 지정 현황 조회용 화면이다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참고 화면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영업점감사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임점감사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부점현황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부점사무분담내역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]: MDD72R90000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 조건을 아래와 같이한다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부점별 또는 전체부서 조회 가능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조회기준일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현재일자 고정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 결과는 부점별 직원 사무분담내용에 ‘인장관리’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인장입회’가 포함된 직원을 표시한다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부서별 등록 현황에 따라 표시정보 중복 가능하다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참고 화면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부점사무분담내역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]: MDD72R90000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en-US" altLang="ko-KR" sz="800" u="sng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※ </a:t>
                      </a:r>
                      <a:r>
                        <a:rPr lang="ko-KR" altLang="en-US" sz="800" u="sng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조회기준은 담당자 최종 확인 필요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 정보는 아래와 같다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테이블 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TSMDDC107(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인사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직원사무분담현황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컬럼 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사무분담코드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직급 코드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572254"/>
                  </a:ext>
                </a:extLst>
              </a:tr>
            </a:tbl>
          </a:graphicData>
        </a:graphic>
      </p:graphicFrame>
      <p:sp>
        <p:nvSpPr>
          <p:cNvPr id="27" name="양쪽 모서리가 둥근 사각형 26"/>
          <p:cNvSpPr/>
          <p:nvPr/>
        </p:nvSpPr>
        <p:spPr bwMode="auto">
          <a:xfrm>
            <a:off x="297739" y="1179414"/>
            <a:ext cx="12988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인장날인 </a:t>
            </a:r>
            <a:r>
              <a:rPr lang="ko-KR" altLang="en-US" sz="8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사무분담 지정현황</a:t>
            </a:r>
            <a:endParaRPr kumimoji="0" lang="ko-KR" altLang="en-US" sz="8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8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97740" y="1365149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30" name="내용 개체 틀 121"/>
          <p:cNvGraphicFramePr>
            <a:graphicFrameLocks/>
          </p:cNvGraphicFramePr>
          <p:nvPr>
            <p:extLst/>
          </p:nvPr>
        </p:nvGraphicFramePr>
        <p:xfrm>
          <a:off x="291236" y="1450481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86643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1035050">
                  <a:extLst>
                    <a:ext uri="{9D8B030D-6E8A-4147-A177-3AD203B41FA5}">
                      <a16:colId xmlns:a16="http://schemas.microsoft.com/office/drawing/2014/main" val="3089572302"/>
                    </a:ext>
                  </a:extLst>
                </a:gridCol>
                <a:gridCol w="2887363">
                  <a:extLst>
                    <a:ext uri="{9D8B030D-6E8A-4147-A177-3AD203B41FA5}">
                      <a16:colId xmlns:a16="http://schemas.microsoft.com/office/drawing/2014/main" val="566354469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부서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kumimoji="0" lang="ko-KR" altLang="en-US" sz="700" i="0" u="none" strike="noStrike" kern="1200" cap="none" spc="-100" normalizeH="0" baseline="0" noProof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조회기준일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3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30207" y="1487210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75248" y="1494038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687637" y="1494072"/>
            <a:ext cx="1217354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35" name="그림 34"/>
          <p:cNvPicPr>
            <a:picLocks noChangeAspect="1"/>
          </p:cNvPicPr>
          <p:nvPr/>
        </p:nvPicPr>
        <p:blipFill rotWithShape="1">
          <a:blip r:embed="rId2"/>
          <a:srcRect r="73540"/>
          <a:stretch/>
        </p:blipFill>
        <p:spPr>
          <a:xfrm>
            <a:off x="1700337" y="1510594"/>
            <a:ext cx="183595" cy="164228"/>
          </a:xfrm>
          <a:prstGeom prst="rect">
            <a:avLst/>
          </a:prstGeom>
        </p:spPr>
      </p:pic>
      <p:sp>
        <p:nvSpPr>
          <p:cNvPr id="3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214317" y="1486967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엑셀출력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58922" y="1491655"/>
            <a:ext cx="821497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2024-04-04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38" name="그림 3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99322" y="1495495"/>
            <a:ext cx="181098" cy="173224"/>
          </a:xfrm>
          <a:prstGeom prst="rect">
            <a:avLst/>
          </a:prstGeom>
        </p:spPr>
      </p:pic>
      <p:sp>
        <p:nvSpPr>
          <p:cNvPr id="39" name="타원 3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45589" y="100506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40" name="표 39"/>
          <p:cNvGraphicFramePr>
            <a:graphicFrameLocks noGrp="1"/>
          </p:cNvGraphicFramePr>
          <p:nvPr>
            <p:extLst/>
          </p:nvPr>
        </p:nvGraphicFramePr>
        <p:xfrm>
          <a:off x="297738" y="1813816"/>
          <a:ext cx="6726394" cy="689262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633288">
                  <a:extLst>
                    <a:ext uri="{9D8B030D-6E8A-4147-A177-3AD203B41FA5}">
                      <a16:colId xmlns:a16="http://schemas.microsoft.com/office/drawing/2014/main" val="4259443528"/>
                    </a:ext>
                  </a:extLst>
                </a:gridCol>
                <a:gridCol w="814647">
                  <a:extLst>
                    <a:ext uri="{9D8B030D-6E8A-4147-A177-3AD203B41FA5}">
                      <a16:colId xmlns:a16="http://schemas.microsoft.com/office/drawing/2014/main" val="2119051089"/>
                    </a:ext>
                  </a:extLst>
                </a:gridCol>
                <a:gridCol w="1332807">
                  <a:extLst>
                    <a:ext uri="{9D8B030D-6E8A-4147-A177-3AD203B41FA5}">
                      <a16:colId xmlns:a16="http://schemas.microsoft.com/office/drawing/2014/main" val="2532418022"/>
                    </a:ext>
                  </a:extLst>
                </a:gridCol>
                <a:gridCol w="1332807">
                  <a:extLst>
                    <a:ext uri="{9D8B030D-6E8A-4147-A177-3AD203B41FA5}">
                      <a16:colId xmlns:a16="http://schemas.microsoft.com/office/drawing/2014/main" val="2848667511"/>
                    </a:ext>
                  </a:extLst>
                </a:gridCol>
                <a:gridCol w="1332807">
                  <a:extLst>
                    <a:ext uri="{9D8B030D-6E8A-4147-A177-3AD203B41FA5}">
                      <a16:colId xmlns:a16="http://schemas.microsoft.com/office/drawing/2014/main" val="3024964874"/>
                    </a:ext>
                  </a:extLst>
                </a:gridCol>
                <a:gridCol w="1280038">
                  <a:extLst>
                    <a:ext uri="{9D8B030D-6E8A-4147-A177-3AD203B41FA5}">
                      <a16:colId xmlns:a16="http://schemas.microsoft.com/office/drawing/2014/main" val="1163858163"/>
                    </a:ext>
                  </a:extLst>
                </a:gridCol>
              </a:tblGrid>
              <a:tr h="2297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부점코드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부점한글명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인장관리자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(L2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이상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인장날인입회자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1(L2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이상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인장날인입회자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2(L2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이상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비 고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541704"/>
                  </a:ext>
                </a:extLst>
              </a:tr>
              <a:tr h="22975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0003</a:t>
                      </a:r>
                      <a:endParaRPr lang="en-US" altLang="ko-KR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WM</a:t>
                      </a:r>
                      <a:r>
                        <a:rPr lang="ko-KR" altLang="en-US" sz="9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기획부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[2345123]</a:t>
                      </a:r>
                      <a:r>
                        <a:rPr lang="en-US" altLang="ko-KR" sz="9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9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r>
                        <a:rPr lang="ko-KR" altLang="en-US" sz="9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[3421665] </a:t>
                      </a:r>
                      <a:r>
                        <a:rPr lang="ko-KR" altLang="en-US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김대리</a:t>
                      </a:r>
                      <a:endParaRPr lang="ko-KR" altLang="en-US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[3512345] </a:t>
                      </a:r>
                      <a:r>
                        <a:rPr lang="ko-KR" altLang="en-US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박기획</a:t>
                      </a:r>
                      <a:endParaRPr lang="ko-KR" altLang="en-US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4588187"/>
                  </a:ext>
                </a:extLst>
              </a:tr>
              <a:tr h="229754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0503</a:t>
                      </a:r>
                      <a:endParaRPr lang="en-US" altLang="ko-KR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재무기획부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[1456786]</a:t>
                      </a:r>
                      <a:r>
                        <a:rPr lang="en-US" altLang="ko-KR" sz="9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9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박과장</a:t>
                      </a:r>
                      <a:endParaRPr lang="ko-KR" altLang="en-US" sz="9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[3325533]</a:t>
                      </a:r>
                      <a:r>
                        <a:rPr lang="en-US" altLang="ko-KR" sz="9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9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이순신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[3325533]</a:t>
                      </a:r>
                      <a:r>
                        <a:rPr lang="en-US" altLang="ko-KR" sz="9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9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이순신</a:t>
                      </a:r>
                      <a:endParaRPr lang="ko-KR" altLang="en-US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입회자 복수지정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0130473"/>
                  </a:ext>
                </a:extLst>
              </a:tr>
            </a:tbl>
          </a:graphicData>
        </a:graphic>
      </p:graphicFrame>
      <p:sp>
        <p:nvSpPr>
          <p:cNvPr id="41" name="직사각형 40"/>
          <p:cNvSpPr/>
          <p:nvPr/>
        </p:nvSpPr>
        <p:spPr bwMode="auto">
          <a:xfrm>
            <a:off x="278841" y="1438831"/>
            <a:ext cx="5900178" cy="292550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50226" y="137552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50226" y="177445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44" name="표 43"/>
          <p:cNvGraphicFramePr>
            <a:graphicFrameLocks noGrp="1"/>
          </p:cNvGraphicFramePr>
          <p:nvPr>
            <p:extLst/>
          </p:nvPr>
        </p:nvGraphicFramePr>
        <p:xfrm>
          <a:off x="278841" y="3163240"/>
          <a:ext cx="6726395" cy="689262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345279">
                  <a:extLst>
                    <a:ext uri="{9D8B030D-6E8A-4147-A177-3AD203B41FA5}">
                      <a16:colId xmlns:a16="http://schemas.microsoft.com/office/drawing/2014/main" val="4259443528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2119051089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2532418022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2848667511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3024964874"/>
                    </a:ext>
                  </a:extLst>
                </a:gridCol>
              </a:tblGrid>
              <a:tr h="2297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조회정보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연계시스템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연계테이블</a:t>
                      </a:r>
                      <a:endParaRPr lang="en-US" altLang="ko-KR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연계정보</a:t>
                      </a:r>
                      <a:endParaRPr lang="en-US" altLang="ko-KR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연계정보</a:t>
                      </a: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541704"/>
                  </a:ext>
                </a:extLst>
              </a:tr>
              <a:tr h="229754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법적서류업무담당</a:t>
                      </a: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(L0)</a:t>
                      </a:r>
                      <a:endParaRPr lang="en-US" altLang="ko-KR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감사정보시스템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TSMDDC107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사무분담코드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직급코드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4588187"/>
                  </a:ext>
                </a:extLst>
              </a:tr>
              <a:tr h="229754"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법적서류관리담당</a:t>
                      </a: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(L2)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감사정보시스템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TSMDDC107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사무분담코드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직급코드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0130473"/>
                  </a:ext>
                </a:extLst>
              </a:tr>
            </a:tbl>
          </a:graphicData>
        </a:graphic>
      </p:graphicFrame>
      <p:sp>
        <p:nvSpPr>
          <p:cNvPr id="45" name="TextBox 44">
            <a:extLst>
              <a:ext uri="{FF2B5EF4-FFF2-40B4-BE49-F238E27FC236}">
                <a16:creationId xmlns:a16="http://schemas.microsoft.com/office/drawing/2014/main" id="{FC888B5C-484B-582C-1070-BF5ED7268B32}"/>
              </a:ext>
            </a:extLst>
          </p:cNvPr>
          <p:cNvSpPr txBox="1"/>
          <p:nvPr/>
        </p:nvSpPr>
        <p:spPr>
          <a:xfrm>
            <a:off x="237276" y="2899284"/>
            <a:ext cx="1527093" cy="261610"/>
          </a:xfrm>
          <a:prstGeom prst="rect">
            <a:avLst/>
          </a:prstGeom>
          <a:noFill/>
          <a:ln>
            <a:solidFill>
              <a:schemeClr val="lt1">
                <a:alpha val="0"/>
              </a:schemeClr>
            </a:solidFill>
          </a:ln>
        </p:spPr>
        <p:txBody>
          <a:bodyPr wrap="square" rtlCol="0">
            <a:spAutoFit/>
          </a:bodyPr>
          <a:lstStyle/>
          <a:p>
            <a:pPr marL="171450" marR="0" lvl="0" indent="-17145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l"/>
              <a:tabLst/>
              <a:defRPr/>
            </a:pPr>
            <a:r>
              <a:rPr lang="ko-KR" altLang="en-US" sz="1100" dirty="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7555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연계정보 요건정의</a:t>
            </a:r>
            <a:endParaRPr kumimoji="1" lang="ko-KR" altLang="en-US" sz="1100" i="0" u="none" strike="noStrike" kern="1200" cap="none" normalizeH="0" baseline="0" noProof="0" dirty="0">
              <a:ln>
                <a:solidFill>
                  <a:srgbClr val="005EB8">
                    <a:alpha val="0"/>
                  </a:srgbClr>
                </a:solidFill>
              </a:ln>
              <a:solidFill>
                <a:srgbClr val="7555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19029" y="294910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682689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MDD-00038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MDD72MM8100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인장날인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절차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미준수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현황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디지털 내부통제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내부통제 현황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인장날인 점검 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인장날인 절차 </a:t>
                      </a:r>
                      <a:r>
                        <a:rPr lang="ko-KR" altLang="en-US" sz="9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미준수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현황</a:t>
                      </a:r>
                      <a:r>
                        <a:rPr lang="en-US" altLang="ko-KR" sz="9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(P96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: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최진용</a:t>
                      </a:r>
                      <a:r>
                        <a:rPr lang="en-US" altLang="ko-KR" sz="9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9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65" name="타원 6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61256" y="99906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69" name="표 68"/>
          <p:cNvGraphicFramePr>
            <a:graphicFrameLocks noGrp="1"/>
          </p:cNvGraphicFramePr>
          <p:nvPr>
            <p:extLst/>
          </p:nvPr>
        </p:nvGraphicFramePr>
        <p:xfrm>
          <a:off x="7207250" y="662793"/>
          <a:ext cx="2606675" cy="5401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인장 날인 절차 미준수 현황 조회용 화면이다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 조건을 아래와 같이한다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부점별 또는 전체부서 조회 가능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조회기준일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현재일자 고정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 결과 표시 항목은 참고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화면과 동일하다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참고 화면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[(7104)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부점장 인장날인 절차를 미준수한 경우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]: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MDD72R46010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sng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※ </a:t>
                      </a:r>
                      <a:r>
                        <a:rPr lang="ko-KR" altLang="en-US" sz="800" u="sng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조회기준은 담당자 최종 확인 필요하다</a:t>
                      </a:r>
                      <a:r>
                        <a:rPr lang="en-US" altLang="ko-KR" sz="800" u="sng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 정보는 아래와 같다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3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번의 참고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화면과 표시 항목 동일하다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테이블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TSMDDR9B7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57225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8846583"/>
                  </a:ext>
                </a:extLst>
              </a:tr>
            </a:tbl>
          </a:graphicData>
        </a:graphic>
      </p:graphicFrame>
      <p:sp>
        <p:nvSpPr>
          <p:cNvPr id="7" name="양쪽 모서리가 둥근 사각형 6"/>
          <p:cNvSpPr/>
          <p:nvPr/>
        </p:nvSpPr>
        <p:spPr bwMode="auto">
          <a:xfrm>
            <a:off x="280154" y="1191869"/>
            <a:ext cx="12988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인장날인 절차 미준수 현황</a:t>
            </a:r>
            <a:endParaRPr kumimoji="0" lang="ko-KR" altLang="en-US" sz="8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80155" y="1377604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9" name="내용 개체 틀 121"/>
          <p:cNvGraphicFramePr>
            <a:graphicFrameLocks/>
          </p:cNvGraphicFramePr>
          <p:nvPr>
            <p:extLst/>
          </p:nvPr>
        </p:nvGraphicFramePr>
        <p:xfrm>
          <a:off x="273651" y="1462936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86643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1035050">
                  <a:extLst>
                    <a:ext uri="{9D8B030D-6E8A-4147-A177-3AD203B41FA5}">
                      <a16:colId xmlns:a16="http://schemas.microsoft.com/office/drawing/2014/main" val="3089572302"/>
                    </a:ext>
                  </a:extLst>
                </a:gridCol>
                <a:gridCol w="2887363">
                  <a:extLst>
                    <a:ext uri="{9D8B030D-6E8A-4147-A177-3AD203B41FA5}">
                      <a16:colId xmlns:a16="http://schemas.microsoft.com/office/drawing/2014/main" val="566354469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부서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kumimoji="0" lang="ko-KR" altLang="en-US" sz="700" i="0" u="none" strike="noStrike" kern="1200" cap="none" spc="-100" normalizeH="0" baseline="0" noProof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조회기준일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1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12622" y="1499665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57663" y="1506493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670052" y="1506527"/>
            <a:ext cx="1217354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3" name="그림 12"/>
          <p:cNvPicPr>
            <a:picLocks noChangeAspect="1"/>
          </p:cNvPicPr>
          <p:nvPr/>
        </p:nvPicPr>
        <p:blipFill rotWithShape="1">
          <a:blip r:embed="rId2"/>
          <a:srcRect r="73540"/>
          <a:stretch/>
        </p:blipFill>
        <p:spPr>
          <a:xfrm>
            <a:off x="1682752" y="1523049"/>
            <a:ext cx="183595" cy="164228"/>
          </a:xfrm>
          <a:prstGeom prst="rect">
            <a:avLst/>
          </a:prstGeom>
        </p:spPr>
      </p:pic>
      <p:sp>
        <p:nvSpPr>
          <p:cNvPr id="1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96732" y="1499422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엑셀출력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261256" y="1451286"/>
            <a:ext cx="5900178" cy="292550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8" name="표 17"/>
          <p:cNvGraphicFramePr>
            <a:graphicFrameLocks noGrp="1"/>
          </p:cNvGraphicFramePr>
          <p:nvPr>
            <p:extLst/>
          </p:nvPr>
        </p:nvGraphicFramePr>
        <p:xfrm>
          <a:off x="261256" y="3325326"/>
          <a:ext cx="6726395" cy="459508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345279">
                  <a:extLst>
                    <a:ext uri="{9D8B030D-6E8A-4147-A177-3AD203B41FA5}">
                      <a16:colId xmlns:a16="http://schemas.microsoft.com/office/drawing/2014/main" val="4259443528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2119051089"/>
                    </a:ext>
                  </a:extLst>
                </a:gridCol>
                <a:gridCol w="4035837">
                  <a:extLst>
                    <a:ext uri="{9D8B030D-6E8A-4147-A177-3AD203B41FA5}">
                      <a16:colId xmlns:a16="http://schemas.microsoft.com/office/drawing/2014/main" val="2532418022"/>
                    </a:ext>
                  </a:extLst>
                </a:gridCol>
              </a:tblGrid>
              <a:tr h="2297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조회정보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연계시스템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연계화면명 </a:t>
                      </a: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화면번호</a:t>
                      </a: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en-US" altLang="ko-KR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541704"/>
                  </a:ext>
                </a:extLst>
              </a:tr>
              <a:tr h="229754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기존화면 동일</a:t>
                      </a:r>
                      <a:endParaRPr lang="en-US" altLang="ko-KR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감사정보시스템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(7104) </a:t>
                      </a: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부점장 인장날인 절차를 미준수한 경우 </a:t>
                      </a: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(MDD72R46010)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4588187"/>
                  </a:ext>
                </a:extLst>
              </a:tr>
            </a:tbl>
          </a:graphicData>
        </a:graphic>
      </p:graphicFrame>
      <p:sp>
        <p:nvSpPr>
          <p:cNvPr id="19" name="타원 1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68192" y="311119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0" name="표 19"/>
          <p:cNvGraphicFramePr>
            <a:graphicFrameLocks noGrp="1"/>
          </p:cNvGraphicFramePr>
          <p:nvPr>
            <p:extLst/>
          </p:nvPr>
        </p:nvGraphicFramePr>
        <p:xfrm>
          <a:off x="261256" y="1911911"/>
          <a:ext cx="6745294" cy="735728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1834">
                  <a:extLst>
                    <a:ext uri="{9D8B030D-6E8A-4147-A177-3AD203B41FA5}">
                      <a16:colId xmlns:a16="http://schemas.microsoft.com/office/drawing/2014/main" val="4088249685"/>
                    </a:ext>
                  </a:extLst>
                </a:gridCol>
                <a:gridCol w="377282">
                  <a:extLst>
                    <a:ext uri="{9D8B030D-6E8A-4147-A177-3AD203B41FA5}">
                      <a16:colId xmlns:a16="http://schemas.microsoft.com/office/drawing/2014/main" val="3577167271"/>
                    </a:ext>
                  </a:extLst>
                </a:gridCol>
                <a:gridCol w="422327">
                  <a:extLst>
                    <a:ext uri="{9D8B030D-6E8A-4147-A177-3AD203B41FA5}">
                      <a16:colId xmlns:a16="http://schemas.microsoft.com/office/drawing/2014/main" val="2079842580"/>
                    </a:ext>
                  </a:extLst>
                </a:gridCol>
                <a:gridCol w="525087">
                  <a:extLst>
                    <a:ext uri="{9D8B030D-6E8A-4147-A177-3AD203B41FA5}">
                      <a16:colId xmlns:a16="http://schemas.microsoft.com/office/drawing/2014/main" val="2517212825"/>
                    </a:ext>
                  </a:extLst>
                </a:gridCol>
                <a:gridCol w="425450">
                  <a:extLst>
                    <a:ext uri="{9D8B030D-6E8A-4147-A177-3AD203B41FA5}">
                      <a16:colId xmlns:a16="http://schemas.microsoft.com/office/drawing/2014/main" val="1595113134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996514816"/>
                    </a:ext>
                  </a:extLst>
                </a:gridCol>
                <a:gridCol w="539750">
                  <a:extLst>
                    <a:ext uri="{9D8B030D-6E8A-4147-A177-3AD203B41FA5}">
                      <a16:colId xmlns:a16="http://schemas.microsoft.com/office/drawing/2014/main" val="2159994426"/>
                    </a:ext>
                  </a:extLst>
                </a:gridCol>
                <a:gridCol w="571500">
                  <a:extLst>
                    <a:ext uri="{9D8B030D-6E8A-4147-A177-3AD203B41FA5}">
                      <a16:colId xmlns:a16="http://schemas.microsoft.com/office/drawing/2014/main" val="3256655886"/>
                    </a:ext>
                  </a:extLst>
                </a:gridCol>
                <a:gridCol w="1447800">
                  <a:extLst>
                    <a:ext uri="{9D8B030D-6E8A-4147-A177-3AD203B41FA5}">
                      <a16:colId xmlns:a16="http://schemas.microsoft.com/office/drawing/2014/main" val="2546665452"/>
                    </a:ext>
                  </a:extLst>
                </a:gridCol>
                <a:gridCol w="406400">
                  <a:extLst>
                    <a:ext uri="{9D8B030D-6E8A-4147-A177-3AD203B41FA5}">
                      <a16:colId xmlns:a16="http://schemas.microsoft.com/office/drawing/2014/main" val="4062909239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71759444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784898745"/>
                    </a:ext>
                  </a:extLst>
                </a:gridCol>
                <a:gridCol w="518964">
                  <a:extLst>
                    <a:ext uri="{9D8B030D-6E8A-4147-A177-3AD203B41FA5}">
                      <a16:colId xmlns:a16="http://schemas.microsoft.com/office/drawing/2014/main" val="1725374421"/>
                    </a:ext>
                  </a:extLst>
                </a:gridCol>
              </a:tblGrid>
              <a:tr h="1091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순번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인장고유번호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인장명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날인신청번호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신청부점코드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신청부점명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신청직원정보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신청년월일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신청내용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승인직원정보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승인년월일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입회직원정보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입회년월일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4170779"/>
                  </a:ext>
                </a:extLst>
              </a:tr>
              <a:tr h="1566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0000902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총무부장인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00021870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1104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총무부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123456 </a:t>
                      </a:r>
                      <a:r>
                        <a:rPr lang="ko-KR" altLang="en-US" sz="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</a:t>
                      </a:r>
                      <a:r>
                        <a:rPr lang="en-US" altLang="ko-KR" sz="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2023-05-02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인증사업부</a:t>
                      </a:r>
                      <a:r>
                        <a:rPr lang="en-US" altLang="ko-KR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(P)</a:t>
                      </a:r>
                      <a:r>
                        <a:rPr lang="ko-KR" altLang="en-US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외 </a:t>
                      </a:r>
                      <a:r>
                        <a:rPr lang="en-US" altLang="ko-KR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 </a:t>
                      </a:r>
                      <a:r>
                        <a:rPr lang="ko-KR" altLang="en-US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쏘나타 </a:t>
                      </a:r>
                      <a:r>
                        <a:rPr lang="en-US" altLang="ko-KR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r>
                        <a:rPr lang="ko-KR" altLang="en-US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박</a:t>
                      </a:r>
                      <a:r>
                        <a:rPr lang="en-US" altLang="ko-KR" sz="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2023-05-03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</a:t>
                      </a:r>
                      <a:r>
                        <a:rPr lang="en-US" altLang="ko-KR" sz="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2023-05-02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2459977"/>
                  </a:ext>
                </a:extLst>
              </a:tr>
              <a:tr h="1566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 dirty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0000902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총무부장인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00022217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1104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총무부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123456 </a:t>
                      </a:r>
                      <a:r>
                        <a:rPr lang="ko-KR" altLang="en-US" sz="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</a:t>
                      </a:r>
                      <a:r>
                        <a:rPr lang="en-US" altLang="ko-KR" sz="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2023-09-19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은행존 클라우드 </a:t>
                      </a:r>
                      <a:r>
                        <a:rPr lang="en-US" altLang="ko-KR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SAN </a:t>
                      </a:r>
                      <a:r>
                        <a:rPr lang="ko-KR" altLang="en-US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스토리지 구매 경쟁입찰 참가요청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박</a:t>
                      </a:r>
                      <a:r>
                        <a:rPr lang="en-US" altLang="ko-KR" sz="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2023-09-20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</a:t>
                      </a:r>
                      <a:r>
                        <a:rPr lang="en-US" altLang="ko-KR" sz="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2023-09-19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4690655"/>
                  </a:ext>
                </a:extLst>
              </a:tr>
              <a:tr h="1566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 dirty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0000902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총무부장인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00022218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1104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총무부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123456 </a:t>
                      </a:r>
                      <a:r>
                        <a:rPr lang="ko-KR" altLang="en-US" sz="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</a:t>
                      </a:r>
                      <a:r>
                        <a:rPr lang="en-US" altLang="ko-KR" sz="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2023-09-19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은행존 클라우드 </a:t>
                      </a:r>
                      <a:r>
                        <a:rPr lang="en-US" altLang="ko-KR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NAS </a:t>
                      </a:r>
                      <a:r>
                        <a:rPr lang="ko-KR" altLang="en-US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스토리지 구매 경쟁입찰 참가요청</a:t>
                      </a:r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박</a:t>
                      </a:r>
                      <a:r>
                        <a:rPr lang="en-US" altLang="ko-KR" sz="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2023-09-20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</a:t>
                      </a:r>
                      <a:r>
                        <a:rPr lang="en-US" altLang="ko-KR" sz="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2023-09-19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2242175"/>
                  </a:ext>
                </a:extLst>
              </a:tr>
              <a:tr h="1566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5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47" marR="4747" marT="474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9148802"/>
                  </a:ext>
                </a:extLst>
              </a:tr>
            </a:tbl>
          </a:graphicData>
        </a:graphic>
      </p:graphicFrame>
      <p:sp>
        <p:nvSpPr>
          <p:cNvPr id="21" name="TextBox 20"/>
          <p:cNvSpPr txBox="1"/>
          <p:nvPr/>
        </p:nvSpPr>
        <p:spPr>
          <a:xfrm>
            <a:off x="261256" y="3845518"/>
            <a:ext cx="529443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※ </a:t>
            </a:r>
            <a:r>
              <a:rPr lang="ko-KR" altLang="en-US" sz="10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기존화면 추출 내역 검증 필요 </a:t>
            </a:r>
            <a:r>
              <a:rPr lang="en-US" altLang="ko-KR" sz="10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</a:t>
            </a:r>
            <a:r>
              <a:rPr lang="ko-KR" altLang="en-US" sz="10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인장 날인일과 승인일이 불일치한 </a:t>
            </a:r>
            <a:r>
              <a:rPr lang="ko-KR" altLang="en-US" sz="10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경우 </a:t>
            </a:r>
            <a:r>
              <a:rPr lang="ko-KR" altLang="en-US" sz="10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리스트 추출되는지 확인</a:t>
            </a: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51419" y="136637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61256" y="180729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55331" y="1515874"/>
            <a:ext cx="821497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2024-04-04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38" name="그림 3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95731" y="1519714"/>
            <a:ext cx="181098" cy="1732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375296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MDD-00039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MDD72MM9000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en-US" altLang="ko-KR" sz="12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중요인장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날인명세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담보용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9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9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디지털 내부통제 </a:t>
                      </a:r>
                      <a:r>
                        <a:rPr lang="en-US" altLang="ko-KR" sz="9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내부통제 현황 </a:t>
                      </a:r>
                      <a:r>
                        <a:rPr lang="en-US" altLang="ko-KR" sz="9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인장날인 점검 </a:t>
                      </a:r>
                      <a:r>
                        <a:rPr lang="en-US" altLang="ko-KR" sz="9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9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중요인장 날인명세</a:t>
                      </a:r>
                      <a:r>
                        <a:rPr lang="en-US" altLang="ko-KR" sz="9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kern="120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담보용</a:t>
                      </a:r>
                      <a:r>
                        <a:rPr lang="en-US" altLang="ko-KR" sz="9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r>
                        <a:rPr lang="en-US" altLang="ko-KR" sz="9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(P97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: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최진용</a:t>
                      </a:r>
                      <a:r>
                        <a:rPr lang="en-US" altLang="ko-KR" sz="9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9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65" name="타원 6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61256" y="99906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69" name="표 68"/>
          <p:cNvGraphicFramePr>
            <a:graphicFrameLocks noGrp="1"/>
          </p:cNvGraphicFramePr>
          <p:nvPr>
            <p:extLst/>
          </p:nvPr>
        </p:nvGraphicFramePr>
        <p:xfrm>
          <a:off x="7207250" y="662793"/>
          <a:ext cx="2606675" cy="5401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중요 인장 날인 명세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담보용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조회용 화면이다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 조건을 아래와 같이한다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부점별 또는 전체부서 조회 가능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조회기준일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현재일자 고정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 결과 표시 항목은 참고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화면과 동일하다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참고 화면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[(9654)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중요인장 날인명세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담보용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)]: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MDD72R69012</a:t>
                      </a:r>
                    </a:p>
                    <a:p>
                      <a:pPr latinLnBrk="1"/>
                      <a:endParaRPr lang="en-US" altLang="ko-KR" sz="800" u="sng" dirty="0" smtClean="0">
                        <a:solidFill>
                          <a:srgbClr val="2272F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latinLnBrk="1"/>
                      <a:r>
                        <a:rPr lang="en-US" altLang="ko-KR" sz="800" u="sng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※ </a:t>
                      </a:r>
                      <a:r>
                        <a:rPr lang="ko-KR" altLang="en-US" sz="800" u="sng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조회기준은 담당자 최종 확인 필요하다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 정보는 아래와 같다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3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번의 참고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화면과 표시 항목 동일하다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테이블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TSMDDR9B7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257225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8846583"/>
                  </a:ext>
                </a:extLst>
              </a:tr>
            </a:tbl>
          </a:graphicData>
        </a:graphic>
      </p:graphicFrame>
      <p:sp>
        <p:nvSpPr>
          <p:cNvPr id="7" name="양쪽 모서리가 둥근 사각형 6"/>
          <p:cNvSpPr/>
          <p:nvPr/>
        </p:nvSpPr>
        <p:spPr bwMode="auto">
          <a:xfrm>
            <a:off x="305093" y="1191869"/>
            <a:ext cx="12988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중요인장 날인명세</a:t>
            </a:r>
            <a:r>
              <a:rPr lang="en-US" altLang="ko-KR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담보용</a:t>
            </a:r>
            <a:r>
              <a:rPr lang="en-US" altLang="ko-KR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endParaRPr kumimoji="0" lang="ko-KR" altLang="en-US" sz="8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321720" y="1377604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9" name="내용 개체 틀 121"/>
          <p:cNvGraphicFramePr>
            <a:graphicFrameLocks/>
          </p:cNvGraphicFramePr>
          <p:nvPr>
            <p:extLst/>
          </p:nvPr>
        </p:nvGraphicFramePr>
        <p:xfrm>
          <a:off x="315216" y="1462936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86643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1035050">
                  <a:extLst>
                    <a:ext uri="{9D8B030D-6E8A-4147-A177-3AD203B41FA5}">
                      <a16:colId xmlns:a16="http://schemas.microsoft.com/office/drawing/2014/main" val="3089572302"/>
                    </a:ext>
                  </a:extLst>
                </a:gridCol>
                <a:gridCol w="2887363">
                  <a:extLst>
                    <a:ext uri="{9D8B030D-6E8A-4147-A177-3AD203B41FA5}">
                      <a16:colId xmlns:a16="http://schemas.microsoft.com/office/drawing/2014/main" val="566354469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부서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kumimoji="0" lang="ko-KR" altLang="en-US" sz="700" i="0" u="none" strike="noStrike" kern="1200" cap="none" spc="-100" normalizeH="0" baseline="0" noProof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조회기준일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1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54187" y="1499665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82602" y="1506493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694991" y="1506527"/>
            <a:ext cx="1217354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3" name="그림 12"/>
          <p:cNvPicPr>
            <a:picLocks noChangeAspect="1"/>
          </p:cNvPicPr>
          <p:nvPr/>
        </p:nvPicPr>
        <p:blipFill rotWithShape="1">
          <a:blip r:embed="rId2"/>
          <a:srcRect r="73540"/>
          <a:stretch/>
        </p:blipFill>
        <p:spPr>
          <a:xfrm>
            <a:off x="1707691" y="1523049"/>
            <a:ext cx="183595" cy="164228"/>
          </a:xfrm>
          <a:prstGeom prst="rect">
            <a:avLst/>
          </a:prstGeom>
        </p:spPr>
      </p:pic>
      <p:sp>
        <p:nvSpPr>
          <p:cNvPr id="1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221671" y="1499422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엑셀출력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66276" y="1504110"/>
            <a:ext cx="821497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2024-04-04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06676" y="1507950"/>
            <a:ext cx="181098" cy="173224"/>
          </a:xfrm>
          <a:prstGeom prst="rect">
            <a:avLst/>
          </a:prstGeom>
        </p:spPr>
      </p:pic>
      <p:sp>
        <p:nvSpPr>
          <p:cNvPr id="17" name="직사각형 16"/>
          <p:cNvSpPr/>
          <p:nvPr/>
        </p:nvSpPr>
        <p:spPr bwMode="auto">
          <a:xfrm>
            <a:off x="286195" y="1451286"/>
            <a:ext cx="5900178" cy="292550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57580" y="138797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9" name="표 18"/>
          <p:cNvGraphicFramePr>
            <a:graphicFrameLocks noGrp="1"/>
          </p:cNvGraphicFramePr>
          <p:nvPr>
            <p:extLst/>
          </p:nvPr>
        </p:nvGraphicFramePr>
        <p:xfrm>
          <a:off x="302821" y="3325326"/>
          <a:ext cx="6726395" cy="459508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345279">
                  <a:extLst>
                    <a:ext uri="{9D8B030D-6E8A-4147-A177-3AD203B41FA5}">
                      <a16:colId xmlns:a16="http://schemas.microsoft.com/office/drawing/2014/main" val="4259443528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2119051089"/>
                    </a:ext>
                  </a:extLst>
                </a:gridCol>
                <a:gridCol w="4035837">
                  <a:extLst>
                    <a:ext uri="{9D8B030D-6E8A-4147-A177-3AD203B41FA5}">
                      <a16:colId xmlns:a16="http://schemas.microsoft.com/office/drawing/2014/main" val="2532418022"/>
                    </a:ext>
                  </a:extLst>
                </a:gridCol>
              </a:tblGrid>
              <a:tr h="2297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조회정보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연계시스템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연계화면명 </a:t>
                      </a: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화면번호</a:t>
                      </a: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en-US" altLang="ko-KR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541704"/>
                  </a:ext>
                </a:extLst>
              </a:tr>
              <a:tr h="229754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기존화면 동일</a:t>
                      </a:r>
                      <a:endParaRPr lang="en-US" altLang="ko-KR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감사정보시스템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(9654) </a:t>
                      </a: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중요인장 날인명세</a:t>
                      </a: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담보용</a:t>
                      </a: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(MDD72R69012)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4588187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FC888B5C-484B-582C-1070-BF5ED7268B32}"/>
              </a:ext>
            </a:extLst>
          </p:cNvPr>
          <p:cNvSpPr txBox="1"/>
          <p:nvPr/>
        </p:nvSpPr>
        <p:spPr>
          <a:xfrm>
            <a:off x="244630" y="3061370"/>
            <a:ext cx="1527093" cy="261610"/>
          </a:xfrm>
          <a:prstGeom prst="rect">
            <a:avLst/>
          </a:prstGeom>
          <a:noFill/>
          <a:ln>
            <a:solidFill>
              <a:schemeClr val="lt1">
                <a:alpha val="0"/>
              </a:schemeClr>
            </a:solidFill>
          </a:ln>
        </p:spPr>
        <p:txBody>
          <a:bodyPr wrap="square" rtlCol="0">
            <a:spAutoFit/>
          </a:bodyPr>
          <a:lstStyle/>
          <a:p>
            <a:pPr marL="171450" marR="0" lvl="0" indent="-17145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l"/>
              <a:tabLst/>
              <a:defRPr/>
            </a:pPr>
            <a:r>
              <a:rPr lang="ko-KR" altLang="en-US" sz="1100" dirty="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7555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연계정보 요건정의</a:t>
            </a:r>
            <a:endParaRPr kumimoji="1" lang="ko-KR" altLang="en-US" sz="1100" i="0" u="none" strike="noStrike" kern="1200" cap="none" normalizeH="0" baseline="0" noProof="0" dirty="0">
              <a:ln>
                <a:solidFill>
                  <a:srgbClr val="005EB8">
                    <a:alpha val="0"/>
                  </a:srgbClr>
                </a:solidFill>
              </a:ln>
              <a:solidFill>
                <a:srgbClr val="7555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26383" y="311119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2" name="표 21"/>
          <p:cNvGraphicFramePr>
            <a:graphicFrameLocks noGrp="1"/>
          </p:cNvGraphicFramePr>
          <p:nvPr>
            <p:extLst/>
          </p:nvPr>
        </p:nvGraphicFramePr>
        <p:xfrm>
          <a:off x="321718" y="1894234"/>
          <a:ext cx="6726402" cy="710182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231945">
                  <a:extLst>
                    <a:ext uri="{9D8B030D-6E8A-4147-A177-3AD203B41FA5}">
                      <a16:colId xmlns:a16="http://schemas.microsoft.com/office/drawing/2014/main" val="372266854"/>
                    </a:ext>
                  </a:extLst>
                </a:gridCol>
                <a:gridCol w="434593">
                  <a:extLst>
                    <a:ext uri="{9D8B030D-6E8A-4147-A177-3AD203B41FA5}">
                      <a16:colId xmlns:a16="http://schemas.microsoft.com/office/drawing/2014/main" val="2675744784"/>
                    </a:ext>
                  </a:extLst>
                </a:gridCol>
                <a:gridCol w="448888">
                  <a:extLst>
                    <a:ext uri="{9D8B030D-6E8A-4147-A177-3AD203B41FA5}">
                      <a16:colId xmlns:a16="http://schemas.microsoft.com/office/drawing/2014/main" val="3654899191"/>
                    </a:ext>
                  </a:extLst>
                </a:gridCol>
                <a:gridCol w="490451">
                  <a:extLst>
                    <a:ext uri="{9D8B030D-6E8A-4147-A177-3AD203B41FA5}">
                      <a16:colId xmlns:a16="http://schemas.microsoft.com/office/drawing/2014/main" val="852063689"/>
                    </a:ext>
                  </a:extLst>
                </a:gridCol>
                <a:gridCol w="598516">
                  <a:extLst>
                    <a:ext uri="{9D8B030D-6E8A-4147-A177-3AD203B41FA5}">
                      <a16:colId xmlns:a16="http://schemas.microsoft.com/office/drawing/2014/main" val="2586518556"/>
                    </a:ext>
                  </a:extLst>
                </a:gridCol>
                <a:gridCol w="556953">
                  <a:extLst>
                    <a:ext uri="{9D8B030D-6E8A-4147-A177-3AD203B41FA5}">
                      <a16:colId xmlns:a16="http://schemas.microsoft.com/office/drawing/2014/main" val="559091469"/>
                    </a:ext>
                  </a:extLst>
                </a:gridCol>
                <a:gridCol w="922712">
                  <a:extLst>
                    <a:ext uri="{9D8B030D-6E8A-4147-A177-3AD203B41FA5}">
                      <a16:colId xmlns:a16="http://schemas.microsoft.com/office/drawing/2014/main" val="3108645487"/>
                    </a:ext>
                  </a:extLst>
                </a:gridCol>
                <a:gridCol w="490451">
                  <a:extLst>
                    <a:ext uri="{9D8B030D-6E8A-4147-A177-3AD203B41FA5}">
                      <a16:colId xmlns:a16="http://schemas.microsoft.com/office/drawing/2014/main" val="4159449413"/>
                    </a:ext>
                  </a:extLst>
                </a:gridCol>
                <a:gridCol w="326362">
                  <a:extLst>
                    <a:ext uri="{9D8B030D-6E8A-4147-A177-3AD203B41FA5}">
                      <a16:colId xmlns:a16="http://schemas.microsoft.com/office/drawing/2014/main" val="1259394259"/>
                    </a:ext>
                  </a:extLst>
                </a:gridCol>
                <a:gridCol w="295275">
                  <a:extLst>
                    <a:ext uri="{9D8B030D-6E8A-4147-A177-3AD203B41FA5}">
                      <a16:colId xmlns:a16="http://schemas.microsoft.com/office/drawing/2014/main" val="1156834010"/>
                    </a:ext>
                  </a:extLst>
                </a:gridCol>
                <a:gridCol w="276225">
                  <a:extLst>
                    <a:ext uri="{9D8B030D-6E8A-4147-A177-3AD203B41FA5}">
                      <a16:colId xmlns:a16="http://schemas.microsoft.com/office/drawing/2014/main" val="2330745821"/>
                    </a:ext>
                  </a:extLst>
                </a:gridCol>
                <a:gridCol w="223837">
                  <a:extLst>
                    <a:ext uri="{9D8B030D-6E8A-4147-A177-3AD203B41FA5}">
                      <a16:colId xmlns:a16="http://schemas.microsoft.com/office/drawing/2014/main" val="2962894237"/>
                    </a:ext>
                  </a:extLst>
                </a:gridCol>
                <a:gridCol w="428625">
                  <a:extLst>
                    <a:ext uri="{9D8B030D-6E8A-4147-A177-3AD203B41FA5}">
                      <a16:colId xmlns:a16="http://schemas.microsoft.com/office/drawing/2014/main" val="2790778"/>
                    </a:ext>
                  </a:extLst>
                </a:gridCol>
                <a:gridCol w="223838">
                  <a:extLst>
                    <a:ext uri="{9D8B030D-6E8A-4147-A177-3AD203B41FA5}">
                      <a16:colId xmlns:a16="http://schemas.microsoft.com/office/drawing/2014/main" val="938838275"/>
                    </a:ext>
                  </a:extLst>
                </a:gridCol>
                <a:gridCol w="400051">
                  <a:extLst>
                    <a:ext uri="{9D8B030D-6E8A-4147-A177-3AD203B41FA5}">
                      <a16:colId xmlns:a16="http://schemas.microsoft.com/office/drawing/2014/main" val="887798409"/>
                    </a:ext>
                  </a:extLst>
                </a:gridCol>
                <a:gridCol w="145735">
                  <a:extLst>
                    <a:ext uri="{9D8B030D-6E8A-4147-A177-3AD203B41FA5}">
                      <a16:colId xmlns:a16="http://schemas.microsoft.com/office/drawing/2014/main" val="3995454857"/>
                    </a:ext>
                  </a:extLst>
                </a:gridCol>
                <a:gridCol w="231945">
                  <a:extLst>
                    <a:ext uri="{9D8B030D-6E8A-4147-A177-3AD203B41FA5}">
                      <a16:colId xmlns:a16="http://schemas.microsoft.com/office/drawing/2014/main" val="3035798582"/>
                    </a:ext>
                  </a:extLst>
                </a:gridCol>
              </a:tblGrid>
              <a:tr h="15268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순번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신청부점코드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신청부점명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신청년월일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계좌</a:t>
                      </a:r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고객고유번호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채무자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물건소재지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설정</a:t>
                      </a:r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해지</a:t>
                      </a:r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금액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법무사명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설정종류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청구자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날인자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날인년월일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입회자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입회년월일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부수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승인상태내용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88961"/>
                  </a:ext>
                </a:extLst>
              </a:tr>
              <a:tr h="15268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en-US" altLang="ko-KR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1948</a:t>
                      </a:r>
                      <a:endParaRPr lang="en-US" altLang="ko-KR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투자영업부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2023-01-20</a:t>
                      </a:r>
                      <a:endParaRPr lang="en-US" altLang="ko-KR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700-01-*****</a:t>
                      </a:r>
                      <a:endParaRPr lang="en-US" altLang="ko-KR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㈜ 중요한기업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선박 </a:t>
                      </a:r>
                      <a:r>
                        <a:rPr lang="en-US" altLang="ko-KR" sz="5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H11111</a:t>
                      </a:r>
                      <a:endParaRPr lang="en-US" altLang="ko-KR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2,771,130,000</a:t>
                      </a:r>
                      <a:endParaRPr lang="en-US" altLang="ko-KR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설정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변</a:t>
                      </a:r>
                      <a:r>
                        <a:rPr lang="en-US" altLang="ko-KR" sz="5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</a:t>
                      </a:r>
                      <a:r>
                        <a:rPr lang="en-US" altLang="ko-KR" sz="5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2023-01-20</a:t>
                      </a:r>
                      <a:endParaRPr lang="en-US" altLang="ko-KR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</a:t>
                      </a:r>
                      <a:r>
                        <a:rPr lang="en-US" altLang="ko-KR" sz="5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2023-01-20</a:t>
                      </a:r>
                      <a:endParaRPr lang="en-US" altLang="ko-KR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en-US" altLang="ko-KR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791426"/>
                  </a:ext>
                </a:extLst>
              </a:tr>
              <a:tr h="20050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en-US" altLang="ko-KR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1948</a:t>
                      </a:r>
                      <a:endParaRPr lang="en-US" altLang="ko-KR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투자영업부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2023-01-27</a:t>
                      </a:r>
                      <a:endParaRPr lang="en-US" altLang="ko-KR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1948730*******</a:t>
                      </a:r>
                      <a:endParaRPr lang="en-US" altLang="ko-KR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감사공업</a:t>
                      </a:r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주</a:t>
                      </a:r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en-US" altLang="ko-KR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서울시 </a:t>
                      </a:r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</a:t>
                      </a:r>
                      <a:r>
                        <a:rPr lang="ko-KR" altLang="en-US" sz="5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 도로 </a:t>
                      </a:r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1000</a:t>
                      </a:r>
                      <a:endParaRPr lang="en-US" altLang="ko-KR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4,889,855,000</a:t>
                      </a:r>
                      <a:endParaRPr lang="en-US" altLang="ko-KR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설정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성</a:t>
                      </a:r>
                      <a:r>
                        <a:rPr lang="en-US" altLang="ko-KR" sz="5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</a:t>
                      </a:r>
                      <a:r>
                        <a:rPr lang="en-US" altLang="ko-KR" sz="5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2023-01-27</a:t>
                      </a:r>
                      <a:endParaRPr lang="en-US" altLang="ko-KR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</a:t>
                      </a:r>
                      <a:r>
                        <a:rPr lang="en-US" altLang="ko-KR" sz="5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2023-01-27</a:t>
                      </a:r>
                      <a:endParaRPr lang="en-US" altLang="ko-KR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en-US" altLang="ko-KR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3384332"/>
                  </a:ext>
                </a:extLst>
              </a:tr>
              <a:tr h="20050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en-US" altLang="ko-KR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1948</a:t>
                      </a:r>
                      <a:endParaRPr lang="en-US" altLang="ko-KR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투자영업부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2023-03-29</a:t>
                      </a:r>
                      <a:endParaRPr lang="en-US" altLang="ko-KR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700-05-*****</a:t>
                      </a:r>
                      <a:endParaRPr lang="en-US" altLang="ko-KR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준법공업</a:t>
                      </a:r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주</a:t>
                      </a:r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en-US" altLang="ko-KR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건조 중인 선박 </a:t>
                      </a:r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H 8225</a:t>
                      </a:r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호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9,943,200,000</a:t>
                      </a:r>
                      <a:endParaRPr lang="en-US" altLang="ko-KR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설정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</a:t>
                      </a:r>
                      <a:r>
                        <a:rPr lang="en-US" altLang="ko-KR" sz="5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</a:t>
                      </a:r>
                      <a:r>
                        <a:rPr lang="en-US" altLang="ko-KR" sz="5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2023-03-29</a:t>
                      </a:r>
                      <a:endParaRPr lang="en-US" altLang="ko-KR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</a:t>
                      </a:r>
                      <a:r>
                        <a:rPr lang="en-US" altLang="ko-KR" sz="500" b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2023-03-29</a:t>
                      </a:r>
                      <a:endParaRPr lang="en-US" altLang="ko-KR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en-US" altLang="ko-KR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  <a:endParaRPr lang="ko-KR" altLang="en-US" sz="5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092" marR="4092" marT="409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6194391"/>
                  </a:ext>
                </a:extLst>
              </a:tr>
            </a:tbl>
          </a:graphicData>
        </a:graphic>
      </p:graphicFrame>
      <p:sp>
        <p:nvSpPr>
          <p:cNvPr id="23" name="타원 2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57580" y="178691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377459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30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또는 전체 부서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미입력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를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입력하고 조회한다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조회기준일은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현재일자로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고정한다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엑셀출력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버튼으로 조회결과를 엑셀파일로 저장한다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MDD-00040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MDD72MM9100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중요인장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날인명세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일반용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디지털 내부통제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내부통제 현황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인장날인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점검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(P98: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최진용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31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74611" y="1171320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9" name="양쪽 모서리가 둥근 사각형 38"/>
          <p:cNvSpPr/>
          <p:nvPr/>
        </p:nvSpPr>
        <p:spPr bwMode="auto">
          <a:xfrm>
            <a:off x="281114" y="1245916"/>
            <a:ext cx="12988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중요인장 날인명세</a:t>
            </a:r>
            <a:r>
              <a:rPr lang="en-US" altLang="ko-KR" sz="8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lang="ko-KR" altLang="en-US" sz="8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일반용</a:t>
            </a:r>
            <a:r>
              <a:rPr lang="en-US" altLang="ko-KR" sz="80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endParaRPr kumimoji="0" lang="ko-KR" altLang="en-US" sz="80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0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81115" y="1431651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41" name="내용 개체 틀 121"/>
          <p:cNvGraphicFramePr>
            <a:graphicFrameLocks/>
          </p:cNvGraphicFramePr>
          <p:nvPr>
            <p:extLst/>
          </p:nvPr>
        </p:nvGraphicFramePr>
        <p:xfrm>
          <a:off x="274611" y="1516983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86643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1035050">
                  <a:extLst>
                    <a:ext uri="{9D8B030D-6E8A-4147-A177-3AD203B41FA5}">
                      <a16:colId xmlns:a16="http://schemas.microsoft.com/office/drawing/2014/main" val="3089572302"/>
                    </a:ext>
                  </a:extLst>
                </a:gridCol>
                <a:gridCol w="2887363">
                  <a:extLst>
                    <a:ext uri="{9D8B030D-6E8A-4147-A177-3AD203B41FA5}">
                      <a16:colId xmlns:a16="http://schemas.microsoft.com/office/drawing/2014/main" val="566354469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부서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kumimoji="0" lang="ko-KR" altLang="en-US" sz="700" i="0" u="none" strike="noStrike" kern="1200" cap="none" spc="-100" normalizeH="0" baseline="0" noProof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조회기준일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4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13582" y="1553712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58623" y="1560540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671012" y="1560574"/>
            <a:ext cx="1217354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45" name="그림 44"/>
          <p:cNvPicPr>
            <a:picLocks noChangeAspect="1"/>
          </p:cNvPicPr>
          <p:nvPr/>
        </p:nvPicPr>
        <p:blipFill rotWithShape="1">
          <a:blip r:embed="rId2"/>
          <a:srcRect r="73540"/>
          <a:stretch/>
        </p:blipFill>
        <p:spPr>
          <a:xfrm>
            <a:off x="1683712" y="1577096"/>
            <a:ext cx="183595" cy="164228"/>
          </a:xfrm>
          <a:prstGeom prst="rect">
            <a:avLst/>
          </a:prstGeom>
        </p:spPr>
      </p:pic>
      <p:sp>
        <p:nvSpPr>
          <p:cNvPr id="4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97692" y="1553469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엑셀출력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42297" y="1558157"/>
            <a:ext cx="821497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2024-04-04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48" name="그림 4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82697" y="1561997"/>
            <a:ext cx="181098" cy="173224"/>
          </a:xfrm>
          <a:prstGeom prst="rect">
            <a:avLst/>
          </a:prstGeom>
        </p:spPr>
      </p:pic>
      <p:sp>
        <p:nvSpPr>
          <p:cNvPr id="49" name="타원 4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595994" y="141852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0" name="직사각형 49"/>
          <p:cNvSpPr/>
          <p:nvPr/>
        </p:nvSpPr>
        <p:spPr bwMode="auto">
          <a:xfrm>
            <a:off x="262216" y="1505333"/>
            <a:ext cx="5900178" cy="292550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119058" y="143428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52" name="표 51"/>
          <p:cNvGraphicFramePr>
            <a:graphicFrameLocks noGrp="1"/>
          </p:cNvGraphicFramePr>
          <p:nvPr>
            <p:extLst/>
          </p:nvPr>
        </p:nvGraphicFramePr>
        <p:xfrm>
          <a:off x="255904" y="1933296"/>
          <a:ext cx="6751604" cy="53868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233317">
                  <a:extLst>
                    <a:ext uri="{9D8B030D-6E8A-4147-A177-3AD203B41FA5}">
                      <a16:colId xmlns:a16="http://schemas.microsoft.com/office/drawing/2014/main" val="1162969765"/>
                    </a:ext>
                  </a:extLst>
                </a:gridCol>
                <a:gridCol w="497621">
                  <a:extLst>
                    <a:ext uri="{9D8B030D-6E8A-4147-A177-3AD203B41FA5}">
                      <a16:colId xmlns:a16="http://schemas.microsoft.com/office/drawing/2014/main" val="199069090"/>
                    </a:ext>
                  </a:extLst>
                </a:gridCol>
                <a:gridCol w="612456">
                  <a:extLst>
                    <a:ext uri="{9D8B030D-6E8A-4147-A177-3AD203B41FA5}">
                      <a16:colId xmlns:a16="http://schemas.microsoft.com/office/drawing/2014/main" val="1422144669"/>
                    </a:ext>
                  </a:extLst>
                </a:gridCol>
                <a:gridCol w="576001">
                  <a:extLst>
                    <a:ext uri="{9D8B030D-6E8A-4147-A177-3AD203B41FA5}">
                      <a16:colId xmlns:a16="http://schemas.microsoft.com/office/drawing/2014/main" val="2999037989"/>
                    </a:ext>
                  </a:extLst>
                </a:gridCol>
                <a:gridCol w="497621">
                  <a:extLst>
                    <a:ext uri="{9D8B030D-6E8A-4147-A177-3AD203B41FA5}">
                      <a16:colId xmlns:a16="http://schemas.microsoft.com/office/drawing/2014/main" val="1768439999"/>
                    </a:ext>
                  </a:extLst>
                </a:gridCol>
                <a:gridCol w="610608">
                  <a:extLst>
                    <a:ext uri="{9D8B030D-6E8A-4147-A177-3AD203B41FA5}">
                      <a16:colId xmlns:a16="http://schemas.microsoft.com/office/drawing/2014/main" val="1320414138"/>
                    </a:ext>
                  </a:extLst>
                </a:gridCol>
                <a:gridCol w="922356">
                  <a:extLst>
                    <a:ext uri="{9D8B030D-6E8A-4147-A177-3AD203B41FA5}">
                      <a16:colId xmlns:a16="http://schemas.microsoft.com/office/drawing/2014/main" val="751744025"/>
                    </a:ext>
                  </a:extLst>
                </a:gridCol>
                <a:gridCol w="306228">
                  <a:extLst>
                    <a:ext uri="{9D8B030D-6E8A-4147-A177-3AD203B41FA5}">
                      <a16:colId xmlns:a16="http://schemas.microsoft.com/office/drawing/2014/main" val="351611587"/>
                    </a:ext>
                  </a:extLst>
                </a:gridCol>
                <a:gridCol w="306228">
                  <a:extLst>
                    <a:ext uri="{9D8B030D-6E8A-4147-A177-3AD203B41FA5}">
                      <a16:colId xmlns:a16="http://schemas.microsoft.com/office/drawing/2014/main" val="3703418532"/>
                    </a:ext>
                  </a:extLst>
                </a:gridCol>
                <a:gridCol w="576001">
                  <a:extLst>
                    <a:ext uri="{9D8B030D-6E8A-4147-A177-3AD203B41FA5}">
                      <a16:colId xmlns:a16="http://schemas.microsoft.com/office/drawing/2014/main" val="380920227"/>
                    </a:ext>
                  </a:extLst>
                </a:gridCol>
                <a:gridCol w="306228">
                  <a:extLst>
                    <a:ext uri="{9D8B030D-6E8A-4147-A177-3AD203B41FA5}">
                      <a16:colId xmlns:a16="http://schemas.microsoft.com/office/drawing/2014/main" val="2804866661"/>
                    </a:ext>
                  </a:extLst>
                </a:gridCol>
                <a:gridCol w="576001">
                  <a:extLst>
                    <a:ext uri="{9D8B030D-6E8A-4147-A177-3AD203B41FA5}">
                      <a16:colId xmlns:a16="http://schemas.microsoft.com/office/drawing/2014/main" val="1334051660"/>
                    </a:ext>
                  </a:extLst>
                </a:gridCol>
                <a:gridCol w="233317">
                  <a:extLst>
                    <a:ext uri="{9D8B030D-6E8A-4147-A177-3AD203B41FA5}">
                      <a16:colId xmlns:a16="http://schemas.microsoft.com/office/drawing/2014/main" val="3871472830"/>
                    </a:ext>
                  </a:extLst>
                </a:gridCol>
                <a:gridCol w="497621">
                  <a:extLst>
                    <a:ext uri="{9D8B030D-6E8A-4147-A177-3AD203B41FA5}">
                      <a16:colId xmlns:a16="http://schemas.microsoft.com/office/drawing/2014/main" val="1190643013"/>
                    </a:ext>
                  </a:extLst>
                </a:gridCol>
              </a:tblGrid>
              <a:tr h="17961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순번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신청부점코드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신청부점명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신청년월일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문서번호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수신처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문서제목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청구자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날인자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날인년월일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입회자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입회년월일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부수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승인상태내용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4511981"/>
                  </a:ext>
                </a:extLst>
              </a:tr>
              <a:tr h="19861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3209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r>
                        <a:rPr lang="en-US" altLang="ko-KR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본점감사</a:t>
                      </a:r>
                      <a:r>
                        <a:rPr lang="en-US" altLang="ko-KR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2024-03-18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20240318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금융기관제출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spc="-100" baseline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갑종근로소득원천징수영수증</a:t>
                      </a:r>
                      <a:endParaRPr lang="ko-KR" altLang="en-US" sz="700" b="0" i="0" u="none" strike="noStrike" spc="-100" baseline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</a:t>
                      </a:r>
                      <a:r>
                        <a:rPr lang="en-US" altLang="ko-KR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</a:t>
                      </a:r>
                      <a:r>
                        <a:rPr lang="en-US" altLang="ko-KR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2024-03-18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</a:t>
                      </a:r>
                      <a:r>
                        <a:rPr lang="en-US" altLang="ko-KR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2024-03-18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6615431"/>
                  </a:ext>
                </a:extLst>
              </a:tr>
              <a:tr h="16045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3209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r>
                        <a:rPr lang="en-US" altLang="ko-KR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본점감사</a:t>
                      </a:r>
                      <a:r>
                        <a:rPr lang="en-US" altLang="ko-KR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2024-03-28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20240328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금융기관 제출용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spc="-100" baseline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김대영 급여명세서 인장날인</a:t>
                      </a:r>
                      <a:endParaRPr lang="ko-KR" altLang="en-US" sz="700" b="0" i="0" u="none" strike="noStrike" spc="-100" baseline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</a:t>
                      </a:r>
                      <a:r>
                        <a:rPr lang="en-US" altLang="ko-KR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</a:t>
                      </a:r>
                      <a:r>
                        <a:rPr lang="en-US" altLang="ko-KR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2024-03-28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</a:t>
                      </a:r>
                      <a:r>
                        <a:rPr lang="en-US" altLang="ko-KR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2024-03-28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49327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693195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30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또는 전체 부서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미입력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를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입력하고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기준년월을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선택하고 조회한다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엑셀출력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버튼으로 조회결과를 엑셀파일로 저장한다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MDD-00041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MDD75MMA000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부점별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사무분담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지정현황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디지털 내부통제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내부통제 현황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사무분담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점검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(P99: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이지원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19" name="표 18"/>
          <p:cNvGraphicFramePr>
            <a:graphicFrameLocks noGrp="1"/>
          </p:cNvGraphicFramePr>
          <p:nvPr>
            <p:extLst/>
          </p:nvPr>
        </p:nvGraphicFramePr>
        <p:xfrm>
          <a:off x="189402" y="1858481"/>
          <a:ext cx="6751609" cy="699132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289323">
                  <a:extLst>
                    <a:ext uri="{9D8B030D-6E8A-4147-A177-3AD203B41FA5}">
                      <a16:colId xmlns:a16="http://schemas.microsoft.com/office/drawing/2014/main" val="1162969765"/>
                    </a:ext>
                  </a:extLst>
                </a:gridCol>
                <a:gridCol w="443988">
                  <a:extLst>
                    <a:ext uri="{9D8B030D-6E8A-4147-A177-3AD203B41FA5}">
                      <a16:colId xmlns:a16="http://schemas.microsoft.com/office/drawing/2014/main" val="199069090"/>
                    </a:ext>
                  </a:extLst>
                </a:gridCol>
                <a:gridCol w="415636">
                  <a:extLst>
                    <a:ext uri="{9D8B030D-6E8A-4147-A177-3AD203B41FA5}">
                      <a16:colId xmlns:a16="http://schemas.microsoft.com/office/drawing/2014/main" val="1422144669"/>
                    </a:ext>
                  </a:extLst>
                </a:gridCol>
                <a:gridCol w="299259">
                  <a:extLst>
                    <a:ext uri="{9D8B030D-6E8A-4147-A177-3AD203B41FA5}">
                      <a16:colId xmlns:a16="http://schemas.microsoft.com/office/drawing/2014/main" val="2999037989"/>
                    </a:ext>
                  </a:extLst>
                </a:gridCol>
                <a:gridCol w="706581">
                  <a:extLst>
                    <a:ext uri="{9D8B030D-6E8A-4147-A177-3AD203B41FA5}">
                      <a16:colId xmlns:a16="http://schemas.microsoft.com/office/drawing/2014/main" val="1768439999"/>
                    </a:ext>
                  </a:extLst>
                </a:gridCol>
                <a:gridCol w="766137">
                  <a:extLst>
                    <a:ext uri="{9D8B030D-6E8A-4147-A177-3AD203B41FA5}">
                      <a16:colId xmlns:a16="http://schemas.microsoft.com/office/drawing/2014/main" val="1320414138"/>
                    </a:ext>
                  </a:extLst>
                </a:gridCol>
                <a:gridCol w="766137">
                  <a:extLst>
                    <a:ext uri="{9D8B030D-6E8A-4147-A177-3AD203B41FA5}">
                      <a16:colId xmlns:a16="http://schemas.microsoft.com/office/drawing/2014/main" val="751744025"/>
                    </a:ext>
                  </a:extLst>
                </a:gridCol>
                <a:gridCol w="766137">
                  <a:extLst>
                    <a:ext uri="{9D8B030D-6E8A-4147-A177-3AD203B41FA5}">
                      <a16:colId xmlns:a16="http://schemas.microsoft.com/office/drawing/2014/main" val="351611587"/>
                    </a:ext>
                  </a:extLst>
                </a:gridCol>
                <a:gridCol w="766137">
                  <a:extLst>
                    <a:ext uri="{9D8B030D-6E8A-4147-A177-3AD203B41FA5}">
                      <a16:colId xmlns:a16="http://schemas.microsoft.com/office/drawing/2014/main" val="3703418532"/>
                    </a:ext>
                  </a:extLst>
                </a:gridCol>
                <a:gridCol w="766137">
                  <a:extLst>
                    <a:ext uri="{9D8B030D-6E8A-4147-A177-3AD203B41FA5}">
                      <a16:colId xmlns:a16="http://schemas.microsoft.com/office/drawing/2014/main" val="380920227"/>
                    </a:ext>
                  </a:extLst>
                </a:gridCol>
                <a:gridCol w="766137">
                  <a:extLst>
                    <a:ext uri="{9D8B030D-6E8A-4147-A177-3AD203B41FA5}">
                      <a16:colId xmlns:a16="http://schemas.microsoft.com/office/drawing/2014/main" val="2804866661"/>
                    </a:ext>
                  </a:extLst>
                </a:gridCol>
              </a:tblGrid>
              <a:tr h="17478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순번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직원번호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직원명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직급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시작일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사무분담</a:t>
                      </a:r>
                      <a:r>
                        <a:rPr lang="en-US" altLang="ko-KR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사무분담</a:t>
                      </a:r>
                      <a:r>
                        <a:rPr lang="en-US" altLang="ko-KR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사무분담</a:t>
                      </a:r>
                      <a:r>
                        <a:rPr lang="en-US" altLang="ko-KR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사무분담</a:t>
                      </a:r>
                      <a:r>
                        <a:rPr lang="en-US" altLang="ko-KR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추가사무분담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별도사무분담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4511981"/>
                  </a:ext>
                </a:extLst>
              </a:tr>
              <a:tr h="17478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2315111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김감사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L3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2023-02-01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문서관리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pc="-100" baseline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업무총괄</a:t>
                      </a:r>
                      <a:endParaRPr lang="ko-KR" altLang="en-US" sz="700" b="0" i="0" u="none" strike="noStrike" spc="-100" baseline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6615431"/>
                  </a:ext>
                </a:extLst>
              </a:tr>
              <a:tr h="17478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1632555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최과장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L2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2024-03-01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데이터관리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pc="-100" baseline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내부통제</a:t>
                      </a:r>
                      <a:endParaRPr lang="ko-KR" altLang="en-US" sz="700" b="0" i="0" u="none" strike="noStrike" spc="-100" baseline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법적서류 관리담당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493277"/>
                  </a:ext>
                </a:extLst>
              </a:tr>
              <a:tr h="17478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spc="-100" baseline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9950706"/>
                  </a:ext>
                </a:extLst>
              </a:tr>
            </a:tbl>
          </a:graphicData>
        </a:graphic>
      </p:graphicFrame>
      <p:sp>
        <p:nvSpPr>
          <p:cNvPr id="20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08109" y="1096505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1" name="양쪽 모서리가 둥근 사각형 20"/>
          <p:cNvSpPr/>
          <p:nvPr/>
        </p:nvSpPr>
        <p:spPr bwMode="auto">
          <a:xfrm>
            <a:off x="214612" y="1171101"/>
            <a:ext cx="12988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부점별  사무분담 지정현황</a:t>
            </a:r>
            <a:endParaRPr kumimoji="0" lang="ko-KR" altLang="en-US" sz="80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2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14613" y="1356836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3" name="내용 개체 틀 121"/>
          <p:cNvGraphicFramePr>
            <a:graphicFrameLocks/>
          </p:cNvGraphicFramePr>
          <p:nvPr>
            <p:extLst/>
          </p:nvPr>
        </p:nvGraphicFramePr>
        <p:xfrm>
          <a:off x="208109" y="1442168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86643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1035050">
                  <a:extLst>
                    <a:ext uri="{9D8B030D-6E8A-4147-A177-3AD203B41FA5}">
                      <a16:colId xmlns:a16="http://schemas.microsoft.com/office/drawing/2014/main" val="3089572302"/>
                    </a:ext>
                  </a:extLst>
                </a:gridCol>
                <a:gridCol w="2887363">
                  <a:extLst>
                    <a:ext uri="{9D8B030D-6E8A-4147-A177-3AD203B41FA5}">
                      <a16:colId xmlns:a16="http://schemas.microsoft.com/office/drawing/2014/main" val="566354469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부서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kumimoji="0" lang="ko-KR" altLang="en-US" sz="700" i="0" u="none" strike="noStrike" kern="1200" cap="none" spc="-100" normalizeH="0" baseline="0" noProof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기준년월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2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47080" y="1478897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192121" y="1485725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604510" y="1485759"/>
            <a:ext cx="1217354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27" name="그림 26"/>
          <p:cNvPicPr>
            <a:picLocks noChangeAspect="1"/>
          </p:cNvPicPr>
          <p:nvPr/>
        </p:nvPicPr>
        <p:blipFill rotWithShape="1">
          <a:blip r:embed="rId2"/>
          <a:srcRect r="73540"/>
          <a:stretch/>
        </p:blipFill>
        <p:spPr>
          <a:xfrm>
            <a:off x="1617210" y="1502281"/>
            <a:ext cx="183595" cy="164228"/>
          </a:xfrm>
          <a:prstGeom prst="rect">
            <a:avLst/>
          </a:prstGeom>
        </p:spPr>
      </p:pic>
      <p:sp>
        <p:nvSpPr>
          <p:cNvPr id="2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31190" y="1478654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엑셀출력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075795" y="1483342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30" name="그림 2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16195" y="1487182"/>
            <a:ext cx="181098" cy="173224"/>
          </a:xfrm>
          <a:prstGeom prst="rect">
            <a:avLst/>
          </a:prstGeom>
        </p:spPr>
      </p:pic>
      <p:sp>
        <p:nvSpPr>
          <p:cNvPr id="34" name="직사각형 33"/>
          <p:cNvSpPr/>
          <p:nvPr/>
        </p:nvSpPr>
        <p:spPr bwMode="auto">
          <a:xfrm>
            <a:off x="195714" y="1430518"/>
            <a:ext cx="5900178" cy="292550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111141" y="136720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55051" y="138565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45105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30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또는 전체 부서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미입력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를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입력하고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기준년월을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선택하고 조회한다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엑셀출력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버튼으로 조회결과를 엑셀파일로 저장한다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MDD-00042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MDD75MMB000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전결권한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재위임 운영 현황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디지털 내부통제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내부통제 현황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사무분담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점검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(P100: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이지원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1" name="표 30"/>
          <p:cNvGraphicFramePr>
            <a:graphicFrameLocks noGrp="1"/>
          </p:cNvGraphicFramePr>
          <p:nvPr>
            <p:extLst/>
          </p:nvPr>
        </p:nvGraphicFramePr>
        <p:xfrm>
          <a:off x="262215" y="1841154"/>
          <a:ext cx="6726397" cy="847264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350561">
                  <a:extLst>
                    <a:ext uri="{9D8B030D-6E8A-4147-A177-3AD203B41FA5}">
                      <a16:colId xmlns:a16="http://schemas.microsoft.com/office/drawing/2014/main" val="1137712973"/>
                    </a:ext>
                  </a:extLst>
                </a:gridCol>
                <a:gridCol w="499550">
                  <a:extLst>
                    <a:ext uri="{9D8B030D-6E8A-4147-A177-3AD203B41FA5}">
                      <a16:colId xmlns:a16="http://schemas.microsoft.com/office/drawing/2014/main" val="1780415108"/>
                    </a:ext>
                  </a:extLst>
                </a:gridCol>
                <a:gridCol w="979381">
                  <a:extLst>
                    <a:ext uri="{9D8B030D-6E8A-4147-A177-3AD203B41FA5}">
                      <a16:colId xmlns:a16="http://schemas.microsoft.com/office/drawing/2014/main" val="4201672206"/>
                    </a:ext>
                  </a:extLst>
                </a:gridCol>
                <a:gridCol w="979381">
                  <a:extLst>
                    <a:ext uri="{9D8B030D-6E8A-4147-A177-3AD203B41FA5}">
                      <a16:colId xmlns:a16="http://schemas.microsoft.com/office/drawing/2014/main" val="892964293"/>
                    </a:ext>
                  </a:extLst>
                </a:gridCol>
                <a:gridCol w="979381">
                  <a:extLst>
                    <a:ext uri="{9D8B030D-6E8A-4147-A177-3AD203B41FA5}">
                      <a16:colId xmlns:a16="http://schemas.microsoft.com/office/drawing/2014/main" val="3874684319"/>
                    </a:ext>
                  </a:extLst>
                </a:gridCol>
                <a:gridCol w="979381">
                  <a:extLst>
                    <a:ext uri="{9D8B030D-6E8A-4147-A177-3AD203B41FA5}">
                      <a16:colId xmlns:a16="http://schemas.microsoft.com/office/drawing/2014/main" val="44521167"/>
                    </a:ext>
                  </a:extLst>
                </a:gridCol>
                <a:gridCol w="979381">
                  <a:extLst>
                    <a:ext uri="{9D8B030D-6E8A-4147-A177-3AD203B41FA5}">
                      <a16:colId xmlns:a16="http://schemas.microsoft.com/office/drawing/2014/main" val="1480155948"/>
                    </a:ext>
                  </a:extLst>
                </a:gridCol>
                <a:gridCol w="979381">
                  <a:extLst>
                    <a:ext uri="{9D8B030D-6E8A-4147-A177-3AD203B41FA5}">
                      <a16:colId xmlns:a16="http://schemas.microsoft.com/office/drawing/2014/main" val="2714422866"/>
                    </a:ext>
                  </a:extLst>
                </a:gridCol>
              </a:tblGrid>
              <a:tr h="21181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부점코드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175" marR="4175" marT="41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부점한글명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175" marR="4175" marT="41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성명</a:t>
                      </a:r>
                      <a:r>
                        <a:rPr lang="en-US" altLang="ko-KR" sz="7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직원번호</a:t>
                      </a:r>
                      <a:r>
                        <a:rPr lang="en-US" altLang="ko-KR" sz="7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175" marR="4175" marT="41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직무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175" marR="4175" marT="41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사무분담구분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175" marR="4175" marT="41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사무분담내용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175" marR="4175" marT="41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결재자 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175" marR="4175" marT="41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수명자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175" marR="4175" marT="41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3698535"/>
                  </a:ext>
                </a:extLst>
              </a:tr>
              <a:tr h="211816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0003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175" marR="4175" marT="41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7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WM</a:t>
                      </a:r>
                      <a:r>
                        <a:rPr lang="ko-KR" altLang="en-US" sz="7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기획부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175" marR="4175" marT="41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[2315111] </a:t>
                      </a:r>
                      <a:r>
                        <a:rPr lang="ko-KR" altLang="en-US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김기획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WM</a:t>
                      </a:r>
                      <a:r>
                        <a:rPr lang="ko-KR" altLang="en-US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기획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회계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175" marR="4175" marT="41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직무전결재위임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175" marR="4175" marT="41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박팀장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175" marR="4175" marT="41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김기획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175" marR="4175" marT="41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393433"/>
                  </a:ext>
                </a:extLst>
              </a:tr>
              <a:tr h="211816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0003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175" marR="4175" marT="41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7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WM</a:t>
                      </a:r>
                      <a:r>
                        <a:rPr lang="ko-KR" altLang="en-US" sz="7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기획부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175" marR="4175" marT="41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[1632555] </a:t>
                      </a:r>
                      <a:r>
                        <a:rPr lang="ko-KR" altLang="en-US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최과장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WM</a:t>
                      </a:r>
                      <a:r>
                        <a:rPr lang="ko-KR" altLang="en-US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운영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927" marR="6927" marT="692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내부통제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175" marR="4175" marT="41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직무전결재위임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175" marR="4175" marT="41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박팀장</a:t>
                      </a:r>
                      <a:r>
                        <a:rPr lang="ko-KR" altLang="en-US" sz="7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175" marR="4175" marT="41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최과장</a:t>
                      </a:r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175" marR="4175" marT="41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7664757"/>
                  </a:ext>
                </a:extLst>
              </a:tr>
              <a:tr h="211816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en-US" altLang="ko-KR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175" marR="4175" marT="41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175" marR="4175" marT="41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175" marR="4175" marT="41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175" marR="4175" marT="41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175" marR="4175" marT="41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175" marR="4175" marT="41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175" marR="4175" marT="41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175" marR="4175" marT="41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3183494"/>
                  </a:ext>
                </a:extLst>
              </a:tr>
            </a:tbl>
          </a:graphicData>
        </a:graphic>
      </p:graphicFrame>
      <p:sp>
        <p:nvSpPr>
          <p:cNvPr id="3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74611" y="1071567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7" name="양쪽 모서리가 둥근 사각형 36"/>
          <p:cNvSpPr/>
          <p:nvPr/>
        </p:nvSpPr>
        <p:spPr bwMode="auto">
          <a:xfrm>
            <a:off x="281114" y="1146163"/>
            <a:ext cx="12988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전결권한 재위임 운영 현황</a:t>
            </a:r>
            <a:endParaRPr kumimoji="0" lang="ko-KR" altLang="en-US" sz="80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8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81115" y="1331898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39" name="내용 개체 틀 121"/>
          <p:cNvGraphicFramePr>
            <a:graphicFrameLocks/>
          </p:cNvGraphicFramePr>
          <p:nvPr>
            <p:extLst/>
          </p:nvPr>
        </p:nvGraphicFramePr>
        <p:xfrm>
          <a:off x="274611" y="1417230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86643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1035050">
                  <a:extLst>
                    <a:ext uri="{9D8B030D-6E8A-4147-A177-3AD203B41FA5}">
                      <a16:colId xmlns:a16="http://schemas.microsoft.com/office/drawing/2014/main" val="3089572302"/>
                    </a:ext>
                  </a:extLst>
                </a:gridCol>
                <a:gridCol w="2887363">
                  <a:extLst>
                    <a:ext uri="{9D8B030D-6E8A-4147-A177-3AD203B41FA5}">
                      <a16:colId xmlns:a16="http://schemas.microsoft.com/office/drawing/2014/main" val="566354469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부서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kumimoji="0" lang="ko-KR" altLang="en-US" sz="700" i="0" u="none" strike="noStrike" kern="1200" cap="none" spc="-100" normalizeH="0" baseline="0" noProof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기준년월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4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13582" y="1453959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58623" y="1460787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671012" y="1460821"/>
            <a:ext cx="1217354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43" name="그림 42"/>
          <p:cNvPicPr>
            <a:picLocks noChangeAspect="1"/>
          </p:cNvPicPr>
          <p:nvPr/>
        </p:nvPicPr>
        <p:blipFill rotWithShape="1">
          <a:blip r:embed="rId2"/>
          <a:srcRect r="73540"/>
          <a:stretch/>
        </p:blipFill>
        <p:spPr>
          <a:xfrm>
            <a:off x="1683712" y="1477343"/>
            <a:ext cx="183595" cy="164228"/>
          </a:xfrm>
          <a:prstGeom prst="rect">
            <a:avLst/>
          </a:prstGeom>
        </p:spPr>
      </p:pic>
      <p:sp>
        <p:nvSpPr>
          <p:cNvPr id="4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97692" y="1453716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엑셀출력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42297" y="1458404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46" name="그림 4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82697" y="1462244"/>
            <a:ext cx="181098" cy="173224"/>
          </a:xfrm>
          <a:prstGeom prst="rect">
            <a:avLst/>
          </a:prstGeom>
        </p:spPr>
      </p:pic>
      <p:sp>
        <p:nvSpPr>
          <p:cNvPr id="48" name="직사각형 47"/>
          <p:cNvSpPr/>
          <p:nvPr/>
        </p:nvSpPr>
        <p:spPr bwMode="auto">
          <a:xfrm>
            <a:off x="262216" y="1405580"/>
            <a:ext cx="5900178" cy="292550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217725" y="131778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70915" y="133751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137309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30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또는 전체 부서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미입력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를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입력하고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기준년월을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선택하고 조회한다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엑셀출력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버튼으로 조회결과를 엑셀파일로 저장한다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MDD-00043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MDD75MMC000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부점별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명령휴가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대상자 현황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디지털 내부통제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내부통제 현황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명령휴가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의무대상자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점검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(P101: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이지원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0" name="표 19"/>
          <p:cNvGraphicFramePr>
            <a:graphicFrameLocks noGrp="1"/>
          </p:cNvGraphicFramePr>
          <p:nvPr>
            <p:extLst/>
          </p:nvPr>
        </p:nvGraphicFramePr>
        <p:xfrm>
          <a:off x="192453" y="1903579"/>
          <a:ext cx="6765179" cy="717258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257721">
                  <a:extLst>
                    <a:ext uri="{9D8B030D-6E8A-4147-A177-3AD203B41FA5}">
                      <a16:colId xmlns:a16="http://schemas.microsoft.com/office/drawing/2014/main" val="207685616"/>
                    </a:ext>
                  </a:extLst>
                </a:gridCol>
                <a:gridCol w="331222">
                  <a:extLst>
                    <a:ext uri="{9D8B030D-6E8A-4147-A177-3AD203B41FA5}">
                      <a16:colId xmlns:a16="http://schemas.microsoft.com/office/drawing/2014/main" val="4061814904"/>
                    </a:ext>
                  </a:extLst>
                </a:gridCol>
                <a:gridCol w="407324">
                  <a:extLst>
                    <a:ext uri="{9D8B030D-6E8A-4147-A177-3AD203B41FA5}">
                      <a16:colId xmlns:a16="http://schemas.microsoft.com/office/drawing/2014/main" val="1816160942"/>
                    </a:ext>
                  </a:extLst>
                </a:gridCol>
                <a:gridCol w="465513">
                  <a:extLst>
                    <a:ext uri="{9D8B030D-6E8A-4147-A177-3AD203B41FA5}">
                      <a16:colId xmlns:a16="http://schemas.microsoft.com/office/drawing/2014/main" val="3976159495"/>
                    </a:ext>
                  </a:extLst>
                </a:gridCol>
                <a:gridCol w="415636">
                  <a:extLst>
                    <a:ext uri="{9D8B030D-6E8A-4147-A177-3AD203B41FA5}">
                      <a16:colId xmlns:a16="http://schemas.microsoft.com/office/drawing/2014/main" val="4155671772"/>
                    </a:ext>
                  </a:extLst>
                </a:gridCol>
                <a:gridCol w="241069">
                  <a:extLst>
                    <a:ext uri="{9D8B030D-6E8A-4147-A177-3AD203B41FA5}">
                      <a16:colId xmlns:a16="http://schemas.microsoft.com/office/drawing/2014/main" val="2821263627"/>
                    </a:ext>
                  </a:extLst>
                </a:gridCol>
                <a:gridCol w="507076">
                  <a:extLst>
                    <a:ext uri="{9D8B030D-6E8A-4147-A177-3AD203B41FA5}">
                      <a16:colId xmlns:a16="http://schemas.microsoft.com/office/drawing/2014/main" val="3762451874"/>
                    </a:ext>
                  </a:extLst>
                </a:gridCol>
                <a:gridCol w="340822">
                  <a:extLst>
                    <a:ext uri="{9D8B030D-6E8A-4147-A177-3AD203B41FA5}">
                      <a16:colId xmlns:a16="http://schemas.microsoft.com/office/drawing/2014/main" val="1503135411"/>
                    </a:ext>
                  </a:extLst>
                </a:gridCol>
                <a:gridCol w="390698">
                  <a:extLst>
                    <a:ext uri="{9D8B030D-6E8A-4147-A177-3AD203B41FA5}">
                      <a16:colId xmlns:a16="http://schemas.microsoft.com/office/drawing/2014/main" val="2811500754"/>
                    </a:ext>
                  </a:extLst>
                </a:gridCol>
                <a:gridCol w="681644">
                  <a:extLst>
                    <a:ext uri="{9D8B030D-6E8A-4147-A177-3AD203B41FA5}">
                      <a16:colId xmlns:a16="http://schemas.microsoft.com/office/drawing/2014/main" val="3821970342"/>
                    </a:ext>
                  </a:extLst>
                </a:gridCol>
                <a:gridCol w="374073">
                  <a:extLst>
                    <a:ext uri="{9D8B030D-6E8A-4147-A177-3AD203B41FA5}">
                      <a16:colId xmlns:a16="http://schemas.microsoft.com/office/drawing/2014/main" val="498478326"/>
                    </a:ext>
                  </a:extLst>
                </a:gridCol>
                <a:gridCol w="548640">
                  <a:extLst>
                    <a:ext uri="{9D8B030D-6E8A-4147-A177-3AD203B41FA5}">
                      <a16:colId xmlns:a16="http://schemas.microsoft.com/office/drawing/2014/main" val="1762175008"/>
                    </a:ext>
                  </a:extLst>
                </a:gridCol>
                <a:gridCol w="753031">
                  <a:extLst>
                    <a:ext uri="{9D8B030D-6E8A-4147-A177-3AD203B41FA5}">
                      <a16:colId xmlns:a16="http://schemas.microsoft.com/office/drawing/2014/main" val="1659881722"/>
                    </a:ext>
                  </a:extLst>
                </a:gridCol>
                <a:gridCol w="525355">
                  <a:extLst>
                    <a:ext uri="{9D8B030D-6E8A-4147-A177-3AD203B41FA5}">
                      <a16:colId xmlns:a16="http://schemas.microsoft.com/office/drawing/2014/main" val="977020740"/>
                    </a:ext>
                  </a:extLst>
                </a:gridCol>
                <a:gridCol w="525355">
                  <a:extLst>
                    <a:ext uri="{9D8B030D-6E8A-4147-A177-3AD203B41FA5}">
                      <a16:colId xmlns:a16="http://schemas.microsoft.com/office/drawing/2014/main" val="980098235"/>
                    </a:ext>
                  </a:extLst>
                </a:gridCol>
              </a:tblGrid>
              <a:tr h="17460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순번</a:t>
                      </a:r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부점코드</a:t>
                      </a:r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부점명</a:t>
                      </a:r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기준일자</a:t>
                      </a:r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직원번호</a:t>
                      </a:r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직원명</a:t>
                      </a:r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대상업무구분</a:t>
                      </a:r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등록일자</a:t>
                      </a:r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실시일자</a:t>
                      </a:r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실시기간</a:t>
                      </a:r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항목코드</a:t>
                      </a:r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 spc="-100" baseline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검사항목</a:t>
                      </a:r>
                      <a:r>
                        <a:rPr lang="en-US" altLang="ko-KR" sz="600" b="0" u="none" strike="noStrike" spc="-100" baseline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600" b="0" u="none" strike="noStrike" spc="-100" baseline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특명내용</a:t>
                      </a:r>
                      <a:endParaRPr lang="ko-KR" altLang="en-US" sz="600" b="0" i="0" u="none" strike="noStrike" spc="-100" baseline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검사실시일</a:t>
                      </a:r>
                      <a:r>
                        <a:rPr lang="en-US" altLang="ko-KR" sz="6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6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검사등록일</a:t>
                      </a:r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검사자</a:t>
                      </a:r>
                      <a:r>
                        <a:rPr lang="en-US" altLang="ko-KR" sz="6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6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검사결과</a:t>
                      </a:r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600" b="0" u="none" strike="noStrike" spc="-100" baseline="0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</a:t>
                      </a:r>
                      <a:r>
                        <a:rPr lang="en-US" altLang="ko-KR" sz="600" b="0" u="none" strike="noStrike" spc="-100" baseline="0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600" b="0" u="none" strike="noStrike" spc="-100" baseline="0" dirty="0" err="1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부기내용</a:t>
                      </a:r>
                      <a:endParaRPr lang="ko-KR" altLang="en-US" sz="600" b="0" i="0" u="none" strike="noStrike" spc="-100" baseline="0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839423"/>
                  </a:ext>
                </a:extLst>
              </a:tr>
              <a:tr h="271327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6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6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0503</a:t>
                      </a:r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6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재무기획부</a:t>
                      </a:r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6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2024.03.04</a:t>
                      </a:r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6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1628111</a:t>
                      </a:r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6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김재무</a:t>
                      </a:r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6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장기근무직원</a:t>
                      </a:r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6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2024.6.2</a:t>
                      </a:r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6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2024.6.2</a:t>
                      </a:r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6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2024.6.2~2024.6.2</a:t>
                      </a:r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6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특명검사</a:t>
                      </a:r>
                      <a:endParaRPr lang="en-US" altLang="ko-KR" sz="600" b="0" u="none" strike="noStrike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b"/>
                      <a:r>
                        <a:rPr lang="ko-KR" altLang="en-US" sz="6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</a:t>
                      </a:r>
                      <a:r>
                        <a:rPr lang="ko-KR" altLang="en-US" sz="6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6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6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6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6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4677812"/>
                  </a:ext>
                </a:extLst>
              </a:tr>
              <a:tr h="271327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6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772" marR="3772" marT="3772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3740427"/>
                  </a:ext>
                </a:extLst>
              </a:tr>
            </a:tbl>
          </a:graphicData>
        </a:graphic>
      </p:graphicFrame>
      <p:sp>
        <p:nvSpPr>
          <p:cNvPr id="21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24734" y="114638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2" name="양쪽 모서리가 둥근 사각형 21"/>
          <p:cNvSpPr/>
          <p:nvPr/>
        </p:nvSpPr>
        <p:spPr bwMode="auto">
          <a:xfrm>
            <a:off x="231237" y="1220978"/>
            <a:ext cx="12988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부점별 명령휴가 대상자 현황</a:t>
            </a:r>
            <a:endParaRPr kumimoji="0" lang="ko-KR" altLang="en-US" sz="80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3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31238" y="140671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4" name="내용 개체 틀 121"/>
          <p:cNvGraphicFramePr>
            <a:graphicFrameLocks/>
          </p:cNvGraphicFramePr>
          <p:nvPr>
            <p:extLst/>
          </p:nvPr>
        </p:nvGraphicFramePr>
        <p:xfrm>
          <a:off x="224734" y="1492045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86643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1035050">
                  <a:extLst>
                    <a:ext uri="{9D8B030D-6E8A-4147-A177-3AD203B41FA5}">
                      <a16:colId xmlns:a16="http://schemas.microsoft.com/office/drawing/2014/main" val="3089572302"/>
                    </a:ext>
                  </a:extLst>
                </a:gridCol>
                <a:gridCol w="2887363">
                  <a:extLst>
                    <a:ext uri="{9D8B030D-6E8A-4147-A177-3AD203B41FA5}">
                      <a16:colId xmlns:a16="http://schemas.microsoft.com/office/drawing/2014/main" val="566354469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부서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kumimoji="0" lang="ko-KR" altLang="en-US" sz="700" i="0" u="none" strike="noStrike" kern="1200" cap="none" spc="-100" normalizeH="0" baseline="0" noProof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기준년월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2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63705" y="1528774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08746" y="1535602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621135" y="1535636"/>
            <a:ext cx="1217354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28" name="그림 27"/>
          <p:cNvPicPr>
            <a:picLocks noChangeAspect="1"/>
          </p:cNvPicPr>
          <p:nvPr/>
        </p:nvPicPr>
        <p:blipFill rotWithShape="1">
          <a:blip r:embed="rId2"/>
          <a:srcRect r="73540"/>
          <a:stretch/>
        </p:blipFill>
        <p:spPr>
          <a:xfrm>
            <a:off x="1633835" y="1552158"/>
            <a:ext cx="183595" cy="164228"/>
          </a:xfrm>
          <a:prstGeom prst="rect">
            <a:avLst/>
          </a:prstGeom>
        </p:spPr>
      </p:pic>
      <p:sp>
        <p:nvSpPr>
          <p:cNvPr id="2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47815" y="1528531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엑셀출력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092420" y="1533219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33" name="그림 3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32820" y="1537059"/>
            <a:ext cx="181098" cy="173224"/>
          </a:xfrm>
          <a:prstGeom prst="rect">
            <a:avLst/>
          </a:prstGeom>
        </p:spPr>
      </p:pic>
      <p:sp>
        <p:nvSpPr>
          <p:cNvPr id="35" name="직사각형 34"/>
          <p:cNvSpPr/>
          <p:nvPr/>
        </p:nvSpPr>
        <p:spPr bwMode="auto">
          <a:xfrm>
            <a:off x="212339" y="1480395"/>
            <a:ext cx="5900178" cy="292550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087301" y="141471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58482" y="139532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258705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30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또는 전체 부서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미입력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를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입력하고 기준년월일을 선택하고 조회한다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엑셀출력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버튼으로 조회결과를 엑셀파일로 저장한다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MDD-00044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MDD75MMD000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일일검사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당일 및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익일항목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미등록 명세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디지털 내부통제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내부통제 현황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일일검사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점검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(P102: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이지원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pic>
        <p:nvPicPr>
          <p:cNvPr id="31" name="그림 3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56201" y="1852756"/>
            <a:ext cx="6773767" cy="638175"/>
          </a:xfrm>
          <a:prstGeom prst="rect">
            <a:avLst/>
          </a:prstGeom>
        </p:spPr>
      </p:pic>
      <p:sp>
        <p:nvSpPr>
          <p:cNvPr id="3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41359" y="1096505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7" name="양쪽 모서리가 둥근 사각형 36"/>
          <p:cNvSpPr/>
          <p:nvPr/>
        </p:nvSpPr>
        <p:spPr bwMode="auto">
          <a:xfrm>
            <a:off x="247862" y="1171101"/>
            <a:ext cx="12988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60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일일 검사 당일 및 익일항목 미등록 명세</a:t>
            </a:r>
            <a:endParaRPr kumimoji="0" lang="ko-KR" altLang="en-US" sz="60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8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47863" y="1356836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39" name="내용 개체 틀 121"/>
          <p:cNvGraphicFramePr>
            <a:graphicFrameLocks/>
          </p:cNvGraphicFramePr>
          <p:nvPr>
            <p:extLst/>
          </p:nvPr>
        </p:nvGraphicFramePr>
        <p:xfrm>
          <a:off x="241359" y="1442168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86643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1035050">
                  <a:extLst>
                    <a:ext uri="{9D8B030D-6E8A-4147-A177-3AD203B41FA5}">
                      <a16:colId xmlns:a16="http://schemas.microsoft.com/office/drawing/2014/main" val="3089572302"/>
                    </a:ext>
                  </a:extLst>
                </a:gridCol>
                <a:gridCol w="2887363">
                  <a:extLst>
                    <a:ext uri="{9D8B030D-6E8A-4147-A177-3AD203B41FA5}">
                      <a16:colId xmlns:a16="http://schemas.microsoft.com/office/drawing/2014/main" val="566354469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부서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kumimoji="0" lang="ko-KR" altLang="en-US" sz="700" i="0" u="none" strike="noStrike" kern="1200" cap="none" spc="-100" normalizeH="0" baseline="0" noProof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기준년월일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4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80330" y="1478897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25371" y="1485725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637760" y="1485759"/>
            <a:ext cx="1217354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43" name="그림 42"/>
          <p:cNvPicPr>
            <a:picLocks noChangeAspect="1"/>
          </p:cNvPicPr>
          <p:nvPr/>
        </p:nvPicPr>
        <p:blipFill rotWithShape="1">
          <a:blip r:embed="rId3"/>
          <a:srcRect r="73540"/>
          <a:stretch/>
        </p:blipFill>
        <p:spPr>
          <a:xfrm>
            <a:off x="1650460" y="1502281"/>
            <a:ext cx="183595" cy="164228"/>
          </a:xfrm>
          <a:prstGeom prst="rect">
            <a:avLst/>
          </a:prstGeom>
        </p:spPr>
      </p:pic>
      <p:sp>
        <p:nvSpPr>
          <p:cNvPr id="4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64440" y="1478654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엑셀출력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09045" y="1483342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2024-03-04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46" name="그림 4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49445" y="1487182"/>
            <a:ext cx="181098" cy="173224"/>
          </a:xfrm>
          <a:prstGeom prst="rect">
            <a:avLst/>
          </a:prstGeom>
        </p:spPr>
      </p:pic>
      <p:sp>
        <p:nvSpPr>
          <p:cNvPr id="48" name="직사각형 47"/>
          <p:cNvSpPr/>
          <p:nvPr/>
        </p:nvSpPr>
        <p:spPr bwMode="auto">
          <a:xfrm>
            <a:off x="228964" y="1430518"/>
            <a:ext cx="5900178" cy="292550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095637" y="135074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082858" y="1483343"/>
            <a:ext cx="821497" cy="183298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2024-04-04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56" name="그림 5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23258" y="1489565"/>
            <a:ext cx="181098" cy="173224"/>
          </a:xfrm>
          <a:prstGeom prst="rect">
            <a:avLst/>
          </a:prstGeom>
        </p:spPr>
      </p:pic>
      <p:cxnSp>
        <p:nvCxnSpPr>
          <p:cNvPr id="57" name="직선 연결선 56"/>
          <p:cNvCxnSpPr/>
          <p:nvPr/>
        </p:nvCxnSpPr>
        <p:spPr bwMode="auto">
          <a:xfrm>
            <a:off x="4959117" y="1571856"/>
            <a:ext cx="86477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47" name="타원 4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79059" y="134571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754836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877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일일검사일지 당일 미결재 명세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조회용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화면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조회조건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–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부서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: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부점별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또는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전체부서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조회 가능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기준년월일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일일검사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점검 현황을 표시하며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각 세부항목은 준법지원시스템에 등록된 내역을 연계하여 표시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미결재 상태 또는 결재요청일과 결재완료일이 상이할 경우 점검대상으로 표시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MDD-00045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MDD75MMD100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일일검사일지 당일 미결재 명세</a:t>
                      </a:r>
                      <a:endParaRPr kumimoji="0" lang="ko-KR" altLang="en-US" sz="12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90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디지털 내부통제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내부통제 현황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9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일일검사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점검</a:t>
                      </a:r>
                      <a:r>
                        <a:rPr lang="en-US" altLang="ko-KR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9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일일검사일지 당일 미결재 명세</a:t>
                      </a:r>
                      <a:r>
                        <a:rPr lang="en-US" altLang="ko-KR" sz="9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(P103:</a:t>
                      </a:r>
                      <a:r>
                        <a:rPr lang="ko-KR" altLang="en-US" sz="9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이지원</a:t>
                      </a:r>
                      <a:r>
                        <a:rPr lang="en-US" altLang="ko-KR" sz="9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9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0" name="표 19"/>
          <p:cNvGraphicFramePr>
            <a:graphicFrameLocks noGrp="1"/>
          </p:cNvGraphicFramePr>
          <p:nvPr>
            <p:extLst/>
          </p:nvPr>
        </p:nvGraphicFramePr>
        <p:xfrm>
          <a:off x="285344" y="1796500"/>
          <a:ext cx="6726397" cy="785258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469306">
                  <a:extLst>
                    <a:ext uri="{9D8B030D-6E8A-4147-A177-3AD203B41FA5}">
                      <a16:colId xmlns:a16="http://schemas.microsoft.com/office/drawing/2014/main" val="3822246774"/>
                    </a:ext>
                  </a:extLst>
                </a:gridCol>
                <a:gridCol w="781396">
                  <a:extLst>
                    <a:ext uri="{9D8B030D-6E8A-4147-A177-3AD203B41FA5}">
                      <a16:colId xmlns:a16="http://schemas.microsoft.com/office/drawing/2014/main" val="865457903"/>
                    </a:ext>
                  </a:extLst>
                </a:gridCol>
                <a:gridCol w="681644">
                  <a:extLst>
                    <a:ext uri="{9D8B030D-6E8A-4147-A177-3AD203B41FA5}">
                      <a16:colId xmlns:a16="http://schemas.microsoft.com/office/drawing/2014/main" val="103984622"/>
                    </a:ext>
                  </a:extLst>
                </a:gridCol>
                <a:gridCol w="997527">
                  <a:extLst>
                    <a:ext uri="{9D8B030D-6E8A-4147-A177-3AD203B41FA5}">
                      <a16:colId xmlns:a16="http://schemas.microsoft.com/office/drawing/2014/main" val="1128075937"/>
                    </a:ext>
                  </a:extLst>
                </a:gridCol>
                <a:gridCol w="748145">
                  <a:extLst>
                    <a:ext uri="{9D8B030D-6E8A-4147-A177-3AD203B41FA5}">
                      <a16:colId xmlns:a16="http://schemas.microsoft.com/office/drawing/2014/main" val="4055622631"/>
                    </a:ext>
                  </a:extLst>
                </a:gridCol>
                <a:gridCol w="939339">
                  <a:extLst>
                    <a:ext uri="{9D8B030D-6E8A-4147-A177-3AD203B41FA5}">
                      <a16:colId xmlns:a16="http://schemas.microsoft.com/office/drawing/2014/main" val="2767985255"/>
                    </a:ext>
                  </a:extLst>
                </a:gridCol>
                <a:gridCol w="939339">
                  <a:extLst>
                    <a:ext uri="{9D8B030D-6E8A-4147-A177-3AD203B41FA5}">
                      <a16:colId xmlns:a16="http://schemas.microsoft.com/office/drawing/2014/main" val="193878089"/>
                    </a:ext>
                  </a:extLst>
                </a:gridCol>
                <a:gridCol w="739594">
                  <a:extLst>
                    <a:ext uri="{9D8B030D-6E8A-4147-A177-3AD203B41FA5}">
                      <a16:colId xmlns:a16="http://schemas.microsoft.com/office/drawing/2014/main" val="1585444981"/>
                    </a:ext>
                  </a:extLst>
                </a:gridCol>
                <a:gridCol w="430107">
                  <a:extLst>
                    <a:ext uri="{9D8B030D-6E8A-4147-A177-3AD203B41FA5}">
                      <a16:colId xmlns:a16="http://schemas.microsoft.com/office/drawing/2014/main" val="2397820003"/>
                    </a:ext>
                  </a:extLst>
                </a:gridCol>
              </a:tblGrid>
              <a:tr h="20067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순번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기준일자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부점코드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부점명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결재상태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결재요청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결재완료일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결재자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점검대상</a:t>
                      </a:r>
                      <a:endParaRPr lang="ko-KR" altLang="en-US" sz="7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6833359"/>
                  </a:ext>
                </a:extLst>
              </a:tr>
              <a:tr h="20067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en-US" altLang="ko-KR" sz="7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2024-03-25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3869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수신상품부</a:t>
                      </a:r>
                      <a:r>
                        <a:rPr lang="en-US" altLang="ko-KR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P)</a:t>
                      </a:r>
                      <a:endParaRPr 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결재완료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2024-03-25</a:t>
                      </a:r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2024-03-25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김팀장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6570681"/>
                  </a:ext>
                </a:extLst>
              </a:tr>
              <a:tr h="19195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2024-03-25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0503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재무기획부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결재완료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2024-03-26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2024-03-28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박팀장</a:t>
                      </a:r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Y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6382965"/>
                  </a:ext>
                </a:extLst>
              </a:tr>
              <a:tr h="19195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2024-03-25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0003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WM</a:t>
                      </a:r>
                      <a:r>
                        <a:rPr lang="ko-KR" altLang="en-US" sz="8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기획부</a:t>
                      </a:r>
                      <a:endParaRPr lang="ko-KR" altLang="en-US" sz="800" b="0" i="0" u="none" strike="noStrike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작성중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</a:t>
                      </a:r>
                      <a:endParaRPr lang="ko-KR" altLang="en-US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Y</a:t>
                      </a:r>
                      <a:endParaRPr lang="ko-KR" altLang="en-US" sz="7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8812308"/>
                  </a:ext>
                </a:extLst>
              </a:tr>
            </a:tbl>
          </a:graphicData>
        </a:graphic>
      </p:graphicFrame>
      <p:sp>
        <p:nvSpPr>
          <p:cNvPr id="21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97740" y="1011938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2" name="양쪽 모서리가 둥근 사각형 21"/>
          <p:cNvSpPr/>
          <p:nvPr/>
        </p:nvSpPr>
        <p:spPr bwMode="auto">
          <a:xfrm>
            <a:off x="304243" y="1086534"/>
            <a:ext cx="12988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70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일일검사일지 당일 미결재 명세</a:t>
            </a:r>
            <a:endParaRPr kumimoji="0" lang="ko-KR" altLang="en-US" sz="70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3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304244" y="1272269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4" name="내용 개체 틀 121"/>
          <p:cNvGraphicFramePr>
            <a:graphicFrameLocks/>
          </p:cNvGraphicFramePr>
          <p:nvPr>
            <p:extLst/>
          </p:nvPr>
        </p:nvGraphicFramePr>
        <p:xfrm>
          <a:off x="297740" y="1357601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86643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1035050">
                  <a:extLst>
                    <a:ext uri="{9D8B030D-6E8A-4147-A177-3AD203B41FA5}">
                      <a16:colId xmlns:a16="http://schemas.microsoft.com/office/drawing/2014/main" val="3089572302"/>
                    </a:ext>
                  </a:extLst>
                </a:gridCol>
                <a:gridCol w="2887363">
                  <a:extLst>
                    <a:ext uri="{9D8B030D-6E8A-4147-A177-3AD203B41FA5}">
                      <a16:colId xmlns:a16="http://schemas.microsoft.com/office/drawing/2014/main" val="566354469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부서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kumimoji="0" lang="ko-KR" altLang="en-US" sz="700" i="0" u="none" strike="noStrike" kern="1200" cap="none" spc="-100" normalizeH="0" baseline="0" noProof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기준년월일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2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36711" y="1394330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81752" y="1401158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694141" y="1401192"/>
            <a:ext cx="1217354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45" name="그림 44"/>
          <p:cNvPicPr>
            <a:picLocks noChangeAspect="1"/>
          </p:cNvPicPr>
          <p:nvPr/>
        </p:nvPicPr>
        <p:blipFill rotWithShape="1">
          <a:blip r:embed="rId2"/>
          <a:srcRect r="73540"/>
          <a:stretch/>
        </p:blipFill>
        <p:spPr>
          <a:xfrm>
            <a:off x="1706841" y="1417714"/>
            <a:ext cx="183595" cy="164228"/>
          </a:xfrm>
          <a:prstGeom prst="rect">
            <a:avLst/>
          </a:prstGeom>
        </p:spPr>
      </p:pic>
      <p:sp>
        <p:nvSpPr>
          <p:cNvPr id="4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220821" y="1394087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엑셀출력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65426" y="1398775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48" name="그림 4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05826" y="1402615"/>
            <a:ext cx="181098" cy="173224"/>
          </a:xfrm>
          <a:prstGeom prst="rect">
            <a:avLst/>
          </a:prstGeom>
        </p:spPr>
      </p:pic>
      <p:sp>
        <p:nvSpPr>
          <p:cNvPr id="49" name="타원 4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43780" y="101193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0" name="직사각형 49"/>
          <p:cNvSpPr/>
          <p:nvPr/>
        </p:nvSpPr>
        <p:spPr bwMode="auto">
          <a:xfrm>
            <a:off x="285345" y="1345951"/>
            <a:ext cx="5900178" cy="292550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56730" y="128264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56730" y="168157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139239" y="1398776"/>
            <a:ext cx="821497" cy="183298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2024-03-31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cxnSp>
        <p:nvCxnSpPr>
          <p:cNvPr id="54" name="직선 연결선 53"/>
          <p:cNvCxnSpPr/>
          <p:nvPr/>
        </p:nvCxnSpPr>
        <p:spPr bwMode="auto">
          <a:xfrm>
            <a:off x="5015498" y="1487289"/>
            <a:ext cx="86477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pic>
        <p:nvPicPr>
          <p:cNvPr id="55" name="그림 5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78505" y="1406681"/>
            <a:ext cx="181098" cy="1732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68731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30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특명검사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미실시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명세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조회용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화면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조회조건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–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부서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: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부점별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또는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전체부서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조회 가능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기준년월일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MDD-00046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MDD72MME000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특명검사</a:t>
                      </a:r>
                      <a:r>
                        <a:rPr lang="ko-KR" altLang="en-US" sz="12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12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미실시</a:t>
                      </a:r>
                      <a:r>
                        <a:rPr lang="ko-KR" altLang="en-US" sz="12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명세</a:t>
                      </a:r>
                      <a:endParaRPr kumimoji="0" lang="ko-KR" altLang="en-US" sz="12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100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</a:t>
                      </a:r>
                      <a:r>
                        <a:rPr lang="en-US" altLang="ko-KR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디지털 내부통제</a:t>
                      </a:r>
                      <a:r>
                        <a:rPr lang="en-US" altLang="ko-KR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내부통제 현황</a:t>
                      </a:r>
                      <a:r>
                        <a:rPr lang="en-US" altLang="ko-KR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10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특명검사</a:t>
                      </a:r>
                      <a:r>
                        <a:rPr lang="ko-KR" altLang="en-US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점검</a:t>
                      </a:r>
                      <a:r>
                        <a:rPr lang="en-US" altLang="ko-KR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10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특명검사</a:t>
                      </a:r>
                      <a:r>
                        <a:rPr lang="ko-KR" altLang="en-US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미실시</a:t>
                      </a:r>
                      <a:r>
                        <a:rPr lang="ko-KR" altLang="en-US" sz="10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명세</a:t>
                      </a:r>
                      <a:r>
                        <a:rPr lang="en-US" altLang="ko-KR" sz="10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(P104:</a:t>
                      </a:r>
                      <a:r>
                        <a:rPr lang="ko-KR" altLang="en-US" sz="10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최진용</a:t>
                      </a:r>
                      <a:r>
                        <a:rPr lang="en-US" altLang="ko-KR" sz="10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27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73889" y="940370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8" name="양쪽 모서리가 둥근 사각형 27"/>
          <p:cNvSpPr/>
          <p:nvPr/>
        </p:nvSpPr>
        <p:spPr bwMode="auto">
          <a:xfrm>
            <a:off x="280392" y="1014966"/>
            <a:ext cx="12988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특명검사 미실시 명세</a:t>
            </a:r>
            <a:endParaRPr kumimoji="0" lang="ko-KR" altLang="en-US" sz="80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9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80393" y="1200701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30" name="내용 개체 틀 121"/>
          <p:cNvGraphicFramePr>
            <a:graphicFrameLocks/>
          </p:cNvGraphicFramePr>
          <p:nvPr>
            <p:extLst/>
          </p:nvPr>
        </p:nvGraphicFramePr>
        <p:xfrm>
          <a:off x="273889" y="1286033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86643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1035050">
                  <a:extLst>
                    <a:ext uri="{9D8B030D-6E8A-4147-A177-3AD203B41FA5}">
                      <a16:colId xmlns:a16="http://schemas.microsoft.com/office/drawing/2014/main" val="3089572302"/>
                    </a:ext>
                  </a:extLst>
                </a:gridCol>
                <a:gridCol w="2887363">
                  <a:extLst>
                    <a:ext uri="{9D8B030D-6E8A-4147-A177-3AD203B41FA5}">
                      <a16:colId xmlns:a16="http://schemas.microsoft.com/office/drawing/2014/main" val="566354469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부서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kumimoji="0" lang="ko-KR" altLang="en-US" sz="700" i="0" u="none" strike="noStrike" kern="1200" cap="none" spc="-100" normalizeH="0" baseline="0" noProof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기준년월일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3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12860" y="1322762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57901" y="1329590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670290" y="1329624"/>
            <a:ext cx="1217354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35" name="그림 34"/>
          <p:cNvPicPr>
            <a:picLocks noChangeAspect="1"/>
          </p:cNvPicPr>
          <p:nvPr/>
        </p:nvPicPr>
        <p:blipFill rotWithShape="1">
          <a:blip r:embed="rId2"/>
          <a:srcRect r="73540"/>
          <a:stretch/>
        </p:blipFill>
        <p:spPr>
          <a:xfrm>
            <a:off x="1682990" y="1346146"/>
            <a:ext cx="183595" cy="164228"/>
          </a:xfrm>
          <a:prstGeom prst="rect">
            <a:avLst/>
          </a:prstGeom>
        </p:spPr>
      </p:pic>
      <p:sp>
        <p:nvSpPr>
          <p:cNvPr id="3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96970" y="1322519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엑셀출력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19929" y="94036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8" name="직사각형 37"/>
          <p:cNvSpPr/>
          <p:nvPr/>
        </p:nvSpPr>
        <p:spPr bwMode="auto">
          <a:xfrm>
            <a:off x="261494" y="1274383"/>
            <a:ext cx="5900178" cy="292550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32879" y="121107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41575" y="1327207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42" name="그림 4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81975" y="1331047"/>
            <a:ext cx="181098" cy="173224"/>
          </a:xfrm>
          <a:prstGeom prst="rect">
            <a:avLst/>
          </a:prstGeom>
        </p:spPr>
      </p:pic>
      <p:sp>
        <p:nvSpPr>
          <p:cNvPr id="56" name="직사각형 5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115388" y="1327208"/>
            <a:ext cx="821497" cy="183298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2024-03-31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cxnSp>
        <p:nvCxnSpPr>
          <p:cNvPr id="57" name="직선 연결선 56"/>
          <p:cNvCxnSpPr/>
          <p:nvPr/>
        </p:nvCxnSpPr>
        <p:spPr bwMode="auto">
          <a:xfrm>
            <a:off x="4991647" y="1415721"/>
            <a:ext cx="86477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pic>
        <p:nvPicPr>
          <p:cNvPr id="58" name="그림 5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54654" y="1335113"/>
            <a:ext cx="181098" cy="173224"/>
          </a:xfrm>
          <a:prstGeom prst="rect">
            <a:avLst/>
          </a:prstGeom>
        </p:spPr>
      </p:pic>
      <p:graphicFrame>
        <p:nvGraphicFramePr>
          <p:cNvPr id="22" name="표 21"/>
          <p:cNvGraphicFramePr>
            <a:graphicFrameLocks noGrp="1"/>
          </p:cNvGraphicFramePr>
          <p:nvPr>
            <p:extLst/>
          </p:nvPr>
        </p:nvGraphicFramePr>
        <p:xfrm>
          <a:off x="261495" y="1711559"/>
          <a:ext cx="6745293" cy="613633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295117">
                  <a:extLst>
                    <a:ext uri="{9D8B030D-6E8A-4147-A177-3AD203B41FA5}">
                      <a16:colId xmlns:a16="http://schemas.microsoft.com/office/drawing/2014/main" val="4259443528"/>
                    </a:ext>
                  </a:extLst>
                </a:gridCol>
                <a:gridCol w="394909">
                  <a:extLst>
                    <a:ext uri="{9D8B030D-6E8A-4147-A177-3AD203B41FA5}">
                      <a16:colId xmlns:a16="http://schemas.microsoft.com/office/drawing/2014/main" val="2119051089"/>
                    </a:ext>
                  </a:extLst>
                </a:gridCol>
                <a:gridCol w="511918">
                  <a:extLst>
                    <a:ext uri="{9D8B030D-6E8A-4147-A177-3AD203B41FA5}">
                      <a16:colId xmlns:a16="http://schemas.microsoft.com/office/drawing/2014/main" val="2532418022"/>
                    </a:ext>
                  </a:extLst>
                </a:gridCol>
                <a:gridCol w="554335">
                  <a:extLst>
                    <a:ext uri="{9D8B030D-6E8A-4147-A177-3AD203B41FA5}">
                      <a16:colId xmlns:a16="http://schemas.microsoft.com/office/drawing/2014/main" val="4206506384"/>
                    </a:ext>
                  </a:extLst>
                </a:gridCol>
                <a:gridCol w="407374">
                  <a:extLst>
                    <a:ext uri="{9D8B030D-6E8A-4147-A177-3AD203B41FA5}">
                      <a16:colId xmlns:a16="http://schemas.microsoft.com/office/drawing/2014/main" val="615851146"/>
                    </a:ext>
                  </a:extLst>
                </a:gridCol>
                <a:gridCol w="675861">
                  <a:extLst>
                    <a:ext uri="{9D8B030D-6E8A-4147-A177-3AD203B41FA5}">
                      <a16:colId xmlns:a16="http://schemas.microsoft.com/office/drawing/2014/main" val="3441453235"/>
                    </a:ext>
                  </a:extLst>
                </a:gridCol>
                <a:gridCol w="604299">
                  <a:extLst>
                    <a:ext uri="{9D8B030D-6E8A-4147-A177-3AD203B41FA5}">
                      <a16:colId xmlns:a16="http://schemas.microsoft.com/office/drawing/2014/main" val="1254379941"/>
                    </a:ext>
                  </a:extLst>
                </a:gridCol>
                <a:gridCol w="596348">
                  <a:extLst>
                    <a:ext uri="{9D8B030D-6E8A-4147-A177-3AD203B41FA5}">
                      <a16:colId xmlns:a16="http://schemas.microsoft.com/office/drawing/2014/main" val="314168810"/>
                    </a:ext>
                  </a:extLst>
                </a:gridCol>
                <a:gridCol w="691763">
                  <a:extLst>
                    <a:ext uri="{9D8B030D-6E8A-4147-A177-3AD203B41FA5}">
                      <a16:colId xmlns:a16="http://schemas.microsoft.com/office/drawing/2014/main" val="2848667511"/>
                    </a:ext>
                  </a:extLst>
                </a:gridCol>
                <a:gridCol w="583653">
                  <a:extLst>
                    <a:ext uri="{9D8B030D-6E8A-4147-A177-3AD203B41FA5}">
                      <a16:colId xmlns:a16="http://schemas.microsoft.com/office/drawing/2014/main" val="3293562090"/>
                    </a:ext>
                  </a:extLst>
                </a:gridCol>
                <a:gridCol w="632897">
                  <a:extLst>
                    <a:ext uri="{9D8B030D-6E8A-4147-A177-3AD203B41FA5}">
                      <a16:colId xmlns:a16="http://schemas.microsoft.com/office/drawing/2014/main" val="4074324726"/>
                    </a:ext>
                  </a:extLst>
                </a:gridCol>
                <a:gridCol w="796819">
                  <a:extLst>
                    <a:ext uri="{9D8B030D-6E8A-4147-A177-3AD203B41FA5}">
                      <a16:colId xmlns:a16="http://schemas.microsoft.com/office/drawing/2014/main" val="329908245"/>
                    </a:ext>
                  </a:extLst>
                </a:gridCol>
              </a:tblGrid>
              <a:tr h="18667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순번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부점코드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부점명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기준년월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검사구분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대상직원번호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대상직원명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미실시내용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생략사유등록일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사유등록직원명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생략사유구분명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생략세부내용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541704"/>
                  </a:ext>
                </a:extLst>
              </a:tr>
              <a:tr h="205859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1104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총무부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4588187"/>
                  </a:ext>
                </a:extLst>
              </a:tr>
              <a:tr h="186675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  <a:p>
                      <a:pPr algn="ctr" fontAlgn="b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0130473"/>
                  </a:ext>
                </a:extLst>
              </a:tr>
            </a:tbl>
          </a:graphicData>
        </a:graphic>
      </p:graphicFrame>
      <p:graphicFrame>
        <p:nvGraphicFramePr>
          <p:cNvPr id="23" name="표 22"/>
          <p:cNvGraphicFramePr>
            <a:graphicFrameLocks noGrp="1"/>
          </p:cNvGraphicFramePr>
          <p:nvPr>
            <p:extLst/>
          </p:nvPr>
        </p:nvGraphicFramePr>
        <p:xfrm>
          <a:off x="1866585" y="2619339"/>
          <a:ext cx="5117675" cy="579209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023535">
                  <a:extLst>
                    <a:ext uri="{9D8B030D-6E8A-4147-A177-3AD203B41FA5}">
                      <a16:colId xmlns:a16="http://schemas.microsoft.com/office/drawing/2014/main" val="4259443528"/>
                    </a:ext>
                  </a:extLst>
                </a:gridCol>
                <a:gridCol w="1023535">
                  <a:extLst>
                    <a:ext uri="{9D8B030D-6E8A-4147-A177-3AD203B41FA5}">
                      <a16:colId xmlns:a16="http://schemas.microsoft.com/office/drawing/2014/main" val="2532418022"/>
                    </a:ext>
                  </a:extLst>
                </a:gridCol>
                <a:gridCol w="1023535">
                  <a:extLst>
                    <a:ext uri="{9D8B030D-6E8A-4147-A177-3AD203B41FA5}">
                      <a16:colId xmlns:a16="http://schemas.microsoft.com/office/drawing/2014/main" val="4206506384"/>
                    </a:ext>
                  </a:extLst>
                </a:gridCol>
                <a:gridCol w="1023535">
                  <a:extLst>
                    <a:ext uri="{9D8B030D-6E8A-4147-A177-3AD203B41FA5}">
                      <a16:colId xmlns:a16="http://schemas.microsoft.com/office/drawing/2014/main" val="615851146"/>
                    </a:ext>
                  </a:extLst>
                </a:gridCol>
                <a:gridCol w="1023535">
                  <a:extLst>
                    <a:ext uri="{9D8B030D-6E8A-4147-A177-3AD203B41FA5}">
                      <a16:colId xmlns:a16="http://schemas.microsoft.com/office/drawing/2014/main" val="3441453235"/>
                    </a:ext>
                  </a:extLst>
                </a:gridCol>
              </a:tblGrid>
              <a:tr h="18667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대상직원직무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대상직원직무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대상직원직무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대상직원직무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대상직원직무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541704"/>
                  </a:ext>
                </a:extLst>
              </a:tr>
              <a:tr h="205859"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4588187"/>
                  </a:ext>
                </a:extLst>
              </a:tr>
              <a:tr h="186675"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013047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519561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30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특명검사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실시 명세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조회용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화면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조회조건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–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부서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: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부점별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또는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전체부서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조회 가능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기준년월일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MDD-00047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MDD72MME100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특명검사</a:t>
                      </a:r>
                      <a:r>
                        <a:rPr lang="ko-KR" altLang="en-US" sz="12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실시 명세</a:t>
                      </a:r>
                      <a:endParaRPr kumimoji="0" lang="ko-KR" altLang="en-US" sz="12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디지털 내부통제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내부통제 현황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특명검사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점검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특명검사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실시 명세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(P105: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최진용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24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26182" y="940370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5" name="양쪽 모서리가 둥근 사각형 24"/>
          <p:cNvSpPr/>
          <p:nvPr/>
        </p:nvSpPr>
        <p:spPr bwMode="auto">
          <a:xfrm>
            <a:off x="232685" y="1014966"/>
            <a:ext cx="12988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특명검사 실시 명세</a:t>
            </a:r>
            <a:endParaRPr kumimoji="0" lang="ko-KR" altLang="en-US" sz="80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3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32686" y="1200701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44" name="내용 개체 틀 121"/>
          <p:cNvGraphicFramePr>
            <a:graphicFrameLocks/>
          </p:cNvGraphicFramePr>
          <p:nvPr>
            <p:extLst/>
          </p:nvPr>
        </p:nvGraphicFramePr>
        <p:xfrm>
          <a:off x="226182" y="1286033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86643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1035050">
                  <a:extLst>
                    <a:ext uri="{9D8B030D-6E8A-4147-A177-3AD203B41FA5}">
                      <a16:colId xmlns:a16="http://schemas.microsoft.com/office/drawing/2014/main" val="3089572302"/>
                    </a:ext>
                  </a:extLst>
                </a:gridCol>
                <a:gridCol w="2887363">
                  <a:extLst>
                    <a:ext uri="{9D8B030D-6E8A-4147-A177-3AD203B41FA5}">
                      <a16:colId xmlns:a16="http://schemas.microsoft.com/office/drawing/2014/main" val="566354469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부서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kumimoji="0" lang="ko-KR" altLang="en-US" sz="700" i="0" u="none" strike="noStrike" kern="1200" cap="none" spc="-100" normalizeH="0" baseline="0" noProof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기준년월일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4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65153" y="1322762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10194" y="1329590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622583" y="1329624"/>
            <a:ext cx="1217354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48" name="그림 47"/>
          <p:cNvPicPr>
            <a:picLocks noChangeAspect="1"/>
          </p:cNvPicPr>
          <p:nvPr/>
        </p:nvPicPr>
        <p:blipFill rotWithShape="1">
          <a:blip r:embed="rId2"/>
          <a:srcRect r="73540"/>
          <a:stretch/>
        </p:blipFill>
        <p:spPr>
          <a:xfrm>
            <a:off x="1635283" y="1346146"/>
            <a:ext cx="183595" cy="164228"/>
          </a:xfrm>
          <a:prstGeom prst="rect">
            <a:avLst/>
          </a:prstGeom>
        </p:spPr>
      </p:pic>
      <p:sp>
        <p:nvSpPr>
          <p:cNvPr id="4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49263" y="1322519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엑셀출력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72222" y="94036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1" name="직사각형 50"/>
          <p:cNvSpPr/>
          <p:nvPr/>
        </p:nvSpPr>
        <p:spPr bwMode="auto">
          <a:xfrm>
            <a:off x="213787" y="1274383"/>
            <a:ext cx="5900178" cy="292550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85172" y="121107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093868" y="1327207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55" name="그림 5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34268" y="1331047"/>
            <a:ext cx="181098" cy="173224"/>
          </a:xfrm>
          <a:prstGeom prst="rect">
            <a:avLst/>
          </a:prstGeom>
        </p:spPr>
      </p:pic>
      <p:sp>
        <p:nvSpPr>
          <p:cNvPr id="59" name="직사각형 5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067681" y="1327208"/>
            <a:ext cx="821497" cy="183298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2024-03-31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cxnSp>
        <p:nvCxnSpPr>
          <p:cNvPr id="60" name="직선 연결선 59"/>
          <p:cNvCxnSpPr/>
          <p:nvPr/>
        </p:nvCxnSpPr>
        <p:spPr bwMode="auto">
          <a:xfrm>
            <a:off x="4943940" y="1415721"/>
            <a:ext cx="86477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pic>
        <p:nvPicPr>
          <p:cNvPr id="61" name="그림 6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06947" y="1335113"/>
            <a:ext cx="181098" cy="173224"/>
          </a:xfrm>
          <a:prstGeom prst="rect">
            <a:avLst/>
          </a:prstGeom>
        </p:spPr>
      </p:pic>
      <p:graphicFrame>
        <p:nvGraphicFramePr>
          <p:cNvPr id="22" name="표 21"/>
          <p:cNvGraphicFramePr>
            <a:graphicFrameLocks noGrp="1"/>
          </p:cNvGraphicFramePr>
          <p:nvPr>
            <p:extLst/>
          </p:nvPr>
        </p:nvGraphicFramePr>
        <p:xfrm>
          <a:off x="261495" y="1711559"/>
          <a:ext cx="6745293" cy="613633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295117">
                  <a:extLst>
                    <a:ext uri="{9D8B030D-6E8A-4147-A177-3AD203B41FA5}">
                      <a16:colId xmlns:a16="http://schemas.microsoft.com/office/drawing/2014/main" val="4259443528"/>
                    </a:ext>
                  </a:extLst>
                </a:gridCol>
                <a:gridCol w="394909">
                  <a:extLst>
                    <a:ext uri="{9D8B030D-6E8A-4147-A177-3AD203B41FA5}">
                      <a16:colId xmlns:a16="http://schemas.microsoft.com/office/drawing/2014/main" val="2119051089"/>
                    </a:ext>
                  </a:extLst>
                </a:gridCol>
                <a:gridCol w="511918">
                  <a:extLst>
                    <a:ext uri="{9D8B030D-6E8A-4147-A177-3AD203B41FA5}">
                      <a16:colId xmlns:a16="http://schemas.microsoft.com/office/drawing/2014/main" val="2532418022"/>
                    </a:ext>
                  </a:extLst>
                </a:gridCol>
                <a:gridCol w="961709">
                  <a:extLst>
                    <a:ext uri="{9D8B030D-6E8A-4147-A177-3AD203B41FA5}">
                      <a16:colId xmlns:a16="http://schemas.microsoft.com/office/drawing/2014/main" val="4206506384"/>
                    </a:ext>
                  </a:extLst>
                </a:gridCol>
                <a:gridCol w="675861">
                  <a:extLst>
                    <a:ext uri="{9D8B030D-6E8A-4147-A177-3AD203B41FA5}">
                      <a16:colId xmlns:a16="http://schemas.microsoft.com/office/drawing/2014/main" val="3441453235"/>
                    </a:ext>
                  </a:extLst>
                </a:gridCol>
                <a:gridCol w="755374">
                  <a:extLst>
                    <a:ext uri="{9D8B030D-6E8A-4147-A177-3AD203B41FA5}">
                      <a16:colId xmlns:a16="http://schemas.microsoft.com/office/drawing/2014/main" val="1254379941"/>
                    </a:ext>
                  </a:extLst>
                </a:gridCol>
                <a:gridCol w="1137036">
                  <a:extLst>
                    <a:ext uri="{9D8B030D-6E8A-4147-A177-3AD203B41FA5}">
                      <a16:colId xmlns:a16="http://schemas.microsoft.com/office/drawing/2014/main" val="2848667511"/>
                    </a:ext>
                  </a:extLst>
                </a:gridCol>
                <a:gridCol w="583653">
                  <a:extLst>
                    <a:ext uri="{9D8B030D-6E8A-4147-A177-3AD203B41FA5}">
                      <a16:colId xmlns:a16="http://schemas.microsoft.com/office/drawing/2014/main" val="3293562090"/>
                    </a:ext>
                  </a:extLst>
                </a:gridCol>
                <a:gridCol w="632897">
                  <a:extLst>
                    <a:ext uri="{9D8B030D-6E8A-4147-A177-3AD203B41FA5}">
                      <a16:colId xmlns:a16="http://schemas.microsoft.com/office/drawing/2014/main" val="4074324726"/>
                    </a:ext>
                  </a:extLst>
                </a:gridCol>
                <a:gridCol w="796819">
                  <a:extLst>
                    <a:ext uri="{9D8B030D-6E8A-4147-A177-3AD203B41FA5}">
                      <a16:colId xmlns:a16="http://schemas.microsoft.com/office/drawing/2014/main" val="329908245"/>
                    </a:ext>
                  </a:extLst>
                </a:gridCol>
              </a:tblGrid>
              <a:tr h="18667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순번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부점코드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부점명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명령년월일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실시구분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특명검사항목코드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특명검사항목명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특명내용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점검대상직원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대상시작일자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541704"/>
                  </a:ext>
                </a:extLst>
              </a:tr>
              <a:tr h="205859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1104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총무부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4588187"/>
                  </a:ext>
                </a:extLst>
              </a:tr>
              <a:tr h="186675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  <a:p>
                      <a:pPr algn="ctr" fontAlgn="b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  <a:p>
                      <a:pPr algn="ctr" fontAlgn="b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  <a:p>
                      <a:pPr algn="ctr" fontAlgn="b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0130473"/>
                  </a:ext>
                </a:extLst>
              </a:tr>
            </a:tbl>
          </a:graphicData>
        </a:graphic>
      </p:graphicFrame>
      <p:graphicFrame>
        <p:nvGraphicFramePr>
          <p:cNvPr id="26" name="표 25"/>
          <p:cNvGraphicFramePr>
            <a:graphicFrameLocks noGrp="1"/>
          </p:cNvGraphicFramePr>
          <p:nvPr>
            <p:extLst/>
          </p:nvPr>
        </p:nvGraphicFramePr>
        <p:xfrm>
          <a:off x="1407380" y="2619339"/>
          <a:ext cx="5576880" cy="579209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548641">
                  <a:extLst>
                    <a:ext uri="{9D8B030D-6E8A-4147-A177-3AD203B41FA5}">
                      <a16:colId xmlns:a16="http://schemas.microsoft.com/office/drawing/2014/main" val="4259443528"/>
                    </a:ext>
                  </a:extLst>
                </a:gridCol>
                <a:gridCol w="890546">
                  <a:extLst>
                    <a:ext uri="{9D8B030D-6E8A-4147-A177-3AD203B41FA5}">
                      <a16:colId xmlns:a16="http://schemas.microsoft.com/office/drawing/2014/main" val="2532418022"/>
                    </a:ext>
                  </a:extLst>
                </a:gridCol>
                <a:gridCol w="890546">
                  <a:extLst>
                    <a:ext uri="{9D8B030D-6E8A-4147-A177-3AD203B41FA5}">
                      <a16:colId xmlns:a16="http://schemas.microsoft.com/office/drawing/2014/main" val="4206506384"/>
                    </a:ext>
                  </a:extLst>
                </a:gridCol>
                <a:gridCol w="500932">
                  <a:extLst>
                    <a:ext uri="{9D8B030D-6E8A-4147-A177-3AD203B41FA5}">
                      <a16:colId xmlns:a16="http://schemas.microsoft.com/office/drawing/2014/main" val="615851146"/>
                    </a:ext>
                  </a:extLst>
                </a:gridCol>
                <a:gridCol w="620202">
                  <a:extLst>
                    <a:ext uri="{9D8B030D-6E8A-4147-A177-3AD203B41FA5}">
                      <a16:colId xmlns:a16="http://schemas.microsoft.com/office/drawing/2014/main" val="3441453235"/>
                    </a:ext>
                  </a:extLst>
                </a:gridCol>
                <a:gridCol w="715617">
                  <a:extLst>
                    <a:ext uri="{9D8B030D-6E8A-4147-A177-3AD203B41FA5}">
                      <a16:colId xmlns:a16="http://schemas.microsoft.com/office/drawing/2014/main" val="737819661"/>
                    </a:ext>
                  </a:extLst>
                </a:gridCol>
                <a:gridCol w="705198">
                  <a:extLst>
                    <a:ext uri="{9D8B030D-6E8A-4147-A177-3AD203B41FA5}">
                      <a16:colId xmlns:a16="http://schemas.microsoft.com/office/drawing/2014/main" val="737024717"/>
                    </a:ext>
                  </a:extLst>
                </a:gridCol>
                <a:gridCol w="705198">
                  <a:extLst>
                    <a:ext uri="{9D8B030D-6E8A-4147-A177-3AD203B41FA5}">
                      <a16:colId xmlns:a16="http://schemas.microsoft.com/office/drawing/2014/main" val="3258027637"/>
                    </a:ext>
                  </a:extLst>
                </a:gridCol>
              </a:tblGrid>
              <a:tr h="18667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대상종료일자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실시시작일자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실시종료일자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수명직원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수명직원명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실시결과내용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명령일시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실시일시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541704"/>
                  </a:ext>
                </a:extLst>
              </a:tr>
              <a:tr h="205859"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4588187"/>
                  </a:ext>
                </a:extLst>
              </a:tr>
              <a:tr h="186675"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013047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376606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30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부점별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부점명의통장 개설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해지 현황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조회용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화면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조회조건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–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부서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: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부점별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또는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전체부서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조회 가능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조회기준일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: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현재일자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고정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보유중인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부점명의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통장현황을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준법지원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시스템정보와 연계하여 표시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MDD-00048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MDD72MMF000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부점별</a:t>
                      </a:r>
                      <a:r>
                        <a:rPr lang="ko-KR" altLang="en-US" sz="12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부점명의통장 개설</a:t>
                      </a:r>
                      <a:r>
                        <a:rPr lang="en-US" altLang="ko-KR" sz="12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12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해지 현황</a:t>
                      </a:r>
                      <a:endParaRPr kumimoji="0" lang="ko-KR" altLang="en-US" sz="12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80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디지털 내부통제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내부통제 현황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부점명의통장 점검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부점별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부점명의통장 개설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해지 현황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(P106: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최진용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2" name="표 21"/>
          <p:cNvGraphicFramePr>
            <a:graphicFrameLocks noGrp="1"/>
          </p:cNvGraphicFramePr>
          <p:nvPr>
            <p:extLst/>
          </p:nvPr>
        </p:nvGraphicFramePr>
        <p:xfrm>
          <a:off x="261495" y="1711559"/>
          <a:ext cx="6745293" cy="594449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295117">
                  <a:extLst>
                    <a:ext uri="{9D8B030D-6E8A-4147-A177-3AD203B41FA5}">
                      <a16:colId xmlns:a16="http://schemas.microsoft.com/office/drawing/2014/main" val="4259443528"/>
                    </a:ext>
                  </a:extLst>
                </a:gridCol>
                <a:gridCol w="394909">
                  <a:extLst>
                    <a:ext uri="{9D8B030D-6E8A-4147-A177-3AD203B41FA5}">
                      <a16:colId xmlns:a16="http://schemas.microsoft.com/office/drawing/2014/main" val="2119051089"/>
                    </a:ext>
                  </a:extLst>
                </a:gridCol>
                <a:gridCol w="511918">
                  <a:extLst>
                    <a:ext uri="{9D8B030D-6E8A-4147-A177-3AD203B41FA5}">
                      <a16:colId xmlns:a16="http://schemas.microsoft.com/office/drawing/2014/main" val="2532418022"/>
                    </a:ext>
                  </a:extLst>
                </a:gridCol>
                <a:gridCol w="554335">
                  <a:extLst>
                    <a:ext uri="{9D8B030D-6E8A-4147-A177-3AD203B41FA5}">
                      <a16:colId xmlns:a16="http://schemas.microsoft.com/office/drawing/2014/main" val="4206506384"/>
                    </a:ext>
                  </a:extLst>
                </a:gridCol>
                <a:gridCol w="554335">
                  <a:extLst>
                    <a:ext uri="{9D8B030D-6E8A-4147-A177-3AD203B41FA5}">
                      <a16:colId xmlns:a16="http://schemas.microsoft.com/office/drawing/2014/main" val="615851146"/>
                    </a:ext>
                  </a:extLst>
                </a:gridCol>
                <a:gridCol w="953631">
                  <a:extLst>
                    <a:ext uri="{9D8B030D-6E8A-4147-A177-3AD203B41FA5}">
                      <a16:colId xmlns:a16="http://schemas.microsoft.com/office/drawing/2014/main" val="3441453235"/>
                    </a:ext>
                  </a:extLst>
                </a:gridCol>
                <a:gridCol w="621616">
                  <a:extLst>
                    <a:ext uri="{9D8B030D-6E8A-4147-A177-3AD203B41FA5}">
                      <a16:colId xmlns:a16="http://schemas.microsoft.com/office/drawing/2014/main" val="1254379941"/>
                    </a:ext>
                  </a:extLst>
                </a:gridCol>
                <a:gridCol w="476572">
                  <a:extLst>
                    <a:ext uri="{9D8B030D-6E8A-4147-A177-3AD203B41FA5}">
                      <a16:colId xmlns:a16="http://schemas.microsoft.com/office/drawing/2014/main" val="314168810"/>
                    </a:ext>
                  </a:extLst>
                </a:gridCol>
                <a:gridCol w="476572">
                  <a:extLst>
                    <a:ext uri="{9D8B030D-6E8A-4147-A177-3AD203B41FA5}">
                      <a16:colId xmlns:a16="http://schemas.microsoft.com/office/drawing/2014/main" val="2848667511"/>
                    </a:ext>
                  </a:extLst>
                </a:gridCol>
                <a:gridCol w="476572">
                  <a:extLst>
                    <a:ext uri="{9D8B030D-6E8A-4147-A177-3AD203B41FA5}">
                      <a16:colId xmlns:a16="http://schemas.microsoft.com/office/drawing/2014/main" val="3293562090"/>
                    </a:ext>
                  </a:extLst>
                </a:gridCol>
                <a:gridCol w="476572">
                  <a:extLst>
                    <a:ext uri="{9D8B030D-6E8A-4147-A177-3AD203B41FA5}">
                      <a16:colId xmlns:a16="http://schemas.microsoft.com/office/drawing/2014/main" val="4074324726"/>
                    </a:ext>
                  </a:extLst>
                </a:gridCol>
                <a:gridCol w="476572">
                  <a:extLst>
                    <a:ext uri="{9D8B030D-6E8A-4147-A177-3AD203B41FA5}">
                      <a16:colId xmlns:a16="http://schemas.microsoft.com/office/drawing/2014/main" val="329908245"/>
                    </a:ext>
                  </a:extLst>
                </a:gridCol>
                <a:gridCol w="476572">
                  <a:extLst>
                    <a:ext uri="{9D8B030D-6E8A-4147-A177-3AD203B41FA5}">
                      <a16:colId xmlns:a16="http://schemas.microsoft.com/office/drawing/2014/main" val="1857165065"/>
                    </a:ext>
                  </a:extLst>
                </a:gridCol>
              </a:tblGrid>
              <a:tr h="18667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순번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부점코드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부점한글명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은행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상품종류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계좌번호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사용용도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개설일자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만기일자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승인상태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등록직원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등록일시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부점장승인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541704"/>
                  </a:ext>
                </a:extLst>
              </a:tr>
              <a:tr h="205859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1104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총무부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국민은행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요구불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402001-01-******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본부부서 및 센터소관 업무 수행용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6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2021-02-03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승인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김총무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6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2021-02-13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Y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4588187"/>
                  </a:ext>
                </a:extLst>
              </a:tr>
              <a:tr h="186675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0130473"/>
                  </a:ext>
                </a:extLst>
              </a:tr>
            </a:tbl>
          </a:graphicData>
        </a:graphic>
      </p:graphicFrame>
      <p:sp>
        <p:nvSpPr>
          <p:cNvPr id="2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73890" y="972176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7" name="양쪽 모서리가 둥근 사각형 26"/>
          <p:cNvSpPr/>
          <p:nvPr/>
        </p:nvSpPr>
        <p:spPr bwMode="auto">
          <a:xfrm>
            <a:off x="280393" y="1046772"/>
            <a:ext cx="12988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60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부점별 부점명의통장 개설</a:t>
            </a:r>
            <a:r>
              <a:rPr lang="en-US" altLang="ko-KR" sz="60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/</a:t>
            </a:r>
            <a:r>
              <a:rPr lang="ko-KR" altLang="en-US" sz="60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해지 현황</a:t>
            </a:r>
            <a:endParaRPr kumimoji="0" lang="ko-KR" altLang="en-US" sz="60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8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80394" y="1232507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9" name="내용 개체 틀 121"/>
          <p:cNvGraphicFramePr>
            <a:graphicFrameLocks/>
          </p:cNvGraphicFramePr>
          <p:nvPr>
            <p:extLst/>
          </p:nvPr>
        </p:nvGraphicFramePr>
        <p:xfrm>
          <a:off x="273890" y="1317839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86643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1035050">
                  <a:extLst>
                    <a:ext uri="{9D8B030D-6E8A-4147-A177-3AD203B41FA5}">
                      <a16:colId xmlns:a16="http://schemas.microsoft.com/office/drawing/2014/main" val="3089572302"/>
                    </a:ext>
                  </a:extLst>
                </a:gridCol>
                <a:gridCol w="2887363">
                  <a:extLst>
                    <a:ext uri="{9D8B030D-6E8A-4147-A177-3AD203B41FA5}">
                      <a16:colId xmlns:a16="http://schemas.microsoft.com/office/drawing/2014/main" val="566354469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부서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kumimoji="0" lang="ko-KR" altLang="en-US" sz="700" i="0" u="none" strike="noStrike" kern="1200" cap="none" spc="-100" normalizeH="0" baseline="0" noProof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조회기준일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3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12861" y="1354568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57902" y="1361396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670291" y="1361430"/>
            <a:ext cx="1217354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34" name="그림 33"/>
          <p:cNvPicPr>
            <a:picLocks noChangeAspect="1"/>
          </p:cNvPicPr>
          <p:nvPr/>
        </p:nvPicPr>
        <p:blipFill rotWithShape="1">
          <a:blip r:embed="rId2"/>
          <a:srcRect r="73540"/>
          <a:stretch/>
        </p:blipFill>
        <p:spPr>
          <a:xfrm>
            <a:off x="1682991" y="1377952"/>
            <a:ext cx="183595" cy="164228"/>
          </a:xfrm>
          <a:prstGeom prst="rect">
            <a:avLst/>
          </a:prstGeom>
        </p:spPr>
      </p:pic>
      <p:sp>
        <p:nvSpPr>
          <p:cNvPr id="3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96971" y="1354325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엑셀출력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19930" y="97217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7" name="직사각형 36"/>
          <p:cNvSpPr/>
          <p:nvPr/>
        </p:nvSpPr>
        <p:spPr bwMode="auto">
          <a:xfrm>
            <a:off x="261495" y="1306189"/>
            <a:ext cx="5900178" cy="292550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32880" y="124287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32880" y="164181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41576" y="1359013"/>
            <a:ext cx="821497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2024-04-04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41" name="그림 4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81976" y="1362853"/>
            <a:ext cx="181098" cy="1732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515480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30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부점명의통장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입금분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중 당일 잔액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미정리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조회용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화면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조회조건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–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부서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: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부점별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또는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전체부서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조회 가능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기준년월일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33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MDD-00049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MDD72MMF100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부점명의통장 </a:t>
                      </a:r>
                      <a:r>
                        <a:rPr lang="ko-KR" altLang="en-US" sz="11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입금분</a:t>
                      </a:r>
                      <a:r>
                        <a:rPr lang="ko-KR" altLang="en-US" sz="11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중 당일 잔액 </a:t>
                      </a:r>
                      <a:r>
                        <a:rPr lang="ko-KR" altLang="en-US" sz="11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미정리</a:t>
                      </a:r>
                      <a:endParaRPr kumimoji="0" lang="ko-KR" altLang="en-US" sz="11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80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디지털 내부통제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내부통제 현황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부점명의통장 점검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부점명의통장 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입금분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중 당일 잔액 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미정리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(P107: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최진용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21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42084" y="892663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3" name="양쪽 모서리가 둥근 사각형 22"/>
          <p:cNvSpPr/>
          <p:nvPr/>
        </p:nvSpPr>
        <p:spPr bwMode="auto">
          <a:xfrm>
            <a:off x="248587" y="967259"/>
            <a:ext cx="181323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부점명의통장 입금분 중 당일 잔액 미정리</a:t>
            </a:r>
            <a:endParaRPr kumimoji="0" lang="ko-KR" altLang="en-US" sz="80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4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48588" y="1152994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5" name="내용 개체 틀 121"/>
          <p:cNvGraphicFramePr>
            <a:graphicFrameLocks/>
          </p:cNvGraphicFramePr>
          <p:nvPr>
            <p:extLst/>
          </p:nvPr>
        </p:nvGraphicFramePr>
        <p:xfrm>
          <a:off x="242084" y="1238326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86643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1035050">
                  <a:extLst>
                    <a:ext uri="{9D8B030D-6E8A-4147-A177-3AD203B41FA5}">
                      <a16:colId xmlns:a16="http://schemas.microsoft.com/office/drawing/2014/main" val="3089572302"/>
                    </a:ext>
                  </a:extLst>
                </a:gridCol>
                <a:gridCol w="2887363">
                  <a:extLst>
                    <a:ext uri="{9D8B030D-6E8A-4147-A177-3AD203B41FA5}">
                      <a16:colId xmlns:a16="http://schemas.microsoft.com/office/drawing/2014/main" val="566354469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부서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kumimoji="0" lang="ko-KR" altLang="en-US" sz="700" i="0" u="none" strike="noStrike" kern="1200" cap="none" spc="-100" normalizeH="0" baseline="0" noProof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기준년월일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4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81055" y="1275055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26096" y="1281883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638485" y="1281917"/>
            <a:ext cx="1217354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45" name="그림 44"/>
          <p:cNvPicPr>
            <a:picLocks noChangeAspect="1"/>
          </p:cNvPicPr>
          <p:nvPr/>
        </p:nvPicPr>
        <p:blipFill rotWithShape="1">
          <a:blip r:embed="rId2"/>
          <a:srcRect r="73540"/>
          <a:stretch/>
        </p:blipFill>
        <p:spPr>
          <a:xfrm>
            <a:off x="1651185" y="1298439"/>
            <a:ext cx="183595" cy="164228"/>
          </a:xfrm>
          <a:prstGeom prst="rect">
            <a:avLst/>
          </a:prstGeom>
        </p:spPr>
      </p:pic>
      <p:sp>
        <p:nvSpPr>
          <p:cNvPr id="4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65165" y="1274812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엑셀출력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88124" y="89266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8" name="직사각형 47"/>
          <p:cNvSpPr/>
          <p:nvPr/>
        </p:nvSpPr>
        <p:spPr bwMode="auto">
          <a:xfrm>
            <a:off x="229689" y="1226676"/>
            <a:ext cx="5900178" cy="292550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01074" y="116336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09770" y="1279500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52" name="그림 5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50170" y="1283340"/>
            <a:ext cx="181098" cy="173224"/>
          </a:xfrm>
          <a:prstGeom prst="rect">
            <a:avLst/>
          </a:prstGeom>
        </p:spPr>
      </p:pic>
      <p:sp>
        <p:nvSpPr>
          <p:cNvPr id="53" name="직사각형 5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083583" y="1279501"/>
            <a:ext cx="821497" cy="183298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2024-03-31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cxnSp>
        <p:nvCxnSpPr>
          <p:cNvPr id="54" name="직선 연결선 53"/>
          <p:cNvCxnSpPr/>
          <p:nvPr/>
        </p:nvCxnSpPr>
        <p:spPr bwMode="auto">
          <a:xfrm>
            <a:off x="4959842" y="1368014"/>
            <a:ext cx="86477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pic>
        <p:nvPicPr>
          <p:cNvPr id="55" name="그림 5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22849" y="1287406"/>
            <a:ext cx="181098" cy="173224"/>
          </a:xfrm>
          <a:prstGeom prst="rect">
            <a:avLst/>
          </a:prstGeom>
        </p:spPr>
      </p:pic>
      <p:graphicFrame>
        <p:nvGraphicFramePr>
          <p:cNvPr id="26" name="표 25"/>
          <p:cNvGraphicFramePr>
            <a:graphicFrameLocks noGrp="1"/>
          </p:cNvGraphicFramePr>
          <p:nvPr>
            <p:extLst/>
          </p:nvPr>
        </p:nvGraphicFramePr>
        <p:xfrm>
          <a:off x="228739" y="1638994"/>
          <a:ext cx="6745293" cy="613633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295117">
                  <a:extLst>
                    <a:ext uri="{9D8B030D-6E8A-4147-A177-3AD203B41FA5}">
                      <a16:colId xmlns:a16="http://schemas.microsoft.com/office/drawing/2014/main" val="4259443528"/>
                    </a:ext>
                  </a:extLst>
                </a:gridCol>
                <a:gridCol w="394909">
                  <a:extLst>
                    <a:ext uri="{9D8B030D-6E8A-4147-A177-3AD203B41FA5}">
                      <a16:colId xmlns:a16="http://schemas.microsoft.com/office/drawing/2014/main" val="2119051089"/>
                    </a:ext>
                  </a:extLst>
                </a:gridCol>
                <a:gridCol w="511918">
                  <a:extLst>
                    <a:ext uri="{9D8B030D-6E8A-4147-A177-3AD203B41FA5}">
                      <a16:colId xmlns:a16="http://schemas.microsoft.com/office/drawing/2014/main" val="2532418022"/>
                    </a:ext>
                  </a:extLst>
                </a:gridCol>
                <a:gridCol w="961709">
                  <a:extLst>
                    <a:ext uri="{9D8B030D-6E8A-4147-A177-3AD203B41FA5}">
                      <a16:colId xmlns:a16="http://schemas.microsoft.com/office/drawing/2014/main" val="4206506384"/>
                    </a:ext>
                  </a:extLst>
                </a:gridCol>
                <a:gridCol w="675861">
                  <a:extLst>
                    <a:ext uri="{9D8B030D-6E8A-4147-A177-3AD203B41FA5}">
                      <a16:colId xmlns:a16="http://schemas.microsoft.com/office/drawing/2014/main" val="3441453235"/>
                    </a:ext>
                  </a:extLst>
                </a:gridCol>
                <a:gridCol w="755374">
                  <a:extLst>
                    <a:ext uri="{9D8B030D-6E8A-4147-A177-3AD203B41FA5}">
                      <a16:colId xmlns:a16="http://schemas.microsoft.com/office/drawing/2014/main" val="1254379941"/>
                    </a:ext>
                  </a:extLst>
                </a:gridCol>
                <a:gridCol w="1137036">
                  <a:extLst>
                    <a:ext uri="{9D8B030D-6E8A-4147-A177-3AD203B41FA5}">
                      <a16:colId xmlns:a16="http://schemas.microsoft.com/office/drawing/2014/main" val="2848667511"/>
                    </a:ext>
                  </a:extLst>
                </a:gridCol>
                <a:gridCol w="583653">
                  <a:extLst>
                    <a:ext uri="{9D8B030D-6E8A-4147-A177-3AD203B41FA5}">
                      <a16:colId xmlns:a16="http://schemas.microsoft.com/office/drawing/2014/main" val="3293562090"/>
                    </a:ext>
                  </a:extLst>
                </a:gridCol>
                <a:gridCol w="632897">
                  <a:extLst>
                    <a:ext uri="{9D8B030D-6E8A-4147-A177-3AD203B41FA5}">
                      <a16:colId xmlns:a16="http://schemas.microsoft.com/office/drawing/2014/main" val="4074324726"/>
                    </a:ext>
                  </a:extLst>
                </a:gridCol>
                <a:gridCol w="796819">
                  <a:extLst>
                    <a:ext uri="{9D8B030D-6E8A-4147-A177-3AD203B41FA5}">
                      <a16:colId xmlns:a16="http://schemas.microsoft.com/office/drawing/2014/main" val="329908245"/>
                    </a:ext>
                  </a:extLst>
                </a:gridCol>
              </a:tblGrid>
              <a:tr h="18667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순번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부점코드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부점명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거래년월일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취급부점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취급부점명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사용자정보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단말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거래시각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541704"/>
                  </a:ext>
                </a:extLst>
              </a:tr>
              <a:tr h="205859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1104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총무부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4588187"/>
                  </a:ext>
                </a:extLst>
              </a:tr>
              <a:tr h="186675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  <a:p>
                      <a:pPr algn="ctr" fontAlgn="b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  <a:p>
                      <a:pPr algn="ctr" fontAlgn="b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  <a:p>
                      <a:pPr algn="ctr" fontAlgn="b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013047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1040666" y="2546774"/>
          <a:ext cx="5933368" cy="579209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741671">
                  <a:extLst>
                    <a:ext uri="{9D8B030D-6E8A-4147-A177-3AD203B41FA5}">
                      <a16:colId xmlns:a16="http://schemas.microsoft.com/office/drawing/2014/main" val="4259443528"/>
                    </a:ext>
                  </a:extLst>
                </a:gridCol>
                <a:gridCol w="741671">
                  <a:extLst>
                    <a:ext uri="{9D8B030D-6E8A-4147-A177-3AD203B41FA5}">
                      <a16:colId xmlns:a16="http://schemas.microsoft.com/office/drawing/2014/main" val="2532418022"/>
                    </a:ext>
                  </a:extLst>
                </a:gridCol>
                <a:gridCol w="741671">
                  <a:extLst>
                    <a:ext uri="{9D8B030D-6E8A-4147-A177-3AD203B41FA5}">
                      <a16:colId xmlns:a16="http://schemas.microsoft.com/office/drawing/2014/main" val="4206506384"/>
                    </a:ext>
                  </a:extLst>
                </a:gridCol>
                <a:gridCol w="741671">
                  <a:extLst>
                    <a:ext uri="{9D8B030D-6E8A-4147-A177-3AD203B41FA5}">
                      <a16:colId xmlns:a16="http://schemas.microsoft.com/office/drawing/2014/main" val="615851146"/>
                    </a:ext>
                  </a:extLst>
                </a:gridCol>
                <a:gridCol w="741671">
                  <a:extLst>
                    <a:ext uri="{9D8B030D-6E8A-4147-A177-3AD203B41FA5}">
                      <a16:colId xmlns:a16="http://schemas.microsoft.com/office/drawing/2014/main" val="3441453235"/>
                    </a:ext>
                  </a:extLst>
                </a:gridCol>
                <a:gridCol w="741671">
                  <a:extLst>
                    <a:ext uri="{9D8B030D-6E8A-4147-A177-3AD203B41FA5}">
                      <a16:colId xmlns:a16="http://schemas.microsoft.com/office/drawing/2014/main" val="737819661"/>
                    </a:ext>
                  </a:extLst>
                </a:gridCol>
                <a:gridCol w="741671">
                  <a:extLst>
                    <a:ext uri="{9D8B030D-6E8A-4147-A177-3AD203B41FA5}">
                      <a16:colId xmlns:a16="http://schemas.microsoft.com/office/drawing/2014/main" val="737024717"/>
                    </a:ext>
                  </a:extLst>
                </a:gridCol>
                <a:gridCol w="741671">
                  <a:extLst>
                    <a:ext uri="{9D8B030D-6E8A-4147-A177-3AD203B41FA5}">
                      <a16:colId xmlns:a16="http://schemas.microsoft.com/office/drawing/2014/main" val="3258027637"/>
                    </a:ext>
                  </a:extLst>
                </a:gridCol>
              </a:tblGrid>
              <a:tr h="18667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거래명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상품명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계좌번호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고객식별자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고객명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통화코드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거래금액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정산잔액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541704"/>
                  </a:ext>
                </a:extLst>
              </a:tr>
              <a:tr h="205859"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4588187"/>
                  </a:ext>
                </a:extLst>
              </a:tr>
              <a:tr h="186675"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013047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1587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30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부점명의통장 반출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반납 및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인장관리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현황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조회용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화면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조회조건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–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부서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: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부점별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또는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전체부서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조회 가능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기준년월일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보유중인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부점명의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통장 반출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반납 및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인장관리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현황을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준법지원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시스템정보와 연계하여 표시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33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MDD-00050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MDD72MMF200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부점명의통장 반출</a:t>
                      </a:r>
                      <a:r>
                        <a:rPr lang="en-US" altLang="ko-KR" sz="11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11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반납 및 </a:t>
                      </a:r>
                      <a:r>
                        <a:rPr lang="ko-KR" altLang="en-US" sz="11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인장관리</a:t>
                      </a:r>
                      <a:r>
                        <a:rPr lang="ko-KR" altLang="en-US" sz="11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현황</a:t>
                      </a:r>
                      <a:endParaRPr kumimoji="0" lang="ko-KR" altLang="en-US" sz="11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80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디지털 내부통제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내부통제 현황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부점명의통장 점검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부점명의통장 반출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반납 및 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인장관리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현황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(P108:</a:t>
                      </a:r>
                      <a:r>
                        <a:rPr lang="ko-KR" altLang="en-US" sz="8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최진용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6" name="표 25"/>
          <p:cNvGraphicFramePr>
            <a:graphicFrameLocks noGrp="1"/>
          </p:cNvGraphicFramePr>
          <p:nvPr>
            <p:extLst/>
          </p:nvPr>
        </p:nvGraphicFramePr>
        <p:xfrm>
          <a:off x="245597" y="1733309"/>
          <a:ext cx="6737592" cy="1008799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252000">
                  <a:extLst>
                    <a:ext uri="{9D8B030D-6E8A-4147-A177-3AD203B41FA5}">
                      <a16:colId xmlns:a16="http://schemas.microsoft.com/office/drawing/2014/main" val="3453231745"/>
                    </a:ext>
                  </a:extLst>
                </a:gridCol>
                <a:gridCol w="323958">
                  <a:extLst>
                    <a:ext uri="{9D8B030D-6E8A-4147-A177-3AD203B41FA5}">
                      <a16:colId xmlns:a16="http://schemas.microsoft.com/office/drawing/2014/main" val="3606402357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2031078731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60981400"/>
                    </a:ext>
                  </a:extLst>
                </a:gridCol>
                <a:gridCol w="413048">
                  <a:extLst>
                    <a:ext uri="{9D8B030D-6E8A-4147-A177-3AD203B41FA5}">
                      <a16:colId xmlns:a16="http://schemas.microsoft.com/office/drawing/2014/main" val="58752790"/>
                    </a:ext>
                  </a:extLst>
                </a:gridCol>
                <a:gridCol w="359797">
                  <a:extLst>
                    <a:ext uri="{9D8B030D-6E8A-4147-A177-3AD203B41FA5}">
                      <a16:colId xmlns:a16="http://schemas.microsoft.com/office/drawing/2014/main" val="1925364913"/>
                    </a:ext>
                  </a:extLst>
                </a:gridCol>
                <a:gridCol w="307571">
                  <a:extLst>
                    <a:ext uri="{9D8B030D-6E8A-4147-A177-3AD203B41FA5}">
                      <a16:colId xmlns:a16="http://schemas.microsoft.com/office/drawing/2014/main" val="3301454383"/>
                    </a:ext>
                  </a:extLst>
                </a:gridCol>
                <a:gridCol w="407324">
                  <a:extLst>
                    <a:ext uri="{9D8B030D-6E8A-4147-A177-3AD203B41FA5}">
                      <a16:colId xmlns:a16="http://schemas.microsoft.com/office/drawing/2014/main" val="1342839352"/>
                    </a:ext>
                  </a:extLst>
                </a:gridCol>
                <a:gridCol w="349135">
                  <a:extLst>
                    <a:ext uri="{9D8B030D-6E8A-4147-A177-3AD203B41FA5}">
                      <a16:colId xmlns:a16="http://schemas.microsoft.com/office/drawing/2014/main" val="790776991"/>
                    </a:ext>
                  </a:extLst>
                </a:gridCol>
                <a:gridCol w="266007">
                  <a:extLst>
                    <a:ext uri="{9D8B030D-6E8A-4147-A177-3AD203B41FA5}">
                      <a16:colId xmlns:a16="http://schemas.microsoft.com/office/drawing/2014/main" val="3559214427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2357242261"/>
                    </a:ext>
                  </a:extLst>
                </a:gridCol>
                <a:gridCol w="282633">
                  <a:extLst>
                    <a:ext uri="{9D8B030D-6E8A-4147-A177-3AD203B41FA5}">
                      <a16:colId xmlns:a16="http://schemas.microsoft.com/office/drawing/2014/main" val="4074797464"/>
                    </a:ext>
                  </a:extLst>
                </a:gridCol>
                <a:gridCol w="274320">
                  <a:extLst>
                    <a:ext uri="{9D8B030D-6E8A-4147-A177-3AD203B41FA5}">
                      <a16:colId xmlns:a16="http://schemas.microsoft.com/office/drawing/2014/main" val="167223813"/>
                    </a:ext>
                  </a:extLst>
                </a:gridCol>
                <a:gridCol w="482138">
                  <a:extLst>
                    <a:ext uri="{9D8B030D-6E8A-4147-A177-3AD203B41FA5}">
                      <a16:colId xmlns:a16="http://schemas.microsoft.com/office/drawing/2014/main" val="3056985160"/>
                    </a:ext>
                  </a:extLst>
                </a:gridCol>
                <a:gridCol w="349022">
                  <a:extLst>
                    <a:ext uri="{9D8B030D-6E8A-4147-A177-3AD203B41FA5}">
                      <a16:colId xmlns:a16="http://schemas.microsoft.com/office/drawing/2014/main" val="258867445"/>
                    </a:ext>
                  </a:extLst>
                </a:gridCol>
                <a:gridCol w="263796">
                  <a:extLst>
                    <a:ext uri="{9D8B030D-6E8A-4147-A177-3AD203B41FA5}">
                      <a16:colId xmlns:a16="http://schemas.microsoft.com/office/drawing/2014/main" val="136484093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579383697"/>
                    </a:ext>
                  </a:extLst>
                </a:gridCol>
                <a:gridCol w="288000">
                  <a:extLst>
                    <a:ext uri="{9D8B030D-6E8A-4147-A177-3AD203B41FA5}">
                      <a16:colId xmlns:a16="http://schemas.microsoft.com/office/drawing/2014/main" val="1770900952"/>
                    </a:ext>
                  </a:extLst>
                </a:gridCol>
                <a:gridCol w="284932">
                  <a:extLst>
                    <a:ext uri="{9D8B030D-6E8A-4147-A177-3AD203B41FA5}">
                      <a16:colId xmlns:a16="http://schemas.microsoft.com/office/drawing/2014/main" val="2867486728"/>
                    </a:ext>
                  </a:extLst>
                </a:gridCol>
                <a:gridCol w="249911">
                  <a:extLst>
                    <a:ext uri="{9D8B030D-6E8A-4147-A177-3AD203B41FA5}">
                      <a16:colId xmlns:a16="http://schemas.microsoft.com/office/drawing/2014/main" val="3885072189"/>
                    </a:ext>
                  </a:extLst>
                </a:gridCol>
              </a:tblGrid>
              <a:tr h="146225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부점코드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부점명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거래일자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계좌번호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사용내용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출금액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인장날인</a:t>
                      </a:r>
                      <a:br>
                        <a:rPr lang="ko-KR" altLang="en-US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</a:br>
                      <a:r>
                        <a:rPr lang="ko-KR" altLang="en-US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비대상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통장반출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직인날인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통장반납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비고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41514882"/>
                  </a:ext>
                </a:extLst>
              </a:tr>
              <a:tr h="1462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시간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인수자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날인시간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날인자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입회시간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입회자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시간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인수자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63723873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0752</a:t>
                      </a:r>
                      <a:endParaRPr lang="en-US" altLang="ko-KR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준법추진부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2024-01-15</a:t>
                      </a:r>
                      <a:endParaRPr lang="en-US" altLang="ko-KR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400401-01-******</a:t>
                      </a:r>
                      <a:endParaRPr lang="en-US" altLang="ko-KR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법률</a:t>
                      </a:r>
                      <a:r>
                        <a:rPr lang="en-US" altLang="ko-KR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급여환급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2,464,415</a:t>
                      </a:r>
                      <a:endParaRPr lang="en-US" altLang="ko-KR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2024-01-15 13:06:37</a:t>
                      </a:r>
                      <a:endParaRPr lang="en-US" altLang="ko-KR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2351111</a:t>
                      </a:r>
                      <a:endParaRPr lang="en-US" altLang="ko-KR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endParaRPr lang="ko-KR" altLang="en-US" sz="5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2024-01-15 14:00:15</a:t>
                      </a:r>
                      <a:endParaRPr lang="en-US" altLang="ko-KR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1906111 </a:t>
                      </a:r>
                      <a:endParaRPr lang="en-US" altLang="ko-KR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김팀장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2024-01-15 14:03:23</a:t>
                      </a:r>
                      <a:endParaRPr lang="en-US" altLang="ko-KR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1541111</a:t>
                      </a:r>
                      <a:endParaRPr lang="en-US" altLang="ko-KR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김통장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2024-01-15 14:49:33</a:t>
                      </a:r>
                      <a:endParaRPr lang="en-US" altLang="ko-KR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1629001</a:t>
                      </a:r>
                      <a:endParaRPr lang="en-US" altLang="ko-KR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최사원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7447590"/>
                  </a:ext>
                </a:extLst>
              </a:tr>
              <a:tr h="35634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0752</a:t>
                      </a:r>
                      <a:endParaRPr lang="en-US" altLang="ko-KR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준법추진부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2024-01-17</a:t>
                      </a:r>
                      <a:endParaRPr lang="en-US" altLang="ko-KR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400401-01-******</a:t>
                      </a:r>
                      <a:endParaRPr lang="en-US" altLang="ko-KR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퇴직금지급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42,909,319</a:t>
                      </a:r>
                      <a:endParaRPr lang="en-US" altLang="ko-KR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2024-01-17 15:45:11</a:t>
                      </a:r>
                      <a:endParaRPr lang="en-US" altLang="ko-KR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3161111</a:t>
                      </a:r>
                      <a:endParaRPr lang="en-US" altLang="ko-KR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홍길선</a:t>
                      </a:r>
                      <a:endParaRPr lang="ko-KR" altLang="en-US" sz="5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2024-01-17 15:47:19</a:t>
                      </a:r>
                      <a:endParaRPr lang="en-US" altLang="ko-KR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1906111 </a:t>
                      </a:r>
                      <a:endParaRPr lang="en-US" altLang="ko-KR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김팀장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2024-01-17 15:57:16</a:t>
                      </a:r>
                      <a:endParaRPr lang="en-US" altLang="ko-KR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1541111 </a:t>
                      </a:r>
                      <a:endParaRPr lang="en-US" altLang="ko-KR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김통장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2024-01-17 16:37:05</a:t>
                      </a:r>
                      <a:endParaRPr lang="en-US" altLang="ko-KR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1629001 </a:t>
                      </a:r>
                      <a:endParaRPr lang="en-US" altLang="ko-KR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최사원</a:t>
                      </a:r>
                      <a:endParaRPr lang="ko-KR" altLang="en-US" sz="5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398" marR="4398" marT="439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9051649"/>
                  </a:ext>
                </a:extLst>
              </a:tr>
            </a:tbl>
          </a:graphicData>
        </a:graphic>
      </p:graphicFrame>
      <p:sp>
        <p:nvSpPr>
          <p:cNvPr id="27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57991" y="988079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8" name="양쪽 모서리가 둥근 사각형 27"/>
          <p:cNvSpPr/>
          <p:nvPr/>
        </p:nvSpPr>
        <p:spPr bwMode="auto">
          <a:xfrm>
            <a:off x="264494" y="1062675"/>
            <a:ext cx="181323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부점명의통장 반출</a:t>
            </a:r>
            <a:r>
              <a:rPr lang="en-US" altLang="ko-KR" sz="80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/</a:t>
            </a:r>
            <a:r>
              <a:rPr lang="ko-KR" altLang="en-US" sz="80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반납 및 인장관리 현황</a:t>
            </a:r>
            <a:endParaRPr kumimoji="0" lang="ko-KR" altLang="en-US" sz="80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9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64495" y="1248410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30" name="내용 개체 틀 121"/>
          <p:cNvGraphicFramePr>
            <a:graphicFrameLocks/>
          </p:cNvGraphicFramePr>
          <p:nvPr>
            <p:extLst/>
          </p:nvPr>
        </p:nvGraphicFramePr>
        <p:xfrm>
          <a:off x="257991" y="1333742"/>
          <a:ext cx="6726398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55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86643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1035050">
                  <a:extLst>
                    <a:ext uri="{9D8B030D-6E8A-4147-A177-3AD203B41FA5}">
                      <a16:colId xmlns:a16="http://schemas.microsoft.com/office/drawing/2014/main" val="3089572302"/>
                    </a:ext>
                  </a:extLst>
                </a:gridCol>
                <a:gridCol w="2887363">
                  <a:extLst>
                    <a:ext uri="{9D8B030D-6E8A-4147-A177-3AD203B41FA5}">
                      <a16:colId xmlns:a16="http://schemas.microsoft.com/office/drawing/2014/main" val="566354469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부서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kumimoji="0" lang="ko-KR" altLang="en-US" sz="700" i="0" u="none" strike="noStrike" kern="1200" cap="none" spc="-100" normalizeH="0" baseline="0" noProof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기준년월일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3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96962" y="1370471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42003" y="1377299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654392" y="1377333"/>
            <a:ext cx="1217354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35" name="그림 34"/>
          <p:cNvPicPr>
            <a:picLocks noChangeAspect="1"/>
          </p:cNvPicPr>
          <p:nvPr/>
        </p:nvPicPr>
        <p:blipFill rotWithShape="1">
          <a:blip r:embed="rId2"/>
          <a:srcRect r="73540"/>
          <a:stretch/>
        </p:blipFill>
        <p:spPr>
          <a:xfrm>
            <a:off x="1667092" y="1393855"/>
            <a:ext cx="183595" cy="164228"/>
          </a:xfrm>
          <a:prstGeom prst="rect">
            <a:avLst/>
          </a:prstGeom>
        </p:spPr>
      </p:pic>
      <p:sp>
        <p:nvSpPr>
          <p:cNvPr id="3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81072" y="1370228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엑셀출력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04031" y="98807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8" name="직사각형 37"/>
          <p:cNvSpPr/>
          <p:nvPr/>
        </p:nvSpPr>
        <p:spPr bwMode="auto">
          <a:xfrm>
            <a:off x="245596" y="1322092"/>
            <a:ext cx="5900178" cy="292550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16981" y="125878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16981" y="165771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25677" y="1374916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56" name="그림 5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66077" y="1378756"/>
            <a:ext cx="181098" cy="173224"/>
          </a:xfrm>
          <a:prstGeom prst="rect">
            <a:avLst/>
          </a:prstGeom>
        </p:spPr>
      </p:pic>
      <p:sp>
        <p:nvSpPr>
          <p:cNvPr id="57" name="직사각형 5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099490" y="1374917"/>
            <a:ext cx="821497" cy="183298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2024-03-31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cxnSp>
        <p:nvCxnSpPr>
          <p:cNvPr id="58" name="직선 연결선 57"/>
          <p:cNvCxnSpPr/>
          <p:nvPr/>
        </p:nvCxnSpPr>
        <p:spPr bwMode="auto">
          <a:xfrm>
            <a:off x="4975749" y="1463430"/>
            <a:ext cx="86477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pic>
        <p:nvPicPr>
          <p:cNvPr id="59" name="그림 5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38756" y="1382822"/>
            <a:ext cx="181098" cy="1732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451394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표 7"/>
          <p:cNvGraphicFramePr>
            <a:graphicFrameLocks noGrp="1"/>
          </p:cNvGraphicFramePr>
          <p:nvPr>
            <p:extLst/>
          </p:nvPr>
        </p:nvGraphicFramePr>
        <p:xfrm>
          <a:off x="296025" y="1501059"/>
          <a:ext cx="6683588" cy="27208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8375">
                  <a:extLst>
                    <a:ext uri="{9D8B030D-6E8A-4147-A177-3AD203B41FA5}">
                      <a16:colId xmlns:a16="http://schemas.microsoft.com/office/drawing/2014/main" val="76529090"/>
                    </a:ext>
                  </a:extLst>
                </a:gridCol>
                <a:gridCol w="1494845">
                  <a:extLst>
                    <a:ext uri="{9D8B030D-6E8A-4147-A177-3AD203B41FA5}">
                      <a16:colId xmlns:a16="http://schemas.microsoft.com/office/drawing/2014/main" val="158312865"/>
                    </a:ext>
                  </a:extLst>
                </a:gridCol>
                <a:gridCol w="715618">
                  <a:extLst>
                    <a:ext uri="{9D8B030D-6E8A-4147-A177-3AD203B41FA5}">
                      <a16:colId xmlns:a16="http://schemas.microsoft.com/office/drawing/2014/main" val="4148962399"/>
                    </a:ext>
                  </a:extLst>
                </a:gridCol>
                <a:gridCol w="3854750">
                  <a:extLst>
                    <a:ext uri="{9D8B030D-6E8A-4147-A177-3AD203B41FA5}">
                      <a16:colId xmlns:a16="http://schemas.microsoft.com/office/drawing/2014/main" val="4247419316"/>
                    </a:ext>
                  </a:extLst>
                </a:gridCol>
              </a:tblGrid>
              <a:tr h="272087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</a:rPr>
                        <a:t>부점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</a:rPr>
                        <a:t>조회기준일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7870088"/>
                  </a:ext>
                </a:extLst>
              </a:tr>
            </a:tbl>
          </a:graphicData>
        </a:graphic>
      </p:graphicFrame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6117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부점명의통장 잔액통지등록 현황을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또는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전체부서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 가능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조회기준일을 조회조건으로 조회한다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8825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조회기준일은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현재일자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고정한다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보유중인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부점명의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통장 잔액통지등록 정보를 </a:t>
                      </a:r>
                      <a:r>
                        <a:rPr lang="en-US" altLang="ko-KR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MyStar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와 연계하여 표시한다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MyStar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 테이블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·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컬럼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연계대상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식별 후 기재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u="sng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※ </a:t>
                      </a:r>
                      <a:r>
                        <a:rPr lang="ko-KR" altLang="en-US" sz="800" u="sng" dirty="0" err="1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조회기준은</a:t>
                      </a:r>
                      <a:r>
                        <a:rPr lang="ko-KR" altLang="en-US" sz="800" u="sng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담당자 최종 확인 필요</a:t>
                      </a:r>
                      <a:endParaRPr lang="en-US" altLang="ko-KR" sz="800" u="sng" dirty="0" smtClean="0">
                        <a:solidFill>
                          <a:srgbClr val="2272F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sp>
        <p:nvSpPr>
          <p:cNvPr id="25" name="직사각형 24"/>
          <p:cNvSpPr/>
          <p:nvPr/>
        </p:nvSpPr>
        <p:spPr bwMode="auto">
          <a:xfrm>
            <a:off x="295649" y="1470689"/>
            <a:ext cx="3767468" cy="324348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MDD-00051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MDD72MMF300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부점명의통장 잔액통지등록 현황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r>
                        <a:rPr lang="en-US" altLang="ko-KR" sz="8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디지털 내부통제</a:t>
                      </a:r>
                      <a:r>
                        <a:rPr lang="en-US" altLang="ko-KR" sz="8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내부통제 현황</a:t>
                      </a:r>
                      <a:r>
                        <a:rPr lang="en-US" altLang="ko-KR" sz="8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부점명의통장 점검</a:t>
                      </a:r>
                      <a:r>
                        <a:rPr lang="en-US" altLang="ko-KR" sz="8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부점명의통장 잔액통지등록 현황</a:t>
                      </a:r>
                      <a:r>
                        <a:rPr lang="en-US" altLang="ko-KR" sz="800" b="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(P109:</a:t>
                      </a:r>
                      <a:r>
                        <a:rPr lang="ko-KR" altLang="en-US" sz="800" b="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강지웅</a:t>
                      </a:r>
                      <a:r>
                        <a:rPr lang="en-US" altLang="ko-KR" sz="800" b="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r>
                        <a:rPr lang="en-US" altLang="ko-KR" sz="900" b="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endParaRPr lang="ko-KR" altLang="en-US" sz="1050" b="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30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69968" y="1254563"/>
            <a:ext cx="6726396" cy="319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5" name="양쪽 모서리가 둥근 사각형 34"/>
          <p:cNvSpPr/>
          <p:nvPr/>
        </p:nvSpPr>
        <p:spPr bwMode="auto">
          <a:xfrm>
            <a:off x="288074" y="1003031"/>
            <a:ext cx="1882632" cy="238010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8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부점명의통장 잔액통지등록 현황</a:t>
            </a:r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82044" y="1050810"/>
            <a:ext cx="134087" cy="141144"/>
          </a:xfrm>
          <a:prstGeom prst="rect">
            <a:avLst/>
          </a:prstGeom>
        </p:spPr>
      </p:pic>
      <p:pic>
        <p:nvPicPr>
          <p:cNvPr id="9" name="그림 8"/>
          <p:cNvPicPr>
            <a:picLocks noChangeAspect="1"/>
          </p:cNvPicPr>
          <p:nvPr/>
        </p:nvPicPr>
        <p:blipFill rotWithShape="1">
          <a:blip r:embed="rId3"/>
          <a:srcRect t="1" r="18593" b="3489"/>
          <a:stretch/>
        </p:blipFill>
        <p:spPr>
          <a:xfrm>
            <a:off x="964334" y="1541539"/>
            <a:ext cx="1397203" cy="199803"/>
          </a:xfrm>
          <a:prstGeom prst="rect">
            <a:avLst/>
          </a:prstGeom>
        </p:spPr>
      </p:pic>
      <p:pic>
        <p:nvPicPr>
          <p:cNvPr id="14" name="그림 1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09037" y="1806795"/>
            <a:ext cx="1287327" cy="250313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288074" y="1254563"/>
            <a:ext cx="188263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0" lang="ko-KR" altLang="en-US" sz="10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부점명의통장 잔액통지등록 </a:t>
            </a:r>
            <a:r>
              <a:rPr kumimoji="0" lang="ko-KR" altLang="en-US" sz="10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현황</a:t>
            </a:r>
            <a:endParaRPr kumimoji="0" lang="ko-KR" altLang="en-US" sz="10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3150295" y="1541538"/>
            <a:ext cx="810282" cy="206125"/>
            <a:chOff x="3150295" y="1541538"/>
            <a:chExt cx="810282" cy="206125"/>
          </a:xfrm>
        </p:grpSpPr>
        <p:pic>
          <p:nvPicPr>
            <p:cNvPr id="13" name="그림 12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3150295" y="1541539"/>
              <a:ext cx="810282" cy="206124"/>
            </a:xfrm>
            <a:prstGeom prst="rect">
              <a:avLst/>
            </a:prstGeom>
          </p:spPr>
        </p:pic>
        <p:sp>
          <p:nvSpPr>
            <p:cNvPr id="4" name="직사각형 3"/>
            <p:cNvSpPr/>
            <p:nvPr/>
          </p:nvSpPr>
          <p:spPr bwMode="auto">
            <a:xfrm>
              <a:off x="3150295" y="1541538"/>
              <a:ext cx="810282" cy="199803"/>
            </a:xfrm>
            <a:prstGeom prst="rect">
              <a:avLst/>
            </a:prstGeom>
            <a:solidFill>
              <a:schemeClr val="bg1">
                <a:lumMod val="95000"/>
                <a:alpha val="47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algn="ctr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400" b="1" i="0" u="none" strike="noStrike" kern="0" cap="none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26" name="타원 2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25698" y="1551863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270921" y="3328211"/>
          <a:ext cx="6726395" cy="937163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345279">
                  <a:extLst>
                    <a:ext uri="{9D8B030D-6E8A-4147-A177-3AD203B41FA5}">
                      <a16:colId xmlns:a16="http://schemas.microsoft.com/office/drawing/2014/main" val="4259443528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2119051089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2532418022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2848667511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3024964874"/>
                    </a:ext>
                  </a:extLst>
                </a:gridCol>
              </a:tblGrid>
              <a:tr h="2304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조회정보</a:t>
                      </a:r>
                      <a:endParaRPr lang="ko-KR" altLang="en-US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연계시스템</a:t>
                      </a:r>
                      <a:endParaRPr lang="ko-KR" altLang="en-US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연계테이블</a:t>
                      </a:r>
                      <a:endParaRPr lang="en-US" altLang="ko-KR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연계정보</a:t>
                      </a:r>
                      <a:endParaRPr lang="en-US" altLang="ko-KR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연계정보</a:t>
                      </a:r>
                      <a:r>
                        <a:rPr lang="en-US" altLang="ko-KR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541704"/>
                  </a:ext>
                </a:extLst>
              </a:tr>
              <a:tr h="706763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부점명의 통장 잔액통지등록</a:t>
                      </a:r>
                      <a:endParaRPr lang="en-US" altLang="ko-KR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900" b="0" i="0" u="none" strike="noStrike" dirty="0" err="1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MyStar</a:t>
                      </a:r>
                      <a:endParaRPr lang="en-US" altLang="ko-KR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확인필요</a:t>
                      </a:r>
                      <a:endParaRPr lang="ko-KR" altLang="en-US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 err="1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관련화면</a:t>
                      </a: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부점명의통장 잔액 통지등록현황</a:t>
                      </a: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(06-10-135)</a:t>
                      </a:r>
                      <a:endParaRPr lang="ko-KR" altLang="en-US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소관부서</a:t>
                      </a:r>
                      <a:r>
                        <a:rPr lang="en-US" altLang="ko-KR" sz="900" b="0" i="0" u="none" strike="noStrike" baseline="0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및 담당자 별도 </a:t>
                      </a:r>
                      <a:r>
                        <a:rPr lang="ko-KR" altLang="en-US" sz="900" b="0" i="0" u="none" strike="noStrike" baseline="0" dirty="0" err="1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확인필요</a:t>
                      </a:r>
                      <a:endParaRPr lang="en-US" altLang="ko-KR" sz="900" b="0" i="0" u="none" strike="noStrike" baseline="0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900" b="0" i="0" u="none" strike="noStrike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4588187"/>
                  </a:ext>
                </a:extLst>
              </a:tr>
            </a:tbl>
          </a:graphicData>
        </a:graphic>
      </p:graphicFrame>
      <p:sp>
        <p:nvSpPr>
          <p:cNvPr id="28" name="직사각형 27"/>
          <p:cNvSpPr/>
          <p:nvPr/>
        </p:nvSpPr>
        <p:spPr bwMode="auto">
          <a:xfrm>
            <a:off x="3150296" y="1512774"/>
            <a:ext cx="810282" cy="251066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9" name="표 28"/>
          <p:cNvGraphicFramePr>
            <a:graphicFrameLocks noGrp="1"/>
          </p:cNvGraphicFramePr>
          <p:nvPr>
            <p:extLst/>
          </p:nvPr>
        </p:nvGraphicFramePr>
        <p:xfrm>
          <a:off x="264282" y="2092106"/>
          <a:ext cx="6737767" cy="834372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378067">
                  <a:extLst>
                    <a:ext uri="{9D8B030D-6E8A-4147-A177-3AD203B41FA5}">
                      <a16:colId xmlns:a16="http://schemas.microsoft.com/office/drawing/2014/main" val="763203661"/>
                    </a:ext>
                  </a:extLst>
                </a:gridCol>
                <a:gridCol w="634863">
                  <a:extLst>
                    <a:ext uri="{9D8B030D-6E8A-4147-A177-3AD203B41FA5}">
                      <a16:colId xmlns:a16="http://schemas.microsoft.com/office/drawing/2014/main" val="1221569716"/>
                    </a:ext>
                  </a:extLst>
                </a:gridCol>
                <a:gridCol w="634863">
                  <a:extLst>
                    <a:ext uri="{9D8B030D-6E8A-4147-A177-3AD203B41FA5}">
                      <a16:colId xmlns:a16="http://schemas.microsoft.com/office/drawing/2014/main" val="2848159770"/>
                    </a:ext>
                  </a:extLst>
                </a:gridCol>
                <a:gridCol w="1102848">
                  <a:extLst>
                    <a:ext uri="{9D8B030D-6E8A-4147-A177-3AD203B41FA5}">
                      <a16:colId xmlns:a16="http://schemas.microsoft.com/office/drawing/2014/main" val="2238765610"/>
                    </a:ext>
                  </a:extLst>
                </a:gridCol>
                <a:gridCol w="774432">
                  <a:extLst>
                    <a:ext uri="{9D8B030D-6E8A-4147-A177-3AD203B41FA5}">
                      <a16:colId xmlns:a16="http://schemas.microsoft.com/office/drawing/2014/main" val="381216421"/>
                    </a:ext>
                  </a:extLst>
                </a:gridCol>
                <a:gridCol w="1070898">
                  <a:extLst>
                    <a:ext uri="{9D8B030D-6E8A-4147-A177-3AD203B41FA5}">
                      <a16:colId xmlns:a16="http://schemas.microsoft.com/office/drawing/2014/main" val="3587823291"/>
                    </a:ext>
                  </a:extLst>
                </a:gridCol>
                <a:gridCol w="1070898">
                  <a:extLst>
                    <a:ext uri="{9D8B030D-6E8A-4147-A177-3AD203B41FA5}">
                      <a16:colId xmlns:a16="http://schemas.microsoft.com/office/drawing/2014/main" val="1094098727"/>
                    </a:ext>
                  </a:extLst>
                </a:gridCol>
                <a:gridCol w="1070898">
                  <a:extLst>
                    <a:ext uri="{9D8B030D-6E8A-4147-A177-3AD203B41FA5}">
                      <a16:colId xmlns:a16="http://schemas.microsoft.com/office/drawing/2014/main" val="4130044449"/>
                    </a:ext>
                  </a:extLst>
                </a:gridCol>
              </a:tblGrid>
              <a:tr h="20859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순번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부점코드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부점한글명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계좌번호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처리구분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직원번호</a:t>
                      </a:r>
                      <a:r>
                        <a:rPr lang="en-US" altLang="ko-KR" sz="8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직원번호</a:t>
                      </a:r>
                      <a:r>
                        <a:rPr lang="en-US" altLang="ko-KR" sz="8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직원번호</a:t>
                      </a:r>
                      <a:r>
                        <a:rPr lang="en-US" altLang="ko-KR" sz="8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6482762"/>
                  </a:ext>
                </a:extLst>
              </a:tr>
              <a:tr h="208593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1104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총무부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400401-01-******</a:t>
                      </a:r>
                      <a:r>
                        <a:rPr lang="ko-KR" altLang="en-US" sz="8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r>
                        <a:rPr lang="ko-KR" altLang="en-US" sz="8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[1452111]</a:t>
                      </a:r>
                      <a:r>
                        <a:rPr lang="en-US" altLang="ko-KR" sz="8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[2345111]</a:t>
                      </a:r>
                      <a:r>
                        <a:rPr lang="en-US" altLang="ko-KR" sz="800" b="0" u="none" strike="noStrike" baseline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u="none" strike="noStrike" baseline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김사원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6694348"/>
                  </a:ext>
                </a:extLst>
              </a:tr>
              <a:tr h="208593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1104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총무부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400402-02-******</a:t>
                      </a:r>
                      <a:r>
                        <a:rPr lang="ko-KR" altLang="en-US" sz="8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해지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[1452111]</a:t>
                      </a:r>
                      <a:r>
                        <a:rPr lang="en-US" altLang="ko-KR" sz="8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[2345111]</a:t>
                      </a:r>
                      <a:r>
                        <a:rPr lang="en-US" altLang="ko-KR" sz="800" b="0" u="none" strike="noStrike" baseline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u="none" strike="noStrike" baseline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김사원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[1624111] </a:t>
                      </a:r>
                      <a:r>
                        <a:rPr lang="ko-KR" altLang="en-US" sz="800" b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박팀장</a:t>
                      </a:r>
                      <a:r>
                        <a:rPr lang="ko-KR" altLang="en-US" sz="8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6283162"/>
                  </a:ext>
                </a:extLst>
              </a:tr>
              <a:tr h="208593"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800" b="0" i="0" u="none" strike="noStrike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en-US" altLang="ko-KR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u="none" strike="noStrike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u="none" strike="noStrike" dirty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7739" marR="7739" marT="7739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85869838"/>
                  </a:ext>
                </a:extLst>
              </a:tr>
            </a:tbl>
          </a:graphicData>
        </a:graphic>
      </p:graphicFrame>
      <p:sp>
        <p:nvSpPr>
          <p:cNvPr id="39" name="타원 3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005403" y="154394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25861" y="2305359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90641" y="3220676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875978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표 7"/>
          <p:cNvGraphicFramePr>
            <a:graphicFrameLocks noGrp="1"/>
          </p:cNvGraphicFramePr>
          <p:nvPr>
            <p:extLst/>
          </p:nvPr>
        </p:nvGraphicFramePr>
        <p:xfrm>
          <a:off x="296025" y="1501054"/>
          <a:ext cx="6683588" cy="27208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8375">
                  <a:extLst>
                    <a:ext uri="{9D8B030D-6E8A-4147-A177-3AD203B41FA5}">
                      <a16:colId xmlns:a16="http://schemas.microsoft.com/office/drawing/2014/main" val="76529090"/>
                    </a:ext>
                  </a:extLst>
                </a:gridCol>
                <a:gridCol w="1494845">
                  <a:extLst>
                    <a:ext uri="{9D8B030D-6E8A-4147-A177-3AD203B41FA5}">
                      <a16:colId xmlns:a16="http://schemas.microsoft.com/office/drawing/2014/main" val="158312865"/>
                    </a:ext>
                  </a:extLst>
                </a:gridCol>
                <a:gridCol w="715618">
                  <a:extLst>
                    <a:ext uri="{9D8B030D-6E8A-4147-A177-3AD203B41FA5}">
                      <a16:colId xmlns:a16="http://schemas.microsoft.com/office/drawing/2014/main" val="4148962399"/>
                    </a:ext>
                  </a:extLst>
                </a:gridCol>
                <a:gridCol w="3854750">
                  <a:extLst>
                    <a:ext uri="{9D8B030D-6E8A-4147-A177-3AD203B41FA5}">
                      <a16:colId xmlns:a16="http://schemas.microsoft.com/office/drawing/2014/main" val="4247419316"/>
                    </a:ext>
                  </a:extLst>
                </a:gridCol>
              </a:tblGrid>
              <a:tr h="272087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</a:rPr>
                        <a:t>부점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</a:rPr>
                        <a:t>조회기준일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7870088"/>
                  </a:ext>
                </a:extLst>
              </a:tr>
            </a:tbl>
          </a:graphicData>
        </a:graphic>
      </p:graphicFrame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0451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정기적 점검사항 이행 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점검표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현황을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또는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전체부서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 가능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조회기준일을 조회조건으로 조회한다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30547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조회기준일은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현재일자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고정한다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2937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부서별 정기적 점검사항 이행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현황 표시한다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준법지원시스템</a:t>
                      </a:r>
                      <a:r>
                        <a:rPr lang="en-US" altLang="ko-KR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정기적점검사항</a:t>
                      </a:r>
                      <a:r>
                        <a:rPr lang="en-US" altLang="ko-KR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</a:t>
                      </a:r>
                      <a:r>
                        <a:rPr lang="ko-KR" altLang="en-US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</a:t>
                      </a:r>
                      <a:r>
                        <a:rPr lang="en-US" altLang="ko-KR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</a:t>
                      </a:r>
                      <a:r>
                        <a:rPr lang="ko-KR" altLang="en-US" sz="800" dirty="0" err="1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점검사항이행점검표</a:t>
                      </a:r>
                      <a:r>
                        <a:rPr lang="ko-KR" altLang="en-US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화면과 동일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준법지원시스템 화면에서 조회되는 정보를 동일하게 연계한다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·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테이블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TSAMLBL49 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정기적점검사항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집계현황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), TSAMLPI04(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정기적점검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점검이력정보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·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컬럼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부점코드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정기점검항목코드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제외대상여부 등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6688468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4627366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0456336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MDD-00052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MDD72MMO100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정기적 점검사항 이행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점검표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현황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lvl="0" algn="l"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ko-KR" altLang="en-US" sz="80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본부감사</a:t>
                      </a:r>
                      <a:r>
                        <a:rPr kumimoji="0" lang="en-US" altLang="ko-KR" sz="80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&gt;</a:t>
                      </a:r>
                      <a:r>
                        <a:rPr kumimoji="0" lang="ko-KR" altLang="en-US" sz="80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디지털내부통제</a:t>
                      </a:r>
                      <a:r>
                        <a:rPr kumimoji="0" lang="en-US" altLang="ko-KR" sz="80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&gt;</a:t>
                      </a:r>
                      <a:r>
                        <a:rPr kumimoji="0" lang="ko-KR" altLang="en-US" sz="80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내부통제 현황</a:t>
                      </a:r>
                      <a:r>
                        <a:rPr kumimoji="0" lang="en-US" altLang="ko-KR" sz="80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&gt;</a:t>
                      </a:r>
                      <a:r>
                        <a:rPr kumimoji="0" lang="ko-KR" altLang="en-US" sz="80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정기적 점검사항 점검</a:t>
                      </a:r>
                      <a:r>
                        <a:rPr kumimoji="0" lang="en-US" altLang="ko-KR" sz="80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&gt;</a:t>
                      </a:r>
                      <a:r>
                        <a:rPr kumimoji="0" lang="ko-KR" altLang="en-US" sz="80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정기적점검사항 이행 </a:t>
                      </a:r>
                      <a:r>
                        <a:rPr kumimoji="0" lang="ko-KR" altLang="en-US" sz="800" kern="0" dirty="0" err="1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점검표</a:t>
                      </a:r>
                      <a:r>
                        <a:rPr kumimoji="0" lang="ko-KR" altLang="en-US" sz="80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현황</a:t>
                      </a:r>
                      <a:r>
                        <a:rPr kumimoji="0" lang="en-US" altLang="ko-KR" sz="80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(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P110:</a:t>
                      </a:r>
                      <a:r>
                        <a:rPr lang="ko-KR" altLang="en-US" sz="80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강지웅</a:t>
                      </a:r>
                      <a:r>
                        <a:rPr lang="en-US" altLang="ko-KR" sz="8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30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69968" y="1254563"/>
            <a:ext cx="6726396" cy="319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5" name="양쪽 모서리가 둥근 사각형 34"/>
          <p:cNvSpPr/>
          <p:nvPr/>
        </p:nvSpPr>
        <p:spPr bwMode="auto">
          <a:xfrm>
            <a:off x="288074" y="1003031"/>
            <a:ext cx="1882632" cy="238010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 dirty="0">
                <a:solidFill>
                  <a:schemeClr val="dk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정기적 점검사항 이행 </a:t>
            </a:r>
            <a:r>
              <a:rPr lang="ko-KR" altLang="en-US" sz="800" dirty="0" err="1">
                <a:solidFill>
                  <a:schemeClr val="dk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점검표</a:t>
            </a:r>
            <a:r>
              <a:rPr lang="ko-KR" altLang="en-US" sz="800" dirty="0">
                <a:solidFill>
                  <a:schemeClr val="dk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 </a:t>
            </a:r>
            <a:r>
              <a:rPr lang="ko-KR" altLang="en-US" sz="800" dirty="0" smtClean="0">
                <a:solidFill>
                  <a:schemeClr val="dk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현황</a:t>
            </a:r>
            <a:endParaRPr lang="ko-KR" altLang="en-US" sz="800" dirty="0">
              <a:solidFill>
                <a:schemeClr val="dk1"/>
              </a:solidFill>
              <a:latin typeface="KB금융 본문체 Bold" panose="020B0803000000000000" pitchFamily="50" charset="-127"/>
              <a:ea typeface="KB금융 본문체 Bold" panose="020B0803000000000000" pitchFamily="50" charset="-127"/>
            </a:endParaRPr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82044" y="1050810"/>
            <a:ext cx="134087" cy="141144"/>
          </a:xfrm>
          <a:prstGeom prst="rect">
            <a:avLst/>
          </a:prstGeom>
        </p:spPr>
      </p:pic>
      <p:pic>
        <p:nvPicPr>
          <p:cNvPr id="9" name="그림 8"/>
          <p:cNvPicPr>
            <a:picLocks noChangeAspect="1"/>
          </p:cNvPicPr>
          <p:nvPr/>
        </p:nvPicPr>
        <p:blipFill rotWithShape="1">
          <a:blip r:embed="rId3"/>
          <a:srcRect t="1" r="18593" b="3489"/>
          <a:stretch/>
        </p:blipFill>
        <p:spPr>
          <a:xfrm>
            <a:off x="964334" y="1533583"/>
            <a:ext cx="1397203" cy="199803"/>
          </a:xfrm>
          <a:prstGeom prst="rect">
            <a:avLst/>
          </a:prstGeom>
        </p:spPr>
      </p:pic>
      <p:pic>
        <p:nvPicPr>
          <p:cNvPr id="14" name="그림 1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09037" y="1798839"/>
            <a:ext cx="1287327" cy="250313"/>
          </a:xfrm>
          <a:prstGeom prst="rect">
            <a:avLst/>
          </a:prstGeom>
        </p:spPr>
      </p:pic>
      <p:graphicFrame>
        <p:nvGraphicFramePr>
          <p:cNvPr id="44" name="표 43"/>
          <p:cNvGraphicFramePr>
            <a:graphicFrameLocks noGrp="1"/>
          </p:cNvGraphicFramePr>
          <p:nvPr>
            <p:extLst/>
          </p:nvPr>
        </p:nvGraphicFramePr>
        <p:xfrm>
          <a:off x="293821" y="2090670"/>
          <a:ext cx="6724894" cy="19202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41066">
                  <a:extLst>
                    <a:ext uri="{9D8B030D-6E8A-4147-A177-3AD203B41FA5}">
                      <a16:colId xmlns:a16="http://schemas.microsoft.com/office/drawing/2014/main" val="76529090"/>
                    </a:ext>
                  </a:extLst>
                </a:gridCol>
                <a:gridCol w="538860">
                  <a:extLst>
                    <a:ext uri="{9D8B030D-6E8A-4147-A177-3AD203B41FA5}">
                      <a16:colId xmlns:a16="http://schemas.microsoft.com/office/drawing/2014/main" val="646841200"/>
                    </a:ext>
                  </a:extLst>
                </a:gridCol>
                <a:gridCol w="470414">
                  <a:extLst>
                    <a:ext uri="{9D8B030D-6E8A-4147-A177-3AD203B41FA5}">
                      <a16:colId xmlns:a16="http://schemas.microsoft.com/office/drawing/2014/main" val="490182677"/>
                    </a:ext>
                  </a:extLst>
                </a:gridCol>
                <a:gridCol w="470414">
                  <a:extLst>
                    <a:ext uri="{9D8B030D-6E8A-4147-A177-3AD203B41FA5}">
                      <a16:colId xmlns:a16="http://schemas.microsoft.com/office/drawing/2014/main" val="996550802"/>
                    </a:ext>
                  </a:extLst>
                </a:gridCol>
                <a:gridCol w="470414">
                  <a:extLst>
                    <a:ext uri="{9D8B030D-6E8A-4147-A177-3AD203B41FA5}">
                      <a16:colId xmlns:a16="http://schemas.microsoft.com/office/drawing/2014/main" val="2791194440"/>
                    </a:ext>
                  </a:extLst>
                </a:gridCol>
                <a:gridCol w="470414">
                  <a:extLst>
                    <a:ext uri="{9D8B030D-6E8A-4147-A177-3AD203B41FA5}">
                      <a16:colId xmlns:a16="http://schemas.microsoft.com/office/drawing/2014/main" val="231474300"/>
                    </a:ext>
                  </a:extLst>
                </a:gridCol>
                <a:gridCol w="470414">
                  <a:extLst>
                    <a:ext uri="{9D8B030D-6E8A-4147-A177-3AD203B41FA5}">
                      <a16:colId xmlns:a16="http://schemas.microsoft.com/office/drawing/2014/main" val="2111466540"/>
                    </a:ext>
                  </a:extLst>
                </a:gridCol>
                <a:gridCol w="470414">
                  <a:extLst>
                    <a:ext uri="{9D8B030D-6E8A-4147-A177-3AD203B41FA5}">
                      <a16:colId xmlns:a16="http://schemas.microsoft.com/office/drawing/2014/main" val="158312865"/>
                    </a:ext>
                  </a:extLst>
                </a:gridCol>
                <a:gridCol w="470414">
                  <a:extLst>
                    <a:ext uri="{9D8B030D-6E8A-4147-A177-3AD203B41FA5}">
                      <a16:colId xmlns:a16="http://schemas.microsoft.com/office/drawing/2014/main" val="723856503"/>
                    </a:ext>
                  </a:extLst>
                </a:gridCol>
                <a:gridCol w="470414">
                  <a:extLst>
                    <a:ext uri="{9D8B030D-6E8A-4147-A177-3AD203B41FA5}">
                      <a16:colId xmlns:a16="http://schemas.microsoft.com/office/drawing/2014/main" val="1733213876"/>
                    </a:ext>
                  </a:extLst>
                </a:gridCol>
                <a:gridCol w="470414">
                  <a:extLst>
                    <a:ext uri="{9D8B030D-6E8A-4147-A177-3AD203B41FA5}">
                      <a16:colId xmlns:a16="http://schemas.microsoft.com/office/drawing/2014/main" val="3073373484"/>
                    </a:ext>
                  </a:extLst>
                </a:gridCol>
                <a:gridCol w="470414">
                  <a:extLst>
                    <a:ext uri="{9D8B030D-6E8A-4147-A177-3AD203B41FA5}">
                      <a16:colId xmlns:a16="http://schemas.microsoft.com/office/drawing/2014/main" val="4148962399"/>
                    </a:ext>
                  </a:extLst>
                </a:gridCol>
                <a:gridCol w="470414">
                  <a:extLst>
                    <a:ext uri="{9D8B030D-6E8A-4147-A177-3AD203B41FA5}">
                      <a16:colId xmlns:a16="http://schemas.microsoft.com/office/drawing/2014/main" val="48762895"/>
                    </a:ext>
                  </a:extLst>
                </a:gridCol>
                <a:gridCol w="470414">
                  <a:extLst>
                    <a:ext uri="{9D8B030D-6E8A-4147-A177-3AD203B41FA5}">
                      <a16:colId xmlns:a16="http://schemas.microsoft.com/office/drawing/2014/main" val="4247419316"/>
                    </a:ext>
                  </a:extLst>
                </a:gridCol>
              </a:tblGrid>
              <a:tr h="213360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점검사항</a:t>
                      </a:r>
                      <a:endParaRPr lang="ko-KR" altLang="en-US" sz="800" b="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점검주기</a:t>
                      </a:r>
                      <a:endParaRPr lang="ko-KR" altLang="en-US" sz="800" b="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1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월별점검일지</a:t>
                      </a:r>
                      <a:endParaRPr lang="ko-KR" altLang="en-US" sz="800" b="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b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7870088"/>
                  </a:ext>
                </a:extLst>
              </a:tr>
              <a:tr h="2133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r>
                        <a:rPr lang="ko-KR" altLang="en-US" sz="800" b="0" dirty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</a:t>
                      </a:r>
                      <a:endParaRPr lang="ko-KR" altLang="en-US" sz="800" b="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r>
                        <a:rPr lang="ko-KR" altLang="en-US" sz="800" b="0" dirty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</a:t>
                      </a:r>
                      <a:endParaRPr lang="ko-KR" altLang="en-US" sz="800" b="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r>
                        <a:rPr lang="ko-KR" altLang="en-US" sz="800" b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</a:t>
                      </a:r>
                      <a:endParaRPr lang="ko-KR" altLang="en-US" sz="800" b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r>
                        <a:rPr lang="ko-KR" altLang="en-US" sz="800" b="0" dirty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</a:t>
                      </a:r>
                      <a:endParaRPr lang="ko-KR" altLang="en-US" sz="800" b="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r>
                        <a:rPr lang="ko-KR" altLang="en-US" sz="800" b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</a:t>
                      </a:r>
                      <a:endParaRPr lang="ko-KR" altLang="en-US" sz="800" b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r>
                        <a:rPr lang="ko-KR" altLang="en-US" sz="800" b="0" dirty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</a:t>
                      </a:r>
                      <a:endParaRPr lang="ko-KR" altLang="en-US" sz="800" b="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r>
                        <a:rPr lang="ko-KR" altLang="en-US" sz="800" b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</a:t>
                      </a:r>
                      <a:endParaRPr lang="ko-KR" altLang="en-US" sz="800" b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r>
                        <a:rPr lang="ko-KR" altLang="en-US" sz="800" b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</a:t>
                      </a:r>
                      <a:endParaRPr lang="ko-KR" altLang="en-US" sz="800" b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r>
                        <a:rPr lang="ko-KR" altLang="en-US" sz="800" b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</a:t>
                      </a:r>
                      <a:endParaRPr lang="ko-KR" altLang="en-US" sz="800" b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r>
                        <a:rPr lang="ko-KR" altLang="en-US" sz="800" b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</a:t>
                      </a:r>
                      <a:endParaRPr lang="ko-KR" altLang="en-US" sz="800" b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11</a:t>
                      </a:r>
                      <a:r>
                        <a:rPr lang="ko-KR" altLang="en-US" sz="800" b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</a:t>
                      </a:r>
                      <a:endParaRPr lang="ko-KR" altLang="en-US" sz="800" b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12</a:t>
                      </a:r>
                      <a:r>
                        <a:rPr lang="ko-KR" altLang="en-US" sz="800" b="0" dirty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</a:t>
                      </a:r>
                      <a:endParaRPr lang="ko-KR" altLang="en-US" sz="800" b="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59270050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인장관리실태 점점</a:t>
                      </a:r>
                      <a:endParaRPr lang="ko-KR" altLang="en-US" sz="70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dirty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 </a:t>
                      </a:r>
                      <a:r>
                        <a:rPr lang="en-US" altLang="ko-KR" sz="700" dirty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r>
                        <a:rPr lang="ko-KR" altLang="en-US" sz="700" dirty="0" err="1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회이상</a:t>
                      </a:r>
                      <a:endParaRPr lang="ko-KR" altLang="en-US" sz="70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2467412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중요증서 현물검사</a:t>
                      </a:r>
                      <a:endParaRPr lang="ko-KR" altLang="en-US" sz="70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</a:t>
                      </a:r>
                      <a:r>
                        <a:rPr lang="en-US" altLang="ko-KR" sz="700" baseline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1</a:t>
                      </a:r>
                      <a:r>
                        <a:rPr lang="ko-KR" altLang="en-US" sz="700" baseline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회이상</a:t>
                      </a:r>
                      <a:endParaRPr lang="ko-KR" altLang="en-US" sz="70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점검제외</a:t>
                      </a:r>
                      <a:endParaRPr lang="ko-KR" altLang="en-US" sz="70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점검제외</a:t>
                      </a:r>
                      <a:endParaRPr lang="ko-KR" altLang="en-US" sz="70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점검제외</a:t>
                      </a:r>
                      <a:endParaRPr lang="ko-KR" altLang="en-US" sz="70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점검제외</a:t>
                      </a:r>
                      <a:endParaRPr lang="ko-KR" altLang="en-US" sz="70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708065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749687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1252664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5333364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7596599"/>
                  </a:ext>
                </a:extLst>
              </a:tr>
            </a:tbl>
          </a:graphicData>
        </a:graphic>
      </p:graphicFrame>
      <p:pic>
        <p:nvPicPr>
          <p:cNvPr id="3" name="그림 2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180729" y="1520954"/>
            <a:ext cx="860848" cy="235515"/>
          </a:xfrm>
          <a:prstGeom prst="rect">
            <a:avLst/>
          </a:prstGeom>
        </p:spPr>
      </p:pic>
      <p:sp>
        <p:nvSpPr>
          <p:cNvPr id="24" name="직사각형 23"/>
          <p:cNvSpPr/>
          <p:nvPr/>
        </p:nvSpPr>
        <p:spPr bwMode="auto">
          <a:xfrm>
            <a:off x="3180730" y="1531415"/>
            <a:ext cx="860848" cy="201971"/>
          </a:xfrm>
          <a:prstGeom prst="rect">
            <a:avLst/>
          </a:prstGeom>
          <a:noFill/>
          <a:ln w="15875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9" name="표 28"/>
          <p:cNvGraphicFramePr>
            <a:graphicFrameLocks noGrp="1"/>
          </p:cNvGraphicFramePr>
          <p:nvPr>
            <p:extLst/>
          </p:nvPr>
        </p:nvGraphicFramePr>
        <p:xfrm>
          <a:off x="302731" y="4239900"/>
          <a:ext cx="6726395" cy="1827724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345279">
                  <a:extLst>
                    <a:ext uri="{9D8B030D-6E8A-4147-A177-3AD203B41FA5}">
                      <a16:colId xmlns:a16="http://schemas.microsoft.com/office/drawing/2014/main" val="4259443528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2119051089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2532418022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2848667511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3024964874"/>
                    </a:ext>
                  </a:extLst>
                </a:gridCol>
              </a:tblGrid>
              <a:tr h="1627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조회정보</a:t>
                      </a:r>
                      <a:endParaRPr lang="ko-KR" altLang="en-US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연계시스템</a:t>
                      </a:r>
                      <a:endParaRPr lang="ko-KR" altLang="en-US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연계테이블</a:t>
                      </a:r>
                      <a:endParaRPr lang="en-US" altLang="ko-KR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연계정보</a:t>
                      </a:r>
                      <a:endParaRPr lang="en-US" altLang="ko-KR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 err="1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연계정보</a:t>
                      </a: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541704"/>
                  </a:ext>
                </a:extLst>
              </a:tr>
              <a:tr h="636628">
                <a:tc rowSpan="2"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정기적 점검사항 이행 현황</a:t>
                      </a:r>
                      <a:endParaRPr lang="en-US" altLang="ko-KR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준법지원시스템</a:t>
                      </a:r>
                      <a:endParaRPr lang="en-US" altLang="ko-KR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TSAMLBL49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준법지원항목코드</a:t>
                      </a:r>
                      <a:endParaRPr lang="en-US" altLang="ko-KR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 err="1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부점코드</a:t>
                      </a:r>
                      <a:endParaRPr lang="en-US" altLang="ko-KR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 err="1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대상년월</a:t>
                      </a:r>
                      <a:endParaRPr lang="en-US" altLang="ko-KR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b"/>
                      <a:r>
                        <a:rPr lang="ko-KR" altLang="en-US" sz="900" b="0" i="0" u="none" strike="noStrike" dirty="0" err="1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결과등록년월일</a:t>
                      </a:r>
                      <a:endParaRPr lang="en-US" altLang="ko-KR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등록지연일수</a:t>
                      </a:r>
                      <a:endParaRPr lang="en-US" altLang="ko-KR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정기점검항목코드</a:t>
                      </a:r>
                      <a:endParaRPr lang="en-US" altLang="ko-KR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정기점검항목내용</a:t>
                      </a:r>
                      <a:endParaRPr lang="en-US" altLang="ko-KR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점검기준년월일</a:t>
                      </a:r>
                      <a:endParaRPr lang="en-US" altLang="ko-KR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점검주기구분내용</a:t>
                      </a:r>
                      <a:endParaRPr lang="en-US" altLang="ko-KR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4588187"/>
                  </a:ext>
                </a:extLst>
              </a:tr>
              <a:tr h="805424">
                <a:tc vMerge="1">
                  <a:txBody>
                    <a:bodyPr/>
                    <a:lstStyle/>
                    <a:p>
                      <a:pPr algn="ctr" fontAlgn="b"/>
                      <a:endParaRPr lang="en-US" altLang="ko-KR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ko-KR" altLang="en-US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TSAMLPI04</a:t>
                      </a:r>
                      <a:endParaRPr lang="ko-KR" altLang="en-US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부점코드</a:t>
                      </a:r>
                      <a:endParaRPr lang="en-US" altLang="ko-KR" sz="900" b="0" i="0" u="none" strike="noStrike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정기점검항목코드</a:t>
                      </a:r>
                      <a:endParaRPr lang="en-US" altLang="ko-KR" sz="900" b="0" i="0" u="none" strike="noStrike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점검년월일</a:t>
                      </a:r>
                      <a:endParaRPr lang="en-US" altLang="ko-KR" sz="900" b="0" i="0" u="none" strike="noStrike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점검시각</a:t>
                      </a:r>
                      <a:endParaRPr lang="en-US" altLang="ko-KR" sz="900" b="0" i="0" u="none" strike="noStrike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일련번호</a:t>
                      </a:r>
                      <a:endParaRPr lang="en-US" altLang="ko-KR" sz="900" b="0" i="0" u="none" strike="noStrike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제외대상여부</a:t>
                      </a:r>
                      <a:endParaRPr lang="en-US" altLang="ko-KR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준법지원점검결과구분</a:t>
                      </a:r>
                      <a:endParaRPr lang="en-US" altLang="ko-KR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b"/>
                      <a:r>
                        <a:rPr lang="ko-KR" altLang="en-US" sz="900" b="0" i="0" u="none" strike="noStrike" dirty="0" err="1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지연상태준법지원항목</a:t>
                      </a:r>
                      <a:endParaRPr lang="en-US" altLang="ko-KR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적요</a:t>
                      </a:r>
                      <a:endParaRPr lang="en-US" altLang="ko-KR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부적정사유내용</a:t>
                      </a:r>
                      <a:endParaRPr lang="en-US" altLang="ko-KR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등록직원번호</a:t>
                      </a:r>
                      <a:endParaRPr lang="en-US" altLang="ko-KR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b"/>
                      <a:r>
                        <a:rPr lang="ko-KR" altLang="en-US" sz="9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확인직원번호</a:t>
                      </a:r>
                      <a:endParaRPr lang="en-US" altLang="ko-KR" sz="9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1192718"/>
                  </a:ext>
                </a:extLst>
              </a:tr>
            </a:tbl>
          </a:graphicData>
        </a:graphic>
      </p:graphicFrame>
      <p:sp>
        <p:nvSpPr>
          <p:cNvPr id="28" name="TextBox 27"/>
          <p:cNvSpPr txBox="1"/>
          <p:nvPr/>
        </p:nvSpPr>
        <p:spPr>
          <a:xfrm>
            <a:off x="288074" y="1254563"/>
            <a:ext cx="188263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0" lang="ko-KR" altLang="en-US" sz="10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정기적 점검사항 이행 </a:t>
            </a:r>
            <a:r>
              <a:rPr kumimoji="0" lang="ko-KR" altLang="en-US" sz="100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점검표</a:t>
            </a:r>
            <a:r>
              <a:rPr kumimoji="0" lang="ko-KR" altLang="en-US" sz="10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현황</a:t>
            </a:r>
          </a:p>
        </p:txBody>
      </p:sp>
      <p:sp>
        <p:nvSpPr>
          <p:cNvPr id="31" name="직사각형 30"/>
          <p:cNvSpPr/>
          <p:nvPr/>
        </p:nvSpPr>
        <p:spPr bwMode="auto">
          <a:xfrm>
            <a:off x="288073" y="1476930"/>
            <a:ext cx="3883877" cy="317529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029846" y="154385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35327" y="153868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63249" y="2039582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73091" y="417475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895074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표 7"/>
          <p:cNvGraphicFramePr>
            <a:graphicFrameLocks noGrp="1"/>
          </p:cNvGraphicFramePr>
          <p:nvPr>
            <p:extLst/>
          </p:nvPr>
        </p:nvGraphicFramePr>
        <p:xfrm>
          <a:off x="296025" y="1532856"/>
          <a:ext cx="6683588" cy="27208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8375">
                  <a:extLst>
                    <a:ext uri="{9D8B030D-6E8A-4147-A177-3AD203B41FA5}">
                      <a16:colId xmlns:a16="http://schemas.microsoft.com/office/drawing/2014/main" val="76529090"/>
                    </a:ext>
                  </a:extLst>
                </a:gridCol>
                <a:gridCol w="1494845">
                  <a:extLst>
                    <a:ext uri="{9D8B030D-6E8A-4147-A177-3AD203B41FA5}">
                      <a16:colId xmlns:a16="http://schemas.microsoft.com/office/drawing/2014/main" val="158312865"/>
                    </a:ext>
                  </a:extLst>
                </a:gridCol>
                <a:gridCol w="715618">
                  <a:extLst>
                    <a:ext uri="{9D8B030D-6E8A-4147-A177-3AD203B41FA5}">
                      <a16:colId xmlns:a16="http://schemas.microsoft.com/office/drawing/2014/main" val="4148962399"/>
                    </a:ext>
                  </a:extLst>
                </a:gridCol>
                <a:gridCol w="3854750">
                  <a:extLst>
                    <a:ext uri="{9D8B030D-6E8A-4147-A177-3AD203B41FA5}">
                      <a16:colId xmlns:a16="http://schemas.microsoft.com/office/drawing/2014/main" val="4247419316"/>
                    </a:ext>
                  </a:extLst>
                </a:gridCol>
              </a:tblGrid>
              <a:tr h="272087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</a:rPr>
                        <a:t>부점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</a:rPr>
                        <a:t>조회기준일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7870088"/>
                  </a:ext>
                </a:extLst>
              </a:tr>
            </a:tbl>
          </a:graphicData>
        </a:graphic>
      </p:graphicFrame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55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부점교육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및 관리 현황을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또는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전체부서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 가능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),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조회기준일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현재일자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고정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조건으로 조회한다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부서별 교육 및 관련 현황 표시한다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한 화면에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1~12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 전체 표시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외부시스템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연계 관련 정보 확인 필요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sp>
        <p:nvSpPr>
          <p:cNvPr id="25" name="직사각형 24"/>
          <p:cNvSpPr/>
          <p:nvPr/>
        </p:nvSpPr>
        <p:spPr bwMode="auto">
          <a:xfrm>
            <a:off x="263339" y="1502028"/>
            <a:ext cx="3859238" cy="324348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MDD-00053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MDD72MMO200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6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lvl="0" algn="l" defTabSz="914395" rtl="0" eaLnBrk="1" fontAlgn="auto" latinLnBrk="1" hangingPunct="1">
                        <a:spcBef>
                          <a:spcPts val="30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부점교육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및 관리 현황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lvl="0" algn="ctr"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ko-KR" altLang="en-US" sz="9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 </a:t>
                      </a:r>
                      <a:r>
                        <a:rPr kumimoji="0" lang="en-US" altLang="ko-KR" sz="9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kumimoji="0" lang="ko-KR" altLang="en-US" sz="9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디지털 내부통제 </a:t>
                      </a:r>
                      <a:r>
                        <a:rPr kumimoji="0" lang="en-US" altLang="ko-KR" sz="9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kumimoji="0" lang="ko-KR" altLang="en-US" sz="9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내부통제 현황 </a:t>
                      </a:r>
                      <a:r>
                        <a:rPr kumimoji="0" lang="en-US" altLang="ko-KR" sz="9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kumimoji="0" lang="ko-KR" altLang="en-US" sz="9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부점교육현황 점검 </a:t>
                      </a:r>
                      <a:r>
                        <a:rPr kumimoji="0" lang="en-US" altLang="ko-KR" sz="9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kumimoji="0" lang="ko-KR" altLang="en-US" sz="900" b="0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부점교육</a:t>
                      </a:r>
                      <a:r>
                        <a:rPr kumimoji="0" lang="ko-KR" altLang="en-US" sz="9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및 관리 현황</a:t>
                      </a:r>
                      <a:r>
                        <a:rPr lang="en-US" altLang="ko-KR" sz="900" b="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(P111:</a:t>
                      </a:r>
                      <a:r>
                        <a:rPr lang="ko-KR" altLang="en-US" sz="900" b="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강지웅</a:t>
                      </a:r>
                      <a:r>
                        <a:rPr lang="en-US" altLang="ko-KR" sz="900" b="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900" b="1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51" name="타원 5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36339" y="150078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0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69968" y="1254563"/>
            <a:ext cx="6726396" cy="319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5" name="양쪽 모서리가 둥근 사각형 34"/>
          <p:cNvSpPr/>
          <p:nvPr/>
        </p:nvSpPr>
        <p:spPr bwMode="auto">
          <a:xfrm>
            <a:off x="288074" y="1003031"/>
            <a:ext cx="1882632" cy="238010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 dirty="0" err="1">
                <a:solidFill>
                  <a:schemeClr val="dk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부점교육</a:t>
            </a:r>
            <a:r>
              <a:rPr lang="ko-KR" altLang="en-US" sz="800" dirty="0">
                <a:solidFill>
                  <a:schemeClr val="dk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 및 관리 현황</a:t>
            </a:r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82044" y="1050810"/>
            <a:ext cx="134087" cy="141144"/>
          </a:xfrm>
          <a:prstGeom prst="rect">
            <a:avLst/>
          </a:prstGeom>
        </p:spPr>
      </p:pic>
      <p:pic>
        <p:nvPicPr>
          <p:cNvPr id="9" name="그림 8"/>
          <p:cNvPicPr>
            <a:picLocks noChangeAspect="1"/>
          </p:cNvPicPr>
          <p:nvPr/>
        </p:nvPicPr>
        <p:blipFill rotWithShape="1">
          <a:blip r:embed="rId3"/>
          <a:srcRect t="1" r="18593" b="3489"/>
          <a:stretch/>
        </p:blipFill>
        <p:spPr>
          <a:xfrm>
            <a:off x="964334" y="1565385"/>
            <a:ext cx="1397203" cy="199803"/>
          </a:xfrm>
          <a:prstGeom prst="rect">
            <a:avLst/>
          </a:prstGeom>
        </p:spPr>
      </p:pic>
      <p:pic>
        <p:nvPicPr>
          <p:cNvPr id="14" name="그림 1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09037" y="1830641"/>
            <a:ext cx="1287327" cy="250313"/>
          </a:xfrm>
          <a:prstGeom prst="rect">
            <a:avLst/>
          </a:prstGeom>
        </p:spPr>
      </p:pic>
      <p:graphicFrame>
        <p:nvGraphicFramePr>
          <p:cNvPr id="44" name="표 43"/>
          <p:cNvGraphicFramePr>
            <a:graphicFrameLocks noGrp="1"/>
          </p:cNvGraphicFramePr>
          <p:nvPr>
            <p:extLst/>
          </p:nvPr>
        </p:nvGraphicFramePr>
        <p:xfrm>
          <a:off x="293821" y="2122472"/>
          <a:ext cx="6683590" cy="288722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05894">
                  <a:extLst>
                    <a:ext uri="{9D8B030D-6E8A-4147-A177-3AD203B41FA5}">
                      <a16:colId xmlns:a16="http://schemas.microsoft.com/office/drawing/2014/main" val="76529090"/>
                    </a:ext>
                  </a:extLst>
                </a:gridCol>
                <a:gridCol w="596348">
                  <a:extLst>
                    <a:ext uri="{9D8B030D-6E8A-4147-A177-3AD203B41FA5}">
                      <a16:colId xmlns:a16="http://schemas.microsoft.com/office/drawing/2014/main" val="646841200"/>
                    </a:ext>
                  </a:extLst>
                </a:gridCol>
                <a:gridCol w="628153">
                  <a:extLst>
                    <a:ext uri="{9D8B030D-6E8A-4147-A177-3AD203B41FA5}">
                      <a16:colId xmlns:a16="http://schemas.microsoft.com/office/drawing/2014/main" val="996550802"/>
                    </a:ext>
                  </a:extLst>
                </a:gridCol>
                <a:gridCol w="580445">
                  <a:extLst>
                    <a:ext uri="{9D8B030D-6E8A-4147-A177-3AD203B41FA5}">
                      <a16:colId xmlns:a16="http://schemas.microsoft.com/office/drawing/2014/main" val="231474300"/>
                    </a:ext>
                  </a:extLst>
                </a:gridCol>
                <a:gridCol w="707666">
                  <a:extLst>
                    <a:ext uri="{9D8B030D-6E8A-4147-A177-3AD203B41FA5}">
                      <a16:colId xmlns:a16="http://schemas.microsoft.com/office/drawing/2014/main" val="158312865"/>
                    </a:ext>
                  </a:extLst>
                </a:gridCol>
                <a:gridCol w="929056">
                  <a:extLst>
                    <a:ext uri="{9D8B030D-6E8A-4147-A177-3AD203B41FA5}">
                      <a16:colId xmlns:a16="http://schemas.microsoft.com/office/drawing/2014/main" val="1733213876"/>
                    </a:ext>
                  </a:extLst>
                </a:gridCol>
                <a:gridCol w="709007">
                  <a:extLst>
                    <a:ext uri="{9D8B030D-6E8A-4147-A177-3AD203B41FA5}">
                      <a16:colId xmlns:a16="http://schemas.microsoft.com/office/drawing/2014/main" val="4148962399"/>
                    </a:ext>
                  </a:extLst>
                </a:gridCol>
                <a:gridCol w="709007">
                  <a:extLst>
                    <a:ext uri="{9D8B030D-6E8A-4147-A177-3AD203B41FA5}">
                      <a16:colId xmlns:a16="http://schemas.microsoft.com/office/drawing/2014/main" val="4247419316"/>
                    </a:ext>
                  </a:extLst>
                </a:gridCol>
                <a:gridCol w="709007">
                  <a:extLst>
                    <a:ext uri="{9D8B030D-6E8A-4147-A177-3AD203B41FA5}">
                      <a16:colId xmlns:a16="http://schemas.microsoft.com/office/drawing/2014/main" val="2552800595"/>
                    </a:ext>
                  </a:extLst>
                </a:gridCol>
                <a:gridCol w="709007">
                  <a:extLst>
                    <a:ext uri="{9D8B030D-6E8A-4147-A177-3AD203B41FA5}">
                      <a16:colId xmlns:a16="http://schemas.microsoft.com/office/drawing/2014/main" val="4183674664"/>
                    </a:ext>
                  </a:extLst>
                </a:gridCol>
              </a:tblGrid>
              <a:tr h="2133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+mj-lt"/>
                          <a:ea typeface="KB금융 본문체 Medium" panose="020B0603000000000000" pitchFamily="50" charset="-127"/>
                        </a:rPr>
                        <a:t>구분</a:t>
                      </a:r>
                      <a:endParaRPr lang="ko-KR" altLang="en-US" sz="7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+mj-lt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보안진단실시</a:t>
                      </a:r>
                      <a:b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</a:br>
                      <a:r>
                        <a:rPr lang="ko-KR" altLang="en-US" sz="700" b="0" u="none" strike="noStrike" dirty="0" err="1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결과표등록</a:t>
                      </a:r>
                      <a: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/>
                      </a:r>
                      <a:b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</a:br>
                      <a:r>
                        <a:rPr lang="en-US" altLang="ko-KR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매월</a:t>
                      </a:r>
                      <a:r>
                        <a:rPr lang="en-US" altLang="ko-KR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en-US" altLang="ko-KR" sz="7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소비자보호업무</a:t>
                      </a:r>
                      <a:b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</a:br>
                      <a:r>
                        <a:rPr lang="en-US" altLang="ko-KR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u="none" strike="noStrike" dirty="0" err="1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민원예방</a:t>
                      </a:r>
                      <a:r>
                        <a:rPr lang="en-US" altLang="ko-KR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교육</a:t>
                      </a:r>
                      <a:b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</a:br>
                      <a:r>
                        <a:rPr lang="en-US" altLang="ko-KR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매월</a:t>
                      </a:r>
                      <a:r>
                        <a:rPr lang="en-US" altLang="ko-KR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en-US" altLang="ko-KR" sz="7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정보보호교육</a:t>
                      </a:r>
                      <a:b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</a:br>
                      <a:r>
                        <a:rPr lang="en-US" altLang="ko-KR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매월</a:t>
                      </a:r>
                      <a:r>
                        <a:rPr lang="en-US" altLang="ko-KR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en-US" altLang="ko-KR" sz="7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금융사고예방교육</a:t>
                      </a:r>
                      <a:b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</a:br>
                      <a:r>
                        <a:rPr lang="en-US" altLang="ko-KR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매월</a:t>
                      </a:r>
                      <a:r>
                        <a:rPr lang="en-US" altLang="ko-KR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en-US" altLang="ko-KR" sz="7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중대재해대응 매뉴얼</a:t>
                      </a:r>
                      <a:b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</a:br>
                      <a: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교육</a:t>
                      </a:r>
                      <a:r>
                        <a:rPr lang="en-US" altLang="ko-KR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훈련</a:t>
                      </a:r>
                      <a:b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</a:br>
                      <a:r>
                        <a:rPr lang="en-US" altLang="ko-KR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반기</a:t>
                      </a:r>
                      <a:r>
                        <a:rPr lang="en-US" altLang="ko-KR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en-US" altLang="ko-KR" sz="7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dirty="0" err="1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소셜미디어</a:t>
                      </a:r>
                      <a:r>
                        <a:rPr lang="en-US" altLang="ko-KR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(SNS)</a:t>
                      </a:r>
                      <a:br>
                        <a:rPr lang="en-US" altLang="ko-KR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</a:br>
                      <a: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교육</a:t>
                      </a:r>
                      <a:b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</a:br>
                      <a:r>
                        <a:rPr lang="en-US" altLang="ko-KR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</a:t>
                      </a:r>
                      <a:r>
                        <a:rPr lang="en-US" altLang="ko-KR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</a:t>
                      </a:r>
                      <a:r>
                        <a:rPr lang="en-US" altLang="ko-KR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en-US" altLang="ko-KR" sz="7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소방교육</a:t>
                      </a:r>
                      <a:r>
                        <a:rPr lang="en-US" altLang="ko-KR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훈련 및</a:t>
                      </a:r>
                      <a:b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</a:br>
                      <a: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시설물 점검</a:t>
                      </a:r>
                      <a:b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</a:br>
                      <a:r>
                        <a:rPr lang="en-US" altLang="ko-KR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</a:t>
                      </a:r>
                      <a:r>
                        <a:rPr lang="en-US" altLang="ko-KR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</a:t>
                      </a:r>
                      <a:r>
                        <a:rPr lang="en-US" altLang="ko-KR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en-US" altLang="ko-KR" sz="7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성희롱 예방교육</a:t>
                      </a:r>
                      <a:b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</a:br>
                      <a:r>
                        <a:rPr lang="en-US" altLang="ko-KR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</a:t>
                      </a:r>
                      <a:r>
                        <a:rPr lang="en-US" altLang="ko-KR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r>
                        <a:rPr lang="ko-KR" altLang="en-US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</a:t>
                      </a:r>
                      <a:r>
                        <a:rPr lang="en-US" altLang="ko-KR" sz="7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en-US" altLang="ko-KR" sz="7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직장 내 괴롭힘 </a:t>
                      </a:r>
                      <a:b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</a:br>
                      <a: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예방 교육</a:t>
                      </a:r>
                      <a:b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</a:br>
                      <a:r>
                        <a:rPr lang="en-US" altLang="ko-KR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</a:t>
                      </a:r>
                      <a:r>
                        <a:rPr lang="en-US" altLang="ko-KR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r>
                        <a:rPr lang="ko-KR" altLang="en-US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</a:t>
                      </a:r>
                      <a:r>
                        <a:rPr lang="en-US" altLang="ko-KR" sz="7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en-US" altLang="ko-KR" sz="7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7870088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+mj-lt"/>
                          <a:ea typeface="KB금융 본문체 Medium" panose="020B0603000000000000" pitchFamily="50" charset="-127"/>
                        </a:rPr>
                        <a:t>1</a:t>
                      </a:r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+mj-lt"/>
                          <a:ea typeface="KB금융 본문체 Medium" panose="020B0603000000000000" pitchFamily="50" charset="-127"/>
                        </a:rPr>
                        <a:t>월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+mj-lt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59270050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+mj-lt"/>
                          <a:ea typeface="KB금융 본문체 Medium" panose="020B0603000000000000" pitchFamily="50" charset="-127"/>
                        </a:rPr>
                        <a:t>2</a:t>
                      </a:r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+mj-lt"/>
                          <a:ea typeface="KB금융 본문체 Medium" panose="020B0603000000000000" pitchFamily="50" charset="-127"/>
                        </a:rPr>
                        <a:t>월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+mj-lt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2467412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+mj-lt"/>
                          <a:ea typeface="KB금융 본문체 Medium" panose="020B0603000000000000" pitchFamily="50" charset="-127"/>
                        </a:rPr>
                        <a:t>3</a:t>
                      </a:r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+mj-lt"/>
                          <a:ea typeface="KB금융 본문체 Medium" panose="020B0603000000000000" pitchFamily="50" charset="-127"/>
                        </a:rPr>
                        <a:t>월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+mj-lt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708065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+mj-lt"/>
                          <a:ea typeface="KB금융 본문체 Medium" panose="020B0603000000000000" pitchFamily="50" charset="-127"/>
                        </a:rPr>
                        <a:t>4</a:t>
                      </a:r>
                      <a:r>
                        <a:rPr lang="ko-KR" altLang="en-US" sz="800" b="0" i="0" u="none" strike="noStrike" dirty="0" smtClean="0">
                          <a:solidFill>
                            <a:sysClr val="windowText" lastClr="000000"/>
                          </a:solidFill>
                          <a:effectLst/>
                          <a:latin typeface="+mj-lt"/>
                          <a:ea typeface="KB금융 본문체 Medium" panose="020B0603000000000000" pitchFamily="50" charset="-127"/>
                        </a:rPr>
                        <a:t>월</a:t>
                      </a:r>
                      <a:endParaRPr lang="en-US" altLang="ko-KR" sz="800" b="0" i="0" u="none" strike="noStrike" dirty="0" smtClean="0">
                        <a:solidFill>
                          <a:sysClr val="windowText" lastClr="000000"/>
                        </a:solidFill>
                        <a:effectLst/>
                        <a:latin typeface="+mj-lt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800" b="0" u="none" strike="noStrike" dirty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8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6861" marR="6861" marT="6861" marB="0" anchor="b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749687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+mj-lt"/>
                        </a:rPr>
                        <a:t>5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+mj-lt"/>
                        </a:rPr>
                        <a:t>월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9962121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+mj-lt"/>
                        </a:rPr>
                        <a:t>6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+mj-lt"/>
                        </a:rPr>
                        <a:t>월</a:t>
                      </a:r>
                      <a:endParaRPr lang="en-US" altLang="ko-KR" sz="800" b="0" dirty="0" smtClean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2783247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+mj-lt"/>
                        </a:rPr>
                        <a:t>7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+mj-lt"/>
                        </a:rPr>
                        <a:t>월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8416115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+mj-lt"/>
                        </a:rPr>
                        <a:t>8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+mj-lt"/>
                        </a:rPr>
                        <a:t>월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8149020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+mj-lt"/>
                        </a:rPr>
                        <a:t>9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+mj-lt"/>
                        </a:rPr>
                        <a:t>월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8959515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+mj-lt"/>
                        </a:rPr>
                        <a:t>10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+mj-lt"/>
                        </a:rPr>
                        <a:t>월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1252664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+mj-lt"/>
                        </a:rPr>
                        <a:t>11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+mj-lt"/>
                        </a:rPr>
                        <a:t>월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5333364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+mj-lt"/>
                        </a:rPr>
                        <a:t>12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+mj-lt"/>
                        </a:rPr>
                        <a:t>월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7596599"/>
                  </a:ext>
                </a:extLst>
              </a:tr>
            </a:tbl>
          </a:graphicData>
        </a:graphic>
      </p:graphicFrame>
      <p:pic>
        <p:nvPicPr>
          <p:cNvPr id="3" name="그림 2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180729" y="1552756"/>
            <a:ext cx="860848" cy="235515"/>
          </a:xfrm>
          <a:prstGeom prst="rect">
            <a:avLst/>
          </a:prstGeom>
        </p:spPr>
      </p:pic>
      <p:sp>
        <p:nvSpPr>
          <p:cNvPr id="24" name="직사각형 23"/>
          <p:cNvSpPr/>
          <p:nvPr/>
        </p:nvSpPr>
        <p:spPr bwMode="auto">
          <a:xfrm>
            <a:off x="3180730" y="1563217"/>
            <a:ext cx="860848" cy="201971"/>
          </a:xfrm>
          <a:prstGeom prst="rect">
            <a:avLst/>
          </a:prstGeom>
          <a:noFill/>
          <a:ln w="15875">
            <a:solidFill>
              <a:srgbClr val="FFBF0D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8" name="표 27"/>
          <p:cNvGraphicFramePr>
            <a:graphicFrameLocks noGrp="1"/>
          </p:cNvGraphicFramePr>
          <p:nvPr>
            <p:extLst/>
          </p:nvPr>
        </p:nvGraphicFramePr>
        <p:xfrm>
          <a:off x="294777" y="4729912"/>
          <a:ext cx="6726395" cy="16441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345279">
                  <a:extLst>
                    <a:ext uri="{9D8B030D-6E8A-4147-A177-3AD203B41FA5}">
                      <a16:colId xmlns:a16="http://schemas.microsoft.com/office/drawing/2014/main" val="4259443528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2119051089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2532418022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2848667511"/>
                    </a:ext>
                  </a:extLst>
                </a:gridCol>
                <a:gridCol w="1345279">
                  <a:extLst>
                    <a:ext uri="{9D8B030D-6E8A-4147-A177-3AD203B41FA5}">
                      <a16:colId xmlns:a16="http://schemas.microsoft.com/office/drawing/2014/main" val="3024964874"/>
                    </a:ext>
                  </a:extLst>
                </a:gridCol>
              </a:tblGrid>
              <a:tr h="15687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조회정보</a:t>
                      </a:r>
                      <a:endParaRPr lang="ko-KR" altLang="en-US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연계시스템</a:t>
                      </a:r>
                      <a:endParaRPr lang="ko-KR" altLang="en-US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연계테이블</a:t>
                      </a:r>
                      <a:endParaRPr lang="en-US" altLang="ko-KR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연계정보</a:t>
                      </a:r>
                      <a:endParaRPr lang="en-US" altLang="ko-KR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연계정보</a:t>
                      </a:r>
                      <a:r>
                        <a:rPr lang="en-US" altLang="ko-KR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541704"/>
                  </a:ext>
                </a:extLst>
              </a:tr>
              <a:tr h="303565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금융사고예방교육</a:t>
                      </a:r>
                      <a:endParaRPr lang="en-US" altLang="ko-KR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준법지원시스템</a:t>
                      </a:r>
                      <a:endParaRPr lang="en-US" altLang="ko-KR" sz="900" b="0" i="0" u="none" strike="noStrike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확인필요</a:t>
                      </a:r>
                      <a:endParaRPr lang="ko-KR" altLang="en-US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 gridSpan="2"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소관부서</a:t>
                      </a:r>
                      <a:r>
                        <a:rPr lang="en-US" altLang="ko-KR" sz="900" b="0" i="0" u="none" strike="noStrike" baseline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및 담당자 별도 확인필요</a:t>
                      </a:r>
                      <a:endParaRPr lang="en-US" altLang="ko-KR" sz="900" b="0" i="0" u="none" strike="noStrike" baseline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4588187"/>
                  </a:ext>
                </a:extLst>
              </a:tr>
              <a:tr h="1183699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보안진단실시 결과</a:t>
                      </a:r>
                      <a:endParaRPr lang="en-US" altLang="ko-KR" sz="900" b="0" i="0" u="none" strike="noStrike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b"/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소비자보호업무 교육</a:t>
                      </a:r>
                      <a:endParaRPr lang="en-US" altLang="ko-KR" sz="900" b="0" i="0" u="none" strike="noStrike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b"/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정보보호교육</a:t>
                      </a:r>
                      <a:endParaRPr lang="en-US" altLang="ko-KR" sz="900" b="0" i="0" u="none" strike="noStrike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b"/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중대재해대응 매뉴얼 교육</a:t>
                      </a:r>
                      <a:endParaRPr lang="en-US" altLang="ko-KR" sz="900" b="0" i="0" u="none" strike="noStrike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b"/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소셜미디어 교육</a:t>
                      </a:r>
                      <a:endParaRPr lang="en-US" altLang="ko-KR" sz="900" b="0" i="0" u="none" strike="noStrike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b"/>
                      <a:r>
                        <a:rPr lang="ko-KR" altLang="en-US" sz="900" b="0" i="0" u="none" strike="noStrike" spc="-100" baseline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소방교육</a:t>
                      </a:r>
                      <a:r>
                        <a:rPr lang="en-US" altLang="ko-KR" sz="900" b="0" i="0" u="none" strike="noStrike" spc="-100" baseline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900" b="0" i="0" u="none" strike="noStrike" spc="-100" baseline="0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훈련 및 시설물 점검</a:t>
                      </a:r>
                      <a:endParaRPr lang="en-US" altLang="ko-KR" sz="900" b="0" i="0" u="none" strike="noStrike" spc="-100" baseline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b"/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성희롱 예방교육</a:t>
                      </a:r>
                      <a:endParaRPr lang="en-US" altLang="ko-KR" sz="900" b="0" i="0" u="none" strike="noStrike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b"/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직장 내 괴롭힘 예방 교육</a:t>
                      </a:r>
                      <a:endParaRPr lang="en-US" altLang="ko-KR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b="0" i="0" u="none" strike="noStrike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경영정보시스템</a:t>
                      </a:r>
                      <a:endParaRPr lang="ko-KR" altLang="en-US" sz="900" b="0" i="0" u="none" strike="noStrike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 err="1" smtClean="0">
                          <a:solidFill>
                            <a:sysClr val="windowText" lastClr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확인필요</a:t>
                      </a:r>
                      <a:endParaRPr lang="ko-KR" altLang="en-US" sz="900" b="0" i="0" u="none" strike="noStrike" dirty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 vMerge="1">
                  <a:txBody>
                    <a:bodyPr/>
                    <a:lstStyle/>
                    <a:p>
                      <a:pPr marL="0" marR="0" lvl="0" indent="0" algn="ctr" defTabSz="914395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baseline="0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algn="ctr" fontAlgn="b"/>
                      <a:endParaRPr lang="en-US" altLang="ko-KR" sz="900" b="0" i="0" u="none" strike="noStrike" smtClean="0">
                        <a:solidFill>
                          <a:sysClr val="windowText" lastClr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1192718"/>
                  </a:ext>
                </a:extLst>
              </a:tr>
            </a:tbl>
          </a:graphicData>
        </a:graphic>
      </p:graphicFrame>
      <p:sp>
        <p:nvSpPr>
          <p:cNvPr id="29" name="TextBox 28"/>
          <p:cNvSpPr txBox="1"/>
          <p:nvPr/>
        </p:nvSpPr>
        <p:spPr>
          <a:xfrm>
            <a:off x="288074" y="1254563"/>
            <a:ext cx="188263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0" lang="ko-KR" altLang="en-US" sz="100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부점교육</a:t>
            </a:r>
            <a:r>
              <a:rPr kumimoji="0" lang="ko-KR" altLang="en-US" sz="10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및 관리 현황</a:t>
            </a:r>
          </a:p>
        </p:txBody>
      </p:sp>
      <p:sp>
        <p:nvSpPr>
          <p:cNvPr id="34" name="직사각형 33"/>
          <p:cNvSpPr/>
          <p:nvPr/>
        </p:nvSpPr>
        <p:spPr bwMode="auto">
          <a:xfrm>
            <a:off x="263339" y="2104249"/>
            <a:ext cx="476132" cy="2976634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88968" y="2062905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13777" y="4648912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004873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림 9"/>
          <p:cNvPicPr>
            <a:picLocks noChangeAspect="1"/>
          </p:cNvPicPr>
          <p:nvPr/>
        </p:nvPicPr>
        <p:blipFill rotWithShape="1">
          <a:blip r:embed="rId2"/>
          <a:srcRect r="19912"/>
          <a:stretch/>
        </p:blipFill>
        <p:spPr>
          <a:xfrm>
            <a:off x="309622" y="2136749"/>
            <a:ext cx="6691253" cy="4102126"/>
          </a:xfrm>
          <a:prstGeom prst="rect">
            <a:avLst/>
          </a:prstGeom>
        </p:spPr>
      </p:pic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999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기존 가수금 명세 화면과 동일하게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또는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전체부서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 가능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),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기준년월일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기준으로 조회한다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단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기준년월일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기간안에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발생한 가지급금내역 조회가 아닌 기준일 현재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원장상태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정상인것만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미정리분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조회되도록 변경한다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MDD-00054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MDD72MM7100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6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lvl="0" algn="l" defTabSz="914395" rtl="0" eaLnBrk="1" fontAlgn="auto" latinLnBrk="1" hangingPunct="1">
                        <a:spcBef>
                          <a:spcPts val="30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부점별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가수금 명세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 </a:t>
                      </a:r>
                      <a:r>
                        <a:rPr kumimoji="0" lang="en-US" altLang="ko-KR" sz="90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kumimoji="0" lang="ko-KR" altLang="en-US" sz="90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디지털 내부통제 </a:t>
                      </a:r>
                      <a:r>
                        <a:rPr kumimoji="0" lang="en-US" altLang="ko-KR" sz="90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kumimoji="0" lang="ko-KR" altLang="en-US" sz="90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내부통제 현황 </a:t>
                      </a:r>
                      <a:r>
                        <a:rPr kumimoji="0" lang="en-US" altLang="ko-KR" sz="90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kumimoji="0" lang="ko-KR" altLang="en-US" sz="90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가수가지급금 점검 </a:t>
                      </a:r>
                      <a:r>
                        <a:rPr kumimoji="0" lang="en-US" altLang="ko-KR" sz="90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kumimoji="0" lang="ko-KR" altLang="en-US" sz="900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부점별</a:t>
                      </a:r>
                      <a:r>
                        <a:rPr kumimoji="0" lang="ko-KR" altLang="en-US" sz="90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가수금 명세</a:t>
                      </a:r>
                      <a:r>
                        <a:rPr kumimoji="0" lang="ko-KR" altLang="en-US" sz="900" kern="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9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(P112:</a:t>
                      </a:r>
                      <a:r>
                        <a:rPr lang="ko-KR" altLang="en-US" sz="90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강지웅</a:t>
                      </a:r>
                      <a:r>
                        <a:rPr lang="en-US" altLang="ko-KR" sz="9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9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30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69968" y="1254563"/>
            <a:ext cx="6726396" cy="319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5" name="양쪽 모서리가 둥근 사각형 34"/>
          <p:cNvSpPr/>
          <p:nvPr/>
        </p:nvSpPr>
        <p:spPr bwMode="auto">
          <a:xfrm>
            <a:off x="288073" y="1003031"/>
            <a:ext cx="1341943" cy="238010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부점별</a:t>
            </a:r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가수금 명세</a:t>
            </a:r>
            <a:endParaRPr kumimoji="0" lang="ko-KR" altLang="en-US" sz="8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03445" y="1050810"/>
            <a:ext cx="134087" cy="141144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88074" y="1254563"/>
            <a:ext cx="188263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0" lang="ko-KR" altLang="en-US" sz="100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부점별</a:t>
            </a:r>
            <a:r>
              <a:rPr kumimoji="0" lang="ko-KR" altLang="en-US" sz="10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가수금 명세</a:t>
            </a:r>
          </a:p>
        </p:txBody>
      </p:sp>
      <p:pic>
        <p:nvPicPr>
          <p:cNvPr id="6" name="그림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5956" y="1498159"/>
            <a:ext cx="6532165" cy="600490"/>
          </a:xfrm>
          <a:prstGeom prst="rect">
            <a:avLst/>
          </a:prstGeom>
        </p:spPr>
      </p:pic>
      <p:pic>
        <p:nvPicPr>
          <p:cNvPr id="11" name="그림 10"/>
          <p:cNvPicPr>
            <a:picLocks noChangeAspect="1"/>
          </p:cNvPicPr>
          <p:nvPr/>
        </p:nvPicPr>
        <p:blipFill rotWithShape="1">
          <a:blip r:embed="rId5"/>
          <a:srcRect l="93" t="-178" r="62299" b="92660"/>
          <a:stretch/>
        </p:blipFill>
        <p:spPr>
          <a:xfrm>
            <a:off x="403796" y="2431454"/>
            <a:ext cx="3214046" cy="335604"/>
          </a:xfrm>
          <a:prstGeom prst="rect">
            <a:avLst/>
          </a:prstGeom>
        </p:spPr>
      </p:pic>
      <p:pic>
        <p:nvPicPr>
          <p:cNvPr id="39" name="그림 38"/>
          <p:cNvPicPr>
            <a:picLocks noChangeAspect="1"/>
          </p:cNvPicPr>
          <p:nvPr/>
        </p:nvPicPr>
        <p:blipFill rotWithShape="1">
          <a:blip r:embed="rId5"/>
          <a:srcRect l="37151" b="92697"/>
          <a:stretch/>
        </p:blipFill>
        <p:spPr>
          <a:xfrm>
            <a:off x="459453" y="2782960"/>
            <a:ext cx="5371080" cy="326000"/>
          </a:xfrm>
          <a:prstGeom prst="rect">
            <a:avLst/>
          </a:prstGeom>
        </p:spPr>
      </p:pic>
      <p:sp>
        <p:nvSpPr>
          <p:cNvPr id="24" name="타원 2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88968" y="1417159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6" name="직사각형 25"/>
          <p:cNvSpPr/>
          <p:nvPr/>
        </p:nvSpPr>
        <p:spPr bwMode="auto">
          <a:xfrm>
            <a:off x="350968" y="1502875"/>
            <a:ext cx="6683528" cy="4736000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846323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121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기존 가지급금 명세 화면과 동일하게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또는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전체부서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 가능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),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기준년월일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기준으로 조회한다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단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기준년월일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기간안에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발생한 가지급금내역 조회가 아닌 기준일 현재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원장상태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정상인것만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미정리분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조회되도록 변경한다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MDD-00055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MDD72MM7200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6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lvl="0" algn="l" defTabSz="914395" rtl="0" eaLnBrk="1" fontAlgn="auto" latinLnBrk="1" hangingPunct="1">
                        <a:spcBef>
                          <a:spcPts val="30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부점별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가지급금 명세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 </a:t>
                      </a:r>
                      <a:r>
                        <a:rPr kumimoji="0" lang="en-US" altLang="ko-KR" sz="90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kumimoji="0" lang="ko-KR" altLang="en-US" sz="90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디지털 내부통제 </a:t>
                      </a:r>
                      <a:r>
                        <a:rPr kumimoji="0" lang="en-US" altLang="ko-KR" sz="90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kumimoji="0" lang="ko-KR" altLang="en-US" sz="90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내부통제 현황 </a:t>
                      </a:r>
                      <a:r>
                        <a:rPr kumimoji="0" lang="en-US" altLang="ko-KR" sz="90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kumimoji="0" lang="ko-KR" altLang="en-US" sz="90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가수가지급금 점검 </a:t>
                      </a:r>
                      <a:r>
                        <a:rPr kumimoji="0" lang="en-US" altLang="ko-KR" sz="90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kumimoji="0" lang="ko-KR" altLang="en-US" sz="900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부점별</a:t>
                      </a:r>
                      <a:r>
                        <a:rPr kumimoji="0" lang="ko-KR" altLang="en-US" sz="90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가지급금 명세</a:t>
                      </a:r>
                      <a:r>
                        <a:rPr kumimoji="0" lang="ko-KR" altLang="en-US" sz="900" kern="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9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(P113:</a:t>
                      </a:r>
                      <a:r>
                        <a:rPr lang="ko-KR" altLang="en-US" sz="90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강지웅</a:t>
                      </a:r>
                      <a:r>
                        <a:rPr lang="en-US" altLang="ko-KR" sz="9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9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30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69968" y="1254563"/>
            <a:ext cx="6726396" cy="319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5" name="양쪽 모서리가 둥근 사각형 34"/>
          <p:cNvSpPr/>
          <p:nvPr/>
        </p:nvSpPr>
        <p:spPr bwMode="auto">
          <a:xfrm>
            <a:off x="288073" y="1003031"/>
            <a:ext cx="1341943" cy="238010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부점별</a:t>
            </a:r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가지급금 명세</a:t>
            </a:r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03445" y="1050810"/>
            <a:ext cx="134087" cy="141144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88074" y="1254563"/>
            <a:ext cx="188263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 err="1">
                <a:solidFill>
                  <a:schemeClr val="dk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부점별</a:t>
            </a:r>
            <a:r>
              <a:rPr lang="ko-KR" altLang="en-US" sz="1000" dirty="0">
                <a:solidFill>
                  <a:schemeClr val="dk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 가지급금 </a:t>
            </a:r>
            <a:r>
              <a:rPr lang="ko-KR" altLang="en-US" sz="1000" dirty="0" smtClean="0">
                <a:solidFill>
                  <a:schemeClr val="dk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명세</a:t>
            </a:r>
            <a:endParaRPr kumimoji="0" lang="ko-KR" altLang="en-US" sz="10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8072" y="1505921"/>
            <a:ext cx="6708291" cy="576844"/>
          </a:xfrm>
          <a:prstGeom prst="rect">
            <a:avLst/>
          </a:prstGeom>
        </p:spPr>
      </p:pic>
      <p:pic>
        <p:nvPicPr>
          <p:cNvPr id="7" name="그림 6"/>
          <p:cNvPicPr>
            <a:picLocks noChangeAspect="1"/>
          </p:cNvPicPr>
          <p:nvPr/>
        </p:nvPicPr>
        <p:blipFill rotWithShape="1">
          <a:blip r:embed="rId4"/>
          <a:srcRect r="21781"/>
          <a:stretch/>
        </p:blipFill>
        <p:spPr>
          <a:xfrm>
            <a:off x="312079" y="2130111"/>
            <a:ext cx="6641172" cy="4165914"/>
          </a:xfrm>
          <a:prstGeom prst="rect">
            <a:avLst/>
          </a:prstGeom>
        </p:spPr>
      </p:pic>
      <p:pic>
        <p:nvPicPr>
          <p:cNvPr id="8" name="그림 7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55197" y="2437900"/>
            <a:ext cx="2949348" cy="285750"/>
          </a:xfrm>
          <a:prstGeom prst="rect">
            <a:avLst/>
          </a:prstGeom>
        </p:spPr>
      </p:pic>
      <p:pic>
        <p:nvPicPr>
          <p:cNvPr id="9" name="그림 8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90823" y="2748857"/>
            <a:ext cx="5136414" cy="290533"/>
          </a:xfrm>
          <a:prstGeom prst="rect">
            <a:avLst/>
          </a:prstGeom>
        </p:spPr>
      </p:pic>
      <p:sp>
        <p:nvSpPr>
          <p:cNvPr id="26" name="직사각형 25"/>
          <p:cNvSpPr/>
          <p:nvPr/>
        </p:nvSpPr>
        <p:spPr bwMode="auto">
          <a:xfrm>
            <a:off x="269968" y="1502875"/>
            <a:ext cx="6764528" cy="4889974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88968" y="1417159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637691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30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 위험요인 현황을 기준년도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사업그룹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),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사용여부를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기준으로 조회한다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현재 조회된 목록을 엑셀 파일로 다운로드 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본부부서별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위험요인 등록 개수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업무명 개수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세부업무프로세스 개수를 정의 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b="1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개별 항목 클릭 시 링크로 부서 세부내역 조회 할 수 있는 화면으로 이동한다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MDD-00056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MDD75MM4000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6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lvl="0" algn="l" defTabSz="914395" rtl="0" eaLnBrk="1" fontAlgn="auto" latinLnBrk="1" hangingPunct="1">
                        <a:spcBef>
                          <a:spcPts val="30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 위험요인 현황 조회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본부감사 </a:t>
                      </a:r>
                      <a:r>
                        <a:rPr kumimoji="0" lang="en-US" altLang="ko-KR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&gt; </a:t>
                      </a:r>
                      <a:r>
                        <a:rPr kumimoji="0" lang="ko-KR" altLang="en-US" sz="1050" kern="0" dirty="0" err="1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사전감사</a:t>
                      </a:r>
                      <a:r>
                        <a:rPr kumimoji="0" lang="en-US" altLang="ko-KR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&gt; </a:t>
                      </a:r>
                      <a:r>
                        <a:rPr kumimoji="0" lang="ko-KR" altLang="en-US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본부 위험요인 관리 </a:t>
                      </a:r>
                      <a:r>
                        <a:rPr kumimoji="0" lang="en-US" altLang="ko-KR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&gt; </a:t>
                      </a:r>
                      <a:r>
                        <a:rPr kumimoji="0" lang="ko-KR" altLang="en-US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본부 위험요인 현황 조회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(P114: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강지웅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30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69968" y="1254563"/>
            <a:ext cx="6726396" cy="319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5" name="양쪽 모서리가 둥근 사각형 34"/>
          <p:cNvSpPr/>
          <p:nvPr/>
        </p:nvSpPr>
        <p:spPr bwMode="auto">
          <a:xfrm>
            <a:off x="288074" y="1003031"/>
            <a:ext cx="1493018" cy="238010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 dirty="0">
                <a:solidFill>
                  <a:schemeClr val="dk1"/>
                </a:solidFill>
                <a:latin typeface="KB금융 제목체 Bold" panose="020B0803000000000000" pitchFamily="50" charset="-127"/>
                <a:ea typeface="KB금융 제목체 Bold" panose="020B0803000000000000" pitchFamily="50" charset="-127"/>
              </a:rPr>
              <a:t>본부 위험요인 </a:t>
            </a:r>
            <a:r>
              <a:rPr kumimoji="0" lang="ko-KR" altLang="en-US" sz="800" b="1" dirty="0">
                <a:solidFill>
                  <a:srgbClr val="000000"/>
                </a:solidFill>
                <a:latin typeface="KB금융 제목체 Bold" panose="020B0803000000000000" pitchFamily="50" charset="-127"/>
                <a:ea typeface="KB금융 제목체 Bold" panose="020B0803000000000000" pitchFamily="50" charset="-127"/>
              </a:rPr>
              <a:t>현황</a:t>
            </a:r>
            <a:r>
              <a:rPr lang="ko-KR" altLang="en-US" sz="800" dirty="0">
                <a:solidFill>
                  <a:schemeClr val="dk1"/>
                </a:solidFill>
                <a:latin typeface="KB금융 제목체 Bold" panose="020B0803000000000000" pitchFamily="50" charset="-127"/>
                <a:ea typeface="KB금융 제목체 Bold" panose="020B0803000000000000" pitchFamily="50" charset="-127"/>
              </a:rPr>
              <a:t> 조회</a:t>
            </a:r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89506" y="1050810"/>
            <a:ext cx="134087" cy="141144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288074" y="1254563"/>
            <a:ext cx="188263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0" lang="ko-KR" altLang="en-US" sz="10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본부 위험요인 현황 </a:t>
            </a:r>
            <a:r>
              <a:rPr kumimoji="0" lang="ko-KR" altLang="en-US" sz="10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10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44" name="표 43"/>
          <p:cNvGraphicFramePr>
            <a:graphicFrameLocks noGrp="1"/>
          </p:cNvGraphicFramePr>
          <p:nvPr>
            <p:extLst/>
          </p:nvPr>
        </p:nvGraphicFramePr>
        <p:xfrm>
          <a:off x="314978" y="2440209"/>
          <a:ext cx="6681386" cy="2407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55965">
                  <a:extLst>
                    <a:ext uri="{9D8B030D-6E8A-4147-A177-3AD203B41FA5}">
                      <a16:colId xmlns:a16="http://schemas.microsoft.com/office/drawing/2014/main" val="1331128428"/>
                    </a:ext>
                  </a:extLst>
                </a:gridCol>
                <a:gridCol w="1110472">
                  <a:extLst>
                    <a:ext uri="{9D8B030D-6E8A-4147-A177-3AD203B41FA5}">
                      <a16:colId xmlns:a16="http://schemas.microsoft.com/office/drawing/2014/main" val="2247539049"/>
                    </a:ext>
                  </a:extLst>
                </a:gridCol>
                <a:gridCol w="977669">
                  <a:extLst>
                    <a:ext uri="{9D8B030D-6E8A-4147-A177-3AD203B41FA5}">
                      <a16:colId xmlns:a16="http://schemas.microsoft.com/office/drawing/2014/main" val="1272726100"/>
                    </a:ext>
                  </a:extLst>
                </a:gridCol>
                <a:gridCol w="1263534">
                  <a:extLst>
                    <a:ext uri="{9D8B030D-6E8A-4147-A177-3AD203B41FA5}">
                      <a16:colId xmlns:a16="http://schemas.microsoft.com/office/drawing/2014/main" val="3916414754"/>
                    </a:ext>
                  </a:extLst>
                </a:gridCol>
                <a:gridCol w="1436415">
                  <a:extLst>
                    <a:ext uri="{9D8B030D-6E8A-4147-A177-3AD203B41FA5}">
                      <a16:colId xmlns:a16="http://schemas.microsoft.com/office/drawing/2014/main" val="1275535428"/>
                    </a:ext>
                  </a:extLst>
                </a:gridCol>
                <a:gridCol w="1237331">
                  <a:extLst>
                    <a:ext uri="{9D8B030D-6E8A-4147-A177-3AD203B41FA5}">
                      <a16:colId xmlns:a16="http://schemas.microsoft.com/office/drawing/2014/main" val="2931161416"/>
                    </a:ext>
                  </a:extLst>
                </a:gridCol>
              </a:tblGrid>
              <a:tr h="152400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사업그룹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위험요인 </a:t>
                      </a:r>
                      <a:endParaRPr lang="en-US" altLang="ko-KR" sz="700" b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등록개수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수행업무 현황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9114613"/>
                  </a:ext>
                </a:extLst>
              </a:tr>
              <a:tr h="1524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 개수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세부업무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9259509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6"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경영기획그룹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재무기획부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27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45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8396529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u="sng" dirty="0" err="1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회계부</a:t>
                      </a:r>
                      <a:endParaRPr lang="ko-KR" altLang="en-US" sz="600" b="0" u="sng" dirty="0">
                        <a:solidFill>
                          <a:srgbClr val="2272F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3414658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3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기획조정부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1808253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4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전략기획부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12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15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35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5053764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5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u="none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펀드서비스부</a:t>
                      </a:r>
                      <a:r>
                        <a:rPr lang="en-US" altLang="ko-KR" sz="600" b="0" u="none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(P)</a:t>
                      </a:r>
                      <a:endParaRPr lang="ko-KR" altLang="en-US" sz="600" b="0" u="none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4867666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6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ESG</a:t>
                      </a:r>
                      <a:r>
                        <a:rPr lang="ko-KR" altLang="en-US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기획부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4680484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7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영업그룹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영업전략부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5253379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8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채널혁신부</a:t>
                      </a:r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(P)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2183352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9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영업관리부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12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8029183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10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-10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아웃바운드지원부</a:t>
                      </a:r>
                      <a:endParaRPr lang="ko-KR" altLang="en-US" sz="600" b="0" spc="-100" baseline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12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3302665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4231037"/>
                  </a:ext>
                </a:extLst>
              </a:tr>
            </a:tbl>
          </a:graphicData>
        </a:graphic>
      </p:graphicFrame>
      <p:sp>
        <p:nvSpPr>
          <p:cNvPr id="47" name="타원 4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62438" y="2366790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264150" y="2946040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9" name="직사각형 48"/>
          <p:cNvSpPr/>
          <p:nvPr/>
        </p:nvSpPr>
        <p:spPr bwMode="auto">
          <a:xfrm>
            <a:off x="2284197" y="3046023"/>
            <a:ext cx="636105" cy="164746"/>
          </a:xfrm>
          <a:prstGeom prst="rect">
            <a:avLst/>
          </a:prstGeom>
          <a:noFill/>
          <a:ln w="15875">
            <a:solidFill>
              <a:srgbClr val="FFBF0D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31" name="그림 30"/>
          <p:cNvPicPr>
            <a:picLocks noChangeAspect="1"/>
          </p:cNvPicPr>
          <p:nvPr/>
        </p:nvPicPr>
        <p:blipFill rotWithShape="1">
          <a:blip r:embed="rId3"/>
          <a:srcRect l="58546"/>
          <a:stretch/>
        </p:blipFill>
        <p:spPr>
          <a:xfrm>
            <a:off x="6462713" y="2054903"/>
            <a:ext cx="533651" cy="250313"/>
          </a:xfrm>
          <a:prstGeom prst="rect">
            <a:avLst/>
          </a:prstGeom>
        </p:spPr>
      </p:pic>
      <p:sp>
        <p:nvSpPr>
          <p:cNvPr id="3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868032" y="2100056"/>
            <a:ext cx="564357" cy="190706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err="1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엑셀출력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791363" y="2046763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67" name="표 66"/>
          <p:cNvGraphicFramePr>
            <a:graphicFrameLocks noGrp="1"/>
          </p:cNvGraphicFramePr>
          <p:nvPr>
            <p:extLst/>
          </p:nvPr>
        </p:nvGraphicFramePr>
        <p:xfrm>
          <a:off x="325391" y="1525217"/>
          <a:ext cx="6569255" cy="2279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76529090"/>
                    </a:ext>
                  </a:extLst>
                </a:gridCol>
                <a:gridCol w="978135">
                  <a:extLst>
                    <a:ext uri="{9D8B030D-6E8A-4147-A177-3AD203B41FA5}">
                      <a16:colId xmlns:a16="http://schemas.microsoft.com/office/drawing/2014/main" val="158312865"/>
                    </a:ext>
                  </a:extLst>
                </a:gridCol>
                <a:gridCol w="833238">
                  <a:extLst>
                    <a:ext uri="{9D8B030D-6E8A-4147-A177-3AD203B41FA5}">
                      <a16:colId xmlns:a16="http://schemas.microsoft.com/office/drawing/2014/main" val="4148962399"/>
                    </a:ext>
                  </a:extLst>
                </a:gridCol>
                <a:gridCol w="2566667">
                  <a:extLst>
                    <a:ext uri="{9D8B030D-6E8A-4147-A177-3AD203B41FA5}">
                      <a16:colId xmlns:a16="http://schemas.microsoft.com/office/drawing/2014/main" val="4247419316"/>
                    </a:ext>
                  </a:extLst>
                </a:gridCol>
                <a:gridCol w="640080">
                  <a:extLst>
                    <a:ext uri="{9D8B030D-6E8A-4147-A177-3AD203B41FA5}">
                      <a16:colId xmlns:a16="http://schemas.microsoft.com/office/drawing/2014/main" val="626434785"/>
                    </a:ext>
                  </a:extLst>
                </a:gridCol>
                <a:gridCol w="903135">
                  <a:extLst>
                    <a:ext uri="{9D8B030D-6E8A-4147-A177-3AD203B41FA5}">
                      <a16:colId xmlns:a16="http://schemas.microsoft.com/office/drawing/2014/main" val="3107992428"/>
                    </a:ext>
                  </a:extLst>
                </a:gridCol>
              </a:tblGrid>
              <a:tr h="227994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</a:rPr>
                        <a:t>기준년도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</a:rPr>
                        <a:t>사업그룹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</a:rPr>
                        <a:t>부서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</a:rPr>
                        <a:t>                           </a:t>
                      </a:r>
                      <a:r>
                        <a:rPr lang="en-US" altLang="ko-KR" sz="800" b="1" dirty="0" smtClean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</a:rPr>
                        <a:t> 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</a:rPr>
                        <a:t>사용여부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7870088"/>
                  </a:ext>
                </a:extLst>
              </a:tr>
            </a:tbl>
          </a:graphicData>
        </a:graphic>
      </p:graphicFrame>
      <p:sp>
        <p:nvSpPr>
          <p:cNvPr id="68" name="타원 6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71246" y="1474503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69" name="그림 68"/>
          <p:cNvPicPr>
            <a:picLocks noChangeAspect="1"/>
          </p:cNvPicPr>
          <p:nvPr/>
        </p:nvPicPr>
        <p:blipFill rotWithShape="1">
          <a:blip r:embed="rId4"/>
          <a:srcRect l="1" t="-2" r="-1121" b="-3239"/>
          <a:stretch/>
        </p:blipFill>
        <p:spPr>
          <a:xfrm>
            <a:off x="1017941" y="1531288"/>
            <a:ext cx="830286" cy="216000"/>
          </a:xfrm>
          <a:prstGeom prst="rect">
            <a:avLst/>
          </a:prstGeom>
        </p:spPr>
      </p:pic>
      <p:grpSp>
        <p:nvGrpSpPr>
          <p:cNvPr id="70" name="그룹 69"/>
          <p:cNvGrpSpPr/>
          <p:nvPr/>
        </p:nvGrpSpPr>
        <p:grpSpPr>
          <a:xfrm>
            <a:off x="2836448" y="1564622"/>
            <a:ext cx="720000" cy="133358"/>
            <a:chOff x="2947987" y="1557330"/>
            <a:chExt cx="720000" cy="133358"/>
          </a:xfrm>
        </p:grpSpPr>
        <p:sp>
          <p:nvSpPr>
            <p:cNvPr id="71" name="직사각형 70"/>
            <p:cNvSpPr/>
            <p:nvPr/>
          </p:nvSpPr>
          <p:spPr bwMode="auto">
            <a:xfrm>
              <a:off x="2990860" y="1557330"/>
              <a:ext cx="284909" cy="104863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algn="ctr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400" b="1" i="0" u="none" strike="noStrike" kern="0" cap="none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72" name="직사각형 71"/>
            <p:cNvSpPr/>
            <p:nvPr/>
          </p:nvSpPr>
          <p:spPr bwMode="auto">
            <a:xfrm>
              <a:off x="2947987" y="1557330"/>
              <a:ext cx="720000" cy="13335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en-US" sz="700" i="0" u="none" strike="noStrike" kern="0" cap="none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Light" panose="020B0303000000000000" pitchFamily="50" charset="-127"/>
                  <a:ea typeface="KB금융 본문체 Light" panose="020B0303000000000000" pitchFamily="50" charset="-127"/>
                </a:rPr>
                <a:t>전체</a:t>
              </a:r>
            </a:p>
          </p:txBody>
        </p:sp>
        <p:sp>
          <p:nvSpPr>
            <p:cNvPr id="73" name="이등변 삼각형 72"/>
            <p:cNvSpPr/>
            <p:nvPr/>
          </p:nvSpPr>
          <p:spPr bwMode="auto">
            <a:xfrm flipV="1">
              <a:off x="3563138" y="1593637"/>
              <a:ext cx="72000" cy="72000"/>
            </a:xfrm>
            <a:prstGeom prst="triangl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algn="ctr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400" b="1" i="0" u="none" strike="noStrike" kern="0" cap="none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grpSp>
        <p:nvGrpSpPr>
          <p:cNvPr id="74" name="그룹 73"/>
          <p:cNvGrpSpPr/>
          <p:nvPr/>
        </p:nvGrpSpPr>
        <p:grpSpPr>
          <a:xfrm>
            <a:off x="6065323" y="1571148"/>
            <a:ext cx="720000" cy="133358"/>
            <a:chOff x="2947987" y="1557330"/>
            <a:chExt cx="720000" cy="133358"/>
          </a:xfrm>
        </p:grpSpPr>
        <p:sp>
          <p:nvSpPr>
            <p:cNvPr id="75" name="직사각형 74"/>
            <p:cNvSpPr/>
            <p:nvPr/>
          </p:nvSpPr>
          <p:spPr bwMode="auto">
            <a:xfrm>
              <a:off x="2990860" y="1557330"/>
              <a:ext cx="284909" cy="104863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algn="ctr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400" b="1" i="0" u="none" strike="noStrike" kern="0" cap="none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76" name="직사각형 75"/>
            <p:cNvSpPr/>
            <p:nvPr/>
          </p:nvSpPr>
          <p:spPr bwMode="auto">
            <a:xfrm>
              <a:off x="2947987" y="1557330"/>
              <a:ext cx="720000" cy="13335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en-US" sz="700" i="0" u="none" strike="noStrike" kern="0" cap="none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Light" panose="020B0303000000000000" pitchFamily="50" charset="-127"/>
                  <a:ea typeface="KB금융 본문체 Light" panose="020B0303000000000000" pitchFamily="50" charset="-127"/>
                </a:rPr>
                <a:t>전체</a:t>
              </a:r>
            </a:p>
          </p:txBody>
        </p:sp>
        <p:sp>
          <p:nvSpPr>
            <p:cNvPr id="77" name="이등변 삼각형 76"/>
            <p:cNvSpPr/>
            <p:nvPr/>
          </p:nvSpPr>
          <p:spPr bwMode="auto">
            <a:xfrm flipV="1">
              <a:off x="3556788" y="1593637"/>
              <a:ext cx="72000" cy="72000"/>
            </a:xfrm>
            <a:prstGeom prst="triangl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algn="ctr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400" b="1" i="0" u="none" strike="noStrike" kern="0" cap="none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pic>
        <p:nvPicPr>
          <p:cNvPr id="78" name="그림 77"/>
          <p:cNvPicPr>
            <a:picLocks noChangeAspect="1"/>
          </p:cNvPicPr>
          <p:nvPr/>
        </p:nvPicPr>
        <p:blipFill rotWithShape="1">
          <a:blip r:embed="rId5"/>
          <a:srcRect t="1" r="27056" b="1234"/>
          <a:stretch/>
        </p:blipFill>
        <p:spPr>
          <a:xfrm>
            <a:off x="3748651" y="1537818"/>
            <a:ext cx="1218563" cy="18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390670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" name="표 27"/>
          <p:cNvGraphicFramePr>
            <a:graphicFrameLocks noGrp="1"/>
          </p:cNvGraphicFramePr>
          <p:nvPr>
            <p:extLst/>
          </p:nvPr>
        </p:nvGraphicFramePr>
        <p:xfrm>
          <a:off x="269965" y="3082167"/>
          <a:ext cx="6726398" cy="1432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1093">
                  <a:extLst>
                    <a:ext uri="{9D8B030D-6E8A-4147-A177-3AD203B41FA5}">
                      <a16:colId xmlns:a16="http://schemas.microsoft.com/office/drawing/2014/main" val="2530438275"/>
                    </a:ext>
                  </a:extLst>
                </a:gridCol>
                <a:gridCol w="755516">
                  <a:extLst>
                    <a:ext uri="{9D8B030D-6E8A-4147-A177-3AD203B41FA5}">
                      <a16:colId xmlns:a16="http://schemas.microsoft.com/office/drawing/2014/main" val="1534687929"/>
                    </a:ext>
                  </a:extLst>
                </a:gridCol>
                <a:gridCol w="369710">
                  <a:extLst>
                    <a:ext uri="{9D8B030D-6E8A-4147-A177-3AD203B41FA5}">
                      <a16:colId xmlns:a16="http://schemas.microsoft.com/office/drawing/2014/main" val="3222902788"/>
                    </a:ext>
                  </a:extLst>
                </a:gridCol>
                <a:gridCol w="405972">
                  <a:extLst>
                    <a:ext uri="{9D8B030D-6E8A-4147-A177-3AD203B41FA5}">
                      <a16:colId xmlns:a16="http://schemas.microsoft.com/office/drawing/2014/main" val="3404455896"/>
                    </a:ext>
                  </a:extLst>
                </a:gridCol>
                <a:gridCol w="858070">
                  <a:extLst>
                    <a:ext uri="{9D8B030D-6E8A-4147-A177-3AD203B41FA5}">
                      <a16:colId xmlns:a16="http://schemas.microsoft.com/office/drawing/2014/main" val="1933972587"/>
                    </a:ext>
                  </a:extLst>
                </a:gridCol>
                <a:gridCol w="352229">
                  <a:extLst>
                    <a:ext uri="{9D8B030D-6E8A-4147-A177-3AD203B41FA5}">
                      <a16:colId xmlns:a16="http://schemas.microsoft.com/office/drawing/2014/main" val="3555046843"/>
                    </a:ext>
                  </a:extLst>
                </a:gridCol>
                <a:gridCol w="363945">
                  <a:extLst>
                    <a:ext uri="{9D8B030D-6E8A-4147-A177-3AD203B41FA5}">
                      <a16:colId xmlns:a16="http://schemas.microsoft.com/office/drawing/2014/main" val="2657483137"/>
                    </a:ext>
                  </a:extLst>
                </a:gridCol>
                <a:gridCol w="363945">
                  <a:extLst>
                    <a:ext uri="{9D8B030D-6E8A-4147-A177-3AD203B41FA5}">
                      <a16:colId xmlns:a16="http://schemas.microsoft.com/office/drawing/2014/main" val="3717064249"/>
                    </a:ext>
                  </a:extLst>
                </a:gridCol>
                <a:gridCol w="329204">
                  <a:extLst>
                    <a:ext uri="{9D8B030D-6E8A-4147-A177-3AD203B41FA5}">
                      <a16:colId xmlns:a16="http://schemas.microsoft.com/office/drawing/2014/main" val="2787853621"/>
                    </a:ext>
                  </a:extLst>
                </a:gridCol>
                <a:gridCol w="1188347">
                  <a:extLst>
                    <a:ext uri="{9D8B030D-6E8A-4147-A177-3AD203B41FA5}">
                      <a16:colId xmlns:a16="http://schemas.microsoft.com/office/drawing/2014/main" val="1288190739"/>
                    </a:ext>
                  </a:extLst>
                </a:gridCol>
                <a:gridCol w="318148">
                  <a:extLst>
                    <a:ext uri="{9D8B030D-6E8A-4147-A177-3AD203B41FA5}">
                      <a16:colId xmlns:a16="http://schemas.microsoft.com/office/drawing/2014/main" val="4042688618"/>
                    </a:ext>
                  </a:extLst>
                </a:gridCol>
                <a:gridCol w="429496">
                  <a:extLst>
                    <a:ext uri="{9D8B030D-6E8A-4147-A177-3AD203B41FA5}">
                      <a16:colId xmlns:a16="http://schemas.microsoft.com/office/drawing/2014/main" val="3862600377"/>
                    </a:ext>
                  </a:extLst>
                </a:gridCol>
                <a:gridCol w="429496">
                  <a:extLst>
                    <a:ext uri="{9D8B030D-6E8A-4147-A177-3AD203B41FA5}">
                      <a16:colId xmlns:a16="http://schemas.microsoft.com/office/drawing/2014/main" val="194698470"/>
                    </a:ext>
                  </a:extLst>
                </a:gridCol>
                <a:gridCol w="331227">
                  <a:extLst>
                    <a:ext uri="{9D8B030D-6E8A-4147-A177-3AD203B41FA5}">
                      <a16:colId xmlns:a16="http://schemas.microsoft.com/office/drawing/2014/main" val="89973998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업무명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담당팀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신규업무여부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세무업무프로세스명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전산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수기구분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전산시스템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업무처리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담당자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업무검증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담당자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업무수행 관련 위험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확정여부</a:t>
                      </a:r>
                      <a:endParaRPr lang="ko-KR" altLang="en-US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작성자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작성여부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사용여부</a:t>
                      </a:r>
                    </a:p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5815844"/>
                  </a:ext>
                </a:extLst>
              </a:tr>
              <a:tr h="15738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1-1-1.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시장동향 파악 및 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운용전략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수립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시장동향 파악 및 </a:t>
                      </a:r>
                      <a:r>
                        <a:rPr lang="ko-KR" altLang="en-US" sz="6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운용전략</a:t>
                      </a:r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6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수립관련</a:t>
                      </a:r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업무로 해당사항 없음</a:t>
                      </a: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3288538"/>
                  </a:ext>
                </a:extLst>
              </a:tr>
              <a:tr h="15738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1-1-1.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시장동향 파악 및 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운용전략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수립</a:t>
                      </a: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법인세 관련업무를 수행함에 있어서 세법 적용의 오류나 충분한 검토가 </a:t>
                      </a:r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6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4613874"/>
                  </a:ext>
                </a:extLst>
              </a:tr>
              <a:tr h="15738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1-1-3.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환경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·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사회리스크모범규준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(ESRM)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준수 확인</a:t>
                      </a: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Y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1115041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955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개별 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부서의 기준년도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부서명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사용여부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업무구분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업무명 및 위험요인 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확정구분을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조건으로 위험요인 항목을 조회 할 수 있다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 조건에 맞는 위험요인이 목록에 나타난다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개별 부서의 위험요인을 등록 할 수 있는 팝업 창이 나타난다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.(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감사부에서 등록 시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개별 부서의 등록된 위험요인의 상세보기 팝업 창이 나타나며 감사부에서 등록한 위험요인 항목만 감사부에서 수정이 가능 하다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algn="l" rtl="0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4" name="표 3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MDD-00057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MDD75TC1100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6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lvl="0" algn="l" defTabSz="914395" rtl="0" eaLnBrk="1" fontAlgn="auto" latinLnBrk="1" hangingPunct="1">
                        <a:spcBef>
                          <a:spcPts val="30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부서별 위험요인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분석관리</a:t>
                      </a:r>
                      <a:endParaRPr lang="ko-KR" altLang="en-US" sz="12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본부감사 </a:t>
                      </a:r>
                      <a:r>
                        <a:rPr kumimoji="0" lang="en-US" altLang="ko-KR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&gt; </a:t>
                      </a:r>
                      <a:r>
                        <a:rPr kumimoji="0" lang="ko-KR" altLang="en-US" sz="1050" kern="0" dirty="0" err="1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사전감사</a:t>
                      </a:r>
                      <a:r>
                        <a:rPr kumimoji="0" lang="en-US" altLang="ko-KR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&gt; </a:t>
                      </a:r>
                      <a:r>
                        <a:rPr kumimoji="0" lang="ko-KR" altLang="en-US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본부 위험요인 관리 </a:t>
                      </a:r>
                      <a:r>
                        <a:rPr kumimoji="0" lang="en-US" altLang="ko-KR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부서별 위험요인 분석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(P115: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강지웅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69968" y="1254563"/>
            <a:ext cx="6726396" cy="319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" name="양쪽 모서리가 둥근 사각형 5"/>
          <p:cNvSpPr/>
          <p:nvPr/>
        </p:nvSpPr>
        <p:spPr bwMode="auto">
          <a:xfrm>
            <a:off x="269968" y="1003031"/>
            <a:ext cx="1567145" cy="238010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 dirty="0" smtClean="0">
                <a:solidFill>
                  <a:schemeClr val="dk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세부업무수행 위험요인 </a:t>
            </a:r>
            <a:r>
              <a:rPr lang="ko-KR" altLang="en-US" sz="800" dirty="0" err="1" smtClean="0">
                <a:solidFill>
                  <a:schemeClr val="dk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분석관리</a:t>
            </a:r>
            <a:endParaRPr lang="ko-KR" altLang="en-US" sz="800" dirty="0">
              <a:solidFill>
                <a:schemeClr val="dk1"/>
              </a:solidFill>
              <a:latin typeface="KB금융 본문체 Bold" panose="020B0803000000000000" pitchFamily="50" charset="-127"/>
              <a:ea typeface="KB금융 본문체 Bold" panose="020B0803000000000000" pitchFamily="50" charset="-127"/>
            </a:endParaRPr>
          </a:p>
        </p:txBody>
      </p:sp>
      <p:pic>
        <p:nvPicPr>
          <p:cNvPr id="7" name="그림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55512" y="1050810"/>
            <a:ext cx="134087" cy="141144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288074" y="1254563"/>
            <a:ext cx="188263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0" lang="ko-KR" altLang="en-US" sz="10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세부업무수행 위험요인 </a:t>
            </a:r>
            <a:r>
              <a:rPr kumimoji="0" lang="ko-KR" altLang="en-US" sz="100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분석관리</a:t>
            </a:r>
            <a:endParaRPr kumimoji="0" lang="ko-KR" altLang="en-US" sz="10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9" name="표 8"/>
          <p:cNvGraphicFramePr>
            <a:graphicFrameLocks noGrp="1"/>
          </p:cNvGraphicFramePr>
          <p:nvPr>
            <p:extLst/>
          </p:nvPr>
        </p:nvGraphicFramePr>
        <p:xfrm>
          <a:off x="330363" y="1506285"/>
          <a:ext cx="6632758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43552">
                  <a:extLst>
                    <a:ext uri="{9D8B030D-6E8A-4147-A177-3AD203B41FA5}">
                      <a16:colId xmlns:a16="http://schemas.microsoft.com/office/drawing/2014/main" val="76529090"/>
                    </a:ext>
                  </a:extLst>
                </a:gridCol>
                <a:gridCol w="907852">
                  <a:extLst>
                    <a:ext uri="{9D8B030D-6E8A-4147-A177-3AD203B41FA5}">
                      <a16:colId xmlns:a16="http://schemas.microsoft.com/office/drawing/2014/main" val="158312865"/>
                    </a:ext>
                  </a:extLst>
                </a:gridCol>
                <a:gridCol w="869383">
                  <a:extLst>
                    <a:ext uri="{9D8B030D-6E8A-4147-A177-3AD203B41FA5}">
                      <a16:colId xmlns:a16="http://schemas.microsoft.com/office/drawing/2014/main" val="4148962399"/>
                    </a:ext>
                  </a:extLst>
                </a:gridCol>
                <a:gridCol w="2277326">
                  <a:extLst>
                    <a:ext uri="{9D8B030D-6E8A-4147-A177-3AD203B41FA5}">
                      <a16:colId xmlns:a16="http://schemas.microsoft.com/office/drawing/2014/main" val="4247419316"/>
                    </a:ext>
                  </a:extLst>
                </a:gridCol>
                <a:gridCol w="684735">
                  <a:extLst>
                    <a:ext uri="{9D8B030D-6E8A-4147-A177-3AD203B41FA5}">
                      <a16:colId xmlns:a16="http://schemas.microsoft.com/office/drawing/2014/main" val="626434785"/>
                    </a:ext>
                  </a:extLst>
                </a:gridCol>
                <a:gridCol w="1149910">
                  <a:extLst>
                    <a:ext uri="{9D8B030D-6E8A-4147-A177-3AD203B41FA5}">
                      <a16:colId xmlns:a16="http://schemas.microsoft.com/office/drawing/2014/main" val="3107992428"/>
                    </a:ext>
                  </a:extLst>
                </a:gridCol>
              </a:tblGrid>
              <a:tr h="16265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</a:rPr>
                        <a:t>기준년도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</a:rPr>
                        <a:t>사업그룹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</a:rPr>
                        <a:t>부서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</a:rPr>
                        <a:t>사용여부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7870088"/>
                  </a:ext>
                </a:extLst>
              </a:tr>
              <a:tr h="162650"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세무업무</a:t>
                      </a:r>
                      <a:endParaRPr lang="en-US" altLang="ko-KR" sz="8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프로세스명</a:t>
                      </a:r>
                      <a:endParaRPr lang="ko-KR" altLang="en-US" sz="8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위험요인확정구분</a:t>
                      </a:r>
                      <a:endParaRPr lang="ko-KR" altLang="en-US" sz="800" b="0" dirty="0" smtClean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7352546"/>
                  </a:ext>
                </a:extLst>
              </a:tr>
            </a:tbl>
          </a:graphicData>
        </a:graphic>
      </p:graphicFrame>
      <p:pic>
        <p:nvPicPr>
          <p:cNvPr id="10" name="그림 9"/>
          <p:cNvPicPr>
            <a:picLocks noChangeAspect="1"/>
          </p:cNvPicPr>
          <p:nvPr/>
        </p:nvPicPr>
        <p:blipFill rotWithShape="1">
          <a:blip r:embed="rId3"/>
          <a:srcRect l="1" t="-2" r="-1121" b="-3239"/>
          <a:stretch/>
        </p:blipFill>
        <p:spPr>
          <a:xfrm>
            <a:off x="1089373" y="1526525"/>
            <a:ext cx="758013" cy="197198"/>
          </a:xfrm>
          <a:prstGeom prst="rect">
            <a:avLst/>
          </a:prstGeom>
        </p:spPr>
      </p:pic>
      <p:grpSp>
        <p:nvGrpSpPr>
          <p:cNvPr id="15" name="그룹 14"/>
          <p:cNvGrpSpPr/>
          <p:nvPr/>
        </p:nvGrpSpPr>
        <p:grpSpPr>
          <a:xfrm>
            <a:off x="5868689" y="1555588"/>
            <a:ext cx="720000" cy="133358"/>
            <a:chOff x="2947987" y="1557330"/>
            <a:chExt cx="720000" cy="133358"/>
          </a:xfrm>
        </p:grpSpPr>
        <p:sp>
          <p:nvSpPr>
            <p:cNvPr id="16" name="직사각형 15"/>
            <p:cNvSpPr/>
            <p:nvPr/>
          </p:nvSpPr>
          <p:spPr bwMode="auto">
            <a:xfrm>
              <a:off x="2990860" y="1557330"/>
              <a:ext cx="284909" cy="104863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algn="ctr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400" b="1" i="0" u="none" strike="noStrike" kern="0" cap="none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17" name="직사각형 16"/>
            <p:cNvSpPr/>
            <p:nvPr/>
          </p:nvSpPr>
          <p:spPr bwMode="auto">
            <a:xfrm>
              <a:off x="2947987" y="1557330"/>
              <a:ext cx="720000" cy="13335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en-US" sz="700" i="0" u="none" strike="noStrike" kern="0" cap="none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Light" panose="020B0303000000000000" pitchFamily="50" charset="-127"/>
                  <a:ea typeface="KB금융 본문체 Light" panose="020B0303000000000000" pitchFamily="50" charset="-127"/>
                </a:rPr>
                <a:t>전체</a:t>
              </a:r>
            </a:p>
          </p:txBody>
        </p:sp>
        <p:sp>
          <p:nvSpPr>
            <p:cNvPr id="18" name="이등변 삼각형 17"/>
            <p:cNvSpPr/>
            <p:nvPr/>
          </p:nvSpPr>
          <p:spPr bwMode="auto">
            <a:xfrm flipV="1">
              <a:off x="3556788" y="1593637"/>
              <a:ext cx="72000" cy="72000"/>
            </a:xfrm>
            <a:prstGeom prst="triangl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algn="ctr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400" b="1" i="0" u="none" strike="noStrike" kern="0" cap="none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19" name="타원 1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02556" y="299603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2" name="직사각형 21"/>
          <p:cNvSpPr/>
          <p:nvPr/>
        </p:nvSpPr>
        <p:spPr bwMode="auto">
          <a:xfrm>
            <a:off x="1102117" y="1806322"/>
            <a:ext cx="1800000" cy="144000"/>
          </a:xfrm>
          <a:prstGeom prst="rect">
            <a:avLst/>
          </a:prstGeom>
          <a:noFill/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4" name="직사각형 23"/>
          <p:cNvSpPr/>
          <p:nvPr/>
        </p:nvSpPr>
        <p:spPr bwMode="auto">
          <a:xfrm>
            <a:off x="6423121" y="2797262"/>
            <a:ext cx="540000" cy="180000"/>
          </a:xfrm>
          <a:prstGeom prst="rect">
            <a:avLst/>
          </a:prstGeom>
          <a:solidFill>
            <a:srgbClr val="E86E15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800" b="1" i="0" u="none" strike="noStrike" kern="0" cap="none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</a:p>
        </p:txBody>
      </p:sp>
      <p:sp>
        <p:nvSpPr>
          <p:cNvPr id="25" name="직사각형 24"/>
          <p:cNvSpPr/>
          <p:nvPr/>
        </p:nvSpPr>
        <p:spPr bwMode="auto">
          <a:xfrm>
            <a:off x="5845492" y="2797262"/>
            <a:ext cx="540000" cy="180000"/>
          </a:xfrm>
          <a:prstGeom prst="rect">
            <a:avLst/>
          </a:prstGeom>
          <a:solidFill>
            <a:srgbClr val="E86E15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800" b="1" i="0" u="none" strike="noStrike" kern="0" cap="none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수정</a:t>
            </a:r>
          </a:p>
        </p:txBody>
      </p:sp>
      <p:sp>
        <p:nvSpPr>
          <p:cNvPr id="26" name="직사각형 25"/>
          <p:cNvSpPr/>
          <p:nvPr/>
        </p:nvSpPr>
        <p:spPr bwMode="auto">
          <a:xfrm>
            <a:off x="5282998" y="2800034"/>
            <a:ext cx="540000" cy="180000"/>
          </a:xfrm>
          <a:prstGeom prst="rect">
            <a:avLst/>
          </a:prstGeom>
          <a:solidFill>
            <a:srgbClr val="E86E15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800" b="1" i="0" u="none" strike="noStrike" kern="0" cap="none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282998" y="2648496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30" name="그룹 29"/>
          <p:cNvGrpSpPr/>
          <p:nvPr/>
        </p:nvGrpSpPr>
        <p:grpSpPr>
          <a:xfrm>
            <a:off x="5871460" y="1774492"/>
            <a:ext cx="720000" cy="133358"/>
            <a:chOff x="2947987" y="1557330"/>
            <a:chExt cx="720000" cy="133358"/>
          </a:xfrm>
        </p:grpSpPr>
        <p:sp>
          <p:nvSpPr>
            <p:cNvPr id="31" name="직사각형 30"/>
            <p:cNvSpPr/>
            <p:nvPr/>
          </p:nvSpPr>
          <p:spPr bwMode="auto">
            <a:xfrm>
              <a:off x="2990860" y="1557330"/>
              <a:ext cx="284909" cy="104863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algn="ctr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400" b="1" i="0" u="none" strike="noStrike" kern="0" cap="none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32" name="직사각형 31"/>
            <p:cNvSpPr/>
            <p:nvPr/>
          </p:nvSpPr>
          <p:spPr bwMode="auto">
            <a:xfrm>
              <a:off x="2947987" y="1557330"/>
              <a:ext cx="720000" cy="13335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en-US" sz="700" i="0" u="none" strike="noStrike" kern="0" cap="none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Light" panose="020B0303000000000000" pitchFamily="50" charset="-127"/>
                  <a:ea typeface="KB금융 본문체 Light" panose="020B0303000000000000" pitchFamily="50" charset="-127"/>
                </a:rPr>
                <a:t>전체</a:t>
              </a:r>
            </a:p>
          </p:txBody>
        </p:sp>
        <p:sp>
          <p:nvSpPr>
            <p:cNvPr id="33" name="이등변 삼각형 32"/>
            <p:cNvSpPr/>
            <p:nvPr/>
          </p:nvSpPr>
          <p:spPr bwMode="auto">
            <a:xfrm flipV="1">
              <a:off x="3556788" y="1593637"/>
              <a:ext cx="72000" cy="72000"/>
            </a:xfrm>
            <a:prstGeom prst="triangl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algn="ctr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400" b="1" i="0" u="none" strike="noStrike" kern="0" cap="none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34" name="모서리가 둥근 사각형 설명선 33"/>
          <p:cNvSpPr/>
          <p:nvPr/>
        </p:nvSpPr>
        <p:spPr bwMode="auto">
          <a:xfrm>
            <a:off x="6111074" y="1186323"/>
            <a:ext cx="770151" cy="308023"/>
          </a:xfrm>
          <a:prstGeom prst="wedgeRoundRectCallout">
            <a:avLst>
              <a:gd name="adj1" fmla="val 6152"/>
              <a:gd name="adj2" fmla="val 158499"/>
              <a:gd name="adj3" fmla="val 16667"/>
            </a:avLst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indent="-85725">
              <a:lnSpc>
                <a:spcPts val="300"/>
              </a:lnSpc>
            </a:pPr>
            <a:r>
              <a:rPr lang="en-US" altLang="ko-KR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01: </a:t>
            </a:r>
            <a:r>
              <a:rPr lang="ko-KR" altLang="en-US" sz="600" dirty="0" err="1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작성중</a:t>
            </a:r>
            <a:endParaRPr lang="en-US" altLang="ko-KR" sz="600" dirty="0" smtClean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  <a:p>
            <a:pPr marL="85725" indent="-85725">
              <a:lnSpc>
                <a:spcPts val="300"/>
              </a:lnSpc>
            </a:pPr>
            <a:r>
              <a:rPr lang="en-US" altLang="ko-KR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02: </a:t>
            </a:r>
            <a:r>
              <a:rPr lang="ko-KR" altLang="en-US" sz="600" dirty="0" err="1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확정요청</a:t>
            </a:r>
            <a:endParaRPr lang="en-US" altLang="ko-KR" sz="600" dirty="0" smtClean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  <a:p>
            <a:pPr marL="85725" indent="-85725">
              <a:lnSpc>
                <a:spcPts val="300"/>
              </a:lnSpc>
            </a:pPr>
            <a:r>
              <a:rPr lang="en-US" altLang="ko-KR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03: </a:t>
            </a:r>
            <a:r>
              <a:rPr lang="ko-KR" altLang="en-US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확정</a:t>
            </a:r>
            <a:endParaRPr lang="ko-KR" altLang="en-US" sz="600" dirty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69968" y="1473897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884284" y="2651266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37" name="그룹 36"/>
          <p:cNvGrpSpPr/>
          <p:nvPr/>
        </p:nvGrpSpPr>
        <p:grpSpPr>
          <a:xfrm>
            <a:off x="2987850" y="1542711"/>
            <a:ext cx="720000" cy="133358"/>
            <a:chOff x="2947987" y="1557330"/>
            <a:chExt cx="720000" cy="133358"/>
          </a:xfrm>
        </p:grpSpPr>
        <p:sp>
          <p:nvSpPr>
            <p:cNvPr id="38" name="직사각형 37"/>
            <p:cNvSpPr/>
            <p:nvPr/>
          </p:nvSpPr>
          <p:spPr bwMode="auto">
            <a:xfrm>
              <a:off x="2990860" y="1557330"/>
              <a:ext cx="284909" cy="104863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algn="ctr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400" b="1" i="0" u="none" strike="noStrike" kern="0" cap="none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39" name="직사각형 38"/>
            <p:cNvSpPr/>
            <p:nvPr/>
          </p:nvSpPr>
          <p:spPr bwMode="auto">
            <a:xfrm>
              <a:off x="2947987" y="1557330"/>
              <a:ext cx="720000" cy="13335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en-US" sz="700" i="0" u="none" strike="noStrike" kern="0" cap="none" normalizeH="0" baseline="0" noProof="0" dirty="0" err="1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Light" panose="020B0303000000000000" pitchFamily="50" charset="-127"/>
                  <a:ea typeface="KB금융 본문체 Light" panose="020B0303000000000000" pitchFamily="50" charset="-127"/>
                </a:rPr>
                <a:t>회계부</a:t>
              </a:r>
              <a:endParaRPr kumimoji="0" lang="ko-KR" altLang="en-US" sz="700" i="0" u="none" strike="noStrike" kern="0" cap="none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Light" panose="020B0303000000000000" pitchFamily="50" charset="-127"/>
                <a:ea typeface="KB금융 본문체 Light" panose="020B0303000000000000" pitchFamily="50" charset="-127"/>
              </a:endParaRPr>
            </a:p>
          </p:txBody>
        </p:sp>
        <p:sp>
          <p:nvSpPr>
            <p:cNvPr id="40" name="이등변 삼각형 39"/>
            <p:cNvSpPr/>
            <p:nvPr/>
          </p:nvSpPr>
          <p:spPr bwMode="auto">
            <a:xfrm flipV="1">
              <a:off x="3563138" y="1593637"/>
              <a:ext cx="72000" cy="72000"/>
            </a:xfrm>
            <a:prstGeom prst="triangl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algn="ctr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400" b="1" i="0" u="none" strike="noStrike" kern="0" cap="none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pic>
        <p:nvPicPr>
          <p:cNvPr id="41" name="그림 40"/>
          <p:cNvPicPr>
            <a:picLocks noChangeAspect="1"/>
          </p:cNvPicPr>
          <p:nvPr/>
        </p:nvPicPr>
        <p:blipFill rotWithShape="1">
          <a:blip r:embed="rId4"/>
          <a:srcRect t="1" r="27056" b="1234"/>
          <a:stretch/>
        </p:blipFill>
        <p:spPr>
          <a:xfrm>
            <a:off x="3734953" y="1522257"/>
            <a:ext cx="1218563" cy="180000"/>
          </a:xfrm>
          <a:prstGeom prst="rect">
            <a:avLst/>
          </a:prstGeom>
        </p:spPr>
      </p:pic>
      <p:graphicFrame>
        <p:nvGraphicFramePr>
          <p:cNvPr id="42" name="표 41"/>
          <p:cNvGraphicFramePr>
            <a:graphicFrameLocks noGrp="1"/>
          </p:cNvGraphicFramePr>
          <p:nvPr>
            <p:extLst/>
          </p:nvPr>
        </p:nvGraphicFramePr>
        <p:xfrm>
          <a:off x="331896" y="2135576"/>
          <a:ext cx="6641608" cy="502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61504">
                  <a:extLst>
                    <a:ext uri="{9D8B030D-6E8A-4147-A177-3AD203B41FA5}">
                      <a16:colId xmlns:a16="http://schemas.microsoft.com/office/drawing/2014/main" val="154294628"/>
                    </a:ext>
                  </a:extLst>
                </a:gridCol>
                <a:gridCol w="1098972">
                  <a:extLst>
                    <a:ext uri="{9D8B030D-6E8A-4147-A177-3AD203B41FA5}">
                      <a16:colId xmlns:a16="http://schemas.microsoft.com/office/drawing/2014/main" val="3381519835"/>
                    </a:ext>
                  </a:extLst>
                </a:gridCol>
                <a:gridCol w="1001564">
                  <a:extLst>
                    <a:ext uri="{9D8B030D-6E8A-4147-A177-3AD203B41FA5}">
                      <a16:colId xmlns:a16="http://schemas.microsoft.com/office/drawing/2014/main" val="3548842159"/>
                    </a:ext>
                  </a:extLst>
                </a:gridCol>
                <a:gridCol w="1033359">
                  <a:extLst>
                    <a:ext uri="{9D8B030D-6E8A-4147-A177-3AD203B41FA5}">
                      <a16:colId xmlns:a16="http://schemas.microsoft.com/office/drawing/2014/main" val="2955451649"/>
                    </a:ext>
                  </a:extLst>
                </a:gridCol>
                <a:gridCol w="1001564">
                  <a:extLst>
                    <a:ext uri="{9D8B030D-6E8A-4147-A177-3AD203B41FA5}">
                      <a16:colId xmlns:a16="http://schemas.microsoft.com/office/drawing/2014/main" val="2843537952"/>
                    </a:ext>
                  </a:extLst>
                </a:gridCol>
                <a:gridCol w="1144645">
                  <a:extLst>
                    <a:ext uri="{9D8B030D-6E8A-4147-A177-3AD203B41FA5}">
                      <a16:colId xmlns:a16="http://schemas.microsoft.com/office/drawing/2014/main" val="499348225"/>
                    </a:ext>
                  </a:extLst>
                </a:gridCol>
              </a:tblGrid>
              <a:tr h="1524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그룹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부서명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부서장명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위험요인 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수행업무 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개수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세부업무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개수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239581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경영기획그룹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회계부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김팀장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47257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9278235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4703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[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수행업무선택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 하면  현재 부서에 등록된 수행업무 목록이 나타나며 특정 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수행업무를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선택하면 해당 수행업무명으로 위험요인을 등록 할 수 있다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algn="l" rtl="0" fontAlgn="ctr"/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l" rtl="0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 수행업무명은 텍스트</a:t>
                      </a:r>
                      <a:r>
                        <a:rPr lang="ko-KR" altLang="en-US" sz="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입력 항목에 입력하면 해당 수행업무명으로 등록 할 수 있다</a:t>
                      </a:r>
                      <a:r>
                        <a:rPr lang="en-US" altLang="ko-KR" sz="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[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세무업무명조회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현재 부서에 해당수행업무명의 세부업무프로세스명을 선택하는 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팝업창이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나타나며 특정 세부업무프로세스명을 선택하면 해당 세부업무프로세스명으로 위험요인을 등록 할 수 있다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algn="l" rtl="0" fontAlgn="ctr"/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l" rtl="0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 세부업무프로세스명은 텍스트 입력 항목에 입력하면 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해당세부업무프로세스명으로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 할 수 있다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감사부작성여부는 해당부서의 위험요인을 감사부에서 등록 할 경우 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Y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로 선택되고 부서에서 입력할 경우 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로 선택되어 있으면 선택이 불가 하다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MDD-00057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MDD75TC1101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6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부서별 위험요인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분석관리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등록 팝업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본부감사 </a:t>
                      </a:r>
                      <a:r>
                        <a:rPr kumimoji="0" lang="en-US" altLang="ko-KR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&gt; </a:t>
                      </a:r>
                      <a:r>
                        <a:rPr kumimoji="0" lang="ko-KR" altLang="en-US" sz="1050" kern="0" dirty="0" err="1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사전감사</a:t>
                      </a:r>
                      <a:r>
                        <a:rPr kumimoji="0" lang="en-US" altLang="ko-KR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&gt; </a:t>
                      </a:r>
                      <a:r>
                        <a:rPr kumimoji="0" lang="ko-KR" altLang="en-US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본부 위험요인 관리 </a:t>
                      </a:r>
                      <a:r>
                        <a:rPr kumimoji="0" lang="en-US" altLang="ko-KR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부서별 위험요인 분석</a:t>
                      </a:r>
                      <a:r>
                        <a:rPr kumimoji="0" lang="ko-KR" altLang="en-US" sz="1050" baseline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(P115: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강지웅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4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69968" y="1254563"/>
            <a:ext cx="6726396" cy="319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269968" y="1303650"/>
            <a:ext cx="226490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0" lang="ko-KR" altLang="en-US" sz="10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수행업무별세부업무수행 </a:t>
            </a:r>
            <a:r>
              <a:rPr kumimoji="0" lang="ko-KR" altLang="en-US" sz="10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위험요인 등록</a:t>
            </a:r>
          </a:p>
        </p:txBody>
      </p:sp>
      <p:graphicFrame>
        <p:nvGraphicFramePr>
          <p:cNvPr id="28" name="표 27"/>
          <p:cNvGraphicFramePr>
            <a:graphicFrameLocks noGrp="1"/>
          </p:cNvGraphicFramePr>
          <p:nvPr>
            <p:extLst/>
          </p:nvPr>
        </p:nvGraphicFramePr>
        <p:xfrm>
          <a:off x="213609" y="1755953"/>
          <a:ext cx="6790498" cy="31408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63984">
                  <a:extLst>
                    <a:ext uri="{9D8B030D-6E8A-4147-A177-3AD203B41FA5}">
                      <a16:colId xmlns:a16="http://schemas.microsoft.com/office/drawing/2014/main" val="76529090"/>
                    </a:ext>
                  </a:extLst>
                </a:gridCol>
                <a:gridCol w="1117578">
                  <a:extLst>
                    <a:ext uri="{9D8B030D-6E8A-4147-A177-3AD203B41FA5}">
                      <a16:colId xmlns:a16="http://schemas.microsoft.com/office/drawing/2014/main" val="158312865"/>
                    </a:ext>
                  </a:extLst>
                </a:gridCol>
                <a:gridCol w="531849">
                  <a:extLst>
                    <a:ext uri="{9D8B030D-6E8A-4147-A177-3AD203B41FA5}">
                      <a16:colId xmlns:a16="http://schemas.microsoft.com/office/drawing/2014/main" val="27587065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1731210550"/>
                    </a:ext>
                  </a:extLst>
                </a:gridCol>
                <a:gridCol w="145568">
                  <a:extLst>
                    <a:ext uri="{9D8B030D-6E8A-4147-A177-3AD203B41FA5}">
                      <a16:colId xmlns:a16="http://schemas.microsoft.com/office/drawing/2014/main" val="3764839707"/>
                    </a:ext>
                  </a:extLst>
                </a:gridCol>
                <a:gridCol w="216904">
                  <a:extLst>
                    <a:ext uri="{9D8B030D-6E8A-4147-A177-3AD203B41FA5}">
                      <a16:colId xmlns:a16="http://schemas.microsoft.com/office/drawing/2014/main" val="2622398550"/>
                    </a:ext>
                  </a:extLst>
                </a:gridCol>
                <a:gridCol w="237404">
                  <a:extLst>
                    <a:ext uri="{9D8B030D-6E8A-4147-A177-3AD203B41FA5}">
                      <a16:colId xmlns:a16="http://schemas.microsoft.com/office/drawing/2014/main" val="2386327779"/>
                    </a:ext>
                  </a:extLst>
                </a:gridCol>
                <a:gridCol w="223084">
                  <a:extLst>
                    <a:ext uri="{9D8B030D-6E8A-4147-A177-3AD203B41FA5}">
                      <a16:colId xmlns:a16="http://schemas.microsoft.com/office/drawing/2014/main" val="599951527"/>
                    </a:ext>
                  </a:extLst>
                </a:gridCol>
                <a:gridCol w="158320">
                  <a:extLst>
                    <a:ext uri="{9D8B030D-6E8A-4147-A177-3AD203B41FA5}">
                      <a16:colId xmlns:a16="http://schemas.microsoft.com/office/drawing/2014/main" val="2102548943"/>
                    </a:ext>
                  </a:extLst>
                </a:gridCol>
                <a:gridCol w="141359">
                  <a:extLst>
                    <a:ext uri="{9D8B030D-6E8A-4147-A177-3AD203B41FA5}">
                      <a16:colId xmlns:a16="http://schemas.microsoft.com/office/drawing/2014/main" val="277968661"/>
                    </a:ext>
                  </a:extLst>
                </a:gridCol>
                <a:gridCol w="116840">
                  <a:extLst>
                    <a:ext uri="{9D8B030D-6E8A-4147-A177-3AD203B41FA5}">
                      <a16:colId xmlns:a16="http://schemas.microsoft.com/office/drawing/2014/main" val="1264206630"/>
                    </a:ext>
                  </a:extLst>
                </a:gridCol>
                <a:gridCol w="122601">
                  <a:extLst>
                    <a:ext uri="{9D8B030D-6E8A-4147-A177-3AD203B41FA5}">
                      <a16:colId xmlns:a16="http://schemas.microsoft.com/office/drawing/2014/main" val="3035752294"/>
                    </a:ext>
                  </a:extLst>
                </a:gridCol>
                <a:gridCol w="474340">
                  <a:extLst>
                    <a:ext uri="{9D8B030D-6E8A-4147-A177-3AD203B41FA5}">
                      <a16:colId xmlns:a16="http://schemas.microsoft.com/office/drawing/2014/main" val="3396986736"/>
                    </a:ext>
                  </a:extLst>
                </a:gridCol>
                <a:gridCol w="350253">
                  <a:extLst>
                    <a:ext uri="{9D8B030D-6E8A-4147-A177-3AD203B41FA5}">
                      <a16:colId xmlns:a16="http://schemas.microsoft.com/office/drawing/2014/main" val="2996345223"/>
                    </a:ext>
                  </a:extLst>
                </a:gridCol>
                <a:gridCol w="116840">
                  <a:extLst>
                    <a:ext uri="{9D8B030D-6E8A-4147-A177-3AD203B41FA5}">
                      <a16:colId xmlns:a16="http://schemas.microsoft.com/office/drawing/2014/main" val="3952827947"/>
                    </a:ext>
                  </a:extLst>
                </a:gridCol>
                <a:gridCol w="158183">
                  <a:extLst>
                    <a:ext uri="{9D8B030D-6E8A-4147-A177-3AD203B41FA5}">
                      <a16:colId xmlns:a16="http://schemas.microsoft.com/office/drawing/2014/main" val="1084314705"/>
                    </a:ext>
                  </a:extLst>
                </a:gridCol>
                <a:gridCol w="355144">
                  <a:extLst>
                    <a:ext uri="{9D8B030D-6E8A-4147-A177-3AD203B41FA5}">
                      <a16:colId xmlns:a16="http://schemas.microsoft.com/office/drawing/2014/main" val="471670388"/>
                    </a:ext>
                  </a:extLst>
                </a:gridCol>
                <a:gridCol w="674447">
                  <a:extLst>
                    <a:ext uri="{9D8B030D-6E8A-4147-A177-3AD203B41FA5}">
                      <a16:colId xmlns:a16="http://schemas.microsoft.com/office/drawing/2014/main" val="2962958778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수행업무명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텍스트입력</a:t>
                      </a:r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  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담당팀</a:t>
                      </a:r>
                      <a:endParaRPr lang="ko-KR" altLang="en-US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</a:rPr>
                        <a:t>텍스트입력</a:t>
                      </a:r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신규</a:t>
                      </a:r>
                      <a:r>
                        <a:rPr lang="en-US" altLang="ko-KR" sz="700" b="0" dirty="0" err="1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bIZ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구분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870088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세부업무프로세스명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텍스트 입력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업무기술내용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7451146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전산</a:t>
                      </a:r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/</a:t>
                      </a:r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수기구분</a:t>
                      </a:r>
                      <a:endParaRPr lang="ko-KR" altLang="en-US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전산시스템명</a:t>
                      </a:r>
                      <a:endParaRPr lang="en-US" altLang="ko-KR" sz="8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4612683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수기 업무 </a:t>
                      </a:r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처리내용</a:t>
                      </a:r>
                      <a:endParaRPr lang="ko-KR" altLang="en-US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10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텍스트 입력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책임자 승인 </a:t>
                      </a:r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통제여부</a:t>
                      </a:r>
                      <a:endParaRPr lang="ko-KR" altLang="en-US" sz="8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7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0501116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업무처리담당자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업무검증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담당자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9">
                  <a:txBody>
                    <a:bodyPr/>
                    <a:lstStyle/>
                    <a:p>
                      <a:pPr latinLnBrk="1"/>
                      <a:endParaRPr lang="ko-KR" altLang="en-US" sz="7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62704683"/>
                  </a:ext>
                </a:extLst>
              </a:tr>
              <a:tr h="683982"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업무수행관련위험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텍스트 </a:t>
                      </a:r>
                      <a:r>
                        <a:rPr lang="en-US" altLang="ko-KR" sz="700" b="0" kern="120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AREA</a:t>
                      </a:r>
                      <a:endParaRPr lang="ko-KR" altLang="en-US" sz="700" b="0" kern="120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위험 방지를 위한 내부통제절차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6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텍스트 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AREA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06356768"/>
                  </a:ext>
                </a:extLst>
              </a:tr>
              <a:tr h="227994"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관련규정 내용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17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텍스트 </a:t>
                      </a:r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AREA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043467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위험요인확정구분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확정일자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2025.01.03</a:t>
                      </a:r>
                      <a:endParaRPr lang="ko-KR" altLang="en-US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감사부작성여부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/>
                    <a:p>
                      <a:pPr latinLnBrk="1"/>
                      <a:endParaRPr lang="ko-KR" altLang="en-US" sz="7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사용여부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ko-KR" altLang="en-US" sz="7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16549906"/>
                  </a:ext>
                </a:extLst>
              </a:tr>
            </a:tbl>
          </a:graphicData>
        </a:graphic>
      </p:graphicFrame>
      <p:sp>
        <p:nvSpPr>
          <p:cNvPr id="29" name="직사각형 28"/>
          <p:cNvSpPr/>
          <p:nvPr/>
        </p:nvSpPr>
        <p:spPr bwMode="auto">
          <a:xfrm>
            <a:off x="6244958" y="1487718"/>
            <a:ext cx="720000" cy="180000"/>
          </a:xfrm>
          <a:prstGeom prst="rect">
            <a:avLst/>
          </a:prstGeom>
          <a:solidFill>
            <a:srgbClr val="E86E15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800" b="1" i="0" u="none" strike="noStrike" kern="0" cap="none" normalizeH="0" baseline="0" noProof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수행업무선택</a:t>
            </a:r>
            <a:endParaRPr kumimoji="0" lang="ko-KR" altLang="en-US" sz="800" b="1" i="0" u="none" strike="noStrike" kern="0" cap="none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0" name="모서리가 둥근 사각형 설명선 29"/>
          <p:cNvSpPr/>
          <p:nvPr/>
        </p:nvSpPr>
        <p:spPr bwMode="auto">
          <a:xfrm>
            <a:off x="1363399" y="2282642"/>
            <a:ext cx="770151" cy="232634"/>
          </a:xfrm>
          <a:prstGeom prst="wedgeRoundRectCallout">
            <a:avLst>
              <a:gd name="adj1" fmla="val -57531"/>
              <a:gd name="adj2" fmla="val -11845"/>
              <a:gd name="adj3" fmla="val 16667"/>
            </a:avLst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indent="-85725">
              <a:lnSpc>
                <a:spcPts val="300"/>
              </a:lnSpc>
            </a:pPr>
            <a:r>
              <a:rPr lang="en-US" altLang="ko-KR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01: </a:t>
            </a:r>
            <a:r>
              <a:rPr lang="ko-KR" altLang="en-US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전산</a:t>
            </a:r>
            <a:endParaRPr lang="en-US" altLang="ko-KR" sz="600" dirty="0" smtClean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  <a:p>
            <a:pPr marL="85725" indent="-85725">
              <a:lnSpc>
                <a:spcPts val="300"/>
              </a:lnSpc>
            </a:pPr>
            <a:r>
              <a:rPr lang="en-US" altLang="ko-KR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02: </a:t>
            </a:r>
            <a:r>
              <a:rPr lang="ko-KR" altLang="en-US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수기</a:t>
            </a:r>
            <a:endParaRPr lang="en-US" altLang="ko-KR" sz="600" dirty="0" smtClean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  <a:p>
            <a:pPr marL="85725" indent="-85725">
              <a:lnSpc>
                <a:spcPts val="300"/>
              </a:lnSpc>
            </a:pPr>
            <a:r>
              <a:rPr lang="en-US" altLang="ko-KR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03: </a:t>
            </a:r>
            <a:r>
              <a:rPr lang="ko-KR" altLang="en-US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전산 </a:t>
            </a:r>
            <a:r>
              <a:rPr lang="ko-KR" altLang="en-US" sz="600" dirty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또는 </a:t>
            </a:r>
            <a:r>
              <a:rPr lang="ko-KR" altLang="en-US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수기</a:t>
            </a:r>
            <a:endParaRPr lang="ko-KR" altLang="en-US" sz="600" dirty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5772895" y="2523693"/>
            <a:ext cx="74600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  <a:sym typeface="Wingdings 2" panose="05020102010507070707" pitchFamily="18" charset="2"/>
              </a:rPr>
              <a:t> </a:t>
            </a:r>
            <a:r>
              <a:rPr lang="en-US" altLang="ko-KR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  <a:sym typeface="Wingdings 2" panose="05020102010507070707" pitchFamily="18" charset="2"/>
              </a:rPr>
              <a:t>Y</a:t>
            </a:r>
            <a:r>
              <a:rPr lang="ko-KR" altLang="en-US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</a:t>
            </a:r>
            <a:r>
              <a:rPr lang="ko-KR" altLang="en-US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  <a:sym typeface="Wingdings 2" panose="05020102010507070707" pitchFamily="18" charset="2"/>
              </a:rPr>
              <a:t> </a:t>
            </a:r>
            <a:r>
              <a:rPr lang="en-US" altLang="ko-KR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N</a:t>
            </a:r>
            <a:endParaRPr lang="ko-KR" altLang="en-US" sz="900" dirty="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5986671" y="4666029"/>
            <a:ext cx="74600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  <a:sym typeface="Wingdings 2" panose="05020102010507070707" pitchFamily="18" charset="2"/>
              </a:rPr>
              <a:t> </a:t>
            </a:r>
            <a:r>
              <a:rPr lang="en-US" altLang="ko-KR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  <a:sym typeface="Wingdings 2" panose="05020102010507070707" pitchFamily="18" charset="2"/>
              </a:rPr>
              <a:t>Y</a:t>
            </a:r>
            <a:r>
              <a:rPr lang="ko-KR" altLang="en-US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</a:t>
            </a:r>
            <a:r>
              <a:rPr lang="ko-KR" altLang="en-US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  <a:sym typeface="Wingdings 2" panose="05020102010507070707" pitchFamily="18" charset="2"/>
              </a:rPr>
              <a:t> </a:t>
            </a:r>
            <a:r>
              <a:rPr lang="en-US" altLang="ko-KR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N</a:t>
            </a:r>
            <a:endParaRPr lang="ko-KR" altLang="en-US" sz="900" dirty="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5" name="모서리가 둥근 사각형 설명선 34"/>
          <p:cNvSpPr/>
          <p:nvPr/>
        </p:nvSpPr>
        <p:spPr bwMode="auto">
          <a:xfrm>
            <a:off x="1363400" y="4650507"/>
            <a:ext cx="770151" cy="232634"/>
          </a:xfrm>
          <a:prstGeom prst="wedgeRoundRectCallout">
            <a:avLst>
              <a:gd name="adj1" fmla="val -57531"/>
              <a:gd name="adj2" fmla="val -11845"/>
              <a:gd name="adj3" fmla="val 16667"/>
            </a:avLst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indent="-85725">
              <a:lnSpc>
                <a:spcPts val="300"/>
              </a:lnSpc>
            </a:pPr>
            <a:r>
              <a:rPr lang="en-US" altLang="ko-KR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01: </a:t>
            </a:r>
            <a:r>
              <a:rPr lang="ko-KR" altLang="en-US" sz="600" dirty="0" err="1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작성중</a:t>
            </a:r>
            <a:endParaRPr lang="en-US" altLang="ko-KR" sz="600" dirty="0" smtClean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  <a:p>
            <a:pPr marL="85725" indent="-85725">
              <a:lnSpc>
                <a:spcPts val="300"/>
              </a:lnSpc>
            </a:pPr>
            <a:r>
              <a:rPr lang="en-US" altLang="ko-KR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02: </a:t>
            </a:r>
            <a:r>
              <a:rPr lang="ko-KR" altLang="en-US" sz="600" dirty="0" err="1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확정요청</a:t>
            </a:r>
            <a:endParaRPr lang="en-US" altLang="ko-KR" sz="600" dirty="0" smtClean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  <a:p>
            <a:pPr marL="85725" indent="-85725">
              <a:lnSpc>
                <a:spcPts val="300"/>
              </a:lnSpc>
            </a:pPr>
            <a:r>
              <a:rPr lang="en-US" altLang="ko-KR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03: </a:t>
            </a:r>
            <a:r>
              <a:rPr lang="ko-KR" altLang="en-US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확정</a:t>
            </a:r>
            <a:endParaRPr lang="ko-KR" altLang="en-US" sz="600" dirty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</p:txBody>
      </p:sp>
      <p:sp>
        <p:nvSpPr>
          <p:cNvPr id="36" name="직사각형 35"/>
          <p:cNvSpPr/>
          <p:nvPr/>
        </p:nvSpPr>
        <p:spPr bwMode="auto">
          <a:xfrm>
            <a:off x="3347995" y="4973288"/>
            <a:ext cx="540000" cy="180000"/>
          </a:xfrm>
          <a:prstGeom prst="rect">
            <a:avLst/>
          </a:prstGeom>
          <a:solidFill>
            <a:srgbClr val="E86E15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800" b="1" i="0" u="none" strike="noStrike" kern="0" cap="none" normalizeH="0" baseline="0" noProof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저장</a:t>
            </a:r>
            <a:endParaRPr kumimoji="0" lang="ko-KR" altLang="en-US" sz="800" b="1" i="0" u="none" strike="noStrike" kern="0" cap="none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7" name="직사각형 36"/>
          <p:cNvSpPr/>
          <p:nvPr/>
        </p:nvSpPr>
        <p:spPr bwMode="auto">
          <a:xfrm>
            <a:off x="3906415" y="4973288"/>
            <a:ext cx="540000" cy="180000"/>
          </a:xfrm>
          <a:prstGeom prst="rect">
            <a:avLst/>
          </a:prstGeom>
          <a:solidFill>
            <a:srgbClr val="E86E15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800" b="1" i="0" u="none" strike="noStrike" kern="0" cap="none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닫기</a:t>
            </a:r>
          </a:p>
        </p:txBody>
      </p:sp>
      <p:sp>
        <p:nvSpPr>
          <p:cNvPr id="18" name="직사각형 17"/>
          <p:cNvSpPr/>
          <p:nvPr/>
        </p:nvSpPr>
        <p:spPr bwMode="auto">
          <a:xfrm>
            <a:off x="2620317" y="2801818"/>
            <a:ext cx="720000" cy="180000"/>
          </a:xfrm>
          <a:prstGeom prst="rect">
            <a:avLst/>
          </a:prstGeom>
          <a:solidFill>
            <a:srgbClr val="E86E15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800" b="1" i="0" u="none" strike="noStrike" kern="0" cap="none" normalizeH="0" baseline="0" noProof="0" dirty="0" err="1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담당자조회</a:t>
            </a:r>
            <a:endParaRPr kumimoji="0" lang="ko-KR" altLang="en-US" sz="800" b="1" i="0" u="none" strike="noStrike" kern="0" cap="none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19" name="그룹 18"/>
          <p:cNvGrpSpPr/>
          <p:nvPr/>
        </p:nvGrpSpPr>
        <p:grpSpPr>
          <a:xfrm>
            <a:off x="1224203" y="2793101"/>
            <a:ext cx="1312388" cy="180949"/>
            <a:chOff x="1323263" y="3111063"/>
            <a:chExt cx="1312388" cy="180949"/>
          </a:xfrm>
        </p:grpSpPr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323263" y="3111063"/>
              <a:ext cx="397573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735651" y="3111097"/>
              <a:ext cx="900000" cy="18091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       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22" name="그림 21"/>
            <p:cNvPicPr>
              <a:picLocks noChangeAspect="1"/>
            </p:cNvPicPr>
            <p:nvPr/>
          </p:nvPicPr>
          <p:blipFill rotWithShape="1">
            <a:blip r:embed="rId2"/>
            <a:srcRect r="73540"/>
            <a:stretch/>
          </p:blipFill>
          <p:spPr>
            <a:xfrm>
              <a:off x="1748476" y="3120434"/>
              <a:ext cx="183595" cy="164228"/>
            </a:xfrm>
            <a:prstGeom prst="rect">
              <a:avLst/>
            </a:prstGeom>
          </p:spPr>
        </p:pic>
      </p:grpSp>
      <p:sp>
        <p:nvSpPr>
          <p:cNvPr id="23" name="직사각형 22"/>
          <p:cNvSpPr/>
          <p:nvPr/>
        </p:nvSpPr>
        <p:spPr bwMode="auto">
          <a:xfrm>
            <a:off x="5941513" y="2801564"/>
            <a:ext cx="720000" cy="180000"/>
          </a:xfrm>
          <a:prstGeom prst="rect">
            <a:avLst/>
          </a:prstGeom>
          <a:solidFill>
            <a:srgbClr val="E86E15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800" b="1" i="0" u="none" strike="noStrike" kern="0" cap="none" normalizeH="0" baseline="0" noProof="0" dirty="0" err="1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담당자조회</a:t>
            </a:r>
            <a:endParaRPr kumimoji="0" lang="ko-KR" altLang="en-US" sz="800" b="1" i="0" u="none" strike="noStrike" kern="0" cap="none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4545399" y="2792847"/>
            <a:ext cx="1312388" cy="180949"/>
            <a:chOff x="1323263" y="3111063"/>
            <a:chExt cx="1312388" cy="180949"/>
          </a:xfrm>
        </p:grpSpPr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323263" y="3111063"/>
              <a:ext cx="397573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735651" y="3111097"/>
              <a:ext cx="900000" cy="18091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       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27" name="그림 26"/>
            <p:cNvPicPr>
              <a:picLocks noChangeAspect="1"/>
            </p:cNvPicPr>
            <p:nvPr/>
          </p:nvPicPr>
          <p:blipFill rotWithShape="1">
            <a:blip r:embed="rId2"/>
            <a:srcRect r="73540"/>
            <a:stretch/>
          </p:blipFill>
          <p:spPr>
            <a:xfrm>
              <a:off x="1748476" y="3120434"/>
              <a:ext cx="183595" cy="164228"/>
            </a:xfrm>
            <a:prstGeom prst="rect">
              <a:avLst/>
            </a:prstGeom>
          </p:spPr>
        </p:pic>
      </p:grpSp>
      <p:sp>
        <p:nvSpPr>
          <p:cNvPr id="31" name="모서리가 둥근 사각형 설명선 30"/>
          <p:cNvSpPr/>
          <p:nvPr/>
        </p:nvSpPr>
        <p:spPr bwMode="auto">
          <a:xfrm>
            <a:off x="6422629" y="1770370"/>
            <a:ext cx="558620" cy="232634"/>
          </a:xfrm>
          <a:prstGeom prst="wedgeRoundRectCallout">
            <a:avLst>
              <a:gd name="adj1" fmla="val -57531"/>
              <a:gd name="adj2" fmla="val -11845"/>
              <a:gd name="adj3" fmla="val 16667"/>
            </a:avLst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indent="-85725">
              <a:lnSpc>
                <a:spcPts val="300"/>
              </a:lnSpc>
            </a:pPr>
            <a:r>
              <a:rPr lang="en-US" altLang="ko-KR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01: </a:t>
            </a:r>
            <a:r>
              <a:rPr lang="ko-KR" altLang="en-US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신규</a:t>
            </a:r>
            <a:endParaRPr lang="en-US" altLang="ko-KR" sz="600" dirty="0" smtClean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  <a:p>
            <a:pPr marL="85725" indent="-85725">
              <a:lnSpc>
                <a:spcPts val="300"/>
              </a:lnSpc>
            </a:pPr>
            <a:r>
              <a:rPr lang="en-US" altLang="ko-KR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02: </a:t>
            </a:r>
            <a:r>
              <a:rPr lang="ko-KR" altLang="en-US" sz="600" dirty="0" err="1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업</a:t>
            </a:r>
            <a:r>
              <a:rPr lang="ko-KR" altLang="en-US" sz="600" dirty="0" err="1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무확대</a:t>
            </a:r>
            <a:endParaRPr lang="en-US" altLang="ko-KR" sz="600" dirty="0" smtClean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</p:txBody>
      </p:sp>
      <p:sp>
        <p:nvSpPr>
          <p:cNvPr id="33" name="직사각형 32"/>
          <p:cNvSpPr/>
          <p:nvPr/>
        </p:nvSpPr>
        <p:spPr bwMode="auto">
          <a:xfrm>
            <a:off x="3076244" y="1793114"/>
            <a:ext cx="720000" cy="180000"/>
          </a:xfrm>
          <a:prstGeom prst="rect">
            <a:avLst/>
          </a:prstGeom>
          <a:solidFill>
            <a:srgbClr val="E86E15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800" b="1" i="0" u="none" strike="noStrike" kern="0" cap="none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수행업무명조회</a:t>
            </a:r>
          </a:p>
        </p:txBody>
      </p:sp>
      <p:sp>
        <p:nvSpPr>
          <p:cNvPr id="40" name="직사각형 39"/>
          <p:cNvSpPr/>
          <p:nvPr/>
        </p:nvSpPr>
        <p:spPr bwMode="auto">
          <a:xfrm>
            <a:off x="3084557" y="2030501"/>
            <a:ext cx="720000" cy="180000"/>
          </a:xfrm>
          <a:prstGeom prst="rect">
            <a:avLst/>
          </a:prstGeom>
          <a:solidFill>
            <a:srgbClr val="E86E15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800" b="1" i="0" u="none" strike="noStrike" kern="0" cap="none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세무업무명조회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371231" y="4681269"/>
            <a:ext cx="746005" cy="180000"/>
          </a:xfrm>
          <a:prstGeom prst="rect">
            <a:avLst/>
          </a:prstGeom>
          <a:solidFill>
            <a:srgbClr val="D9D9D9"/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  <a:sym typeface="Wingdings 2" panose="05020102010507070707" pitchFamily="18" charset="2"/>
              </a:rPr>
              <a:t> </a:t>
            </a:r>
            <a:r>
              <a:rPr lang="en-US" altLang="ko-KR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  <a:sym typeface="Wingdings 2" panose="05020102010507070707" pitchFamily="18" charset="2"/>
              </a:rPr>
              <a:t>Y</a:t>
            </a:r>
            <a:r>
              <a:rPr lang="ko-KR" altLang="en-US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</a:t>
            </a:r>
            <a:r>
              <a:rPr lang="ko-KR" altLang="en-US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  <a:sym typeface="Wingdings 2" panose="05020102010507070707" pitchFamily="18" charset="2"/>
              </a:rPr>
              <a:t> </a:t>
            </a:r>
            <a:r>
              <a:rPr lang="en-US" altLang="ko-KR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N</a:t>
            </a:r>
            <a:endParaRPr lang="ko-KR" altLang="en-US" sz="900" dirty="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084557" y="1679480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069317" y="2144300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12289686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" name="표 27"/>
          <p:cNvGraphicFramePr>
            <a:graphicFrameLocks noGrp="1"/>
          </p:cNvGraphicFramePr>
          <p:nvPr>
            <p:extLst/>
          </p:nvPr>
        </p:nvGraphicFramePr>
        <p:xfrm>
          <a:off x="269967" y="3082167"/>
          <a:ext cx="6693154" cy="1493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951">
                  <a:extLst>
                    <a:ext uri="{9D8B030D-6E8A-4147-A177-3AD203B41FA5}">
                      <a16:colId xmlns:a16="http://schemas.microsoft.com/office/drawing/2014/main" val="2530438275"/>
                    </a:ext>
                  </a:extLst>
                </a:gridCol>
                <a:gridCol w="751782">
                  <a:extLst>
                    <a:ext uri="{9D8B030D-6E8A-4147-A177-3AD203B41FA5}">
                      <a16:colId xmlns:a16="http://schemas.microsoft.com/office/drawing/2014/main" val="1534687929"/>
                    </a:ext>
                  </a:extLst>
                </a:gridCol>
                <a:gridCol w="367883">
                  <a:extLst>
                    <a:ext uri="{9D8B030D-6E8A-4147-A177-3AD203B41FA5}">
                      <a16:colId xmlns:a16="http://schemas.microsoft.com/office/drawing/2014/main" val="3222902788"/>
                    </a:ext>
                  </a:extLst>
                </a:gridCol>
                <a:gridCol w="403966">
                  <a:extLst>
                    <a:ext uri="{9D8B030D-6E8A-4147-A177-3AD203B41FA5}">
                      <a16:colId xmlns:a16="http://schemas.microsoft.com/office/drawing/2014/main" val="3404455896"/>
                    </a:ext>
                  </a:extLst>
                </a:gridCol>
                <a:gridCol w="853829">
                  <a:extLst>
                    <a:ext uri="{9D8B030D-6E8A-4147-A177-3AD203B41FA5}">
                      <a16:colId xmlns:a16="http://schemas.microsoft.com/office/drawing/2014/main" val="1933972587"/>
                    </a:ext>
                  </a:extLst>
                </a:gridCol>
                <a:gridCol w="350488">
                  <a:extLst>
                    <a:ext uri="{9D8B030D-6E8A-4147-A177-3AD203B41FA5}">
                      <a16:colId xmlns:a16="http://schemas.microsoft.com/office/drawing/2014/main" val="3555046843"/>
                    </a:ext>
                  </a:extLst>
                </a:gridCol>
                <a:gridCol w="362146">
                  <a:extLst>
                    <a:ext uri="{9D8B030D-6E8A-4147-A177-3AD203B41FA5}">
                      <a16:colId xmlns:a16="http://schemas.microsoft.com/office/drawing/2014/main" val="2657483137"/>
                    </a:ext>
                  </a:extLst>
                </a:gridCol>
                <a:gridCol w="362146">
                  <a:extLst>
                    <a:ext uri="{9D8B030D-6E8A-4147-A177-3AD203B41FA5}">
                      <a16:colId xmlns:a16="http://schemas.microsoft.com/office/drawing/2014/main" val="3717064249"/>
                    </a:ext>
                  </a:extLst>
                </a:gridCol>
                <a:gridCol w="327577">
                  <a:extLst>
                    <a:ext uri="{9D8B030D-6E8A-4147-A177-3AD203B41FA5}">
                      <a16:colId xmlns:a16="http://schemas.microsoft.com/office/drawing/2014/main" val="2787853621"/>
                    </a:ext>
                  </a:extLst>
                </a:gridCol>
                <a:gridCol w="1182474">
                  <a:extLst>
                    <a:ext uri="{9D8B030D-6E8A-4147-A177-3AD203B41FA5}">
                      <a16:colId xmlns:a16="http://schemas.microsoft.com/office/drawing/2014/main" val="1288190739"/>
                    </a:ext>
                  </a:extLst>
                </a:gridCol>
                <a:gridCol w="316576">
                  <a:extLst>
                    <a:ext uri="{9D8B030D-6E8A-4147-A177-3AD203B41FA5}">
                      <a16:colId xmlns:a16="http://schemas.microsoft.com/office/drawing/2014/main" val="4042688618"/>
                    </a:ext>
                  </a:extLst>
                </a:gridCol>
                <a:gridCol w="427373">
                  <a:extLst>
                    <a:ext uri="{9D8B030D-6E8A-4147-A177-3AD203B41FA5}">
                      <a16:colId xmlns:a16="http://schemas.microsoft.com/office/drawing/2014/main" val="3862600377"/>
                    </a:ext>
                  </a:extLst>
                </a:gridCol>
                <a:gridCol w="427373">
                  <a:extLst>
                    <a:ext uri="{9D8B030D-6E8A-4147-A177-3AD203B41FA5}">
                      <a16:colId xmlns:a16="http://schemas.microsoft.com/office/drawing/2014/main" val="1208762119"/>
                    </a:ext>
                  </a:extLst>
                </a:gridCol>
                <a:gridCol w="329590">
                  <a:extLst>
                    <a:ext uri="{9D8B030D-6E8A-4147-A177-3AD203B41FA5}">
                      <a16:colId xmlns:a16="http://schemas.microsoft.com/office/drawing/2014/main" val="89973998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업무명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담당팀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신규업무여부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세무업무프로세스명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전산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수기구분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전산시스템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업무처리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담당자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업무검증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담당자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업무수행 관련 위험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확정여부</a:t>
                      </a:r>
                      <a:endParaRPr lang="ko-KR" altLang="en-US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작성자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작성여부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사용여부</a:t>
                      </a:r>
                    </a:p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5815844"/>
                  </a:ext>
                </a:extLst>
              </a:tr>
              <a:tr h="15738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1-1-1.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시장동향 파악 및 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운용전략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수립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시장동향 파악 및 </a:t>
                      </a:r>
                      <a:r>
                        <a:rPr lang="ko-KR" altLang="en-US" sz="6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운용전략</a:t>
                      </a:r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6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수립관련</a:t>
                      </a:r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업무로 해당사항 없음</a:t>
                      </a: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3288538"/>
                  </a:ext>
                </a:extLst>
              </a:tr>
              <a:tr h="15738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1-1-1.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시장동향 파악 및 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운용전략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수립</a:t>
                      </a: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법인세 관련업무를 수행함에 있어서 세법 적용의 오류나 충분한 검토가 </a:t>
                      </a:r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6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4613874"/>
                  </a:ext>
                </a:extLst>
              </a:tr>
              <a:tr h="15738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1-1-3.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환경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·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사회리스크모범규준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(ESRM)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준수 확인</a:t>
                      </a: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6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1115041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9174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개별 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부서의 기준년도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부서명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사용여부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업무구분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업무명 및 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위헝요인확정구분을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조건으로 위험요인 항목을 조회 할 수 있다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 조건에 맞는 위험요인이 목록에 나타난다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개별 부서의 위험요인을 등록 할 수 있는 팝업 창이 나타난다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개별 부서의 등록된 위험요인의 상세보기 팝업 창이 나타나며 개별부서에서 등록한 위험요인 항목만 개별부서에서 수정이 가능하며 감사부에서 등록한 위험요인은 수정이 불가하다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algn="l" rtl="0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4" name="표 3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MDD-00057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MDD75TC1100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6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lvl="0" algn="l" defTabSz="914395" rtl="0" eaLnBrk="1" fontAlgn="auto" latinLnBrk="1" hangingPunct="1">
                        <a:spcBef>
                          <a:spcPts val="30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부서별 위험요인 분석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부서별 위험요인 분석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감사정보시스템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부점용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r>
                        <a:rPr kumimoji="0" lang="ko-KR" altLang="en-US" sz="1050" baseline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(P115: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강지웅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69968" y="1254563"/>
            <a:ext cx="6726396" cy="319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" name="양쪽 모서리가 둥근 사각형 5"/>
          <p:cNvSpPr/>
          <p:nvPr/>
        </p:nvSpPr>
        <p:spPr bwMode="auto">
          <a:xfrm>
            <a:off x="269968" y="1003031"/>
            <a:ext cx="1567145" cy="238010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 dirty="0" smtClean="0">
                <a:solidFill>
                  <a:schemeClr val="dk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세부업무수행 위험요인 </a:t>
            </a:r>
            <a:r>
              <a:rPr lang="ko-KR" altLang="en-US" sz="800" dirty="0" err="1" smtClean="0">
                <a:solidFill>
                  <a:schemeClr val="dk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분석관리</a:t>
            </a:r>
            <a:endParaRPr lang="ko-KR" altLang="en-US" sz="800" dirty="0">
              <a:solidFill>
                <a:schemeClr val="dk1"/>
              </a:solidFill>
              <a:latin typeface="KB금융 본문체 Bold" panose="020B0803000000000000" pitchFamily="50" charset="-127"/>
              <a:ea typeface="KB금융 본문체 Bold" panose="020B0803000000000000" pitchFamily="50" charset="-127"/>
            </a:endParaRPr>
          </a:p>
        </p:txBody>
      </p:sp>
      <p:pic>
        <p:nvPicPr>
          <p:cNvPr id="7" name="그림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55512" y="1050810"/>
            <a:ext cx="134087" cy="141144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288074" y="1254563"/>
            <a:ext cx="188263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0" lang="ko-KR" altLang="en-US" sz="10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세부업무수행 위험요인 </a:t>
            </a:r>
            <a:r>
              <a:rPr kumimoji="0" lang="ko-KR" altLang="en-US" sz="100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분석관리</a:t>
            </a:r>
            <a:endParaRPr kumimoji="0" lang="ko-KR" altLang="en-US" sz="10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9" name="표 8"/>
          <p:cNvGraphicFramePr>
            <a:graphicFrameLocks noGrp="1"/>
          </p:cNvGraphicFramePr>
          <p:nvPr>
            <p:extLst/>
          </p:nvPr>
        </p:nvGraphicFramePr>
        <p:xfrm>
          <a:off x="330363" y="1506285"/>
          <a:ext cx="6632758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43552">
                  <a:extLst>
                    <a:ext uri="{9D8B030D-6E8A-4147-A177-3AD203B41FA5}">
                      <a16:colId xmlns:a16="http://schemas.microsoft.com/office/drawing/2014/main" val="76529090"/>
                    </a:ext>
                  </a:extLst>
                </a:gridCol>
                <a:gridCol w="907852">
                  <a:extLst>
                    <a:ext uri="{9D8B030D-6E8A-4147-A177-3AD203B41FA5}">
                      <a16:colId xmlns:a16="http://schemas.microsoft.com/office/drawing/2014/main" val="158312865"/>
                    </a:ext>
                  </a:extLst>
                </a:gridCol>
                <a:gridCol w="869383">
                  <a:extLst>
                    <a:ext uri="{9D8B030D-6E8A-4147-A177-3AD203B41FA5}">
                      <a16:colId xmlns:a16="http://schemas.microsoft.com/office/drawing/2014/main" val="4148962399"/>
                    </a:ext>
                  </a:extLst>
                </a:gridCol>
                <a:gridCol w="2277326">
                  <a:extLst>
                    <a:ext uri="{9D8B030D-6E8A-4147-A177-3AD203B41FA5}">
                      <a16:colId xmlns:a16="http://schemas.microsoft.com/office/drawing/2014/main" val="4247419316"/>
                    </a:ext>
                  </a:extLst>
                </a:gridCol>
                <a:gridCol w="684735">
                  <a:extLst>
                    <a:ext uri="{9D8B030D-6E8A-4147-A177-3AD203B41FA5}">
                      <a16:colId xmlns:a16="http://schemas.microsoft.com/office/drawing/2014/main" val="626434785"/>
                    </a:ext>
                  </a:extLst>
                </a:gridCol>
                <a:gridCol w="1149910">
                  <a:extLst>
                    <a:ext uri="{9D8B030D-6E8A-4147-A177-3AD203B41FA5}">
                      <a16:colId xmlns:a16="http://schemas.microsoft.com/office/drawing/2014/main" val="3107992428"/>
                    </a:ext>
                  </a:extLst>
                </a:gridCol>
              </a:tblGrid>
              <a:tr h="16265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</a:rPr>
                        <a:t>기준년도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</a:rPr>
                        <a:t>사업그룹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</a:rPr>
                        <a:t>부서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</a:rPr>
                        <a:t>경영기획그룹 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</a:rPr>
                        <a:t>회계부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</a:rPr>
                        <a:t>사용여부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7870088"/>
                  </a:ext>
                </a:extLst>
              </a:tr>
              <a:tr h="162650"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세무업무</a:t>
                      </a:r>
                      <a:endParaRPr lang="en-US" altLang="ko-KR" sz="8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프로세스명</a:t>
                      </a:r>
                      <a:endParaRPr lang="ko-KR" altLang="en-US" sz="8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위험요인확정구분</a:t>
                      </a:r>
                      <a:endParaRPr lang="ko-KR" altLang="en-US" sz="800" b="0" dirty="0" smtClean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7352546"/>
                  </a:ext>
                </a:extLst>
              </a:tr>
            </a:tbl>
          </a:graphicData>
        </a:graphic>
      </p:graphicFrame>
      <p:pic>
        <p:nvPicPr>
          <p:cNvPr id="10" name="그림 9"/>
          <p:cNvPicPr>
            <a:picLocks noChangeAspect="1"/>
          </p:cNvPicPr>
          <p:nvPr/>
        </p:nvPicPr>
        <p:blipFill rotWithShape="1">
          <a:blip r:embed="rId3"/>
          <a:srcRect l="1" t="-2" r="-1121" b="-3239"/>
          <a:stretch/>
        </p:blipFill>
        <p:spPr>
          <a:xfrm>
            <a:off x="1089373" y="1526525"/>
            <a:ext cx="758013" cy="197198"/>
          </a:xfrm>
          <a:prstGeom prst="rect">
            <a:avLst/>
          </a:prstGeom>
        </p:spPr>
      </p:pic>
      <p:grpSp>
        <p:nvGrpSpPr>
          <p:cNvPr id="15" name="그룹 14"/>
          <p:cNvGrpSpPr/>
          <p:nvPr/>
        </p:nvGrpSpPr>
        <p:grpSpPr>
          <a:xfrm>
            <a:off x="5868689" y="1555588"/>
            <a:ext cx="720000" cy="133358"/>
            <a:chOff x="2947987" y="1557330"/>
            <a:chExt cx="720000" cy="133358"/>
          </a:xfrm>
        </p:grpSpPr>
        <p:sp>
          <p:nvSpPr>
            <p:cNvPr id="16" name="직사각형 15"/>
            <p:cNvSpPr/>
            <p:nvPr/>
          </p:nvSpPr>
          <p:spPr bwMode="auto">
            <a:xfrm>
              <a:off x="2990860" y="1557330"/>
              <a:ext cx="284909" cy="104863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algn="ctr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400" b="1" i="0" u="none" strike="noStrike" kern="0" cap="none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17" name="직사각형 16"/>
            <p:cNvSpPr/>
            <p:nvPr/>
          </p:nvSpPr>
          <p:spPr bwMode="auto">
            <a:xfrm>
              <a:off x="2947987" y="1557330"/>
              <a:ext cx="720000" cy="13335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en-US" sz="700" i="0" u="none" strike="noStrike" kern="0" cap="none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Light" panose="020B0303000000000000" pitchFamily="50" charset="-127"/>
                  <a:ea typeface="KB금융 본문체 Light" panose="020B0303000000000000" pitchFamily="50" charset="-127"/>
                </a:rPr>
                <a:t>전체</a:t>
              </a:r>
            </a:p>
          </p:txBody>
        </p:sp>
        <p:sp>
          <p:nvSpPr>
            <p:cNvPr id="18" name="이등변 삼각형 17"/>
            <p:cNvSpPr/>
            <p:nvPr/>
          </p:nvSpPr>
          <p:spPr bwMode="auto">
            <a:xfrm flipV="1">
              <a:off x="3556788" y="1593637"/>
              <a:ext cx="72000" cy="72000"/>
            </a:xfrm>
            <a:prstGeom prst="triangl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algn="ctr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400" b="1" i="0" u="none" strike="noStrike" kern="0" cap="none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19" name="타원 1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02556" y="299603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2" name="직사각형 21"/>
          <p:cNvSpPr/>
          <p:nvPr/>
        </p:nvSpPr>
        <p:spPr bwMode="auto">
          <a:xfrm>
            <a:off x="1102117" y="1806322"/>
            <a:ext cx="1800000" cy="144000"/>
          </a:xfrm>
          <a:prstGeom prst="rect">
            <a:avLst/>
          </a:prstGeom>
          <a:noFill/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4" name="직사각형 23"/>
          <p:cNvSpPr/>
          <p:nvPr/>
        </p:nvSpPr>
        <p:spPr bwMode="auto">
          <a:xfrm>
            <a:off x="6423121" y="2797262"/>
            <a:ext cx="540000" cy="180000"/>
          </a:xfrm>
          <a:prstGeom prst="rect">
            <a:avLst/>
          </a:prstGeom>
          <a:solidFill>
            <a:srgbClr val="E86E15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800" b="1" i="0" u="none" strike="noStrike" kern="0" cap="none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</a:p>
        </p:txBody>
      </p:sp>
      <p:sp>
        <p:nvSpPr>
          <p:cNvPr id="25" name="직사각형 24"/>
          <p:cNvSpPr/>
          <p:nvPr/>
        </p:nvSpPr>
        <p:spPr bwMode="auto">
          <a:xfrm>
            <a:off x="5845492" y="2797262"/>
            <a:ext cx="540000" cy="180000"/>
          </a:xfrm>
          <a:prstGeom prst="rect">
            <a:avLst/>
          </a:prstGeom>
          <a:solidFill>
            <a:srgbClr val="E86E15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800" b="1" i="0" u="none" strike="noStrike" kern="0" cap="none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수정</a:t>
            </a:r>
          </a:p>
        </p:txBody>
      </p:sp>
      <p:sp>
        <p:nvSpPr>
          <p:cNvPr id="26" name="직사각형 25"/>
          <p:cNvSpPr/>
          <p:nvPr/>
        </p:nvSpPr>
        <p:spPr bwMode="auto">
          <a:xfrm>
            <a:off x="5282998" y="2800034"/>
            <a:ext cx="540000" cy="180000"/>
          </a:xfrm>
          <a:prstGeom prst="rect">
            <a:avLst/>
          </a:prstGeom>
          <a:solidFill>
            <a:srgbClr val="E86E15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800" b="1" i="0" u="none" strike="noStrike" kern="0" cap="none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282998" y="2648496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30" name="그룹 29"/>
          <p:cNvGrpSpPr/>
          <p:nvPr/>
        </p:nvGrpSpPr>
        <p:grpSpPr>
          <a:xfrm>
            <a:off x="5871460" y="1774492"/>
            <a:ext cx="720000" cy="133358"/>
            <a:chOff x="2947987" y="1557330"/>
            <a:chExt cx="720000" cy="133358"/>
          </a:xfrm>
        </p:grpSpPr>
        <p:sp>
          <p:nvSpPr>
            <p:cNvPr id="31" name="직사각형 30"/>
            <p:cNvSpPr/>
            <p:nvPr/>
          </p:nvSpPr>
          <p:spPr bwMode="auto">
            <a:xfrm>
              <a:off x="2990860" y="1557330"/>
              <a:ext cx="284909" cy="104863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algn="ctr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400" b="1" i="0" u="none" strike="noStrike" kern="0" cap="none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32" name="직사각형 31"/>
            <p:cNvSpPr/>
            <p:nvPr/>
          </p:nvSpPr>
          <p:spPr bwMode="auto">
            <a:xfrm>
              <a:off x="2947987" y="1557330"/>
              <a:ext cx="720000" cy="13335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en-US" sz="700" i="0" u="none" strike="noStrike" kern="0" cap="none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Light" panose="020B0303000000000000" pitchFamily="50" charset="-127"/>
                  <a:ea typeface="KB금융 본문체 Light" panose="020B0303000000000000" pitchFamily="50" charset="-127"/>
                </a:rPr>
                <a:t>전체</a:t>
              </a:r>
            </a:p>
          </p:txBody>
        </p:sp>
        <p:sp>
          <p:nvSpPr>
            <p:cNvPr id="33" name="이등변 삼각형 32"/>
            <p:cNvSpPr/>
            <p:nvPr/>
          </p:nvSpPr>
          <p:spPr bwMode="auto">
            <a:xfrm flipV="1">
              <a:off x="3556788" y="1593637"/>
              <a:ext cx="72000" cy="72000"/>
            </a:xfrm>
            <a:prstGeom prst="triangl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algn="ctr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400" b="1" i="0" u="none" strike="noStrike" kern="0" cap="none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34" name="모서리가 둥근 사각형 설명선 33"/>
          <p:cNvSpPr/>
          <p:nvPr/>
        </p:nvSpPr>
        <p:spPr bwMode="auto">
          <a:xfrm>
            <a:off x="6111074" y="1186323"/>
            <a:ext cx="770151" cy="308023"/>
          </a:xfrm>
          <a:prstGeom prst="wedgeRoundRectCallout">
            <a:avLst>
              <a:gd name="adj1" fmla="val 6152"/>
              <a:gd name="adj2" fmla="val 158499"/>
              <a:gd name="adj3" fmla="val 16667"/>
            </a:avLst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indent="-85725">
              <a:lnSpc>
                <a:spcPts val="300"/>
              </a:lnSpc>
            </a:pPr>
            <a:r>
              <a:rPr lang="en-US" altLang="ko-KR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01: </a:t>
            </a:r>
            <a:r>
              <a:rPr lang="ko-KR" altLang="en-US" sz="600" dirty="0" err="1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작성중</a:t>
            </a:r>
            <a:endParaRPr lang="en-US" altLang="ko-KR" sz="600" dirty="0" smtClean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  <a:p>
            <a:pPr marL="85725" indent="-85725">
              <a:lnSpc>
                <a:spcPts val="300"/>
              </a:lnSpc>
            </a:pPr>
            <a:r>
              <a:rPr lang="en-US" altLang="ko-KR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02: </a:t>
            </a:r>
            <a:r>
              <a:rPr lang="ko-KR" altLang="en-US" sz="600" dirty="0" err="1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확정요청</a:t>
            </a:r>
            <a:endParaRPr lang="en-US" altLang="ko-KR" sz="600" dirty="0" smtClean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  <a:p>
            <a:pPr marL="85725" indent="-85725">
              <a:lnSpc>
                <a:spcPts val="300"/>
              </a:lnSpc>
            </a:pPr>
            <a:r>
              <a:rPr lang="en-US" altLang="ko-KR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03: </a:t>
            </a:r>
            <a:r>
              <a:rPr lang="ko-KR" altLang="en-US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확정</a:t>
            </a:r>
            <a:endParaRPr lang="ko-KR" altLang="en-US" sz="600" dirty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69968" y="1473897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884284" y="2651266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42" name="표 41"/>
          <p:cNvGraphicFramePr>
            <a:graphicFrameLocks noGrp="1"/>
          </p:cNvGraphicFramePr>
          <p:nvPr>
            <p:extLst/>
          </p:nvPr>
        </p:nvGraphicFramePr>
        <p:xfrm>
          <a:off x="331896" y="2135576"/>
          <a:ext cx="6641608" cy="502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61504">
                  <a:extLst>
                    <a:ext uri="{9D8B030D-6E8A-4147-A177-3AD203B41FA5}">
                      <a16:colId xmlns:a16="http://schemas.microsoft.com/office/drawing/2014/main" val="154294628"/>
                    </a:ext>
                  </a:extLst>
                </a:gridCol>
                <a:gridCol w="1098972">
                  <a:extLst>
                    <a:ext uri="{9D8B030D-6E8A-4147-A177-3AD203B41FA5}">
                      <a16:colId xmlns:a16="http://schemas.microsoft.com/office/drawing/2014/main" val="3381519835"/>
                    </a:ext>
                  </a:extLst>
                </a:gridCol>
                <a:gridCol w="1001564">
                  <a:extLst>
                    <a:ext uri="{9D8B030D-6E8A-4147-A177-3AD203B41FA5}">
                      <a16:colId xmlns:a16="http://schemas.microsoft.com/office/drawing/2014/main" val="3548842159"/>
                    </a:ext>
                  </a:extLst>
                </a:gridCol>
                <a:gridCol w="1033359">
                  <a:extLst>
                    <a:ext uri="{9D8B030D-6E8A-4147-A177-3AD203B41FA5}">
                      <a16:colId xmlns:a16="http://schemas.microsoft.com/office/drawing/2014/main" val="2955451649"/>
                    </a:ext>
                  </a:extLst>
                </a:gridCol>
                <a:gridCol w="1001564">
                  <a:extLst>
                    <a:ext uri="{9D8B030D-6E8A-4147-A177-3AD203B41FA5}">
                      <a16:colId xmlns:a16="http://schemas.microsoft.com/office/drawing/2014/main" val="2843537952"/>
                    </a:ext>
                  </a:extLst>
                </a:gridCol>
                <a:gridCol w="1144645">
                  <a:extLst>
                    <a:ext uri="{9D8B030D-6E8A-4147-A177-3AD203B41FA5}">
                      <a16:colId xmlns:a16="http://schemas.microsoft.com/office/drawing/2014/main" val="499348225"/>
                    </a:ext>
                  </a:extLst>
                </a:gridCol>
              </a:tblGrid>
              <a:tr h="1524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그룹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부서명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부서장명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위험요인 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수행업무 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개수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세부업무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개수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239581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경영기획그룹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회계부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김팀장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47257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5626740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4703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[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수행업무선택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 하면  현재 부서에 등록된 수행업무 목록이 나타나며 특정 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수행업무를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선택하면 해당 수행업무명으로 위험요인을 등록 할 수 있다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algn="l" rtl="0" fontAlgn="ctr"/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l" rtl="0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 수행업무명은 텍스트</a:t>
                      </a:r>
                      <a:r>
                        <a:rPr lang="ko-KR" altLang="en-US" sz="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입력 항목에 입력하면 해당 수행업무명으로 등록 할 수 있다</a:t>
                      </a:r>
                      <a:r>
                        <a:rPr lang="en-US" altLang="ko-KR" sz="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[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세무업무명조회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현재 부서에 해당수행업무명의 세부업무프로세스명을 선택하는 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팝업창이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나타나며 특정 세부업무프로세스명을 선택하면 해당 세부업무프로세스명으로 위험요인을 등록 할 수 있다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algn="l" rtl="0" fontAlgn="ctr"/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l" rtl="0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 세부업무프로세스명은 텍스트 입력 항목에 입력하면 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해당세부업무프로세스명으로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 할 수 있다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감사부작성여부는 해당부서의 위험요인을 감사부에서 등록 할 경우 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Y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로 선택되고 부서에서 입력할 경우 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로 선택되어 있으면 선택이 불가 하다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MDD-00057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MDD75TC1101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6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부서별 위험요인 분석 등록 팝업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부서별 위험요인 분석</a:t>
                      </a:r>
                      <a:r>
                        <a:rPr kumimoji="0" lang="en-US" altLang="ko-KR" sz="1050" kern="1200" baseline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1050" kern="1200" baseline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감사정보시스템 </a:t>
                      </a:r>
                      <a:r>
                        <a:rPr kumimoji="0" lang="ko-KR" altLang="en-US" sz="1050" kern="1200" baseline="0" dirty="0" err="1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부점용</a:t>
                      </a:r>
                      <a:r>
                        <a:rPr kumimoji="0" lang="en-US" altLang="ko-KR" sz="1050" kern="1200" baseline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(P115: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강지웅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4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69968" y="1254563"/>
            <a:ext cx="6726396" cy="319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269968" y="1303650"/>
            <a:ext cx="188263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0" lang="ko-KR" altLang="en-US" sz="10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세부업무수행 </a:t>
            </a:r>
            <a:r>
              <a:rPr kumimoji="0" lang="ko-KR" altLang="en-US" sz="10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위험요인 등록</a:t>
            </a:r>
          </a:p>
        </p:txBody>
      </p:sp>
      <p:graphicFrame>
        <p:nvGraphicFramePr>
          <p:cNvPr id="28" name="표 27"/>
          <p:cNvGraphicFramePr>
            <a:graphicFrameLocks noGrp="1"/>
          </p:cNvGraphicFramePr>
          <p:nvPr>
            <p:extLst/>
          </p:nvPr>
        </p:nvGraphicFramePr>
        <p:xfrm>
          <a:off x="213609" y="1755953"/>
          <a:ext cx="6776535" cy="31168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5638">
                  <a:extLst>
                    <a:ext uri="{9D8B030D-6E8A-4147-A177-3AD203B41FA5}">
                      <a16:colId xmlns:a16="http://schemas.microsoft.com/office/drawing/2014/main" val="76529090"/>
                    </a:ext>
                  </a:extLst>
                </a:gridCol>
                <a:gridCol w="960237">
                  <a:extLst>
                    <a:ext uri="{9D8B030D-6E8A-4147-A177-3AD203B41FA5}">
                      <a16:colId xmlns:a16="http://schemas.microsoft.com/office/drawing/2014/main" val="158312865"/>
                    </a:ext>
                  </a:extLst>
                </a:gridCol>
                <a:gridCol w="665273">
                  <a:extLst>
                    <a:ext uri="{9D8B030D-6E8A-4147-A177-3AD203B41FA5}">
                      <a16:colId xmlns:a16="http://schemas.microsoft.com/office/drawing/2014/main" val="2758706501"/>
                    </a:ext>
                  </a:extLst>
                </a:gridCol>
                <a:gridCol w="808071">
                  <a:extLst>
                    <a:ext uri="{9D8B030D-6E8A-4147-A177-3AD203B41FA5}">
                      <a16:colId xmlns:a16="http://schemas.microsoft.com/office/drawing/2014/main" val="1731210550"/>
                    </a:ext>
                  </a:extLst>
                </a:gridCol>
                <a:gridCol w="212776">
                  <a:extLst>
                    <a:ext uri="{9D8B030D-6E8A-4147-A177-3AD203B41FA5}">
                      <a16:colId xmlns:a16="http://schemas.microsoft.com/office/drawing/2014/main" val="2622398550"/>
                    </a:ext>
                  </a:extLst>
                </a:gridCol>
                <a:gridCol w="232886">
                  <a:extLst>
                    <a:ext uri="{9D8B030D-6E8A-4147-A177-3AD203B41FA5}">
                      <a16:colId xmlns:a16="http://schemas.microsoft.com/office/drawing/2014/main" val="2386327779"/>
                    </a:ext>
                  </a:extLst>
                </a:gridCol>
                <a:gridCol w="371558">
                  <a:extLst>
                    <a:ext uri="{9D8B030D-6E8A-4147-A177-3AD203B41FA5}">
                      <a16:colId xmlns:a16="http://schemas.microsoft.com/office/drawing/2014/main" val="599951527"/>
                    </a:ext>
                  </a:extLst>
                </a:gridCol>
                <a:gridCol w="138669">
                  <a:extLst>
                    <a:ext uri="{9D8B030D-6E8A-4147-A177-3AD203B41FA5}">
                      <a16:colId xmlns:a16="http://schemas.microsoft.com/office/drawing/2014/main" val="277968661"/>
                    </a:ext>
                  </a:extLst>
                </a:gridCol>
                <a:gridCol w="116840">
                  <a:extLst>
                    <a:ext uri="{9D8B030D-6E8A-4147-A177-3AD203B41FA5}">
                      <a16:colId xmlns:a16="http://schemas.microsoft.com/office/drawing/2014/main" val="1264206630"/>
                    </a:ext>
                  </a:extLst>
                </a:gridCol>
                <a:gridCol w="116840">
                  <a:extLst>
                    <a:ext uri="{9D8B030D-6E8A-4147-A177-3AD203B41FA5}">
                      <a16:colId xmlns:a16="http://schemas.microsoft.com/office/drawing/2014/main" val="3035752294"/>
                    </a:ext>
                  </a:extLst>
                </a:gridCol>
                <a:gridCol w="116840">
                  <a:extLst>
                    <a:ext uri="{9D8B030D-6E8A-4147-A177-3AD203B41FA5}">
                      <a16:colId xmlns:a16="http://schemas.microsoft.com/office/drawing/2014/main" val="2802659259"/>
                    </a:ext>
                  </a:extLst>
                </a:gridCol>
                <a:gridCol w="808899">
                  <a:extLst>
                    <a:ext uri="{9D8B030D-6E8A-4147-A177-3AD203B41FA5}">
                      <a16:colId xmlns:a16="http://schemas.microsoft.com/office/drawing/2014/main" val="3396986736"/>
                    </a:ext>
                  </a:extLst>
                </a:gridCol>
                <a:gridCol w="116840">
                  <a:extLst>
                    <a:ext uri="{9D8B030D-6E8A-4147-A177-3AD203B41FA5}">
                      <a16:colId xmlns:a16="http://schemas.microsoft.com/office/drawing/2014/main" val="3952827947"/>
                    </a:ext>
                  </a:extLst>
                </a:gridCol>
                <a:gridCol w="503557">
                  <a:extLst>
                    <a:ext uri="{9D8B030D-6E8A-4147-A177-3AD203B41FA5}">
                      <a16:colId xmlns:a16="http://schemas.microsoft.com/office/drawing/2014/main" val="1084314705"/>
                    </a:ext>
                  </a:extLst>
                </a:gridCol>
                <a:gridCol w="661611">
                  <a:extLst>
                    <a:ext uri="{9D8B030D-6E8A-4147-A177-3AD203B41FA5}">
                      <a16:colId xmlns:a16="http://schemas.microsoft.com/office/drawing/2014/main" val="2962958778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수행업무명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텍스트입력</a:t>
                      </a:r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  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담당팀</a:t>
                      </a:r>
                      <a:endParaRPr lang="ko-KR" altLang="en-US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</a:rPr>
                        <a:t>텍스트입력</a:t>
                      </a:r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신규</a:t>
                      </a:r>
                      <a:r>
                        <a:rPr lang="en-US" altLang="ko-KR" sz="700" b="0" dirty="0" err="1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bIZ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구분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870088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세부업무프로세스명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텍스트 입력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업무기술내용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7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7451146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전산</a:t>
                      </a:r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/</a:t>
                      </a:r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수기구분</a:t>
                      </a:r>
                      <a:endParaRPr lang="ko-KR" altLang="en-US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전산시스템명</a:t>
                      </a:r>
                      <a:endParaRPr lang="en-US" altLang="ko-KR" sz="8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7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4612683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수기 업무 </a:t>
                      </a:r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처리내용</a:t>
                      </a:r>
                      <a:endParaRPr lang="ko-KR" altLang="en-US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8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텍스트 입력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책임자 승인 </a:t>
                      </a:r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통제여부</a:t>
                      </a:r>
                      <a:endParaRPr lang="ko-KR" altLang="en-US" sz="8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latinLnBrk="1"/>
                      <a:endParaRPr lang="ko-KR" altLang="en-US" sz="7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0501116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업무처리담당자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업무검증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담당자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8">
                  <a:txBody>
                    <a:bodyPr/>
                    <a:lstStyle/>
                    <a:p>
                      <a:pPr latinLnBrk="1"/>
                      <a:endParaRPr lang="ko-KR" altLang="en-US" sz="7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62704683"/>
                  </a:ext>
                </a:extLst>
              </a:tr>
              <a:tr h="683982"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업무수행관련위험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kern="120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텍스트 </a:t>
                      </a:r>
                      <a:r>
                        <a:rPr lang="en-US" altLang="ko-KR" sz="700" b="0" kern="120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AREA</a:t>
                      </a:r>
                      <a:endParaRPr lang="ko-KR" altLang="en-US" sz="700" b="0" kern="120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위험 방지를 위한 내부통제절차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텍스트 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AREA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06356768"/>
                  </a:ext>
                </a:extLst>
              </a:tr>
              <a:tr h="227994"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관련규정 내용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14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텍스트 </a:t>
                      </a:r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AREA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0434670"/>
                  </a:ext>
                </a:extLst>
              </a:tr>
              <a:tr h="227994"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위험요인확정구분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확정일자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감사부작성여부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6">
                  <a:txBody>
                    <a:bodyPr/>
                    <a:lstStyle/>
                    <a:p>
                      <a:pPr latinLnBrk="1"/>
                      <a:endParaRPr lang="ko-KR" altLang="en-US" sz="7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700" dirty="0" smtClean="0"/>
                        <a:t>사용여부</a:t>
                      </a:r>
                      <a:endParaRPr lang="ko-KR" altLang="en-US" sz="7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 smtClean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9831747"/>
                  </a:ext>
                </a:extLst>
              </a:tr>
            </a:tbl>
          </a:graphicData>
        </a:graphic>
      </p:graphicFrame>
      <p:sp>
        <p:nvSpPr>
          <p:cNvPr id="30" name="모서리가 둥근 사각형 설명선 29"/>
          <p:cNvSpPr/>
          <p:nvPr/>
        </p:nvSpPr>
        <p:spPr bwMode="auto">
          <a:xfrm>
            <a:off x="1363399" y="2282642"/>
            <a:ext cx="770151" cy="232634"/>
          </a:xfrm>
          <a:prstGeom prst="wedgeRoundRectCallout">
            <a:avLst>
              <a:gd name="adj1" fmla="val -57531"/>
              <a:gd name="adj2" fmla="val -11845"/>
              <a:gd name="adj3" fmla="val 16667"/>
            </a:avLst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indent="-85725">
              <a:lnSpc>
                <a:spcPts val="300"/>
              </a:lnSpc>
            </a:pPr>
            <a:r>
              <a:rPr lang="en-US" altLang="ko-KR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01: </a:t>
            </a:r>
            <a:r>
              <a:rPr lang="ko-KR" altLang="en-US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전산</a:t>
            </a:r>
            <a:endParaRPr lang="en-US" altLang="ko-KR" sz="600" dirty="0" smtClean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  <a:p>
            <a:pPr marL="85725" indent="-85725">
              <a:lnSpc>
                <a:spcPts val="300"/>
              </a:lnSpc>
            </a:pPr>
            <a:r>
              <a:rPr lang="en-US" altLang="ko-KR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02: </a:t>
            </a:r>
            <a:r>
              <a:rPr lang="ko-KR" altLang="en-US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수기</a:t>
            </a:r>
            <a:endParaRPr lang="en-US" altLang="ko-KR" sz="600" dirty="0" smtClean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  <a:p>
            <a:pPr marL="85725" indent="-85725">
              <a:lnSpc>
                <a:spcPts val="300"/>
              </a:lnSpc>
            </a:pPr>
            <a:r>
              <a:rPr lang="en-US" altLang="ko-KR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03: </a:t>
            </a:r>
            <a:r>
              <a:rPr lang="ko-KR" altLang="en-US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전산 </a:t>
            </a:r>
            <a:r>
              <a:rPr lang="ko-KR" altLang="en-US" sz="600" dirty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또는 </a:t>
            </a:r>
            <a:r>
              <a:rPr lang="ko-KR" altLang="en-US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수기</a:t>
            </a:r>
            <a:endParaRPr lang="ko-KR" altLang="en-US" sz="600" dirty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5772895" y="2523693"/>
            <a:ext cx="74600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  <a:sym typeface="Wingdings 2" panose="05020102010507070707" pitchFamily="18" charset="2"/>
              </a:rPr>
              <a:t> </a:t>
            </a:r>
            <a:r>
              <a:rPr lang="en-US" altLang="ko-KR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  <a:sym typeface="Wingdings 2" panose="05020102010507070707" pitchFamily="18" charset="2"/>
              </a:rPr>
              <a:t>Y</a:t>
            </a:r>
            <a:r>
              <a:rPr lang="ko-KR" altLang="en-US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</a:t>
            </a:r>
            <a:r>
              <a:rPr lang="ko-KR" altLang="en-US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  <a:sym typeface="Wingdings 2" panose="05020102010507070707" pitchFamily="18" charset="2"/>
              </a:rPr>
              <a:t> </a:t>
            </a:r>
            <a:r>
              <a:rPr lang="en-US" altLang="ko-KR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N</a:t>
            </a:r>
            <a:endParaRPr lang="ko-KR" altLang="en-US" sz="900" dirty="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5" name="모서리가 둥근 사각형 설명선 34"/>
          <p:cNvSpPr/>
          <p:nvPr/>
        </p:nvSpPr>
        <p:spPr bwMode="auto">
          <a:xfrm>
            <a:off x="1363400" y="4650507"/>
            <a:ext cx="770151" cy="232634"/>
          </a:xfrm>
          <a:prstGeom prst="wedgeRoundRectCallout">
            <a:avLst>
              <a:gd name="adj1" fmla="val -57531"/>
              <a:gd name="adj2" fmla="val -11845"/>
              <a:gd name="adj3" fmla="val 16667"/>
            </a:avLst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indent="-85725">
              <a:lnSpc>
                <a:spcPts val="300"/>
              </a:lnSpc>
            </a:pPr>
            <a:r>
              <a:rPr lang="en-US" altLang="ko-KR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01: </a:t>
            </a:r>
            <a:r>
              <a:rPr lang="ko-KR" altLang="en-US" sz="600" dirty="0" err="1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작성중</a:t>
            </a:r>
            <a:endParaRPr lang="en-US" altLang="ko-KR" sz="600" dirty="0" smtClean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  <a:p>
            <a:pPr marL="85725" indent="-85725">
              <a:lnSpc>
                <a:spcPts val="300"/>
              </a:lnSpc>
            </a:pPr>
            <a:r>
              <a:rPr lang="en-US" altLang="ko-KR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02: </a:t>
            </a:r>
            <a:r>
              <a:rPr lang="ko-KR" altLang="en-US" sz="600" dirty="0" err="1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확정요청</a:t>
            </a:r>
            <a:endParaRPr lang="en-US" altLang="ko-KR" sz="600" dirty="0" smtClean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  <a:p>
            <a:pPr marL="85725" indent="-85725">
              <a:lnSpc>
                <a:spcPts val="300"/>
              </a:lnSpc>
            </a:pPr>
            <a:r>
              <a:rPr lang="en-US" altLang="ko-KR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03: </a:t>
            </a:r>
            <a:r>
              <a:rPr lang="ko-KR" altLang="en-US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확정</a:t>
            </a:r>
            <a:endParaRPr lang="ko-KR" altLang="en-US" sz="600" dirty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</p:txBody>
      </p:sp>
      <p:sp>
        <p:nvSpPr>
          <p:cNvPr id="36" name="직사각형 35"/>
          <p:cNvSpPr/>
          <p:nvPr/>
        </p:nvSpPr>
        <p:spPr bwMode="auto">
          <a:xfrm>
            <a:off x="3469915" y="5019008"/>
            <a:ext cx="540000" cy="180000"/>
          </a:xfrm>
          <a:prstGeom prst="rect">
            <a:avLst/>
          </a:prstGeom>
          <a:solidFill>
            <a:srgbClr val="E86E15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800" b="1" i="0" u="none" strike="noStrike" kern="0" cap="none" normalizeH="0" baseline="0" noProof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저장</a:t>
            </a:r>
            <a:endParaRPr kumimoji="0" lang="ko-KR" altLang="en-US" sz="800" b="1" i="0" u="none" strike="noStrike" kern="0" cap="none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7" name="직사각형 36"/>
          <p:cNvSpPr/>
          <p:nvPr/>
        </p:nvSpPr>
        <p:spPr bwMode="auto">
          <a:xfrm>
            <a:off x="4028335" y="5019008"/>
            <a:ext cx="540000" cy="180000"/>
          </a:xfrm>
          <a:prstGeom prst="rect">
            <a:avLst/>
          </a:prstGeom>
          <a:solidFill>
            <a:srgbClr val="E86E15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800" b="1" i="0" u="none" strike="noStrike" kern="0" cap="none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닫기</a:t>
            </a:r>
          </a:p>
        </p:txBody>
      </p:sp>
      <p:sp>
        <p:nvSpPr>
          <p:cNvPr id="38" name="직사각형 37"/>
          <p:cNvSpPr/>
          <p:nvPr/>
        </p:nvSpPr>
        <p:spPr bwMode="auto">
          <a:xfrm>
            <a:off x="2900253" y="5013556"/>
            <a:ext cx="540000" cy="180000"/>
          </a:xfrm>
          <a:prstGeom prst="rect">
            <a:avLst/>
          </a:prstGeom>
          <a:solidFill>
            <a:srgbClr val="E86E15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800" b="1" i="0" u="none" strike="noStrike" kern="0" cap="none" normalizeH="0" baseline="0" noProof="0" dirty="0" err="1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확정요청</a:t>
            </a:r>
            <a:endParaRPr kumimoji="0" lang="ko-KR" altLang="en-US" sz="800" b="1" i="0" u="none" strike="noStrike" kern="0" cap="none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8" name="직사각형 17"/>
          <p:cNvSpPr/>
          <p:nvPr/>
        </p:nvSpPr>
        <p:spPr bwMode="auto">
          <a:xfrm>
            <a:off x="2620317" y="2801818"/>
            <a:ext cx="720000" cy="180000"/>
          </a:xfrm>
          <a:prstGeom prst="rect">
            <a:avLst/>
          </a:prstGeom>
          <a:solidFill>
            <a:srgbClr val="E86E15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800" b="1" i="0" u="none" strike="noStrike" kern="0" cap="none" normalizeH="0" baseline="0" noProof="0" dirty="0" err="1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담당자조회</a:t>
            </a:r>
            <a:endParaRPr kumimoji="0" lang="ko-KR" altLang="en-US" sz="800" b="1" i="0" u="none" strike="noStrike" kern="0" cap="none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19" name="그룹 18"/>
          <p:cNvGrpSpPr/>
          <p:nvPr/>
        </p:nvGrpSpPr>
        <p:grpSpPr>
          <a:xfrm>
            <a:off x="1224203" y="2793101"/>
            <a:ext cx="1312388" cy="180949"/>
            <a:chOff x="1323263" y="3111063"/>
            <a:chExt cx="1312388" cy="180949"/>
          </a:xfrm>
        </p:grpSpPr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323263" y="3111063"/>
              <a:ext cx="397573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735651" y="3111097"/>
              <a:ext cx="900000" cy="18091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       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22" name="그림 21"/>
            <p:cNvPicPr>
              <a:picLocks noChangeAspect="1"/>
            </p:cNvPicPr>
            <p:nvPr/>
          </p:nvPicPr>
          <p:blipFill rotWithShape="1">
            <a:blip r:embed="rId2"/>
            <a:srcRect r="73540"/>
            <a:stretch/>
          </p:blipFill>
          <p:spPr>
            <a:xfrm>
              <a:off x="1748476" y="3120434"/>
              <a:ext cx="183595" cy="164228"/>
            </a:xfrm>
            <a:prstGeom prst="rect">
              <a:avLst/>
            </a:prstGeom>
          </p:spPr>
        </p:pic>
      </p:grpSp>
      <p:sp>
        <p:nvSpPr>
          <p:cNvPr id="23" name="직사각형 22"/>
          <p:cNvSpPr/>
          <p:nvPr/>
        </p:nvSpPr>
        <p:spPr bwMode="auto">
          <a:xfrm>
            <a:off x="5941513" y="2801564"/>
            <a:ext cx="720000" cy="180000"/>
          </a:xfrm>
          <a:prstGeom prst="rect">
            <a:avLst/>
          </a:prstGeom>
          <a:solidFill>
            <a:srgbClr val="E86E15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800" b="1" i="0" u="none" strike="noStrike" kern="0" cap="none" normalizeH="0" baseline="0" noProof="0" dirty="0" err="1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담당자조회</a:t>
            </a:r>
            <a:endParaRPr kumimoji="0" lang="ko-KR" altLang="en-US" sz="800" b="1" i="0" u="none" strike="noStrike" kern="0" cap="none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4545399" y="2792847"/>
            <a:ext cx="1312388" cy="180949"/>
            <a:chOff x="1323263" y="3111063"/>
            <a:chExt cx="1312388" cy="180949"/>
          </a:xfrm>
        </p:grpSpPr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323263" y="3111063"/>
              <a:ext cx="397573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735651" y="3111097"/>
              <a:ext cx="900000" cy="18091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       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27" name="그림 26"/>
            <p:cNvPicPr>
              <a:picLocks noChangeAspect="1"/>
            </p:cNvPicPr>
            <p:nvPr/>
          </p:nvPicPr>
          <p:blipFill rotWithShape="1">
            <a:blip r:embed="rId2"/>
            <a:srcRect r="73540"/>
            <a:stretch/>
          </p:blipFill>
          <p:spPr>
            <a:xfrm>
              <a:off x="1748476" y="3120434"/>
              <a:ext cx="183595" cy="164228"/>
            </a:xfrm>
            <a:prstGeom prst="rect">
              <a:avLst/>
            </a:prstGeom>
          </p:spPr>
        </p:pic>
      </p:grpSp>
      <p:sp>
        <p:nvSpPr>
          <p:cNvPr id="31" name="모서리가 둥근 사각형 설명선 30"/>
          <p:cNvSpPr/>
          <p:nvPr/>
        </p:nvSpPr>
        <p:spPr bwMode="auto">
          <a:xfrm>
            <a:off x="6422629" y="1770370"/>
            <a:ext cx="558620" cy="232634"/>
          </a:xfrm>
          <a:prstGeom prst="wedgeRoundRectCallout">
            <a:avLst>
              <a:gd name="adj1" fmla="val -57531"/>
              <a:gd name="adj2" fmla="val -11845"/>
              <a:gd name="adj3" fmla="val 16667"/>
            </a:avLst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indent="-85725">
              <a:lnSpc>
                <a:spcPts val="300"/>
              </a:lnSpc>
            </a:pPr>
            <a:r>
              <a:rPr lang="en-US" altLang="ko-KR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01: </a:t>
            </a:r>
            <a:r>
              <a:rPr lang="ko-KR" altLang="en-US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신규</a:t>
            </a:r>
            <a:endParaRPr lang="en-US" altLang="ko-KR" sz="600" dirty="0" smtClean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  <a:p>
            <a:pPr marL="85725" indent="-85725">
              <a:lnSpc>
                <a:spcPts val="300"/>
              </a:lnSpc>
            </a:pPr>
            <a:r>
              <a:rPr lang="en-US" altLang="ko-KR" sz="6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02: </a:t>
            </a:r>
            <a:r>
              <a:rPr lang="ko-KR" altLang="en-US" sz="600" dirty="0" err="1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업</a:t>
            </a:r>
            <a:r>
              <a:rPr lang="ko-KR" altLang="en-US" sz="600" dirty="0" err="1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무확대</a:t>
            </a:r>
            <a:endParaRPr lang="en-US" altLang="ko-KR" sz="600" dirty="0" smtClean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</p:txBody>
      </p:sp>
      <p:sp>
        <p:nvSpPr>
          <p:cNvPr id="33" name="직사각형 32"/>
          <p:cNvSpPr/>
          <p:nvPr/>
        </p:nvSpPr>
        <p:spPr bwMode="auto">
          <a:xfrm>
            <a:off x="3076244" y="1793114"/>
            <a:ext cx="720000" cy="180000"/>
          </a:xfrm>
          <a:prstGeom prst="rect">
            <a:avLst/>
          </a:prstGeom>
          <a:solidFill>
            <a:srgbClr val="E86E15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800" b="1" i="0" u="none" strike="noStrike" kern="0" cap="none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수행업무명조회</a:t>
            </a:r>
          </a:p>
        </p:txBody>
      </p:sp>
      <p:sp>
        <p:nvSpPr>
          <p:cNvPr id="40" name="직사각형 39"/>
          <p:cNvSpPr/>
          <p:nvPr/>
        </p:nvSpPr>
        <p:spPr bwMode="auto">
          <a:xfrm>
            <a:off x="3084557" y="2030501"/>
            <a:ext cx="720000" cy="180000"/>
          </a:xfrm>
          <a:prstGeom prst="rect">
            <a:avLst/>
          </a:prstGeom>
          <a:solidFill>
            <a:srgbClr val="E86E15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800" b="1" i="0" u="none" strike="noStrike" kern="0" cap="none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세무업무명조회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807669" y="4641977"/>
            <a:ext cx="746005" cy="230832"/>
          </a:xfrm>
          <a:prstGeom prst="rect">
            <a:avLst/>
          </a:prstGeom>
          <a:solidFill>
            <a:srgbClr val="D9D9D9"/>
          </a:solidFill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KB금융 본문체 Medium" panose="020B0603000000000000" pitchFamily="50" charset="-127"/>
                <a:ea typeface="KB금융 본문체 Medium" panose="020B0603000000000000" pitchFamily="50" charset="-127"/>
                <a:sym typeface="Wingdings 2" panose="05020102010507070707" pitchFamily="18" charset="2"/>
              </a:rPr>
              <a:t> </a:t>
            </a:r>
            <a:r>
              <a:rPr lang="en-US" altLang="ko-KR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  <a:sym typeface="Wingdings 2" panose="05020102010507070707" pitchFamily="18" charset="2"/>
              </a:rPr>
              <a:t>Y</a:t>
            </a:r>
            <a:r>
              <a:rPr lang="ko-KR" altLang="en-US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lang="ko-KR" altLang="en-US" sz="900" dirty="0">
                <a:latin typeface="KB금융 본문체 Medium" panose="020B0603000000000000" pitchFamily="50" charset="-127"/>
                <a:ea typeface="KB금융 본문체 Medium" panose="020B0603000000000000" pitchFamily="50" charset="-127"/>
                <a:sym typeface="Wingdings 2" panose="05020102010507070707" pitchFamily="18" charset="2"/>
              </a:rPr>
              <a:t> </a:t>
            </a:r>
            <a:r>
              <a:rPr lang="en-US" altLang="ko-KR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N</a:t>
            </a:r>
            <a:endParaRPr lang="ko-KR" altLang="en-US" sz="900" dirty="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5940951" y="4666029"/>
            <a:ext cx="74600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  <a:sym typeface="Wingdings 2" panose="05020102010507070707" pitchFamily="18" charset="2"/>
              </a:rPr>
              <a:t> </a:t>
            </a:r>
            <a:r>
              <a:rPr lang="en-US" altLang="ko-KR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  <a:sym typeface="Wingdings 2" panose="05020102010507070707" pitchFamily="18" charset="2"/>
              </a:rPr>
              <a:t>Y</a:t>
            </a:r>
            <a:r>
              <a:rPr lang="ko-KR" altLang="en-US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</a:t>
            </a:r>
            <a:r>
              <a:rPr lang="ko-KR" altLang="en-US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  <a:sym typeface="Wingdings 2" panose="05020102010507070707" pitchFamily="18" charset="2"/>
              </a:rPr>
              <a:t> </a:t>
            </a:r>
            <a:r>
              <a:rPr lang="en-US" altLang="ko-KR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N</a:t>
            </a:r>
            <a:endParaRPr lang="ko-KR" altLang="en-US" sz="900" dirty="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813738" y="4560977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075119" y="1620782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029399" y="2154182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807556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902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본부부서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감사 계획 수립 시 참고를 위한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소관부서별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업무시스템을 관리하는 기능 제공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조회조건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: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조회부서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사업그룹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부서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개별 또는 그룹단위 조회 가능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-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첫번째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셀렉트박스에는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그룹단위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두번째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셀렉트박스는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부서단위로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구현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),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시스템명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관련감사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부서별 관련 시스템 현황을 목록화하여 표시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각 내용은 담당자가 직접 입력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관리하도록 함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등록버튼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클릭시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부서별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담당시스템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및 추가정보 입력할 수 있도록 하며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 내용은 누구나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 감사역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수정 가능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33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MDD-00080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MDD75MM3000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부서별 </a:t>
                      </a:r>
                      <a:r>
                        <a:rPr kumimoji="0" lang="ko-KR" altLang="en-US" sz="11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담당시스템</a:t>
                      </a:r>
                      <a:r>
                        <a:rPr kumimoji="0" lang="ko-KR" altLang="en-US" sz="11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정보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감사정보지원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정보관리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부서별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담당시스템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정보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P118: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최진용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3" name="내용 개체 틀 121"/>
          <p:cNvGraphicFramePr>
            <a:graphicFrameLocks/>
          </p:cNvGraphicFramePr>
          <p:nvPr>
            <p:extLst/>
          </p:nvPr>
        </p:nvGraphicFramePr>
        <p:xfrm>
          <a:off x="265943" y="1391239"/>
          <a:ext cx="6726399" cy="5442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89666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307869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803564">
                  <a:extLst>
                    <a:ext uri="{9D8B030D-6E8A-4147-A177-3AD203B41FA5}">
                      <a16:colId xmlns:a16="http://schemas.microsoft.com/office/drawing/2014/main" val="3089572302"/>
                    </a:ext>
                  </a:extLst>
                </a:gridCol>
                <a:gridCol w="648999">
                  <a:extLst>
                    <a:ext uri="{9D8B030D-6E8A-4147-A177-3AD203B41FA5}">
                      <a16:colId xmlns:a16="http://schemas.microsoft.com/office/drawing/2014/main" val="566354469"/>
                    </a:ext>
                  </a:extLst>
                </a:gridCol>
                <a:gridCol w="3276301">
                  <a:extLst>
                    <a:ext uri="{9D8B030D-6E8A-4147-A177-3AD203B41FA5}">
                      <a16:colId xmlns:a16="http://schemas.microsoft.com/office/drawing/2014/main" val="138311241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조회부서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kumimoji="0" lang="ko-KR" altLang="en-US" sz="700" i="0" u="none" strike="noStrike" kern="1200" cap="none" spc="-100" normalizeH="0" baseline="0" noProof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사업그룹</a:t>
                      </a: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시스템명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관련감사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901758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999566" y="1714659"/>
            <a:ext cx="1992575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5" name="양쪽 모서리가 둥근 사각형 24"/>
          <p:cNvSpPr/>
          <p:nvPr/>
        </p:nvSpPr>
        <p:spPr bwMode="auto">
          <a:xfrm>
            <a:off x="272446" y="1078607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noProof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부서별 담당시스템 정보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2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65943" y="1004011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3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72447" y="1264342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11983" y="100400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75728" y="1708015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134065" y="1436850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7" name="이등변 삼각형 46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3713433" y="1517672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906394" y="1436850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9" name="이등변 삼각형 48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4485762" y="1517672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759838" y="1707772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엑셀출력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999566" y="1442071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411955" y="1442105"/>
            <a:ext cx="718807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53" name="그림 52"/>
          <p:cNvPicPr>
            <a:picLocks noChangeAspect="1"/>
          </p:cNvPicPr>
          <p:nvPr/>
        </p:nvPicPr>
        <p:blipFill rotWithShape="1">
          <a:blip r:embed="rId2"/>
          <a:srcRect r="73540"/>
          <a:stretch/>
        </p:blipFill>
        <p:spPr>
          <a:xfrm>
            <a:off x="1424655" y="1458627"/>
            <a:ext cx="183595" cy="164228"/>
          </a:xfrm>
          <a:prstGeom prst="rect">
            <a:avLst/>
          </a:prstGeom>
        </p:spPr>
      </p:pic>
      <p:graphicFrame>
        <p:nvGraphicFramePr>
          <p:cNvPr id="54" name="표 53"/>
          <p:cNvGraphicFramePr>
            <a:graphicFrameLocks noGrp="1"/>
          </p:cNvGraphicFramePr>
          <p:nvPr>
            <p:extLst/>
          </p:nvPr>
        </p:nvGraphicFramePr>
        <p:xfrm>
          <a:off x="272444" y="2231158"/>
          <a:ext cx="6726397" cy="1600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7405">
                  <a:extLst>
                    <a:ext uri="{9D8B030D-6E8A-4147-A177-3AD203B41FA5}">
                      <a16:colId xmlns:a16="http://schemas.microsoft.com/office/drawing/2014/main" val="1331128428"/>
                    </a:ext>
                  </a:extLst>
                </a:gridCol>
                <a:gridCol w="1334367">
                  <a:extLst>
                    <a:ext uri="{9D8B030D-6E8A-4147-A177-3AD203B41FA5}">
                      <a16:colId xmlns:a16="http://schemas.microsoft.com/office/drawing/2014/main" val="1272726100"/>
                    </a:ext>
                  </a:extLst>
                </a:gridCol>
                <a:gridCol w="2115047">
                  <a:extLst>
                    <a:ext uri="{9D8B030D-6E8A-4147-A177-3AD203B41FA5}">
                      <a16:colId xmlns:a16="http://schemas.microsoft.com/office/drawing/2014/main" val="3916414754"/>
                    </a:ext>
                  </a:extLst>
                </a:gridCol>
                <a:gridCol w="2959578">
                  <a:extLst>
                    <a:ext uri="{9D8B030D-6E8A-4147-A177-3AD203B41FA5}">
                      <a16:colId xmlns:a16="http://schemas.microsoft.com/office/drawing/2014/main" val="4005126742"/>
                    </a:ext>
                  </a:extLst>
                </a:gridCol>
              </a:tblGrid>
              <a:tr h="15354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담당시스템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권한</a:t>
                      </a:r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세부항목</a:t>
                      </a:r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114613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테크기획부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통합품질관리시스템</a:t>
                      </a:r>
                      <a:r>
                        <a:rPr lang="en-US" altLang="ko-KR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(I-QMS)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프로젝트 산출물</a:t>
                      </a:r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8396529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9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테크기획부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IT</a:t>
                      </a:r>
                      <a:r>
                        <a:rPr lang="ko-KR" altLang="en-US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비용관리포탈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 메뉴</a:t>
                      </a:r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9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</a:t>
                      </a:r>
                      <a:r>
                        <a:rPr lang="ko-KR" altLang="en-US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</a:t>
                      </a:r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..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3414658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9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3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인프라지원부</a:t>
                      </a:r>
                      <a:r>
                        <a:rPr lang="en-US" altLang="ko-KR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(P)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IT</a:t>
                      </a:r>
                      <a:r>
                        <a:rPr lang="ko-KR" altLang="en-US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서비스관리포탈</a:t>
                      </a:r>
                      <a:r>
                        <a:rPr lang="en-US" altLang="ko-KR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(ITSM)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IT</a:t>
                      </a:r>
                      <a:r>
                        <a:rPr lang="ko-KR" altLang="en-US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서비스관리 조회</a:t>
                      </a:r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..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1808253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9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4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정보보호부</a:t>
                      </a:r>
                      <a:r>
                        <a:rPr lang="en-US" altLang="ko-KR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(P)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통합계정권한관리시스템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권한관리</a:t>
                      </a:r>
                      <a:r>
                        <a:rPr lang="ko-KR" altLang="en-US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점검</a:t>
                      </a:r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9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5053764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9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5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클라우드플랫폼부</a:t>
                      </a:r>
                      <a:r>
                        <a:rPr lang="en-US" altLang="ko-KR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(P)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Jira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CI/CD </a:t>
                      </a:r>
                      <a:r>
                        <a:rPr lang="ko-KR" altLang="en-US" sz="9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전체메뉴</a:t>
                      </a:r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..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4231037"/>
                  </a:ext>
                </a:extLst>
              </a:tr>
              <a:tr h="1471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ctr" latinLnBrk="1">
                        <a:buFont typeface="Arial" panose="020B0604020202020204" pitchFamily="34" charset="0"/>
                        <a:buChar char="•"/>
                      </a:pP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6629263"/>
                  </a:ext>
                </a:extLst>
              </a:tr>
            </a:tbl>
          </a:graphicData>
        </a:graphic>
      </p:graphicFrame>
      <p:sp>
        <p:nvSpPr>
          <p:cNvPr id="5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74974" y="1711668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0" name="직사각형 59"/>
          <p:cNvSpPr/>
          <p:nvPr/>
        </p:nvSpPr>
        <p:spPr bwMode="auto">
          <a:xfrm>
            <a:off x="265943" y="2225044"/>
            <a:ext cx="6732898" cy="2063514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03641" y="215300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746939" y="1706857"/>
            <a:ext cx="1361465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303224" y="1714659"/>
            <a:ext cx="409046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엑셀업로드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1" name="타원 8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12915" y="131943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C7B6CEFD-186E-AC88-7979-44000562DD84}"/>
              </a:ext>
            </a:extLst>
          </p:cNvPr>
          <p:cNvSpPr/>
          <p:nvPr/>
        </p:nvSpPr>
        <p:spPr>
          <a:xfrm>
            <a:off x="2542955" y="3589315"/>
            <a:ext cx="4087055" cy="1140627"/>
          </a:xfrm>
          <a:prstGeom prst="rect">
            <a:avLst/>
          </a:prstGeom>
          <a:solidFill>
            <a:schemeClr val="bg1"/>
          </a:solidFill>
          <a:ln w="15875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Calibri"/>
              <a:ea typeface="맑은 고딕"/>
              <a:cs typeface="+mn-cs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41FA259B-0F65-6F92-E537-2ED6FF55F713}"/>
              </a:ext>
            </a:extLst>
          </p:cNvPr>
          <p:cNvSpPr txBox="1"/>
          <p:nvPr/>
        </p:nvSpPr>
        <p:spPr>
          <a:xfrm>
            <a:off x="2595749" y="3648639"/>
            <a:ext cx="2288706" cy="231453"/>
          </a:xfrm>
          <a:prstGeom prst="rect">
            <a:avLst/>
          </a:prstGeom>
          <a:noFill/>
        </p:spPr>
        <p:txBody>
          <a:bodyPr wrap="square" lIns="36000" rtlCol="0">
            <a:sp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□ 부서별 담당시스템 등록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84" name="표 83"/>
          <p:cNvGraphicFramePr>
            <a:graphicFrameLocks noGrp="1"/>
          </p:cNvGraphicFramePr>
          <p:nvPr>
            <p:extLst/>
          </p:nvPr>
        </p:nvGraphicFramePr>
        <p:xfrm>
          <a:off x="2595749" y="3932595"/>
          <a:ext cx="3914741" cy="7295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1424">
                  <a:extLst>
                    <a:ext uri="{9D8B030D-6E8A-4147-A177-3AD203B41FA5}">
                      <a16:colId xmlns:a16="http://schemas.microsoft.com/office/drawing/2014/main" val="1630994582"/>
                    </a:ext>
                  </a:extLst>
                </a:gridCol>
                <a:gridCol w="3313317">
                  <a:extLst>
                    <a:ext uri="{9D8B030D-6E8A-4147-A177-3AD203B41FA5}">
                      <a16:colId xmlns:a16="http://schemas.microsoft.com/office/drawing/2014/main" val="2045752900"/>
                    </a:ext>
                  </a:extLst>
                </a:gridCol>
              </a:tblGrid>
              <a:tr h="26634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부서명</a:t>
                      </a:r>
                      <a:endParaRPr lang="en-US" altLang="ko-KR" sz="700" b="0" i="0" u="none" strike="noStrike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8451336"/>
                  </a:ext>
                </a:extLst>
              </a:tr>
              <a:tr h="23158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담당시스템</a:t>
                      </a:r>
                      <a:endParaRPr lang="en-US" altLang="ko-KR" sz="700" b="0" i="0" u="none" strike="noStrike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1806225"/>
                  </a:ext>
                </a:extLst>
              </a:tr>
              <a:tr h="23158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권한</a:t>
                      </a:r>
                      <a:endParaRPr lang="en-US" altLang="ko-KR" sz="700" b="0" i="0" u="none" strike="noStrike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5786188"/>
                  </a:ext>
                </a:extLst>
              </a:tr>
            </a:tbl>
          </a:graphicData>
        </a:graphic>
      </p:graphicFrame>
      <p:sp>
        <p:nvSpPr>
          <p:cNvPr id="8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22826" y="3674365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smtClean="0">
                <a:solidFill>
                  <a:prstClr val="white"/>
                </a:solidFill>
                <a:latin typeface="KB금융 본문체 Medium"/>
                <a:ea typeface="KB금융 본문체 Medium"/>
              </a:rPr>
              <a:t>저장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/>
              <a:ea typeface="KB금융 본문체 Medium"/>
              <a:cs typeface="+mn-cs"/>
            </a:endParaRPr>
          </a:p>
        </p:txBody>
      </p:sp>
      <p:sp>
        <p:nvSpPr>
          <p:cNvPr id="86" name="직사각형 85"/>
          <p:cNvSpPr/>
          <p:nvPr/>
        </p:nvSpPr>
        <p:spPr bwMode="auto">
          <a:xfrm>
            <a:off x="3160943" y="4203112"/>
            <a:ext cx="629429" cy="175410"/>
          </a:xfrm>
          <a:prstGeom prst="rect">
            <a:avLst/>
          </a:prstGeom>
          <a:noFill/>
          <a:ln w="12701">
            <a:noFill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defTabSz="914395" fontAlgn="ctr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>
                <a:latin typeface="+mj-ea"/>
              </a:rPr>
              <a:t> </a:t>
            </a:r>
            <a:endParaRPr lang="ko-KR" altLang="en-US" sz="80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235309" y="3968400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647698" y="3968434"/>
            <a:ext cx="718807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89" name="그림 88"/>
          <p:cNvPicPr>
            <a:picLocks noChangeAspect="1"/>
          </p:cNvPicPr>
          <p:nvPr/>
        </p:nvPicPr>
        <p:blipFill rotWithShape="1">
          <a:blip r:embed="rId2"/>
          <a:srcRect r="73540"/>
          <a:stretch/>
        </p:blipFill>
        <p:spPr>
          <a:xfrm>
            <a:off x="3660398" y="3984956"/>
            <a:ext cx="183595" cy="164228"/>
          </a:xfrm>
          <a:prstGeom prst="rect">
            <a:avLst/>
          </a:prstGeom>
        </p:spPr>
      </p:pic>
      <p:sp>
        <p:nvSpPr>
          <p:cNvPr id="90" name="타원 8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521812" y="162170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247222" y="4239917"/>
            <a:ext cx="2761148" cy="149878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247222" y="4466569"/>
            <a:ext cx="2761148" cy="149878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cxnSp>
        <p:nvCxnSpPr>
          <p:cNvPr id="70" name="구부러진 연결선 69"/>
          <p:cNvCxnSpPr>
            <a:stCxn id="55" idx="2"/>
          </p:cNvCxnSpPr>
          <p:nvPr/>
        </p:nvCxnSpPr>
        <p:spPr bwMode="auto">
          <a:xfrm rot="5400000">
            <a:off x="5425632" y="3104004"/>
            <a:ext cx="2541678" cy="117006"/>
          </a:xfrm>
          <a:prstGeom prst="curvedConnector2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2684168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30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대분류를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클릭하여 메인페이지를 출력한다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감사실시현황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지적사항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조치현황과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감사지적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현황을 차트로 보여준다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609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MDD-00062, MDD-00118, MDD-00119</a:t>
                      </a:r>
                      <a:endParaRPr lang="ko-KR" altLang="en-US" sz="8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MDD75M00000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r>
                        <a:rPr lang="ko-KR" altLang="en-US" sz="120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메인</a:t>
                      </a:r>
                      <a:r>
                        <a:rPr lang="en-US" altLang="ko-KR" sz="120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대시보드</a:t>
                      </a:r>
                      <a:r>
                        <a:rPr lang="en-US" altLang="ko-KR" sz="120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en-US" altLang="ko-KR" sz="12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(P120: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이지원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pSp>
        <p:nvGrpSpPr>
          <p:cNvPr id="54" name="그룹 53"/>
          <p:cNvGrpSpPr/>
          <p:nvPr/>
        </p:nvGrpSpPr>
        <p:grpSpPr>
          <a:xfrm>
            <a:off x="274610" y="1112402"/>
            <a:ext cx="6732899" cy="337771"/>
            <a:chOff x="355877" y="2160935"/>
            <a:chExt cx="6061214" cy="417554"/>
          </a:xfrm>
        </p:grpSpPr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 err="1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</a:t>
              </a:r>
              <a:r>
                <a:rPr kumimoji="0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dirty="0" err="1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dirty="0" err="1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57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74610" y="1512141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58" name="그림 5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64314" y="1494306"/>
            <a:ext cx="6749758" cy="706693"/>
          </a:xfrm>
          <a:prstGeom prst="rect">
            <a:avLst/>
          </a:prstGeom>
        </p:spPr>
      </p:pic>
      <p:pic>
        <p:nvPicPr>
          <p:cNvPr id="59" name="그림 5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25716" y="3894596"/>
            <a:ext cx="3370060" cy="1635394"/>
          </a:xfrm>
          <a:prstGeom prst="rect">
            <a:avLst/>
          </a:prstGeom>
        </p:spPr>
      </p:pic>
      <p:pic>
        <p:nvPicPr>
          <p:cNvPr id="60" name="그림 59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24654" y="2243960"/>
            <a:ext cx="3379435" cy="1650636"/>
          </a:xfrm>
          <a:prstGeom prst="rect">
            <a:avLst/>
          </a:prstGeom>
        </p:spPr>
      </p:pic>
      <p:grpSp>
        <p:nvGrpSpPr>
          <p:cNvPr id="61" name="그룹 60"/>
          <p:cNvGrpSpPr/>
          <p:nvPr/>
        </p:nvGrpSpPr>
        <p:grpSpPr>
          <a:xfrm>
            <a:off x="264314" y="2253951"/>
            <a:ext cx="3335231" cy="3225672"/>
            <a:chOff x="419967" y="2972805"/>
            <a:chExt cx="2105350" cy="3078452"/>
          </a:xfrm>
        </p:grpSpPr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19967" y="2973891"/>
              <a:ext cx="1060776" cy="1554058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472431" y="2972805"/>
              <a:ext cx="1052886" cy="1546832"/>
            </a:xfrm>
            <a:prstGeom prst="rect">
              <a:avLst/>
            </a:prstGeom>
          </p:spPr>
        </p:pic>
        <p:pic>
          <p:nvPicPr>
            <p:cNvPr id="64" name="그림 63"/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419967" y="4560636"/>
              <a:ext cx="2105350" cy="1490621"/>
            </a:xfrm>
            <a:prstGeom prst="rect">
              <a:avLst/>
            </a:prstGeom>
          </p:spPr>
        </p:pic>
      </p:grpSp>
      <p:sp>
        <p:nvSpPr>
          <p:cNvPr id="65" name="타원 6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82901" y="212122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6" name="직사각형 65"/>
          <p:cNvSpPr/>
          <p:nvPr/>
        </p:nvSpPr>
        <p:spPr bwMode="auto">
          <a:xfrm>
            <a:off x="274610" y="2253951"/>
            <a:ext cx="3324935" cy="3225672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216451" y="110159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182612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8336" y="1033905"/>
            <a:ext cx="6541575" cy="4590686"/>
          </a:xfrm>
          <a:prstGeom prst="rect">
            <a:avLst/>
          </a:prstGeom>
        </p:spPr>
      </p:pic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162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검색조건에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사후관리 상태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추가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진행중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완료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해당없음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조회결과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Grid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에 「사후관리 상태」 열 추가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다운로드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Excel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에도 열 추가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0" cap="none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0985449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MDD-00144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MDD75MBB003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en-US" altLang="ko-KR" sz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RM</a:t>
                      </a:r>
                      <a:r>
                        <a:rPr kumimoji="0" lang="ko-KR" altLang="en-US" sz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활동일지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정보관리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en-US" altLang="ko-KR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RM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스퀘어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en-US" altLang="ko-KR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RM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활동일지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최진용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76" name="표 75"/>
          <p:cNvGraphicFramePr>
            <a:graphicFrameLocks noGrp="1"/>
          </p:cNvGraphicFramePr>
          <p:nvPr>
            <p:extLst/>
          </p:nvPr>
        </p:nvGraphicFramePr>
        <p:xfrm>
          <a:off x="6626537" y="2436261"/>
          <a:ext cx="458075" cy="3103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8075">
                  <a:extLst>
                    <a:ext uri="{9D8B030D-6E8A-4147-A177-3AD203B41FA5}">
                      <a16:colId xmlns:a16="http://schemas.microsoft.com/office/drawing/2014/main" val="4251047962"/>
                    </a:ext>
                  </a:extLst>
                </a:gridCol>
              </a:tblGrid>
              <a:tr h="36047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사후관리 상태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4604438"/>
                  </a:ext>
                </a:extLst>
              </a:tr>
              <a:tr h="16760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해당없음</a:t>
                      </a:r>
                      <a:endParaRPr lang="ko-KR" altLang="en-US" sz="60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99021941"/>
                  </a:ext>
                </a:extLst>
              </a:tr>
              <a:tr h="16760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진행중</a:t>
                      </a:r>
                      <a:endParaRPr lang="ko-KR" altLang="en-US" sz="60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4959121"/>
                  </a:ext>
                </a:extLst>
              </a:tr>
              <a:tr h="16760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완료</a:t>
                      </a:r>
                      <a:endParaRPr lang="ko-KR" altLang="en-US" sz="60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5701774"/>
                  </a:ext>
                </a:extLst>
              </a:tr>
              <a:tr h="16760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완료</a:t>
                      </a:r>
                      <a:endParaRPr lang="ko-KR" altLang="en-US" sz="60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9528866"/>
                  </a:ext>
                </a:extLst>
              </a:tr>
              <a:tr h="16760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해당없음</a:t>
                      </a:r>
                      <a:endParaRPr lang="en-US" altLang="ko-KR" sz="6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5812630"/>
                  </a:ext>
                </a:extLst>
              </a:tr>
              <a:tr h="16760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해당없음</a:t>
                      </a:r>
                      <a:endParaRPr lang="ko-KR" altLang="en-US" sz="6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4582138"/>
                  </a:ext>
                </a:extLst>
              </a:tr>
              <a:tr h="16760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진행중</a:t>
                      </a:r>
                      <a:endParaRPr lang="ko-KR" altLang="en-US" sz="60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1201890"/>
                  </a:ext>
                </a:extLst>
              </a:tr>
              <a:tr h="16760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완료</a:t>
                      </a:r>
                      <a:endParaRPr lang="ko-KR" altLang="en-US" sz="60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0756235"/>
                  </a:ext>
                </a:extLst>
              </a:tr>
              <a:tr h="16760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완료</a:t>
                      </a:r>
                      <a:endParaRPr lang="ko-KR" altLang="en-US" sz="60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978774"/>
                  </a:ext>
                </a:extLst>
              </a:tr>
              <a:tr h="16760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해당없음</a:t>
                      </a:r>
                      <a:endParaRPr lang="en-US" altLang="ko-KR" sz="6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04051"/>
                  </a:ext>
                </a:extLst>
              </a:tr>
              <a:tr h="16760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해당없음</a:t>
                      </a:r>
                      <a:endParaRPr lang="en-US" altLang="ko-KR" sz="60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07658326"/>
                  </a:ext>
                </a:extLst>
              </a:tr>
              <a:tr h="16760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해당없음</a:t>
                      </a:r>
                      <a:endParaRPr lang="ko-KR" altLang="en-US" sz="60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7786400"/>
                  </a:ext>
                </a:extLst>
              </a:tr>
              <a:tr h="16760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진행중</a:t>
                      </a:r>
                      <a:endParaRPr lang="ko-KR" altLang="en-US" sz="60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5142283"/>
                  </a:ext>
                </a:extLst>
              </a:tr>
              <a:tr h="16760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완료</a:t>
                      </a:r>
                      <a:endParaRPr lang="ko-KR" altLang="en-US" sz="60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0292885"/>
                  </a:ext>
                </a:extLst>
              </a:tr>
              <a:tr h="16760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완료</a:t>
                      </a:r>
                      <a:endParaRPr lang="ko-KR" altLang="en-US" sz="6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59765633"/>
                  </a:ext>
                </a:extLst>
              </a:tr>
            </a:tbl>
          </a:graphicData>
        </a:graphic>
      </p:graphicFrame>
      <p:pic>
        <p:nvPicPr>
          <p:cNvPr id="77" name="그림 76"/>
          <p:cNvPicPr>
            <a:picLocks noChangeAspect="1"/>
          </p:cNvPicPr>
          <p:nvPr/>
        </p:nvPicPr>
        <p:blipFill rotWithShape="1">
          <a:blip r:embed="rId3"/>
          <a:srcRect l="49608" t="3945" r="29212" b="91308"/>
          <a:stretch/>
        </p:blipFill>
        <p:spPr>
          <a:xfrm>
            <a:off x="3381626" y="1891266"/>
            <a:ext cx="1381206" cy="201114"/>
          </a:xfrm>
          <a:prstGeom prst="rect">
            <a:avLst/>
          </a:prstGeom>
        </p:spPr>
      </p:pic>
      <p:sp>
        <p:nvSpPr>
          <p:cNvPr id="80" name="직사각형 79"/>
          <p:cNvSpPr/>
          <p:nvPr/>
        </p:nvSpPr>
        <p:spPr bwMode="auto">
          <a:xfrm>
            <a:off x="3419909" y="1939754"/>
            <a:ext cx="487680" cy="114300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marL="0" marR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  <a:buSzTx/>
              <a:buFontTx/>
              <a:buNone/>
              <a:tabLst/>
            </a:pPr>
            <a:r>
              <a:rPr kumimoji="0" lang="ko-KR" altLang="en-US" sz="700" b="1" i="0" u="none" strike="noStrike" cap="none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사후관리 상태</a:t>
            </a: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336846" y="181504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582305" y="234910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263744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553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기존 화면 하단에 사후관리 정보를 입력할 수 있도록 추가 구성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감사착안사항이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’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 경우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❸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사후관리 상태는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‘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해당없음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’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으로 고정하고 아래 항목 모두 비활성화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「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비고」는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활성화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en-US" altLang="ko-KR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감사착안사항이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유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’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 경우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❸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사후관리 상태는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진행중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’, 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완료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’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만 선택할 수 있도록 하고 모든 항목 활성화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사후관리 상태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진행중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완료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해당없음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 버튼을 통해 감사실시 목록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Grid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행 추가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돋보기 아이콘 클릭 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「종료된 감사 선택」 화면 팝업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 버튼을 통해 감사 지적사항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Grid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행 추가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돋보기 아이콘 클릭 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「감시 실시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목록」의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선택된 항목에 대한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「지적사항 선택」 화면 팝업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「조회」 버튼 클릭 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해당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대한 「지적사항 조회」 화면 팝업 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0" cap="none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0985449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MDD-00144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MDD75MBB004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en-US" altLang="ko-KR" sz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RM</a:t>
                      </a:r>
                      <a:r>
                        <a:rPr kumimoji="0" lang="ko-KR" altLang="en-US" sz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활동일지상세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정보관리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en-US" altLang="ko-KR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RM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스퀘어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en-US" altLang="ko-KR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RM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활동일지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상세조회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화면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최진용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pic>
        <p:nvPicPr>
          <p:cNvPr id="3" name="그림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1691" y="1089473"/>
            <a:ext cx="6806256" cy="866547"/>
          </a:xfrm>
          <a:prstGeom prst="rect">
            <a:avLst/>
          </a:prstGeom>
        </p:spPr>
      </p:pic>
      <p:pic>
        <p:nvPicPr>
          <p:cNvPr id="11" name="그림 1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1691" y="2262309"/>
            <a:ext cx="6806256" cy="3253689"/>
          </a:xfrm>
          <a:prstGeom prst="rect">
            <a:avLst/>
          </a:prstGeom>
        </p:spPr>
      </p:pic>
      <p:sp>
        <p:nvSpPr>
          <p:cNvPr id="4" name="TextBox 3"/>
          <p:cNvSpPr txBox="1"/>
          <p:nvPr/>
        </p:nvSpPr>
        <p:spPr>
          <a:xfrm>
            <a:off x="3212327" y="1987833"/>
            <a:ext cx="68640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…</a:t>
            </a:r>
            <a:r>
              <a:rPr lang="ko-KR" altLang="en-US" sz="12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중략</a:t>
            </a:r>
            <a:r>
              <a:rPr lang="en-US" altLang="ko-KR" sz="12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…</a:t>
            </a:r>
            <a:endParaRPr lang="ko-KR" altLang="en-US" sz="1200" dirty="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834837" y="224097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39925" y="5604885"/>
            <a:ext cx="1461734" cy="234836"/>
          </a:xfrm>
          <a:prstGeom prst="rect">
            <a:avLst/>
          </a:prstGeom>
        </p:spPr>
      </p:pic>
      <p:sp>
        <p:nvSpPr>
          <p:cNvPr id="15" name="타원 1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507802" y="222640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877248" y="331705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315895" y="351715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871943" y="413073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6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278788" y="431493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7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408701" y="432421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8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52348" y="104961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403161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162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검색조건에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사후관리 상태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추가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진행중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완료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해당없음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조회결과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Grid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에 「사후관리 상태」 열 추가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다운로드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Excel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에도 열 추가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0" cap="none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0985449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MDD-00144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MDD75MBB001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en-US" altLang="ko-KR" sz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RM</a:t>
                      </a:r>
                      <a:r>
                        <a:rPr kumimoji="0" lang="ko-KR" altLang="en-US" sz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보고서</a:t>
                      </a:r>
                      <a:r>
                        <a:rPr kumimoji="0" lang="en-US" altLang="ko-KR" sz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(2015</a:t>
                      </a:r>
                      <a:r>
                        <a:rPr kumimoji="0" lang="ko-KR" altLang="en-US" sz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</a:t>
                      </a:r>
                      <a:r>
                        <a:rPr kumimoji="0" lang="en-US" altLang="ko-KR" sz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~</a:t>
                      </a:r>
                      <a:r>
                        <a:rPr kumimoji="0" lang="ko-KR" altLang="en-US" sz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현재</a:t>
                      </a:r>
                      <a:r>
                        <a:rPr kumimoji="0" lang="en-US" altLang="ko-KR" sz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정보관리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en-US" altLang="ko-KR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RM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스퀘어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en-US" altLang="ko-KR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RM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보고서</a:t>
                      </a:r>
                      <a:r>
                        <a:rPr kumimoji="0" lang="en-US" altLang="ko-KR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(2015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</a:t>
                      </a:r>
                      <a:r>
                        <a:rPr kumimoji="0" lang="en-US" altLang="ko-KR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~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현재</a:t>
                      </a:r>
                      <a:r>
                        <a:rPr kumimoji="0" lang="en-US" altLang="ko-KR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최진용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11" name="표 10"/>
          <p:cNvGraphicFramePr>
            <a:graphicFrameLocks noGrp="1"/>
          </p:cNvGraphicFramePr>
          <p:nvPr>
            <p:extLst/>
          </p:nvPr>
        </p:nvGraphicFramePr>
        <p:xfrm>
          <a:off x="6499638" y="2106021"/>
          <a:ext cx="608828" cy="98264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08828">
                  <a:extLst>
                    <a:ext uri="{9D8B030D-6E8A-4147-A177-3AD203B41FA5}">
                      <a16:colId xmlns:a16="http://schemas.microsoft.com/office/drawing/2014/main" val="4251047962"/>
                    </a:ext>
                  </a:extLst>
                </a:gridCol>
              </a:tblGrid>
              <a:tr h="31208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사후관리 상태</a:t>
                      </a:r>
                      <a:endParaRPr lang="ko-KR" altLang="en-US" sz="500">
                        <a:solidFill>
                          <a:schemeClr val="tx1"/>
                        </a:solidFill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4604438"/>
                  </a:ext>
                </a:extLst>
              </a:tr>
              <a:tr h="16674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해당없음</a:t>
                      </a:r>
                      <a:endParaRPr lang="ko-KR" altLang="en-US" sz="50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99021941"/>
                  </a:ext>
                </a:extLst>
              </a:tr>
              <a:tr h="16674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진행중</a:t>
                      </a:r>
                      <a:endParaRPr lang="ko-KR" altLang="en-US" sz="50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4959121"/>
                  </a:ext>
                </a:extLst>
              </a:tr>
              <a:tr h="16674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완료</a:t>
                      </a:r>
                      <a:endParaRPr lang="ko-KR" altLang="en-US" sz="50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5701774"/>
                  </a:ext>
                </a:extLst>
              </a:tr>
              <a:tr h="16674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완료</a:t>
                      </a:r>
                      <a:endParaRPr lang="ko-KR" altLang="en-US" sz="5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9528866"/>
                  </a:ext>
                </a:extLst>
              </a:tr>
            </a:tbl>
          </a:graphicData>
        </a:graphic>
      </p:graphicFrame>
      <p:pic>
        <p:nvPicPr>
          <p:cNvPr id="12" name="그림 11"/>
          <p:cNvPicPr>
            <a:picLocks noChangeAspect="1"/>
          </p:cNvPicPr>
          <p:nvPr/>
        </p:nvPicPr>
        <p:blipFill rotWithShape="1">
          <a:blip r:embed="rId2"/>
          <a:srcRect l="49608" t="3945" r="29212" b="91308"/>
          <a:stretch/>
        </p:blipFill>
        <p:spPr>
          <a:xfrm>
            <a:off x="188210" y="1833791"/>
            <a:ext cx="1338442" cy="210651"/>
          </a:xfrm>
          <a:prstGeom prst="rect">
            <a:avLst/>
          </a:prstGeom>
        </p:spPr>
      </p:pic>
      <p:sp>
        <p:nvSpPr>
          <p:cNvPr id="13" name="직사각형 12"/>
          <p:cNvSpPr/>
          <p:nvPr/>
        </p:nvSpPr>
        <p:spPr bwMode="auto">
          <a:xfrm>
            <a:off x="258302" y="1890230"/>
            <a:ext cx="487680" cy="114300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marL="0" marR="0" indent="0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  <a:buSzTx/>
              <a:buFontTx/>
              <a:buNone/>
              <a:tabLst/>
            </a:pPr>
            <a:r>
              <a:rPr kumimoji="0" lang="ko-KR" altLang="en-US" sz="700" b="1" i="0" u="none" strike="noStrike" cap="none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사후관리 상태</a:t>
            </a: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757672" y="174632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444180" y="200209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4" name="그림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9918" y="1054370"/>
            <a:ext cx="6383065" cy="21033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72946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553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기존 화면 하단에 사후관리 정보를 입력할 수 있도록 추가 구성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감사착안사항이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’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 경우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❸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사후관리 상태는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‘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해당없음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’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으로 고정하고 아래 항목 모두 비활성화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「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비고」는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활성화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en-US" altLang="ko-KR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감사착안사항이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유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’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 경우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❸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사후관리 상태는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진행중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’, 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완료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’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만 선택할 수 있도록 하고 모든 항목 활성화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사후관리 상태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진행중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완료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해당없음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 버튼을 통해 감사실시 목록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Grid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행 추가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돋보기 아이콘 클릭 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「종료된 감사 선택」 화면 팝업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 버튼을 통해 감사 지적사항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Grid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행 추가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돋보기 아이콘 클릭 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「감시 실시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목록」의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선택된 항목에 대한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「지적사항 선택」 화면 팝업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「조회」 버튼 클릭 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해당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대한 「지적사항 조회」 화면 팝업 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0" cap="none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0985449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MDD-00144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MDD75MBB004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en-US" altLang="ko-KR" sz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RM</a:t>
                      </a:r>
                      <a:r>
                        <a:rPr kumimoji="0" lang="ko-KR" altLang="en-US" sz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보고서상세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정보관리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en-US" altLang="ko-KR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RM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스퀘어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en-US" altLang="ko-KR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RM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보고서</a:t>
                      </a:r>
                      <a:r>
                        <a:rPr kumimoji="0" lang="en-US" altLang="ko-KR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(2015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</a:t>
                      </a:r>
                      <a:r>
                        <a:rPr kumimoji="0" lang="en-US" altLang="ko-KR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~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현재</a:t>
                      </a:r>
                      <a:r>
                        <a:rPr kumimoji="0" lang="en-US" altLang="ko-KR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상세조회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화면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최진용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20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pic>
        <p:nvPicPr>
          <p:cNvPr id="11" name="그림 1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1691" y="2302064"/>
            <a:ext cx="6806256" cy="3253689"/>
          </a:xfrm>
          <a:prstGeom prst="rect">
            <a:avLst/>
          </a:prstGeom>
        </p:spPr>
      </p:pic>
      <p:sp>
        <p:nvSpPr>
          <p:cNvPr id="4" name="TextBox 3"/>
          <p:cNvSpPr txBox="1"/>
          <p:nvPr/>
        </p:nvSpPr>
        <p:spPr>
          <a:xfrm>
            <a:off x="3212327" y="2027588"/>
            <a:ext cx="68640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…</a:t>
            </a:r>
            <a:r>
              <a:rPr lang="ko-KR" altLang="en-US" sz="12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중략</a:t>
            </a:r>
            <a:r>
              <a:rPr lang="en-US" altLang="ko-KR" sz="12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…</a:t>
            </a:r>
            <a:endParaRPr lang="ko-KR" altLang="en-US" sz="1200" dirty="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834837" y="228073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39925" y="5644640"/>
            <a:ext cx="1461734" cy="234836"/>
          </a:xfrm>
          <a:prstGeom prst="rect">
            <a:avLst/>
          </a:prstGeom>
        </p:spPr>
      </p:pic>
      <p:sp>
        <p:nvSpPr>
          <p:cNvPr id="15" name="타원 1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507802" y="226615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877248" y="335680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315895" y="355691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871943" y="417048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6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278788" y="435469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7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408701" y="436397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8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7" name="그림 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1151" y="1038656"/>
            <a:ext cx="6696484" cy="1028689"/>
          </a:xfrm>
          <a:prstGeom prst="rect">
            <a:avLst/>
          </a:prstGeom>
        </p:spPr>
      </p:pic>
      <p:sp>
        <p:nvSpPr>
          <p:cNvPr id="21" name="타원 2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52348" y="98600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244726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/>
          <p:cNvSpPr/>
          <p:nvPr/>
        </p:nvSpPr>
        <p:spPr bwMode="auto">
          <a:xfrm>
            <a:off x="3055103" y="1471150"/>
            <a:ext cx="1557248" cy="384203"/>
          </a:xfrm>
          <a:prstGeom prst="rect">
            <a:avLst/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1200" b="1" i="0" u="none" strike="noStrike" kern="0" cap="none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미등록</a:t>
            </a:r>
            <a:r>
              <a:rPr kumimoji="0" lang="en-US" altLang="ko-KR" sz="1200" b="1" i="0" u="none" strike="noStrike" kern="0" cap="none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(01)</a:t>
            </a:r>
            <a:endParaRPr kumimoji="0" lang="ko-KR" altLang="en-US" sz="1200" b="1" i="0" u="none" strike="noStrike" kern="0" cap="none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</p:txBody>
      </p:sp>
      <p:sp>
        <p:nvSpPr>
          <p:cNvPr id="5" name="직사각형 4"/>
          <p:cNvSpPr/>
          <p:nvPr/>
        </p:nvSpPr>
        <p:spPr bwMode="auto">
          <a:xfrm>
            <a:off x="656707" y="924675"/>
            <a:ext cx="1828800" cy="191193"/>
          </a:xfrm>
          <a:prstGeom prst="rect">
            <a:avLst/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1050" b="1" i="0" u="none" strike="noStrike" kern="0" cap="none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감사정보시스템</a:t>
            </a:r>
            <a:r>
              <a:rPr kumimoji="0" lang="en-US" altLang="ko-KR" sz="1050" b="1" kern="0" dirty="0" smtClean="0">
                <a:solidFill>
                  <a:srgbClr val="000000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(</a:t>
            </a:r>
            <a:r>
              <a:rPr kumimoji="0" lang="ko-KR" altLang="en-US" sz="1050" b="1" kern="0" dirty="0" smtClean="0">
                <a:solidFill>
                  <a:srgbClr val="000000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본부감사</a:t>
            </a:r>
            <a:r>
              <a:rPr kumimoji="0" lang="en-US" altLang="ko-KR" sz="1050" b="1" kern="0" dirty="0" smtClean="0">
                <a:solidFill>
                  <a:srgbClr val="000000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)</a:t>
            </a:r>
            <a:endParaRPr kumimoji="0" lang="ko-KR" altLang="en-US" sz="1050" b="1" i="0" u="none" strike="noStrike" kern="0" cap="none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</p:txBody>
      </p:sp>
      <p:sp>
        <p:nvSpPr>
          <p:cNvPr id="6" name="직사각형 5"/>
          <p:cNvSpPr/>
          <p:nvPr/>
        </p:nvSpPr>
        <p:spPr bwMode="auto">
          <a:xfrm>
            <a:off x="3055103" y="2277684"/>
            <a:ext cx="1557248" cy="482020"/>
          </a:xfrm>
          <a:prstGeom prst="rect">
            <a:avLst/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1200" b="1" i="0" u="none" strike="noStrike" kern="0" cap="none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미완료</a:t>
            </a:r>
            <a:r>
              <a:rPr kumimoji="0" lang="en-US" altLang="ko-KR" sz="1200" b="1" i="0" u="none" strike="noStrike" kern="0" cap="none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(02)</a:t>
            </a:r>
          </a:p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1200" b="1" kern="0" dirty="0" smtClean="0">
                <a:solidFill>
                  <a:srgbClr val="000000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미완료</a:t>
            </a:r>
            <a:r>
              <a:rPr kumimoji="0" lang="en-US" altLang="ko-KR" sz="1200" b="1" kern="0" dirty="0" smtClean="0">
                <a:solidFill>
                  <a:srgbClr val="000000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(</a:t>
            </a:r>
            <a:r>
              <a:rPr kumimoji="0" lang="ko-KR" altLang="en-US" sz="1200" b="1" kern="0" dirty="0" smtClean="0">
                <a:solidFill>
                  <a:srgbClr val="000000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재</a:t>
            </a:r>
            <a:r>
              <a:rPr kumimoji="0" lang="en-US" altLang="ko-KR" sz="1200" b="1" kern="0" dirty="0" smtClean="0">
                <a:solidFill>
                  <a:srgbClr val="000000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)(06)</a:t>
            </a:r>
            <a:endParaRPr kumimoji="0" lang="ko-KR" altLang="en-US" sz="1200" b="1" i="0" u="none" strike="noStrike" kern="0" cap="none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</p:txBody>
      </p:sp>
      <p:sp>
        <p:nvSpPr>
          <p:cNvPr id="7" name="직사각형 6"/>
          <p:cNvSpPr/>
          <p:nvPr/>
        </p:nvSpPr>
        <p:spPr bwMode="auto">
          <a:xfrm>
            <a:off x="3063416" y="3981998"/>
            <a:ext cx="1557248" cy="384203"/>
          </a:xfrm>
          <a:prstGeom prst="rect">
            <a:avLst/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1200" b="1" i="0" u="none" strike="noStrike" kern="0" cap="none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완료</a:t>
            </a:r>
            <a:r>
              <a:rPr kumimoji="0" lang="en-US" altLang="ko-KR" sz="1200" b="1" i="0" u="none" strike="noStrike" kern="0" cap="none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(03)</a:t>
            </a:r>
            <a:endParaRPr kumimoji="0" lang="ko-KR" altLang="en-US" sz="1200" b="1" i="0" u="none" strike="noStrike" kern="0" cap="none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4763191" y="1529341"/>
            <a:ext cx="2121093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사후관리가 필요한 지적사항 등록 상태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763191" y="2414415"/>
            <a:ext cx="331372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본부부서에서 조치내용요약 및 조치내용 첨부파일 </a:t>
            </a:r>
            <a:r>
              <a:rPr lang="ko-KR" altLang="en-US" sz="1000" dirty="0" err="1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등록시</a:t>
            </a:r>
            <a:r>
              <a:rPr lang="ko-KR" altLang="en-US" sz="10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 상태</a:t>
            </a:r>
          </a:p>
        </p:txBody>
      </p:sp>
      <p:sp>
        <p:nvSpPr>
          <p:cNvPr id="15" name="직사각형 14"/>
          <p:cNvSpPr/>
          <p:nvPr/>
        </p:nvSpPr>
        <p:spPr bwMode="auto">
          <a:xfrm>
            <a:off x="3055103" y="3171406"/>
            <a:ext cx="1557248" cy="384203"/>
          </a:xfrm>
          <a:prstGeom prst="rect">
            <a:avLst/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1200" b="1" i="0" u="none" strike="noStrike" kern="0" cap="none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승인요청</a:t>
            </a:r>
            <a:r>
              <a:rPr kumimoji="0" lang="en-US" altLang="ko-KR" sz="1200" b="1" i="0" u="none" strike="noStrike" kern="0" cap="none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(04)</a:t>
            </a:r>
            <a:endParaRPr kumimoji="0" lang="ko-KR" altLang="en-US" sz="1200" b="1" i="0" u="none" strike="noStrike" kern="0" cap="none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4736376" y="3056669"/>
            <a:ext cx="3833101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spcBef>
                <a:spcPts val="0"/>
              </a:spcBef>
              <a:defRPr sz="1000">
                <a:latin typeface="KB금융 본문체 Medium" panose="020B0603000000000000" pitchFamily="50" charset="-127"/>
                <a:ea typeface="KB금융 본문체 Medium" panose="020B0603000000000000" pitchFamily="50" charset="-127"/>
              </a:defRPr>
            </a:lvl1pPr>
          </a:lstStyle>
          <a:p>
            <a:r>
              <a:rPr lang="ko-KR" altLang="en-US" dirty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본부부서에서 조치내용요약 및 조치내용 첨부파일 등록 후 승인권자에게 </a:t>
            </a:r>
            <a:endParaRPr lang="en-US" altLang="ko-KR" dirty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  <a:p>
            <a:r>
              <a:rPr lang="ko-KR" altLang="en-US" dirty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승인 요청한 </a:t>
            </a:r>
            <a:r>
              <a:rPr lang="ko-KR" altLang="en-US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상태 </a:t>
            </a:r>
            <a:endParaRPr lang="en-US" altLang="ko-KR" dirty="0" smtClean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  <a:p>
            <a:r>
              <a:rPr lang="en-US" altLang="ko-KR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– </a:t>
            </a:r>
            <a:r>
              <a:rPr lang="ko-KR" altLang="en-US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조치내용 수정 및 첨부파일 수정불가</a:t>
            </a:r>
            <a:endParaRPr lang="en-US" altLang="ko-KR" dirty="0" smtClean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  <a:p>
            <a:r>
              <a:rPr lang="en-US" altLang="ko-KR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- </a:t>
            </a:r>
            <a:r>
              <a:rPr lang="ko-KR" altLang="en-US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승인권자에게 승인요청 쪽지 발송</a:t>
            </a:r>
            <a:endParaRPr lang="ko-KR" altLang="en-US" dirty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4763191" y="3981998"/>
            <a:ext cx="315342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spcBef>
                <a:spcPts val="0"/>
              </a:spcBef>
              <a:defRPr sz="1000">
                <a:latin typeface="KB금융 본문체 Light" panose="020B0303000000000000" pitchFamily="50" charset="-127"/>
                <a:ea typeface="KB금융 본문체 Light" panose="020B0303000000000000" pitchFamily="50" charset="-127"/>
              </a:defRPr>
            </a:lvl1pPr>
          </a:lstStyle>
          <a:p>
            <a:r>
              <a:rPr lang="ko-KR" altLang="en-US" dirty="0"/>
              <a:t>승인권자자가 승인한 상태 </a:t>
            </a:r>
            <a:endParaRPr lang="en-US" altLang="ko-KR" dirty="0"/>
          </a:p>
          <a:p>
            <a:r>
              <a:rPr lang="en-US" altLang="ko-KR" dirty="0"/>
              <a:t>– </a:t>
            </a:r>
            <a:r>
              <a:rPr lang="ko-KR" altLang="en-US" dirty="0"/>
              <a:t>조치내용 수정 및 첨부파일 수정불가</a:t>
            </a:r>
            <a:endParaRPr lang="en-US" altLang="ko-KR" dirty="0"/>
          </a:p>
          <a:p>
            <a:r>
              <a:rPr lang="en-US" altLang="ko-KR" dirty="0"/>
              <a:t>- </a:t>
            </a:r>
            <a:r>
              <a:rPr lang="ko-KR" altLang="en-US" dirty="0" smtClean="0"/>
              <a:t>지적 감사역 </a:t>
            </a:r>
            <a:r>
              <a:rPr lang="ko-KR" altLang="en-US" dirty="0"/>
              <a:t>및 본부감사 운영반에게 </a:t>
            </a:r>
            <a:r>
              <a:rPr lang="ko-KR" altLang="en-US" dirty="0" smtClean="0"/>
              <a:t>조치 완료 </a:t>
            </a:r>
            <a:r>
              <a:rPr lang="ko-KR" altLang="en-US" dirty="0"/>
              <a:t>쪽지 발송</a:t>
            </a:r>
          </a:p>
        </p:txBody>
      </p:sp>
      <p:cxnSp>
        <p:nvCxnSpPr>
          <p:cNvPr id="19" name="꺾인 연결선 18"/>
          <p:cNvCxnSpPr>
            <a:stCxn id="7" idx="1"/>
            <a:endCxn id="6" idx="1"/>
          </p:cNvCxnSpPr>
          <p:nvPr/>
        </p:nvCxnSpPr>
        <p:spPr bwMode="auto">
          <a:xfrm rot="10800000">
            <a:off x="3055104" y="2518694"/>
            <a:ext cx="8313" cy="1655406"/>
          </a:xfrm>
          <a:prstGeom prst="bentConnector3">
            <a:avLst>
              <a:gd name="adj1" fmla="val 5849814"/>
            </a:avLst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21" name="TextBox 20"/>
          <p:cNvSpPr txBox="1"/>
          <p:nvPr/>
        </p:nvSpPr>
        <p:spPr>
          <a:xfrm>
            <a:off x="2164200" y="3250478"/>
            <a:ext cx="96372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Bef>
                <a:spcPts val="0"/>
              </a:spcBef>
            </a:pPr>
            <a:r>
              <a:rPr lang="ko-KR" altLang="en-US" sz="10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반려 시 미완료 </a:t>
            </a:r>
            <a:endParaRPr lang="en-US" altLang="ko-KR" sz="1000" dirty="0" smtClean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  <a:p>
            <a:pPr>
              <a:spcBef>
                <a:spcPts val="0"/>
              </a:spcBef>
            </a:pPr>
            <a:r>
              <a:rPr lang="ko-KR" altLang="en-US" sz="10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상태로 변화</a:t>
            </a:r>
            <a:endParaRPr lang="en-US" altLang="ko-KR" sz="1000" dirty="0" smtClean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  <a:p>
            <a:pPr>
              <a:spcBef>
                <a:spcPts val="0"/>
              </a:spcBef>
            </a:pPr>
            <a:r>
              <a:rPr lang="en-US" altLang="ko-KR" sz="10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(</a:t>
            </a:r>
            <a:r>
              <a:rPr lang="ko-KR" altLang="en-US" sz="10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반려버튼생성</a:t>
            </a:r>
            <a:r>
              <a:rPr lang="en-US" altLang="ko-KR" sz="10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)</a:t>
            </a:r>
            <a:endParaRPr lang="ko-KR" altLang="en-US" sz="1000" dirty="0" smtClean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</p:txBody>
      </p:sp>
      <p:cxnSp>
        <p:nvCxnSpPr>
          <p:cNvPr id="28" name="직선 화살표 연결선 27"/>
          <p:cNvCxnSpPr>
            <a:stCxn id="4" idx="2"/>
            <a:endCxn id="6" idx="0"/>
          </p:cNvCxnSpPr>
          <p:nvPr/>
        </p:nvCxnSpPr>
        <p:spPr bwMode="auto">
          <a:xfrm>
            <a:off x="3833727" y="1855353"/>
            <a:ext cx="0" cy="422331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cxnSp>
        <p:nvCxnSpPr>
          <p:cNvPr id="30" name="직선 화살표 연결선 29"/>
          <p:cNvCxnSpPr>
            <a:stCxn id="6" idx="2"/>
            <a:endCxn id="15" idx="0"/>
          </p:cNvCxnSpPr>
          <p:nvPr/>
        </p:nvCxnSpPr>
        <p:spPr bwMode="auto">
          <a:xfrm>
            <a:off x="3833727" y="2759704"/>
            <a:ext cx="0" cy="411702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cxnSp>
        <p:nvCxnSpPr>
          <p:cNvPr id="32" name="직선 화살표 연결선 31"/>
          <p:cNvCxnSpPr>
            <a:stCxn id="15" idx="2"/>
            <a:endCxn id="7" idx="0"/>
          </p:cNvCxnSpPr>
          <p:nvPr/>
        </p:nvCxnSpPr>
        <p:spPr bwMode="auto">
          <a:xfrm>
            <a:off x="3833727" y="3555609"/>
            <a:ext cx="8313" cy="426389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33" name="직사각형 32"/>
          <p:cNvSpPr/>
          <p:nvPr/>
        </p:nvSpPr>
        <p:spPr bwMode="auto">
          <a:xfrm>
            <a:off x="3063416" y="4679560"/>
            <a:ext cx="1557248" cy="384203"/>
          </a:xfrm>
          <a:prstGeom prst="rect">
            <a:avLst/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1200" b="1" i="0" u="none" strike="noStrike" kern="0" cap="none" normalizeH="0" baseline="0" noProof="0" dirty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감사역완료</a:t>
            </a:r>
            <a:endParaRPr kumimoji="0" lang="ko-KR" altLang="en-US" sz="1200" b="1" i="0" u="none" strike="noStrike" kern="0" cap="none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4763191" y="5461325"/>
            <a:ext cx="399340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감사역이 지적사항 완료 시 지적완료여부 완료로 표시</a:t>
            </a:r>
            <a:r>
              <a:rPr lang="en-US" altLang="ko-KR" sz="10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, </a:t>
            </a:r>
            <a:r>
              <a:rPr lang="ko-KR" altLang="en-US" sz="10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조치 상태는 완료</a:t>
            </a:r>
            <a:r>
              <a:rPr lang="en-US" altLang="ko-KR" sz="1000" dirty="0" smtClean="0"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(03)</a:t>
            </a:r>
            <a:endParaRPr lang="ko-KR" altLang="en-US" sz="1000" dirty="0" smtClean="0"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</p:txBody>
      </p:sp>
      <p:cxnSp>
        <p:nvCxnSpPr>
          <p:cNvPr id="36" name="꺾인 연결선 35"/>
          <p:cNvCxnSpPr>
            <a:stCxn id="33" idx="1"/>
            <a:endCxn id="6" idx="1"/>
          </p:cNvCxnSpPr>
          <p:nvPr/>
        </p:nvCxnSpPr>
        <p:spPr bwMode="auto">
          <a:xfrm rot="10800000">
            <a:off x="3055104" y="2518694"/>
            <a:ext cx="8313" cy="2352968"/>
          </a:xfrm>
          <a:prstGeom prst="bentConnector3">
            <a:avLst>
              <a:gd name="adj1" fmla="val 17149441"/>
            </a:avLst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cxnSp>
        <p:nvCxnSpPr>
          <p:cNvPr id="41" name="직선 화살표 연결선 40"/>
          <p:cNvCxnSpPr>
            <a:stCxn id="7" idx="2"/>
            <a:endCxn id="33" idx="0"/>
          </p:cNvCxnSpPr>
          <p:nvPr/>
        </p:nvCxnSpPr>
        <p:spPr bwMode="auto">
          <a:xfrm>
            <a:off x="3842040" y="4366201"/>
            <a:ext cx="0" cy="313359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42" name="직사각형 41"/>
          <p:cNvSpPr/>
          <p:nvPr/>
        </p:nvSpPr>
        <p:spPr bwMode="auto">
          <a:xfrm>
            <a:off x="3063416" y="5392335"/>
            <a:ext cx="1557248" cy="384203"/>
          </a:xfrm>
          <a:prstGeom prst="rect">
            <a:avLst/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1200" b="1" i="0" u="none" strike="noStrike" kern="0" cap="none" normalizeH="0" baseline="0" noProof="0" dirty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지적완료</a:t>
            </a:r>
            <a:endParaRPr kumimoji="0" lang="ko-KR" altLang="en-US" sz="1200" b="1" i="0" u="none" strike="noStrike" kern="0" cap="none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</p:txBody>
      </p:sp>
      <p:cxnSp>
        <p:nvCxnSpPr>
          <p:cNvPr id="44" name="직선 화살표 연결선 43"/>
          <p:cNvCxnSpPr>
            <a:stCxn id="33" idx="2"/>
            <a:endCxn id="42" idx="0"/>
          </p:cNvCxnSpPr>
          <p:nvPr/>
        </p:nvCxnSpPr>
        <p:spPr bwMode="auto">
          <a:xfrm>
            <a:off x="3842040" y="5063763"/>
            <a:ext cx="0" cy="328572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272752557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55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조회조건을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입력하고 조회한다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감사현황과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감사결과 건수를 출력한다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조회결과 상세내용을 보여준다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그리드를 더블클릭하면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심의의견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수정조치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감사착안사항을 보여주는 팝업을 호출한다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일상감사 의견서 조회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체크리스트 조회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 화면에서 사용하던 내용 입력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자료관리등의 기능을 연동한다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MDD-00082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MDD72E10000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일상감사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일상감사 현황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일상감사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감사현황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일상감사현황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(P124: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이지원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45" name="양쪽 모서리가 둥근 사각형 44"/>
          <p:cNvSpPr/>
          <p:nvPr/>
        </p:nvSpPr>
        <p:spPr bwMode="auto">
          <a:xfrm>
            <a:off x="152540" y="1112912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noProof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일상감사현황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146037" y="1038316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7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152541" y="1298647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8" name="직사각형 47"/>
          <p:cNvSpPr/>
          <p:nvPr/>
        </p:nvSpPr>
        <p:spPr bwMode="auto">
          <a:xfrm flipV="1">
            <a:off x="152538" y="1100283"/>
            <a:ext cx="1075897" cy="22836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50" name="표 49"/>
          <p:cNvGraphicFramePr>
            <a:graphicFrameLocks noGrp="1"/>
          </p:cNvGraphicFramePr>
          <p:nvPr>
            <p:extLst/>
          </p:nvPr>
        </p:nvGraphicFramePr>
        <p:xfrm>
          <a:off x="146037" y="2516671"/>
          <a:ext cx="6732899" cy="34039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07641">
                  <a:extLst>
                    <a:ext uri="{9D8B030D-6E8A-4147-A177-3AD203B41FA5}">
                      <a16:colId xmlns:a16="http://schemas.microsoft.com/office/drawing/2014/main" val="1074087072"/>
                    </a:ext>
                  </a:extLst>
                </a:gridCol>
                <a:gridCol w="810204">
                  <a:extLst>
                    <a:ext uri="{9D8B030D-6E8A-4147-A177-3AD203B41FA5}">
                      <a16:colId xmlns:a16="http://schemas.microsoft.com/office/drawing/2014/main" val="4115082695"/>
                    </a:ext>
                  </a:extLst>
                </a:gridCol>
                <a:gridCol w="538426">
                  <a:extLst>
                    <a:ext uri="{9D8B030D-6E8A-4147-A177-3AD203B41FA5}">
                      <a16:colId xmlns:a16="http://schemas.microsoft.com/office/drawing/2014/main" val="1475888047"/>
                    </a:ext>
                  </a:extLst>
                </a:gridCol>
                <a:gridCol w="1076854">
                  <a:extLst>
                    <a:ext uri="{9D8B030D-6E8A-4147-A177-3AD203B41FA5}">
                      <a16:colId xmlns:a16="http://schemas.microsoft.com/office/drawing/2014/main" val="2336825798"/>
                    </a:ext>
                  </a:extLst>
                </a:gridCol>
                <a:gridCol w="1346066">
                  <a:extLst>
                    <a:ext uri="{9D8B030D-6E8A-4147-A177-3AD203B41FA5}">
                      <a16:colId xmlns:a16="http://schemas.microsoft.com/office/drawing/2014/main" val="1647830365"/>
                    </a:ext>
                  </a:extLst>
                </a:gridCol>
                <a:gridCol w="1076854">
                  <a:extLst>
                    <a:ext uri="{9D8B030D-6E8A-4147-A177-3AD203B41FA5}">
                      <a16:colId xmlns:a16="http://schemas.microsoft.com/office/drawing/2014/main" val="1570056735"/>
                    </a:ext>
                  </a:extLst>
                </a:gridCol>
                <a:gridCol w="1076854">
                  <a:extLst>
                    <a:ext uri="{9D8B030D-6E8A-4147-A177-3AD203B41FA5}">
                      <a16:colId xmlns:a16="http://schemas.microsoft.com/office/drawing/2014/main" val="481211841"/>
                    </a:ext>
                  </a:extLst>
                </a:gridCol>
              </a:tblGrid>
              <a:tr h="113464"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감사현황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감사결과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19305319"/>
                  </a:ext>
                </a:extLst>
              </a:tr>
              <a:tr h="11346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사전감사</a:t>
                      </a:r>
                      <a:endParaRPr lang="ko-KR" altLang="en-US" sz="5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사후감사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합계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감사의견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심의의견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수정조치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감사착안사항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0570079"/>
                  </a:ext>
                </a:extLst>
              </a:tr>
              <a:tr h="11346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 </a:t>
                      </a:r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건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 </a:t>
                      </a:r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건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 </a:t>
                      </a:r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건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 </a:t>
                      </a:r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건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 </a:t>
                      </a:r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건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 </a:t>
                      </a:r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건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 </a:t>
                      </a:r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건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69297782"/>
                  </a:ext>
                </a:extLst>
              </a:tr>
            </a:tbl>
          </a:graphicData>
        </a:graphic>
      </p:graphicFrame>
      <p:graphicFrame>
        <p:nvGraphicFramePr>
          <p:cNvPr id="55" name="표 54"/>
          <p:cNvGraphicFramePr>
            <a:graphicFrameLocks noGrp="1"/>
          </p:cNvGraphicFramePr>
          <p:nvPr>
            <p:extLst/>
          </p:nvPr>
        </p:nvGraphicFramePr>
        <p:xfrm>
          <a:off x="144386" y="2899630"/>
          <a:ext cx="6734553" cy="211294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2305">
                  <a:extLst>
                    <a:ext uri="{9D8B030D-6E8A-4147-A177-3AD203B41FA5}">
                      <a16:colId xmlns:a16="http://schemas.microsoft.com/office/drawing/2014/main" val="3438548780"/>
                    </a:ext>
                  </a:extLst>
                </a:gridCol>
                <a:gridCol w="495761">
                  <a:extLst>
                    <a:ext uri="{9D8B030D-6E8A-4147-A177-3AD203B41FA5}">
                      <a16:colId xmlns:a16="http://schemas.microsoft.com/office/drawing/2014/main" val="3290130831"/>
                    </a:ext>
                  </a:extLst>
                </a:gridCol>
                <a:gridCol w="847898">
                  <a:extLst>
                    <a:ext uri="{9D8B030D-6E8A-4147-A177-3AD203B41FA5}">
                      <a16:colId xmlns:a16="http://schemas.microsoft.com/office/drawing/2014/main" val="3656132202"/>
                    </a:ext>
                  </a:extLst>
                </a:gridCol>
                <a:gridCol w="623455">
                  <a:extLst>
                    <a:ext uri="{9D8B030D-6E8A-4147-A177-3AD203B41FA5}">
                      <a16:colId xmlns:a16="http://schemas.microsoft.com/office/drawing/2014/main" val="3395869802"/>
                    </a:ext>
                  </a:extLst>
                </a:gridCol>
                <a:gridCol w="415636">
                  <a:extLst>
                    <a:ext uri="{9D8B030D-6E8A-4147-A177-3AD203B41FA5}">
                      <a16:colId xmlns:a16="http://schemas.microsoft.com/office/drawing/2014/main" val="557970025"/>
                    </a:ext>
                  </a:extLst>
                </a:gridCol>
                <a:gridCol w="357447">
                  <a:extLst>
                    <a:ext uri="{9D8B030D-6E8A-4147-A177-3AD203B41FA5}">
                      <a16:colId xmlns:a16="http://schemas.microsoft.com/office/drawing/2014/main" val="1297039260"/>
                    </a:ext>
                  </a:extLst>
                </a:gridCol>
                <a:gridCol w="407324">
                  <a:extLst>
                    <a:ext uri="{9D8B030D-6E8A-4147-A177-3AD203B41FA5}">
                      <a16:colId xmlns:a16="http://schemas.microsoft.com/office/drawing/2014/main" val="3367471250"/>
                    </a:ext>
                  </a:extLst>
                </a:gridCol>
                <a:gridCol w="606829">
                  <a:extLst>
                    <a:ext uri="{9D8B030D-6E8A-4147-A177-3AD203B41FA5}">
                      <a16:colId xmlns:a16="http://schemas.microsoft.com/office/drawing/2014/main" val="3318509357"/>
                    </a:ext>
                  </a:extLst>
                </a:gridCol>
                <a:gridCol w="756458">
                  <a:extLst>
                    <a:ext uri="{9D8B030D-6E8A-4147-A177-3AD203B41FA5}">
                      <a16:colId xmlns:a16="http://schemas.microsoft.com/office/drawing/2014/main" val="2474818548"/>
                    </a:ext>
                  </a:extLst>
                </a:gridCol>
                <a:gridCol w="465513">
                  <a:extLst>
                    <a:ext uri="{9D8B030D-6E8A-4147-A177-3AD203B41FA5}">
                      <a16:colId xmlns:a16="http://schemas.microsoft.com/office/drawing/2014/main" val="2201511304"/>
                    </a:ext>
                  </a:extLst>
                </a:gridCol>
                <a:gridCol w="315884">
                  <a:extLst>
                    <a:ext uri="{9D8B030D-6E8A-4147-A177-3AD203B41FA5}">
                      <a16:colId xmlns:a16="http://schemas.microsoft.com/office/drawing/2014/main" val="3558122838"/>
                    </a:ext>
                  </a:extLst>
                </a:gridCol>
                <a:gridCol w="374072">
                  <a:extLst>
                    <a:ext uri="{9D8B030D-6E8A-4147-A177-3AD203B41FA5}">
                      <a16:colId xmlns:a16="http://schemas.microsoft.com/office/drawing/2014/main" val="1100246918"/>
                    </a:ext>
                  </a:extLst>
                </a:gridCol>
                <a:gridCol w="448888">
                  <a:extLst>
                    <a:ext uri="{9D8B030D-6E8A-4147-A177-3AD203B41FA5}">
                      <a16:colId xmlns:a16="http://schemas.microsoft.com/office/drawing/2014/main" val="1681876592"/>
                    </a:ext>
                  </a:extLst>
                </a:gridCol>
                <a:gridCol w="457083">
                  <a:extLst>
                    <a:ext uri="{9D8B030D-6E8A-4147-A177-3AD203B41FA5}">
                      <a16:colId xmlns:a16="http://schemas.microsoft.com/office/drawing/2014/main" val="3587034164"/>
                    </a:ext>
                  </a:extLst>
                </a:gridCol>
              </a:tblGrid>
              <a:tr h="21489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요청부점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문서제목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문서번호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완료일자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감사의견서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심의의견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수정조치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감사착안사항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재위임여부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담당감사역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조치기한일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KPI</a:t>
                      </a:r>
                      <a:r>
                        <a:rPr lang="ko-KR" altLang="en-US" sz="5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평가대상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관련자료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6797077"/>
                  </a:ext>
                </a:extLst>
              </a:tr>
              <a:tr h="19197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HR</a:t>
                      </a:r>
                      <a:r>
                        <a:rPr lang="ko-KR" altLang="en-US" sz="5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5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인사발령</a:t>
                      </a:r>
                      <a:r>
                        <a:rPr lang="en-US" altLang="ko-KR" sz="5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5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부점장급 직제</a:t>
                      </a:r>
                      <a:r>
                        <a:rPr lang="en-US" altLang="ko-KR" sz="5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..)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일상감사</a:t>
                      </a:r>
                      <a:r>
                        <a:rPr lang="en-US" altLang="ko-KR" sz="5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5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사후</a:t>
                      </a:r>
                      <a:r>
                        <a:rPr lang="en-US" altLang="ko-KR" sz="5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12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2023-12-22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3905984"/>
                  </a:ext>
                </a:extLst>
              </a:tr>
              <a:tr h="23638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경영정보개발부</a:t>
                      </a:r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(P)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1221 1013 </a:t>
                      </a:r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 재위임 </a:t>
                      </a:r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KB-WiseNet </a:t>
                      </a:r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권한 신청서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일상감사</a:t>
                      </a:r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사전</a:t>
                      </a:r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28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2023-12-21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의견있음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*******</a:t>
                      </a:r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5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홍길동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8912257"/>
                  </a:ext>
                </a:extLst>
              </a:tr>
              <a:tr h="23638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경영정보개발부</a:t>
                      </a:r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(P)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1220 1422 </a:t>
                      </a:r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윈도우 보안</a:t>
                      </a:r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SW</a:t>
                      </a:r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정책적용 신청서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일상감사</a:t>
                      </a:r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사전</a:t>
                      </a:r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27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2023-12-20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5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정책 적용전 영향도 파악 및 테스트 미흡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 내용에 대한 특별감사 실시 예정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5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김일상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3612183"/>
                  </a:ext>
                </a:extLst>
              </a:tr>
              <a:tr h="23101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기업상품부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5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재일지점 </a:t>
                      </a:r>
                      <a:r>
                        <a:rPr lang="en-US" altLang="ko-KR" sz="5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‘</a:t>
                      </a:r>
                      <a:r>
                        <a:rPr lang="ko-KR" altLang="en-US" sz="5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여신업무처리지침 개정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일상감사</a:t>
                      </a:r>
                      <a:r>
                        <a:rPr lang="en-US" altLang="ko-KR" sz="5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5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사후</a:t>
                      </a:r>
                      <a:r>
                        <a:rPr lang="en-US" altLang="ko-KR" sz="5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11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2023-12-20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5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김일상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3772"/>
                  </a:ext>
                </a:extLst>
              </a:tr>
              <a:tr h="23101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경영정보개발부</a:t>
                      </a:r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(P)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1220 1406 </a:t>
                      </a:r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취약점검 결과 보고서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일상감사</a:t>
                      </a:r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사후</a:t>
                      </a:r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10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2023-12-20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의견있음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***** *****</a:t>
                      </a:r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5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김일상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4954256"/>
                  </a:ext>
                </a:extLst>
              </a:tr>
              <a:tr h="34294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재무기획부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5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정기예금 위험조정이익 보상금리 운영</a:t>
                      </a:r>
                      <a:r>
                        <a:rPr lang="en-US" altLang="ko-KR" sz="5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일상감사</a:t>
                      </a:r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사후</a:t>
                      </a:r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9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2023-12-16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5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홍길동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70758658"/>
                  </a:ext>
                </a:extLst>
              </a:tr>
              <a:tr h="23638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법률지원부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5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법률자문계약 체결</a:t>
                      </a:r>
                      <a:r>
                        <a:rPr lang="en-US" altLang="ko-KR" sz="5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5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홍콩</a:t>
                      </a:r>
                      <a:r>
                        <a:rPr lang="en-US" altLang="ko-KR" sz="5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H</a:t>
                      </a:r>
                      <a:r>
                        <a:rPr lang="ko-KR" altLang="en-US" sz="5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지수</a:t>
                      </a:r>
                      <a:r>
                        <a:rPr lang="en-US" altLang="ko-KR" sz="5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…)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일상감사</a:t>
                      </a:r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사전</a:t>
                      </a:r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24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2023-12-16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5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김일상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　</a:t>
                      </a:r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6102348"/>
                  </a:ext>
                </a:extLst>
              </a:tr>
              <a:tr h="19197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5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5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877" marR="4877" marT="4877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26913320"/>
                  </a:ext>
                </a:extLst>
              </a:tr>
            </a:tbl>
          </a:graphicData>
        </a:graphic>
      </p:graphicFrame>
      <p:graphicFrame>
        <p:nvGraphicFramePr>
          <p:cNvPr id="56" name="내용 개체 틀 121"/>
          <p:cNvGraphicFramePr>
            <a:graphicFrameLocks/>
          </p:cNvGraphicFramePr>
          <p:nvPr>
            <p:extLst/>
          </p:nvPr>
        </p:nvGraphicFramePr>
        <p:xfrm>
          <a:off x="155562" y="1373980"/>
          <a:ext cx="6726400" cy="103597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401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995488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404812">
                  <a:extLst>
                    <a:ext uri="{9D8B030D-6E8A-4147-A177-3AD203B41FA5}">
                      <a16:colId xmlns:a16="http://schemas.microsoft.com/office/drawing/2014/main" val="2466580378"/>
                    </a:ext>
                  </a:extLst>
                </a:gridCol>
                <a:gridCol w="772418">
                  <a:extLst>
                    <a:ext uri="{9D8B030D-6E8A-4147-A177-3AD203B41FA5}">
                      <a16:colId xmlns:a16="http://schemas.microsoft.com/office/drawing/2014/main" val="3613381167"/>
                    </a:ext>
                  </a:extLst>
                </a:gridCol>
                <a:gridCol w="772418">
                  <a:extLst>
                    <a:ext uri="{9D8B030D-6E8A-4147-A177-3AD203B41FA5}">
                      <a16:colId xmlns:a16="http://schemas.microsoft.com/office/drawing/2014/main" val="233077474"/>
                    </a:ext>
                  </a:extLst>
                </a:gridCol>
                <a:gridCol w="772418">
                  <a:extLst>
                    <a:ext uri="{9D8B030D-6E8A-4147-A177-3AD203B41FA5}">
                      <a16:colId xmlns:a16="http://schemas.microsoft.com/office/drawing/2014/main" val="3052100947"/>
                    </a:ext>
                  </a:extLst>
                </a:gridCol>
                <a:gridCol w="772418">
                  <a:extLst>
                    <a:ext uri="{9D8B030D-6E8A-4147-A177-3AD203B41FA5}">
                      <a16:colId xmlns:a16="http://schemas.microsoft.com/office/drawing/2014/main" val="1167228044"/>
                    </a:ext>
                  </a:extLst>
                </a:gridCol>
                <a:gridCol w="772418">
                  <a:extLst>
                    <a:ext uri="{9D8B030D-6E8A-4147-A177-3AD203B41FA5}">
                      <a16:colId xmlns:a16="http://schemas.microsoft.com/office/drawing/2014/main" val="3189841457"/>
                    </a:ext>
                  </a:extLst>
                </a:gridCol>
              </a:tblGrid>
              <a:tr h="25899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조회기간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감사형태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감사의견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심의의견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5899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대상부점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담당감사역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재위임여부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72288392"/>
                  </a:ext>
                </a:extLst>
              </a:tr>
              <a:tr h="25899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6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수정조치사항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5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감사착안사항</a:t>
                      </a: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지역그룹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971006"/>
                  </a:ext>
                </a:extLst>
              </a:tr>
              <a:tr h="258993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검색어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53392747"/>
                  </a:ext>
                </a:extLst>
              </a:tr>
            </a:tbl>
          </a:graphicData>
        </a:graphic>
      </p:graphicFrame>
      <p:sp>
        <p:nvSpPr>
          <p:cNvPr id="57" name="직사각형 5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606060" y="1402060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4" name="이등변 삼각형 83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5185428" y="1482882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657904" y="1418851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709052" y="1418845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2024-03-31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87" name="그림 8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298304" y="1422691"/>
            <a:ext cx="181098" cy="173224"/>
          </a:xfrm>
          <a:prstGeom prst="rect">
            <a:avLst/>
          </a:prstGeom>
        </p:spPr>
      </p:pic>
      <p:pic>
        <p:nvPicPr>
          <p:cNvPr id="88" name="그림 8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48314" y="1427443"/>
            <a:ext cx="181098" cy="173224"/>
          </a:xfrm>
          <a:prstGeom prst="rect">
            <a:avLst/>
          </a:prstGeom>
        </p:spPr>
      </p:pic>
      <p:cxnSp>
        <p:nvCxnSpPr>
          <p:cNvPr id="89" name="직선 연결선 88"/>
          <p:cNvCxnSpPr/>
          <p:nvPr/>
        </p:nvCxnSpPr>
        <p:spPr bwMode="auto">
          <a:xfrm>
            <a:off x="1536551" y="1509303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051458" y="1405965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1" name="이등변 삼각형 90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3630826" y="1486787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6148648" y="1405965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3" name="이등변 삼각형 92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6728016" y="1486787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671360" y="1668578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0000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083749" y="1668612"/>
            <a:ext cx="1217354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96" name="그림 95"/>
          <p:cNvPicPr>
            <a:picLocks noChangeAspect="1"/>
          </p:cNvPicPr>
          <p:nvPr/>
        </p:nvPicPr>
        <p:blipFill rotWithShape="1">
          <a:blip r:embed="rId3"/>
          <a:srcRect r="73540"/>
          <a:stretch/>
        </p:blipFill>
        <p:spPr>
          <a:xfrm>
            <a:off x="1096449" y="1685134"/>
            <a:ext cx="183595" cy="164228"/>
          </a:xfrm>
          <a:prstGeom prst="rect">
            <a:avLst/>
          </a:prstGeom>
        </p:spPr>
      </p:pic>
      <p:sp>
        <p:nvSpPr>
          <p:cNvPr id="97" name="직사각형 9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6148648" y="1682973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8" name="이등변 삼각형 97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6728016" y="1763795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057531" y="1671625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469920" y="1671659"/>
            <a:ext cx="1217354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01" name="그림 100"/>
          <p:cNvPicPr>
            <a:picLocks noChangeAspect="1"/>
          </p:cNvPicPr>
          <p:nvPr/>
        </p:nvPicPr>
        <p:blipFill rotWithShape="1">
          <a:blip r:embed="rId3"/>
          <a:srcRect r="73540"/>
          <a:stretch/>
        </p:blipFill>
        <p:spPr>
          <a:xfrm>
            <a:off x="3482620" y="1688181"/>
            <a:ext cx="183595" cy="164228"/>
          </a:xfrm>
          <a:prstGeom prst="rect">
            <a:avLst/>
          </a:prstGeom>
        </p:spPr>
      </p:pic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056885" y="1930090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03" name="이등변 삼각형 102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3636253" y="2010912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657904" y="1921300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05" name="이등변 삼각형 104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1237272" y="2002122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0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473057" y="3145773"/>
            <a:ext cx="360000" cy="111936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-10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신규등록</a:t>
            </a:r>
            <a:endParaRPr kumimoji="0" lang="ko-KR" altLang="en-US" sz="600" b="0" i="0" u="none" strike="noStrike" kern="1200" cap="none" spc="-10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473057" y="3372178"/>
            <a:ext cx="360000" cy="111936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-10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조회</a:t>
            </a:r>
            <a:endParaRPr kumimoji="0" lang="ko-KR" altLang="en-US" sz="600" b="0" i="0" u="none" strike="noStrike" kern="1200" cap="none" spc="-10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471569" y="3597973"/>
            <a:ext cx="360000" cy="111936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-10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조회</a:t>
            </a:r>
            <a:endParaRPr kumimoji="0" lang="ko-KR" altLang="en-US" sz="600" b="0" i="0" u="none" strike="noStrike" kern="1200" cap="none" spc="-10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466768" y="4064715"/>
            <a:ext cx="360000" cy="111936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-10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조회</a:t>
            </a:r>
            <a:endParaRPr kumimoji="0" lang="ko-KR" altLang="en-US" sz="600" b="0" i="0" u="none" strike="noStrike" kern="1200" cap="none" spc="-10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466768" y="3846108"/>
            <a:ext cx="360000" cy="111936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-10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신규등록</a:t>
            </a:r>
            <a:endParaRPr kumimoji="0" lang="ko-KR" altLang="en-US" sz="600" b="0" i="0" u="none" strike="noStrike" kern="1200" cap="none" spc="-10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466768" y="4335786"/>
            <a:ext cx="360000" cy="111936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-10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신규등록</a:t>
            </a:r>
            <a:endParaRPr kumimoji="0" lang="ko-KR" altLang="en-US" sz="600" b="0" i="0" u="none" strike="noStrike" kern="1200" cap="none" spc="-10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466768" y="4642028"/>
            <a:ext cx="360000" cy="111936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1200" cap="none" spc="-10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신규등록</a:t>
            </a:r>
            <a:endParaRPr kumimoji="0" lang="ko-KR" altLang="en-US" sz="600" b="0" i="0" u="none" strike="noStrike" kern="1200" cap="none" spc="-10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529412" y="2191939"/>
            <a:ext cx="4297356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2">
                    <a:lumMod val="7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Keyword</a:t>
            </a: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2">
                    <a:lumMod val="7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로 조건에 맞는 항목 조회 가능하도록 기능 제공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2">
                  <a:lumMod val="75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4" name="직사각형 113"/>
          <p:cNvSpPr/>
          <p:nvPr/>
        </p:nvSpPr>
        <p:spPr bwMode="auto">
          <a:xfrm>
            <a:off x="442200" y="2198532"/>
            <a:ext cx="2188701" cy="175410"/>
          </a:xfrm>
          <a:prstGeom prst="rect">
            <a:avLst/>
          </a:prstGeom>
          <a:noFill/>
          <a:ln w="12701">
            <a:noFill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defTabSz="914395" fontAlgn="ctr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spc="-100" dirty="0">
                <a:latin typeface="+mj-ea"/>
              </a:rPr>
              <a:t> </a:t>
            </a:r>
            <a:r>
              <a:rPr lang="ko-KR" altLang="en-US" sz="700" spc="-1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◎ 전체   ○ </a:t>
            </a:r>
            <a:r>
              <a:rPr lang="ko-KR" altLang="en-US" sz="700" spc="-1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문서제목</a:t>
            </a:r>
            <a:r>
              <a:rPr lang="ko-KR" altLang="en-US" sz="700" spc="-1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○ </a:t>
            </a:r>
            <a:r>
              <a:rPr lang="ko-KR" altLang="en-US" sz="700" spc="-1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감사의견 </a:t>
            </a:r>
            <a:r>
              <a:rPr lang="ko-KR" altLang="en-US" sz="700" spc="-1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○ </a:t>
            </a:r>
            <a:r>
              <a:rPr lang="ko-KR" altLang="en-US" sz="700" spc="-1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심의의견</a:t>
            </a:r>
            <a:endParaRPr lang="ko-KR" altLang="en-US" sz="700" spc="-1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367508" y="1921683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0000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779897" y="1921717"/>
            <a:ext cx="1065111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17" name="그림 116"/>
          <p:cNvPicPr>
            <a:picLocks noChangeAspect="1"/>
          </p:cNvPicPr>
          <p:nvPr/>
        </p:nvPicPr>
        <p:blipFill rotWithShape="1">
          <a:blip r:embed="rId3"/>
          <a:srcRect r="73540"/>
          <a:stretch/>
        </p:blipFill>
        <p:spPr>
          <a:xfrm>
            <a:off x="5792597" y="1938239"/>
            <a:ext cx="183595" cy="164228"/>
          </a:xfrm>
          <a:prstGeom prst="rect">
            <a:avLst/>
          </a:prstGeom>
        </p:spPr>
      </p:pic>
      <p:sp>
        <p:nvSpPr>
          <p:cNvPr id="118" name="직사각형 117"/>
          <p:cNvSpPr/>
          <p:nvPr/>
        </p:nvSpPr>
        <p:spPr bwMode="auto">
          <a:xfrm>
            <a:off x="152538" y="1389941"/>
            <a:ext cx="6726398" cy="1037673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120" name="그룹 119"/>
          <p:cNvGrpSpPr/>
          <p:nvPr/>
        </p:nvGrpSpPr>
        <p:grpSpPr>
          <a:xfrm>
            <a:off x="1007291" y="4104149"/>
            <a:ext cx="4245074" cy="868742"/>
            <a:chOff x="4615502" y="2861663"/>
            <a:chExt cx="2633031" cy="1296059"/>
          </a:xfrm>
        </p:grpSpPr>
        <p:sp>
          <p:nvSpPr>
            <p:cNvPr id="121" name="직사각형 120">
              <a:extLst>
                <a:ext uri="{FF2B5EF4-FFF2-40B4-BE49-F238E27FC236}">
                  <a16:creationId xmlns:a16="http://schemas.microsoft.com/office/drawing/2014/main" id="{68CB9370-D759-4248-8572-5FDA4EF6101B}"/>
                </a:ext>
              </a:extLst>
            </p:cNvPr>
            <p:cNvSpPr/>
            <p:nvPr/>
          </p:nvSpPr>
          <p:spPr>
            <a:xfrm>
              <a:off x="4615502" y="2898790"/>
              <a:ext cx="2633031" cy="125893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742856">
                <a:defRPr/>
              </a:pPr>
              <a:endParaRPr lang="ko-KR" altLang="en-US" sz="813" b="1">
                <a:solidFill>
                  <a:srgbClr val="0070C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122" name="직사각형 121">
              <a:extLst>
                <a:ext uri="{FF2B5EF4-FFF2-40B4-BE49-F238E27FC236}">
                  <a16:creationId xmlns:a16="http://schemas.microsoft.com/office/drawing/2014/main" id="{061CAA5C-4EB7-4E67-85DA-E29F266F438F}"/>
                </a:ext>
              </a:extLst>
            </p:cNvPr>
            <p:cNvSpPr/>
            <p:nvPr/>
          </p:nvSpPr>
          <p:spPr>
            <a:xfrm>
              <a:off x="4626393" y="2914649"/>
              <a:ext cx="2614235" cy="217588"/>
            </a:xfrm>
            <a:prstGeom prst="rect">
              <a:avLst/>
            </a:prstGeom>
            <a:solidFill>
              <a:srgbClr val="625950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742856">
                <a:defRPr/>
              </a:pPr>
              <a:endParaRPr lang="ko-KR" altLang="en-US" sz="813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123" name="직사각형 122">
              <a:extLst>
                <a:ext uri="{FF2B5EF4-FFF2-40B4-BE49-F238E27FC236}">
                  <a16:creationId xmlns:a16="http://schemas.microsoft.com/office/drawing/2014/main" id="{D494E968-62DE-442C-9EE6-DD6B90DDF615}"/>
                </a:ext>
              </a:extLst>
            </p:cNvPr>
            <p:cNvSpPr/>
            <p:nvPr/>
          </p:nvSpPr>
          <p:spPr bwMode="auto">
            <a:xfrm>
              <a:off x="7123475" y="2951826"/>
              <a:ext cx="80408" cy="134016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0" tIns="0" rIns="0" bIns="0" rtlCol="0" anchor="ctr" anchorCtr="0">
              <a:noAutofit/>
            </a:bodyPr>
            <a:lstStyle/>
            <a:p>
              <a:pPr algn="ctr" defTabSz="742856">
                <a:defRPr/>
              </a:pPr>
              <a:r>
                <a:rPr lang="en-US" altLang="ko-KR" sz="516" b="1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X</a:t>
              </a:r>
              <a:endParaRPr lang="ko-KR" altLang="en-US" sz="516" b="1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0B97788-F115-4669-A08F-46D3A46FC7DA}"/>
                </a:ext>
              </a:extLst>
            </p:cNvPr>
            <p:cNvSpPr txBox="1"/>
            <p:nvPr/>
          </p:nvSpPr>
          <p:spPr>
            <a:xfrm>
              <a:off x="4661286" y="2861663"/>
              <a:ext cx="1444242" cy="321417"/>
            </a:xfrm>
            <a:prstGeom prst="rect">
              <a:avLst/>
            </a:prstGeom>
            <a:noFill/>
          </p:spPr>
          <p:txBody>
            <a:bodyPr wrap="square" lIns="29250" rtlCol="0" anchor="ctr">
              <a:spAutoFit/>
            </a:bodyPr>
            <a:lstStyle/>
            <a:p>
              <a:pPr defTabSz="742856">
                <a:defRPr/>
              </a:pPr>
              <a:r>
                <a:rPr lang="ko-KR" altLang="en-US" sz="800" smtClean="0">
                  <a:solidFill>
                    <a:schemeClr val="bg1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심의의견서</a:t>
              </a:r>
              <a:endParaRPr lang="ko-KR" altLang="en-US" sz="80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graphicFrame>
        <p:nvGraphicFramePr>
          <p:cNvPr id="125" name="표 124"/>
          <p:cNvGraphicFramePr>
            <a:graphicFrameLocks noGrp="1"/>
          </p:cNvGraphicFramePr>
          <p:nvPr>
            <p:extLst/>
          </p:nvPr>
        </p:nvGraphicFramePr>
        <p:xfrm>
          <a:off x="1097466" y="4366593"/>
          <a:ext cx="4082912" cy="53800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3322">
                  <a:extLst>
                    <a:ext uri="{9D8B030D-6E8A-4147-A177-3AD203B41FA5}">
                      <a16:colId xmlns:a16="http://schemas.microsoft.com/office/drawing/2014/main" val="2618767335"/>
                    </a:ext>
                  </a:extLst>
                </a:gridCol>
                <a:gridCol w="2438400">
                  <a:extLst>
                    <a:ext uri="{9D8B030D-6E8A-4147-A177-3AD203B41FA5}">
                      <a16:colId xmlns:a16="http://schemas.microsoft.com/office/drawing/2014/main" val="3060045330"/>
                    </a:ext>
                  </a:extLst>
                </a:gridCol>
                <a:gridCol w="647700">
                  <a:extLst>
                    <a:ext uri="{9D8B030D-6E8A-4147-A177-3AD203B41FA5}">
                      <a16:colId xmlns:a16="http://schemas.microsoft.com/office/drawing/2014/main" val="69691939"/>
                    </a:ext>
                  </a:extLst>
                </a:gridCol>
                <a:gridCol w="493490">
                  <a:extLst>
                    <a:ext uri="{9D8B030D-6E8A-4147-A177-3AD203B41FA5}">
                      <a16:colId xmlns:a16="http://schemas.microsoft.com/office/drawing/2014/main" val="127228851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등록자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의견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등록일시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비고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16098"/>
                  </a:ext>
                </a:extLst>
              </a:tr>
              <a:tr h="33988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endParaRPr lang="ko-KR" altLang="en-US" sz="5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의견 전체</a:t>
                      </a:r>
                      <a:r>
                        <a:rPr lang="en-US" altLang="ko-KR" sz="800" baseline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Text </a:t>
                      </a:r>
                      <a:r>
                        <a:rPr lang="ko-KR" altLang="en-US" sz="800" baseline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한눈에 볼 수 있도록 </a:t>
                      </a:r>
                      <a:r>
                        <a:rPr lang="en-US" altLang="ko-KR" sz="800" baseline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height </a:t>
                      </a:r>
                      <a:r>
                        <a:rPr lang="ko-KR" altLang="en-US" sz="800" baseline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자동 조절기능 제공</a:t>
                      </a:r>
                      <a:endParaRPr lang="ko-KR" altLang="en-US" sz="80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2023-12-21 15:31:22</a:t>
                      </a:r>
                      <a:endParaRPr lang="ko-KR" altLang="en-US" sz="6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3726565"/>
                  </a:ext>
                </a:extLst>
              </a:tr>
            </a:tbl>
          </a:graphicData>
        </a:graphic>
      </p:graphicFrame>
      <p:sp>
        <p:nvSpPr>
          <p:cNvPr id="126" name="직사각형 125"/>
          <p:cNvSpPr/>
          <p:nvPr/>
        </p:nvSpPr>
        <p:spPr bwMode="auto">
          <a:xfrm>
            <a:off x="2649267" y="3305786"/>
            <a:ext cx="805837" cy="271587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27" name="직사각형 126"/>
          <p:cNvSpPr/>
          <p:nvPr/>
        </p:nvSpPr>
        <p:spPr bwMode="auto">
          <a:xfrm>
            <a:off x="6423849" y="2886351"/>
            <a:ext cx="455087" cy="2086540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128" name="구부러진 연결선 127"/>
          <p:cNvCxnSpPr>
            <a:stCxn id="126" idx="2"/>
            <a:endCxn id="124" idx="0"/>
          </p:cNvCxnSpPr>
          <p:nvPr/>
        </p:nvCxnSpPr>
        <p:spPr bwMode="auto">
          <a:xfrm rot="5400000">
            <a:off x="2385374" y="3437337"/>
            <a:ext cx="526776" cy="806848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130" name="타원 12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990844" y="419418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04386" y="129662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6" name="직사각형 135"/>
          <p:cNvSpPr/>
          <p:nvPr/>
        </p:nvSpPr>
        <p:spPr bwMode="auto">
          <a:xfrm>
            <a:off x="182402" y="2506789"/>
            <a:ext cx="6726398" cy="361744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9" name="타원 11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43011" y="242323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29" name="타원 12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08382" y="287147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794953" y="291500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592589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55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 기간을 입력하고 조회한다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일상감사 현황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감사결과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직전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개월 일상감사 추세를 차트로 요약해서 보여준다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그룹별 일상감사 현황을 차트로 보여준다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그룹별 상세를 입력하여 조회 조건에 맞는 그룹만 차트로 보여준다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609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MDD-00082, MDD-00118, MDD-00119</a:t>
                      </a:r>
                      <a:endParaRPr lang="ko-KR" altLang="en-US" sz="8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MDD72E12000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일상감사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일상감사 현황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시각화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일상감사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감사현황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일상감사현황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(P125: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이지원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23" name="Text Box 39">
            <a:extLst>
              <a:ext uri="{FF2B5EF4-FFF2-40B4-BE49-F238E27FC236}">
                <a16:creationId xmlns:a16="http://schemas.microsoft.com/office/drawing/2014/main" id="{0C6A76A4-9FDA-D68A-AF81-090FF3653C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3045" y="1681497"/>
            <a:ext cx="6744797" cy="1735034"/>
          </a:xfrm>
          <a:prstGeom prst="rect">
            <a:avLst/>
          </a:prstGeom>
          <a:noFill/>
          <a:ln w="6350" algn="ctr">
            <a:solidFill>
              <a:schemeClr val="bg2">
                <a:lumMod val="90000"/>
              </a:schemeClr>
            </a:solidFill>
            <a:miter lim="800000"/>
            <a:headEnd/>
            <a:tailEnd/>
          </a:ln>
          <a:effectLst/>
        </p:spPr>
        <p:txBody>
          <a:bodyPr wrap="square" lIns="108000" tIns="144000" rIns="108000" bIns="72000" anchor="t" anchorCtr="0">
            <a:noAutofit/>
          </a:bodyPr>
          <a:lstStyle/>
          <a:p>
            <a:pPr marL="0" marR="0" lvl="0" indent="0" algn="l" defTabSz="101758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C2D83"/>
              </a:buClr>
              <a:buSzPct val="80000"/>
              <a:buFontTx/>
              <a:buNone/>
              <a:tabLst/>
              <a:defRPr/>
            </a:pPr>
            <a:endParaRPr kumimoji="1" lang="en-US" altLang="ko-KR" sz="1600" b="1" i="0" u="none" strike="noStrike" kern="0" cap="none" spc="-100" normalizeH="0" baseline="0" noProof="0">
              <a:ln w="12700">
                <a:solidFill>
                  <a:srgbClr val="005EB8">
                    <a:alpha val="0"/>
                  </a:srgbClr>
                </a:solidFill>
              </a:ln>
              <a:solidFill>
                <a:srgbClr val="4A483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C888B5C-484B-582C-1070-BF5ED7268B32}"/>
              </a:ext>
            </a:extLst>
          </p:cNvPr>
          <p:cNvSpPr txBox="1"/>
          <p:nvPr/>
        </p:nvSpPr>
        <p:spPr>
          <a:xfrm>
            <a:off x="2149054" y="1705669"/>
            <a:ext cx="1527093" cy="215444"/>
          </a:xfrm>
          <a:prstGeom prst="rect">
            <a:avLst/>
          </a:prstGeom>
          <a:noFill/>
          <a:ln>
            <a:solidFill>
              <a:schemeClr val="lt1">
                <a:alpha val="0"/>
              </a:schemeClr>
            </a:solidFill>
          </a:ln>
        </p:spPr>
        <p:txBody>
          <a:bodyPr wrap="square" rtlCol="0">
            <a:spAutoFit/>
          </a:bodyPr>
          <a:lstStyle/>
          <a:p>
            <a:pPr marL="171450" marR="0" lvl="0" indent="-17145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l"/>
              <a:tabLst/>
              <a:defRPr/>
            </a:pPr>
            <a:r>
              <a:rPr lang="ko-KR" altLang="en-US" sz="80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감사결과 </a:t>
            </a:r>
            <a:endParaRPr kumimoji="1" lang="ko-KR" altLang="en-US" sz="800" i="0" u="none" strike="noStrike" kern="1200" cap="none" normalizeH="0" baseline="0" noProof="0">
              <a:ln>
                <a:solidFill>
                  <a:srgbClr val="005EB8">
                    <a:alpha val="0"/>
                  </a:srgbClr>
                </a:solidFill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25" name="표 166">
            <a:extLst>
              <a:ext uri="{FF2B5EF4-FFF2-40B4-BE49-F238E27FC236}">
                <a16:creationId xmlns:a16="http://schemas.microsoft.com/office/drawing/2014/main" id="{1B6ACCFB-B450-DC36-96FB-8165DBBCBAC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222799" y="1951890"/>
          <a:ext cx="2440640" cy="365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0160">
                  <a:extLst>
                    <a:ext uri="{9D8B030D-6E8A-4147-A177-3AD203B41FA5}">
                      <a16:colId xmlns:a16="http://schemas.microsoft.com/office/drawing/2014/main" val="3489309211"/>
                    </a:ext>
                  </a:extLst>
                </a:gridCol>
                <a:gridCol w="610160">
                  <a:extLst>
                    <a:ext uri="{9D8B030D-6E8A-4147-A177-3AD203B41FA5}">
                      <a16:colId xmlns:a16="http://schemas.microsoft.com/office/drawing/2014/main" val="1742854559"/>
                    </a:ext>
                  </a:extLst>
                </a:gridCol>
                <a:gridCol w="610160">
                  <a:extLst>
                    <a:ext uri="{9D8B030D-6E8A-4147-A177-3AD203B41FA5}">
                      <a16:colId xmlns:a16="http://schemas.microsoft.com/office/drawing/2014/main" val="2389987534"/>
                    </a:ext>
                  </a:extLst>
                </a:gridCol>
                <a:gridCol w="610160">
                  <a:extLst>
                    <a:ext uri="{9D8B030D-6E8A-4147-A177-3AD203B41FA5}">
                      <a16:colId xmlns:a16="http://schemas.microsoft.com/office/drawing/2014/main" val="1226078448"/>
                    </a:ext>
                  </a:extLst>
                </a:gridCol>
              </a:tblGrid>
              <a:tr h="12154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solidFill>
                            <a:srgbClr val="4A483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감사의견</a:t>
                      </a:r>
                      <a:endParaRPr lang="ko-KR" altLang="en-US" sz="600" b="1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solidFill>
                          <a:srgbClr val="4A483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solidFill>
                            <a:srgbClr val="4A483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심의의견</a:t>
                      </a:r>
                      <a:endParaRPr lang="ko-KR" altLang="en-US" sz="600" b="1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solidFill>
                          <a:srgbClr val="4A483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solidFill>
                            <a:srgbClr val="4A483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수정조치</a:t>
                      </a:r>
                      <a:endParaRPr lang="ko-KR" altLang="en-US" sz="600" b="1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solidFill>
                          <a:srgbClr val="4A483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solidFill>
                            <a:srgbClr val="4A483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감사착안사항</a:t>
                      </a:r>
                      <a:endParaRPr lang="ko-KR" altLang="en-US" sz="600" b="1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solidFill>
                          <a:srgbClr val="4A483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4896729"/>
                  </a:ext>
                </a:extLst>
              </a:tr>
              <a:tr h="1215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6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6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6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6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8030536"/>
                  </a:ext>
                </a:extLst>
              </a:tr>
            </a:tbl>
          </a:graphicData>
        </a:graphic>
      </p:graphicFrame>
      <p:sp>
        <p:nvSpPr>
          <p:cNvPr id="26" name="Text Box 39">
            <a:extLst>
              <a:ext uri="{FF2B5EF4-FFF2-40B4-BE49-F238E27FC236}">
                <a16:creationId xmlns:a16="http://schemas.microsoft.com/office/drawing/2014/main" id="{0C6A76A4-9FDA-D68A-AF81-090FF3653C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3046" y="3454652"/>
            <a:ext cx="6744796" cy="1590825"/>
          </a:xfrm>
          <a:prstGeom prst="rect">
            <a:avLst/>
          </a:prstGeom>
          <a:noFill/>
          <a:ln w="6350" algn="ctr">
            <a:solidFill>
              <a:schemeClr val="bg2">
                <a:lumMod val="90000"/>
              </a:schemeClr>
            </a:solidFill>
            <a:miter lim="800000"/>
            <a:headEnd/>
            <a:tailEnd/>
          </a:ln>
          <a:effectLst/>
        </p:spPr>
        <p:txBody>
          <a:bodyPr wrap="square" lIns="108000" tIns="144000" rIns="108000" bIns="72000" anchor="t" anchorCtr="0">
            <a:noAutofit/>
          </a:bodyPr>
          <a:lstStyle/>
          <a:p>
            <a:pPr marL="0" marR="0" lvl="0" indent="0" algn="l" defTabSz="101758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C2D83"/>
              </a:buClr>
              <a:buSzPct val="80000"/>
              <a:buFontTx/>
              <a:buNone/>
              <a:tabLst/>
              <a:defRPr/>
            </a:pPr>
            <a:endParaRPr kumimoji="1" lang="en-US" altLang="ko-KR" sz="1600" b="1" i="0" u="none" strike="noStrike" kern="0" cap="none" spc="-100" normalizeH="0" baseline="0" noProof="0">
              <a:ln w="12700">
                <a:solidFill>
                  <a:srgbClr val="005EB8">
                    <a:alpha val="0"/>
                  </a:srgbClr>
                </a:solidFill>
              </a:ln>
              <a:solidFill>
                <a:srgbClr val="4A483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7" name="차트 26">
            <a:extLst>
              <a:ext uri="{FF2B5EF4-FFF2-40B4-BE49-F238E27FC236}">
                <a16:creationId xmlns:a16="http://schemas.microsoft.com/office/drawing/2014/main" id="{75B344CB-617A-4FA0-BE3D-7615FCB46061}"/>
              </a:ext>
            </a:extLst>
          </p:cNvPr>
          <p:cNvGraphicFramePr/>
          <p:nvPr>
            <p:extLst/>
          </p:nvPr>
        </p:nvGraphicFramePr>
        <p:xfrm>
          <a:off x="2256502" y="1694524"/>
          <a:ext cx="2689848" cy="173860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8" name="양쪽 모서리가 둥근 사각형 27"/>
          <p:cNvSpPr/>
          <p:nvPr/>
        </p:nvSpPr>
        <p:spPr bwMode="auto">
          <a:xfrm>
            <a:off x="239549" y="1112911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noProof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일상감사현황 </a:t>
            </a:r>
            <a:r>
              <a:rPr kumimoji="0" lang="en-US" altLang="ko-KR" sz="700" noProof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noProof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시각화</a:t>
            </a:r>
            <a:r>
              <a:rPr kumimoji="0" lang="en-US" altLang="ko-KR" sz="700" noProof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9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33046" y="1038315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0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39550" y="1298646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34" name="내용 개체 틀 121"/>
          <p:cNvGraphicFramePr>
            <a:graphicFrameLocks/>
          </p:cNvGraphicFramePr>
          <p:nvPr>
            <p:extLst/>
          </p:nvPr>
        </p:nvGraphicFramePr>
        <p:xfrm>
          <a:off x="242571" y="1373979"/>
          <a:ext cx="6726400" cy="25899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401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6262390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</a:tblGrid>
              <a:tr h="25899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조회기간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35" name="직사각형 3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744913" y="1418850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796061" y="1418844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2024-03-31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52" name="그림 5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88894" y="1425977"/>
            <a:ext cx="174341" cy="166761"/>
          </a:xfrm>
          <a:prstGeom prst="rect">
            <a:avLst/>
          </a:prstGeom>
        </p:spPr>
      </p:pic>
      <p:pic>
        <p:nvPicPr>
          <p:cNvPr id="53" name="그림 5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44848" y="1430617"/>
            <a:ext cx="167755" cy="160461"/>
          </a:xfrm>
          <a:prstGeom prst="rect">
            <a:avLst/>
          </a:prstGeom>
        </p:spPr>
      </p:pic>
      <p:cxnSp>
        <p:nvCxnSpPr>
          <p:cNvPr id="54" name="직선 연결선 53"/>
          <p:cNvCxnSpPr/>
          <p:nvPr/>
        </p:nvCxnSpPr>
        <p:spPr bwMode="auto">
          <a:xfrm>
            <a:off x="1623560" y="1509302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58" name="TextBox 57">
            <a:extLst>
              <a:ext uri="{FF2B5EF4-FFF2-40B4-BE49-F238E27FC236}">
                <a16:creationId xmlns:a16="http://schemas.microsoft.com/office/drawing/2014/main" id="{FC888B5C-484B-582C-1070-BF5ED7268B32}"/>
              </a:ext>
            </a:extLst>
          </p:cNvPr>
          <p:cNvSpPr txBox="1"/>
          <p:nvPr/>
        </p:nvSpPr>
        <p:spPr>
          <a:xfrm>
            <a:off x="283516" y="1705669"/>
            <a:ext cx="1527093" cy="215444"/>
          </a:xfrm>
          <a:prstGeom prst="rect">
            <a:avLst/>
          </a:prstGeom>
          <a:noFill/>
          <a:ln>
            <a:solidFill>
              <a:schemeClr val="lt1">
                <a:alpha val="0"/>
              </a:schemeClr>
            </a:solidFill>
          </a:ln>
        </p:spPr>
        <p:txBody>
          <a:bodyPr wrap="square" rtlCol="0">
            <a:spAutoFit/>
          </a:bodyPr>
          <a:lstStyle/>
          <a:p>
            <a:pPr marL="171450" marR="0" lvl="0" indent="-17145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l"/>
              <a:tabLst/>
              <a:defRPr/>
            </a:pPr>
            <a:r>
              <a:rPr lang="ko-KR" altLang="en-US" sz="80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일상감사 </a:t>
            </a:r>
            <a:r>
              <a:rPr kumimoji="1" lang="ko-KR" altLang="en-US" sz="800" i="0" u="none" strike="noStrike" kern="1200" cap="none" normalizeH="0" baseline="0" noProof="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현황 </a:t>
            </a:r>
            <a:r>
              <a:rPr kumimoji="1" lang="en-US" altLang="ko-KR" sz="800" i="0" u="none" strike="noStrike" kern="1200" cap="none" normalizeH="0" baseline="0" noProof="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1" lang="ko-KR" altLang="en-US" sz="800" i="0" u="none" strike="noStrike" kern="1200" cap="none" normalizeH="0" baseline="0" noProof="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종합</a:t>
            </a:r>
            <a:r>
              <a:rPr kumimoji="1" lang="en-US" altLang="ko-KR" sz="800" i="0" u="none" strike="noStrike" kern="1200" cap="none" normalizeH="0" baseline="0" noProof="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endParaRPr kumimoji="1" lang="ko-KR" altLang="en-US" sz="800" i="0" u="none" strike="noStrike" kern="1200" cap="none" normalizeH="0" baseline="0" noProof="0">
              <a:ln>
                <a:solidFill>
                  <a:srgbClr val="005EB8">
                    <a:alpha val="0"/>
                  </a:srgbClr>
                </a:solidFill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59" name="차트 58"/>
          <p:cNvGraphicFramePr/>
          <p:nvPr>
            <p:extLst/>
          </p:nvPr>
        </p:nvGraphicFramePr>
        <p:xfrm>
          <a:off x="482584" y="2281088"/>
          <a:ext cx="1104070" cy="11520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60" name="표 166">
            <a:extLst>
              <a:ext uri="{FF2B5EF4-FFF2-40B4-BE49-F238E27FC236}">
                <a16:creationId xmlns:a16="http://schemas.microsoft.com/office/drawing/2014/main" id="{1B6ACCFB-B450-DC36-96FB-8165DBBCBAC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16690" y="1951890"/>
          <a:ext cx="1707216" cy="365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4706">
                  <a:extLst>
                    <a:ext uri="{9D8B030D-6E8A-4147-A177-3AD203B41FA5}">
                      <a16:colId xmlns:a16="http://schemas.microsoft.com/office/drawing/2014/main" val="3489309211"/>
                    </a:ext>
                  </a:extLst>
                </a:gridCol>
                <a:gridCol w="465513">
                  <a:extLst>
                    <a:ext uri="{9D8B030D-6E8A-4147-A177-3AD203B41FA5}">
                      <a16:colId xmlns:a16="http://schemas.microsoft.com/office/drawing/2014/main" val="1742854559"/>
                    </a:ext>
                  </a:extLst>
                </a:gridCol>
                <a:gridCol w="390698">
                  <a:extLst>
                    <a:ext uri="{9D8B030D-6E8A-4147-A177-3AD203B41FA5}">
                      <a16:colId xmlns:a16="http://schemas.microsoft.com/office/drawing/2014/main" val="1083048898"/>
                    </a:ext>
                  </a:extLst>
                </a:gridCol>
                <a:gridCol w="386299">
                  <a:extLst>
                    <a:ext uri="{9D8B030D-6E8A-4147-A177-3AD203B41FA5}">
                      <a16:colId xmlns:a16="http://schemas.microsoft.com/office/drawing/2014/main" val="2389987534"/>
                    </a:ext>
                  </a:extLst>
                </a:gridCol>
              </a:tblGrid>
              <a:tr h="12154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solidFill>
                            <a:srgbClr val="4A483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사전감사</a:t>
                      </a:r>
                      <a:endParaRPr lang="ko-KR" altLang="en-US" sz="600" b="1" dirty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solidFill>
                          <a:srgbClr val="4A483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solidFill>
                            <a:srgbClr val="4A483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사후감사</a:t>
                      </a:r>
                      <a:endParaRPr lang="ko-KR" altLang="en-US" sz="600" b="1" dirty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solidFill>
                          <a:srgbClr val="4A483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solidFill>
                            <a:srgbClr val="4A483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재위임</a:t>
                      </a:r>
                      <a:endParaRPr lang="ko-KR" altLang="en-US" sz="600" b="1" dirty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solidFill>
                          <a:srgbClr val="4A483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solidFill>
                            <a:srgbClr val="4A483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</a:t>
                      </a:r>
                      <a:endParaRPr lang="ko-KR" altLang="en-US" sz="600" b="1" dirty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solidFill>
                          <a:srgbClr val="4A483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4896729"/>
                  </a:ext>
                </a:extLst>
              </a:tr>
              <a:tr h="1215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105</a:t>
                      </a:r>
                      <a:endParaRPr lang="ko-KR" altLang="en-US" sz="6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24</a:t>
                      </a:r>
                      <a:endParaRPr lang="ko-KR" altLang="en-US" sz="600" b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dirty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25</a:t>
                      </a:r>
                      <a:endParaRPr lang="ko-KR" altLang="en-US" sz="600" b="0" dirty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dirty="0" smtClean="0">
                          <a:ln>
                            <a:solidFill>
                              <a:sysClr val="window" lastClr="FFFFFF">
                                <a:alpha val="0"/>
                              </a:sysClr>
                            </a:solidFill>
                          </a:ln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154</a:t>
                      </a:r>
                      <a:endParaRPr lang="ko-KR" altLang="en-US" sz="600" b="0" dirty="0">
                        <a:ln>
                          <a:solidFill>
                            <a:sysClr val="window" lastClr="FFFFFF">
                              <a:alpha val="0"/>
                            </a:sysClr>
                          </a:solidFill>
                        </a:ln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8030536"/>
                  </a:ext>
                </a:extLst>
              </a:tr>
            </a:tbl>
          </a:graphicData>
        </a:graphic>
      </p:graphicFrame>
      <p:graphicFrame>
        <p:nvGraphicFramePr>
          <p:cNvPr id="61" name="차트 60">
            <a:extLst>
              <a:ext uri="{FF2B5EF4-FFF2-40B4-BE49-F238E27FC236}">
                <a16:creationId xmlns:a16="http://schemas.microsoft.com/office/drawing/2014/main" id="{9510F14C-3B13-812E-07F3-09C94826797D}"/>
              </a:ext>
            </a:extLst>
          </p:cNvPr>
          <p:cNvGraphicFramePr/>
          <p:nvPr>
            <p:extLst/>
          </p:nvPr>
        </p:nvGraphicFramePr>
        <p:xfrm>
          <a:off x="4758989" y="1926602"/>
          <a:ext cx="2206956" cy="140680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62" name="TextBox 61">
            <a:extLst>
              <a:ext uri="{FF2B5EF4-FFF2-40B4-BE49-F238E27FC236}">
                <a16:creationId xmlns:a16="http://schemas.microsoft.com/office/drawing/2014/main" id="{FC888B5C-484B-582C-1070-BF5ED7268B32}"/>
              </a:ext>
            </a:extLst>
          </p:cNvPr>
          <p:cNvSpPr txBox="1"/>
          <p:nvPr/>
        </p:nvSpPr>
        <p:spPr>
          <a:xfrm>
            <a:off x="283516" y="3466899"/>
            <a:ext cx="1527093" cy="215444"/>
          </a:xfrm>
          <a:prstGeom prst="rect">
            <a:avLst/>
          </a:prstGeom>
          <a:noFill/>
          <a:ln>
            <a:solidFill>
              <a:schemeClr val="lt1">
                <a:alpha val="0"/>
              </a:schemeClr>
            </a:solidFill>
          </a:ln>
        </p:spPr>
        <p:txBody>
          <a:bodyPr wrap="square" rtlCol="0">
            <a:spAutoFit/>
          </a:bodyPr>
          <a:lstStyle/>
          <a:p>
            <a:pPr marL="171450" marR="0" lvl="0" indent="-17145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l"/>
              <a:tabLst/>
              <a:defRPr/>
            </a:pPr>
            <a:r>
              <a:rPr lang="ko-KR" altLang="en-US" sz="80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그룹별 일상감사 현황</a:t>
            </a:r>
            <a:endParaRPr kumimoji="1" lang="ko-KR" altLang="en-US" sz="800" i="0" u="none" strike="noStrike" kern="1200" cap="none" normalizeH="0" baseline="0" noProof="0">
              <a:ln>
                <a:solidFill>
                  <a:srgbClr val="005EB8">
                    <a:alpha val="0"/>
                  </a:srgbClr>
                </a:solidFill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63" name="그룹 62"/>
          <p:cNvGrpSpPr/>
          <p:nvPr/>
        </p:nvGrpSpPr>
        <p:grpSpPr>
          <a:xfrm>
            <a:off x="4648199" y="3509007"/>
            <a:ext cx="2283818" cy="215444"/>
            <a:chOff x="2566309" y="4730883"/>
            <a:chExt cx="2283818" cy="215444"/>
          </a:xfrm>
        </p:grpSpPr>
        <p:sp>
          <p:nvSpPr>
            <p:cNvPr id="64" name="직사각형 63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3220384" y="4731522"/>
              <a:ext cx="397573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3632773" y="4731556"/>
              <a:ext cx="1217354" cy="18091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       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 rotWithShape="1">
            <a:blip r:embed="rId6"/>
            <a:srcRect r="73540"/>
            <a:stretch/>
          </p:blipFill>
          <p:spPr>
            <a:xfrm>
              <a:off x="3645473" y="4748078"/>
              <a:ext cx="183595" cy="164228"/>
            </a:xfrm>
            <a:prstGeom prst="rect">
              <a:avLst/>
            </a:prstGeom>
          </p:spPr>
        </p:pic>
        <p:sp>
          <p:nvSpPr>
            <p:cNvPr id="67" name="TextBox 66"/>
            <p:cNvSpPr txBox="1"/>
            <p:nvPr/>
          </p:nvSpPr>
          <p:spPr>
            <a:xfrm>
              <a:off x="2566309" y="4730883"/>
              <a:ext cx="819379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그룹별 상세 </a:t>
              </a:r>
              <a:r>
                <a:rPr lang="en-US" altLang="ko-KR" sz="8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:</a:t>
              </a:r>
              <a:r>
                <a:rPr lang="ko-KR" altLang="en-US" sz="80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 </a:t>
              </a:r>
            </a:p>
          </p:txBody>
        </p: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FC888B5C-484B-582C-1070-BF5ED7268B32}"/>
              </a:ext>
            </a:extLst>
          </p:cNvPr>
          <p:cNvSpPr txBox="1"/>
          <p:nvPr/>
        </p:nvSpPr>
        <p:spPr>
          <a:xfrm>
            <a:off x="4774436" y="1705669"/>
            <a:ext cx="1527093" cy="215444"/>
          </a:xfrm>
          <a:prstGeom prst="rect">
            <a:avLst/>
          </a:prstGeom>
          <a:noFill/>
          <a:ln>
            <a:solidFill>
              <a:schemeClr val="lt1">
                <a:alpha val="0"/>
              </a:schemeClr>
            </a:solidFill>
          </a:ln>
        </p:spPr>
        <p:txBody>
          <a:bodyPr wrap="square" rtlCol="0">
            <a:spAutoFit/>
          </a:bodyPr>
          <a:lstStyle/>
          <a:p>
            <a:pPr marL="171450" marR="0" lvl="0" indent="-17145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l"/>
              <a:tabLst/>
              <a:defRPr/>
            </a:pPr>
            <a:r>
              <a:rPr lang="ko-KR" altLang="en-US" sz="800" noProof="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직전</a:t>
            </a:r>
            <a:r>
              <a:rPr lang="en-US" altLang="ko-KR" sz="800" noProof="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r>
              <a:rPr lang="ko-KR" altLang="en-US" sz="800" noProof="0" smtClean="0">
                <a:ln>
                  <a:solidFill>
                    <a:srgbClr val="005EB8">
                      <a:alpha val="0"/>
                    </a:srgbClr>
                  </a:solidFill>
                </a:ln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개월 일상감사 추세</a:t>
            </a:r>
            <a:endParaRPr kumimoji="1" lang="ko-KR" altLang="en-US" sz="800" i="0" u="none" strike="noStrike" kern="1200" cap="none" normalizeH="0" baseline="0" noProof="0">
              <a:ln>
                <a:solidFill>
                  <a:srgbClr val="005EB8">
                    <a:alpha val="0"/>
                  </a:srgbClr>
                </a:solidFill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cxnSp>
        <p:nvCxnSpPr>
          <p:cNvPr id="69" name="직선 연결선 68"/>
          <p:cNvCxnSpPr/>
          <p:nvPr/>
        </p:nvCxnSpPr>
        <p:spPr bwMode="auto">
          <a:xfrm>
            <a:off x="5212079" y="2317650"/>
            <a:ext cx="649908" cy="253376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755500"/>
            </a:solidFill>
            <a:prstDash val="solid"/>
            <a:round/>
            <a:headEnd type="oval" w="sm" len="sm"/>
            <a:tailEnd type="oval" w="sm" len="sm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cxnSp>
        <p:nvCxnSpPr>
          <p:cNvPr id="70" name="직선 연결선 69"/>
          <p:cNvCxnSpPr/>
          <p:nvPr/>
        </p:nvCxnSpPr>
        <p:spPr bwMode="auto">
          <a:xfrm flipV="1">
            <a:off x="5861987" y="2404742"/>
            <a:ext cx="663503" cy="166284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755500"/>
            </a:solidFill>
            <a:prstDash val="solid"/>
            <a:round/>
            <a:headEnd type="oval" w="sm" len="sm"/>
            <a:tailEnd type="oval" w="sm" len="sm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71" name="TextBox 70"/>
          <p:cNvSpPr txBox="1"/>
          <p:nvPr/>
        </p:nvSpPr>
        <p:spPr>
          <a:xfrm>
            <a:off x="5069508" y="2061425"/>
            <a:ext cx="381284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r>
              <a:rPr lang="en-US" altLang="ko-KR" sz="6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14</a:t>
            </a:r>
            <a:endParaRPr lang="ko-KR" altLang="en-US" sz="60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2" name="TextBox 71"/>
          <p:cNvSpPr txBox="1"/>
          <p:nvPr/>
        </p:nvSpPr>
        <p:spPr>
          <a:xfrm>
            <a:off x="5709777" y="2331913"/>
            <a:ext cx="381284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102</a:t>
            </a:r>
            <a:endParaRPr lang="ko-KR" altLang="en-US" sz="60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6352065" y="2195814"/>
            <a:ext cx="381284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r>
              <a:rPr lang="en-US" altLang="ko-KR" sz="60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7</a:t>
            </a:r>
            <a:r>
              <a:rPr lang="en-US" altLang="ko-KR" sz="6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lang="ko-KR" altLang="en-US" sz="60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74" name="차트 73">
            <a:extLst>
              <a:ext uri="{FF2B5EF4-FFF2-40B4-BE49-F238E27FC236}">
                <a16:creationId xmlns:a16="http://schemas.microsoft.com/office/drawing/2014/main" id="{9510F14C-3B13-812E-07F3-09C94826797D}"/>
              </a:ext>
            </a:extLst>
          </p:cNvPr>
          <p:cNvGraphicFramePr/>
          <p:nvPr>
            <p:extLst/>
          </p:nvPr>
        </p:nvGraphicFramePr>
        <p:xfrm>
          <a:off x="382661" y="3789010"/>
          <a:ext cx="6465639" cy="123463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75" name="TextBox 74"/>
          <p:cNvSpPr txBox="1"/>
          <p:nvPr/>
        </p:nvSpPr>
        <p:spPr>
          <a:xfrm>
            <a:off x="821113" y="4220875"/>
            <a:ext cx="16325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smtClean="0">
                <a:solidFill>
                  <a:srgbClr val="005EB8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5</a:t>
            </a:r>
            <a:endParaRPr lang="ko-KR" altLang="en-US" sz="600" smtClean="0">
              <a:solidFill>
                <a:srgbClr val="005EB8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1601348" y="4224041"/>
            <a:ext cx="16325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>
                <a:solidFill>
                  <a:srgbClr val="005EB8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lang="ko-KR" altLang="en-US" sz="600" smtClean="0">
              <a:solidFill>
                <a:srgbClr val="005EB8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7" name="TextBox 76"/>
          <p:cNvSpPr txBox="1"/>
          <p:nvPr/>
        </p:nvSpPr>
        <p:spPr>
          <a:xfrm>
            <a:off x="2368967" y="4278016"/>
            <a:ext cx="16325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smtClean="0">
                <a:solidFill>
                  <a:srgbClr val="005EB8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0</a:t>
            </a:r>
            <a:endParaRPr lang="ko-KR" altLang="en-US" sz="600" smtClean="0">
              <a:solidFill>
                <a:srgbClr val="005EB8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3916821" y="4278016"/>
            <a:ext cx="16325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smtClean="0">
                <a:solidFill>
                  <a:srgbClr val="005EB8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0</a:t>
            </a:r>
            <a:endParaRPr lang="ko-KR" altLang="en-US" sz="600" smtClean="0">
              <a:solidFill>
                <a:srgbClr val="005EB8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3149202" y="4250064"/>
            <a:ext cx="16325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smtClean="0">
                <a:solidFill>
                  <a:srgbClr val="005EB8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lang="ko-KR" altLang="en-US" sz="600" smtClean="0">
              <a:solidFill>
                <a:srgbClr val="005EB8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4690790" y="4236750"/>
            <a:ext cx="16325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>
                <a:solidFill>
                  <a:srgbClr val="005EB8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lang="ko-KR" altLang="en-US" sz="600" smtClean="0">
              <a:solidFill>
                <a:srgbClr val="005EB8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1" name="TextBox 80"/>
          <p:cNvSpPr txBox="1"/>
          <p:nvPr/>
        </p:nvSpPr>
        <p:spPr>
          <a:xfrm>
            <a:off x="5463180" y="4261002"/>
            <a:ext cx="16325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smtClean="0">
                <a:solidFill>
                  <a:srgbClr val="005EB8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lang="ko-KR" altLang="en-US" sz="600" smtClean="0">
              <a:solidFill>
                <a:srgbClr val="005EB8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79086" y="126172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4" name="타원 8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79362" y="164193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70746" y="335608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394902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903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기존 화면의 기능을 유지한 상태에서 조회 화면에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생략문서별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‘</a:t>
                      </a:r>
                      <a:r>
                        <a:rPr lang="ko-KR" altLang="en-US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생략사유</a:t>
                      </a:r>
                      <a:r>
                        <a:rPr lang="en-US" altLang="ko-KR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’ </a:t>
                      </a:r>
                      <a:r>
                        <a:rPr lang="ko-KR" altLang="en-US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정보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컬럼을 추가한다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각 생략 사유 클릭 시 등록된 전체 텍스트 정보를 확인할 수 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현재 조회된 생략문서에 </a:t>
                      </a:r>
                      <a:r>
                        <a:rPr lang="ko-KR" altLang="en-US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대한 점검일자</a:t>
                      </a:r>
                      <a:r>
                        <a:rPr lang="en-US" altLang="ko-KR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</a:t>
                      </a:r>
                      <a:r>
                        <a:rPr lang="en-US" altLang="ko-KR" sz="8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 대상기간</a:t>
                      </a:r>
                      <a:r>
                        <a:rPr lang="en-US" altLang="ko-KR" sz="8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(From), </a:t>
                      </a:r>
                      <a:r>
                        <a:rPr lang="ko-KR" altLang="en-US" sz="8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 대상기간</a:t>
                      </a:r>
                      <a:r>
                        <a:rPr lang="en-US" altLang="ko-KR" sz="8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(To)</a:t>
                      </a:r>
                      <a:r>
                        <a:rPr lang="ko-KR" altLang="en-US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를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저장한다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단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 기간이 한달 이상일 </a:t>
                      </a:r>
                      <a:r>
                        <a:rPr lang="ko-KR" altLang="en-US" sz="8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경우 </a:t>
                      </a:r>
                      <a:r>
                        <a:rPr lang="en-US" altLang="ko-KR" sz="8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“</a:t>
                      </a:r>
                      <a:r>
                        <a:rPr lang="ko-KR" altLang="en-US" sz="8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조회기간을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한달 </a:t>
                      </a:r>
                      <a:r>
                        <a:rPr lang="ko-KR" altLang="en-US" sz="8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이하로 설정 및 조회하여 점검할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 </a:t>
                      </a:r>
                      <a:r>
                        <a:rPr lang="ko-KR" altLang="en-US" sz="8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있습니다</a:t>
                      </a:r>
                      <a:r>
                        <a:rPr lang="en-US" altLang="ko-KR" sz="8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.”</a:t>
                      </a:r>
                      <a:r>
                        <a:rPr lang="ko-KR" altLang="en-US" sz="8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라는 메시지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팝업 창을 출력한다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점검이력 조회</a:t>
                      </a:r>
                      <a:r>
                        <a:rPr lang="en-US" altLang="ko-KR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버튼 클릭 시</a:t>
                      </a:r>
                      <a:r>
                        <a:rPr lang="en-US" altLang="ko-KR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⑤점검이력 조회 화면이 팝업된다</a:t>
                      </a:r>
                      <a:r>
                        <a:rPr lang="en-US" altLang="ko-KR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점검이력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 팝업 화면에서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점검일자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기준 대상기간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(From/To)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를 확인할 수 있다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조회는 월 기준으로 제한하여 조회할 수 있다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★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점검수행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이력이 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개월을 초과할 경우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초과일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익영업일에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일상감사팀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권한보유자가 화면을 진입할 때마다 아래의 팝업 메시지를 출력한다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메시지 내용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일상감사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생략문서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점검 기한이 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개월을 초과하였습니다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점검을 실시하기 바랍니다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marL="171450" indent="-171450" latinLnBrk="1">
                        <a:buFontTx/>
                        <a:buChar char="-"/>
                      </a:pP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예시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2025-01-10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 최종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점검일자이고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2025-02-10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까지 점검된 내역이 없을 경우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2025-02-11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부터 해당 메시지 팝업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MDD-00083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MDD72E11000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일상감사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생략문서현황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일상감사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감사현황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생략문서현황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(P126: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강지웅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72565"/>
          <a:stretch/>
        </p:blipFill>
        <p:spPr>
          <a:xfrm>
            <a:off x="174525" y="986849"/>
            <a:ext cx="6925219" cy="1112296"/>
          </a:xfrm>
          <a:prstGeom prst="rect">
            <a:avLst/>
          </a:prstGeom>
        </p:spPr>
      </p:pic>
      <p:pic>
        <p:nvPicPr>
          <p:cNvPr id="27" name="그림 26"/>
          <p:cNvPicPr>
            <a:picLocks noChangeAspect="1"/>
          </p:cNvPicPr>
          <p:nvPr/>
        </p:nvPicPr>
        <p:blipFill rotWithShape="1">
          <a:blip r:embed="rId2"/>
          <a:srcRect t="93332"/>
          <a:stretch/>
        </p:blipFill>
        <p:spPr>
          <a:xfrm>
            <a:off x="174525" y="5446650"/>
            <a:ext cx="6925219" cy="270344"/>
          </a:xfrm>
          <a:prstGeom prst="rect">
            <a:avLst/>
          </a:prstGeom>
        </p:spPr>
      </p:pic>
      <p:graphicFrame>
        <p:nvGraphicFramePr>
          <p:cNvPr id="30" name="표 29"/>
          <p:cNvGraphicFramePr>
            <a:graphicFrameLocks noGrp="1"/>
          </p:cNvGraphicFramePr>
          <p:nvPr>
            <p:extLst/>
          </p:nvPr>
        </p:nvGraphicFramePr>
        <p:xfrm>
          <a:off x="222638" y="2172660"/>
          <a:ext cx="6831332" cy="31572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6263">
                  <a:extLst>
                    <a:ext uri="{9D8B030D-6E8A-4147-A177-3AD203B41FA5}">
                      <a16:colId xmlns:a16="http://schemas.microsoft.com/office/drawing/2014/main" val="1993320321"/>
                    </a:ext>
                  </a:extLst>
                </a:gridCol>
                <a:gridCol w="1015589">
                  <a:extLst>
                    <a:ext uri="{9D8B030D-6E8A-4147-A177-3AD203B41FA5}">
                      <a16:colId xmlns:a16="http://schemas.microsoft.com/office/drawing/2014/main" val="3330086143"/>
                    </a:ext>
                  </a:extLst>
                </a:gridCol>
                <a:gridCol w="1386193">
                  <a:extLst>
                    <a:ext uri="{9D8B030D-6E8A-4147-A177-3AD203B41FA5}">
                      <a16:colId xmlns:a16="http://schemas.microsoft.com/office/drawing/2014/main" val="4036859988"/>
                    </a:ext>
                  </a:extLst>
                </a:gridCol>
                <a:gridCol w="1086708">
                  <a:extLst>
                    <a:ext uri="{9D8B030D-6E8A-4147-A177-3AD203B41FA5}">
                      <a16:colId xmlns:a16="http://schemas.microsoft.com/office/drawing/2014/main" val="3159091934"/>
                    </a:ext>
                  </a:extLst>
                </a:gridCol>
                <a:gridCol w="2249838">
                  <a:extLst>
                    <a:ext uri="{9D8B030D-6E8A-4147-A177-3AD203B41FA5}">
                      <a16:colId xmlns:a16="http://schemas.microsoft.com/office/drawing/2014/main" val="1221056705"/>
                    </a:ext>
                  </a:extLst>
                </a:gridCol>
                <a:gridCol w="736741">
                  <a:extLst>
                    <a:ext uri="{9D8B030D-6E8A-4147-A177-3AD203B41FA5}">
                      <a16:colId xmlns:a16="http://schemas.microsoft.com/office/drawing/2014/main" val="342430556"/>
                    </a:ext>
                  </a:extLst>
                </a:gridCol>
              </a:tblGrid>
              <a:tr h="21048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700" b="1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문서번호</a:t>
                      </a:r>
                      <a:endParaRPr lang="ko-KR" altLang="en-US" sz="700" b="1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문서제목</a:t>
                      </a:r>
                      <a:endParaRPr lang="ko-KR" altLang="en-US" sz="700" b="1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기안부점</a:t>
                      </a:r>
                      <a:endParaRPr lang="ko-KR" altLang="en-US" sz="700" b="1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 err="1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생략사유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 err="1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완료일자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7843078"/>
                  </a:ext>
                </a:extLst>
              </a:tr>
              <a:tr h="21048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해당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생략문서의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생략사유가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해당 화면의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표시한계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이상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3348380"/>
                  </a:ext>
                </a:extLst>
              </a:tr>
              <a:tr h="21048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6874158"/>
                  </a:ext>
                </a:extLst>
              </a:tr>
              <a:tr h="21048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1079926"/>
                  </a:ext>
                </a:extLst>
              </a:tr>
              <a:tr h="21048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8479095"/>
                  </a:ext>
                </a:extLst>
              </a:tr>
              <a:tr h="210485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7993757"/>
                  </a:ext>
                </a:extLst>
              </a:tr>
              <a:tr h="210485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5356076"/>
                  </a:ext>
                </a:extLst>
              </a:tr>
              <a:tr h="210485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8123736"/>
                  </a:ext>
                </a:extLst>
              </a:tr>
              <a:tr h="210485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6677930"/>
                  </a:ext>
                </a:extLst>
              </a:tr>
              <a:tr h="210485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08401845"/>
                  </a:ext>
                </a:extLst>
              </a:tr>
              <a:tr h="210485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3518190"/>
                  </a:ext>
                </a:extLst>
              </a:tr>
              <a:tr h="210485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4535281"/>
                  </a:ext>
                </a:extLst>
              </a:tr>
              <a:tr h="210485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2451603"/>
                  </a:ext>
                </a:extLst>
              </a:tr>
              <a:tr h="210485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6195997"/>
                  </a:ext>
                </a:extLst>
              </a:tr>
              <a:tr h="210485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6127746"/>
                  </a:ext>
                </a:extLst>
              </a:tr>
            </a:tbl>
          </a:graphicData>
        </a:graphic>
      </p:graphicFrame>
      <p:sp>
        <p:nvSpPr>
          <p:cNvPr id="43" name="직사각형 42"/>
          <p:cNvSpPr/>
          <p:nvPr/>
        </p:nvSpPr>
        <p:spPr bwMode="auto">
          <a:xfrm>
            <a:off x="4060620" y="2167364"/>
            <a:ext cx="2268618" cy="3190857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5" name="직사각형 44"/>
          <p:cNvSpPr/>
          <p:nvPr/>
        </p:nvSpPr>
        <p:spPr bwMode="auto">
          <a:xfrm>
            <a:off x="4118776" y="2382831"/>
            <a:ext cx="2154803" cy="217246"/>
          </a:xfrm>
          <a:prstGeom prst="rect">
            <a:avLst/>
          </a:prstGeom>
          <a:noFill/>
          <a:ln w="15875">
            <a:solidFill>
              <a:srgbClr val="FFBF0D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217643" y="2196746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973225" y="2607506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47" name="구부러진 연결선 46"/>
          <p:cNvCxnSpPr>
            <a:stCxn id="45" idx="1"/>
            <a:endCxn id="10" idx="0"/>
          </p:cNvCxnSpPr>
          <p:nvPr/>
        </p:nvCxnSpPr>
        <p:spPr bwMode="auto">
          <a:xfrm rot="10800000" flipV="1">
            <a:off x="1422274" y="2491453"/>
            <a:ext cx="2696503" cy="832275"/>
          </a:xfrm>
          <a:prstGeom prst="curvedConnector2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2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22638" y="1903303"/>
            <a:ext cx="481290" cy="185873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점검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15461" y="1806463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774183" y="1899031"/>
            <a:ext cx="634670" cy="200114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점검</a:t>
            </a:r>
            <a:r>
              <a:rPr kumimoji="0" lang="ko-KR" altLang="en-US" sz="800" spc="-10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이력 조회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767006" y="1802191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59" name="그림 58"/>
          <p:cNvPicPr>
            <a:picLocks noChangeAspect="1"/>
          </p:cNvPicPr>
          <p:nvPr/>
        </p:nvPicPr>
        <p:blipFill rotWithShape="1">
          <a:blip r:embed="rId2"/>
          <a:srcRect l="83360" t="21368" r="10643" b="72565"/>
          <a:stretch/>
        </p:blipFill>
        <p:spPr>
          <a:xfrm>
            <a:off x="5869167" y="3687550"/>
            <a:ext cx="415290" cy="245961"/>
          </a:xfrm>
          <a:prstGeom prst="rect">
            <a:avLst/>
          </a:prstGeom>
        </p:spPr>
      </p:pic>
      <p:cxnSp>
        <p:nvCxnSpPr>
          <p:cNvPr id="61" name="구부러진 연결선 60"/>
          <p:cNvCxnSpPr>
            <a:stCxn id="23" idx="3"/>
            <a:endCxn id="14" idx="0"/>
          </p:cNvCxnSpPr>
          <p:nvPr/>
        </p:nvCxnSpPr>
        <p:spPr bwMode="auto">
          <a:xfrm>
            <a:off x="1408853" y="1999088"/>
            <a:ext cx="3582302" cy="1538284"/>
          </a:xfrm>
          <a:prstGeom prst="curvedConnector2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pic>
        <p:nvPicPr>
          <p:cNvPr id="9" name="그림 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82079" y="4947242"/>
            <a:ext cx="1722007" cy="1285393"/>
          </a:xfrm>
          <a:prstGeom prst="rect">
            <a:avLst/>
          </a:prstGeom>
        </p:spPr>
      </p:pic>
      <p:pic>
        <p:nvPicPr>
          <p:cNvPr id="10" name="그림 9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8781" y="3323729"/>
            <a:ext cx="1986984" cy="1486199"/>
          </a:xfrm>
          <a:prstGeom prst="rect">
            <a:avLst/>
          </a:prstGeom>
        </p:spPr>
      </p:pic>
      <p:pic>
        <p:nvPicPr>
          <p:cNvPr id="14" name="그림 13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863376" y="3537372"/>
            <a:ext cx="2255558" cy="1622575"/>
          </a:xfrm>
          <a:prstGeom prst="rect">
            <a:avLst/>
          </a:prstGeom>
        </p:spPr>
      </p:pic>
      <p:sp>
        <p:nvSpPr>
          <p:cNvPr id="60" name="타원 5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187161" y="374692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2" name="타원 8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636057" y="4866242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6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677559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268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일상감사 대상 문서를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의뢰부서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검토현황 상태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협의담당자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조건에 따라 등록정보 및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담당자 지정 내용을 화면에서 조회한다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등록건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 가능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협의담당자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지정 및 개별 문서 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수정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 가능하다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업무담당자의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구분값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정의 필요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상임감사위원직무규정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별표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일상감사 사전감사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대상업무에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맞춰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구분값을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지정할 것을 권장합니다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구분 항목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입력시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목록에서 조회 가능 여부 확인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Wise-net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과 협의 이후 결정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첨부파일을 다운로드한다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사전협의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안건명을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클릭하여 해당 일상감사 대상에 대한 사전협의를 위한 팝업을 표시한다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MDD-00085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MDD75EC1000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일상감사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6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lvl="0" algn="l" defTabSz="914395" rtl="0" eaLnBrk="1" fontAlgn="auto" latinLnBrk="1" hangingPunct="1">
                        <a:spcBef>
                          <a:spcPts val="30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일상감사 사전협의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일상감사 </a:t>
                      </a:r>
                      <a:r>
                        <a:rPr kumimoji="0" lang="en-US" altLang="ko-KR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&gt; </a:t>
                      </a:r>
                      <a:r>
                        <a:rPr kumimoji="0" lang="ko-KR" altLang="en-US" sz="1050" kern="0" dirty="0" err="1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감사현황</a:t>
                      </a:r>
                      <a:r>
                        <a:rPr kumimoji="0" lang="ko-KR" altLang="en-US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</a:t>
                      </a:r>
                      <a:r>
                        <a:rPr kumimoji="0" lang="en-US" altLang="ko-KR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&gt; </a:t>
                      </a:r>
                      <a:r>
                        <a:rPr kumimoji="0" lang="ko-KR" altLang="en-US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일상감사 사전협의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(P128: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강지웅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30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69968" y="1254563"/>
            <a:ext cx="6726396" cy="319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5" name="양쪽 모서리가 둥근 사각형 34"/>
          <p:cNvSpPr/>
          <p:nvPr/>
        </p:nvSpPr>
        <p:spPr bwMode="auto">
          <a:xfrm>
            <a:off x="288073" y="1003031"/>
            <a:ext cx="1341943" cy="238010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일상감사 사전협의</a:t>
            </a:r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03445" y="1050810"/>
            <a:ext cx="134087" cy="141144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88074" y="1254563"/>
            <a:ext cx="188263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chemeClr val="dk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일상감사 사전협의</a:t>
            </a:r>
            <a:endParaRPr kumimoji="0" lang="ko-KR" altLang="en-US" sz="10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290838" y="1510737"/>
          <a:ext cx="6683586" cy="5441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89937">
                  <a:extLst>
                    <a:ext uri="{9D8B030D-6E8A-4147-A177-3AD203B41FA5}">
                      <a16:colId xmlns:a16="http://schemas.microsoft.com/office/drawing/2014/main" val="76529090"/>
                    </a:ext>
                  </a:extLst>
                </a:gridCol>
                <a:gridCol w="1971923">
                  <a:extLst>
                    <a:ext uri="{9D8B030D-6E8A-4147-A177-3AD203B41FA5}">
                      <a16:colId xmlns:a16="http://schemas.microsoft.com/office/drawing/2014/main" val="158312865"/>
                    </a:ext>
                  </a:extLst>
                </a:gridCol>
                <a:gridCol w="625389">
                  <a:extLst>
                    <a:ext uri="{9D8B030D-6E8A-4147-A177-3AD203B41FA5}">
                      <a16:colId xmlns:a16="http://schemas.microsoft.com/office/drawing/2014/main" val="4148962399"/>
                    </a:ext>
                  </a:extLst>
                </a:gridCol>
                <a:gridCol w="1582310">
                  <a:extLst>
                    <a:ext uri="{9D8B030D-6E8A-4147-A177-3AD203B41FA5}">
                      <a16:colId xmlns:a16="http://schemas.microsoft.com/office/drawing/2014/main" val="4247419316"/>
                    </a:ext>
                  </a:extLst>
                </a:gridCol>
                <a:gridCol w="652006">
                  <a:extLst>
                    <a:ext uri="{9D8B030D-6E8A-4147-A177-3AD203B41FA5}">
                      <a16:colId xmlns:a16="http://schemas.microsoft.com/office/drawing/2014/main" val="2040800478"/>
                    </a:ext>
                  </a:extLst>
                </a:gridCol>
                <a:gridCol w="1162021">
                  <a:extLst>
                    <a:ext uri="{9D8B030D-6E8A-4147-A177-3AD203B41FA5}">
                      <a16:colId xmlns:a16="http://schemas.microsoft.com/office/drawing/2014/main" val="2106116060"/>
                    </a:ext>
                  </a:extLst>
                </a:gridCol>
              </a:tblGrid>
              <a:tr h="272087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의뢰부점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검토현황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7870088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협의담당자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l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7055649"/>
                  </a:ext>
                </a:extLst>
              </a:tr>
            </a:tbl>
          </a:graphicData>
        </a:graphic>
      </p:graphicFrame>
      <p:grpSp>
        <p:nvGrpSpPr>
          <p:cNvPr id="6" name="그룹 5"/>
          <p:cNvGrpSpPr/>
          <p:nvPr/>
        </p:nvGrpSpPr>
        <p:grpSpPr>
          <a:xfrm>
            <a:off x="5877678" y="1191953"/>
            <a:ext cx="769638" cy="557331"/>
            <a:chOff x="6108246" y="1292958"/>
            <a:chExt cx="688071" cy="459695"/>
          </a:xfrm>
        </p:grpSpPr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6108246" y="1571738"/>
              <a:ext cx="688044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전체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27" name="이등변 삼각형 26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6687638" y="1652560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6108270" y="1292958"/>
              <a:ext cx="688047" cy="276198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schemeClr val="bg1">
                      <a:lumMod val="65000"/>
                    </a:schemeClr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등록</a:t>
              </a:r>
              <a:endPara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schemeClr val="bg1">
                      <a:lumMod val="65000"/>
                    </a:schemeClr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검토중</a:t>
              </a:r>
              <a:endParaRPr kumimoji="0" lang="en-US" altLang="ko-KR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normalizeH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협의완료</a:t>
              </a:r>
              <a:endParaRPr kumimoji="0" lang="en-US" altLang="ko-KR" sz="700" b="0" i="0" u="none" strike="noStrike" kern="1200" cap="none" normalizeH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pic>
        <p:nvPicPr>
          <p:cNvPr id="10" name="그림 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13892" y="1518688"/>
            <a:ext cx="1874347" cy="241851"/>
          </a:xfrm>
          <a:prstGeom prst="rect">
            <a:avLst/>
          </a:prstGeom>
        </p:spPr>
      </p:pic>
      <p:pic>
        <p:nvPicPr>
          <p:cNvPr id="11" name="그림 10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19244" y="1531180"/>
            <a:ext cx="1449864" cy="221408"/>
          </a:xfrm>
          <a:prstGeom prst="rect">
            <a:avLst/>
          </a:prstGeom>
        </p:spPr>
      </p:pic>
      <p:sp>
        <p:nvSpPr>
          <p:cNvPr id="3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781192" y="2214210"/>
            <a:ext cx="481290" cy="185873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304325" y="2213030"/>
            <a:ext cx="670099" cy="185873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엑셀출력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44" name="표 43"/>
          <p:cNvGraphicFramePr>
            <a:graphicFrameLocks noGrp="1"/>
          </p:cNvGraphicFramePr>
          <p:nvPr>
            <p:extLst/>
          </p:nvPr>
        </p:nvGraphicFramePr>
        <p:xfrm>
          <a:off x="269968" y="2463350"/>
          <a:ext cx="6727091" cy="3657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2466">
                  <a:extLst>
                    <a:ext uri="{9D8B030D-6E8A-4147-A177-3AD203B41FA5}">
                      <a16:colId xmlns:a16="http://schemas.microsoft.com/office/drawing/2014/main" val="2508274086"/>
                    </a:ext>
                  </a:extLst>
                </a:gridCol>
                <a:gridCol w="753872">
                  <a:extLst>
                    <a:ext uri="{9D8B030D-6E8A-4147-A177-3AD203B41FA5}">
                      <a16:colId xmlns:a16="http://schemas.microsoft.com/office/drawing/2014/main" val="3559033718"/>
                    </a:ext>
                  </a:extLst>
                </a:gridCol>
                <a:gridCol w="341906">
                  <a:extLst>
                    <a:ext uri="{9D8B030D-6E8A-4147-A177-3AD203B41FA5}">
                      <a16:colId xmlns:a16="http://schemas.microsoft.com/office/drawing/2014/main" val="2456275298"/>
                    </a:ext>
                  </a:extLst>
                </a:gridCol>
                <a:gridCol w="485030">
                  <a:extLst>
                    <a:ext uri="{9D8B030D-6E8A-4147-A177-3AD203B41FA5}">
                      <a16:colId xmlns:a16="http://schemas.microsoft.com/office/drawing/2014/main" val="2628024001"/>
                    </a:ext>
                  </a:extLst>
                </a:gridCol>
                <a:gridCol w="1351721">
                  <a:extLst>
                    <a:ext uri="{9D8B030D-6E8A-4147-A177-3AD203B41FA5}">
                      <a16:colId xmlns:a16="http://schemas.microsoft.com/office/drawing/2014/main" val="3443305828"/>
                    </a:ext>
                  </a:extLst>
                </a:gridCol>
                <a:gridCol w="592067">
                  <a:extLst>
                    <a:ext uri="{9D8B030D-6E8A-4147-A177-3AD203B41FA5}">
                      <a16:colId xmlns:a16="http://schemas.microsoft.com/office/drawing/2014/main" val="467886980"/>
                    </a:ext>
                  </a:extLst>
                </a:gridCol>
                <a:gridCol w="608580">
                  <a:extLst>
                    <a:ext uri="{9D8B030D-6E8A-4147-A177-3AD203B41FA5}">
                      <a16:colId xmlns:a16="http://schemas.microsoft.com/office/drawing/2014/main" val="3335649328"/>
                    </a:ext>
                  </a:extLst>
                </a:gridCol>
                <a:gridCol w="588454">
                  <a:extLst>
                    <a:ext uri="{9D8B030D-6E8A-4147-A177-3AD203B41FA5}">
                      <a16:colId xmlns:a16="http://schemas.microsoft.com/office/drawing/2014/main" val="318576603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349136741"/>
                    </a:ext>
                  </a:extLst>
                </a:gridCol>
                <a:gridCol w="601980">
                  <a:extLst>
                    <a:ext uri="{9D8B030D-6E8A-4147-A177-3AD203B41FA5}">
                      <a16:colId xmlns:a16="http://schemas.microsoft.com/office/drawing/2014/main" val="3444005785"/>
                    </a:ext>
                  </a:extLst>
                </a:gridCol>
                <a:gridCol w="561415">
                  <a:extLst>
                    <a:ext uri="{9D8B030D-6E8A-4147-A177-3AD203B41FA5}">
                      <a16:colId xmlns:a16="http://schemas.microsoft.com/office/drawing/2014/main" val="2510947321"/>
                    </a:ext>
                  </a:extLst>
                </a:gridCol>
              </a:tblGrid>
              <a:tr h="17189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관리번호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구분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실시구분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사전협의 안건명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등록일자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의뢰부서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 담당자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협의 담당자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검토현황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2172998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20240422-0001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계약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사전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감사정보시스템 고도화 계약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안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)..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2024-04-22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경영정보개발부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김감사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검토중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4286008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20240422-0002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규정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사후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내부통제규정 개정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안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검토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2024-04-22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준법추진부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이순신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4520361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8318247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2995972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6922068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2496027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9090623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1013522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7452504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9438507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5764802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7885334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774378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740571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3808077"/>
                  </a:ext>
                </a:extLst>
              </a:tr>
            </a:tbl>
          </a:graphicData>
        </a:graphic>
      </p:graphicFrame>
      <p:pic>
        <p:nvPicPr>
          <p:cNvPr id="45" name="그림 44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649464" y="2763101"/>
            <a:ext cx="159230" cy="144065"/>
          </a:xfrm>
          <a:prstGeom prst="rect">
            <a:avLst/>
          </a:prstGeom>
        </p:spPr>
      </p:pic>
      <p:pic>
        <p:nvPicPr>
          <p:cNvPr id="76" name="그림 7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649464" y="3114927"/>
            <a:ext cx="159230" cy="144065"/>
          </a:xfrm>
          <a:prstGeom prst="rect">
            <a:avLst/>
          </a:prstGeom>
        </p:spPr>
      </p:pic>
      <p:sp>
        <p:nvSpPr>
          <p:cNvPr id="77" name="타원 7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75290" y="152681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126380" y="2360065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3" name="타원 10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481526" y="2750083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3" name="직사각형 32"/>
          <p:cNvSpPr/>
          <p:nvPr/>
        </p:nvSpPr>
        <p:spPr bwMode="auto">
          <a:xfrm>
            <a:off x="2127917" y="3064215"/>
            <a:ext cx="1224883" cy="213827"/>
          </a:xfrm>
          <a:prstGeom prst="rect">
            <a:avLst/>
          </a:prstGeom>
          <a:noFill/>
          <a:ln w="15875">
            <a:solidFill>
              <a:srgbClr val="FFBF0D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971278" y="3076989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29" name="그림 28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13892" y="1815212"/>
            <a:ext cx="1449864" cy="2214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601445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927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사전협의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안건명을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클릭하여 해당 팝업을 표시한다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구분 항목 입력 시 목록에서 조회 가능 여부 확인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감사부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업무 담당자는 등록된 사전협의 안건을 확인하고 담당자를 지정할 수 있다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감사부에서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협의 담당자 지정하기 전까지는 미정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상태이며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담당자 지정 순간부터 ‘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검토중’으로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변경한다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담당자 지정 시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검토현황이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‘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검토중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’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으로 자동 변경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검토의견 상단에 ‘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자동문구’가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항상 노출되도록 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검토요청내용의 수정 또는 반려 등 기 등록된 협의 안건의 변경이 필요할 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감사부에서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‘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접수해제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’ 버튼을 눌러 최초 등록 상태로 변경해야만 가능하다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협의담당자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지정 이후 담당 검사역은 검토의견을 남기고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사전협의완료’ 버튼을 누름으로써 최종 완결 처리할 수 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이전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접수해제된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사전협의의 첨부파일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등록이력을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표시한다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MDD-00085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MDD75EC1001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일상감사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6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lvl="0" algn="l" defTabSz="914395" rtl="0" eaLnBrk="1" fontAlgn="auto" latinLnBrk="1" hangingPunct="1">
                        <a:spcBef>
                          <a:spcPts val="30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일상감사 사전협의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일상감사 </a:t>
                      </a:r>
                      <a:r>
                        <a:rPr kumimoji="0" lang="en-US" altLang="ko-KR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&gt; </a:t>
                      </a:r>
                      <a:r>
                        <a:rPr kumimoji="0" lang="ko-KR" altLang="en-US" sz="1050" kern="0" dirty="0" err="1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감사현황</a:t>
                      </a:r>
                      <a:r>
                        <a:rPr kumimoji="0" lang="ko-KR" altLang="en-US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</a:t>
                      </a:r>
                      <a:r>
                        <a:rPr kumimoji="0" lang="en-US" altLang="ko-KR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&gt; </a:t>
                      </a:r>
                      <a:r>
                        <a:rPr kumimoji="0" lang="ko-KR" altLang="en-US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일상감사 사전협의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(P128: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강지웅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30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69968" y="1163120"/>
            <a:ext cx="6726396" cy="319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5" name="양쪽 모서리가 둥근 사각형 34"/>
          <p:cNvSpPr/>
          <p:nvPr/>
        </p:nvSpPr>
        <p:spPr bwMode="auto">
          <a:xfrm>
            <a:off x="288073" y="953153"/>
            <a:ext cx="1341943" cy="238010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일상감사 사전협의</a:t>
            </a:r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03445" y="1000932"/>
            <a:ext cx="134087" cy="141144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88074" y="1154807"/>
            <a:ext cx="1882632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700" dirty="0">
                <a:solidFill>
                  <a:schemeClr val="dk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일상감사 사전협의</a:t>
            </a:r>
            <a:endParaRPr kumimoji="0" lang="ko-KR" altLang="en-US" sz="7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290838" y="1344477"/>
          <a:ext cx="6683586" cy="27208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89937">
                  <a:extLst>
                    <a:ext uri="{9D8B030D-6E8A-4147-A177-3AD203B41FA5}">
                      <a16:colId xmlns:a16="http://schemas.microsoft.com/office/drawing/2014/main" val="76529090"/>
                    </a:ext>
                  </a:extLst>
                </a:gridCol>
                <a:gridCol w="1971923">
                  <a:extLst>
                    <a:ext uri="{9D8B030D-6E8A-4147-A177-3AD203B41FA5}">
                      <a16:colId xmlns:a16="http://schemas.microsoft.com/office/drawing/2014/main" val="158312865"/>
                    </a:ext>
                  </a:extLst>
                </a:gridCol>
                <a:gridCol w="625389">
                  <a:extLst>
                    <a:ext uri="{9D8B030D-6E8A-4147-A177-3AD203B41FA5}">
                      <a16:colId xmlns:a16="http://schemas.microsoft.com/office/drawing/2014/main" val="4148962399"/>
                    </a:ext>
                  </a:extLst>
                </a:gridCol>
                <a:gridCol w="1582310">
                  <a:extLst>
                    <a:ext uri="{9D8B030D-6E8A-4147-A177-3AD203B41FA5}">
                      <a16:colId xmlns:a16="http://schemas.microsoft.com/office/drawing/2014/main" val="4247419316"/>
                    </a:ext>
                  </a:extLst>
                </a:gridCol>
                <a:gridCol w="652006">
                  <a:extLst>
                    <a:ext uri="{9D8B030D-6E8A-4147-A177-3AD203B41FA5}">
                      <a16:colId xmlns:a16="http://schemas.microsoft.com/office/drawing/2014/main" val="2040800478"/>
                    </a:ext>
                  </a:extLst>
                </a:gridCol>
                <a:gridCol w="1162021">
                  <a:extLst>
                    <a:ext uri="{9D8B030D-6E8A-4147-A177-3AD203B41FA5}">
                      <a16:colId xmlns:a16="http://schemas.microsoft.com/office/drawing/2014/main" val="2106116060"/>
                    </a:ext>
                  </a:extLst>
                </a:gridCol>
              </a:tblGrid>
              <a:tr h="272087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</a:rPr>
                        <a:t>조회기간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</a:rPr>
                        <a:t>의뢰부점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</a:rPr>
                        <a:t>검토현황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7870088"/>
                  </a:ext>
                </a:extLst>
              </a:tr>
            </a:tbl>
          </a:graphicData>
        </a:graphic>
      </p:graphicFrame>
      <p:grpSp>
        <p:nvGrpSpPr>
          <p:cNvPr id="6" name="그룹 5"/>
          <p:cNvGrpSpPr/>
          <p:nvPr/>
        </p:nvGrpSpPr>
        <p:grpSpPr>
          <a:xfrm>
            <a:off x="5877678" y="1025693"/>
            <a:ext cx="769638" cy="557331"/>
            <a:chOff x="6108246" y="1292958"/>
            <a:chExt cx="688071" cy="459695"/>
          </a:xfrm>
        </p:grpSpPr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6108246" y="1571738"/>
              <a:ext cx="688044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전체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27" name="이등변 삼각형 26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6687638" y="1652560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6108270" y="1292958"/>
              <a:ext cx="688047" cy="276198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schemeClr val="bg1">
                      <a:lumMod val="65000"/>
                    </a:schemeClr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등록</a:t>
              </a:r>
              <a:endPara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schemeClr val="bg1">
                      <a:lumMod val="65000"/>
                    </a:schemeClr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검토중</a:t>
              </a:r>
              <a:endParaRPr kumimoji="0" lang="en-US" altLang="ko-KR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normalizeH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협의완료</a:t>
              </a:r>
              <a:endParaRPr kumimoji="0" lang="en-US" altLang="ko-KR" sz="700" b="0" i="0" u="none" strike="noStrike" kern="1200" cap="none" normalizeH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pic>
        <p:nvPicPr>
          <p:cNvPr id="10" name="그림 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13892" y="1344115"/>
            <a:ext cx="1874347" cy="241851"/>
          </a:xfrm>
          <a:prstGeom prst="rect">
            <a:avLst/>
          </a:prstGeom>
        </p:spPr>
      </p:pic>
      <p:pic>
        <p:nvPicPr>
          <p:cNvPr id="11" name="그림 10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19244" y="1356607"/>
            <a:ext cx="1449864" cy="221408"/>
          </a:xfrm>
          <a:prstGeom prst="rect">
            <a:avLst/>
          </a:prstGeom>
        </p:spPr>
      </p:pic>
      <p:sp>
        <p:nvSpPr>
          <p:cNvPr id="4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367757" y="1740902"/>
            <a:ext cx="670099" cy="185873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엑셀출력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44" name="표 43"/>
          <p:cNvGraphicFramePr>
            <a:graphicFrameLocks noGrp="1"/>
          </p:cNvGraphicFramePr>
          <p:nvPr>
            <p:extLst/>
          </p:nvPr>
        </p:nvGraphicFramePr>
        <p:xfrm>
          <a:off x="269968" y="2097591"/>
          <a:ext cx="6727091" cy="1097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2466">
                  <a:extLst>
                    <a:ext uri="{9D8B030D-6E8A-4147-A177-3AD203B41FA5}">
                      <a16:colId xmlns:a16="http://schemas.microsoft.com/office/drawing/2014/main" val="2508274086"/>
                    </a:ext>
                  </a:extLst>
                </a:gridCol>
                <a:gridCol w="753872">
                  <a:extLst>
                    <a:ext uri="{9D8B030D-6E8A-4147-A177-3AD203B41FA5}">
                      <a16:colId xmlns:a16="http://schemas.microsoft.com/office/drawing/2014/main" val="3559033718"/>
                    </a:ext>
                  </a:extLst>
                </a:gridCol>
                <a:gridCol w="341906">
                  <a:extLst>
                    <a:ext uri="{9D8B030D-6E8A-4147-A177-3AD203B41FA5}">
                      <a16:colId xmlns:a16="http://schemas.microsoft.com/office/drawing/2014/main" val="2456275298"/>
                    </a:ext>
                  </a:extLst>
                </a:gridCol>
                <a:gridCol w="485030">
                  <a:extLst>
                    <a:ext uri="{9D8B030D-6E8A-4147-A177-3AD203B41FA5}">
                      <a16:colId xmlns:a16="http://schemas.microsoft.com/office/drawing/2014/main" val="2628024001"/>
                    </a:ext>
                  </a:extLst>
                </a:gridCol>
                <a:gridCol w="1351721">
                  <a:extLst>
                    <a:ext uri="{9D8B030D-6E8A-4147-A177-3AD203B41FA5}">
                      <a16:colId xmlns:a16="http://schemas.microsoft.com/office/drawing/2014/main" val="3443305828"/>
                    </a:ext>
                  </a:extLst>
                </a:gridCol>
                <a:gridCol w="592067">
                  <a:extLst>
                    <a:ext uri="{9D8B030D-6E8A-4147-A177-3AD203B41FA5}">
                      <a16:colId xmlns:a16="http://schemas.microsoft.com/office/drawing/2014/main" val="467886980"/>
                    </a:ext>
                  </a:extLst>
                </a:gridCol>
                <a:gridCol w="608580">
                  <a:extLst>
                    <a:ext uri="{9D8B030D-6E8A-4147-A177-3AD203B41FA5}">
                      <a16:colId xmlns:a16="http://schemas.microsoft.com/office/drawing/2014/main" val="3335649328"/>
                    </a:ext>
                  </a:extLst>
                </a:gridCol>
                <a:gridCol w="588454">
                  <a:extLst>
                    <a:ext uri="{9D8B030D-6E8A-4147-A177-3AD203B41FA5}">
                      <a16:colId xmlns:a16="http://schemas.microsoft.com/office/drawing/2014/main" val="318576603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349136741"/>
                    </a:ext>
                  </a:extLst>
                </a:gridCol>
                <a:gridCol w="601980">
                  <a:extLst>
                    <a:ext uri="{9D8B030D-6E8A-4147-A177-3AD203B41FA5}">
                      <a16:colId xmlns:a16="http://schemas.microsoft.com/office/drawing/2014/main" val="3444005785"/>
                    </a:ext>
                  </a:extLst>
                </a:gridCol>
                <a:gridCol w="561415">
                  <a:extLst>
                    <a:ext uri="{9D8B030D-6E8A-4147-A177-3AD203B41FA5}">
                      <a16:colId xmlns:a16="http://schemas.microsoft.com/office/drawing/2014/main" val="2510947321"/>
                    </a:ext>
                  </a:extLst>
                </a:gridCol>
              </a:tblGrid>
              <a:tr h="17189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관리번호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구분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실시구분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사전협의 안건명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등록일자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의뢰부서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 담당자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협의 담당자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검토현황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2172998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20240422-0001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계약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사전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감사정보시스템 고도화 계약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안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)..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2024-04-22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경영정보개발부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김감사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검토중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4286008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20240422-0002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규정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사후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내부통제규정 개정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안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검토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2024-04-22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준법추진부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이순신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4520361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8318247"/>
                  </a:ext>
                </a:extLst>
              </a:tr>
            </a:tbl>
          </a:graphicData>
        </a:graphic>
      </p:graphicFrame>
      <p:sp>
        <p:nvSpPr>
          <p:cNvPr id="54" name="직사각형 53"/>
          <p:cNvSpPr/>
          <p:nvPr/>
        </p:nvSpPr>
        <p:spPr bwMode="auto">
          <a:xfrm>
            <a:off x="2127917" y="2698456"/>
            <a:ext cx="1224883" cy="213827"/>
          </a:xfrm>
          <a:prstGeom prst="rect">
            <a:avLst/>
          </a:prstGeom>
          <a:noFill/>
          <a:ln w="15875">
            <a:solidFill>
              <a:srgbClr val="FFBF0D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958776" y="2701605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82" name="구부러진 연결선 81"/>
          <p:cNvCxnSpPr>
            <a:stCxn id="54" idx="0"/>
            <a:endCxn id="58" idx="1"/>
          </p:cNvCxnSpPr>
          <p:nvPr/>
        </p:nvCxnSpPr>
        <p:spPr bwMode="auto">
          <a:xfrm rot="5400000" flipH="1" flipV="1">
            <a:off x="2476996" y="2071195"/>
            <a:ext cx="890625" cy="363898"/>
          </a:xfrm>
          <a:prstGeom prst="curvedConnector2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grpSp>
        <p:nvGrpSpPr>
          <p:cNvPr id="83" name="그룹 82"/>
          <p:cNvGrpSpPr/>
          <p:nvPr/>
        </p:nvGrpSpPr>
        <p:grpSpPr>
          <a:xfrm>
            <a:off x="5965139" y="1041595"/>
            <a:ext cx="769638" cy="557331"/>
            <a:chOff x="6108246" y="1292958"/>
            <a:chExt cx="688071" cy="459695"/>
          </a:xfrm>
        </p:grpSpPr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6108246" y="1571738"/>
              <a:ext cx="688044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전체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85" name="이등변 삼각형 84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6687638" y="1652560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6108270" y="1292958"/>
              <a:ext cx="688047" cy="276198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schemeClr val="bg1">
                      <a:lumMod val="65000"/>
                    </a:schemeClr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등록</a:t>
              </a:r>
              <a:endPara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schemeClr val="bg1">
                      <a:lumMod val="65000"/>
                    </a:schemeClr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검토중</a:t>
              </a:r>
              <a:endParaRPr kumimoji="0" lang="en-US" altLang="ko-KR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normalizeH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협의완료</a:t>
              </a:r>
              <a:endParaRPr kumimoji="0" lang="en-US" altLang="ko-KR" sz="700" b="0" i="0" u="none" strike="noStrike" kern="1200" cap="none" normalizeH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pic>
        <p:nvPicPr>
          <p:cNvPr id="97" name="그림 9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06705" y="1372509"/>
            <a:ext cx="1449864" cy="221408"/>
          </a:xfrm>
          <a:prstGeom prst="rect">
            <a:avLst/>
          </a:prstGeom>
        </p:spPr>
      </p:pic>
      <p:sp>
        <p:nvSpPr>
          <p:cNvPr id="9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931429" y="1658228"/>
            <a:ext cx="481290" cy="185873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100" name="그룹 99"/>
          <p:cNvGrpSpPr/>
          <p:nvPr/>
        </p:nvGrpSpPr>
        <p:grpSpPr>
          <a:xfrm>
            <a:off x="3235504" y="981976"/>
            <a:ext cx="3569850" cy="5380743"/>
            <a:chOff x="6514593" y="1076782"/>
            <a:chExt cx="3569850" cy="411621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grpSp>
          <p:nvGrpSpPr>
            <p:cNvPr id="101" name="그룹 100"/>
            <p:cNvGrpSpPr/>
            <p:nvPr/>
          </p:nvGrpSpPr>
          <p:grpSpPr>
            <a:xfrm>
              <a:off x="6515186" y="1081584"/>
              <a:ext cx="3569257" cy="4111417"/>
              <a:chOff x="6515186" y="1081584"/>
              <a:chExt cx="3569257" cy="4111417"/>
            </a:xfrm>
          </p:grpSpPr>
          <p:pic>
            <p:nvPicPr>
              <p:cNvPr id="103" name="그림 102"/>
              <p:cNvPicPr>
                <a:picLocks noChangeAspect="1"/>
              </p:cNvPicPr>
              <p:nvPr/>
            </p:nvPicPr>
            <p:blipFill rotWithShape="1">
              <a:blip r:embed="rId5"/>
              <a:srcRect t="16282" b="1"/>
              <a:stretch/>
            </p:blipFill>
            <p:spPr>
              <a:xfrm>
                <a:off x="6515186" y="3278397"/>
                <a:ext cx="3568959" cy="1914604"/>
              </a:xfrm>
              <a:prstGeom prst="rect">
                <a:avLst/>
              </a:prstGeom>
              <a:effectLst/>
            </p:spPr>
          </p:pic>
          <p:grpSp>
            <p:nvGrpSpPr>
              <p:cNvPr id="104" name="그룹 103"/>
              <p:cNvGrpSpPr/>
              <p:nvPr/>
            </p:nvGrpSpPr>
            <p:grpSpPr>
              <a:xfrm>
                <a:off x="6515187" y="1083978"/>
                <a:ext cx="3569256" cy="4046913"/>
                <a:chOff x="6599550" y="-765688"/>
                <a:chExt cx="3569256" cy="4046913"/>
              </a:xfrm>
              <a:effectLst/>
            </p:grpSpPr>
            <p:pic>
              <p:nvPicPr>
                <p:cNvPr id="106" name="그림 105"/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6599550" y="-765688"/>
                  <a:ext cx="3569256" cy="2294321"/>
                </a:xfrm>
                <a:prstGeom prst="rect">
                  <a:avLst/>
                </a:prstGeom>
                <a:effectLst/>
              </p:spPr>
            </p:pic>
            <p:sp>
              <p:nvSpPr>
                <p:cNvPr id="107" name="직사각형 106"/>
                <p:cNvSpPr/>
                <p:nvPr/>
              </p:nvSpPr>
              <p:spPr bwMode="auto">
                <a:xfrm>
                  <a:off x="6618006" y="-514351"/>
                  <a:ext cx="3531750" cy="3795576"/>
                </a:xfrm>
                <a:prstGeom prst="rect">
                  <a:avLst/>
                </a:prstGeom>
                <a:solidFill>
                  <a:schemeClr val="bg1"/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triangle" w="med" len="med"/>
                </a:ln>
                <a:effectLst/>
              </p:spPr>
              <p:txBody>
                <a:bodyPr vert="horz" wrap="square" lIns="36000" tIns="45720" rIns="36000" bIns="45720" numCol="1" rtlCol="0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5725" marR="0" indent="-85725" algn="ctr" defTabSz="91440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ko-KR" altLang="en-US" sz="1400" b="1" i="0" u="none" strike="noStrike" kern="0" cap="none" normalizeH="0" baseline="0" noProof="0" smtClean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KB금융 본문체 Medium" panose="020B0603000000000000" pitchFamily="50" charset="-127"/>
                    <a:ea typeface="KB금융 본문체 Medium" panose="020B0603000000000000" pitchFamily="50" charset="-127"/>
                  </a:endParaRPr>
                </a:p>
              </p:txBody>
            </p:sp>
          </p:grpSp>
          <p:sp>
            <p:nvSpPr>
              <p:cNvPr id="105" name="직사각형 104"/>
              <p:cNvSpPr/>
              <p:nvPr/>
            </p:nvSpPr>
            <p:spPr bwMode="auto">
              <a:xfrm>
                <a:off x="6533643" y="1081584"/>
                <a:ext cx="3531750" cy="154000"/>
              </a:xfrm>
              <a:prstGeom prst="rect">
                <a:avLst/>
              </a:prstGeom>
              <a:solidFill>
                <a:srgbClr val="B1ACA8"/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vert="horz" wrap="square" lIns="36000" tIns="45720" rIns="36000" bIns="4572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85725" marR="0" indent="-85725" algn="ctr" defTabSz="91440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ko-KR" altLang="en-US" sz="1400" b="1" i="0" u="none" strike="noStrike" kern="0" cap="none" normalizeH="0" baseline="0" noProof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endParaRPr>
              </a:p>
            </p:txBody>
          </p:sp>
        </p:grpSp>
        <p:sp>
          <p:nvSpPr>
            <p:cNvPr id="102" name="TextBox 101"/>
            <p:cNvSpPr txBox="1"/>
            <p:nvPr/>
          </p:nvSpPr>
          <p:spPr>
            <a:xfrm>
              <a:off x="6514593" y="1076782"/>
              <a:ext cx="1438145" cy="2308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0" lang="ko-KR" altLang="en-US" sz="900" dirty="0" smtClean="0">
                  <a:solidFill>
                    <a:srgbClr val="000000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일상감사 사전협의 등록</a:t>
              </a:r>
              <a:endParaRPr kumimoji="0" lang="ko-KR" altLang="en-US" sz="9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graphicFrame>
        <p:nvGraphicFramePr>
          <p:cNvPr id="108" name="표 107"/>
          <p:cNvGraphicFramePr>
            <a:graphicFrameLocks noGrp="1"/>
          </p:cNvGraphicFramePr>
          <p:nvPr>
            <p:extLst/>
          </p:nvPr>
        </p:nvGraphicFramePr>
        <p:xfrm>
          <a:off x="3319076" y="1254098"/>
          <a:ext cx="3388417" cy="46554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0564">
                  <a:extLst>
                    <a:ext uri="{9D8B030D-6E8A-4147-A177-3AD203B41FA5}">
                      <a16:colId xmlns:a16="http://schemas.microsoft.com/office/drawing/2014/main" val="1630994582"/>
                    </a:ext>
                  </a:extLst>
                </a:gridCol>
                <a:gridCol w="127606">
                  <a:extLst>
                    <a:ext uri="{9D8B030D-6E8A-4147-A177-3AD203B41FA5}">
                      <a16:colId xmlns:a16="http://schemas.microsoft.com/office/drawing/2014/main" val="2045752900"/>
                    </a:ext>
                  </a:extLst>
                </a:gridCol>
                <a:gridCol w="245787">
                  <a:extLst>
                    <a:ext uri="{9D8B030D-6E8A-4147-A177-3AD203B41FA5}">
                      <a16:colId xmlns:a16="http://schemas.microsoft.com/office/drawing/2014/main" val="2310995700"/>
                    </a:ext>
                  </a:extLst>
                </a:gridCol>
                <a:gridCol w="823914">
                  <a:extLst>
                    <a:ext uri="{9D8B030D-6E8A-4147-A177-3AD203B41FA5}">
                      <a16:colId xmlns:a16="http://schemas.microsoft.com/office/drawing/2014/main" val="3673452521"/>
                    </a:ext>
                  </a:extLst>
                </a:gridCol>
                <a:gridCol w="34074">
                  <a:extLst>
                    <a:ext uri="{9D8B030D-6E8A-4147-A177-3AD203B41FA5}">
                      <a16:colId xmlns:a16="http://schemas.microsoft.com/office/drawing/2014/main" val="1522939244"/>
                    </a:ext>
                  </a:extLst>
                </a:gridCol>
                <a:gridCol w="458938">
                  <a:extLst>
                    <a:ext uri="{9D8B030D-6E8A-4147-A177-3AD203B41FA5}">
                      <a16:colId xmlns:a16="http://schemas.microsoft.com/office/drawing/2014/main" val="2662453202"/>
                    </a:ext>
                  </a:extLst>
                </a:gridCol>
                <a:gridCol w="250184">
                  <a:extLst>
                    <a:ext uri="{9D8B030D-6E8A-4147-A177-3AD203B41FA5}">
                      <a16:colId xmlns:a16="http://schemas.microsoft.com/office/drawing/2014/main" val="3707926986"/>
                    </a:ext>
                  </a:extLst>
                </a:gridCol>
                <a:gridCol w="556591">
                  <a:extLst>
                    <a:ext uri="{9D8B030D-6E8A-4147-A177-3AD203B41FA5}">
                      <a16:colId xmlns:a16="http://schemas.microsoft.com/office/drawing/2014/main" val="34714490"/>
                    </a:ext>
                  </a:extLst>
                </a:gridCol>
                <a:gridCol w="230592">
                  <a:extLst>
                    <a:ext uri="{9D8B030D-6E8A-4147-A177-3AD203B41FA5}">
                      <a16:colId xmlns:a16="http://schemas.microsoft.com/office/drawing/2014/main" val="2628953088"/>
                    </a:ext>
                  </a:extLst>
                </a:gridCol>
                <a:gridCol w="140167">
                  <a:extLst>
                    <a:ext uri="{9D8B030D-6E8A-4147-A177-3AD203B41FA5}">
                      <a16:colId xmlns:a16="http://schemas.microsoft.com/office/drawing/2014/main" val="4064635312"/>
                    </a:ext>
                  </a:extLst>
                </a:gridCol>
              </a:tblGrid>
              <a:tr h="1939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관리번호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구분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8451336"/>
                  </a:ext>
                </a:extLst>
              </a:tr>
              <a:tr h="1939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안건명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16464564"/>
                  </a:ext>
                </a:extLst>
              </a:tr>
              <a:tr h="1939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의뢰부서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의뢰자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61806225"/>
                  </a:ext>
                </a:extLst>
              </a:tr>
              <a:tr h="1939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실시구분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73589243"/>
                  </a:ext>
                </a:extLst>
              </a:tr>
              <a:tr h="20520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시행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예정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3782892"/>
                  </a:ext>
                </a:extLst>
              </a:tr>
              <a:tr h="74467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검토요청내용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54201637"/>
                  </a:ext>
                </a:extLst>
              </a:tr>
              <a:tr h="89590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1425522"/>
                  </a:ext>
                </a:extLst>
              </a:tr>
              <a:tr h="1654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파일명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 크기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41310993"/>
                  </a:ext>
                </a:extLst>
              </a:tr>
              <a:tr h="1368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l" latinLnBrk="1"/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파일명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103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45710"/>
                  </a:ext>
                </a:extLst>
              </a:tr>
              <a:tr h="2231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4389700"/>
                  </a:ext>
                </a:extLst>
              </a:tr>
              <a:tr h="11926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9060108"/>
                  </a:ext>
                </a:extLst>
              </a:tr>
              <a:tr h="795131"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35101870"/>
                  </a:ext>
                </a:extLst>
              </a:tr>
              <a:tr h="1939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협의 담당자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검토현황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latinLnBrk="1"/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86258782"/>
                  </a:ext>
                </a:extLst>
              </a:tr>
              <a:tr h="58372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검토의견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76678514"/>
                  </a:ext>
                </a:extLst>
              </a:tr>
              <a:tr h="58372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비고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타부서에서는 조회 되지 않고 </a:t>
                      </a:r>
                      <a:r>
                        <a:rPr lang="ko-KR" altLang="en-US" sz="700" b="1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감사역에게</a:t>
                      </a:r>
                      <a:r>
                        <a:rPr lang="ko-KR" altLang="en-US" sz="700" b="1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만 조회 가능</a:t>
                      </a:r>
                      <a:endParaRPr lang="en-US" altLang="ko-KR" sz="700" b="1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90317588"/>
                  </a:ext>
                </a:extLst>
              </a:tr>
            </a:tbl>
          </a:graphicData>
        </a:graphic>
      </p:graphicFrame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868766" y="1283298"/>
            <a:ext cx="1162542" cy="149692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20240422-0001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110" name="그룹 109"/>
          <p:cNvGrpSpPr/>
          <p:nvPr/>
        </p:nvGrpSpPr>
        <p:grpSpPr>
          <a:xfrm>
            <a:off x="5559117" y="1273164"/>
            <a:ext cx="595541" cy="149692"/>
            <a:chOff x="2657346" y="3150094"/>
            <a:chExt cx="595541" cy="149692"/>
          </a:xfrm>
        </p:grpSpPr>
        <p:sp>
          <p:nvSpPr>
            <p:cNvPr id="111" name="직사각형 110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2657346" y="3150094"/>
              <a:ext cx="595541" cy="14969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규정 </a:t>
              </a:r>
              <a:r>
                <a:rPr kumimoji="0" lang="en-US" altLang="ko-KR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(</a:t>
              </a:r>
              <a:r>
                <a:rPr kumimoji="0" lang="ko-KR" altLang="en-US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선택</a:t>
              </a:r>
              <a:r>
                <a:rPr kumimoji="0" lang="en-US" altLang="ko-KR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)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112" name="이등변 삼각형 111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3165004" y="3200897"/>
              <a:ext cx="64813" cy="4571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895653" y="2265761"/>
            <a:ext cx="2728391" cy="656131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내부통제규정 개정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안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에 대한 사전협의 부탁드립니다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.</a:t>
            </a:r>
            <a:endParaRPr kumimoji="0" lang="en-US" altLang="ko-KR" sz="70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근거 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상임감사위원직무규정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-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별표</a:t>
            </a:r>
            <a:r>
              <a:rPr kumimoji="0" lang="en-US" altLang="ko-KR" sz="70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2-1.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정관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규정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지침 및 업무매뉴얼의 </a:t>
            </a:r>
            <a:endParaRPr kumimoji="0" lang="en-US" altLang="ko-KR" sz="70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  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개정</a:t>
            </a:r>
            <a:endParaRPr kumimoji="0" lang="en-US" altLang="ko-KR" sz="70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개정예정일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2024-05-02(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목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관련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현황 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2024-04-18</a:t>
            </a:r>
            <a:r>
              <a:rPr kumimoji="0" lang="en-US" altLang="ko-KR" sz="700" b="0" i="0" u="none" strike="noStrike" kern="1200" cap="none" spc="0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ko-KR" altLang="en-US" sz="700" b="0" i="0" u="none" strike="noStrike" kern="1200" cap="none" spc="0" normalizeH="0" noProof="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법무팀</a:t>
            </a:r>
            <a:r>
              <a:rPr kumimoji="0" lang="ko-KR" altLang="en-US" sz="700" b="0" i="0" u="none" strike="noStrike" kern="1200" cap="none" spc="0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사전협의 완료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114" name="그룹 113"/>
          <p:cNvGrpSpPr/>
          <p:nvPr/>
        </p:nvGrpSpPr>
        <p:grpSpPr>
          <a:xfrm>
            <a:off x="3885783" y="1844970"/>
            <a:ext cx="656238" cy="161131"/>
            <a:chOff x="1181731" y="3020257"/>
            <a:chExt cx="656238" cy="161131"/>
          </a:xfrm>
        </p:grpSpPr>
        <p:sp>
          <p:nvSpPr>
            <p:cNvPr id="115" name="직사각형 114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181731" y="3020257"/>
              <a:ext cx="656238" cy="161131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사전 </a:t>
              </a:r>
              <a:r>
                <a:rPr kumimoji="0" lang="en-US" altLang="ko-KR" sz="70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/ </a:t>
              </a:r>
              <a:r>
                <a:rPr kumimoji="0" lang="ko-KR" altLang="en-US" sz="70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사후</a:t>
              </a:r>
              <a:endParaRPr kumimoji="0" lang="ko-KR" altLang="en-US" sz="7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116" name="이등변 삼각형 115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1717481" y="3072876"/>
              <a:ext cx="80732" cy="57807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871140" y="1468372"/>
            <a:ext cx="2776757" cy="148406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내부통제규정 개정</a:t>
            </a:r>
            <a:r>
              <a:rPr kumimoji="0" lang="en-US" altLang="ko-KR" sz="700" b="0" i="0" u="none" strike="noStrike" kern="1200" cap="none" spc="0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b="0" i="0" u="none" strike="noStrike" kern="1200" cap="none" spc="0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안</a:t>
            </a:r>
            <a:r>
              <a:rPr kumimoji="0" lang="en-US" altLang="ko-KR" sz="700" b="0" i="0" u="none" strike="noStrike" kern="1200" cap="none" spc="0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70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검토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18" name="그림 117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84668" y="1654595"/>
            <a:ext cx="1117421" cy="179533"/>
          </a:xfrm>
          <a:prstGeom prst="rect">
            <a:avLst/>
          </a:prstGeom>
        </p:spPr>
      </p:pic>
      <p:pic>
        <p:nvPicPr>
          <p:cNvPr id="119" name="그림 118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559117" y="1654595"/>
            <a:ext cx="1117421" cy="179533"/>
          </a:xfrm>
          <a:prstGeom prst="rect">
            <a:avLst/>
          </a:prstGeom>
        </p:spPr>
      </p:pic>
      <p:pic>
        <p:nvPicPr>
          <p:cNvPr id="120" name="그림 119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884554" y="2041569"/>
            <a:ext cx="775444" cy="197262"/>
          </a:xfrm>
          <a:prstGeom prst="rect">
            <a:avLst/>
          </a:prstGeom>
        </p:spPr>
      </p:pic>
      <p:sp>
        <p:nvSpPr>
          <p:cNvPr id="12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963453" y="6013069"/>
            <a:ext cx="595664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prstClr val="white"/>
                </a:solidFill>
                <a:latin typeface="KB금융 본문체 Medium"/>
                <a:ea typeface="KB금융 본문체 Medium"/>
              </a:rPr>
              <a:t>사전협의</a:t>
            </a:r>
            <a:r>
              <a:rPr kumimoji="0" lang="ko-KR" altLang="en-US" sz="800" spc="-100" noProof="0" dirty="0" smtClean="0">
                <a:solidFill>
                  <a:prstClr val="white"/>
                </a:solidFill>
                <a:latin typeface="KB금융 본문체 Medium"/>
                <a:ea typeface="KB금융 본문체 Medium"/>
              </a:rPr>
              <a:t>완료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/>
              <a:ea typeface="KB금융 본문체 Medium"/>
              <a:cs typeface="+mn-cs"/>
            </a:endParaRPr>
          </a:p>
        </p:txBody>
      </p:sp>
      <p:sp>
        <p:nvSpPr>
          <p:cNvPr id="12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463466" y="6013069"/>
            <a:ext cx="472192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/>
                <a:ea typeface="KB금융 본문체 Medium"/>
              </a:rPr>
              <a:t>접수해제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/>
              <a:ea typeface="KB금융 본문체 Medium"/>
            </a:endParaRPr>
          </a:p>
        </p:txBody>
      </p:sp>
      <p:sp>
        <p:nvSpPr>
          <p:cNvPr id="123" name="타원 12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410545" y="1218430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294644" y="597451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6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25" name="직사각형 124"/>
          <p:cNvSpPr/>
          <p:nvPr/>
        </p:nvSpPr>
        <p:spPr bwMode="auto">
          <a:xfrm>
            <a:off x="4463467" y="6011418"/>
            <a:ext cx="472192" cy="187828"/>
          </a:xfrm>
          <a:prstGeom prst="rect">
            <a:avLst/>
          </a:prstGeom>
          <a:noFill/>
          <a:ln w="15875">
            <a:solidFill>
              <a:srgbClr val="FFBF0D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26" name="직사각형 125"/>
          <p:cNvSpPr/>
          <p:nvPr/>
        </p:nvSpPr>
        <p:spPr bwMode="auto">
          <a:xfrm>
            <a:off x="4976105" y="6000720"/>
            <a:ext cx="583012" cy="198525"/>
          </a:xfrm>
          <a:prstGeom prst="rect">
            <a:avLst/>
          </a:prstGeom>
          <a:noFill/>
          <a:ln w="15875">
            <a:solidFill>
              <a:srgbClr val="FFBF0D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27" name="타원 12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518916" y="6002399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7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28" name="표 127"/>
          <p:cNvGraphicFramePr>
            <a:graphicFrameLocks noGrp="1"/>
          </p:cNvGraphicFramePr>
          <p:nvPr>
            <p:extLst/>
          </p:nvPr>
        </p:nvGraphicFramePr>
        <p:xfrm>
          <a:off x="3315140" y="3814837"/>
          <a:ext cx="3388418" cy="73237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0564">
                  <a:extLst>
                    <a:ext uri="{9D8B030D-6E8A-4147-A177-3AD203B41FA5}">
                      <a16:colId xmlns:a16="http://schemas.microsoft.com/office/drawing/2014/main" val="1574310418"/>
                    </a:ext>
                  </a:extLst>
                </a:gridCol>
                <a:gridCol w="127606">
                  <a:extLst>
                    <a:ext uri="{9D8B030D-6E8A-4147-A177-3AD203B41FA5}">
                      <a16:colId xmlns:a16="http://schemas.microsoft.com/office/drawing/2014/main" val="677103711"/>
                    </a:ext>
                  </a:extLst>
                </a:gridCol>
                <a:gridCol w="245787">
                  <a:extLst>
                    <a:ext uri="{9D8B030D-6E8A-4147-A177-3AD203B41FA5}">
                      <a16:colId xmlns:a16="http://schemas.microsoft.com/office/drawing/2014/main" val="256640699"/>
                    </a:ext>
                  </a:extLst>
                </a:gridCol>
                <a:gridCol w="394708">
                  <a:extLst>
                    <a:ext uri="{9D8B030D-6E8A-4147-A177-3AD203B41FA5}">
                      <a16:colId xmlns:a16="http://schemas.microsoft.com/office/drawing/2014/main" val="3700995535"/>
                    </a:ext>
                  </a:extLst>
                </a:gridCol>
                <a:gridCol w="429206">
                  <a:extLst>
                    <a:ext uri="{9D8B030D-6E8A-4147-A177-3AD203B41FA5}">
                      <a16:colId xmlns:a16="http://schemas.microsoft.com/office/drawing/2014/main" val="2512485912"/>
                    </a:ext>
                  </a:extLst>
                </a:gridCol>
                <a:gridCol w="34074">
                  <a:extLst>
                    <a:ext uri="{9D8B030D-6E8A-4147-A177-3AD203B41FA5}">
                      <a16:colId xmlns:a16="http://schemas.microsoft.com/office/drawing/2014/main" val="2333362673"/>
                    </a:ext>
                  </a:extLst>
                </a:gridCol>
                <a:gridCol w="458938">
                  <a:extLst>
                    <a:ext uri="{9D8B030D-6E8A-4147-A177-3AD203B41FA5}">
                      <a16:colId xmlns:a16="http://schemas.microsoft.com/office/drawing/2014/main" val="3273711657"/>
                    </a:ext>
                  </a:extLst>
                </a:gridCol>
                <a:gridCol w="475766">
                  <a:extLst>
                    <a:ext uri="{9D8B030D-6E8A-4147-A177-3AD203B41FA5}">
                      <a16:colId xmlns:a16="http://schemas.microsoft.com/office/drawing/2014/main" val="3428438213"/>
                    </a:ext>
                  </a:extLst>
                </a:gridCol>
                <a:gridCol w="331010">
                  <a:extLst>
                    <a:ext uri="{9D8B030D-6E8A-4147-A177-3AD203B41FA5}">
                      <a16:colId xmlns:a16="http://schemas.microsoft.com/office/drawing/2014/main" val="657355940"/>
                    </a:ext>
                  </a:extLst>
                </a:gridCol>
                <a:gridCol w="230592">
                  <a:extLst>
                    <a:ext uri="{9D8B030D-6E8A-4147-A177-3AD203B41FA5}">
                      <a16:colId xmlns:a16="http://schemas.microsoft.com/office/drawing/2014/main" val="3785273377"/>
                    </a:ext>
                  </a:extLst>
                </a:gridCol>
                <a:gridCol w="140167">
                  <a:extLst>
                    <a:ext uri="{9D8B030D-6E8A-4147-A177-3AD203B41FA5}">
                      <a16:colId xmlns:a16="http://schemas.microsoft.com/office/drawing/2014/main" val="2755524367"/>
                    </a:ext>
                  </a:extLst>
                </a:gridCol>
              </a:tblGrid>
              <a:tr h="110500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첨부파일</a:t>
                      </a:r>
                      <a:endParaRPr lang="en-US" altLang="ko-KR" sz="7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algn="ctr" fontAlgn="ctr"/>
                      <a:r>
                        <a:rPr lang="ko-KR" altLang="en-US" sz="7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등록이력</a:t>
                      </a:r>
                      <a:endParaRPr lang="en-US" altLang="ko-KR" sz="7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218" marR="3218" marT="3218" marB="0" anchor="ctr"/>
                </a:tc>
                <a:tc h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/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 marL="3218" marR="3218" marT="3218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mpd="sng">
                      <a:noFill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3998576"/>
                  </a:ext>
                </a:extLst>
              </a:tr>
              <a:tr h="12395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차수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파일명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218" marR="3218" marT="3218" marB="0" anchor="ctr"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218" marR="3218" marT="3218" marB="0"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 크기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등록일시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T w="12700" cmpd="sng">
                      <a:noFill/>
                    </a:lnT>
                    <a:lnB w="12700" cmpd="sng"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4264257"/>
                  </a:ext>
                </a:extLst>
              </a:tr>
              <a:tr h="12395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1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파일명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103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r" latinLnBrk="1"/>
                      <a:r>
                        <a:rPr lang="en-US" altLang="ko-KR" sz="5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202-01-01</a:t>
                      </a:r>
                    </a:p>
                    <a:p>
                      <a:pPr algn="r" latinLnBrk="1"/>
                      <a:r>
                        <a:rPr lang="en-US" altLang="ko-KR" sz="5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10:50:00</a:t>
                      </a:r>
                      <a:endParaRPr lang="ko-KR" altLang="en-US" sz="5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mpd="sng">
                      <a:noFill/>
                    </a:lnT>
                    <a:lnB w="12700" cmpd="sng"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5543588"/>
                  </a:ext>
                </a:extLst>
              </a:tr>
              <a:tr h="9704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218" marR="3218" marT="3218" marB="0" anchor="ctr"/>
                </a:tc>
                <a:tc h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T w="12700" cmpd="sng">
                      <a:noFill/>
                    </a:lnT>
                    <a:lnB w="12700" cmpd="sng"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140702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mpd="sng">
                      <a:noFill/>
                    </a:lnL>
                    <a:lnR w="12700" cmpd="sng">
                      <a:noFill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6"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mpd="sng">
                      <a:noFill/>
                    </a:lnL>
                    <a:lnR w="12700" cmpd="sng">
                      <a:noFill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mpd="sng">
                      <a:noFill/>
                    </a:lnL>
                    <a:lnR w="12700" cmpd="sng">
                      <a:noFill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mpd="sng">
                      <a:noFill/>
                    </a:lnL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8011057"/>
                  </a:ext>
                </a:extLst>
              </a:tr>
            </a:tbl>
          </a:graphicData>
        </a:graphic>
      </p:graphicFrame>
      <p:pic>
        <p:nvPicPr>
          <p:cNvPr id="129" name="그림 128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03604" y="4544856"/>
            <a:ext cx="1092866" cy="166891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3895653" y="4800335"/>
            <a:ext cx="2752244" cy="461665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[</a:t>
            </a:r>
            <a:r>
              <a:rPr lang="ko-KR" altLang="en-US" sz="6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자동문구</a:t>
            </a:r>
            <a:r>
              <a:rPr lang="en-US" altLang="ko-KR" sz="6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] </a:t>
            </a:r>
            <a:r>
              <a:rPr lang="ko-KR" altLang="en-US" sz="6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해당 단계는 담당 감사역의 검토가 완료된 단계로서</a:t>
            </a:r>
            <a:r>
              <a:rPr lang="en-US" altLang="ko-KR" sz="6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</a:p>
          <a:p>
            <a:r>
              <a:rPr lang="en-US" altLang="ko-KR" sz="6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lang="ko-KR" altLang="en-US" sz="6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최종 보고단계에서 반려 및 수정요청사항이 발생 할 수 </a:t>
            </a:r>
            <a:r>
              <a:rPr lang="ko-KR" altLang="en-US" sz="6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있습니다</a:t>
            </a:r>
            <a:endParaRPr lang="ko-KR" altLang="en-US" sz="6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r>
              <a:rPr lang="ko-KR" altLang="en-US" sz="6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본 건 검토결과 특이사항 없습니다</a:t>
            </a:r>
            <a:r>
              <a:rPr lang="en-US" altLang="ko-KR" sz="6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.</a:t>
            </a:r>
            <a:endParaRPr lang="ko-KR" altLang="en-US" sz="600" dirty="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31" name="타원 13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776270" y="447155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2" name="직사각형 131"/>
          <p:cNvSpPr/>
          <p:nvPr/>
        </p:nvSpPr>
        <p:spPr bwMode="auto">
          <a:xfrm>
            <a:off x="3884554" y="4519544"/>
            <a:ext cx="1136481" cy="199883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3" name="직사각형 132"/>
          <p:cNvSpPr/>
          <p:nvPr/>
        </p:nvSpPr>
        <p:spPr bwMode="auto">
          <a:xfrm>
            <a:off x="5524278" y="4537932"/>
            <a:ext cx="511776" cy="204540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409444" y="445988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712157" y="476833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6" name="직사각형 135"/>
          <p:cNvSpPr/>
          <p:nvPr/>
        </p:nvSpPr>
        <p:spPr bwMode="auto">
          <a:xfrm>
            <a:off x="3903604" y="4817928"/>
            <a:ext cx="2698833" cy="293482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7" name="직사각형 136"/>
          <p:cNvSpPr/>
          <p:nvPr/>
        </p:nvSpPr>
        <p:spPr bwMode="auto">
          <a:xfrm>
            <a:off x="3347951" y="3931200"/>
            <a:ext cx="3366714" cy="504801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207813" y="3888825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8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869430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6482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일상감사 대상 문서를 조회 기간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의뢰부서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검토현황 상태 조건에 따라 조회한다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본인 소속 부점의 본인이 등록 건만 조회 가능하며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수정 가능하다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단 해당 부서의 부서장은 해당부서의 모든 일상검사의 사전협의 목록의 조회가 가능하며 신규등록 및 해당부서원이 작성한 내역도 수정이 가능하다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업무담당자의 구분 값 정의 필요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상임감사위원직무규정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별표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일상감사 사전감사 대상 업무에 맞춰 구분 값을 지정할 것을 권장합니다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구분 항목 입력 시 목록에서 조회 가능 여부 확인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Wise-net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과 협의 이후 결정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첨부파일을 다운로드한다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일상감사 대상 문서를 시스템에 등록하기 위한 팝업 창을 표시한다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감사정보시스템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부점용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메뉴 위치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임시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추후 위치 확정 시 변경 가능</a:t>
                      </a:r>
                      <a:endParaRPr lang="en-US" altLang="ko-KR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MDD-00085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MDD75EC1100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자점감사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6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lvl="0" algn="l" defTabSz="914395" rtl="0" eaLnBrk="1" fontAlgn="auto" latinLnBrk="1" hangingPunct="1">
                        <a:spcBef>
                          <a:spcPts val="30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일상감사 사전협의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부서용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일상감사 사전협의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(P128: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강지웅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30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69968" y="1254563"/>
            <a:ext cx="6726396" cy="319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5" name="양쪽 모서리가 둥근 사각형 34"/>
          <p:cNvSpPr/>
          <p:nvPr/>
        </p:nvSpPr>
        <p:spPr bwMode="auto">
          <a:xfrm>
            <a:off x="288073" y="1003031"/>
            <a:ext cx="1341943" cy="238010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일상감사 사전협의</a:t>
            </a:r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03445" y="1050810"/>
            <a:ext cx="134087" cy="141144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88074" y="1254563"/>
            <a:ext cx="188263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chemeClr val="dk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일상감사 사전협의</a:t>
            </a:r>
            <a:endParaRPr kumimoji="0" lang="ko-KR" altLang="en-US" sz="10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290838" y="1510737"/>
          <a:ext cx="6683586" cy="5441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89937">
                  <a:extLst>
                    <a:ext uri="{9D8B030D-6E8A-4147-A177-3AD203B41FA5}">
                      <a16:colId xmlns:a16="http://schemas.microsoft.com/office/drawing/2014/main" val="76529090"/>
                    </a:ext>
                  </a:extLst>
                </a:gridCol>
                <a:gridCol w="1971923">
                  <a:extLst>
                    <a:ext uri="{9D8B030D-6E8A-4147-A177-3AD203B41FA5}">
                      <a16:colId xmlns:a16="http://schemas.microsoft.com/office/drawing/2014/main" val="158312865"/>
                    </a:ext>
                  </a:extLst>
                </a:gridCol>
                <a:gridCol w="625389">
                  <a:extLst>
                    <a:ext uri="{9D8B030D-6E8A-4147-A177-3AD203B41FA5}">
                      <a16:colId xmlns:a16="http://schemas.microsoft.com/office/drawing/2014/main" val="4148962399"/>
                    </a:ext>
                  </a:extLst>
                </a:gridCol>
                <a:gridCol w="1582310">
                  <a:extLst>
                    <a:ext uri="{9D8B030D-6E8A-4147-A177-3AD203B41FA5}">
                      <a16:colId xmlns:a16="http://schemas.microsoft.com/office/drawing/2014/main" val="4247419316"/>
                    </a:ext>
                  </a:extLst>
                </a:gridCol>
                <a:gridCol w="652006">
                  <a:extLst>
                    <a:ext uri="{9D8B030D-6E8A-4147-A177-3AD203B41FA5}">
                      <a16:colId xmlns:a16="http://schemas.microsoft.com/office/drawing/2014/main" val="2040800478"/>
                    </a:ext>
                  </a:extLst>
                </a:gridCol>
                <a:gridCol w="1162021">
                  <a:extLst>
                    <a:ext uri="{9D8B030D-6E8A-4147-A177-3AD203B41FA5}">
                      <a16:colId xmlns:a16="http://schemas.microsoft.com/office/drawing/2014/main" val="2106116060"/>
                    </a:ext>
                  </a:extLst>
                </a:gridCol>
              </a:tblGrid>
              <a:tr h="272087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의뢰부점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검토현황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7870088"/>
                  </a:ext>
                </a:extLst>
              </a:tr>
              <a:tr h="272087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담당감사역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l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4460170"/>
                  </a:ext>
                </a:extLst>
              </a:tr>
            </a:tbl>
          </a:graphicData>
        </a:graphic>
      </p:graphicFrame>
      <p:grpSp>
        <p:nvGrpSpPr>
          <p:cNvPr id="6" name="그룹 5"/>
          <p:cNvGrpSpPr/>
          <p:nvPr/>
        </p:nvGrpSpPr>
        <p:grpSpPr>
          <a:xfrm>
            <a:off x="5877678" y="1191953"/>
            <a:ext cx="769638" cy="557331"/>
            <a:chOff x="6108246" y="1292958"/>
            <a:chExt cx="688071" cy="459695"/>
          </a:xfrm>
        </p:grpSpPr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6108246" y="1571738"/>
              <a:ext cx="688044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전체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27" name="이등변 삼각형 26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6687638" y="1652560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6108270" y="1292958"/>
              <a:ext cx="688047" cy="276198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schemeClr val="bg1">
                      <a:lumMod val="65000"/>
                    </a:schemeClr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등록</a:t>
              </a:r>
              <a:endPara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dirty="0" err="1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schemeClr val="bg1">
                      <a:lumMod val="65000"/>
                    </a:schemeClr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검토중</a:t>
              </a:r>
              <a:endPara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normalizeH="0" dirty="0" err="1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협의완료</a:t>
              </a:r>
              <a:endParaRPr kumimoji="0" lang="en-US" altLang="ko-KR" sz="700" b="0" i="0" u="none" strike="noStrike" kern="1200" cap="none" normalizeH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pic>
        <p:nvPicPr>
          <p:cNvPr id="10" name="그림 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13892" y="1518688"/>
            <a:ext cx="1874347" cy="241851"/>
          </a:xfrm>
          <a:prstGeom prst="rect">
            <a:avLst/>
          </a:prstGeom>
        </p:spPr>
      </p:pic>
      <p:pic>
        <p:nvPicPr>
          <p:cNvPr id="11" name="그림 10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19244" y="1531180"/>
            <a:ext cx="1449864" cy="221408"/>
          </a:xfrm>
          <a:prstGeom prst="rect">
            <a:avLst/>
          </a:prstGeom>
        </p:spPr>
      </p:pic>
      <p:sp>
        <p:nvSpPr>
          <p:cNvPr id="3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217727" y="1848451"/>
            <a:ext cx="481290" cy="185873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764372" y="1847271"/>
            <a:ext cx="481290" cy="185873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304325" y="1847271"/>
            <a:ext cx="670099" cy="185873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엑셀출력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44" name="표 43"/>
          <p:cNvGraphicFramePr>
            <a:graphicFrameLocks noGrp="1"/>
          </p:cNvGraphicFramePr>
          <p:nvPr>
            <p:extLst/>
          </p:nvPr>
        </p:nvGraphicFramePr>
        <p:xfrm>
          <a:off x="269968" y="2097591"/>
          <a:ext cx="6727091" cy="3657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2466">
                  <a:extLst>
                    <a:ext uri="{9D8B030D-6E8A-4147-A177-3AD203B41FA5}">
                      <a16:colId xmlns:a16="http://schemas.microsoft.com/office/drawing/2014/main" val="2508274086"/>
                    </a:ext>
                  </a:extLst>
                </a:gridCol>
                <a:gridCol w="753872">
                  <a:extLst>
                    <a:ext uri="{9D8B030D-6E8A-4147-A177-3AD203B41FA5}">
                      <a16:colId xmlns:a16="http://schemas.microsoft.com/office/drawing/2014/main" val="3559033718"/>
                    </a:ext>
                  </a:extLst>
                </a:gridCol>
                <a:gridCol w="341906">
                  <a:extLst>
                    <a:ext uri="{9D8B030D-6E8A-4147-A177-3AD203B41FA5}">
                      <a16:colId xmlns:a16="http://schemas.microsoft.com/office/drawing/2014/main" val="2456275298"/>
                    </a:ext>
                  </a:extLst>
                </a:gridCol>
                <a:gridCol w="485030">
                  <a:extLst>
                    <a:ext uri="{9D8B030D-6E8A-4147-A177-3AD203B41FA5}">
                      <a16:colId xmlns:a16="http://schemas.microsoft.com/office/drawing/2014/main" val="2628024001"/>
                    </a:ext>
                  </a:extLst>
                </a:gridCol>
                <a:gridCol w="1351721">
                  <a:extLst>
                    <a:ext uri="{9D8B030D-6E8A-4147-A177-3AD203B41FA5}">
                      <a16:colId xmlns:a16="http://schemas.microsoft.com/office/drawing/2014/main" val="3443305828"/>
                    </a:ext>
                  </a:extLst>
                </a:gridCol>
                <a:gridCol w="592067">
                  <a:extLst>
                    <a:ext uri="{9D8B030D-6E8A-4147-A177-3AD203B41FA5}">
                      <a16:colId xmlns:a16="http://schemas.microsoft.com/office/drawing/2014/main" val="467886980"/>
                    </a:ext>
                  </a:extLst>
                </a:gridCol>
                <a:gridCol w="608580">
                  <a:extLst>
                    <a:ext uri="{9D8B030D-6E8A-4147-A177-3AD203B41FA5}">
                      <a16:colId xmlns:a16="http://schemas.microsoft.com/office/drawing/2014/main" val="3335649328"/>
                    </a:ext>
                  </a:extLst>
                </a:gridCol>
                <a:gridCol w="588454">
                  <a:extLst>
                    <a:ext uri="{9D8B030D-6E8A-4147-A177-3AD203B41FA5}">
                      <a16:colId xmlns:a16="http://schemas.microsoft.com/office/drawing/2014/main" val="318576603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349136741"/>
                    </a:ext>
                  </a:extLst>
                </a:gridCol>
                <a:gridCol w="601980">
                  <a:extLst>
                    <a:ext uri="{9D8B030D-6E8A-4147-A177-3AD203B41FA5}">
                      <a16:colId xmlns:a16="http://schemas.microsoft.com/office/drawing/2014/main" val="3444005785"/>
                    </a:ext>
                  </a:extLst>
                </a:gridCol>
                <a:gridCol w="561415">
                  <a:extLst>
                    <a:ext uri="{9D8B030D-6E8A-4147-A177-3AD203B41FA5}">
                      <a16:colId xmlns:a16="http://schemas.microsoft.com/office/drawing/2014/main" val="2510947321"/>
                    </a:ext>
                  </a:extLst>
                </a:gridCol>
              </a:tblGrid>
              <a:tr h="17189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관리번호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구분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실시구분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사전협의 안건명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등록일자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의뢰부서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 담당자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협의 담당자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검토현황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2172998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20240422-0001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계약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사전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감사정보시스템 고도화 계약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안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)..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2024-04-22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경영정보개발부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김감사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검토중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4286008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20240422-0002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규정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사후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내부통제규정 개정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안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검토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2024-04-22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준법추진부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이순신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4520361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8318247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2995972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6922068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2496027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9090623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1013522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7452504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9438507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5764802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7885334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774378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740571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3808077"/>
                  </a:ext>
                </a:extLst>
              </a:tr>
            </a:tbl>
          </a:graphicData>
        </a:graphic>
      </p:graphicFrame>
      <p:pic>
        <p:nvPicPr>
          <p:cNvPr id="45" name="그림 44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649464" y="2397342"/>
            <a:ext cx="159230" cy="144065"/>
          </a:xfrm>
          <a:prstGeom prst="rect">
            <a:avLst/>
          </a:prstGeom>
        </p:spPr>
      </p:pic>
      <p:pic>
        <p:nvPicPr>
          <p:cNvPr id="76" name="그림 7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649464" y="2749168"/>
            <a:ext cx="159230" cy="144065"/>
          </a:xfrm>
          <a:prstGeom prst="rect">
            <a:avLst/>
          </a:prstGeom>
        </p:spPr>
      </p:pic>
      <p:sp>
        <p:nvSpPr>
          <p:cNvPr id="77" name="타원 7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75290" y="152681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8" name="직사각형 77"/>
          <p:cNvSpPr/>
          <p:nvPr/>
        </p:nvSpPr>
        <p:spPr bwMode="auto">
          <a:xfrm>
            <a:off x="1207381" y="2063686"/>
            <a:ext cx="422636" cy="928504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126380" y="1994306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3" name="타원 10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481526" y="238432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4" name="타원 10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702422" y="1798343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41" name="그룹 40"/>
          <p:cNvGrpSpPr/>
          <p:nvPr/>
        </p:nvGrpSpPr>
        <p:grpSpPr>
          <a:xfrm>
            <a:off x="1988121" y="1435024"/>
            <a:ext cx="769638" cy="557331"/>
            <a:chOff x="6108246" y="1292958"/>
            <a:chExt cx="688071" cy="459695"/>
          </a:xfrm>
        </p:grpSpPr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6108246" y="1571738"/>
              <a:ext cx="688044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전체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46" name="이등변 삼각형 45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6687638" y="1652560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6108270" y="1292958"/>
              <a:ext cx="688047" cy="276198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schemeClr val="bg1">
                      <a:lumMod val="65000"/>
                    </a:schemeClr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홍길동</a:t>
              </a:r>
              <a:endPara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normalizeH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홍길순</a:t>
              </a:r>
              <a:endParaRPr kumimoji="0" lang="en-US" altLang="ko-KR" sz="700" b="0" i="0" u="none" strike="noStrike" kern="1200" cap="none" normalizeH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pic>
        <p:nvPicPr>
          <p:cNvPr id="8" name="그림 7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69968" y="3772759"/>
            <a:ext cx="6621899" cy="322799"/>
          </a:xfrm>
          <a:prstGeom prst="rect">
            <a:avLst/>
          </a:prstGeom>
        </p:spPr>
      </p:pic>
      <p:sp>
        <p:nvSpPr>
          <p:cNvPr id="36" name="직사각형 35"/>
          <p:cNvSpPr/>
          <p:nvPr/>
        </p:nvSpPr>
        <p:spPr bwMode="auto">
          <a:xfrm>
            <a:off x="5944402" y="3869267"/>
            <a:ext cx="648000" cy="226291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756861" y="366638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059389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30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 버튼을 클릭하여 일상감사 대상 문서를 시스템에 등록한다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구분 항목 입력 시 목록에서 조회 가능 여부 확인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Wise-net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과 협의 이후 결정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일상감사 내용을 등록하고 저장한다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접수 해제된 사전협의의 첨부파일 등록 이력을 표시한다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일상감사역이 해당 사전협의에 대한 검토의견을 작성 한 경우 검토의견 내역을 볼 수 있다</a:t>
                      </a:r>
                      <a:endParaRPr lang="en-US" altLang="ko-KR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MDD-00085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MDD75EC1001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자점감사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6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lvl="0" algn="l" defTabSz="914395" rtl="0" eaLnBrk="1" fontAlgn="auto" latinLnBrk="1" hangingPunct="1">
                        <a:spcBef>
                          <a:spcPts val="30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일상감사 사전협의 등록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부서용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kern="0" dirty="0" smtClean="0">
                          <a:solidFill>
                            <a:srgbClr val="000000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일상감사 사전협의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(P128: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강지웅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30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69968" y="1254563"/>
            <a:ext cx="6726396" cy="319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5" name="양쪽 모서리가 둥근 사각형 34"/>
          <p:cNvSpPr/>
          <p:nvPr/>
        </p:nvSpPr>
        <p:spPr bwMode="auto">
          <a:xfrm>
            <a:off x="288073" y="1003031"/>
            <a:ext cx="1341943" cy="238010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일상감사 사전협의</a:t>
            </a:r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03445" y="1050810"/>
            <a:ext cx="134087" cy="141144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88074" y="1254563"/>
            <a:ext cx="188263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chemeClr val="dk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일상감사 사전협의</a:t>
            </a:r>
            <a:endParaRPr kumimoji="0" lang="ko-KR" altLang="en-US" sz="10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290838" y="1510737"/>
          <a:ext cx="6683586" cy="27208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89937">
                  <a:extLst>
                    <a:ext uri="{9D8B030D-6E8A-4147-A177-3AD203B41FA5}">
                      <a16:colId xmlns:a16="http://schemas.microsoft.com/office/drawing/2014/main" val="76529090"/>
                    </a:ext>
                  </a:extLst>
                </a:gridCol>
                <a:gridCol w="1971923">
                  <a:extLst>
                    <a:ext uri="{9D8B030D-6E8A-4147-A177-3AD203B41FA5}">
                      <a16:colId xmlns:a16="http://schemas.microsoft.com/office/drawing/2014/main" val="158312865"/>
                    </a:ext>
                  </a:extLst>
                </a:gridCol>
                <a:gridCol w="625389">
                  <a:extLst>
                    <a:ext uri="{9D8B030D-6E8A-4147-A177-3AD203B41FA5}">
                      <a16:colId xmlns:a16="http://schemas.microsoft.com/office/drawing/2014/main" val="4148962399"/>
                    </a:ext>
                  </a:extLst>
                </a:gridCol>
                <a:gridCol w="1582310">
                  <a:extLst>
                    <a:ext uri="{9D8B030D-6E8A-4147-A177-3AD203B41FA5}">
                      <a16:colId xmlns:a16="http://schemas.microsoft.com/office/drawing/2014/main" val="4247419316"/>
                    </a:ext>
                  </a:extLst>
                </a:gridCol>
                <a:gridCol w="652006">
                  <a:extLst>
                    <a:ext uri="{9D8B030D-6E8A-4147-A177-3AD203B41FA5}">
                      <a16:colId xmlns:a16="http://schemas.microsoft.com/office/drawing/2014/main" val="2040800478"/>
                    </a:ext>
                  </a:extLst>
                </a:gridCol>
                <a:gridCol w="1162021">
                  <a:extLst>
                    <a:ext uri="{9D8B030D-6E8A-4147-A177-3AD203B41FA5}">
                      <a16:colId xmlns:a16="http://schemas.microsoft.com/office/drawing/2014/main" val="2106116060"/>
                    </a:ext>
                  </a:extLst>
                </a:gridCol>
              </a:tblGrid>
              <a:tr h="272087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</a:rPr>
                        <a:t>조회기간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</a:rPr>
                        <a:t>의뢰부점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</a:rPr>
                        <a:t>검토현황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7870088"/>
                  </a:ext>
                </a:extLst>
              </a:tr>
            </a:tbl>
          </a:graphicData>
        </a:graphic>
      </p:graphicFrame>
      <p:grpSp>
        <p:nvGrpSpPr>
          <p:cNvPr id="6" name="그룹 5"/>
          <p:cNvGrpSpPr/>
          <p:nvPr/>
        </p:nvGrpSpPr>
        <p:grpSpPr>
          <a:xfrm>
            <a:off x="5877678" y="1191953"/>
            <a:ext cx="769638" cy="557331"/>
            <a:chOff x="6108246" y="1292958"/>
            <a:chExt cx="688071" cy="459695"/>
          </a:xfrm>
        </p:grpSpPr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6108246" y="1571738"/>
              <a:ext cx="688044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전체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27" name="이등변 삼각형 26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6687638" y="1652560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6108270" y="1292958"/>
              <a:ext cx="688047" cy="276198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schemeClr val="bg1">
                      <a:lumMod val="65000"/>
                    </a:schemeClr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등록</a:t>
              </a:r>
              <a:endPara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schemeClr val="bg1">
                      <a:lumMod val="65000"/>
                    </a:schemeClr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검토중</a:t>
              </a:r>
              <a:endParaRPr kumimoji="0" lang="en-US" altLang="ko-KR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normalizeH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협의완료</a:t>
              </a:r>
              <a:endParaRPr kumimoji="0" lang="en-US" altLang="ko-KR" sz="700" b="0" i="0" u="none" strike="noStrike" kern="1200" cap="none" normalizeH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pic>
        <p:nvPicPr>
          <p:cNvPr id="10" name="그림 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13892" y="1518688"/>
            <a:ext cx="1874347" cy="241851"/>
          </a:xfrm>
          <a:prstGeom prst="rect">
            <a:avLst/>
          </a:prstGeom>
        </p:spPr>
      </p:pic>
      <p:pic>
        <p:nvPicPr>
          <p:cNvPr id="11" name="그림 10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19244" y="1531180"/>
            <a:ext cx="1449864" cy="221408"/>
          </a:xfrm>
          <a:prstGeom prst="rect">
            <a:avLst/>
          </a:prstGeom>
        </p:spPr>
      </p:pic>
      <p:sp>
        <p:nvSpPr>
          <p:cNvPr id="3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217727" y="1848451"/>
            <a:ext cx="481290" cy="185873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764372" y="1847271"/>
            <a:ext cx="481290" cy="185873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304325" y="1847271"/>
            <a:ext cx="670099" cy="185873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엑셀출력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44" name="표 43"/>
          <p:cNvGraphicFramePr>
            <a:graphicFrameLocks noGrp="1"/>
          </p:cNvGraphicFramePr>
          <p:nvPr>
            <p:extLst/>
          </p:nvPr>
        </p:nvGraphicFramePr>
        <p:xfrm>
          <a:off x="269968" y="2097591"/>
          <a:ext cx="6727091" cy="1097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2466">
                  <a:extLst>
                    <a:ext uri="{9D8B030D-6E8A-4147-A177-3AD203B41FA5}">
                      <a16:colId xmlns:a16="http://schemas.microsoft.com/office/drawing/2014/main" val="2508274086"/>
                    </a:ext>
                  </a:extLst>
                </a:gridCol>
                <a:gridCol w="753872">
                  <a:extLst>
                    <a:ext uri="{9D8B030D-6E8A-4147-A177-3AD203B41FA5}">
                      <a16:colId xmlns:a16="http://schemas.microsoft.com/office/drawing/2014/main" val="3559033718"/>
                    </a:ext>
                  </a:extLst>
                </a:gridCol>
                <a:gridCol w="341906">
                  <a:extLst>
                    <a:ext uri="{9D8B030D-6E8A-4147-A177-3AD203B41FA5}">
                      <a16:colId xmlns:a16="http://schemas.microsoft.com/office/drawing/2014/main" val="2456275298"/>
                    </a:ext>
                  </a:extLst>
                </a:gridCol>
                <a:gridCol w="485030">
                  <a:extLst>
                    <a:ext uri="{9D8B030D-6E8A-4147-A177-3AD203B41FA5}">
                      <a16:colId xmlns:a16="http://schemas.microsoft.com/office/drawing/2014/main" val="2628024001"/>
                    </a:ext>
                  </a:extLst>
                </a:gridCol>
                <a:gridCol w="1351721">
                  <a:extLst>
                    <a:ext uri="{9D8B030D-6E8A-4147-A177-3AD203B41FA5}">
                      <a16:colId xmlns:a16="http://schemas.microsoft.com/office/drawing/2014/main" val="3443305828"/>
                    </a:ext>
                  </a:extLst>
                </a:gridCol>
                <a:gridCol w="592067">
                  <a:extLst>
                    <a:ext uri="{9D8B030D-6E8A-4147-A177-3AD203B41FA5}">
                      <a16:colId xmlns:a16="http://schemas.microsoft.com/office/drawing/2014/main" val="467886980"/>
                    </a:ext>
                  </a:extLst>
                </a:gridCol>
                <a:gridCol w="608580">
                  <a:extLst>
                    <a:ext uri="{9D8B030D-6E8A-4147-A177-3AD203B41FA5}">
                      <a16:colId xmlns:a16="http://schemas.microsoft.com/office/drawing/2014/main" val="3335649328"/>
                    </a:ext>
                  </a:extLst>
                </a:gridCol>
                <a:gridCol w="588454">
                  <a:extLst>
                    <a:ext uri="{9D8B030D-6E8A-4147-A177-3AD203B41FA5}">
                      <a16:colId xmlns:a16="http://schemas.microsoft.com/office/drawing/2014/main" val="318576603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349136741"/>
                    </a:ext>
                  </a:extLst>
                </a:gridCol>
                <a:gridCol w="601980">
                  <a:extLst>
                    <a:ext uri="{9D8B030D-6E8A-4147-A177-3AD203B41FA5}">
                      <a16:colId xmlns:a16="http://schemas.microsoft.com/office/drawing/2014/main" val="3444005785"/>
                    </a:ext>
                  </a:extLst>
                </a:gridCol>
                <a:gridCol w="561415">
                  <a:extLst>
                    <a:ext uri="{9D8B030D-6E8A-4147-A177-3AD203B41FA5}">
                      <a16:colId xmlns:a16="http://schemas.microsoft.com/office/drawing/2014/main" val="2510947321"/>
                    </a:ext>
                  </a:extLst>
                </a:gridCol>
              </a:tblGrid>
              <a:tr h="17189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관리번호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구분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실시구분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사전협의 안건명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등록일자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의뢰부서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 담당자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협의 담당자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검토현황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2172998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20240422-0001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계약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사전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감사정보시스템 고도화 계약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안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)..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2024-04-22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경영정보개발부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김감사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검토중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4286008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20240422-0002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규정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사후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내부통제규정 개정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안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검토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2024-04-22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준법추진부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이순신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4520361"/>
                  </a:ext>
                </a:extLst>
              </a:tr>
              <a:tr h="17189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8318247"/>
                  </a:ext>
                </a:extLst>
              </a:tr>
            </a:tbl>
          </a:graphicData>
        </a:graphic>
      </p:graphicFrame>
      <p:pic>
        <p:nvPicPr>
          <p:cNvPr id="45" name="그림 44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649464" y="2397342"/>
            <a:ext cx="159230" cy="144065"/>
          </a:xfrm>
          <a:prstGeom prst="rect">
            <a:avLst/>
          </a:prstGeom>
        </p:spPr>
      </p:pic>
      <p:sp>
        <p:nvSpPr>
          <p:cNvPr id="78" name="타원 7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694436" y="1748192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847007" y="1696376"/>
            <a:ext cx="3613636" cy="4349875"/>
            <a:chOff x="6470807" y="1083979"/>
            <a:chExt cx="3613636" cy="3294272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grpSp>
          <p:nvGrpSpPr>
            <p:cNvPr id="50" name="그룹 49"/>
            <p:cNvGrpSpPr/>
            <p:nvPr/>
          </p:nvGrpSpPr>
          <p:grpSpPr>
            <a:xfrm>
              <a:off x="6515186" y="1083979"/>
              <a:ext cx="3569257" cy="3294272"/>
              <a:chOff x="6515186" y="1083979"/>
              <a:chExt cx="3569257" cy="3294272"/>
            </a:xfrm>
          </p:grpSpPr>
          <p:pic>
            <p:nvPicPr>
              <p:cNvPr id="52" name="그림 51"/>
              <p:cNvPicPr>
                <a:picLocks noChangeAspect="1"/>
              </p:cNvPicPr>
              <p:nvPr/>
            </p:nvPicPr>
            <p:blipFill rotWithShape="1">
              <a:blip r:embed="rId6"/>
              <a:srcRect t="45335" b="1"/>
              <a:stretch/>
            </p:blipFill>
            <p:spPr>
              <a:xfrm>
                <a:off x="6515186" y="3114369"/>
                <a:ext cx="3568959" cy="1263882"/>
              </a:xfrm>
              <a:prstGeom prst="rect">
                <a:avLst/>
              </a:prstGeom>
              <a:effectLst/>
            </p:spPr>
          </p:pic>
          <p:grpSp>
            <p:nvGrpSpPr>
              <p:cNvPr id="53" name="그룹 52"/>
              <p:cNvGrpSpPr/>
              <p:nvPr/>
            </p:nvGrpSpPr>
            <p:grpSpPr>
              <a:xfrm>
                <a:off x="6515187" y="1083979"/>
                <a:ext cx="3569256" cy="3219543"/>
                <a:chOff x="6599550" y="-765687"/>
                <a:chExt cx="3569256" cy="3219543"/>
              </a:xfrm>
              <a:effectLst/>
            </p:grpSpPr>
            <p:pic>
              <p:nvPicPr>
                <p:cNvPr id="57" name="그림 56"/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6599550" y="-765687"/>
                  <a:ext cx="3569256" cy="1936916"/>
                </a:xfrm>
                <a:prstGeom prst="rect">
                  <a:avLst/>
                </a:prstGeom>
                <a:effectLst/>
              </p:spPr>
            </p:pic>
            <p:sp>
              <p:nvSpPr>
                <p:cNvPr id="58" name="직사각형 57"/>
                <p:cNvSpPr/>
                <p:nvPr/>
              </p:nvSpPr>
              <p:spPr bwMode="auto">
                <a:xfrm>
                  <a:off x="6618006" y="-582732"/>
                  <a:ext cx="3531750" cy="3036588"/>
                </a:xfrm>
                <a:prstGeom prst="rect">
                  <a:avLst/>
                </a:prstGeom>
                <a:solidFill>
                  <a:schemeClr val="bg1"/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triangle" w="med" len="med"/>
                </a:ln>
                <a:effectLst/>
              </p:spPr>
              <p:txBody>
                <a:bodyPr vert="horz" wrap="square" lIns="36000" tIns="45720" rIns="36000" bIns="45720" numCol="1" rtlCol="0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5725" marR="0" indent="-85725" algn="ctr" defTabSz="91440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ko-KR" altLang="en-US" sz="1400" b="1" i="0" u="none" strike="noStrike" kern="0" cap="none" normalizeH="0" baseline="0" noProof="0" smtClean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KB금융 본문체 Medium" panose="020B0603000000000000" pitchFamily="50" charset="-127"/>
                    <a:ea typeface="KB금융 본문체 Medium" panose="020B0603000000000000" pitchFamily="50" charset="-127"/>
                  </a:endParaRPr>
                </a:p>
              </p:txBody>
            </p:sp>
          </p:grpSp>
          <p:sp>
            <p:nvSpPr>
              <p:cNvPr id="54" name="직사각형 53"/>
              <p:cNvSpPr/>
              <p:nvPr/>
            </p:nvSpPr>
            <p:spPr bwMode="auto">
              <a:xfrm>
                <a:off x="6526102" y="1104596"/>
                <a:ext cx="3547241" cy="115069"/>
              </a:xfrm>
              <a:prstGeom prst="rect">
                <a:avLst/>
              </a:prstGeom>
              <a:solidFill>
                <a:srgbClr val="B1ACA8"/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vert="horz" wrap="square" lIns="36000" tIns="45720" rIns="36000" bIns="4572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85725" marR="0" indent="-85725" algn="ctr" defTabSz="91440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ko-KR" altLang="en-US" sz="1400" b="1" i="0" u="none" strike="noStrike" kern="0" cap="none" normalizeH="0" baseline="0" noProof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endParaRPr>
              </a:p>
            </p:txBody>
          </p:sp>
        </p:grpSp>
        <p:sp>
          <p:nvSpPr>
            <p:cNvPr id="51" name="TextBox 50"/>
            <p:cNvSpPr txBox="1"/>
            <p:nvPr/>
          </p:nvSpPr>
          <p:spPr>
            <a:xfrm>
              <a:off x="6470807" y="1084356"/>
              <a:ext cx="1653454" cy="1748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0" lang="ko-KR" altLang="en-US" sz="900" dirty="0" smtClean="0">
                  <a:solidFill>
                    <a:srgbClr val="000000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일상감사 사전협의 등록</a:t>
              </a:r>
              <a:endParaRPr kumimoji="0" lang="ko-KR" altLang="en-US" sz="9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graphicFrame>
        <p:nvGraphicFramePr>
          <p:cNvPr id="59" name="표 58"/>
          <p:cNvGraphicFramePr>
            <a:graphicFrameLocks noGrp="1"/>
          </p:cNvGraphicFramePr>
          <p:nvPr>
            <p:extLst/>
          </p:nvPr>
        </p:nvGraphicFramePr>
        <p:xfrm>
          <a:off x="975732" y="1927301"/>
          <a:ext cx="3388417" cy="360193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0564">
                  <a:extLst>
                    <a:ext uri="{9D8B030D-6E8A-4147-A177-3AD203B41FA5}">
                      <a16:colId xmlns:a16="http://schemas.microsoft.com/office/drawing/2014/main" val="1630994582"/>
                    </a:ext>
                  </a:extLst>
                </a:gridCol>
                <a:gridCol w="127606">
                  <a:extLst>
                    <a:ext uri="{9D8B030D-6E8A-4147-A177-3AD203B41FA5}">
                      <a16:colId xmlns:a16="http://schemas.microsoft.com/office/drawing/2014/main" val="2045752900"/>
                    </a:ext>
                  </a:extLst>
                </a:gridCol>
                <a:gridCol w="245787">
                  <a:extLst>
                    <a:ext uri="{9D8B030D-6E8A-4147-A177-3AD203B41FA5}">
                      <a16:colId xmlns:a16="http://schemas.microsoft.com/office/drawing/2014/main" val="2310995700"/>
                    </a:ext>
                  </a:extLst>
                </a:gridCol>
                <a:gridCol w="823914">
                  <a:extLst>
                    <a:ext uri="{9D8B030D-6E8A-4147-A177-3AD203B41FA5}">
                      <a16:colId xmlns:a16="http://schemas.microsoft.com/office/drawing/2014/main" val="3673452521"/>
                    </a:ext>
                  </a:extLst>
                </a:gridCol>
                <a:gridCol w="34074">
                  <a:extLst>
                    <a:ext uri="{9D8B030D-6E8A-4147-A177-3AD203B41FA5}">
                      <a16:colId xmlns:a16="http://schemas.microsoft.com/office/drawing/2014/main" val="1522939244"/>
                    </a:ext>
                  </a:extLst>
                </a:gridCol>
                <a:gridCol w="458938">
                  <a:extLst>
                    <a:ext uri="{9D8B030D-6E8A-4147-A177-3AD203B41FA5}">
                      <a16:colId xmlns:a16="http://schemas.microsoft.com/office/drawing/2014/main" val="2662453202"/>
                    </a:ext>
                  </a:extLst>
                </a:gridCol>
                <a:gridCol w="250184">
                  <a:extLst>
                    <a:ext uri="{9D8B030D-6E8A-4147-A177-3AD203B41FA5}">
                      <a16:colId xmlns:a16="http://schemas.microsoft.com/office/drawing/2014/main" val="3707926986"/>
                    </a:ext>
                  </a:extLst>
                </a:gridCol>
                <a:gridCol w="556591">
                  <a:extLst>
                    <a:ext uri="{9D8B030D-6E8A-4147-A177-3AD203B41FA5}">
                      <a16:colId xmlns:a16="http://schemas.microsoft.com/office/drawing/2014/main" val="34714490"/>
                    </a:ext>
                  </a:extLst>
                </a:gridCol>
                <a:gridCol w="230592">
                  <a:extLst>
                    <a:ext uri="{9D8B030D-6E8A-4147-A177-3AD203B41FA5}">
                      <a16:colId xmlns:a16="http://schemas.microsoft.com/office/drawing/2014/main" val="2628953088"/>
                    </a:ext>
                  </a:extLst>
                </a:gridCol>
                <a:gridCol w="140167">
                  <a:extLst>
                    <a:ext uri="{9D8B030D-6E8A-4147-A177-3AD203B41FA5}">
                      <a16:colId xmlns:a16="http://schemas.microsoft.com/office/drawing/2014/main" val="4064635312"/>
                    </a:ext>
                  </a:extLst>
                </a:gridCol>
              </a:tblGrid>
              <a:tr h="1939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관리번호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구분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8451336"/>
                  </a:ext>
                </a:extLst>
              </a:tr>
              <a:tr h="1939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안건명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16464564"/>
                  </a:ext>
                </a:extLst>
              </a:tr>
              <a:tr h="1939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의뢰부서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의뢰자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61806225"/>
                  </a:ext>
                </a:extLst>
              </a:tr>
              <a:tr h="1939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실시구분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73589243"/>
                  </a:ext>
                </a:extLst>
              </a:tr>
              <a:tr h="22240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시행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예정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04275857"/>
                  </a:ext>
                </a:extLst>
              </a:tr>
              <a:tr h="74467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검토요청내용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54201637"/>
                  </a:ext>
                </a:extLst>
              </a:tr>
              <a:tr h="217167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1425522"/>
                  </a:ext>
                </a:extLst>
              </a:tr>
              <a:tr h="1654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파일명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 크기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41310993"/>
                  </a:ext>
                </a:extLst>
              </a:tr>
              <a:tr h="1368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l" latinLnBrk="1"/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파일명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103 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x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3345710"/>
                  </a:ext>
                </a:extLst>
              </a:tr>
              <a:tr h="393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4389700"/>
                  </a:ext>
                </a:extLst>
              </a:tr>
              <a:tr h="100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8029303"/>
                  </a:ext>
                </a:extLst>
              </a:tr>
              <a:tr h="648793"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75290757"/>
                  </a:ext>
                </a:extLst>
              </a:tr>
              <a:tr h="1939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협의 담당자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검토현황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86258782"/>
                  </a:ext>
                </a:extLst>
              </a:tr>
            </a:tbl>
          </a:graphicData>
        </a:graphic>
      </p:graphicFrame>
      <p:sp>
        <p:nvSpPr>
          <p:cNvPr id="60" name="직사각형 5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525422" y="1956501"/>
            <a:ext cx="1162542" cy="149692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20240422-0001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61" name="그룹 60"/>
          <p:cNvGrpSpPr/>
          <p:nvPr/>
        </p:nvGrpSpPr>
        <p:grpSpPr>
          <a:xfrm>
            <a:off x="3215773" y="1946367"/>
            <a:ext cx="595541" cy="149692"/>
            <a:chOff x="2657346" y="3150094"/>
            <a:chExt cx="595541" cy="149692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2657346" y="3150094"/>
              <a:ext cx="595541" cy="14969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규정 </a:t>
              </a:r>
              <a:r>
                <a:rPr kumimoji="0" lang="en-US" altLang="ko-KR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(</a:t>
              </a:r>
              <a:r>
                <a:rPr kumimoji="0" lang="ko-KR" altLang="en-US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선택</a:t>
              </a:r>
              <a:r>
                <a:rPr kumimoji="0" lang="en-US" altLang="ko-KR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)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63" name="이등변 삼각형 62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3165004" y="3200897"/>
              <a:ext cx="64813" cy="4571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pic>
        <p:nvPicPr>
          <p:cNvPr id="64" name="그림 63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529445" y="3691848"/>
            <a:ext cx="821676" cy="163374"/>
          </a:xfrm>
          <a:prstGeom prst="rect">
            <a:avLst/>
          </a:prstGeom>
        </p:spPr>
      </p:pic>
      <p:sp>
        <p:nvSpPr>
          <p:cNvPr id="65" name="직사각형 6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552309" y="2967539"/>
            <a:ext cx="2728391" cy="656131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내부통제규정 개정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안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에 대한 사전협의 부탁드립니다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.</a:t>
            </a:r>
            <a:endParaRPr kumimoji="0" lang="en-US" altLang="ko-KR" sz="70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근거 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상임감사위원직무규정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-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별표</a:t>
            </a:r>
            <a:r>
              <a:rPr kumimoji="0" lang="en-US" altLang="ko-KR" sz="70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2-1.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정관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규정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지침 및 업무매뉴얼의 </a:t>
            </a:r>
            <a:endParaRPr kumimoji="0" lang="en-US" altLang="ko-KR" sz="70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  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개정</a:t>
            </a:r>
            <a:endParaRPr kumimoji="0" lang="en-US" altLang="ko-KR" sz="70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개정예정일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2024-05-02(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목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관련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현황 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2024-04-18</a:t>
            </a:r>
            <a:r>
              <a:rPr kumimoji="0" lang="en-US" altLang="ko-KR" sz="700" b="0" i="0" u="none" strike="noStrike" kern="1200" cap="none" spc="0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ko-KR" altLang="en-US" sz="700" b="0" i="0" u="none" strike="noStrike" kern="1200" cap="none" spc="0" normalizeH="0" noProof="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법무팀</a:t>
            </a:r>
            <a:r>
              <a:rPr kumimoji="0" lang="ko-KR" altLang="en-US" sz="700" b="0" i="0" u="none" strike="noStrike" kern="1200" cap="none" spc="0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사전협의 완료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66" name="그룹 65"/>
          <p:cNvGrpSpPr/>
          <p:nvPr/>
        </p:nvGrpSpPr>
        <p:grpSpPr>
          <a:xfrm>
            <a:off x="1542439" y="2518173"/>
            <a:ext cx="656238" cy="161131"/>
            <a:chOff x="1181731" y="3020257"/>
            <a:chExt cx="656238" cy="161131"/>
          </a:xfrm>
        </p:grpSpPr>
        <p:sp>
          <p:nvSpPr>
            <p:cNvPr id="67" name="직사각형 66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181731" y="3020257"/>
              <a:ext cx="656238" cy="161131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사전 </a:t>
              </a:r>
              <a:r>
                <a:rPr kumimoji="0" lang="en-US" altLang="ko-KR" sz="70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/ </a:t>
              </a:r>
              <a:r>
                <a:rPr kumimoji="0" lang="ko-KR" altLang="en-US" sz="70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사후</a:t>
              </a:r>
              <a:endParaRPr kumimoji="0" lang="ko-KR" altLang="en-US" sz="7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68" name="이등변 삼각형 67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1717481" y="3072876"/>
              <a:ext cx="80732" cy="57807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527796" y="2141575"/>
            <a:ext cx="2776757" cy="148406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내부통제규정 개정</a:t>
            </a:r>
            <a:r>
              <a:rPr kumimoji="0" lang="en-US" altLang="ko-KR" sz="700" b="0" i="0" u="none" strike="noStrike" kern="1200" cap="none" spc="0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b="0" i="0" u="none" strike="noStrike" kern="1200" cap="none" spc="0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안</a:t>
            </a:r>
            <a:r>
              <a:rPr kumimoji="0" lang="en-US" altLang="ko-KR" sz="700" b="0" i="0" u="none" strike="noStrike" kern="1200" cap="none" spc="0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70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검토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70" name="그림 69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541324" y="2327798"/>
            <a:ext cx="1117421" cy="179533"/>
          </a:xfrm>
          <a:prstGeom prst="rect">
            <a:avLst/>
          </a:prstGeom>
        </p:spPr>
      </p:pic>
      <p:pic>
        <p:nvPicPr>
          <p:cNvPr id="71" name="그림 70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215773" y="2327798"/>
            <a:ext cx="1117421" cy="179533"/>
          </a:xfrm>
          <a:prstGeom prst="rect">
            <a:avLst/>
          </a:prstGeom>
        </p:spPr>
      </p:pic>
      <p:pic>
        <p:nvPicPr>
          <p:cNvPr id="72" name="그림 71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541560" y="2712716"/>
            <a:ext cx="775444" cy="197262"/>
          </a:xfrm>
          <a:prstGeom prst="rect">
            <a:avLst/>
          </a:prstGeom>
        </p:spPr>
      </p:pic>
      <p:grpSp>
        <p:nvGrpSpPr>
          <p:cNvPr id="73" name="그룹 72"/>
          <p:cNvGrpSpPr/>
          <p:nvPr/>
        </p:nvGrpSpPr>
        <p:grpSpPr>
          <a:xfrm>
            <a:off x="1524460" y="5337338"/>
            <a:ext cx="1100486" cy="166891"/>
            <a:chOff x="1536525" y="5470481"/>
            <a:chExt cx="1100486" cy="166891"/>
          </a:xfrm>
        </p:grpSpPr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544145" y="5470481"/>
              <a:ext cx="1092866" cy="166891"/>
            </a:xfrm>
            <a:prstGeom prst="rect">
              <a:avLst/>
            </a:prstGeom>
          </p:spPr>
        </p:pic>
        <p:sp>
          <p:nvSpPr>
            <p:cNvPr id="75" name="직사각형 74"/>
            <p:cNvSpPr/>
            <p:nvPr/>
          </p:nvSpPr>
          <p:spPr bwMode="auto">
            <a:xfrm>
              <a:off x="1536525" y="5488519"/>
              <a:ext cx="307746" cy="14298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 cap="flat" cmpd="sng" algn="ctr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algn="ctr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400" b="1" i="0" u="none" strike="noStrike" kern="0" cap="none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76" name="타원 7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098161" y="191778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77" name="표 76"/>
          <p:cNvGraphicFramePr>
            <a:graphicFrameLocks noGrp="1"/>
          </p:cNvGraphicFramePr>
          <p:nvPr>
            <p:extLst/>
          </p:nvPr>
        </p:nvGraphicFramePr>
        <p:xfrm>
          <a:off x="977396" y="4694228"/>
          <a:ext cx="3388418" cy="62216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0564">
                  <a:extLst>
                    <a:ext uri="{9D8B030D-6E8A-4147-A177-3AD203B41FA5}">
                      <a16:colId xmlns:a16="http://schemas.microsoft.com/office/drawing/2014/main" val="1574310418"/>
                    </a:ext>
                  </a:extLst>
                </a:gridCol>
                <a:gridCol w="127606">
                  <a:extLst>
                    <a:ext uri="{9D8B030D-6E8A-4147-A177-3AD203B41FA5}">
                      <a16:colId xmlns:a16="http://schemas.microsoft.com/office/drawing/2014/main" val="677103711"/>
                    </a:ext>
                  </a:extLst>
                </a:gridCol>
                <a:gridCol w="245787">
                  <a:extLst>
                    <a:ext uri="{9D8B030D-6E8A-4147-A177-3AD203B41FA5}">
                      <a16:colId xmlns:a16="http://schemas.microsoft.com/office/drawing/2014/main" val="256640699"/>
                    </a:ext>
                  </a:extLst>
                </a:gridCol>
                <a:gridCol w="323207">
                  <a:extLst>
                    <a:ext uri="{9D8B030D-6E8A-4147-A177-3AD203B41FA5}">
                      <a16:colId xmlns:a16="http://schemas.microsoft.com/office/drawing/2014/main" val="3700995535"/>
                    </a:ext>
                  </a:extLst>
                </a:gridCol>
                <a:gridCol w="500707">
                  <a:extLst>
                    <a:ext uri="{9D8B030D-6E8A-4147-A177-3AD203B41FA5}">
                      <a16:colId xmlns:a16="http://schemas.microsoft.com/office/drawing/2014/main" val="1507300982"/>
                    </a:ext>
                  </a:extLst>
                </a:gridCol>
                <a:gridCol w="34074">
                  <a:extLst>
                    <a:ext uri="{9D8B030D-6E8A-4147-A177-3AD203B41FA5}">
                      <a16:colId xmlns:a16="http://schemas.microsoft.com/office/drawing/2014/main" val="2333362673"/>
                    </a:ext>
                  </a:extLst>
                </a:gridCol>
                <a:gridCol w="458938">
                  <a:extLst>
                    <a:ext uri="{9D8B030D-6E8A-4147-A177-3AD203B41FA5}">
                      <a16:colId xmlns:a16="http://schemas.microsoft.com/office/drawing/2014/main" val="3273711657"/>
                    </a:ext>
                  </a:extLst>
                </a:gridCol>
                <a:gridCol w="250184">
                  <a:extLst>
                    <a:ext uri="{9D8B030D-6E8A-4147-A177-3AD203B41FA5}">
                      <a16:colId xmlns:a16="http://schemas.microsoft.com/office/drawing/2014/main" val="3428438213"/>
                    </a:ext>
                  </a:extLst>
                </a:gridCol>
                <a:gridCol w="393592">
                  <a:extLst>
                    <a:ext uri="{9D8B030D-6E8A-4147-A177-3AD203B41FA5}">
                      <a16:colId xmlns:a16="http://schemas.microsoft.com/office/drawing/2014/main" val="633423347"/>
                    </a:ext>
                  </a:extLst>
                </a:gridCol>
                <a:gridCol w="163000">
                  <a:extLst>
                    <a:ext uri="{9D8B030D-6E8A-4147-A177-3AD203B41FA5}">
                      <a16:colId xmlns:a16="http://schemas.microsoft.com/office/drawing/2014/main" val="3901070735"/>
                    </a:ext>
                  </a:extLst>
                </a:gridCol>
                <a:gridCol w="230592">
                  <a:extLst>
                    <a:ext uri="{9D8B030D-6E8A-4147-A177-3AD203B41FA5}">
                      <a16:colId xmlns:a16="http://schemas.microsoft.com/office/drawing/2014/main" val="3785273377"/>
                    </a:ext>
                  </a:extLst>
                </a:gridCol>
                <a:gridCol w="140167">
                  <a:extLst>
                    <a:ext uri="{9D8B030D-6E8A-4147-A177-3AD203B41FA5}">
                      <a16:colId xmlns:a16="http://schemas.microsoft.com/office/drawing/2014/main" val="2755524367"/>
                    </a:ext>
                  </a:extLst>
                </a:gridCol>
              </a:tblGrid>
              <a:tr h="110500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첨부파일</a:t>
                      </a:r>
                      <a:endParaRPr lang="en-US" altLang="ko-KR" sz="7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algn="ctr" fontAlgn="ctr"/>
                      <a:r>
                        <a:rPr lang="ko-KR" altLang="en-US" sz="7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등록이력</a:t>
                      </a:r>
                      <a:endParaRPr lang="en-US" altLang="ko-KR" sz="7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218" marR="3218" marT="3218" marB="0" anchor="ctr"/>
                </a:tc>
                <a:tc h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mpd="sng">
                      <a:noFill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3998576"/>
                  </a:ext>
                </a:extLst>
              </a:tr>
              <a:tr h="12395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차수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파일명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218" marR="3218" marT="3218" marB="0" anchor="ctr"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218" marR="3218" marT="3218" marB="0" anchor="ctr"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 크기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등록일시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T w="12700" cmpd="sng">
                      <a:noFill/>
                    </a:lnT>
                    <a:lnB w="12700" cmpd="sng"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4264257"/>
                  </a:ext>
                </a:extLst>
              </a:tr>
              <a:tr h="12395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1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파일명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r" latinLnBrk="1"/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103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r" latinLnBrk="1"/>
                      <a:r>
                        <a:rPr lang="en-US" altLang="ko-KR" sz="5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2025-01-01</a:t>
                      </a:r>
                      <a:r>
                        <a:rPr lang="en-US" altLang="ko-KR" sz="5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10:55:00</a:t>
                      </a:r>
                      <a:endParaRPr lang="ko-KR" altLang="en-US" sz="5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6350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mpd="sng">
                      <a:noFill/>
                    </a:lnT>
                    <a:lnB w="12700" cmpd="sng"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5543588"/>
                  </a:ext>
                </a:extLst>
              </a:tr>
              <a:tr h="9704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218" marR="3218" marT="3218" marB="0" anchor="ctr"/>
                </a:tc>
                <a:tc hMerge="1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T w="6350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T w="12700" cmpd="sng">
                      <a:noFill/>
                    </a:lnT>
                    <a:lnB w="12700" cmpd="sng"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1407020"/>
                  </a:ext>
                </a:extLst>
              </a:tr>
              <a:tr h="9113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mpd="sng">
                      <a:noFill/>
                    </a:lnL>
                    <a:lnR w="12700" cmpd="sng">
                      <a:noFill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mpd="sng">
                      <a:noFill/>
                    </a:lnL>
                    <a:lnR w="12700" cmpd="sng">
                      <a:noFill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mpd="sng">
                      <a:noFill/>
                    </a:lnL>
                    <a:lnR w="12700" cmpd="sng">
                      <a:noFill/>
                    </a:lnR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mpd="sng">
                      <a:noFill/>
                    </a:lnL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8011057"/>
                  </a:ext>
                </a:extLst>
              </a:tr>
            </a:tbl>
          </a:graphicData>
        </a:graphic>
      </p:graphicFrame>
      <p:sp>
        <p:nvSpPr>
          <p:cNvPr id="79" name="직사각형 78"/>
          <p:cNvSpPr/>
          <p:nvPr/>
        </p:nvSpPr>
        <p:spPr bwMode="auto">
          <a:xfrm>
            <a:off x="982672" y="4713958"/>
            <a:ext cx="3366714" cy="433840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106693" y="5682997"/>
            <a:ext cx="472192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noProof="0" dirty="0" smtClean="0">
                <a:solidFill>
                  <a:schemeClr val="tx1"/>
                </a:solidFill>
                <a:latin typeface="KB금융 본문체 Medium"/>
                <a:ea typeface="KB금융 본문체 Medium"/>
              </a:rPr>
              <a:t>저장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/>
              <a:ea typeface="KB금융 본문체 Medium"/>
            </a:endParaRPr>
          </a:p>
        </p:txBody>
      </p:sp>
      <p:sp>
        <p:nvSpPr>
          <p:cNvPr id="8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624946" y="5682997"/>
            <a:ext cx="472192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/>
                <a:ea typeface="KB금융 본문체 Medium"/>
              </a:rPr>
              <a:t>닫기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/>
              <a:ea typeface="KB금융 본문체 Medium"/>
            </a:endParaRPr>
          </a:p>
        </p:txBody>
      </p:sp>
      <p:sp>
        <p:nvSpPr>
          <p:cNvPr id="82" name="직사각형 81"/>
          <p:cNvSpPr/>
          <p:nvPr/>
        </p:nvSpPr>
        <p:spPr bwMode="auto">
          <a:xfrm>
            <a:off x="2114814" y="5683878"/>
            <a:ext cx="482527" cy="189369"/>
          </a:xfrm>
          <a:prstGeom prst="rect">
            <a:avLst/>
          </a:prstGeom>
          <a:noFill/>
          <a:ln w="15875">
            <a:solidFill>
              <a:srgbClr val="FFBF0D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3" name="타원 8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025693" y="5618009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4" name="타원 8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898378" y="463295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85" name="구부러진 연결선 84"/>
          <p:cNvCxnSpPr/>
          <p:nvPr/>
        </p:nvCxnSpPr>
        <p:spPr bwMode="auto">
          <a:xfrm rot="10800000">
            <a:off x="2078188" y="1782827"/>
            <a:ext cx="3926830" cy="250319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graphicFrame>
        <p:nvGraphicFramePr>
          <p:cNvPr id="4" name="표 3"/>
          <p:cNvGraphicFramePr>
            <a:graphicFrameLocks noGrp="1"/>
          </p:cNvGraphicFramePr>
          <p:nvPr>
            <p:extLst/>
          </p:nvPr>
        </p:nvGraphicFramePr>
        <p:xfrm>
          <a:off x="4017625" y="5578752"/>
          <a:ext cx="2873626" cy="447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41476">
                  <a:extLst>
                    <a:ext uri="{9D8B030D-6E8A-4147-A177-3AD203B41FA5}">
                      <a16:colId xmlns:a16="http://schemas.microsoft.com/office/drawing/2014/main" val="3037181409"/>
                    </a:ext>
                  </a:extLst>
                </a:gridCol>
                <a:gridCol w="2432150">
                  <a:extLst>
                    <a:ext uri="{9D8B030D-6E8A-4147-A177-3AD203B41FA5}">
                      <a16:colId xmlns:a16="http://schemas.microsoft.com/office/drawing/2014/main" val="3831320393"/>
                    </a:ext>
                  </a:extLst>
                </a:gridCol>
              </a:tblGrid>
              <a:tr h="4474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검토의견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7083902"/>
                  </a:ext>
                </a:extLst>
              </a:tr>
            </a:tbl>
          </a:graphicData>
        </a:graphic>
      </p:graphicFrame>
      <p:sp>
        <p:nvSpPr>
          <p:cNvPr id="86" name="타원 8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519626" y="5479820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87" name="구부러진 연결선 86"/>
          <p:cNvCxnSpPr>
            <a:stCxn id="4" idx="1"/>
          </p:cNvCxnSpPr>
          <p:nvPr/>
        </p:nvCxnSpPr>
        <p:spPr bwMode="auto">
          <a:xfrm rot="10800000">
            <a:off x="1929283" y="5566646"/>
            <a:ext cx="2088343" cy="235837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38279006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그림 1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0344" y="3586975"/>
            <a:ext cx="6940563" cy="1357302"/>
          </a:xfrm>
          <a:prstGeom prst="rect">
            <a:avLst/>
          </a:prstGeom>
        </p:spPr>
      </p:pic>
      <p:pic>
        <p:nvPicPr>
          <p:cNvPr id="3" name="그림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0223" y="1045313"/>
            <a:ext cx="6940996" cy="2156075"/>
          </a:xfrm>
          <a:prstGeom prst="rect">
            <a:avLst/>
          </a:prstGeom>
        </p:spPr>
      </p:pic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MDD-00101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MDD75D10000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심의조사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지적사항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등록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지적사항관련등록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지적사항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등록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(P134</a:t>
                      </a:r>
                      <a:r>
                        <a:rPr lang="en-US" altLang="ko-KR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:</a:t>
                      </a:r>
                      <a:r>
                        <a:rPr lang="ko-KR" altLang="en-US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김용근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noProof="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46" name="표 45"/>
          <p:cNvGraphicFramePr>
            <a:graphicFrameLocks noGrp="1"/>
          </p:cNvGraphicFramePr>
          <p:nvPr>
            <p:extLst/>
          </p:nvPr>
        </p:nvGraphicFramePr>
        <p:xfrm>
          <a:off x="7207250" y="665523"/>
          <a:ext cx="2606675" cy="2087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[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지적사항추가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 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버튼 신설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 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기존 입력 항목 선택 후 내용 일부 변경하여 추가 클릭 시 수정이 아니라 새로운 행으로 추가되어 지적사항으로 등록됨 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지적사항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개별등록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개선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지적소분류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항목에 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‘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기타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’ 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코드 신설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 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감사역이 기존 소분류 외에 별도로 입력하고 싶은 내용 </a:t>
                      </a:r>
                      <a:r>
                        <a:rPr lang="ko-KR" altLang="en-US" sz="80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존재시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기타 클릭하여 직접 입력하는 기능 제공 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기타 코드 </a:t>
                      </a:r>
                      <a:r>
                        <a:rPr lang="ko-KR" altLang="en-US" sz="80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선택시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텍스트 입력 가능 창 표시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영업감사에서 기 입력 한 </a:t>
                      </a:r>
                      <a:r>
                        <a:rPr lang="ko-KR" altLang="en-US" sz="80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키워드분류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1, 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분류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2 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키워드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표시되며 추가 키워드 입력이 필요한 경우 키워드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4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와 키워드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5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에 입력 한다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단 키워드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4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와 키워드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5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는 필수 입력이 아님</a:t>
                      </a:r>
                      <a:endParaRPr lang="en-US" altLang="ko-KR" sz="800" kern="12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4673570"/>
                  </a:ext>
                </a:extLst>
              </a:tr>
            </a:tbl>
          </a:graphicData>
        </a:graphic>
      </p:graphicFrame>
      <p:sp>
        <p:nvSpPr>
          <p:cNvPr id="38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57985" y="1027649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498783" y="2049781"/>
            <a:ext cx="576000" cy="120411"/>
          </a:xfrm>
          <a:prstGeom prst="roundRect">
            <a:avLst>
              <a:gd name="adj" fmla="val 10228"/>
            </a:avLst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지적사항추가</a:t>
            </a:r>
            <a:endParaRPr kumimoji="0" lang="ko-KR" altLang="en-US" sz="7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47" name="표 46"/>
          <p:cNvGraphicFramePr>
            <a:graphicFrameLocks noGrp="1"/>
          </p:cNvGraphicFramePr>
          <p:nvPr>
            <p:extLst/>
          </p:nvPr>
        </p:nvGraphicFramePr>
        <p:xfrm>
          <a:off x="179387" y="1562351"/>
          <a:ext cx="6901399" cy="167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4782">
                  <a:extLst>
                    <a:ext uri="{9D8B030D-6E8A-4147-A177-3AD203B41FA5}">
                      <a16:colId xmlns:a16="http://schemas.microsoft.com/office/drawing/2014/main" val="116418039"/>
                    </a:ext>
                  </a:extLst>
                </a:gridCol>
                <a:gridCol w="447563">
                  <a:extLst>
                    <a:ext uri="{9D8B030D-6E8A-4147-A177-3AD203B41FA5}">
                      <a16:colId xmlns:a16="http://schemas.microsoft.com/office/drawing/2014/main" val="3100562875"/>
                    </a:ext>
                  </a:extLst>
                </a:gridCol>
                <a:gridCol w="471473">
                  <a:extLst>
                    <a:ext uri="{9D8B030D-6E8A-4147-A177-3AD203B41FA5}">
                      <a16:colId xmlns:a16="http://schemas.microsoft.com/office/drawing/2014/main" val="1271805106"/>
                    </a:ext>
                  </a:extLst>
                </a:gridCol>
                <a:gridCol w="345747">
                  <a:extLst>
                    <a:ext uri="{9D8B030D-6E8A-4147-A177-3AD203B41FA5}">
                      <a16:colId xmlns:a16="http://schemas.microsoft.com/office/drawing/2014/main" val="804749242"/>
                    </a:ext>
                  </a:extLst>
                </a:gridCol>
                <a:gridCol w="1170825">
                  <a:extLst>
                    <a:ext uri="{9D8B030D-6E8A-4147-A177-3AD203B41FA5}">
                      <a16:colId xmlns:a16="http://schemas.microsoft.com/office/drawing/2014/main" val="2466611260"/>
                    </a:ext>
                  </a:extLst>
                </a:gridCol>
                <a:gridCol w="573625">
                  <a:extLst>
                    <a:ext uri="{9D8B030D-6E8A-4147-A177-3AD203B41FA5}">
                      <a16:colId xmlns:a16="http://schemas.microsoft.com/office/drawing/2014/main" val="1265601846"/>
                    </a:ext>
                  </a:extLst>
                </a:gridCol>
                <a:gridCol w="573625">
                  <a:extLst>
                    <a:ext uri="{9D8B030D-6E8A-4147-A177-3AD203B41FA5}">
                      <a16:colId xmlns:a16="http://schemas.microsoft.com/office/drawing/2014/main" val="3161007414"/>
                    </a:ext>
                  </a:extLst>
                </a:gridCol>
                <a:gridCol w="1752309">
                  <a:extLst>
                    <a:ext uri="{9D8B030D-6E8A-4147-A177-3AD203B41FA5}">
                      <a16:colId xmlns:a16="http://schemas.microsoft.com/office/drawing/2014/main" val="1409079976"/>
                    </a:ext>
                  </a:extLst>
                </a:gridCol>
                <a:gridCol w="612916">
                  <a:extLst>
                    <a:ext uri="{9D8B030D-6E8A-4147-A177-3AD203B41FA5}">
                      <a16:colId xmlns:a16="http://schemas.microsoft.com/office/drawing/2014/main" val="2410649210"/>
                    </a:ext>
                  </a:extLst>
                </a:gridCol>
                <a:gridCol w="738534">
                  <a:extLst>
                    <a:ext uri="{9D8B030D-6E8A-4147-A177-3AD203B41FA5}">
                      <a16:colId xmlns:a16="http://schemas.microsoft.com/office/drawing/2014/main" val="3088564414"/>
                    </a:ext>
                  </a:extLst>
                </a:gridCol>
              </a:tblGrid>
              <a:tr h="16210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5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5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내부통제</a:t>
                      </a:r>
                      <a:endParaRPr lang="ko-KR" altLang="en-US" sz="5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41</a:t>
                      </a:r>
                      <a:endParaRPr lang="ko-KR" altLang="en-US" sz="5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[2923]</a:t>
                      </a:r>
                      <a:r>
                        <a:rPr lang="ko-KR" altLang="en-US" sz="5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오장동</a:t>
                      </a:r>
                      <a:endParaRPr lang="ko-KR" altLang="en-US" sz="5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내부통제부문</a:t>
                      </a:r>
                      <a:endParaRPr lang="ko-KR" altLang="en-US" sz="5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2024-04-02</a:t>
                      </a:r>
                      <a:endParaRPr lang="ko-KR" altLang="en-US" sz="5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5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주택자금대출업무 취급소홀</a:t>
                      </a:r>
                      <a:endParaRPr lang="ko-KR" altLang="en-US" sz="5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현지조치</a:t>
                      </a:r>
                      <a:endParaRPr lang="ko-KR" altLang="en-US" sz="5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[2508181] </a:t>
                      </a:r>
                      <a:r>
                        <a:rPr lang="ko-KR" altLang="en-US" sz="5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성</a:t>
                      </a:r>
                      <a:endParaRPr lang="ko-KR" altLang="en-US" sz="5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8445213"/>
                  </a:ext>
                </a:extLst>
              </a:tr>
            </a:tbl>
          </a:graphicData>
        </a:graphic>
      </p:graphicFrame>
      <p:sp>
        <p:nvSpPr>
          <p:cNvPr id="50" name="직사각형 49"/>
          <p:cNvSpPr/>
          <p:nvPr/>
        </p:nvSpPr>
        <p:spPr bwMode="auto">
          <a:xfrm>
            <a:off x="196698" y="1553890"/>
            <a:ext cx="6884521" cy="172979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4" name="직사각형 53"/>
          <p:cNvSpPr/>
          <p:nvPr/>
        </p:nvSpPr>
        <p:spPr bwMode="auto">
          <a:xfrm>
            <a:off x="5466311" y="2011750"/>
            <a:ext cx="648000" cy="185420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630518" y="188610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57" name="구부러진 연결선 56"/>
          <p:cNvCxnSpPr>
            <a:stCxn id="54" idx="0"/>
          </p:cNvCxnSpPr>
          <p:nvPr/>
        </p:nvCxnSpPr>
        <p:spPr bwMode="auto">
          <a:xfrm rot="16200000" flipV="1">
            <a:off x="5506887" y="1728326"/>
            <a:ext cx="281904" cy="284944"/>
          </a:xfrm>
          <a:prstGeom prst="curvedConnector2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graphicFrame>
        <p:nvGraphicFramePr>
          <p:cNvPr id="60" name="표 59"/>
          <p:cNvGraphicFramePr>
            <a:graphicFrameLocks noGrp="1"/>
          </p:cNvGraphicFramePr>
          <p:nvPr>
            <p:extLst/>
          </p:nvPr>
        </p:nvGraphicFramePr>
        <p:xfrm>
          <a:off x="196988" y="3209316"/>
          <a:ext cx="6779609" cy="182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8822">
                  <a:extLst>
                    <a:ext uri="{9D8B030D-6E8A-4147-A177-3AD203B41FA5}">
                      <a16:colId xmlns:a16="http://schemas.microsoft.com/office/drawing/2014/main" val="3183066879"/>
                    </a:ext>
                  </a:extLst>
                </a:gridCol>
                <a:gridCol w="6360787">
                  <a:extLst>
                    <a:ext uri="{9D8B030D-6E8A-4147-A177-3AD203B41FA5}">
                      <a16:colId xmlns:a16="http://schemas.microsoft.com/office/drawing/2014/main" val="357822918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기타사항</a:t>
                      </a:r>
                      <a:endParaRPr lang="ko-KR" altLang="en-US" sz="6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감사역이 직접 기타 </a:t>
                      </a:r>
                      <a:r>
                        <a:rPr lang="ko-KR" altLang="en-US" sz="6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분류내용</a:t>
                      </a:r>
                      <a:r>
                        <a:rPr lang="ko-KR" altLang="en-US" sz="6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기재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1408445"/>
                  </a:ext>
                </a:extLst>
              </a:tr>
            </a:tbl>
          </a:graphicData>
        </a:graphic>
      </p:graphicFrame>
      <p:sp>
        <p:nvSpPr>
          <p:cNvPr id="61" name="직사각형 60"/>
          <p:cNvSpPr/>
          <p:nvPr/>
        </p:nvSpPr>
        <p:spPr bwMode="auto">
          <a:xfrm>
            <a:off x="182703" y="3208046"/>
            <a:ext cx="6793896" cy="170609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63" name="표 62"/>
          <p:cNvGraphicFramePr>
            <a:graphicFrameLocks noGrp="1"/>
          </p:cNvGraphicFramePr>
          <p:nvPr>
            <p:extLst/>
          </p:nvPr>
        </p:nvGraphicFramePr>
        <p:xfrm>
          <a:off x="193090" y="3398834"/>
          <a:ext cx="6783508" cy="182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01270">
                  <a:extLst>
                    <a:ext uri="{9D8B030D-6E8A-4147-A177-3AD203B41FA5}">
                      <a16:colId xmlns:a16="http://schemas.microsoft.com/office/drawing/2014/main" val="3183066879"/>
                    </a:ext>
                  </a:extLst>
                </a:gridCol>
                <a:gridCol w="6382238">
                  <a:extLst>
                    <a:ext uri="{9D8B030D-6E8A-4147-A177-3AD203B41FA5}">
                      <a16:colId xmlns:a16="http://schemas.microsoft.com/office/drawing/2014/main" val="357822918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키워드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1408445"/>
                  </a:ext>
                </a:extLst>
              </a:tr>
            </a:tbl>
          </a:graphicData>
        </a:graphic>
      </p:graphicFrame>
      <p:sp>
        <p:nvSpPr>
          <p:cNvPr id="64" name="직사각형 63"/>
          <p:cNvSpPr/>
          <p:nvPr/>
        </p:nvSpPr>
        <p:spPr bwMode="auto">
          <a:xfrm>
            <a:off x="182411" y="3387980"/>
            <a:ext cx="6794187" cy="185420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14" name="그림 1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10892" y="4308068"/>
            <a:ext cx="2670541" cy="1827212"/>
          </a:xfrm>
          <a:prstGeom prst="rect">
            <a:avLst/>
          </a:prstGeom>
        </p:spPr>
      </p:pic>
      <p:graphicFrame>
        <p:nvGraphicFramePr>
          <p:cNvPr id="68" name="내용 개체 틀 121"/>
          <p:cNvGraphicFramePr>
            <a:graphicFrameLocks/>
          </p:cNvGraphicFramePr>
          <p:nvPr>
            <p:extLst/>
          </p:nvPr>
        </p:nvGraphicFramePr>
        <p:xfrm>
          <a:off x="4058288" y="6066419"/>
          <a:ext cx="1495802" cy="1727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6658">
                  <a:extLst>
                    <a:ext uri="{9D8B030D-6E8A-4147-A177-3AD203B41FA5}">
                      <a16:colId xmlns:a16="http://schemas.microsoft.com/office/drawing/2014/main" val="4186060632"/>
                    </a:ext>
                  </a:extLst>
                </a:gridCol>
                <a:gridCol w="810543">
                  <a:extLst>
                    <a:ext uri="{9D8B030D-6E8A-4147-A177-3AD203B41FA5}">
                      <a16:colId xmlns:a16="http://schemas.microsoft.com/office/drawing/2014/main" val="1325555519"/>
                    </a:ext>
                  </a:extLst>
                </a:gridCol>
                <a:gridCol w="498601">
                  <a:extLst>
                    <a:ext uri="{9D8B030D-6E8A-4147-A177-3AD203B41FA5}">
                      <a16:colId xmlns:a16="http://schemas.microsoft.com/office/drawing/2014/main" val="2118101267"/>
                    </a:ext>
                  </a:extLst>
                </a:gridCol>
              </a:tblGrid>
              <a:tr h="172750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0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9999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기타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0641114"/>
                  </a:ext>
                </a:extLst>
              </a:tr>
            </a:tbl>
          </a:graphicData>
        </a:graphic>
      </p:graphicFrame>
      <p:sp>
        <p:nvSpPr>
          <p:cNvPr id="69" name="직사각형 68"/>
          <p:cNvSpPr/>
          <p:nvPr/>
        </p:nvSpPr>
        <p:spPr bwMode="auto">
          <a:xfrm>
            <a:off x="4054795" y="6077118"/>
            <a:ext cx="1490982" cy="145423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0" name="직사각형 69"/>
          <p:cNvSpPr/>
          <p:nvPr/>
        </p:nvSpPr>
        <p:spPr bwMode="auto">
          <a:xfrm>
            <a:off x="4010891" y="4312423"/>
            <a:ext cx="2670541" cy="1910118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1" name="타원 7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40223" y="303087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2" name="타원 7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92077" y="342048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4" name="직사각형 23"/>
          <p:cNvSpPr/>
          <p:nvPr/>
        </p:nvSpPr>
        <p:spPr>
          <a:xfrm>
            <a:off x="7182232" y="2871646"/>
            <a:ext cx="2629846" cy="104644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85725" indent="-85725"/>
            <a:r>
              <a:rPr lang="en-US" altLang="ko-KR" sz="900" dirty="0" smtClean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※</a:t>
            </a:r>
            <a:r>
              <a:rPr lang="en-US" altLang="ko-KR" dirty="0" smtClean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 </a:t>
            </a:r>
            <a:r>
              <a:rPr kumimoji="0" lang="en-US" altLang="ko-KR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‘</a:t>
            </a:r>
            <a:r>
              <a:rPr kumimoji="0" lang="ko-KR" altLang="en-US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추가</a:t>
            </a:r>
            <a:r>
              <a:rPr kumimoji="0" lang="en-US" altLang="ko-KR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’ </a:t>
            </a:r>
            <a:r>
              <a:rPr kumimoji="0" lang="ko-KR" altLang="en-US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버튼을 </a:t>
            </a:r>
            <a:r>
              <a:rPr kumimoji="0" lang="ko-KR" altLang="en-US" sz="800" b="1" kern="0" dirty="0" err="1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신설할경우</a:t>
            </a:r>
            <a:r>
              <a:rPr kumimoji="0" lang="ko-KR" altLang="en-US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기존 </a:t>
            </a:r>
            <a:r>
              <a:rPr kumimoji="0" lang="ko-KR" altLang="en-US" sz="800" b="1" kern="0" dirty="0" err="1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등록버튼과</a:t>
            </a:r>
            <a:r>
              <a:rPr kumimoji="0" lang="ko-KR" altLang="en-US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같은 등록 </a:t>
            </a:r>
            <a:endParaRPr kumimoji="0" lang="en-US" altLang="ko-KR" sz="800" b="1" kern="0" dirty="0" smtClean="0">
              <a:solidFill>
                <a:schemeClr val="tx2">
                  <a:lumMod val="60000"/>
                  <a:lumOff val="40000"/>
                </a:schemeClr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85725" indent="-85725"/>
            <a:r>
              <a:rPr kumimoji="0" lang="ko-KR" altLang="en-US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처리를</a:t>
            </a:r>
            <a:r>
              <a:rPr kumimoji="0" lang="en-US" altLang="ko-KR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ko-KR" altLang="en-US" sz="800" b="1" kern="0" dirty="0" err="1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하는것인데</a:t>
            </a:r>
            <a:r>
              <a:rPr kumimoji="0" lang="ko-KR" altLang="en-US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내용이 변경된 후 계속 추가가 된다면 </a:t>
            </a:r>
            <a:endParaRPr kumimoji="0" lang="en-US" altLang="ko-KR" sz="800" b="1" kern="0" dirty="0" smtClean="0">
              <a:solidFill>
                <a:schemeClr val="tx2">
                  <a:lumMod val="60000"/>
                  <a:lumOff val="40000"/>
                </a:schemeClr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85725" indent="-85725"/>
            <a:r>
              <a:rPr kumimoji="0" lang="ko-KR" altLang="en-US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기존 수정버튼을 사용할 것인지 </a:t>
            </a:r>
            <a:r>
              <a:rPr kumimoji="0" lang="en-US" altLang="ko-KR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r>
              <a:rPr kumimoji="0" lang="ko-KR" altLang="en-US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번 내용으로 </a:t>
            </a:r>
            <a:r>
              <a:rPr kumimoji="0" lang="ko-KR" altLang="en-US" sz="800" b="1" kern="0" dirty="0" err="1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볼때</a:t>
            </a:r>
            <a:r>
              <a:rPr kumimoji="0" lang="ko-KR" altLang="en-US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수정이 </a:t>
            </a:r>
            <a:endParaRPr kumimoji="0" lang="en-US" altLang="ko-KR" sz="800" b="1" kern="0" dirty="0" smtClean="0">
              <a:solidFill>
                <a:schemeClr val="tx2">
                  <a:lumMod val="60000"/>
                  <a:lumOff val="40000"/>
                </a:schemeClr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85725" indent="-85725"/>
            <a:r>
              <a:rPr kumimoji="0" lang="ko-KR" altLang="en-US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아니라 </a:t>
            </a:r>
            <a:r>
              <a:rPr kumimoji="0" lang="ko-KR" altLang="en-US" sz="800" b="1" kern="0" dirty="0" err="1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새로운행</a:t>
            </a:r>
            <a:r>
              <a:rPr kumimoji="0" lang="ko-KR" altLang="en-US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ko-KR" altLang="en-US" sz="800" b="1" kern="0" dirty="0" err="1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추가라고</a:t>
            </a:r>
            <a:r>
              <a:rPr kumimoji="0" lang="ko-KR" altLang="en-US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명시가 되어있음 </a:t>
            </a:r>
            <a:r>
              <a:rPr kumimoji="0" lang="ko-KR" altLang="en-US" sz="800" b="1" kern="0" dirty="0" err="1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추가버튼</a:t>
            </a:r>
            <a:r>
              <a:rPr kumimoji="0" lang="ko-KR" altLang="en-US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신설 </a:t>
            </a:r>
            <a:endParaRPr kumimoji="0" lang="en-US" altLang="ko-KR" sz="800" b="1" kern="0" dirty="0" smtClean="0">
              <a:solidFill>
                <a:schemeClr val="tx2">
                  <a:lumMod val="60000"/>
                  <a:lumOff val="40000"/>
                </a:schemeClr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85725" indent="-85725"/>
            <a:r>
              <a:rPr kumimoji="0" lang="ko-KR" altLang="en-US" sz="800" b="1" kern="0" dirty="0" err="1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수정버튼</a:t>
            </a:r>
            <a:r>
              <a:rPr kumimoji="0" lang="ko-KR" altLang="en-US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삭제가 맞는지 요건 확인 필요</a:t>
            </a:r>
            <a:endParaRPr kumimoji="0" lang="ko-KR" altLang="en-US" sz="800" b="1" kern="0" dirty="0">
              <a:solidFill>
                <a:schemeClr val="tx2">
                  <a:lumMod val="60000"/>
                  <a:lumOff val="40000"/>
                </a:schemeClr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024092" y="422005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666750" y="3394866"/>
            <a:ext cx="3625317" cy="185321"/>
            <a:chOff x="323850" y="5288580"/>
            <a:chExt cx="3625317" cy="185321"/>
          </a:xfrm>
        </p:grpSpPr>
        <p:grpSp>
          <p:nvGrpSpPr>
            <p:cNvPr id="4" name="그룹 3"/>
            <p:cNvGrpSpPr/>
            <p:nvPr/>
          </p:nvGrpSpPr>
          <p:grpSpPr>
            <a:xfrm>
              <a:off x="323850" y="5289240"/>
              <a:ext cx="699926" cy="180915"/>
              <a:chOff x="1200150" y="5289240"/>
              <a:chExt cx="699926" cy="180915"/>
            </a:xfrm>
          </p:grpSpPr>
          <p:sp>
            <p:nvSpPr>
              <p:cNvPr id="26" name="직사각형 25">
                <a:extLst>
                  <a:ext uri="{FF2B5EF4-FFF2-40B4-BE49-F238E27FC236}">
                    <a16:creationId xmlns:a16="http://schemas.microsoft.com/office/drawing/2014/main" id="{8496AE9A-918C-02A3-5D86-D758A9983A24}"/>
                  </a:ext>
                </a:extLst>
              </p:cNvPr>
              <p:cNvSpPr/>
              <p:nvPr/>
            </p:nvSpPr>
            <p:spPr bwMode="auto">
              <a:xfrm>
                <a:off x="1200150" y="5289240"/>
                <a:ext cx="699926" cy="180915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none" lIns="36000" rtlCol="0" anchor="ctr" anchorCtr="0">
                <a:noAutofit/>
              </a:bodyPr>
              <a:lstStyle/>
              <a:p>
                <a:pPr marL="0" marR="0" lvl="0" indent="0" defTabSz="91428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normalizeH="0" noProof="0" dirty="0" err="1" smtClean="0">
                    <a:ln>
                      <a:solidFill>
                        <a:prstClr val="black">
                          <a:alpha val="0"/>
                        </a:prstClr>
                      </a:solidFill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KB금융 본문체 Medium" panose="020B0603000000000000" pitchFamily="50" charset="-127"/>
                    <a:ea typeface="KB금융 본문체 Medium" panose="020B0603000000000000" pitchFamily="50" charset="-127"/>
                  </a:rPr>
                  <a:t>키워드분류</a:t>
                </a:r>
                <a:r>
                  <a:rPr kumimoji="0" lang="en-US" altLang="ko-KR" sz="700" b="0" i="0" u="none" strike="noStrike" kern="1200" cap="none" normalizeH="0" noProof="0" dirty="0" smtClean="0">
                    <a:ln>
                      <a:solidFill>
                        <a:prstClr val="black">
                          <a:alpha val="0"/>
                        </a:prstClr>
                      </a:solidFill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KB금융 본문체 Medium" panose="020B0603000000000000" pitchFamily="50" charset="-127"/>
                    <a:ea typeface="KB금융 본문체 Medium" panose="020B0603000000000000" pitchFamily="50" charset="-127"/>
                  </a:rPr>
                  <a:t>1</a:t>
                </a:r>
                <a:endParaRPr kumimoji="0" lang="ko-KR" altLang="en-US" sz="700" b="0" i="0" u="none" strike="noStrike" kern="1200" cap="none" normalizeH="0" noProof="0" dirty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srgbClr val="0070C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endParaRPr>
              </a:p>
            </p:txBody>
          </p:sp>
          <p:sp>
            <p:nvSpPr>
              <p:cNvPr id="25" name="이등변 삼각형 24">
                <a:extLst>
                  <a:ext uri="{FF2B5EF4-FFF2-40B4-BE49-F238E27FC236}">
                    <a16:creationId xmlns:a16="http://schemas.microsoft.com/office/drawing/2014/main" id="{4128FDEE-AB47-6109-0FCA-CC8457AEB3E7}"/>
                  </a:ext>
                </a:extLst>
              </p:cNvPr>
              <p:cNvSpPr/>
              <p:nvPr/>
            </p:nvSpPr>
            <p:spPr>
              <a:xfrm rot="10800000">
                <a:off x="1759563" y="5325038"/>
                <a:ext cx="108000" cy="108000"/>
              </a:xfrm>
              <a:prstGeom prst="triangl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28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200" b="0" i="0" u="none" strike="noStrike" kern="1200" cap="none" spc="-10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endParaRPr>
              </a:p>
            </p:txBody>
          </p:sp>
        </p:grpSp>
        <p:grpSp>
          <p:nvGrpSpPr>
            <p:cNvPr id="28" name="그룹 27"/>
            <p:cNvGrpSpPr/>
            <p:nvPr/>
          </p:nvGrpSpPr>
          <p:grpSpPr>
            <a:xfrm>
              <a:off x="1054100" y="5292986"/>
              <a:ext cx="699926" cy="180915"/>
              <a:chOff x="1200150" y="5289240"/>
              <a:chExt cx="699926" cy="180915"/>
            </a:xfrm>
          </p:grpSpPr>
          <p:sp>
            <p:nvSpPr>
              <p:cNvPr id="29" name="직사각형 28">
                <a:extLst>
                  <a:ext uri="{FF2B5EF4-FFF2-40B4-BE49-F238E27FC236}">
                    <a16:creationId xmlns:a16="http://schemas.microsoft.com/office/drawing/2014/main" id="{8496AE9A-918C-02A3-5D86-D758A9983A24}"/>
                  </a:ext>
                </a:extLst>
              </p:cNvPr>
              <p:cNvSpPr/>
              <p:nvPr/>
            </p:nvSpPr>
            <p:spPr bwMode="auto">
              <a:xfrm>
                <a:off x="1200150" y="5289240"/>
                <a:ext cx="699926" cy="180915"/>
              </a:xfrm>
              <a:prstGeom prst="rect">
                <a:avLst/>
              </a:prstGeom>
              <a:solidFill>
                <a:schemeClr val="bg2">
                  <a:lumMod val="90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none" lIns="36000" rtlCol="0" anchor="ctr" anchorCtr="0">
                <a:noAutofit/>
              </a:bodyPr>
              <a:lstStyle/>
              <a:p>
                <a:pPr marL="0" marR="0" lvl="0" indent="0" defTabSz="91428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normalizeH="0" noProof="0" dirty="0" err="1" smtClean="0">
                    <a:ln>
                      <a:solidFill>
                        <a:prstClr val="black">
                          <a:alpha val="0"/>
                        </a:prstClr>
                      </a:solidFill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KB금융 본문체 Medium" panose="020B0603000000000000" pitchFamily="50" charset="-127"/>
                    <a:ea typeface="KB금융 본문체 Medium" panose="020B0603000000000000" pitchFamily="50" charset="-127"/>
                  </a:rPr>
                  <a:t>키워드분류</a:t>
                </a:r>
                <a:r>
                  <a:rPr kumimoji="0" lang="en-US" altLang="ko-KR" sz="700" dirty="0">
                    <a:ln>
                      <a:solidFill>
                        <a:prstClr val="black">
                          <a:alpha val="0"/>
                        </a:prstClr>
                      </a:solidFill>
                    </a:ln>
                    <a:solidFill>
                      <a:srgbClr val="0070C0"/>
                    </a:solidFill>
                    <a:latin typeface="KB금융 본문체 Medium" panose="020B0603000000000000" pitchFamily="50" charset="-127"/>
                    <a:ea typeface="KB금융 본문체 Medium" panose="020B0603000000000000" pitchFamily="50" charset="-127"/>
                  </a:rPr>
                  <a:t>2</a:t>
                </a:r>
                <a:endParaRPr kumimoji="0" lang="ko-KR" altLang="en-US" sz="700" b="0" i="0" u="none" strike="noStrike" kern="1200" cap="none" normalizeH="0" noProof="0" dirty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srgbClr val="0070C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endParaRPr>
              </a:p>
            </p:txBody>
          </p:sp>
          <p:sp>
            <p:nvSpPr>
              <p:cNvPr id="30" name="이등변 삼각형 29">
                <a:extLst>
                  <a:ext uri="{FF2B5EF4-FFF2-40B4-BE49-F238E27FC236}">
                    <a16:creationId xmlns:a16="http://schemas.microsoft.com/office/drawing/2014/main" id="{4128FDEE-AB47-6109-0FCA-CC8457AEB3E7}"/>
                  </a:ext>
                </a:extLst>
              </p:cNvPr>
              <p:cNvSpPr/>
              <p:nvPr/>
            </p:nvSpPr>
            <p:spPr>
              <a:xfrm rot="10800000">
                <a:off x="1759563" y="5325038"/>
                <a:ext cx="108000" cy="108000"/>
              </a:xfrm>
              <a:prstGeom prst="triangl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28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200" b="0" i="0" u="none" strike="noStrike" kern="1200" cap="none" spc="-10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endParaRPr>
              </a:p>
            </p:txBody>
          </p:sp>
        </p:grp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785014" y="5289240"/>
              <a:ext cx="699926" cy="180915"/>
            </a:xfrm>
            <a:prstGeom prst="rect">
              <a:avLst/>
            </a:prstGeom>
            <a:solidFill>
              <a:schemeClr val="bg2">
                <a:lumMod val="90000"/>
              </a:schemeClr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36000" rtlCol="0" anchor="ctr" anchorCtr="0">
              <a:noAutofit/>
            </a:bodyPr>
            <a:lstStyle/>
            <a:p>
              <a:pPr marL="0" marR="0" lvl="0" indent="0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normalizeH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srgbClr val="0070C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키워드</a:t>
              </a:r>
              <a:r>
                <a:rPr kumimoji="0" lang="en-US" altLang="ko-KR" sz="700" b="0" i="0" u="none" strike="noStrike" kern="1200" cap="none" normalizeH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srgbClr val="0070C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3</a:t>
              </a:r>
              <a:endParaRPr kumimoji="0" lang="ko-KR" altLang="en-US" sz="7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rgbClr val="0070C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2515264" y="5289240"/>
              <a:ext cx="699926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36000" rtlCol="0" anchor="ctr" anchorCtr="0">
              <a:noAutofit/>
            </a:bodyPr>
            <a:lstStyle/>
            <a:p>
              <a:pPr marL="0" marR="0" lvl="0" indent="0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normalizeH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srgbClr val="0070C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키워드</a:t>
              </a:r>
              <a:r>
                <a:rPr kumimoji="0" lang="en-US" altLang="ko-KR" sz="700" dirty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srgbClr val="0070C0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4</a:t>
              </a:r>
              <a:endParaRPr kumimoji="0" lang="ko-KR" altLang="en-US" sz="7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rgbClr val="0070C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3249241" y="5288580"/>
              <a:ext cx="699926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36000" rtlCol="0" anchor="ctr" anchorCtr="0">
              <a:noAutofit/>
            </a:bodyPr>
            <a:lstStyle/>
            <a:p>
              <a:pPr marL="0" marR="0" lvl="0" indent="0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normalizeH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srgbClr val="0070C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키워드</a:t>
              </a:r>
              <a:r>
                <a:rPr kumimoji="0" lang="en-US" altLang="ko-KR" sz="700" b="0" i="0" u="none" strike="noStrike" kern="1200" cap="none" normalizeH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srgbClr val="0070C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5</a:t>
              </a:r>
              <a:endParaRPr kumimoji="0" lang="ko-KR" altLang="en-US" sz="7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rgbClr val="0070C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540308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MDD-00101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MDD75D10000</a:t>
                      </a:r>
                      <a:endParaRPr lang="ko-KR" altLang="en-US" sz="12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심의조사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지적사항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등록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지적사항관련등록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지적사항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등록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(P135</a:t>
                      </a:r>
                      <a:r>
                        <a:rPr lang="en-US" altLang="ko-KR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:</a:t>
                      </a:r>
                      <a:r>
                        <a:rPr lang="ko-KR" altLang="en-US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김용근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noProof="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46" name="표 45"/>
          <p:cNvGraphicFramePr>
            <a:graphicFrameLocks noGrp="1"/>
          </p:cNvGraphicFramePr>
          <p:nvPr>
            <p:extLst/>
          </p:nvPr>
        </p:nvGraphicFramePr>
        <p:xfrm>
          <a:off x="7207250" y="665523"/>
          <a:ext cx="2606675" cy="19712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지적세부사항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-</a:t>
                      </a:r>
                      <a:r>
                        <a:rPr lang="ko-KR" altLang="en-US" sz="80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계좌별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관련자 입력 시 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‘</a:t>
                      </a:r>
                      <a:r>
                        <a:rPr lang="ko-KR" altLang="en-US" sz="80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당시직급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’, ‘</a:t>
                      </a:r>
                      <a:r>
                        <a:rPr lang="ko-KR" altLang="en-US" sz="80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담당기간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’ 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자동 입력되도록 개선</a:t>
                      </a:r>
                      <a:endParaRPr lang="en-US" altLang="ko-KR" sz="800" kern="12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endParaRPr lang="ko-KR" altLang="en-US" sz="800" kern="1200" noProof="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입력한계선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표시하여 사용자가 </a:t>
                      </a:r>
                      <a:endParaRPr lang="en-US" altLang="ko-KR" sz="800" kern="12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엔터를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치도록 유도</a:t>
                      </a:r>
                      <a:endParaRPr lang="en-US" altLang="ko-KR" sz="800" kern="12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ko-KR" altLang="en-US" sz="800" b="1" kern="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★ </a:t>
                      </a:r>
                      <a:r>
                        <a:rPr lang="ko-KR" altLang="en-US" sz="80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②</a:t>
                      </a:r>
                      <a:r>
                        <a:rPr lang="en-US" altLang="ko-KR" sz="80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와 ③</a:t>
                      </a:r>
                      <a:r>
                        <a:rPr lang="en-US" altLang="ko-KR" sz="80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내용과 비교하여 어느 방법으로 할지 선택 문의</a:t>
                      </a:r>
                      <a:endParaRPr lang="en-US" altLang="ko-KR" sz="800" kern="1200" dirty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endParaRPr lang="en-US" altLang="ko-KR" sz="800" kern="1200" dirty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2002713"/>
                  </a:ext>
                </a:extLst>
              </a:tr>
            </a:tbl>
          </a:graphicData>
        </a:graphic>
      </p:graphicFrame>
      <p:sp>
        <p:nvSpPr>
          <p:cNvPr id="24" name="양쪽 모서리가 둥근 사각형 23"/>
          <p:cNvSpPr/>
          <p:nvPr/>
        </p:nvSpPr>
        <p:spPr bwMode="auto">
          <a:xfrm>
            <a:off x="234008" y="1062343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noProof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지적사항 등록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34009" y="1248078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26" name="그림 2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27505" y="1333036"/>
            <a:ext cx="6732899" cy="3544912"/>
          </a:xfrm>
          <a:prstGeom prst="rect">
            <a:avLst/>
          </a:prstGeom>
        </p:spPr>
      </p:pic>
      <p:sp>
        <p:nvSpPr>
          <p:cNvPr id="29" name="직사각형 28"/>
          <p:cNvSpPr/>
          <p:nvPr/>
        </p:nvSpPr>
        <p:spPr bwMode="auto">
          <a:xfrm>
            <a:off x="259557" y="3712072"/>
            <a:ext cx="3600320" cy="1165876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90754" y="362975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31" name="그림 3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18655" y="1626722"/>
            <a:ext cx="2306148" cy="1791665"/>
          </a:xfrm>
          <a:prstGeom prst="rect">
            <a:avLst/>
          </a:prstGeom>
        </p:spPr>
      </p:pic>
      <p:sp>
        <p:nvSpPr>
          <p:cNvPr id="32" name="직사각형 31"/>
          <p:cNvSpPr/>
          <p:nvPr/>
        </p:nvSpPr>
        <p:spPr bwMode="auto">
          <a:xfrm flipV="1">
            <a:off x="557759" y="1996661"/>
            <a:ext cx="467477" cy="191019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3" name="직사각형 32"/>
          <p:cNvSpPr/>
          <p:nvPr/>
        </p:nvSpPr>
        <p:spPr bwMode="auto">
          <a:xfrm flipV="1">
            <a:off x="1851503" y="2152374"/>
            <a:ext cx="2273300" cy="457129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34" name="구부러진 연결선 33"/>
          <p:cNvCxnSpPr>
            <a:stCxn id="32" idx="3"/>
            <a:endCxn id="33" idx="1"/>
          </p:cNvCxnSpPr>
          <p:nvPr/>
        </p:nvCxnSpPr>
        <p:spPr bwMode="auto">
          <a:xfrm>
            <a:off x="1025236" y="2092170"/>
            <a:ext cx="826267" cy="288768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36" name="직사각형 35"/>
          <p:cNvSpPr/>
          <p:nvPr/>
        </p:nvSpPr>
        <p:spPr bwMode="auto">
          <a:xfrm>
            <a:off x="2606700" y="3712071"/>
            <a:ext cx="45719" cy="1165877"/>
          </a:xfrm>
          <a:prstGeom prst="rect">
            <a:avLst/>
          </a:prstGeom>
          <a:solidFill>
            <a:schemeClr val="accent6">
              <a:lumMod val="60000"/>
              <a:lumOff val="40000"/>
              <a:alpha val="20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57759" y="181800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38974" y="4928770"/>
            <a:ext cx="1137530" cy="1141959"/>
          </a:xfrm>
          <a:prstGeom prst="rect">
            <a:avLst/>
          </a:prstGeom>
        </p:spPr>
      </p:pic>
      <p:pic>
        <p:nvPicPr>
          <p:cNvPr id="4" name="그림 3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4007" y="4938152"/>
            <a:ext cx="2418411" cy="1132577"/>
          </a:xfrm>
          <a:prstGeom prst="rect">
            <a:avLst/>
          </a:prstGeom>
        </p:spPr>
      </p:pic>
      <p:sp>
        <p:nvSpPr>
          <p:cNvPr id="19" name="직사각형 18"/>
          <p:cNvSpPr/>
          <p:nvPr/>
        </p:nvSpPr>
        <p:spPr bwMode="auto">
          <a:xfrm>
            <a:off x="260757" y="4931892"/>
            <a:ext cx="3600320" cy="1165876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6" name="직선 연결선 5"/>
          <p:cNvCxnSpPr/>
          <p:nvPr/>
        </p:nvCxnSpPr>
        <p:spPr bwMode="auto">
          <a:xfrm>
            <a:off x="2652418" y="4938152"/>
            <a:ext cx="0" cy="1132577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22" name="타원 2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89899" y="485837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0" name="직사각형 19"/>
          <p:cNvSpPr/>
          <p:nvPr/>
        </p:nvSpPr>
        <p:spPr>
          <a:xfrm>
            <a:off x="7098010" y="2802834"/>
            <a:ext cx="2970685" cy="123110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85725" indent="-85725"/>
            <a:r>
              <a:rPr lang="en-US" altLang="ko-KR" sz="900" dirty="0" smtClean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※</a:t>
            </a:r>
            <a:r>
              <a:rPr lang="en-US" altLang="ko-KR" dirty="0" smtClean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 </a:t>
            </a:r>
            <a:r>
              <a:rPr kumimoji="0" lang="ko-KR" altLang="en-US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계좌별관련자 내용중 당시 직급</a:t>
            </a:r>
            <a:r>
              <a:rPr kumimoji="0" lang="en-US" altLang="ko-KR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</a:t>
            </a:r>
            <a:r>
              <a:rPr kumimoji="0" lang="ko-KR" altLang="en-US" sz="800" b="1" kern="0" dirty="0" err="1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담당기간은</a:t>
            </a:r>
            <a:r>
              <a:rPr kumimoji="0" lang="ko-KR" altLang="en-US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ko-KR" altLang="en-US" sz="800" b="1" kern="0" dirty="0" err="1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해당직원을</a:t>
            </a:r>
            <a:r>
              <a:rPr kumimoji="0" lang="ko-KR" altLang="en-US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조회하는</a:t>
            </a:r>
            <a:endParaRPr kumimoji="0" lang="en-US" altLang="ko-KR" sz="800" b="1" kern="0" dirty="0" smtClean="0">
              <a:solidFill>
                <a:schemeClr val="tx2">
                  <a:lumMod val="60000"/>
                  <a:lumOff val="40000"/>
                </a:schemeClr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85725" indent="-85725"/>
            <a:r>
              <a:rPr kumimoji="0" lang="en-US" altLang="ko-KR" sz="800" b="1" kern="0" dirty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</a:t>
            </a:r>
            <a:r>
              <a:rPr kumimoji="0" lang="ko-KR" altLang="en-US" sz="800" b="1" kern="0" dirty="0" err="1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공통팝업이</a:t>
            </a:r>
            <a:r>
              <a:rPr kumimoji="0" lang="ko-KR" altLang="en-US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존재하고 </a:t>
            </a:r>
            <a:r>
              <a:rPr kumimoji="0" lang="ko-KR" altLang="en-US" sz="800" b="1" kern="0" dirty="0" err="1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담당업무와</a:t>
            </a:r>
            <a:r>
              <a:rPr kumimoji="0" lang="ko-KR" altLang="en-US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ko-KR" altLang="en-US" sz="800" b="1" kern="0" dirty="0" err="1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담당기간은</a:t>
            </a:r>
            <a:r>
              <a:rPr kumimoji="0" lang="ko-KR" altLang="en-US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어느 내용을 보여줄지</a:t>
            </a:r>
            <a:endParaRPr kumimoji="0" lang="en-US" altLang="ko-KR" sz="800" b="1" kern="0" dirty="0" smtClean="0">
              <a:solidFill>
                <a:schemeClr val="tx2">
                  <a:lumMod val="60000"/>
                  <a:lumOff val="40000"/>
                </a:schemeClr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85725" indent="-85725"/>
            <a:r>
              <a:rPr kumimoji="0" lang="en-US" altLang="ko-KR" sz="800" b="1" kern="0" dirty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</a:t>
            </a:r>
            <a:r>
              <a:rPr kumimoji="0" lang="ko-KR" altLang="en-US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요건이 </a:t>
            </a:r>
            <a:r>
              <a:rPr kumimoji="0" lang="ko-KR" altLang="en-US" sz="800" b="1" kern="0" dirty="0" err="1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확실하지않음</a:t>
            </a:r>
            <a:r>
              <a:rPr kumimoji="0" lang="ko-KR" altLang="en-US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현재담당업무인지 </a:t>
            </a:r>
            <a:r>
              <a:rPr kumimoji="0" lang="ko-KR" altLang="en-US" sz="800" b="1" kern="0" dirty="0" err="1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담당기간은</a:t>
            </a:r>
            <a:r>
              <a:rPr kumimoji="0" lang="ko-KR" altLang="en-US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현재인지</a:t>
            </a:r>
            <a:r>
              <a:rPr kumimoji="0" lang="en-US" altLang="ko-KR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..</a:t>
            </a:r>
          </a:p>
          <a:p>
            <a:pPr marL="85725" indent="-85725"/>
            <a:r>
              <a:rPr kumimoji="0" lang="en-US" altLang="ko-KR" sz="800" b="1" kern="0" dirty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</a:t>
            </a:r>
            <a:r>
              <a:rPr kumimoji="0" lang="ko-KR" altLang="en-US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지적등록사항 화면만 </a:t>
            </a:r>
            <a:r>
              <a:rPr kumimoji="0" lang="ko-KR" altLang="en-US" sz="800" b="1" kern="0" dirty="0" err="1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받을경우</a:t>
            </a:r>
            <a:r>
              <a:rPr kumimoji="0" lang="ko-KR" altLang="en-US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ko-KR" altLang="en-US" sz="800" b="1" kern="0" dirty="0" err="1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이력성으로</a:t>
            </a:r>
            <a:r>
              <a:rPr kumimoji="0" lang="ko-KR" altLang="en-US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ko-KR" altLang="en-US" sz="800" b="1" kern="0" dirty="0" err="1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입력하는거로</a:t>
            </a:r>
            <a:r>
              <a:rPr kumimoji="0" lang="ko-KR" altLang="en-US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보임</a:t>
            </a:r>
            <a:endParaRPr kumimoji="0" lang="en-US" altLang="ko-KR" sz="800" b="1" kern="0" dirty="0" smtClean="0">
              <a:solidFill>
                <a:schemeClr val="tx2">
                  <a:lumMod val="60000"/>
                  <a:lumOff val="40000"/>
                </a:schemeClr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85725" indent="-85725"/>
            <a:r>
              <a:rPr kumimoji="0" lang="en-US" altLang="ko-KR" sz="800" b="1" kern="0" dirty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</a:t>
            </a:r>
            <a:r>
              <a:rPr kumimoji="0" lang="ko-KR" altLang="en-US" sz="800" b="1" kern="0" dirty="0" err="1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등록해논</a:t>
            </a:r>
            <a:r>
              <a:rPr kumimoji="0" lang="ko-KR" altLang="en-US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이력을 </a:t>
            </a:r>
            <a:r>
              <a:rPr kumimoji="0" lang="ko-KR" altLang="en-US" sz="800" b="1" kern="0" dirty="0" err="1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가져오는거라면</a:t>
            </a:r>
            <a:r>
              <a:rPr kumimoji="0" lang="ko-KR" altLang="en-US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해당직원조회하는 팝업이 </a:t>
            </a:r>
            <a:endParaRPr kumimoji="0" lang="en-US" altLang="ko-KR" sz="800" b="1" kern="0" dirty="0" smtClean="0">
              <a:solidFill>
                <a:schemeClr val="tx2">
                  <a:lumMod val="60000"/>
                  <a:lumOff val="40000"/>
                </a:schemeClr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85725" indent="-85725"/>
            <a:r>
              <a:rPr kumimoji="0" lang="en-US" altLang="ko-KR" sz="800" b="1" kern="0" dirty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800" b="1" kern="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</a:t>
            </a:r>
            <a:r>
              <a:rPr kumimoji="0" lang="ko-KR" altLang="en-US" sz="800" b="1" kern="0" dirty="0" err="1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변경되어야함</a:t>
            </a:r>
            <a:endParaRPr kumimoji="0" lang="ko-KR" altLang="en-US" sz="800" b="1" kern="0" dirty="0">
              <a:solidFill>
                <a:schemeClr val="tx2">
                  <a:lumMod val="60000"/>
                  <a:lumOff val="40000"/>
                </a:schemeClr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903331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309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조회값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선택시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Auto-Refresh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기능 삭제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검색 조건 항목 변경 후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조회버튼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클릭시에만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검색실행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  <a:p>
                      <a:pPr marL="171450" marR="0" lvl="0" indent="-17145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조회조건의</a:t>
                      </a:r>
                      <a:r>
                        <a:rPr lang="ko-KR" altLang="en-US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각 항목 </a:t>
                      </a:r>
                      <a:r>
                        <a:rPr lang="ko-KR" altLang="en-US" sz="800" baseline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변경시</a:t>
                      </a:r>
                      <a:r>
                        <a:rPr lang="ko-KR" altLang="en-US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aseline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자동조회</a:t>
                      </a:r>
                      <a:r>
                        <a:rPr lang="ko-KR" altLang="en-US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aseline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기능삭제</a:t>
                      </a:r>
                      <a:endParaRPr lang="en-US" altLang="ko-KR" sz="800" baseline="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171450" marR="0" lvl="0" indent="-17145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조회는 </a:t>
                      </a:r>
                      <a:r>
                        <a:rPr lang="en-US" altLang="ko-KR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</a:t>
                      </a:r>
                      <a:r>
                        <a:rPr lang="en-US" altLang="ko-KR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</a:t>
                      </a:r>
                      <a:r>
                        <a:rPr lang="ko-KR" altLang="en-US" sz="800" baseline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클릭시로</a:t>
                      </a:r>
                      <a:r>
                        <a:rPr lang="ko-KR" altLang="en-US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일원화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조회결과 컬럼 추가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감사부점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관련부점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귀책부점도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같이 검색 될 수 있게 적용 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4045278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1961062"/>
                  </a:ext>
                </a:extLst>
              </a:tr>
            </a:tbl>
          </a:graphicData>
        </a:graphic>
      </p:graphicFrame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MDD-00102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MDD75D28000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심의조사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지적사항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심의관리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지적사항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심의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지적사항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심의관리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(P136: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유성용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179" name="양쪽 모서리가 둥근 사각형 178"/>
          <p:cNvSpPr/>
          <p:nvPr/>
        </p:nvSpPr>
        <p:spPr bwMode="auto">
          <a:xfrm>
            <a:off x="185097" y="1162789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지적사항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 </a:t>
            </a:r>
            <a:r>
              <a:rPr kumimoji="0" lang="ko-KR" altLang="en-US" sz="7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심의관리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81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178594" y="1088193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82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185098" y="1348524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19" name="그림 1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80110" y="4884216"/>
            <a:ext cx="6309090" cy="1015609"/>
          </a:xfrm>
          <a:prstGeom prst="rect">
            <a:avLst/>
          </a:prstGeom>
        </p:spPr>
      </p:pic>
      <p:sp>
        <p:nvSpPr>
          <p:cNvPr id="68" name="타원 6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096516" y="478496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62" name="위쪽 화살표 261"/>
          <p:cNvSpPr/>
          <p:nvPr/>
        </p:nvSpPr>
        <p:spPr bwMode="auto">
          <a:xfrm>
            <a:off x="4165319" y="4233368"/>
            <a:ext cx="474088" cy="582405"/>
          </a:xfrm>
          <a:prstGeom prst="upArrow">
            <a:avLst>
              <a:gd name="adj1" fmla="val 50000"/>
              <a:gd name="adj2" fmla="val 50846"/>
            </a:avLst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2095055" y="6101542"/>
            <a:ext cx="72327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감사부점</a:t>
            </a:r>
            <a:endParaRPr lang="ko-KR" altLang="en-US" sz="1200" dirty="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5097" y="1512666"/>
            <a:ext cx="6736664" cy="26763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999859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187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검색조건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추가 </a:t>
                      </a: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감사부점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관련부점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PG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지점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추가 </a:t>
                      </a: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텍스트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명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두글자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입력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으로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부점코드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자동 입력</a:t>
                      </a: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기능 추가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감사부점으로 명칭 변경 및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Sort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기능 추가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조회결과 컬럼 추가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: [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관련부점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</a:t>
                      </a:r>
                    </a:p>
                    <a:p>
                      <a:pPr latinLnBrk="1"/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감사부점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 및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지적확정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여부 삭제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PG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에 소속된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대한 평가점수 평균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엑셀출력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클릭시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엑셀다운로드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기존 다운로드 출력에서 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감사부점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관련부점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컬럼 추가</a:t>
                      </a: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4045278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1961062"/>
                  </a:ext>
                </a:extLst>
              </a:tr>
            </a:tbl>
          </a:graphicData>
        </a:graphic>
      </p:graphicFrame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MDD-00103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MDD72D21000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심의조사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귀책부점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내용조회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지적사항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심의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귀책부점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내용조회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(P137: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유성용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1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03533" y="1088193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193912" y="1162791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7" name="양쪽 모서리가 둥근 사각형 16"/>
          <p:cNvSpPr/>
          <p:nvPr/>
        </p:nvSpPr>
        <p:spPr bwMode="auto">
          <a:xfrm>
            <a:off x="185792" y="1162791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귀책부점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 </a:t>
            </a:r>
            <a:r>
              <a:rPr kumimoji="0" lang="ko-KR" altLang="en-US" sz="7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내용조회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8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185793" y="1348526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9" name="내용 개체 틀 121"/>
          <p:cNvGraphicFramePr>
            <a:graphicFrameLocks/>
          </p:cNvGraphicFramePr>
          <p:nvPr>
            <p:extLst/>
          </p:nvPr>
        </p:nvGraphicFramePr>
        <p:xfrm>
          <a:off x="185791" y="1396497"/>
          <a:ext cx="6726397" cy="20294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209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2006600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482600">
                  <a:extLst>
                    <a:ext uri="{9D8B030D-6E8A-4147-A177-3AD203B41FA5}">
                      <a16:colId xmlns:a16="http://schemas.microsoft.com/office/drawing/2014/main" val="1483068701"/>
                    </a:ext>
                  </a:extLst>
                </a:gridCol>
                <a:gridCol w="3660988">
                  <a:extLst>
                    <a:ext uri="{9D8B030D-6E8A-4147-A177-3AD203B41FA5}">
                      <a16:colId xmlns:a16="http://schemas.microsoft.com/office/drawing/2014/main" val="4257711729"/>
                    </a:ext>
                  </a:extLst>
                </a:gridCol>
              </a:tblGrid>
              <a:tr h="20294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지적년월일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감사부점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2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066500" y="1399748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481762" y="1398515"/>
            <a:ext cx="422113" cy="181233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 출력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481762" y="121187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6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794514" y="1400005"/>
            <a:ext cx="1896309" cy="184325"/>
            <a:chOff x="1041125" y="4740418"/>
            <a:chExt cx="1896309" cy="184325"/>
          </a:xfrm>
        </p:grpSpPr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041125" y="4743828"/>
              <a:ext cx="82149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2023-11-01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2115937" y="4740418"/>
              <a:ext cx="82149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2023-12-31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41" name="그림 40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681525" y="4747668"/>
              <a:ext cx="181098" cy="173224"/>
            </a:xfrm>
            <a:prstGeom prst="rect">
              <a:avLst/>
            </a:prstGeom>
          </p:spPr>
        </p:pic>
        <p:pic>
          <p:nvPicPr>
            <p:cNvPr id="42" name="그림 41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2755199" y="4749016"/>
              <a:ext cx="181098" cy="173224"/>
            </a:xfrm>
            <a:prstGeom prst="rect">
              <a:avLst/>
            </a:prstGeom>
          </p:spPr>
        </p:pic>
        <p:cxnSp>
          <p:nvCxnSpPr>
            <p:cNvPr id="43" name="직선 연결선 42"/>
            <p:cNvCxnSpPr/>
            <p:nvPr/>
          </p:nvCxnSpPr>
          <p:spPr bwMode="auto">
            <a:xfrm>
              <a:off x="1919772" y="4834280"/>
              <a:ext cx="1270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rgbClr val="4D4D4D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28398" dir="1593903" algn="ctr" rotWithShape="0">
                      <a:schemeClr val="tx1"/>
                    </a:outerShdw>
                  </a:effectLst>
                </a14:hiddenEffects>
              </a:ext>
            </a:extLst>
          </p:spPr>
        </p:cxnSp>
      </p:grpSp>
      <p:graphicFrame>
        <p:nvGraphicFramePr>
          <p:cNvPr id="47" name="표 46"/>
          <p:cNvGraphicFramePr>
            <a:graphicFrameLocks noGrp="1"/>
          </p:cNvGraphicFramePr>
          <p:nvPr>
            <p:extLst/>
          </p:nvPr>
        </p:nvGraphicFramePr>
        <p:xfrm>
          <a:off x="185791" y="1834049"/>
          <a:ext cx="6730758" cy="990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6772">
                  <a:extLst>
                    <a:ext uri="{9D8B030D-6E8A-4147-A177-3AD203B41FA5}">
                      <a16:colId xmlns:a16="http://schemas.microsoft.com/office/drawing/2014/main" val="4036637551"/>
                    </a:ext>
                  </a:extLst>
                </a:gridCol>
                <a:gridCol w="967343">
                  <a:extLst>
                    <a:ext uri="{9D8B030D-6E8A-4147-A177-3AD203B41FA5}">
                      <a16:colId xmlns:a16="http://schemas.microsoft.com/office/drawing/2014/main" val="1712176275"/>
                    </a:ext>
                  </a:extLst>
                </a:gridCol>
                <a:gridCol w="746760">
                  <a:extLst>
                    <a:ext uri="{9D8B030D-6E8A-4147-A177-3AD203B41FA5}">
                      <a16:colId xmlns:a16="http://schemas.microsoft.com/office/drawing/2014/main" val="291106253"/>
                    </a:ext>
                  </a:extLst>
                </a:gridCol>
                <a:gridCol w="401717">
                  <a:extLst>
                    <a:ext uri="{9D8B030D-6E8A-4147-A177-3AD203B41FA5}">
                      <a16:colId xmlns:a16="http://schemas.microsoft.com/office/drawing/2014/main" val="419390490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538137394"/>
                    </a:ext>
                  </a:extLst>
                </a:gridCol>
                <a:gridCol w="281543">
                  <a:extLst>
                    <a:ext uri="{9D8B030D-6E8A-4147-A177-3AD203B41FA5}">
                      <a16:colId xmlns:a16="http://schemas.microsoft.com/office/drawing/2014/main" val="4055146808"/>
                    </a:ext>
                  </a:extLst>
                </a:gridCol>
                <a:gridCol w="906780">
                  <a:extLst>
                    <a:ext uri="{9D8B030D-6E8A-4147-A177-3AD203B41FA5}">
                      <a16:colId xmlns:a16="http://schemas.microsoft.com/office/drawing/2014/main" val="1771359763"/>
                    </a:ext>
                  </a:extLst>
                </a:gridCol>
                <a:gridCol w="876300">
                  <a:extLst>
                    <a:ext uri="{9D8B030D-6E8A-4147-A177-3AD203B41FA5}">
                      <a16:colId xmlns:a16="http://schemas.microsoft.com/office/drawing/2014/main" val="2610110758"/>
                    </a:ext>
                  </a:extLst>
                </a:gridCol>
                <a:gridCol w="279839">
                  <a:extLst>
                    <a:ext uri="{9D8B030D-6E8A-4147-A177-3AD203B41FA5}">
                      <a16:colId xmlns:a16="http://schemas.microsoft.com/office/drawing/2014/main" val="3150524405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78995937"/>
                    </a:ext>
                  </a:extLst>
                </a:gridCol>
                <a:gridCol w="409322">
                  <a:extLst>
                    <a:ext uri="{9D8B030D-6E8A-4147-A177-3AD203B41FA5}">
                      <a16:colId xmlns:a16="http://schemas.microsoft.com/office/drawing/2014/main" val="478340753"/>
                    </a:ext>
                  </a:extLst>
                </a:gridCol>
                <a:gridCol w="116840">
                  <a:extLst>
                    <a:ext uri="{9D8B030D-6E8A-4147-A177-3AD203B41FA5}">
                      <a16:colId xmlns:a16="http://schemas.microsoft.com/office/drawing/2014/main" val="951128248"/>
                    </a:ext>
                  </a:extLst>
                </a:gridCol>
                <a:gridCol w="305182">
                  <a:extLst>
                    <a:ext uri="{9D8B030D-6E8A-4147-A177-3AD203B41FA5}">
                      <a16:colId xmlns:a16="http://schemas.microsoft.com/office/drawing/2014/main" val="263039130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646109630"/>
                    </a:ext>
                  </a:extLst>
                </a:gridCol>
              </a:tblGrid>
              <a:tr h="1606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감사부점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지적일자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감사종류명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감사부점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관련부점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지적확정여부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PG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점수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귀책점수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4005063"/>
                  </a:ext>
                </a:extLst>
              </a:tr>
              <a:tr h="1606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[8431]</a:t>
                      </a:r>
                      <a:r>
                        <a:rPr lang="en-US" altLang="ko-KR" sz="70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독산홈플</a:t>
                      </a:r>
                      <a:r>
                        <a:rPr lang="en-US" altLang="ko-KR" sz="70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..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2023-12-22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특별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[8431]</a:t>
                      </a:r>
                      <a:r>
                        <a:rPr lang="en-US" altLang="ko-KR" sz="70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독산홈플</a:t>
                      </a:r>
                      <a:r>
                        <a:rPr lang="en-US" altLang="ko-KR" sz="70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..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[4350] 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독산동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Y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0.15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0.15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844290"/>
                  </a:ext>
                </a:extLst>
              </a:tr>
              <a:tr h="1606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[7926] </a:t>
                      </a:r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가산벤처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2023-12-21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특별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[7926] </a:t>
                      </a:r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가산벤처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[7926] 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가산벤처</a:t>
                      </a:r>
                      <a:endParaRPr lang="ko-KR" altLang="en-US" sz="7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Y</a:t>
                      </a:r>
                      <a:endParaRPr lang="ko-KR" altLang="en-US" sz="70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0.25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0.25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0567902"/>
                  </a:ext>
                </a:extLst>
              </a:tr>
              <a:tr h="1606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[9931] </a:t>
                      </a:r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가산테크노</a:t>
                      </a: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..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2023-12-21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특별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[9931] </a:t>
                      </a:r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가산테크노</a:t>
                      </a: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..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[7926] </a:t>
                      </a:r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가산벤처</a:t>
                      </a:r>
                      <a:endParaRPr lang="ko-KR" altLang="en-US" sz="7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</a:t>
                      </a:r>
                      <a:endParaRPr lang="ko-KR" altLang="en-US" sz="70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0.1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0.1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7887376"/>
                  </a:ext>
                </a:extLst>
              </a:tr>
              <a:tr h="1606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353579"/>
                  </a:ext>
                </a:extLst>
              </a:tr>
            </a:tbl>
          </a:graphicData>
        </a:graphic>
      </p:graphicFrame>
      <p:sp>
        <p:nvSpPr>
          <p:cNvPr id="48" name="직사각형 47"/>
          <p:cNvSpPr/>
          <p:nvPr/>
        </p:nvSpPr>
        <p:spPr bwMode="auto">
          <a:xfrm>
            <a:off x="506927" y="1834047"/>
            <a:ext cx="982980" cy="1028143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38124" y="177221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0" name="이등변 삼각형 49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1322667" y="1912849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1" name="직사각형 50"/>
          <p:cNvSpPr/>
          <p:nvPr/>
        </p:nvSpPr>
        <p:spPr bwMode="auto">
          <a:xfrm>
            <a:off x="3140209" y="1825255"/>
            <a:ext cx="2769934" cy="1028143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094558" y="176448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6" name="직사각형 55"/>
          <p:cNvSpPr/>
          <p:nvPr/>
        </p:nvSpPr>
        <p:spPr bwMode="auto">
          <a:xfrm>
            <a:off x="3269252" y="1375374"/>
            <a:ext cx="2696261" cy="227581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" name="곱셈 기호 3"/>
          <p:cNvSpPr/>
          <p:nvPr/>
        </p:nvSpPr>
        <p:spPr bwMode="auto">
          <a:xfrm>
            <a:off x="2942209" y="1950699"/>
            <a:ext cx="1363283" cy="964276"/>
          </a:xfrm>
          <a:prstGeom prst="mathMultiply">
            <a:avLst/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4" name="곱셈 기호 33"/>
          <p:cNvSpPr/>
          <p:nvPr/>
        </p:nvSpPr>
        <p:spPr bwMode="auto">
          <a:xfrm>
            <a:off x="4740620" y="1874748"/>
            <a:ext cx="1363283" cy="964276"/>
          </a:xfrm>
          <a:prstGeom prst="mathMultiply">
            <a:avLst/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256430" y="180990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3282360" y="1262783"/>
            <a:ext cx="2633275" cy="316965"/>
            <a:chOff x="1064028" y="3423762"/>
            <a:chExt cx="2633275" cy="316965"/>
          </a:xfrm>
        </p:grpSpPr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097280" y="3554090"/>
              <a:ext cx="864524" cy="186637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000" b="0" i="0" u="none" strike="noStrike" kern="1200" cap="none" normalizeH="0" noProof="0" dirty="0" err="1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감사부점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36" name="이등변 삼각형 35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1824203" y="3636352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38" name="그림 37"/>
            <p:cNvPicPr>
              <a:picLocks noChangeAspect="1"/>
            </p:cNvPicPr>
            <p:nvPr/>
          </p:nvPicPr>
          <p:blipFill rotWithShape="1">
            <a:blip r:embed="rId3"/>
            <a:srcRect r="73540"/>
            <a:stretch/>
          </p:blipFill>
          <p:spPr>
            <a:xfrm>
              <a:off x="2711672" y="3562403"/>
              <a:ext cx="183595" cy="164228"/>
            </a:xfrm>
            <a:prstGeom prst="rect">
              <a:avLst/>
            </a:prstGeom>
          </p:spPr>
        </p:pic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2905303" y="3554090"/>
              <a:ext cx="792000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       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00E3D57C-B744-C466-DCD0-113A9BD23E2A}"/>
                </a:ext>
              </a:extLst>
            </p:cNvPr>
            <p:cNvSpPr/>
            <p:nvPr/>
          </p:nvSpPr>
          <p:spPr>
            <a:xfrm>
              <a:off x="1064028" y="3423762"/>
              <a:ext cx="137606" cy="159556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1</a:t>
              </a:r>
              <a:endPara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993830" y="3554090"/>
              <a:ext cx="684000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60" name="타원 5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221769" y="137198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417203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609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MDD-00104, MDD-00105 </a:t>
                      </a:r>
                    </a:p>
                    <a:p>
                      <a:pPr marL="0" algn="ctr" defTabSz="914395" rtl="0" eaLnBrk="1" latinLnBrk="1" hangingPunct="1"/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MDD-00106</a:t>
                      </a:r>
                      <a:endParaRPr lang="ko-KR" altLang="en-US" sz="8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MDD72D25000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심의조사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시정 진행 및 대상 조회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지적사항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심의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시정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진행현황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조회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(P138,139</a:t>
                      </a:r>
                      <a:r>
                        <a:rPr lang="en-US" altLang="ko-KR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:</a:t>
                      </a:r>
                      <a:r>
                        <a:rPr lang="ko-KR" altLang="en-US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김용근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noProof="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46" name="표 45"/>
          <p:cNvGraphicFramePr>
            <a:graphicFrameLocks noGrp="1"/>
          </p:cNvGraphicFramePr>
          <p:nvPr>
            <p:extLst/>
          </p:nvPr>
        </p:nvGraphicFramePr>
        <p:xfrm>
          <a:off x="7207250" y="665523"/>
          <a:ext cx="2606675" cy="2570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defTabSz="914395" rtl="0" eaLnBrk="1" latinLnBrk="1" hangingPunct="1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시정 </a:t>
                      </a:r>
                      <a:r>
                        <a:rPr lang="ko-KR" altLang="en-US" sz="80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진행현황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조회 화면 기준 검색 조건에 </a:t>
                      </a:r>
                      <a:r>
                        <a:rPr lang="ko-KR" altLang="en-US" sz="80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정리구분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검색조건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(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정리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)/(</a:t>
                      </a:r>
                      <a:r>
                        <a:rPr lang="ko-KR" altLang="en-US" sz="80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미정리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)/(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전체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 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상황 추가</a:t>
                      </a:r>
                      <a:endParaRPr lang="ko-KR" altLang="en-US" sz="800" kern="1200" dirty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defTabSz="914395" rtl="0" eaLnBrk="1" latinLnBrk="1" hangingPunct="1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ko-KR" altLang="en-US" sz="80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더블클릭한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항목의 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[</a:t>
                      </a:r>
                      <a:r>
                        <a:rPr lang="ko-KR" altLang="en-US" sz="80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심의내용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등록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 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팝업에서 </a:t>
                      </a:r>
                      <a:r>
                        <a:rPr lang="ko-KR" altLang="en-US" sz="80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심의완료된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항목인경우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[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재심의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 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버튼을 지원</a:t>
                      </a:r>
                      <a:endParaRPr lang="ko-KR" altLang="en-US" sz="800" kern="1200" dirty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defTabSz="914395" rtl="0" eaLnBrk="1" latinLnBrk="1" hangingPunct="1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시정 </a:t>
                      </a:r>
                      <a:r>
                        <a:rPr lang="ko-KR" altLang="en-US" sz="80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진행현황을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확인하고 사후관리 내용을 등록할 시 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‘</a:t>
                      </a:r>
                      <a:r>
                        <a:rPr lang="ko-KR" altLang="en-US" sz="80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지적사항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’ 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내용을 참고할 수 있도록 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‘</a:t>
                      </a:r>
                      <a:r>
                        <a:rPr lang="ko-KR" altLang="en-US" sz="80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지적사항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심의관리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‘ 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화면 연계하는 기능 추가</a:t>
                      </a:r>
                      <a:endParaRPr lang="en-US" altLang="ko-KR" sz="800" kern="12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팝업화면에서 표시되는 내용은 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‘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지적사항심의관리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(AUDIE.02.01.00.00)’ 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동 항목 정보를 연계</a:t>
                      </a:r>
                      <a:endParaRPr lang="en-US" altLang="ko-KR" sz="800" kern="12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시정완료일이 입력된 경우만 재심의 후 </a:t>
                      </a:r>
                      <a:r>
                        <a:rPr lang="ko-KR" altLang="en-US" sz="80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의결등록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안되도록</a:t>
                      </a:r>
                      <a:endParaRPr lang="en-US" altLang="ko-KR" sz="800" kern="12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b="1" kern="12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나</a:t>
                      </a:r>
                      <a:r>
                        <a:rPr lang="en-US" altLang="ko-KR" sz="800" b="1" kern="12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 [</a:t>
                      </a:r>
                      <a:r>
                        <a:rPr lang="ko-KR" altLang="en-US" sz="800" b="1" kern="12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재심의</a:t>
                      </a:r>
                      <a:r>
                        <a:rPr lang="en-US" altLang="ko-KR" sz="800" b="1" kern="12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</a:t>
                      </a:r>
                      <a:r>
                        <a:rPr lang="ko-KR" altLang="en-US" sz="800" b="1" kern="12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버튼 클릭 시 </a:t>
                      </a:r>
                      <a:r>
                        <a:rPr lang="ko-KR" altLang="en-US" sz="800" b="1" kern="12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심의내용의</a:t>
                      </a:r>
                      <a:r>
                        <a:rPr lang="ko-KR" altLang="en-US" sz="800" b="1" kern="12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모든 항목 수정 기능 제공</a:t>
                      </a:r>
                      <a:endParaRPr lang="en-US" altLang="ko-KR" sz="800" kern="12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4673570"/>
                  </a:ext>
                </a:extLst>
              </a:tr>
            </a:tbl>
          </a:graphicData>
        </a:graphic>
      </p:graphicFrame>
      <p:pic>
        <p:nvPicPr>
          <p:cNvPr id="5" name="그림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5344" y="994425"/>
            <a:ext cx="6855535" cy="435008"/>
          </a:xfrm>
          <a:prstGeom prst="rect">
            <a:avLst/>
          </a:prstGeom>
        </p:spPr>
      </p:pic>
      <p:graphicFrame>
        <p:nvGraphicFramePr>
          <p:cNvPr id="31" name="내용 개체 틀 121"/>
          <p:cNvGraphicFramePr>
            <a:graphicFrameLocks/>
          </p:cNvGraphicFramePr>
          <p:nvPr>
            <p:extLst/>
          </p:nvPr>
        </p:nvGraphicFramePr>
        <p:xfrm>
          <a:off x="3441469" y="1248363"/>
          <a:ext cx="1620983" cy="20232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75661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245322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</a:tblGrid>
              <a:tr h="20232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u="none" strike="noStrike" dirty="0" err="1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정리구분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109(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정리</a:t>
                      </a: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),20(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미정리</a:t>
                      </a: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),129(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</a:t>
                      </a: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32" name="타원 3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372666" y="103892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33" name="표 32"/>
          <p:cNvGraphicFramePr>
            <a:graphicFrameLocks noGrp="1"/>
          </p:cNvGraphicFramePr>
          <p:nvPr>
            <p:extLst/>
          </p:nvPr>
        </p:nvGraphicFramePr>
        <p:xfrm>
          <a:off x="182749" y="1621499"/>
          <a:ext cx="6858130" cy="100255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1702">
                  <a:extLst>
                    <a:ext uri="{9D8B030D-6E8A-4147-A177-3AD203B41FA5}">
                      <a16:colId xmlns:a16="http://schemas.microsoft.com/office/drawing/2014/main" val="2253382433"/>
                    </a:ext>
                  </a:extLst>
                </a:gridCol>
                <a:gridCol w="1265233">
                  <a:extLst>
                    <a:ext uri="{9D8B030D-6E8A-4147-A177-3AD203B41FA5}">
                      <a16:colId xmlns:a16="http://schemas.microsoft.com/office/drawing/2014/main" val="863141978"/>
                    </a:ext>
                  </a:extLst>
                </a:gridCol>
                <a:gridCol w="498129">
                  <a:extLst>
                    <a:ext uri="{9D8B030D-6E8A-4147-A177-3AD203B41FA5}">
                      <a16:colId xmlns:a16="http://schemas.microsoft.com/office/drawing/2014/main" val="1963342737"/>
                    </a:ext>
                  </a:extLst>
                </a:gridCol>
                <a:gridCol w="855550">
                  <a:extLst>
                    <a:ext uri="{9D8B030D-6E8A-4147-A177-3AD203B41FA5}">
                      <a16:colId xmlns:a16="http://schemas.microsoft.com/office/drawing/2014/main" val="570326186"/>
                    </a:ext>
                  </a:extLst>
                </a:gridCol>
                <a:gridCol w="533961">
                  <a:extLst>
                    <a:ext uri="{9D8B030D-6E8A-4147-A177-3AD203B41FA5}">
                      <a16:colId xmlns:a16="http://schemas.microsoft.com/office/drawing/2014/main" val="818279493"/>
                    </a:ext>
                  </a:extLst>
                </a:gridCol>
                <a:gridCol w="1446252">
                  <a:extLst>
                    <a:ext uri="{9D8B030D-6E8A-4147-A177-3AD203B41FA5}">
                      <a16:colId xmlns:a16="http://schemas.microsoft.com/office/drawing/2014/main" val="1943334727"/>
                    </a:ext>
                  </a:extLst>
                </a:gridCol>
                <a:gridCol w="753140">
                  <a:extLst>
                    <a:ext uri="{9D8B030D-6E8A-4147-A177-3AD203B41FA5}">
                      <a16:colId xmlns:a16="http://schemas.microsoft.com/office/drawing/2014/main" val="1543582443"/>
                    </a:ext>
                  </a:extLst>
                </a:gridCol>
                <a:gridCol w="682922">
                  <a:extLst>
                    <a:ext uri="{9D8B030D-6E8A-4147-A177-3AD203B41FA5}">
                      <a16:colId xmlns:a16="http://schemas.microsoft.com/office/drawing/2014/main" val="1215815747"/>
                    </a:ext>
                  </a:extLst>
                </a:gridCol>
                <a:gridCol w="471241">
                  <a:extLst>
                    <a:ext uri="{9D8B030D-6E8A-4147-A177-3AD203B41FA5}">
                      <a16:colId xmlns:a16="http://schemas.microsoft.com/office/drawing/2014/main" val="2878160230"/>
                    </a:ext>
                  </a:extLst>
                </a:gridCol>
              </a:tblGrid>
              <a:tr h="43867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감사종류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심의지적구분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지적구분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지적내용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지적년월일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정리완료일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800" b="0" kern="12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시정상태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9918783"/>
                  </a:ext>
                </a:extLst>
              </a:tr>
              <a:tr h="3505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2023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일반감사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</a:t>
                      </a:r>
                      <a:endParaRPr lang="ko-KR" altLang="en-US" sz="7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계약체결일로부터 상당기간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경과후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만기일 변경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2024-06-10</a:t>
                      </a:r>
                      <a:endParaRPr lang="ko-KR" altLang="en-US" sz="7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2024-11-15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시정중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031790"/>
                  </a:ext>
                </a:extLst>
              </a:tr>
              <a:tr h="1616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2021422"/>
                  </a:ext>
                </a:extLst>
              </a:tr>
            </a:tbl>
          </a:graphicData>
        </a:graphic>
      </p:graphicFrame>
      <p:graphicFrame>
        <p:nvGraphicFramePr>
          <p:cNvPr id="34" name="표 33"/>
          <p:cNvGraphicFramePr>
            <a:graphicFrameLocks noGrp="1"/>
          </p:cNvGraphicFramePr>
          <p:nvPr>
            <p:extLst/>
          </p:nvPr>
        </p:nvGraphicFramePr>
        <p:xfrm>
          <a:off x="182749" y="2794872"/>
          <a:ext cx="5744226" cy="94308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9746">
                  <a:extLst>
                    <a:ext uri="{9D8B030D-6E8A-4147-A177-3AD203B41FA5}">
                      <a16:colId xmlns:a16="http://schemas.microsoft.com/office/drawing/2014/main" val="2253382433"/>
                    </a:ext>
                  </a:extLst>
                </a:gridCol>
                <a:gridCol w="660439">
                  <a:extLst>
                    <a:ext uri="{9D8B030D-6E8A-4147-A177-3AD203B41FA5}">
                      <a16:colId xmlns:a16="http://schemas.microsoft.com/office/drawing/2014/main" val="863141978"/>
                    </a:ext>
                  </a:extLst>
                </a:gridCol>
                <a:gridCol w="895070">
                  <a:extLst>
                    <a:ext uri="{9D8B030D-6E8A-4147-A177-3AD203B41FA5}">
                      <a16:colId xmlns:a16="http://schemas.microsoft.com/office/drawing/2014/main" val="1963342737"/>
                    </a:ext>
                  </a:extLst>
                </a:gridCol>
                <a:gridCol w="738650">
                  <a:extLst>
                    <a:ext uri="{9D8B030D-6E8A-4147-A177-3AD203B41FA5}">
                      <a16:colId xmlns:a16="http://schemas.microsoft.com/office/drawing/2014/main" val="570326186"/>
                    </a:ext>
                  </a:extLst>
                </a:gridCol>
                <a:gridCol w="747340">
                  <a:extLst>
                    <a:ext uri="{9D8B030D-6E8A-4147-A177-3AD203B41FA5}">
                      <a16:colId xmlns:a16="http://schemas.microsoft.com/office/drawing/2014/main" val="818279493"/>
                    </a:ext>
                  </a:extLst>
                </a:gridCol>
                <a:gridCol w="521399">
                  <a:extLst>
                    <a:ext uri="{9D8B030D-6E8A-4147-A177-3AD203B41FA5}">
                      <a16:colId xmlns:a16="http://schemas.microsoft.com/office/drawing/2014/main" val="1943334727"/>
                    </a:ext>
                  </a:extLst>
                </a:gridCol>
                <a:gridCol w="669130">
                  <a:extLst>
                    <a:ext uri="{9D8B030D-6E8A-4147-A177-3AD203B41FA5}">
                      <a16:colId xmlns:a16="http://schemas.microsoft.com/office/drawing/2014/main" val="1344262640"/>
                    </a:ext>
                  </a:extLst>
                </a:gridCol>
                <a:gridCol w="912452">
                  <a:extLst>
                    <a:ext uri="{9D8B030D-6E8A-4147-A177-3AD203B41FA5}">
                      <a16:colId xmlns:a16="http://schemas.microsoft.com/office/drawing/2014/main" val="1382706354"/>
                    </a:ext>
                  </a:extLst>
                </a:gridCol>
              </a:tblGrid>
              <a:tr h="43867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사후관리방안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제출자료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감사부점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등록일자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등록직원명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심의완료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감사구분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사후관리방안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9918783"/>
                  </a:ext>
                </a:extLst>
              </a:tr>
              <a:tr h="29105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u="sng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보기</a:t>
                      </a:r>
                      <a:endParaRPr lang="ko-KR" altLang="en-US" sz="800" b="0" u="sng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[8538]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신논현역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2023-12-05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[1234567] 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종합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031790"/>
                  </a:ext>
                </a:extLst>
              </a:tr>
              <a:tr h="1616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2021422"/>
                  </a:ext>
                </a:extLst>
              </a:tr>
            </a:tbl>
          </a:graphicData>
        </a:graphic>
      </p:graphicFrame>
      <p:pic>
        <p:nvPicPr>
          <p:cNvPr id="35" name="그림 3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88025" y="3283040"/>
            <a:ext cx="200025" cy="180975"/>
          </a:xfrm>
          <a:prstGeom prst="rect">
            <a:avLst/>
          </a:prstGeom>
        </p:spPr>
      </p:pic>
      <p:sp>
        <p:nvSpPr>
          <p:cNvPr id="37" name="직사각형 36"/>
          <p:cNvSpPr/>
          <p:nvPr/>
        </p:nvSpPr>
        <p:spPr bwMode="auto">
          <a:xfrm flipV="1">
            <a:off x="3418994" y="1215110"/>
            <a:ext cx="1726583" cy="240059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7" name="그림 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9353" y="3952183"/>
            <a:ext cx="3516560" cy="1784151"/>
          </a:xfrm>
          <a:prstGeom prst="rect">
            <a:avLst/>
          </a:prstGeom>
        </p:spPr>
      </p:pic>
      <p:cxnSp>
        <p:nvCxnSpPr>
          <p:cNvPr id="11" name="직선 화살표 연결선 10"/>
          <p:cNvCxnSpPr/>
          <p:nvPr/>
        </p:nvCxnSpPr>
        <p:spPr bwMode="auto">
          <a:xfrm>
            <a:off x="507076" y="3631290"/>
            <a:ext cx="199506" cy="320893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pic>
        <p:nvPicPr>
          <p:cNvPr id="12" name="그림 11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840151" y="3908772"/>
            <a:ext cx="3200728" cy="2337435"/>
          </a:xfrm>
          <a:prstGeom prst="rect">
            <a:avLst/>
          </a:prstGeom>
        </p:spPr>
      </p:pic>
      <p:cxnSp>
        <p:nvCxnSpPr>
          <p:cNvPr id="44" name="직선 화살표 연결선 43"/>
          <p:cNvCxnSpPr/>
          <p:nvPr/>
        </p:nvCxnSpPr>
        <p:spPr bwMode="auto">
          <a:xfrm>
            <a:off x="3740398" y="2624056"/>
            <a:ext cx="864853" cy="1216424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48" name="직사각형 47"/>
          <p:cNvSpPr/>
          <p:nvPr/>
        </p:nvSpPr>
        <p:spPr bwMode="auto">
          <a:xfrm>
            <a:off x="2761634" y="4412339"/>
            <a:ext cx="765264" cy="167114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783289" y="4447309"/>
            <a:ext cx="726983" cy="97174"/>
          </a:xfrm>
          <a:prstGeom prst="roundRect">
            <a:avLst>
              <a:gd name="adj" fmla="val 10228"/>
            </a:avLst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지적사항</a:t>
            </a: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조회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565325" y="4627918"/>
            <a:ext cx="428689" cy="120411"/>
          </a:xfrm>
          <a:prstGeom prst="roundRect">
            <a:avLst>
              <a:gd name="adj" fmla="val 10228"/>
            </a:avLst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재심의</a:t>
            </a:r>
            <a:endParaRPr kumimoji="0" lang="ko-KR" altLang="en-US" sz="7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1013504" y="4868187"/>
            <a:ext cx="2144041" cy="1082374"/>
            <a:chOff x="4615502" y="2898790"/>
            <a:chExt cx="2633031" cy="1568954"/>
          </a:xfrm>
        </p:grpSpPr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68CB9370-D759-4248-8572-5FDA4EF6101B}"/>
                </a:ext>
              </a:extLst>
            </p:cNvPr>
            <p:cNvSpPr/>
            <p:nvPr/>
          </p:nvSpPr>
          <p:spPr>
            <a:xfrm>
              <a:off x="4615502" y="2898790"/>
              <a:ext cx="2633031" cy="156895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742856">
                <a:defRPr/>
              </a:pPr>
              <a:endParaRPr lang="ko-KR" altLang="en-US" sz="813" b="1">
                <a:solidFill>
                  <a:srgbClr val="0070C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061CAA5C-4EB7-4E67-85DA-E29F266F438F}"/>
                </a:ext>
              </a:extLst>
            </p:cNvPr>
            <p:cNvSpPr/>
            <p:nvPr/>
          </p:nvSpPr>
          <p:spPr>
            <a:xfrm>
              <a:off x="4626393" y="2914649"/>
              <a:ext cx="2614235" cy="217588"/>
            </a:xfrm>
            <a:prstGeom prst="rect">
              <a:avLst/>
            </a:prstGeom>
            <a:solidFill>
              <a:srgbClr val="625950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742856">
                <a:defRPr/>
              </a:pPr>
              <a:endParaRPr lang="ko-KR" altLang="en-US" sz="813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74" name="직사각형 73">
              <a:extLst>
                <a:ext uri="{FF2B5EF4-FFF2-40B4-BE49-F238E27FC236}">
                  <a16:creationId xmlns:a16="http://schemas.microsoft.com/office/drawing/2014/main" id="{D494E968-62DE-442C-9EE6-DD6B90DDF615}"/>
                </a:ext>
              </a:extLst>
            </p:cNvPr>
            <p:cNvSpPr/>
            <p:nvPr/>
          </p:nvSpPr>
          <p:spPr bwMode="auto">
            <a:xfrm>
              <a:off x="7053533" y="2951827"/>
              <a:ext cx="150351" cy="134016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0" tIns="0" rIns="0" bIns="0" rtlCol="0" anchor="ctr" anchorCtr="0">
              <a:noAutofit/>
            </a:bodyPr>
            <a:lstStyle/>
            <a:p>
              <a:pPr algn="ctr" defTabSz="742856">
                <a:defRPr/>
              </a:pPr>
              <a:r>
                <a:rPr lang="en-US" altLang="ko-KR" sz="516" b="1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X</a:t>
              </a:r>
              <a:endParaRPr lang="ko-KR" altLang="en-US" sz="516" b="1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60B97788-F115-4669-A08F-46D3A46FC7DA}"/>
                </a:ext>
              </a:extLst>
            </p:cNvPr>
            <p:cNvSpPr txBox="1"/>
            <p:nvPr/>
          </p:nvSpPr>
          <p:spPr>
            <a:xfrm>
              <a:off x="4661286" y="2914649"/>
              <a:ext cx="1444242" cy="215444"/>
            </a:xfrm>
            <a:prstGeom prst="rect">
              <a:avLst/>
            </a:prstGeom>
            <a:noFill/>
          </p:spPr>
          <p:txBody>
            <a:bodyPr wrap="square" lIns="29250" rtlCol="0">
              <a:spAutoFit/>
            </a:bodyPr>
            <a:lstStyle/>
            <a:p>
              <a:pPr defTabSz="742856">
                <a:defRPr/>
              </a:pPr>
              <a:r>
                <a:rPr lang="ko-KR" altLang="en-US" sz="800" smtClean="0">
                  <a:solidFill>
                    <a:schemeClr val="bg1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지적사항 조회</a:t>
              </a:r>
              <a:endParaRPr lang="ko-KR" altLang="en-US" sz="80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graphicFrame>
        <p:nvGraphicFramePr>
          <p:cNvPr id="76" name="표 75"/>
          <p:cNvGraphicFramePr>
            <a:graphicFrameLocks noGrp="1"/>
          </p:cNvGraphicFramePr>
          <p:nvPr>
            <p:extLst/>
          </p:nvPr>
        </p:nvGraphicFramePr>
        <p:xfrm>
          <a:off x="1088116" y="5113311"/>
          <a:ext cx="2002778" cy="822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70212">
                  <a:extLst>
                    <a:ext uri="{9D8B030D-6E8A-4147-A177-3AD203B41FA5}">
                      <a16:colId xmlns:a16="http://schemas.microsoft.com/office/drawing/2014/main" val="688019877"/>
                    </a:ext>
                  </a:extLst>
                </a:gridCol>
                <a:gridCol w="1432566">
                  <a:extLst>
                    <a:ext uri="{9D8B030D-6E8A-4147-A177-3AD203B41FA5}">
                      <a16:colId xmlns:a16="http://schemas.microsoft.com/office/drawing/2014/main" val="865624749"/>
                    </a:ext>
                  </a:extLst>
                </a:gridCol>
              </a:tblGrid>
              <a:tr h="30809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심의지적내용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심의지적내용 표시</a:t>
                      </a:r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l" latinLnBrk="1"/>
                      <a:endParaRPr lang="en-US" altLang="ko-KR" sz="7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l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6833483"/>
                  </a:ext>
                </a:extLst>
              </a:tr>
              <a:tr h="30809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심의의견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심의 의견 표시</a:t>
                      </a:r>
                      <a:endParaRPr lang="en-US" altLang="ko-KR" sz="7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en-US" altLang="ko-KR" sz="7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68007216"/>
                  </a:ext>
                </a:extLst>
              </a:tr>
            </a:tbl>
          </a:graphicData>
        </a:graphic>
      </p:graphicFrame>
      <p:cxnSp>
        <p:nvCxnSpPr>
          <p:cNvPr id="77" name="직선 화살표 연결선 76"/>
          <p:cNvCxnSpPr/>
          <p:nvPr/>
        </p:nvCxnSpPr>
        <p:spPr bwMode="auto">
          <a:xfrm flipH="1">
            <a:off x="2650490" y="4579453"/>
            <a:ext cx="377057" cy="288734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78" name="타원 7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665913" y="244539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9" name="타원 7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69470" y="343899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0" name="직사각형 79"/>
          <p:cNvSpPr/>
          <p:nvPr/>
        </p:nvSpPr>
        <p:spPr bwMode="auto">
          <a:xfrm>
            <a:off x="5553623" y="4612879"/>
            <a:ext cx="465330" cy="143763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1" name="직사각형 80"/>
          <p:cNvSpPr/>
          <p:nvPr/>
        </p:nvSpPr>
        <p:spPr bwMode="auto">
          <a:xfrm flipV="1">
            <a:off x="1023454" y="4875684"/>
            <a:ext cx="2142959" cy="1074876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3" name="직사각형 82"/>
          <p:cNvSpPr/>
          <p:nvPr/>
        </p:nvSpPr>
        <p:spPr bwMode="auto">
          <a:xfrm flipV="1">
            <a:off x="3823907" y="2785278"/>
            <a:ext cx="2103068" cy="952678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4" name="타원 8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484820" y="444206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6" name="타원 35"/>
          <p:cNvSpPr/>
          <p:nvPr/>
        </p:nvSpPr>
        <p:spPr bwMode="auto">
          <a:xfrm>
            <a:off x="4014724" y="3347633"/>
            <a:ext cx="99753" cy="105673"/>
          </a:xfrm>
          <a:prstGeom prst="ellipse">
            <a:avLst/>
          </a:prstGeom>
          <a:solidFill>
            <a:schemeClr val="tx1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947510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MDD-00107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MDD75D25000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심의조사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지적심의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지적사항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심의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본부감사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지적심의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(P140</a:t>
                      </a:r>
                      <a:r>
                        <a:rPr lang="en-US" altLang="ko-KR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:</a:t>
                      </a:r>
                      <a:r>
                        <a:rPr lang="ko-KR" altLang="en-US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김용근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noProof="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46" name="표 45"/>
          <p:cNvGraphicFramePr>
            <a:graphicFrameLocks noGrp="1"/>
          </p:cNvGraphicFramePr>
          <p:nvPr>
            <p:extLst/>
          </p:nvPr>
        </p:nvGraphicFramePr>
        <p:xfrm>
          <a:off x="7207250" y="665523"/>
          <a:ext cx="2606675" cy="1961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심의완료일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의뢰감사역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추가</a:t>
                      </a:r>
                      <a:endParaRPr lang="en-US" altLang="ko-KR" sz="800" kern="12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상세팝업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화면에 심의 완료일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추가</a:t>
                      </a:r>
                      <a:endParaRPr lang="ko-KR" altLang="en-US" sz="800" kern="1200" noProof="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kern="12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재심의 버튼 추가 </a:t>
                      </a:r>
                      <a:r>
                        <a:rPr lang="en-US" altLang="ko-KR" sz="800" kern="12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[</a:t>
                      </a:r>
                      <a:r>
                        <a:rPr lang="ko-KR" altLang="en-US" sz="800" kern="12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재심의</a:t>
                      </a:r>
                      <a:r>
                        <a:rPr lang="en-US" altLang="ko-KR" sz="800" kern="12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</a:t>
                      </a:r>
                      <a:r>
                        <a:rPr lang="ko-KR" altLang="en-US" sz="800" kern="12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버튼 클릭 시</a:t>
                      </a:r>
                      <a:r>
                        <a:rPr lang="en-US" altLang="ko-KR" sz="800" kern="12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[</a:t>
                      </a:r>
                      <a:r>
                        <a:rPr lang="ko-KR" altLang="en-US" sz="800" kern="12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재심의</a:t>
                      </a:r>
                      <a:r>
                        <a:rPr lang="en-US" altLang="ko-KR" sz="800" kern="12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</a:t>
                      </a:r>
                      <a:r>
                        <a:rPr lang="ko-KR" altLang="en-US" sz="800" kern="12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버튼이 </a:t>
                      </a:r>
                      <a:r>
                        <a:rPr lang="en-US" altLang="ko-KR" sz="800" kern="12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[</a:t>
                      </a:r>
                      <a:r>
                        <a:rPr lang="ko-KR" altLang="en-US" sz="800" kern="1200" noProof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재심의저장</a:t>
                      </a:r>
                      <a:r>
                        <a:rPr lang="en-US" altLang="ko-KR" sz="800" kern="12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</a:t>
                      </a:r>
                      <a:r>
                        <a:rPr lang="ko-KR" altLang="en-US" sz="800" kern="12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버튼으로 변경되며 재심의결과내용 및 심의지적구분을 수정 및 변경 할 수 있으며 </a:t>
                      </a:r>
                      <a:r>
                        <a:rPr lang="en-US" altLang="ko-KR" sz="800" kern="12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[</a:t>
                      </a:r>
                      <a:r>
                        <a:rPr lang="ko-KR" altLang="en-US" sz="800" kern="1200" noProof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재심의저장</a:t>
                      </a:r>
                      <a:r>
                        <a:rPr lang="en-US" altLang="ko-KR" sz="800" kern="12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</a:t>
                      </a:r>
                      <a:r>
                        <a:rPr lang="ko-KR" altLang="en-US" sz="800" kern="12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버튼을 클릭하면 수정된 내용이 저장되며 지적 감사역과 지적 감사역 소속감사부의 운영감사역에 쪽지 알림을 발송한다</a:t>
                      </a:r>
                      <a:r>
                        <a:rPr lang="en-US" altLang="ko-KR" sz="800" kern="12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</a:t>
                      </a:r>
                      <a:endParaRPr lang="ko-KR" altLang="en-US" sz="800" kern="1200" noProof="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8244006"/>
                  </a:ext>
                </a:extLst>
              </a:tr>
            </a:tbl>
          </a:graphicData>
        </a:graphic>
      </p:graphicFrame>
      <p:pic>
        <p:nvPicPr>
          <p:cNvPr id="5" name="그림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6562" y="1026791"/>
            <a:ext cx="6890944" cy="594190"/>
          </a:xfrm>
          <a:prstGeom prst="rect">
            <a:avLst/>
          </a:prstGeom>
        </p:spPr>
      </p:pic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182749" y="1812695"/>
          <a:ext cx="6874757" cy="78919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4382">
                  <a:extLst>
                    <a:ext uri="{9D8B030D-6E8A-4147-A177-3AD203B41FA5}">
                      <a16:colId xmlns:a16="http://schemas.microsoft.com/office/drawing/2014/main" val="2253382433"/>
                    </a:ext>
                  </a:extLst>
                </a:gridCol>
                <a:gridCol w="823356">
                  <a:extLst>
                    <a:ext uri="{9D8B030D-6E8A-4147-A177-3AD203B41FA5}">
                      <a16:colId xmlns:a16="http://schemas.microsoft.com/office/drawing/2014/main" val="863141978"/>
                    </a:ext>
                  </a:extLst>
                </a:gridCol>
                <a:gridCol w="638887">
                  <a:extLst>
                    <a:ext uri="{9D8B030D-6E8A-4147-A177-3AD203B41FA5}">
                      <a16:colId xmlns:a16="http://schemas.microsoft.com/office/drawing/2014/main" val="1963342737"/>
                    </a:ext>
                  </a:extLst>
                </a:gridCol>
                <a:gridCol w="586781">
                  <a:extLst>
                    <a:ext uri="{9D8B030D-6E8A-4147-A177-3AD203B41FA5}">
                      <a16:colId xmlns:a16="http://schemas.microsoft.com/office/drawing/2014/main" val="570326186"/>
                    </a:ext>
                  </a:extLst>
                </a:gridCol>
                <a:gridCol w="411594">
                  <a:extLst>
                    <a:ext uri="{9D8B030D-6E8A-4147-A177-3AD203B41FA5}">
                      <a16:colId xmlns:a16="http://schemas.microsoft.com/office/drawing/2014/main" val="818279493"/>
                    </a:ext>
                  </a:extLst>
                </a:gridCol>
                <a:gridCol w="1155815">
                  <a:extLst>
                    <a:ext uri="{9D8B030D-6E8A-4147-A177-3AD203B41FA5}">
                      <a16:colId xmlns:a16="http://schemas.microsoft.com/office/drawing/2014/main" val="1943334727"/>
                    </a:ext>
                  </a:extLst>
                </a:gridCol>
                <a:gridCol w="1510600">
                  <a:extLst>
                    <a:ext uri="{9D8B030D-6E8A-4147-A177-3AD203B41FA5}">
                      <a16:colId xmlns:a16="http://schemas.microsoft.com/office/drawing/2014/main" val="1543582443"/>
                    </a:ext>
                  </a:extLst>
                </a:gridCol>
                <a:gridCol w="933342">
                  <a:extLst>
                    <a:ext uri="{9D8B030D-6E8A-4147-A177-3AD203B41FA5}">
                      <a16:colId xmlns:a16="http://schemas.microsoft.com/office/drawing/2014/main" val="1215815747"/>
                    </a:ext>
                  </a:extLst>
                </a:gridCol>
              </a:tblGrid>
              <a:tr h="43867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심의의뢰년월일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지적년월일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계획년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감사종류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차수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대상부점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감사단위명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지적감사역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9918783"/>
                  </a:ext>
                </a:extLst>
              </a:tr>
              <a:tr h="3505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2021-06-22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r>
                        <a:rPr lang="en-US" altLang="ko-KR" sz="800" b="0" kern="12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2021-07-13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2021</a:t>
                      </a:r>
                      <a:endParaRPr lang="ko-KR" altLang="en-US" sz="800" b="0" kern="12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800" b="0" kern="12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일반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800" b="0" kern="12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18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r>
                        <a:rPr lang="en-US" altLang="ko-KR" sz="800" b="0" kern="12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[5106] </a:t>
                      </a:r>
                      <a:r>
                        <a:rPr lang="ko-KR" altLang="en-US" sz="800" b="0" kern="12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글로벌지원부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중국현지법인 종합검사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[2205822] 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민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031790"/>
                  </a:ext>
                </a:extLst>
              </a:tr>
            </a:tbl>
          </a:graphicData>
        </a:graphic>
      </p:graphicFrame>
      <p:graphicFrame>
        <p:nvGraphicFramePr>
          <p:cNvPr id="28" name="표 27"/>
          <p:cNvGraphicFramePr>
            <a:graphicFrameLocks noGrp="1"/>
          </p:cNvGraphicFramePr>
          <p:nvPr>
            <p:extLst/>
          </p:nvPr>
        </p:nvGraphicFramePr>
        <p:xfrm>
          <a:off x="182747" y="2854552"/>
          <a:ext cx="6874757" cy="78919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70991">
                  <a:extLst>
                    <a:ext uri="{9D8B030D-6E8A-4147-A177-3AD203B41FA5}">
                      <a16:colId xmlns:a16="http://schemas.microsoft.com/office/drawing/2014/main" val="2253382433"/>
                    </a:ext>
                  </a:extLst>
                </a:gridCol>
                <a:gridCol w="482138">
                  <a:extLst>
                    <a:ext uri="{9D8B030D-6E8A-4147-A177-3AD203B41FA5}">
                      <a16:colId xmlns:a16="http://schemas.microsoft.com/office/drawing/2014/main" val="863141978"/>
                    </a:ext>
                  </a:extLst>
                </a:gridCol>
                <a:gridCol w="706582">
                  <a:extLst>
                    <a:ext uri="{9D8B030D-6E8A-4147-A177-3AD203B41FA5}">
                      <a16:colId xmlns:a16="http://schemas.microsoft.com/office/drawing/2014/main" val="1963342737"/>
                    </a:ext>
                  </a:extLst>
                </a:gridCol>
                <a:gridCol w="706582">
                  <a:extLst>
                    <a:ext uri="{9D8B030D-6E8A-4147-A177-3AD203B41FA5}">
                      <a16:colId xmlns:a16="http://schemas.microsoft.com/office/drawing/2014/main" val="570326186"/>
                    </a:ext>
                  </a:extLst>
                </a:gridCol>
                <a:gridCol w="631767">
                  <a:extLst>
                    <a:ext uri="{9D8B030D-6E8A-4147-A177-3AD203B41FA5}">
                      <a16:colId xmlns:a16="http://schemas.microsoft.com/office/drawing/2014/main" val="818279493"/>
                    </a:ext>
                  </a:extLst>
                </a:gridCol>
                <a:gridCol w="1643747">
                  <a:extLst>
                    <a:ext uri="{9D8B030D-6E8A-4147-A177-3AD203B41FA5}">
                      <a16:colId xmlns:a16="http://schemas.microsoft.com/office/drawing/2014/main" val="1543582443"/>
                    </a:ext>
                  </a:extLst>
                </a:gridCol>
                <a:gridCol w="1032950">
                  <a:extLst>
                    <a:ext uri="{9D8B030D-6E8A-4147-A177-3AD203B41FA5}">
                      <a16:colId xmlns:a16="http://schemas.microsoft.com/office/drawing/2014/main" val="1215815747"/>
                    </a:ext>
                  </a:extLst>
                </a:gridCol>
              </a:tblGrid>
              <a:tr h="43867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지적제목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지적구분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최종지적구분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심의감사역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진행상태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심의완료일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의뢰감사역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9918783"/>
                  </a:ext>
                </a:extLst>
              </a:tr>
              <a:tr h="350527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국외현지법인 결영실태평가 업무 소홀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시정사항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시정</a:t>
                      </a:r>
                      <a:endParaRPr lang="ko-KR" altLang="en-US" sz="7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[1512567] 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심의완료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2024-06-10</a:t>
                      </a:r>
                      <a:endParaRPr lang="ko-KR" altLang="en-US" sz="7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[1512567] </a:t>
                      </a:r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031790"/>
                  </a:ext>
                </a:extLst>
              </a:tr>
            </a:tbl>
          </a:graphicData>
        </a:graphic>
      </p:graphicFrame>
      <p:sp>
        <p:nvSpPr>
          <p:cNvPr id="35" name="직사각형 34"/>
          <p:cNvSpPr/>
          <p:nvPr/>
        </p:nvSpPr>
        <p:spPr bwMode="auto">
          <a:xfrm>
            <a:off x="4389120" y="2854552"/>
            <a:ext cx="2668385" cy="78919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372364" y="265936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7" name="그림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39088" y="3953712"/>
            <a:ext cx="3807232" cy="2398390"/>
          </a:xfrm>
          <a:prstGeom prst="rect">
            <a:avLst/>
          </a:prstGeom>
        </p:spPr>
      </p:pic>
      <p:graphicFrame>
        <p:nvGraphicFramePr>
          <p:cNvPr id="39" name="내용 개체 틀 121"/>
          <p:cNvGraphicFramePr>
            <a:graphicFrameLocks/>
          </p:cNvGraphicFramePr>
          <p:nvPr>
            <p:extLst/>
          </p:nvPr>
        </p:nvGraphicFramePr>
        <p:xfrm>
          <a:off x="4153505" y="6168840"/>
          <a:ext cx="513417" cy="14072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1581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31836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</a:tblGrid>
              <a:tr h="14072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심의완료일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 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40" name="직사각형 3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668614" y="6185271"/>
            <a:ext cx="350573" cy="107663"/>
          </a:xfrm>
          <a:prstGeom prst="rect">
            <a:avLst/>
          </a:prstGeom>
          <a:solidFill>
            <a:schemeClr val="bg2">
              <a:lumMod val="7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2023</a:t>
            </a:r>
            <a:endParaRPr kumimoji="0" lang="ko-KR" altLang="en-US" sz="1000" b="0" i="0" u="none" strike="noStrike" kern="1200" cap="none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1" name="직사각형 40"/>
          <p:cNvSpPr/>
          <p:nvPr/>
        </p:nvSpPr>
        <p:spPr bwMode="auto">
          <a:xfrm>
            <a:off x="4153506" y="6109861"/>
            <a:ext cx="975448" cy="242242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153505" y="591963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3" name="직사각형 42"/>
          <p:cNvSpPr/>
          <p:nvPr/>
        </p:nvSpPr>
        <p:spPr bwMode="auto">
          <a:xfrm>
            <a:off x="158249" y="1755225"/>
            <a:ext cx="6899255" cy="1888524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9" name="직선 화살표 연결선 8"/>
          <p:cNvCxnSpPr/>
          <p:nvPr/>
        </p:nvCxnSpPr>
        <p:spPr bwMode="auto">
          <a:xfrm>
            <a:off x="3192087" y="3660375"/>
            <a:ext cx="0" cy="293337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rgbClr val="2272FF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1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312576" y="5799221"/>
            <a:ext cx="428689" cy="120411"/>
          </a:xfrm>
          <a:prstGeom prst="roundRect">
            <a:avLst>
              <a:gd name="adj" fmla="val 10228"/>
            </a:avLst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재심의</a:t>
            </a:r>
            <a:endParaRPr kumimoji="0" lang="ko-KR" altLang="en-US" sz="7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3282413" y="5799593"/>
            <a:ext cx="458852" cy="120039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213610" y="563947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586404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1200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검색조건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추가 </a:t>
                      </a: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indent="0" latinLnBrk="1">
                        <a:buFontTx/>
                        <a:buNone/>
                      </a:pP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[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진행상태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를 추가 하고 전체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개의 진행상태 </a:t>
                      </a: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indent="0" latinLnBrk="1">
                        <a:buFontTx/>
                        <a:buNone/>
                      </a:pP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중에서 </a:t>
                      </a:r>
                      <a:r>
                        <a:rPr lang="en-US" altLang="ko-KR" sz="800" b="1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="1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심의대상</a:t>
                      </a:r>
                      <a:r>
                        <a:rPr lang="en-US" altLang="ko-KR" sz="800" b="1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b="1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="1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의결대상</a:t>
                      </a:r>
                      <a:r>
                        <a:rPr lang="en-US" altLang="ko-KR" sz="800" b="1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en-US" altLang="ko-KR" sz="800" b="1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="1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심의완료</a:t>
                      </a:r>
                      <a:r>
                        <a:rPr lang="en-US" altLang="ko-KR" sz="800" b="1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</a:p>
                    <a:p>
                      <a:pPr marL="0" indent="0" latinLnBrk="1">
                        <a:buFontTx/>
                        <a:buNone/>
                      </a:pPr>
                      <a:r>
                        <a:rPr lang="en-US" altLang="ko-KR" sz="800" b="1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</a:t>
                      </a:r>
                      <a:r>
                        <a:rPr lang="ko-KR" altLang="en-US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항목만 노출한다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en-US" altLang="ko-KR" sz="800" b="1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※ </a:t>
                      </a:r>
                      <a:r>
                        <a:rPr lang="ko-KR" altLang="en-US" sz="800" b="0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진행상태</a:t>
                      </a:r>
                      <a:r>
                        <a:rPr lang="en-US" altLang="ko-KR" sz="800" b="0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b="0" dirty="0" err="1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지적심의진행구분코드</a:t>
                      </a:r>
                      <a:r>
                        <a:rPr lang="ko-KR" altLang="en-US" sz="800" b="0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b="0" dirty="0" err="1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전체코드</a:t>
                      </a:r>
                      <a:r>
                        <a:rPr lang="en-US" altLang="ko-KR" sz="800" b="0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  <a:p>
                      <a:pPr marL="228600" marR="0" lvl="0" indent="-22860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arenR"/>
                        <a:tabLst/>
                        <a:defRPr/>
                      </a:pPr>
                      <a:r>
                        <a:rPr lang="ko-KR" altLang="en-US" sz="800" b="0" dirty="0" err="1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지적등록</a:t>
                      </a:r>
                      <a:endParaRPr lang="en-US" altLang="ko-KR" sz="800" b="0" dirty="0" smtClean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228600" marR="0" lvl="0" indent="-22860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arenR"/>
                        <a:tabLst/>
                        <a:defRPr/>
                      </a:pPr>
                      <a:r>
                        <a:rPr lang="ko-KR" altLang="en-US" sz="800" b="0" dirty="0" err="1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심의의뢰</a:t>
                      </a:r>
                      <a:endParaRPr lang="en-US" altLang="ko-KR" sz="800" b="0" dirty="0" smtClean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228600" marR="0" lvl="0" indent="-22860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arenR"/>
                        <a:tabLst/>
                        <a:defRPr/>
                      </a:pPr>
                      <a:r>
                        <a:rPr lang="ko-KR" altLang="en-US" sz="800" b="0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심의대상</a:t>
                      </a:r>
                      <a:endParaRPr lang="en-US" altLang="ko-KR" sz="800" b="0" dirty="0" smtClean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228600" marR="0" lvl="0" indent="-22860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arenR"/>
                        <a:tabLst/>
                        <a:defRPr/>
                      </a:pPr>
                      <a:r>
                        <a:rPr lang="ko-KR" altLang="en-US" sz="800" b="0" dirty="0" err="1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의결대상</a:t>
                      </a:r>
                      <a:endParaRPr lang="en-US" altLang="ko-KR" sz="800" b="0" dirty="0" smtClean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228600" marR="0" lvl="0" indent="-22860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arenR"/>
                        <a:tabLst/>
                        <a:defRPr/>
                      </a:pPr>
                      <a:r>
                        <a:rPr lang="ko-KR" altLang="en-US" sz="800" b="0" dirty="0" err="1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심의완료</a:t>
                      </a:r>
                      <a:endParaRPr lang="en-US" altLang="ko-KR" sz="800" b="0" dirty="0" smtClean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조회결과 목록에 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[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진행상태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컬럼을 추가한다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 </a:t>
                      </a:r>
                      <a:r>
                        <a:rPr kumimoji="0" lang="en-US" altLang="ko-KR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신규</a:t>
                      </a:r>
                      <a:r>
                        <a:rPr kumimoji="0" lang="en-US" altLang="ko-KR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)[</a:t>
                      </a: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진행상태</a:t>
                      </a:r>
                      <a:r>
                        <a:rPr kumimoji="0" lang="en-US" altLang="ko-KR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 </a:t>
                      </a:r>
                      <a:r>
                        <a:rPr kumimoji="0" lang="en-US" altLang="ko-KR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심의대상</a:t>
                      </a:r>
                      <a:r>
                        <a:rPr kumimoji="0" lang="en-US" altLang="ko-KR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에 </a:t>
                      </a:r>
                      <a:r>
                        <a:rPr kumimoji="0" lang="ko-KR" altLang="en-US" sz="800" b="0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해당될경우</a:t>
                      </a: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ko-KR" altLang="en-US" sz="800" b="0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의결록</a:t>
                      </a: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출력을 </a:t>
                      </a:r>
                      <a:r>
                        <a:rPr kumimoji="0" lang="ko-KR" altLang="en-US" sz="800" b="0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할수있도록</a:t>
                      </a: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지원</a:t>
                      </a:r>
                      <a:endParaRPr kumimoji="0" lang="en-US" altLang="ko-KR" sz="800" b="0" kern="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kern="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kumimoji="0" lang="en-US" altLang="ko-KR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en-US" altLang="ko-KR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진행상태</a:t>
                      </a:r>
                      <a:r>
                        <a:rPr kumimoji="0" lang="en-US" altLang="ko-KR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 심의대상 </a:t>
                      </a:r>
                      <a:r>
                        <a:rPr kumimoji="0" lang="ko-KR" altLang="en-US" sz="800" b="0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일때</a:t>
                      </a: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en-US" altLang="ko-KR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kumimoji="0" lang="ko-KR" altLang="en-US" sz="800" b="0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보고형식</a:t>
                      </a:r>
                      <a:r>
                        <a:rPr kumimoji="0" lang="en-US" altLang="ko-KR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kumimoji="0" lang="ko-KR" altLang="en-US" sz="800" b="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컬럼 노출하고 그</a:t>
                      </a:r>
                      <a:r>
                        <a:rPr kumimoji="0" lang="ko-KR" altLang="en-US" sz="800" b="0" kern="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외에는 </a:t>
                      </a:r>
                      <a:r>
                        <a:rPr kumimoji="0" lang="en-US" altLang="ko-KR" sz="800" b="0" kern="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kumimoji="0" lang="ko-KR" altLang="en-US" sz="800" b="0" kern="0" baseline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보고형식</a:t>
                      </a:r>
                      <a:r>
                        <a:rPr kumimoji="0" lang="en-US" altLang="ko-KR" sz="800" b="0" kern="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kumimoji="0" lang="ko-KR" altLang="en-US" sz="800" b="0" kern="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컬럼 숨김 처리</a:t>
                      </a:r>
                      <a:endParaRPr kumimoji="0" lang="en-US" altLang="ko-KR" sz="800" b="0" kern="0" baseline="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kern="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다</a:t>
                      </a:r>
                      <a:r>
                        <a:rPr kumimoji="0" lang="en-US" altLang="ko-KR" sz="800" b="0" kern="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kumimoji="0" lang="ko-KR" altLang="en-US" sz="800" b="0" kern="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보고서 출력 기존 화면에 보고서 양식 있음</a:t>
                      </a:r>
                      <a:endParaRPr kumimoji="0" lang="en-US" altLang="ko-KR" sz="800" b="0" kern="0" baseline="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엑셀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클릭시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엑셀 다운로드 처리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조회조건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영역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진행상태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추가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기존 다운로드 출력에서 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진행상태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추가 </a:t>
                      </a: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검색조건 추가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(2025-02-11)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baseline="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800" kern="1200" baseline="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감사년도</a:t>
                      </a:r>
                      <a:r>
                        <a:rPr lang="en-US" altLang="ko-KR" sz="800" kern="1200" baseline="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 baseline="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감사종류</a:t>
                      </a:r>
                      <a:r>
                        <a:rPr lang="en-US" altLang="ko-KR" sz="800" kern="1200" baseline="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 baseline="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감사차수</a:t>
                      </a:r>
                      <a:r>
                        <a:rPr lang="en-US" altLang="ko-KR" sz="800" kern="1200" baseline="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 baseline="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감사부점</a:t>
                      </a:r>
                      <a:r>
                        <a:rPr lang="ko-KR" altLang="en-US" sz="800" kern="1200" baseline="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검색조건</a:t>
                      </a:r>
                      <a:endParaRPr lang="en-US" altLang="ko-KR" sz="800" kern="1200" baseline="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baseline="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 </a:t>
                      </a:r>
                      <a:r>
                        <a:rPr lang="ko-KR" altLang="en-US" sz="800" kern="1200" baseline="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추가</a:t>
                      </a:r>
                      <a:endParaRPr lang="en-US" altLang="ko-KR" sz="800" kern="1200" baseline="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baseline="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-  </a:t>
                      </a:r>
                      <a:r>
                        <a:rPr lang="ko-KR" altLang="en-US" sz="800" kern="1200" baseline="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특정 </a:t>
                      </a:r>
                      <a:r>
                        <a:rPr lang="ko-KR" altLang="en-US" sz="800" kern="1200" baseline="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감사년도를</a:t>
                      </a:r>
                      <a:r>
                        <a:rPr lang="ko-KR" altLang="en-US" sz="800" kern="1200" baseline="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선택하면 </a:t>
                      </a:r>
                      <a:r>
                        <a:rPr lang="ko-KR" altLang="en-US" sz="800" kern="1200" baseline="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심의의뢰일</a:t>
                      </a:r>
                      <a:r>
                        <a:rPr lang="ko-KR" altLang="en-US" sz="800" kern="1200" baseline="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조건이</a:t>
                      </a:r>
                      <a:endParaRPr lang="en-US" altLang="ko-KR" sz="800" kern="1200" baseline="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baseline="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  </a:t>
                      </a:r>
                      <a:r>
                        <a:rPr lang="ko-KR" altLang="en-US" sz="800" kern="1200" baseline="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비활성화되며</a:t>
                      </a:r>
                      <a:r>
                        <a:rPr lang="ko-KR" altLang="en-US" sz="800" kern="1200" baseline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검색항목에서 </a:t>
                      </a:r>
                      <a:r>
                        <a:rPr lang="ko-KR" altLang="en-US" sz="800" kern="1200" baseline="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제외된다</a:t>
                      </a:r>
                      <a:r>
                        <a:rPr lang="en-US" altLang="ko-KR" sz="800" kern="1200" baseline="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.</a:t>
                      </a:r>
                      <a:endParaRPr lang="ko-KR" altLang="en-US" sz="800" kern="1200" baseline="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</a:tbl>
          </a:graphicData>
        </a:graphic>
      </p:graphicFrame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신규채번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요청중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MDD72D41000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심의조사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의결록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조회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지적사항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조회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의결록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조회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의결록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조회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(P141: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유성용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03533" y="1088193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170976" y="1088195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" name="양쪽 모서리가 둥근 사각형 6"/>
          <p:cNvSpPr/>
          <p:nvPr/>
        </p:nvSpPr>
        <p:spPr bwMode="auto">
          <a:xfrm>
            <a:off x="185792" y="1162791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심의 </a:t>
            </a:r>
            <a:r>
              <a:rPr kumimoji="0" lang="ko-KR" altLang="en-US" sz="7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의결록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 조회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185793" y="1348526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33" name="내용 개체 틀 121"/>
          <p:cNvGraphicFramePr>
            <a:graphicFrameLocks/>
          </p:cNvGraphicFramePr>
          <p:nvPr>
            <p:extLst/>
          </p:nvPr>
        </p:nvGraphicFramePr>
        <p:xfrm>
          <a:off x="178376" y="1393068"/>
          <a:ext cx="6726402" cy="549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39790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858234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447675">
                  <a:extLst>
                    <a:ext uri="{9D8B030D-6E8A-4147-A177-3AD203B41FA5}">
                      <a16:colId xmlns:a16="http://schemas.microsoft.com/office/drawing/2014/main" val="3260188782"/>
                    </a:ext>
                  </a:extLst>
                </a:gridCol>
                <a:gridCol w="842963">
                  <a:extLst>
                    <a:ext uri="{9D8B030D-6E8A-4147-A177-3AD203B41FA5}">
                      <a16:colId xmlns:a16="http://schemas.microsoft.com/office/drawing/2014/main" val="1992799062"/>
                    </a:ext>
                  </a:extLst>
                </a:gridCol>
                <a:gridCol w="590550">
                  <a:extLst>
                    <a:ext uri="{9D8B030D-6E8A-4147-A177-3AD203B41FA5}">
                      <a16:colId xmlns:a16="http://schemas.microsoft.com/office/drawing/2014/main" val="3133798005"/>
                    </a:ext>
                  </a:extLst>
                </a:gridCol>
                <a:gridCol w="933450">
                  <a:extLst>
                    <a:ext uri="{9D8B030D-6E8A-4147-A177-3AD203B41FA5}">
                      <a16:colId xmlns:a16="http://schemas.microsoft.com/office/drawing/2014/main" val="1036405844"/>
                    </a:ext>
                  </a:extLst>
                </a:gridCol>
                <a:gridCol w="595312">
                  <a:extLst>
                    <a:ext uri="{9D8B030D-6E8A-4147-A177-3AD203B41FA5}">
                      <a16:colId xmlns:a16="http://schemas.microsoft.com/office/drawing/2014/main" val="3555803116"/>
                    </a:ext>
                  </a:extLst>
                </a:gridCol>
                <a:gridCol w="1818428">
                  <a:extLst>
                    <a:ext uri="{9D8B030D-6E8A-4147-A177-3AD203B41FA5}">
                      <a16:colId xmlns:a16="http://schemas.microsoft.com/office/drawing/2014/main" val="3705578621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심의의뢰일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진행상태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감사년도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감사종류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감사차수</a:t>
                      </a:r>
                      <a:endParaRPr lang="ko-KR" altLang="en-US" sz="700" kern="1200" dirty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감사부점</a:t>
                      </a:r>
                      <a:endParaRPr lang="ko-KR" altLang="en-US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279923"/>
                  </a:ext>
                </a:extLst>
              </a:tr>
            </a:tbl>
          </a:graphicData>
        </a:graphic>
      </p:graphicFrame>
      <p:sp>
        <p:nvSpPr>
          <p:cNvPr id="34" name="직사각형 3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886705" y="1433390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954264" y="1432503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2024-03-25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36" name="그림 3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27105" y="1437230"/>
            <a:ext cx="181098" cy="173224"/>
          </a:xfrm>
          <a:prstGeom prst="rect">
            <a:avLst/>
          </a:prstGeom>
        </p:spPr>
      </p:pic>
      <p:pic>
        <p:nvPicPr>
          <p:cNvPr id="37" name="그림 3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591253" y="1438578"/>
            <a:ext cx="181098" cy="173224"/>
          </a:xfrm>
          <a:prstGeom prst="rect">
            <a:avLst/>
          </a:prstGeom>
        </p:spPr>
      </p:pic>
      <p:cxnSp>
        <p:nvCxnSpPr>
          <p:cNvPr id="38" name="직선 연결선 37"/>
          <p:cNvCxnSpPr/>
          <p:nvPr/>
        </p:nvCxnSpPr>
        <p:spPr bwMode="auto">
          <a:xfrm>
            <a:off x="1765352" y="1523842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3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00132" y="2624767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15371" y="2624767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spc="-1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225449" y="1705108"/>
            <a:ext cx="625497" cy="164468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일반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2" name="이등변 삼각형 41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2762295" y="1779427"/>
            <a:ext cx="60852" cy="34408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151290" y="1723344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563679" y="1723378"/>
            <a:ext cx="934552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45" name="그림 44"/>
          <p:cNvPicPr>
            <a:picLocks noChangeAspect="1"/>
          </p:cNvPicPr>
          <p:nvPr/>
        </p:nvPicPr>
        <p:blipFill rotWithShape="1">
          <a:blip r:embed="rId3"/>
          <a:srcRect r="73540"/>
          <a:stretch/>
        </p:blipFill>
        <p:spPr>
          <a:xfrm>
            <a:off x="5576379" y="1739900"/>
            <a:ext cx="183595" cy="164228"/>
          </a:xfrm>
          <a:prstGeom prst="rect">
            <a:avLst/>
          </a:prstGeom>
        </p:spPr>
      </p:pic>
      <p:graphicFrame>
        <p:nvGraphicFramePr>
          <p:cNvPr id="46" name="표 45"/>
          <p:cNvGraphicFramePr>
            <a:graphicFrameLocks noGrp="1"/>
          </p:cNvGraphicFramePr>
          <p:nvPr>
            <p:extLst/>
          </p:nvPr>
        </p:nvGraphicFramePr>
        <p:xfrm>
          <a:off x="178374" y="2863596"/>
          <a:ext cx="6726400" cy="1066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5897">
                  <a:extLst>
                    <a:ext uri="{9D8B030D-6E8A-4147-A177-3AD203B41FA5}">
                      <a16:colId xmlns:a16="http://schemas.microsoft.com/office/drawing/2014/main" val="2253382433"/>
                    </a:ext>
                  </a:extLst>
                </a:gridCol>
                <a:gridCol w="754380">
                  <a:extLst>
                    <a:ext uri="{9D8B030D-6E8A-4147-A177-3AD203B41FA5}">
                      <a16:colId xmlns:a16="http://schemas.microsoft.com/office/drawing/2014/main" val="863141978"/>
                    </a:ext>
                  </a:extLst>
                </a:gridCol>
                <a:gridCol w="800100">
                  <a:extLst>
                    <a:ext uri="{9D8B030D-6E8A-4147-A177-3AD203B41FA5}">
                      <a16:colId xmlns:a16="http://schemas.microsoft.com/office/drawing/2014/main" val="1963342737"/>
                    </a:ext>
                  </a:extLst>
                </a:gridCol>
                <a:gridCol w="1234440">
                  <a:extLst>
                    <a:ext uri="{9D8B030D-6E8A-4147-A177-3AD203B41FA5}">
                      <a16:colId xmlns:a16="http://schemas.microsoft.com/office/drawing/2014/main" val="570326186"/>
                    </a:ext>
                  </a:extLst>
                </a:gridCol>
                <a:gridCol w="841609">
                  <a:extLst>
                    <a:ext uri="{9D8B030D-6E8A-4147-A177-3AD203B41FA5}">
                      <a16:colId xmlns:a16="http://schemas.microsoft.com/office/drawing/2014/main" val="818279493"/>
                    </a:ext>
                  </a:extLst>
                </a:gridCol>
                <a:gridCol w="1108374">
                  <a:extLst>
                    <a:ext uri="{9D8B030D-6E8A-4147-A177-3AD203B41FA5}">
                      <a16:colId xmlns:a16="http://schemas.microsoft.com/office/drawing/2014/main" val="1943334727"/>
                    </a:ext>
                  </a:extLst>
                </a:gridCol>
                <a:gridCol w="840800">
                  <a:extLst>
                    <a:ext uri="{9D8B030D-6E8A-4147-A177-3AD203B41FA5}">
                      <a16:colId xmlns:a16="http://schemas.microsoft.com/office/drawing/2014/main" val="1543582443"/>
                    </a:ext>
                  </a:extLst>
                </a:gridCol>
                <a:gridCol w="840800">
                  <a:extLst>
                    <a:ext uri="{9D8B030D-6E8A-4147-A177-3AD203B41FA5}">
                      <a16:colId xmlns:a16="http://schemas.microsoft.com/office/drawing/2014/main" val="1215815747"/>
                    </a:ext>
                  </a:extLst>
                </a:gridCol>
              </a:tblGrid>
              <a:tr h="18210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심의의뢰일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심의의뢰직원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감사종류 및 구분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진행상태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감사부점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심의년월일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</a:t>
                      </a:r>
                      <a:r>
                        <a:rPr lang="ko-KR" altLang="en-US" sz="800" b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형식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9918783"/>
                  </a:ext>
                </a:extLst>
              </a:tr>
              <a:tr h="18210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2024-03-01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[1552111] </a:t>
                      </a:r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</a:t>
                      </a: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 </a:t>
                      </a:r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– </a:t>
                      </a:r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종합감사 </a:t>
                      </a:r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차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심의대상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여의도</a:t>
                      </a:r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지점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2024-03-25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031790"/>
                  </a:ext>
                </a:extLst>
              </a:tr>
              <a:tr h="18210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2024-03-21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[1552111] </a:t>
                      </a:r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</a:t>
                      </a: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 </a:t>
                      </a:r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– </a:t>
                      </a:r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종합감사 </a:t>
                      </a:r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차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의결대상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을지로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지점 등 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개점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2024-03-25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3366566"/>
                  </a:ext>
                </a:extLst>
              </a:tr>
              <a:tr h="18210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2024-03-21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[1552222] </a:t>
                      </a:r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박</a:t>
                      </a: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**</a:t>
                      </a:r>
                      <a:endParaRPr lang="ko-KR" altLang="en-US" sz="70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일반 </a:t>
                      </a:r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– </a:t>
                      </a:r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종합감사 </a:t>
                      </a:r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차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심의완료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영등포</a:t>
                      </a:r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en-US" altLang="ko-KR" sz="800" b="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지점 등 </a:t>
                      </a:r>
                      <a:r>
                        <a:rPr lang="en-US" altLang="ko-KR" sz="800" b="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r>
                        <a:rPr lang="ko-KR" altLang="en-US" sz="800" b="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개점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2024-03-25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0253298"/>
                  </a:ext>
                </a:extLst>
              </a:tr>
              <a:tr h="18210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2021422"/>
                  </a:ext>
                </a:extLst>
              </a:tr>
            </a:tbl>
          </a:graphicData>
        </a:graphic>
      </p:graphicFrame>
      <p:sp>
        <p:nvSpPr>
          <p:cNvPr id="47" name="직사각형 46"/>
          <p:cNvSpPr/>
          <p:nvPr/>
        </p:nvSpPr>
        <p:spPr bwMode="auto">
          <a:xfrm>
            <a:off x="6067337" y="3098455"/>
            <a:ext cx="785588" cy="175410"/>
          </a:xfrm>
          <a:prstGeom prst="rect">
            <a:avLst/>
          </a:prstGeom>
          <a:noFill/>
          <a:ln w="12701">
            <a:noFill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defTabSz="914395" fontAlgn="ctr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>
                <a:latin typeface="+mj-ea"/>
              </a:rPr>
              <a:t> </a:t>
            </a:r>
            <a:r>
              <a:rPr lang="ko-KR" altLang="en-US" sz="7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◎의결 전  ○최종</a:t>
            </a:r>
            <a:endParaRPr lang="ko-KR" altLang="en-US" sz="70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8" name="직사각형 47"/>
          <p:cNvSpPr/>
          <p:nvPr/>
        </p:nvSpPr>
        <p:spPr bwMode="auto">
          <a:xfrm>
            <a:off x="6067337" y="3314197"/>
            <a:ext cx="785588" cy="175410"/>
          </a:xfrm>
          <a:prstGeom prst="rect">
            <a:avLst/>
          </a:prstGeom>
          <a:noFill/>
          <a:ln w="12701">
            <a:noFill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defTabSz="914395" fontAlgn="ctr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>
                <a:latin typeface="+mj-ea"/>
              </a:rPr>
              <a:t> </a:t>
            </a:r>
            <a:r>
              <a:rPr lang="ko-KR" altLang="en-US" sz="7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◎의결 전  ○최종</a:t>
            </a:r>
            <a:endParaRPr lang="ko-KR" altLang="en-US" sz="70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9" name="직사각형 48"/>
          <p:cNvSpPr/>
          <p:nvPr/>
        </p:nvSpPr>
        <p:spPr bwMode="auto">
          <a:xfrm>
            <a:off x="6067337" y="3528581"/>
            <a:ext cx="785588" cy="175410"/>
          </a:xfrm>
          <a:prstGeom prst="rect">
            <a:avLst/>
          </a:prstGeom>
          <a:noFill/>
          <a:ln w="12701">
            <a:noFill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defTabSz="914395" fontAlgn="ctr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>
                <a:latin typeface="+mj-ea"/>
              </a:rPr>
              <a:t> </a:t>
            </a:r>
            <a:r>
              <a:rPr lang="ko-KR" altLang="en-US" sz="7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○의결 전 ◎ 최종</a:t>
            </a:r>
            <a:endParaRPr lang="ko-KR" altLang="en-US" sz="70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0" name="직사각형 49"/>
          <p:cNvSpPr/>
          <p:nvPr/>
        </p:nvSpPr>
        <p:spPr bwMode="auto">
          <a:xfrm>
            <a:off x="6053007" y="2842310"/>
            <a:ext cx="851767" cy="921970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115371" y="293233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3614728" y="965501"/>
            <a:ext cx="688774" cy="690427"/>
            <a:chOff x="886704" y="1707601"/>
            <a:chExt cx="688774" cy="690427"/>
          </a:xfrm>
        </p:grpSpPr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886705" y="1707601"/>
              <a:ext cx="688047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심의대상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54" name="이등변 삼각형 53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1466073" y="1788423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886704" y="1880664"/>
              <a:ext cx="688047" cy="517364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7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70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normalizeH="0" noProof="0" dirty="0" err="1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의결대상</a:t>
              </a:r>
              <a:endParaRPr kumimoji="0" lang="en-US" altLang="ko-KR" sz="7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dirty="0" err="1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심의완료</a:t>
              </a:r>
              <a:endParaRPr kumimoji="0" lang="ko-KR" altLang="en-US" sz="7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887431" y="1888804"/>
              <a:ext cx="688047" cy="180915"/>
            </a:xfrm>
            <a:prstGeom prst="rect">
              <a:avLst/>
            </a:prstGeom>
            <a:solidFill>
              <a:srgbClr val="FFC000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심의대상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57" name="직사각형 56"/>
          <p:cNvSpPr/>
          <p:nvPr/>
        </p:nvSpPr>
        <p:spPr bwMode="auto">
          <a:xfrm>
            <a:off x="3547558" y="932083"/>
            <a:ext cx="828000" cy="756000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372366" y="99938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9" name="직사각형 58"/>
          <p:cNvSpPr/>
          <p:nvPr/>
        </p:nvSpPr>
        <p:spPr bwMode="auto">
          <a:xfrm>
            <a:off x="3288687" y="2842310"/>
            <a:ext cx="851767" cy="921970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0" name="타원 5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287563" y="275295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1" name="직사각형 60"/>
          <p:cNvSpPr/>
          <p:nvPr/>
        </p:nvSpPr>
        <p:spPr bwMode="auto">
          <a:xfrm>
            <a:off x="3440409" y="3083216"/>
            <a:ext cx="495954" cy="175410"/>
          </a:xfrm>
          <a:prstGeom prst="rect">
            <a:avLst/>
          </a:prstGeom>
          <a:noFill/>
          <a:ln w="15875">
            <a:solidFill>
              <a:schemeClr val="accent1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62" name="구부러진 연결선 61"/>
          <p:cNvCxnSpPr>
            <a:stCxn id="61" idx="3"/>
            <a:endCxn id="50" idx="1"/>
          </p:cNvCxnSpPr>
          <p:nvPr/>
        </p:nvCxnSpPr>
        <p:spPr bwMode="auto">
          <a:xfrm>
            <a:off x="3936363" y="3170921"/>
            <a:ext cx="2116644" cy="132374"/>
          </a:xfrm>
          <a:prstGeom prst="curvedConnector3">
            <a:avLst>
              <a:gd name="adj1" fmla="val 44960"/>
            </a:avLst>
          </a:prstGeom>
          <a:solidFill>
            <a:schemeClr val="accent1"/>
          </a:solidFill>
          <a:ln w="12700" cap="flat" cmpd="sng" algn="ctr">
            <a:solidFill>
              <a:schemeClr val="accent1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66" name="직사각형 65"/>
          <p:cNvSpPr/>
          <p:nvPr/>
        </p:nvSpPr>
        <p:spPr bwMode="auto">
          <a:xfrm>
            <a:off x="6108850" y="2619442"/>
            <a:ext cx="389381" cy="174916"/>
          </a:xfrm>
          <a:prstGeom prst="rect">
            <a:avLst/>
          </a:prstGeom>
          <a:noFill/>
          <a:ln w="15875">
            <a:solidFill>
              <a:schemeClr val="accent1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092511" y="247408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886182" y="1701758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4" name="이등변 삼각형 63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1465550" y="1782580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615092" y="1721131"/>
            <a:ext cx="6880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8" name="이등변 삼각형 67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4194460" y="1801953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86134" y="199237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9" name="직사각형 68"/>
          <p:cNvSpPr/>
          <p:nvPr/>
        </p:nvSpPr>
        <p:spPr bwMode="auto">
          <a:xfrm>
            <a:off x="170976" y="1625585"/>
            <a:ext cx="6421017" cy="358154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728999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그림 2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6297" y="1036897"/>
            <a:ext cx="6692470" cy="2773167"/>
          </a:xfrm>
          <a:prstGeom prst="rect">
            <a:avLst/>
          </a:prstGeom>
        </p:spPr>
      </p:pic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MDD-00108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MDD72TA6100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감사정보지원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주요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정보사항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보고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영업점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)(1/2)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감사정보지원 </a:t>
                      </a:r>
                      <a:r>
                        <a:rPr kumimoji="0" lang="en-US" altLang="ko-KR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정보관리 </a:t>
                      </a:r>
                      <a:r>
                        <a:rPr kumimoji="0" lang="en-US" altLang="ko-KR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사고데이터관리 </a:t>
                      </a:r>
                      <a:r>
                        <a:rPr kumimoji="0" lang="en-US" altLang="ko-KR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주요정보사항보고</a:t>
                      </a:r>
                      <a:r>
                        <a:rPr lang="en-US" altLang="ko-KR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(P142:</a:t>
                      </a:r>
                      <a:r>
                        <a:rPr lang="ko-KR" altLang="en-US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김용근</a:t>
                      </a:r>
                      <a:r>
                        <a:rPr lang="en-US" altLang="ko-KR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noProof="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46" name="표 45"/>
          <p:cNvGraphicFramePr>
            <a:graphicFrameLocks noGrp="1"/>
          </p:cNvGraphicFramePr>
          <p:nvPr>
            <p:extLst/>
          </p:nvPr>
        </p:nvGraphicFramePr>
        <p:xfrm>
          <a:off x="7207250" y="665523"/>
          <a:ext cx="2606675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글로벌점포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전용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정보구분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항목 추가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: </a:t>
                      </a:r>
                      <a:r>
                        <a:rPr lang="en-US" altLang="ko-KR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‘</a:t>
                      </a:r>
                      <a:r>
                        <a:rPr lang="ko-KR" altLang="en-US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현지감독기관 감사착수보고</a:t>
                      </a:r>
                      <a:r>
                        <a:rPr lang="en-US" altLang="ko-KR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’, ‘</a:t>
                      </a:r>
                      <a:r>
                        <a:rPr lang="ko-KR" altLang="en-US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현지감독기관 감사결과 보고</a:t>
                      </a:r>
                      <a:r>
                        <a:rPr lang="en-US" altLang="ko-KR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’, ‘</a:t>
                      </a:r>
                      <a:r>
                        <a:rPr lang="ko-KR" altLang="en-US" sz="800" dirty="0" err="1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현지감독</a:t>
                      </a:r>
                      <a:r>
                        <a:rPr lang="ko-KR" altLang="en-US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관련 </a:t>
                      </a:r>
                      <a:r>
                        <a:rPr lang="ko-KR" altLang="en-US" sz="800" dirty="0" err="1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기타정보</a:t>
                      </a:r>
                      <a:r>
                        <a:rPr lang="ko-KR" altLang="en-US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보고</a:t>
                      </a:r>
                      <a:r>
                        <a:rPr lang="en-US" altLang="ko-KR" sz="80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’ 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총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개 항목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</a:tbl>
          </a:graphicData>
        </a:graphic>
      </p:graphicFrame>
      <p:pic>
        <p:nvPicPr>
          <p:cNvPr id="26" name="그림 2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14639" y="2415871"/>
            <a:ext cx="5340678" cy="2167783"/>
          </a:xfrm>
          <a:prstGeom prst="rect">
            <a:avLst/>
          </a:prstGeom>
        </p:spPr>
      </p:pic>
      <p:sp>
        <p:nvSpPr>
          <p:cNvPr id="27" name="아래쪽 화살표 26"/>
          <p:cNvSpPr/>
          <p:nvPr/>
        </p:nvSpPr>
        <p:spPr bwMode="auto">
          <a:xfrm rot="5400000">
            <a:off x="5606224" y="3383217"/>
            <a:ext cx="380687" cy="345505"/>
          </a:xfrm>
          <a:prstGeom prst="downArrow">
            <a:avLst/>
          </a:prstGeom>
          <a:solidFill>
            <a:srgbClr val="FFBF0D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28" name="내용 개체 틀 121"/>
          <p:cNvGraphicFramePr>
            <a:graphicFrameLocks/>
          </p:cNvGraphicFramePr>
          <p:nvPr>
            <p:extLst/>
          </p:nvPr>
        </p:nvGraphicFramePr>
        <p:xfrm>
          <a:off x="2051171" y="3968639"/>
          <a:ext cx="3377040" cy="16280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28148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2048892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</a:tblGrid>
              <a:tr h="16280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 smtClean="0">
                          <a:solidFill>
                            <a:schemeClr val="dk1"/>
                          </a:solidFill>
                          <a:effectLst/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정보구분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 (</a:t>
                      </a:r>
                      <a:r>
                        <a:rPr lang="ko-KR" altLang="en-US" sz="700" dirty="0" smtClean="0">
                          <a:latin typeface="+mj-ea"/>
                          <a:ea typeface="+mj-ea"/>
                        </a:rPr>
                        <a:t>추가</a:t>
                      </a:r>
                      <a:r>
                        <a:rPr lang="en-US" altLang="ko-KR" sz="700" dirty="0" smtClean="0">
                          <a:latin typeface="+mj-ea"/>
                          <a:ea typeface="+mj-ea"/>
                        </a:rPr>
                        <a:t>)</a:t>
                      </a:r>
                      <a:endParaRPr lang="ko-KR" altLang="en-US" sz="700" dirty="0" smtClean="0">
                        <a:latin typeface="+mj-ea"/>
                        <a:ea typeface="+mj-ea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5" name="TextBox 4"/>
          <p:cNvSpPr txBox="1"/>
          <p:nvPr/>
        </p:nvSpPr>
        <p:spPr>
          <a:xfrm>
            <a:off x="3380969" y="4133443"/>
            <a:ext cx="2047241" cy="215444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r>
              <a:rPr lang="en-US" altLang="ko-KR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lang="ko-KR" altLang="en-US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글로벌</a:t>
            </a:r>
            <a:r>
              <a:rPr lang="en-US" altLang="ko-KR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 </a:t>
            </a:r>
            <a:r>
              <a:rPr lang="ko-KR" altLang="en-US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현지감독기관 </a:t>
            </a:r>
            <a:r>
              <a:rPr lang="ko-KR" altLang="en-US" sz="8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감사착수</a:t>
            </a:r>
            <a:r>
              <a:rPr lang="ko-KR" altLang="en-US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보고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380970" y="4348887"/>
            <a:ext cx="2047240" cy="215444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r>
              <a:rPr lang="en-US" altLang="ko-KR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lang="ko-KR" altLang="en-US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글로벌</a:t>
            </a:r>
            <a:r>
              <a:rPr lang="en-US" altLang="ko-KR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 </a:t>
            </a:r>
            <a:r>
              <a:rPr lang="ko-KR" altLang="en-US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현지감독기관 감사결과 보고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3380970" y="4564331"/>
            <a:ext cx="2047240" cy="215444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r>
              <a:rPr lang="en-US" altLang="ko-KR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lang="ko-KR" altLang="en-US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글로벌</a:t>
            </a:r>
            <a:r>
              <a:rPr lang="en-US" altLang="ko-KR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 </a:t>
            </a:r>
            <a:r>
              <a:rPr lang="ko-KR" altLang="en-US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현지감독관련 </a:t>
            </a:r>
            <a:r>
              <a:rPr lang="ko-KR" altLang="en-US" sz="8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기타정보</a:t>
            </a:r>
            <a:r>
              <a:rPr lang="ko-KR" altLang="en-US" sz="8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보고</a:t>
            </a: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970171" y="3773023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987362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MDD-00139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MDD72TA6100</a:t>
                      </a:r>
                      <a:endParaRPr lang="ko-KR" altLang="en-US" sz="12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감사정보지원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주요정보사항보고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영업점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감사지원정보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정보관리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사고데이터관리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주요정보사항보고조회</a:t>
                      </a:r>
                      <a:r>
                        <a:rPr lang="en-US" altLang="ko-KR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(P144:</a:t>
                      </a:r>
                      <a:r>
                        <a:rPr lang="ko-KR" altLang="en-US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김용근</a:t>
                      </a:r>
                      <a:r>
                        <a:rPr lang="en-US" altLang="ko-KR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noProof="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46" name="표 45"/>
          <p:cNvGraphicFramePr>
            <a:graphicFrameLocks noGrp="1"/>
          </p:cNvGraphicFramePr>
          <p:nvPr>
            <p:extLst/>
          </p:nvPr>
        </p:nvGraphicFramePr>
        <p:xfrm>
          <a:off x="7207250" y="665523"/>
          <a:ext cx="2606675" cy="1803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정보보고 시 첨부파일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등록개수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제한 삭제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현재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개 제한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defTabSz="914395" rtl="0" eaLnBrk="1" latinLnBrk="1" hangingPunct="1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출력 시 폰트 사이즈 자동 축소되지 않도록 개선 필요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’ 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요건에 대한 세부내용 확인 필요 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-&gt; 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시스템이 아닌 </a:t>
                      </a:r>
                      <a:r>
                        <a:rPr lang="ko-KR" altLang="en-US" sz="80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레포팅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솔루션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(Oz)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관련내용인지 확인</a:t>
                      </a:r>
                      <a:endParaRPr lang="en-US" altLang="ko-KR" sz="800" kern="12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lvl="0" indent="0" algn="l" defTabSz="914395" rtl="0" eaLnBrk="1" latinLnBrk="1" hangingPunct="1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[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주요 </a:t>
                      </a:r>
                      <a:r>
                        <a:rPr lang="ko-KR" altLang="en-US" sz="80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정보사항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보고 등록</a:t>
                      </a:r>
                      <a:r>
                        <a:rPr lang="en-US" altLang="ko-KR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오즈리포트</a:t>
                      </a:r>
                      <a:r>
                        <a:rPr lang="ko-KR" altLang="en-US" sz="800" kern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kern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출력시</a:t>
                      </a:r>
                      <a:endParaRPr lang="en-US" altLang="ko-KR" sz="800" kern="12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lvl="0" indent="0" algn="l" defTabSz="914395" rtl="0" eaLnBrk="1" latinLnBrk="1" hangingPunct="1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ko-KR" altLang="en-US" sz="800" kern="12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주요내용</a:t>
                      </a:r>
                      <a:r>
                        <a:rPr lang="en-US" altLang="ko-KR" sz="800" kern="12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조치내용</a:t>
                      </a:r>
                      <a:r>
                        <a:rPr lang="en-US" altLang="ko-KR" sz="800" kern="12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기타특이사항 항목의 길이를 줄여 </a:t>
                      </a:r>
                      <a:r>
                        <a:rPr lang="en-US" altLang="ko-KR" sz="800" kern="12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[</a:t>
                      </a:r>
                      <a:r>
                        <a:rPr lang="ko-KR" altLang="en-US" sz="800" kern="1200" noProof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발생시기및</a:t>
                      </a:r>
                      <a:r>
                        <a:rPr lang="ko-KR" altLang="en-US" sz="800" kern="12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경위</a:t>
                      </a:r>
                      <a:r>
                        <a:rPr lang="en-US" altLang="ko-KR" sz="800" kern="12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</a:t>
                      </a:r>
                      <a:r>
                        <a:rPr lang="ko-KR" altLang="en-US" sz="800" kern="12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를 </a:t>
                      </a:r>
                      <a:r>
                        <a:rPr lang="en-US" altLang="ko-KR" sz="800" kern="12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10</a:t>
                      </a:r>
                      <a:r>
                        <a:rPr lang="ko-KR" altLang="en-US" sz="800" kern="1200" noProof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줄정도</a:t>
                      </a:r>
                      <a:r>
                        <a:rPr lang="ko-KR" altLang="en-US" sz="800" kern="1200" noProof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표시 가능하도록 조정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</a:tbl>
          </a:graphicData>
        </a:graphic>
      </p:graphicFrame>
      <p:pic>
        <p:nvPicPr>
          <p:cNvPr id="25" name="그림 2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4610" y="1103399"/>
            <a:ext cx="6692470" cy="2773167"/>
          </a:xfrm>
          <a:prstGeom prst="rect">
            <a:avLst/>
          </a:prstGeom>
        </p:spPr>
      </p:pic>
      <p:pic>
        <p:nvPicPr>
          <p:cNvPr id="26" name="그림 2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40323" y="1843605"/>
            <a:ext cx="3342215" cy="2958698"/>
          </a:xfrm>
          <a:prstGeom prst="rect">
            <a:avLst/>
          </a:prstGeom>
        </p:spPr>
      </p:pic>
      <p:sp>
        <p:nvSpPr>
          <p:cNvPr id="27" name="직사각형 26"/>
          <p:cNvSpPr/>
          <p:nvPr/>
        </p:nvSpPr>
        <p:spPr bwMode="auto">
          <a:xfrm>
            <a:off x="1412461" y="3055696"/>
            <a:ext cx="1197937" cy="196582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343658" y="282963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4" name="그림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62205" y="3055696"/>
            <a:ext cx="2637853" cy="3053875"/>
          </a:xfrm>
          <a:prstGeom prst="rect">
            <a:avLst/>
          </a:prstGeom>
        </p:spPr>
      </p:pic>
      <p:sp>
        <p:nvSpPr>
          <p:cNvPr id="32" name="직사각형 31"/>
          <p:cNvSpPr/>
          <p:nvPr/>
        </p:nvSpPr>
        <p:spPr bwMode="auto">
          <a:xfrm>
            <a:off x="4062205" y="3055695"/>
            <a:ext cx="2637853" cy="3053875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081002" y="289771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384628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836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21259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초기화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수정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기존 기능 유지한다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 페이지에서는 특별감사에서 만 사용되는 기능 요건 별도 정의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개선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감사종류가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‘특별’ 인 대상의 경우 감사 계획 등록 시 특별감사 관리 대장에 자동 연계하여 등록되도록 기능 제공한다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개선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)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.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화면연계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세부요건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: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기존 관리대장 등록 화면의 필수 입력 값 자동 연계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예외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–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실시배경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: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현재 특별감사 등록 시 필수 입력 값으로 지정되어 있으나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감사계획에서는 해당 내용 입력이 불가하므로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관리 대장에 자동연계하여 등록할 때는 본 항목은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NULL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가능하도록 예외 처리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sym typeface="Wingdings 2" panose="05020102010507070707" pitchFamily="18" charset="2"/>
                        </a:rPr>
                        <a:t>)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sym typeface="Wingdings 2" panose="05020102010507070707" pitchFamily="18" charset="2"/>
                      </a:endParaRP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특별감사에 같은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계획년도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같은 차수의 감사의 경우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1)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처음 등록 항목을 대상부점으로 등록한다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2)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이후의 항목은 관련부점으로 등록한다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3)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대상부점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관련부점 수정이 필요할 경우 감사계획을 삭제 후 재등록 해야한다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aphicFrame>
        <p:nvGraphicFramePr>
          <p:cNvPr id="24" name="표 23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MDD-00109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MDD75G54000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심의조사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등록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조사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특별감사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감사계획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등록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(P146: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정용욱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7" name="양쪽 모서리가 둥근 사각형 6"/>
          <p:cNvSpPr/>
          <p:nvPr/>
        </p:nvSpPr>
        <p:spPr bwMode="auto">
          <a:xfrm>
            <a:off x="256175" y="1453734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감사계획 등록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49672" y="1379138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56176" y="1639469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" name="직사각형 9"/>
          <p:cNvSpPr/>
          <p:nvPr/>
        </p:nvSpPr>
        <p:spPr bwMode="auto">
          <a:xfrm flipV="1">
            <a:off x="256173" y="1441105"/>
            <a:ext cx="1075897" cy="22836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95712" y="137913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12" name="그림 1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49672" y="1707014"/>
            <a:ext cx="6732899" cy="973334"/>
          </a:xfrm>
          <a:prstGeom prst="rect">
            <a:avLst/>
          </a:prstGeom>
        </p:spPr>
      </p:pic>
      <p:sp>
        <p:nvSpPr>
          <p:cNvPr id="13" name="직사각형 12"/>
          <p:cNvSpPr/>
          <p:nvPr/>
        </p:nvSpPr>
        <p:spPr bwMode="auto">
          <a:xfrm>
            <a:off x="1820486" y="1723240"/>
            <a:ext cx="2128059" cy="179196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925770" y="2694378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49672" y="2977477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6" name="양쪽 모서리가 둥근 사각형 15"/>
          <p:cNvSpPr/>
          <p:nvPr/>
        </p:nvSpPr>
        <p:spPr bwMode="auto">
          <a:xfrm>
            <a:off x="3314191" y="3021237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특별감사 관리대장 조회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3305848" y="3217344"/>
            <a:ext cx="3798120" cy="922394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8" name="그림 1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389941" y="3271512"/>
            <a:ext cx="3662754" cy="763327"/>
          </a:xfrm>
          <a:prstGeom prst="rect">
            <a:avLst/>
          </a:prstGeom>
        </p:spPr>
      </p:pic>
      <p:sp>
        <p:nvSpPr>
          <p:cNvPr id="19" name="직사각형 18"/>
          <p:cNvSpPr/>
          <p:nvPr/>
        </p:nvSpPr>
        <p:spPr bwMode="auto">
          <a:xfrm>
            <a:off x="3389941" y="3848739"/>
            <a:ext cx="3662754" cy="186100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751683" y="159865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21" name="구부러진 연결선 20"/>
          <p:cNvCxnSpPr>
            <a:stCxn id="13" idx="2"/>
            <a:endCxn id="16" idx="3"/>
          </p:cNvCxnSpPr>
          <p:nvPr/>
        </p:nvCxnSpPr>
        <p:spPr bwMode="auto">
          <a:xfrm rot="16200000" flipH="1">
            <a:off x="2808927" y="1978024"/>
            <a:ext cx="1118801" cy="967623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22" name="양쪽 모서리가 둥근 사각형 21"/>
          <p:cNvSpPr/>
          <p:nvPr/>
        </p:nvSpPr>
        <p:spPr bwMode="auto">
          <a:xfrm>
            <a:off x="204055" y="4114609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특별감사 관리대장 등록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3" name="직사각형 22"/>
          <p:cNvSpPr/>
          <p:nvPr/>
        </p:nvSpPr>
        <p:spPr bwMode="auto">
          <a:xfrm>
            <a:off x="195712" y="4310716"/>
            <a:ext cx="3798120" cy="922394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25" name="그림 2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8473" y="4345000"/>
            <a:ext cx="3681759" cy="869977"/>
          </a:xfrm>
          <a:prstGeom prst="rect">
            <a:avLst/>
          </a:prstGeom>
        </p:spPr>
      </p:pic>
      <p:sp>
        <p:nvSpPr>
          <p:cNvPr id="26" name="직사각형 25"/>
          <p:cNvSpPr/>
          <p:nvPr/>
        </p:nvSpPr>
        <p:spPr bwMode="auto">
          <a:xfrm>
            <a:off x="249671" y="4376969"/>
            <a:ext cx="3698873" cy="678580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72808" y="426904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8" name="오른쪽 대괄호 27"/>
          <p:cNvSpPr/>
          <p:nvPr/>
        </p:nvSpPr>
        <p:spPr bwMode="auto">
          <a:xfrm rot="10800000">
            <a:off x="165387" y="1714689"/>
            <a:ext cx="91707" cy="1104932"/>
          </a:xfrm>
          <a:prstGeom prst="rightBracket">
            <a:avLst/>
          </a:prstGeom>
          <a:noFill/>
          <a:ln w="9525" cap="flat" cmpd="sng" algn="ctr">
            <a:solidFill>
              <a:srgbClr val="755500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9" name="연결선: 꺾임 95">
            <a:extLst>
              <a:ext uri="{FF2B5EF4-FFF2-40B4-BE49-F238E27FC236}">
                <a16:creationId xmlns:a16="http://schemas.microsoft.com/office/drawing/2014/main" id="{B142995A-BCD9-F7CF-FE0C-70EB43BD7C02}"/>
              </a:ext>
            </a:extLst>
          </p:cNvPr>
          <p:cNvCxnSpPr>
            <a:cxnSpLocks/>
            <a:stCxn id="28" idx="2"/>
            <a:endCxn id="23" idx="1"/>
          </p:cNvCxnSpPr>
          <p:nvPr/>
        </p:nvCxnSpPr>
        <p:spPr bwMode="auto">
          <a:xfrm>
            <a:off x="165387" y="2267155"/>
            <a:ext cx="30325" cy="2504758"/>
          </a:xfrm>
          <a:prstGeom prst="bentConnector5">
            <a:avLst>
              <a:gd name="adj1" fmla="val -753833"/>
              <a:gd name="adj2" fmla="val 51822"/>
              <a:gd name="adj3" fmla="val -754345"/>
            </a:avLst>
          </a:prstGeom>
          <a:solidFill>
            <a:schemeClr val="accent1"/>
          </a:solidFill>
          <a:ln w="9525" cap="flat" cmpd="sng" algn="ctr">
            <a:solidFill>
              <a:srgbClr val="755500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30" name="TextBox 29"/>
          <p:cNvSpPr txBox="1"/>
          <p:nvPr/>
        </p:nvSpPr>
        <p:spPr>
          <a:xfrm>
            <a:off x="3993832" y="4796100"/>
            <a:ext cx="3031237" cy="1061829"/>
          </a:xfrm>
          <a:prstGeom prst="rect">
            <a:avLst/>
          </a:prstGeom>
          <a:noFill/>
          <a:ln w="9525">
            <a:solidFill>
              <a:schemeClr val="bg1">
                <a:lumMod val="85000"/>
              </a:schemeClr>
            </a:solidFill>
          </a:ln>
        </p:spPr>
        <p:txBody>
          <a:bodyPr wrap="squar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9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감사계획</a:t>
            </a:r>
            <a:r>
              <a:rPr lang="ko-KR" altLang="en-US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등록 시 입력한 기본정보를 토대로 </a:t>
            </a:r>
            <a:r>
              <a:rPr lang="ko-KR" altLang="en-US" sz="9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자동연계</a:t>
            </a:r>
            <a:r>
              <a:rPr lang="ko-KR" altLang="en-US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처리</a:t>
            </a:r>
            <a:endParaRPr lang="en-US" altLang="ko-KR" sz="900" dirty="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lang="ko-KR" altLang="en-US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예외</a:t>
            </a:r>
            <a:r>
              <a:rPr lang="en-US" altLang="ko-KR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 </a:t>
            </a:r>
            <a:r>
              <a:rPr lang="ko-KR" altLang="en-US" sz="9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실시배경은</a:t>
            </a:r>
            <a:r>
              <a:rPr lang="ko-KR" altLang="en-US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lang="en-US" altLang="ko-KR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NULL </a:t>
            </a:r>
            <a:r>
              <a:rPr lang="ko-KR" altLang="en-US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입력 가능하게 변경</a:t>
            </a:r>
            <a:endParaRPr lang="en-US" altLang="ko-KR" sz="900" dirty="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9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영업감사</a:t>
            </a:r>
            <a:r>
              <a:rPr lang="en-US" altLang="ko-KR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lang="ko-KR" altLang="en-US" sz="9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문책보고서</a:t>
            </a:r>
            <a:r>
              <a:rPr lang="en-US" altLang="ko-KR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), </a:t>
            </a:r>
            <a:r>
              <a:rPr lang="ko-KR" altLang="en-US" sz="9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본부감사</a:t>
            </a:r>
            <a:r>
              <a:rPr lang="en-US" altLang="ko-KR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lang="ko-KR" altLang="en-US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문책</a:t>
            </a:r>
            <a:r>
              <a:rPr lang="en-US" altLang="ko-KR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lang="ko-KR" altLang="en-US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시 해당 </a:t>
            </a:r>
            <a:r>
              <a:rPr lang="ko-KR" altLang="en-US" sz="9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감사계획에</a:t>
            </a:r>
            <a:r>
              <a:rPr lang="ko-KR" altLang="en-US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감사내용구분에 </a:t>
            </a:r>
            <a:r>
              <a:rPr lang="ko-KR" altLang="en-US" sz="9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문책조사</a:t>
            </a:r>
            <a:r>
              <a:rPr lang="en-US" altLang="ko-KR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lang="ko-KR" altLang="en-US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영업점</a:t>
            </a:r>
            <a:r>
              <a:rPr lang="en-US" altLang="ko-KR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), </a:t>
            </a:r>
            <a:r>
              <a:rPr lang="ko-KR" altLang="en-US" sz="9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문책조사</a:t>
            </a:r>
            <a:r>
              <a:rPr lang="en-US" altLang="ko-KR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lang="ko-KR" altLang="en-US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본부</a:t>
            </a:r>
            <a:r>
              <a:rPr lang="en-US" altLang="ko-KR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lang="ko-KR" altLang="en-US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로 계획 등록하고 해당 특별감사 관리대장 등록 시 연계하여 수기 입력</a:t>
            </a:r>
            <a:r>
              <a:rPr lang="en-US" altLang="ko-KR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lang="ko-KR" altLang="en-US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입력 방식 간편화 기능 개선</a:t>
            </a:r>
            <a:r>
              <a:rPr lang="en-US" altLang="ko-KR" sz="9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endParaRPr lang="ko-KR" altLang="en-US" sz="900" dirty="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1" name="오른쪽 화살표 30"/>
          <p:cNvSpPr/>
          <p:nvPr/>
        </p:nvSpPr>
        <p:spPr bwMode="auto">
          <a:xfrm rot="16200000">
            <a:off x="3618907" y="4119092"/>
            <a:ext cx="239269" cy="238335"/>
          </a:xfrm>
          <a:prstGeom prst="rightArrow">
            <a:avLst/>
          </a:prstGeom>
          <a:solidFill>
            <a:srgbClr val="FFBF0D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538880" y="2694378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초기화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302616" y="2697145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수정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80498" y="2705458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삭제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" name="사각형 설명선 3"/>
          <p:cNvSpPr/>
          <p:nvPr/>
        </p:nvSpPr>
        <p:spPr bwMode="auto">
          <a:xfrm>
            <a:off x="599448" y="2712317"/>
            <a:ext cx="1136174" cy="395300"/>
          </a:xfrm>
          <a:prstGeom prst="wedgeRectCallout">
            <a:avLst>
              <a:gd name="adj1" fmla="val -21256"/>
              <a:gd name="adj2" fmla="val -67616"/>
            </a:avLst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indent="-85725"/>
            <a:r>
              <a:rPr lang="ko-KR" altLang="en-US" sz="600" dirty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감사내용구분 </a:t>
            </a:r>
            <a:endParaRPr lang="en-US" altLang="ko-KR" sz="600" dirty="0">
              <a:solidFill>
                <a:srgbClr val="2272FF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85725" indent="-85725"/>
            <a:r>
              <a:rPr lang="ko-KR" altLang="en-US" sz="600" dirty="0" err="1" smtClean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해당무</a:t>
            </a:r>
            <a:r>
              <a:rPr lang="en-US" altLang="ko-KR" sz="600" dirty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lang="ko-KR" altLang="en-US" sz="600" dirty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특별감사</a:t>
            </a:r>
            <a:r>
              <a:rPr lang="en-US" altLang="ko-KR" sz="600" dirty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lang="ko-KR" altLang="en-US" sz="600" dirty="0" err="1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부문감사</a:t>
            </a:r>
            <a:r>
              <a:rPr lang="en-US" altLang="ko-KR" sz="600" dirty="0" smtClean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</a:t>
            </a:r>
          </a:p>
          <a:p>
            <a:pPr marL="85725" indent="-85725"/>
            <a:r>
              <a:rPr lang="ko-KR" altLang="en-US" sz="600" dirty="0" err="1" smtClean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문책조사</a:t>
            </a:r>
            <a:r>
              <a:rPr lang="en-US" altLang="ko-KR" sz="600" dirty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lang="ko-KR" altLang="en-US" sz="600" dirty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영업점</a:t>
            </a:r>
            <a:r>
              <a:rPr lang="en-US" altLang="ko-KR" sz="600" dirty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), </a:t>
            </a:r>
            <a:r>
              <a:rPr lang="ko-KR" altLang="en-US" sz="600" dirty="0" err="1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문책조사</a:t>
            </a:r>
            <a:r>
              <a:rPr lang="en-US" altLang="ko-KR" sz="600" dirty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lang="ko-KR" altLang="en-US" sz="600" dirty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본부</a:t>
            </a:r>
            <a:r>
              <a:rPr lang="en-US" altLang="ko-KR" sz="600" dirty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 </a:t>
            </a:r>
          </a:p>
        </p:txBody>
      </p:sp>
    </p:spTree>
    <p:extLst>
      <p:ext uri="{BB962C8B-B14F-4D97-AF65-F5344CB8AC3E}">
        <p14:creationId xmlns:p14="http://schemas.microsoft.com/office/powerpoint/2010/main" val="18762213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MDD-00110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MDD75D52000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특별감사 관리대장 등록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(1/6)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특별감사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관리대장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특별감사 관리대장 조회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(P147~P149: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임종국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60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13344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266663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0479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관리대장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등록시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상세팝업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시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기타체크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항목 중 금융사고 항목 체크 가능하도록 기능 제공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(p147)</a:t>
                      </a:r>
                    </a:p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-&gt;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해당 항목은 특별조사 후 금융사고 등록 시 특별감사와 연계 할</a:t>
                      </a:r>
                      <a:r>
                        <a:rPr lang="ko-KR" altLang="en-US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경우 금융사고 자동으로 체크 됨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0479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140285"/>
                  </a:ext>
                </a:extLst>
              </a:tr>
            </a:tbl>
          </a:graphicData>
        </a:graphic>
      </p:graphicFrame>
      <p:grpSp>
        <p:nvGrpSpPr>
          <p:cNvPr id="15" name="그룹 14"/>
          <p:cNvGrpSpPr/>
          <p:nvPr/>
        </p:nvGrpSpPr>
        <p:grpSpPr>
          <a:xfrm>
            <a:off x="146037" y="1419973"/>
            <a:ext cx="6732899" cy="337771"/>
            <a:chOff x="355877" y="2160935"/>
            <a:chExt cx="6061214" cy="417554"/>
          </a:xfrm>
        </p:grpSpPr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일상감사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BF0D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BF0D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BF0D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18" name="양쪽 모서리가 둥근 사각형 17"/>
          <p:cNvSpPr/>
          <p:nvPr/>
        </p:nvSpPr>
        <p:spPr bwMode="auto">
          <a:xfrm>
            <a:off x="152540" y="1894308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특별감사 관리대장 조회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9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146037" y="181971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0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152541" y="208004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21" name="그림 2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2538" y="2148699"/>
            <a:ext cx="6801610" cy="1125475"/>
          </a:xfrm>
          <a:prstGeom prst="rect">
            <a:avLst/>
          </a:prstGeom>
        </p:spPr>
      </p:pic>
      <p:sp>
        <p:nvSpPr>
          <p:cNvPr id="22" name="직사각형 21"/>
          <p:cNvSpPr/>
          <p:nvPr/>
        </p:nvSpPr>
        <p:spPr bwMode="auto">
          <a:xfrm flipV="1">
            <a:off x="160880" y="3065563"/>
            <a:ext cx="6793268" cy="246152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23" name="그림 2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01822" y="2343009"/>
            <a:ext cx="5617122" cy="3409397"/>
          </a:xfrm>
          <a:prstGeom prst="rect">
            <a:avLst/>
          </a:prstGeom>
        </p:spPr>
      </p:pic>
      <p:sp>
        <p:nvSpPr>
          <p:cNvPr id="24" name="직사각형 23"/>
          <p:cNvSpPr/>
          <p:nvPr/>
        </p:nvSpPr>
        <p:spPr bwMode="auto">
          <a:xfrm>
            <a:off x="4637689" y="5259770"/>
            <a:ext cx="464505" cy="161925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25" name="구부러진 연결선 24"/>
          <p:cNvCxnSpPr>
            <a:endCxn id="23" idx="1"/>
          </p:cNvCxnSpPr>
          <p:nvPr/>
        </p:nvCxnSpPr>
        <p:spPr bwMode="auto">
          <a:xfrm rot="16200000" flipH="1">
            <a:off x="947131" y="3593017"/>
            <a:ext cx="735994" cy="173388"/>
          </a:xfrm>
          <a:prstGeom prst="curvedConnector2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26" name="타원 2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 flipH="1">
            <a:off x="4566270" y="5046840"/>
            <a:ext cx="142837" cy="16259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969734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MDD-00110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MDD75D52003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특별감사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조사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보고서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(2/6)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특별감사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관리대장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특별감사 관리대장 조회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(P147~P149: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임종국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60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266663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20239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특별감사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조사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보고서에서 관련직 원을 조회하고 우선순위를 조정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할수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있는 기능 제공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1981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직원정보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팝업 시 직원발령정보 팝업을 출력한다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2277711"/>
                  </a:ext>
                </a:extLst>
              </a:tr>
              <a:tr h="198120">
                <a:tc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kumimoji="0" lang="ko-KR" altLang="en-US" sz="800" b="1" kern="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★ 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직위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직급</a:t>
                      </a:r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소속부점은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당시 정보로 조회하는지 확인 필요</a:t>
                      </a:r>
                      <a:endParaRPr lang="en-US" altLang="ko-KR" sz="80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3352810"/>
                  </a:ext>
                </a:extLst>
              </a:tr>
            </a:tbl>
          </a:graphicData>
        </a:graphic>
      </p:graphicFrame>
      <p:pic>
        <p:nvPicPr>
          <p:cNvPr id="14" name="그림 1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82385" y="2147478"/>
            <a:ext cx="6367550" cy="3912499"/>
          </a:xfrm>
          <a:prstGeom prst="rect">
            <a:avLst/>
          </a:prstGeom>
        </p:spPr>
      </p:pic>
      <p:grpSp>
        <p:nvGrpSpPr>
          <p:cNvPr id="18" name="그룹 17"/>
          <p:cNvGrpSpPr/>
          <p:nvPr/>
        </p:nvGrpSpPr>
        <p:grpSpPr>
          <a:xfrm>
            <a:off x="146037" y="1419973"/>
            <a:ext cx="6732899" cy="337771"/>
            <a:chOff x="355877" y="2160935"/>
            <a:chExt cx="6061214" cy="417554"/>
          </a:xfrm>
        </p:grpSpPr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일상감사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BF0D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BF0D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BF0D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21" name="양쪽 모서리가 둥근 사각형 20"/>
          <p:cNvSpPr/>
          <p:nvPr/>
        </p:nvSpPr>
        <p:spPr bwMode="auto">
          <a:xfrm>
            <a:off x="152540" y="1894308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특별감사 관리대장 조회</a:t>
            </a:r>
            <a:endParaRPr kumimoji="0" lang="ko-KR" altLang="en-US" sz="7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2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146037" y="181971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3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152541" y="208004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24" name="그림 2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770834" y="3298508"/>
            <a:ext cx="4174872" cy="2568508"/>
          </a:xfrm>
          <a:prstGeom prst="rect">
            <a:avLst/>
          </a:prstGeom>
        </p:spPr>
      </p:pic>
      <p:cxnSp>
        <p:nvCxnSpPr>
          <p:cNvPr id="25" name="구부러진 연결선 24"/>
          <p:cNvCxnSpPr/>
          <p:nvPr/>
        </p:nvCxnSpPr>
        <p:spPr bwMode="auto">
          <a:xfrm rot="5400000" flipH="1" flipV="1">
            <a:off x="490452" y="4330932"/>
            <a:ext cx="2294312" cy="532015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26" name="위쪽/아래쪽 화살표 25"/>
          <p:cNvSpPr/>
          <p:nvPr/>
        </p:nvSpPr>
        <p:spPr bwMode="auto">
          <a:xfrm>
            <a:off x="5660967" y="4172989"/>
            <a:ext cx="99754" cy="199506"/>
          </a:xfrm>
          <a:prstGeom prst="upDownArrow">
            <a:avLst/>
          </a:prstGeom>
          <a:solidFill>
            <a:schemeClr val="accent1">
              <a:lumMod val="40000"/>
              <a:lumOff val="60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 flipH="1">
            <a:off x="1313519" y="5867016"/>
            <a:ext cx="142837" cy="16259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9" name="직사각형 28"/>
          <p:cNvSpPr/>
          <p:nvPr/>
        </p:nvSpPr>
        <p:spPr bwMode="auto">
          <a:xfrm>
            <a:off x="991851" y="5674720"/>
            <a:ext cx="654069" cy="161925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 flipH="1">
            <a:off x="3491210" y="4240330"/>
            <a:ext cx="142837" cy="16259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376492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MDD-00110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MDD75D52003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관련직원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일괄업로드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(3/6)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특별감사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관리대장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특별감사 관리대장 조회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(P147~P149: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임종국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60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266663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26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특별감사 관리대장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등록시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상세팝업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의 보고서작성의 특별감사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조사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보고서 탭에 관련자 등록 방법은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입력상자에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여러개의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사번을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넣고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관련직원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일괄 등록하는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기능제공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26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84639246"/>
                  </a:ext>
                </a:extLst>
              </a:tr>
            </a:tbl>
          </a:graphicData>
        </a:graphic>
      </p:graphicFrame>
      <p:pic>
        <p:nvPicPr>
          <p:cNvPr id="11" name="그림 1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20854" y="1881681"/>
            <a:ext cx="6375335" cy="3922299"/>
          </a:xfrm>
          <a:prstGeom prst="rect">
            <a:avLst/>
          </a:prstGeom>
        </p:spPr>
      </p:pic>
      <p:grpSp>
        <p:nvGrpSpPr>
          <p:cNvPr id="12" name="그룹 11"/>
          <p:cNvGrpSpPr/>
          <p:nvPr/>
        </p:nvGrpSpPr>
        <p:grpSpPr>
          <a:xfrm>
            <a:off x="220854" y="1419973"/>
            <a:ext cx="6732899" cy="337771"/>
            <a:chOff x="355877" y="2160935"/>
            <a:chExt cx="6061214" cy="417554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일상감사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BF0D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BF0D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BF0D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1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20854" y="181971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 flipH="1">
            <a:off x="6013051" y="2938363"/>
            <a:ext cx="142837" cy="16259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1" name="직사각형 20"/>
          <p:cNvSpPr/>
          <p:nvPr/>
        </p:nvSpPr>
        <p:spPr bwMode="auto">
          <a:xfrm>
            <a:off x="795198" y="2746068"/>
            <a:ext cx="2232000" cy="161312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 dirty="0" err="1" smtClean="0">
                <a:ln>
                  <a:noFill/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사번</a:t>
            </a:r>
            <a:r>
              <a:rPr kumimoji="0" lang="en-US" altLang="ko-KR" sz="1400" b="1" i="0" u="none" strike="noStrike" kern="120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, </a:t>
            </a:r>
            <a:r>
              <a:rPr kumimoji="0" lang="ko-KR" altLang="en-US" sz="1400" b="1" i="0" u="none" strike="noStrike" kern="1200" cap="none" spc="0" normalizeH="0" baseline="0" noProof="0" dirty="0" err="1" smtClean="0">
                <a:ln>
                  <a:noFill/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사번</a:t>
            </a:r>
            <a:r>
              <a:rPr kumimoji="0" lang="en-US" altLang="ko-KR" sz="1400" b="1" i="0" u="none" strike="noStrike" kern="120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, </a:t>
            </a:r>
            <a:r>
              <a:rPr kumimoji="0" lang="ko-KR" altLang="en-US" sz="1400" b="1" i="0" u="none" strike="noStrike" kern="1200" cap="none" spc="0" normalizeH="0" baseline="0" noProof="0" dirty="0" err="1" smtClean="0">
                <a:ln>
                  <a:noFill/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사번</a:t>
            </a:r>
            <a:r>
              <a:rPr kumimoji="0" lang="en-US" altLang="ko-KR" sz="1400" b="1" i="0" u="none" strike="noStrike" kern="120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, </a:t>
            </a:r>
            <a:r>
              <a:rPr kumimoji="0" lang="ko-KR" altLang="en-US" sz="1400" b="1" i="0" u="none" strike="noStrike" kern="1200" cap="none" spc="0" normalizeH="0" baseline="0" noProof="0" dirty="0" err="1" smtClean="0">
                <a:ln>
                  <a:noFill/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사번</a:t>
            </a:r>
            <a:r>
              <a:rPr kumimoji="0" lang="en-US" altLang="ko-KR" sz="1400" b="1" i="0" u="none" strike="noStrike" kern="120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, </a:t>
            </a:r>
            <a:r>
              <a:rPr kumimoji="0" lang="ko-KR" altLang="en-US" sz="1400" b="1" i="0" u="none" strike="noStrike" kern="1200" cap="none" spc="0" normalizeH="0" baseline="0" noProof="0" dirty="0" err="1" smtClean="0">
                <a:ln>
                  <a:noFill/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사번</a:t>
            </a: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904469" y="2727379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적용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50148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MDD-00110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MDD75D52006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직원발령내역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(4/6)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특별감사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관리대장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특별감사 관리대장 조회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(P147~P149: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임종국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60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701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266663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26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관련직원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선택후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팝업을 통해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기준일자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기준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발령직급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선택 가능한 팝업 기능 제공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</a:tbl>
          </a:graphicData>
        </a:graphic>
      </p:graphicFrame>
      <p:pic>
        <p:nvPicPr>
          <p:cNvPr id="12" name="그림 1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6037" y="1881681"/>
            <a:ext cx="6375335" cy="3922299"/>
          </a:xfrm>
          <a:prstGeom prst="rect">
            <a:avLst/>
          </a:prstGeom>
        </p:spPr>
      </p:pic>
      <p:grpSp>
        <p:nvGrpSpPr>
          <p:cNvPr id="13" name="그룹 12"/>
          <p:cNvGrpSpPr/>
          <p:nvPr/>
        </p:nvGrpSpPr>
        <p:grpSpPr>
          <a:xfrm>
            <a:off x="146037" y="1419973"/>
            <a:ext cx="6732899" cy="337771"/>
            <a:chOff x="355877" y="2160935"/>
            <a:chExt cx="6061214" cy="417554"/>
          </a:xfrm>
        </p:grpSpPr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일상감사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BF0D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BF0D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BF0D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1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146037" y="181971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17" name="그림 1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070760" y="2298239"/>
            <a:ext cx="3936869" cy="2872278"/>
          </a:xfrm>
          <a:prstGeom prst="rect">
            <a:avLst/>
          </a:prstGeom>
        </p:spPr>
      </p:pic>
      <p:cxnSp>
        <p:nvCxnSpPr>
          <p:cNvPr id="18" name="구부러진 연결선 17"/>
          <p:cNvCxnSpPr/>
          <p:nvPr/>
        </p:nvCxnSpPr>
        <p:spPr bwMode="auto">
          <a:xfrm rot="5400000" flipH="1" flipV="1">
            <a:off x="2610124" y="2769899"/>
            <a:ext cx="882977" cy="297575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19" name="타원 1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 flipH="1">
            <a:off x="2831407" y="3360174"/>
            <a:ext cx="142837" cy="16259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208438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MDD-00110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MDD75D52004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심의결과 보고서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(5/6)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특별감사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관리대장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특별감사 관리대장 조회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(P147~P149: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임종국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60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266663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26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특별감사 관리대장 등록 시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상세 팝업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의 보고서작성의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‘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심의결과 보고서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’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탭의 관련자는 이전 특별감사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조사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보고서의 관련자를 자동으로 세팅 하는 기능 제공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(p149)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26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개별 건으로 관련자 추가 및 삭제는 기능 제공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5790931"/>
                  </a:ext>
                </a:extLst>
              </a:tr>
            </a:tbl>
          </a:graphicData>
        </a:graphic>
      </p:graphicFrame>
      <p:pic>
        <p:nvPicPr>
          <p:cNvPr id="6" name="그림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40821" y="1679170"/>
            <a:ext cx="6450675" cy="3979844"/>
          </a:xfrm>
          <a:prstGeom prst="rect">
            <a:avLst/>
          </a:prstGeom>
        </p:spPr>
      </p:pic>
      <p:sp>
        <p:nvSpPr>
          <p:cNvPr id="7" name="직사각형 6"/>
          <p:cNvSpPr/>
          <p:nvPr/>
        </p:nvSpPr>
        <p:spPr bwMode="auto">
          <a:xfrm>
            <a:off x="1055715" y="2518755"/>
            <a:ext cx="5544591" cy="706583"/>
          </a:xfrm>
          <a:prstGeom prst="rect">
            <a:avLst/>
          </a:prstGeom>
          <a:noFill/>
          <a:ln w="12700" cap="flat" cmpd="sng" algn="ctr">
            <a:solidFill>
              <a:schemeClr val="accent1">
                <a:lumMod val="60000"/>
                <a:lumOff val="40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" name="직사각형 7"/>
          <p:cNvSpPr/>
          <p:nvPr/>
        </p:nvSpPr>
        <p:spPr bwMode="auto">
          <a:xfrm>
            <a:off x="1853738" y="2518755"/>
            <a:ext cx="1936866" cy="249383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 flipH="1">
            <a:off x="912878" y="1516580"/>
            <a:ext cx="142837" cy="16259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 flipH="1">
            <a:off x="6214564" y="2965765"/>
            <a:ext cx="142837" cy="16259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" name="모서리가 둥근 직사각형 2"/>
          <p:cNvSpPr/>
          <p:nvPr/>
        </p:nvSpPr>
        <p:spPr bwMode="auto">
          <a:xfrm>
            <a:off x="6195060" y="3130088"/>
            <a:ext cx="180000" cy="180000"/>
          </a:xfrm>
          <a:prstGeom prst="roundRect">
            <a:avLst/>
          </a:prstGeom>
          <a:solidFill>
            <a:srgbClr val="2272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ko-KR" sz="1400" b="1" i="0" u="none" strike="noStrike" kern="0" cap="none" normalizeH="0" baseline="0" noProof="0" dirty="0" smtClean="0">
                <a:ln>
                  <a:noFill/>
                </a:ln>
                <a:solidFill>
                  <a:schemeClr val="bg1">
                    <a:lumMod val="95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+</a:t>
            </a:r>
            <a:endParaRPr kumimoji="0" lang="ko-KR" altLang="en-US" sz="1400" b="1" i="0" u="none" strike="noStrike" kern="0" cap="none" normalizeH="0" baseline="0" noProof="0" dirty="0" smtClean="0">
              <a:ln>
                <a:noFill/>
              </a:ln>
              <a:solidFill>
                <a:schemeClr val="bg1">
                  <a:lumMod val="95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" name="모서리가 둥근 직사각형 10"/>
          <p:cNvSpPr/>
          <p:nvPr/>
        </p:nvSpPr>
        <p:spPr bwMode="auto">
          <a:xfrm>
            <a:off x="6408420" y="3130088"/>
            <a:ext cx="180000" cy="180000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ko-KR" kern="0" dirty="0">
                <a:solidFill>
                  <a:srgbClr val="2272FF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-</a:t>
            </a:r>
            <a:endParaRPr kumimoji="0" lang="ko-KR" altLang="en-US" sz="1400" i="0" u="none" strike="noStrike" kern="0" cap="none" normalizeH="0" baseline="0" noProof="0" dirty="0" smtClean="0">
              <a:ln>
                <a:noFill/>
              </a:ln>
              <a:solidFill>
                <a:srgbClr val="2272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946871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MDD-00110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MDD75D53001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세부지적사항 및 개인별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조치관리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(6/6)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특별감사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관리대장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특별감사 관리대장 조회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(P147~P149: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임종국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60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2606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266663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26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특별감사 관리대장 등록 시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상세 팝업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의 보고서작성의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‘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세부지적사항 및 개인별 조치 관리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’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탭의 관련자는 이전 특별감사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조사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보고서의 관련자를 자동으로 세팅 하는 기능 제공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(p149)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26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해당 특별감사에 추가 적인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지적사항이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있을 경우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지적사항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추가 등록 기능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1632938"/>
                  </a:ext>
                </a:extLst>
              </a:tr>
              <a:tr h="426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추가</a:t>
                      </a:r>
                      <a:r>
                        <a:rPr lang="ko-KR" altLang="en-US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등록한 </a:t>
                      </a:r>
                      <a:r>
                        <a:rPr lang="ko-KR" altLang="en-US" sz="800" baseline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지적사항에</a:t>
                      </a:r>
                      <a:r>
                        <a:rPr lang="ko-KR" altLang="en-US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대한 관련 자를 등록 하는 기능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7149459"/>
                  </a:ext>
                </a:extLst>
              </a:tr>
              <a:tr h="426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추가 등록한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지적사항에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대한 관련자 정보를 입력 하고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[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개인별조치</a:t>
                      </a:r>
                      <a:r>
                        <a:rPr lang="ko-KR" altLang="en-US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등록</a:t>
                      </a:r>
                      <a:r>
                        <a:rPr lang="en-US" altLang="ko-KR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 </a:t>
                      </a:r>
                      <a:r>
                        <a:rPr lang="ko-KR" altLang="en-US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버튼을 클릭하면 관련자로 추가 할 수 있다</a:t>
                      </a:r>
                      <a:r>
                        <a:rPr lang="en-US" altLang="ko-KR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단 </a:t>
                      </a:r>
                      <a:r>
                        <a:rPr lang="en-US" altLang="ko-KR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번에서 등록한 지적 사항과 </a:t>
                      </a:r>
                      <a:r>
                        <a:rPr lang="en-US" altLang="ko-KR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번에서 등록한 관련자는 매칭 되지 않고 추가 </a:t>
                      </a:r>
                      <a:r>
                        <a:rPr lang="ko-KR" altLang="en-US" sz="800" baseline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지적사항</a:t>
                      </a:r>
                      <a:r>
                        <a:rPr lang="ko-KR" altLang="en-US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등록과 추가 관련 직원 등록 </a:t>
                      </a:r>
                      <a:r>
                        <a:rPr lang="ko-KR" altLang="en-US" sz="800" baseline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기능임</a:t>
                      </a:r>
                      <a:r>
                        <a:rPr lang="en-US" altLang="ko-KR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1446438"/>
                  </a:ext>
                </a:extLst>
              </a:tr>
            </a:tbl>
          </a:graphicData>
        </a:graphic>
      </p:graphicFrame>
      <p:pic>
        <p:nvPicPr>
          <p:cNvPr id="6" name="그림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6706" y="1866194"/>
            <a:ext cx="5911426" cy="3364139"/>
          </a:xfrm>
          <a:prstGeom prst="rect">
            <a:avLst/>
          </a:prstGeom>
        </p:spPr>
      </p:pic>
      <p:sp>
        <p:nvSpPr>
          <p:cNvPr id="7" name="직사각형 6"/>
          <p:cNvSpPr/>
          <p:nvPr/>
        </p:nvSpPr>
        <p:spPr bwMode="auto">
          <a:xfrm>
            <a:off x="714894" y="3898668"/>
            <a:ext cx="5735781" cy="590205"/>
          </a:xfrm>
          <a:prstGeom prst="rect">
            <a:avLst/>
          </a:prstGeom>
          <a:noFill/>
          <a:ln w="12700" cap="flat" cmpd="sng" algn="ctr">
            <a:solidFill>
              <a:schemeClr val="accent1">
                <a:lumMod val="60000"/>
                <a:lumOff val="40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 flipH="1">
            <a:off x="656706" y="1655420"/>
            <a:ext cx="142837" cy="16259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 flipH="1">
            <a:off x="4650208" y="3577151"/>
            <a:ext cx="142837" cy="16259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 flipH="1">
            <a:off x="714894" y="4615718"/>
            <a:ext cx="142837" cy="16259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 flipH="1">
            <a:off x="4628043" y="1917380"/>
            <a:ext cx="142837" cy="16259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914746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MDD-00111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MDD75D54000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심의조사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금융사고 관리대장 등록</a:t>
                      </a:r>
                      <a:r>
                        <a:rPr lang="en-US" altLang="ko-KR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(1/2)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특별감사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관리대장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(P150: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373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[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계획조회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]</a:t>
                      </a:r>
                      <a:r>
                        <a:rPr lang="ko-KR" altLang="en-US" sz="80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, [</a:t>
                      </a:r>
                      <a:r>
                        <a:rPr lang="ko-KR" altLang="en-US" sz="800" kern="1200" baseline="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특별감사외</a:t>
                      </a:r>
                      <a:r>
                        <a:rPr lang="en-US" altLang="ko-KR" sz="80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]</a:t>
                      </a:r>
                      <a:r>
                        <a:rPr lang="ko-KR" altLang="en-US" sz="80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버튼을 클릭하여 호출된 팝업에서 감사계획을 </a:t>
                      </a:r>
                      <a:r>
                        <a:rPr lang="ko-KR" altLang="en-US" sz="800" kern="1200" baseline="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선택후</a:t>
                      </a:r>
                      <a:r>
                        <a:rPr lang="ko-KR" altLang="en-US" sz="80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금융사고 관리대장 정보 </a:t>
                      </a:r>
                      <a:r>
                        <a:rPr lang="en-US" altLang="ko-KR" sz="80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default </a:t>
                      </a:r>
                      <a:r>
                        <a:rPr lang="ko-KR" altLang="en-US" sz="800" kern="1200" baseline="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셋팅</a:t>
                      </a:r>
                      <a:endParaRPr lang="ko-KR" altLang="en-US" sz="8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연관사고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등록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클릭하여 금융사고 </a:t>
                      </a:r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연계정보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조회 팝업 </a:t>
                      </a:r>
                      <a:r>
                        <a:rPr lang="en-US" altLang="ko-KR" sz="800" b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&lt;-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dirty="0" err="1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기능삭제</a:t>
                      </a:r>
                      <a:r>
                        <a:rPr lang="en-US" altLang="ko-KR" sz="800" b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b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연계가 불필요하다고 현업이 요청</a:t>
                      </a:r>
                      <a:r>
                        <a:rPr lang="en-US" altLang="ko-KR" sz="800" b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800" b="0" dirty="0">
                        <a:solidFill>
                          <a:srgbClr val="2272F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팝업에서 선택한 금융사고 </a:t>
                      </a:r>
                      <a:r>
                        <a:rPr lang="ko-KR" altLang="en-US" sz="800" b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연계정보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default </a:t>
                      </a:r>
                      <a:r>
                        <a:rPr lang="ko-KR" altLang="en-US" sz="800" b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셋팅</a:t>
                      </a:r>
                      <a:r>
                        <a:rPr lang="en-US" altLang="ko-KR" sz="800" b="0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&lt;-</a:t>
                      </a:r>
                      <a:r>
                        <a:rPr lang="ko-KR" altLang="en-US" sz="800" b="0" dirty="0" err="1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기능삭제</a:t>
                      </a:r>
                      <a:endParaRPr lang="ko-KR" altLang="en-US" sz="800" b="0" dirty="0">
                        <a:solidFill>
                          <a:srgbClr val="2272F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부점화면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금융사고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등록건</a:t>
                      </a: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자점검사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사고 및 주요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정보사항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보고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주요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정보사항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보고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15" name="그룹 14"/>
          <p:cNvGrpSpPr/>
          <p:nvPr/>
        </p:nvGrpSpPr>
        <p:grpSpPr>
          <a:xfrm>
            <a:off x="204228" y="1070841"/>
            <a:ext cx="6732899" cy="337771"/>
            <a:chOff x="355877" y="2160935"/>
            <a:chExt cx="6061214" cy="417554"/>
          </a:xfrm>
        </p:grpSpPr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일상감사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BF0D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BF0D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BF0D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18" name="양쪽 모서리가 둥근 사각형 17"/>
          <p:cNvSpPr/>
          <p:nvPr/>
        </p:nvSpPr>
        <p:spPr bwMode="auto">
          <a:xfrm>
            <a:off x="210731" y="1545176"/>
            <a:ext cx="14258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8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금융사고 관리대장 등록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9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04228" y="1470580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0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10732" y="1730911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23" name="그림 2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4228" y="1806245"/>
            <a:ext cx="6732899" cy="3018750"/>
          </a:xfrm>
          <a:prstGeom prst="rect">
            <a:avLst/>
          </a:prstGeom>
        </p:spPr>
      </p:pic>
      <p:sp>
        <p:nvSpPr>
          <p:cNvPr id="2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213244" y="2388623"/>
            <a:ext cx="666814" cy="120411"/>
          </a:xfrm>
          <a:prstGeom prst="roundRect">
            <a:avLst>
              <a:gd name="adj" fmla="val 10228"/>
            </a:avLst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연관사고 등록</a:t>
            </a:r>
            <a:endParaRPr kumimoji="0" lang="ko-KR" altLang="en-US" sz="7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25" name="그룹 24"/>
          <p:cNvGrpSpPr/>
          <p:nvPr/>
        </p:nvGrpSpPr>
        <p:grpSpPr>
          <a:xfrm>
            <a:off x="2465126" y="2738340"/>
            <a:ext cx="3456149" cy="1110455"/>
            <a:chOff x="4615502" y="2898790"/>
            <a:chExt cx="2633031" cy="1110455"/>
          </a:xfrm>
        </p:grpSpPr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68CB9370-D759-4248-8572-5FDA4EF6101B}"/>
                </a:ext>
              </a:extLst>
            </p:cNvPr>
            <p:cNvSpPr/>
            <p:nvPr/>
          </p:nvSpPr>
          <p:spPr>
            <a:xfrm>
              <a:off x="4615502" y="2898790"/>
              <a:ext cx="2633031" cy="111045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742856">
                <a:defRPr/>
              </a:pPr>
              <a:endParaRPr lang="ko-KR" altLang="en-US" sz="813" b="1">
                <a:solidFill>
                  <a:srgbClr val="0070C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061CAA5C-4EB7-4E67-85DA-E29F266F438F}"/>
                </a:ext>
              </a:extLst>
            </p:cNvPr>
            <p:cNvSpPr/>
            <p:nvPr/>
          </p:nvSpPr>
          <p:spPr>
            <a:xfrm>
              <a:off x="4626393" y="2914649"/>
              <a:ext cx="2614235" cy="217588"/>
            </a:xfrm>
            <a:prstGeom prst="rect">
              <a:avLst/>
            </a:prstGeom>
            <a:solidFill>
              <a:srgbClr val="625950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742856">
                <a:defRPr/>
              </a:pPr>
              <a:endParaRPr lang="ko-KR" altLang="en-US" sz="813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D494E968-62DE-442C-9EE6-DD6B90DDF615}"/>
                </a:ext>
              </a:extLst>
            </p:cNvPr>
            <p:cNvSpPr/>
            <p:nvPr/>
          </p:nvSpPr>
          <p:spPr bwMode="auto">
            <a:xfrm>
              <a:off x="7092518" y="2971800"/>
              <a:ext cx="81246" cy="86038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0" tIns="0" rIns="0" bIns="0" rtlCol="0" anchor="ctr" anchorCtr="0">
              <a:noAutofit/>
            </a:bodyPr>
            <a:lstStyle/>
            <a:p>
              <a:pPr algn="ctr" defTabSz="742856">
                <a:defRPr/>
              </a:pPr>
              <a:r>
                <a:rPr lang="en-US" altLang="ko-KR" sz="516" b="1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X</a:t>
              </a:r>
              <a:endParaRPr lang="ko-KR" altLang="en-US" sz="516" b="1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60B97788-F115-4669-A08F-46D3A46FC7DA}"/>
                </a:ext>
              </a:extLst>
            </p:cNvPr>
            <p:cNvSpPr txBox="1"/>
            <p:nvPr/>
          </p:nvSpPr>
          <p:spPr>
            <a:xfrm>
              <a:off x="4661286" y="2914649"/>
              <a:ext cx="1444242" cy="215444"/>
            </a:xfrm>
            <a:prstGeom prst="rect">
              <a:avLst/>
            </a:prstGeom>
            <a:noFill/>
          </p:spPr>
          <p:txBody>
            <a:bodyPr wrap="square" lIns="29250" rtlCol="0">
              <a:spAutoFit/>
            </a:bodyPr>
            <a:lstStyle/>
            <a:p>
              <a:pPr defTabSz="742856">
                <a:defRPr/>
              </a:pPr>
              <a:r>
                <a:rPr lang="ko-KR" altLang="en-US" sz="800" dirty="0" smtClean="0">
                  <a:solidFill>
                    <a:schemeClr val="bg1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금융사고 </a:t>
              </a:r>
              <a:r>
                <a:rPr lang="ko-KR" altLang="en-US" sz="800" dirty="0" err="1" smtClean="0">
                  <a:solidFill>
                    <a:schemeClr val="bg1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연계대상</a:t>
              </a:r>
              <a:r>
                <a:rPr lang="ko-KR" altLang="en-US" sz="800" dirty="0" smtClean="0">
                  <a:solidFill>
                    <a:schemeClr val="bg1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 선택</a:t>
              </a:r>
              <a:endParaRPr lang="ko-KR" altLang="en-US" sz="800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graphicFrame>
        <p:nvGraphicFramePr>
          <p:cNvPr id="31" name="표 30"/>
          <p:cNvGraphicFramePr>
            <a:graphicFrameLocks noGrp="1"/>
          </p:cNvGraphicFramePr>
          <p:nvPr>
            <p:extLst/>
          </p:nvPr>
        </p:nvGraphicFramePr>
        <p:xfrm>
          <a:off x="2510910" y="3063273"/>
          <a:ext cx="3300829" cy="6523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9085">
                  <a:extLst>
                    <a:ext uri="{9D8B030D-6E8A-4147-A177-3AD203B41FA5}">
                      <a16:colId xmlns:a16="http://schemas.microsoft.com/office/drawing/2014/main" val="154274646"/>
                    </a:ext>
                  </a:extLst>
                </a:gridCol>
                <a:gridCol w="698318">
                  <a:extLst>
                    <a:ext uri="{9D8B030D-6E8A-4147-A177-3AD203B41FA5}">
                      <a16:colId xmlns:a16="http://schemas.microsoft.com/office/drawing/2014/main" val="1241599669"/>
                    </a:ext>
                  </a:extLst>
                </a:gridCol>
                <a:gridCol w="887949">
                  <a:extLst>
                    <a:ext uri="{9D8B030D-6E8A-4147-A177-3AD203B41FA5}">
                      <a16:colId xmlns:a16="http://schemas.microsoft.com/office/drawing/2014/main" val="2584476780"/>
                    </a:ext>
                  </a:extLst>
                </a:gridCol>
                <a:gridCol w="837209">
                  <a:extLst>
                    <a:ext uri="{9D8B030D-6E8A-4147-A177-3AD203B41FA5}">
                      <a16:colId xmlns:a16="http://schemas.microsoft.com/office/drawing/2014/main" val="1916591751"/>
                    </a:ext>
                  </a:extLst>
                </a:gridCol>
                <a:gridCol w="448268">
                  <a:extLst>
                    <a:ext uri="{9D8B030D-6E8A-4147-A177-3AD203B41FA5}">
                      <a16:colId xmlns:a16="http://schemas.microsoft.com/office/drawing/2014/main" val="125975393"/>
                    </a:ext>
                  </a:extLst>
                </a:gridCol>
              </a:tblGrid>
              <a:tr h="217448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금융사고번호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사고구분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보고일자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9643042"/>
                  </a:ext>
                </a:extLst>
              </a:tr>
              <a:tr h="217448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20240023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금전사고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2024-01-23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327491"/>
                  </a:ext>
                </a:extLst>
              </a:tr>
              <a:tr h="217448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20240012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금융질서 문란행위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2024-02-15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190611"/>
                  </a:ext>
                </a:extLst>
              </a:tr>
            </a:tbl>
          </a:graphicData>
        </a:graphic>
      </p:graphicFrame>
      <p:sp>
        <p:nvSpPr>
          <p:cNvPr id="3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610923" y="3346399"/>
            <a:ext cx="226781" cy="98546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6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선택</a:t>
            </a:r>
            <a:endParaRPr kumimoji="0" lang="ko-KR" altLang="en-US" sz="6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610923" y="3552731"/>
            <a:ext cx="226781" cy="98546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6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선택</a:t>
            </a:r>
            <a:endParaRPr kumimoji="0" lang="ko-KR" altLang="en-US" sz="6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8" name="직사각형 37"/>
          <p:cNvSpPr/>
          <p:nvPr/>
        </p:nvSpPr>
        <p:spPr bwMode="auto">
          <a:xfrm>
            <a:off x="2438970" y="2738340"/>
            <a:ext cx="3542313" cy="1168644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9" name="직사각형 38"/>
          <p:cNvSpPr/>
          <p:nvPr/>
        </p:nvSpPr>
        <p:spPr bwMode="auto">
          <a:xfrm>
            <a:off x="5220740" y="2354372"/>
            <a:ext cx="690160" cy="182849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134613" y="228617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357290" y="267442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42" name="구부러진 연결선 41"/>
          <p:cNvCxnSpPr>
            <a:stCxn id="39" idx="2"/>
            <a:endCxn id="38" idx="0"/>
          </p:cNvCxnSpPr>
          <p:nvPr/>
        </p:nvCxnSpPr>
        <p:spPr bwMode="auto">
          <a:xfrm rot="5400000">
            <a:off x="4787415" y="1959934"/>
            <a:ext cx="201119" cy="1355693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21" name="직사각형 20"/>
          <p:cNvSpPr/>
          <p:nvPr/>
        </p:nvSpPr>
        <p:spPr bwMode="auto">
          <a:xfrm flipV="1">
            <a:off x="219071" y="2405152"/>
            <a:ext cx="811707" cy="103881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065711" y="238862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33" name="그룹 32"/>
          <p:cNvGrpSpPr/>
          <p:nvPr/>
        </p:nvGrpSpPr>
        <p:grpSpPr>
          <a:xfrm>
            <a:off x="4599756" y="4081195"/>
            <a:ext cx="4020542" cy="2352856"/>
            <a:chOff x="0" y="0"/>
            <a:chExt cx="9431066" cy="10002010"/>
          </a:xfrm>
        </p:grpSpPr>
        <p:pic>
          <p:nvPicPr>
            <p:cNvPr id="34" name="그림 33" descr="화면 캡처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0" y="0"/>
              <a:ext cx="9431066" cy="6849431"/>
            </a:xfrm>
            <a:prstGeom prst="rect">
              <a:avLst/>
            </a:prstGeom>
          </p:spPr>
        </p:pic>
        <p:pic>
          <p:nvPicPr>
            <p:cNvPr id="36" name="그림 35" descr="화면 캡처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0975" y="4552950"/>
              <a:ext cx="8973802" cy="5449060"/>
            </a:xfrm>
            <a:prstGeom prst="rect">
              <a:avLst/>
            </a:prstGeom>
          </p:spPr>
        </p:pic>
      </p:grpSp>
      <p:sp>
        <p:nvSpPr>
          <p:cNvPr id="3" name="모서리가 둥근 사각형 설명선 2"/>
          <p:cNvSpPr/>
          <p:nvPr/>
        </p:nvSpPr>
        <p:spPr bwMode="auto">
          <a:xfrm>
            <a:off x="2776451" y="4017276"/>
            <a:ext cx="1147156" cy="471597"/>
          </a:xfrm>
          <a:prstGeom prst="wedgeRoundRectCallout">
            <a:avLst>
              <a:gd name="adj1" fmla="val -20109"/>
              <a:gd name="adj2" fmla="val -94939"/>
              <a:gd name="adj3" fmla="val 16667"/>
            </a:avLst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1400" b="1" i="0" u="none" strike="noStrike" kern="0" cap="none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기능삭제</a:t>
            </a:r>
            <a:endParaRPr kumimoji="0" lang="ko-KR" altLang="en-US" sz="1400" b="1" i="0" u="none" strike="noStrike" kern="0" cap="none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3" name="모서리가 둥근 사각형 설명선 42"/>
          <p:cNvSpPr/>
          <p:nvPr/>
        </p:nvSpPr>
        <p:spPr bwMode="auto">
          <a:xfrm>
            <a:off x="3391592" y="5079218"/>
            <a:ext cx="1147156" cy="471597"/>
          </a:xfrm>
          <a:prstGeom prst="wedgeRoundRectCallout">
            <a:avLst>
              <a:gd name="adj1" fmla="val 65398"/>
              <a:gd name="adj2" fmla="val 7296"/>
              <a:gd name="adj3" fmla="val 16667"/>
            </a:avLst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1400" b="1" i="0" u="none" strike="noStrike" kern="0" cap="none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기능삭제</a:t>
            </a:r>
            <a:endParaRPr kumimoji="0" lang="ko-KR" altLang="en-US" sz="1400" b="1" i="0" u="none" strike="noStrike" kern="0" cap="none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097691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MDD-00111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MDD75D54005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심의조사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금융사고 관리대장 등록</a:t>
                      </a:r>
                      <a:r>
                        <a:rPr lang="en-US" altLang="ko-KR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(2/2)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특별감사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관리대장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(P150: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298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팝업에서 선택한 금융사고 </a:t>
                      </a:r>
                      <a:r>
                        <a:rPr lang="ko-KR" altLang="en-US" sz="800" b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연계정보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default </a:t>
                      </a:r>
                      <a:r>
                        <a:rPr lang="ko-KR" altLang="en-US" sz="800" b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셋팅</a:t>
                      </a:r>
                      <a:endParaRPr lang="ko-KR" altLang="en-US" sz="8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기본정보 </a:t>
                      </a:r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설정시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내용 및 비고 까지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/>
                      </a:r>
                      <a:b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</a:b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 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 </a:t>
                      </a:r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제외여부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확인 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1. </a:t>
                      </a:r>
                      <a:r>
                        <a:rPr kumimoji="0" lang="ko-KR" altLang="en-US" sz="800" b="1" kern="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★ 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 </a:t>
                      </a:r>
                      <a:r>
                        <a:rPr lang="ko-KR" altLang="en-US" sz="8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제외여부</a:t>
                      </a:r>
                      <a:r>
                        <a:rPr lang="ko-KR" altLang="en-US" sz="8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확인</a:t>
                      </a:r>
                      <a:endParaRPr lang="ko-KR" altLang="en-US" sz="800" dirty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15" name="그룹 14"/>
          <p:cNvGrpSpPr/>
          <p:nvPr/>
        </p:nvGrpSpPr>
        <p:grpSpPr>
          <a:xfrm>
            <a:off x="204228" y="1070841"/>
            <a:ext cx="6732899" cy="337771"/>
            <a:chOff x="355877" y="2160935"/>
            <a:chExt cx="6061214" cy="417554"/>
          </a:xfrm>
        </p:grpSpPr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일상감사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BF0D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BF0D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BF0D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18" name="양쪽 모서리가 둥근 사각형 17"/>
          <p:cNvSpPr/>
          <p:nvPr/>
        </p:nvSpPr>
        <p:spPr bwMode="auto">
          <a:xfrm>
            <a:off x="210731" y="1545176"/>
            <a:ext cx="14258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8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금융사고 관리대장 등록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9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04228" y="1470580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0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10732" y="1730911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23" name="그림 2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4228" y="1806245"/>
            <a:ext cx="6732899" cy="3018750"/>
          </a:xfrm>
          <a:prstGeom prst="rect">
            <a:avLst/>
          </a:prstGeom>
        </p:spPr>
      </p:pic>
      <p:sp>
        <p:nvSpPr>
          <p:cNvPr id="2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213244" y="2388623"/>
            <a:ext cx="666814" cy="120411"/>
          </a:xfrm>
          <a:prstGeom prst="roundRect">
            <a:avLst>
              <a:gd name="adj" fmla="val 10228"/>
            </a:avLst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연관사고 등록</a:t>
            </a:r>
            <a:endParaRPr kumimoji="0" lang="ko-KR" altLang="en-US" sz="7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25" name="그룹 24"/>
          <p:cNvGrpSpPr/>
          <p:nvPr/>
        </p:nvGrpSpPr>
        <p:grpSpPr>
          <a:xfrm>
            <a:off x="2465126" y="2738340"/>
            <a:ext cx="3456149" cy="1110455"/>
            <a:chOff x="4615502" y="2898790"/>
            <a:chExt cx="2633031" cy="1110455"/>
          </a:xfrm>
        </p:grpSpPr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68CB9370-D759-4248-8572-5FDA4EF6101B}"/>
                </a:ext>
              </a:extLst>
            </p:cNvPr>
            <p:cNvSpPr/>
            <p:nvPr/>
          </p:nvSpPr>
          <p:spPr>
            <a:xfrm>
              <a:off x="4615502" y="2898790"/>
              <a:ext cx="2633031" cy="111045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742856">
                <a:defRPr/>
              </a:pPr>
              <a:endParaRPr lang="ko-KR" altLang="en-US" sz="813" b="1">
                <a:solidFill>
                  <a:srgbClr val="0070C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061CAA5C-4EB7-4E67-85DA-E29F266F438F}"/>
                </a:ext>
              </a:extLst>
            </p:cNvPr>
            <p:cNvSpPr/>
            <p:nvPr/>
          </p:nvSpPr>
          <p:spPr>
            <a:xfrm>
              <a:off x="4626393" y="2914649"/>
              <a:ext cx="2614235" cy="217588"/>
            </a:xfrm>
            <a:prstGeom prst="rect">
              <a:avLst/>
            </a:prstGeom>
            <a:solidFill>
              <a:srgbClr val="625950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742856">
                <a:defRPr/>
              </a:pPr>
              <a:endParaRPr lang="ko-KR" altLang="en-US" sz="813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D494E968-62DE-442C-9EE6-DD6B90DDF615}"/>
                </a:ext>
              </a:extLst>
            </p:cNvPr>
            <p:cNvSpPr/>
            <p:nvPr/>
          </p:nvSpPr>
          <p:spPr bwMode="auto">
            <a:xfrm>
              <a:off x="7092518" y="2971800"/>
              <a:ext cx="81246" cy="86038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lIns="0" tIns="0" rIns="0" bIns="0" rtlCol="0" anchor="ctr" anchorCtr="0">
              <a:noAutofit/>
            </a:bodyPr>
            <a:lstStyle/>
            <a:p>
              <a:pPr algn="ctr" defTabSz="742856">
                <a:defRPr/>
              </a:pPr>
              <a:r>
                <a:rPr lang="en-US" altLang="ko-KR" sz="516" b="1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X</a:t>
              </a:r>
              <a:endParaRPr lang="ko-KR" altLang="en-US" sz="516" b="1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60B97788-F115-4669-A08F-46D3A46FC7DA}"/>
                </a:ext>
              </a:extLst>
            </p:cNvPr>
            <p:cNvSpPr txBox="1"/>
            <p:nvPr/>
          </p:nvSpPr>
          <p:spPr>
            <a:xfrm>
              <a:off x="4661286" y="2914649"/>
              <a:ext cx="1444242" cy="215444"/>
            </a:xfrm>
            <a:prstGeom prst="rect">
              <a:avLst/>
            </a:prstGeom>
            <a:noFill/>
          </p:spPr>
          <p:txBody>
            <a:bodyPr wrap="square" lIns="29250" rtlCol="0">
              <a:spAutoFit/>
            </a:bodyPr>
            <a:lstStyle/>
            <a:p>
              <a:pPr defTabSz="742856">
                <a:defRPr/>
              </a:pPr>
              <a:r>
                <a:rPr lang="ko-KR" altLang="en-US" sz="800" smtClean="0">
                  <a:solidFill>
                    <a:schemeClr val="bg1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금융사고 연계대상 선택</a:t>
              </a:r>
              <a:endParaRPr lang="ko-KR" altLang="en-US" sz="80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graphicFrame>
        <p:nvGraphicFramePr>
          <p:cNvPr id="31" name="표 30"/>
          <p:cNvGraphicFramePr>
            <a:graphicFrameLocks noGrp="1"/>
          </p:cNvGraphicFramePr>
          <p:nvPr>
            <p:extLst/>
          </p:nvPr>
        </p:nvGraphicFramePr>
        <p:xfrm>
          <a:off x="2510910" y="3063273"/>
          <a:ext cx="3300829" cy="6523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9085">
                  <a:extLst>
                    <a:ext uri="{9D8B030D-6E8A-4147-A177-3AD203B41FA5}">
                      <a16:colId xmlns:a16="http://schemas.microsoft.com/office/drawing/2014/main" val="154274646"/>
                    </a:ext>
                  </a:extLst>
                </a:gridCol>
                <a:gridCol w="698318">
                  <a:extLst>
                    <a:ext uri="{9D8B030D-6E8A-4147-A177-3AD203B41FA5}">
                      <a16:colId xmlns:a16="http://schemas.microsoft.com/office/drawing/2014/main" val="1241599669"/>
                    </a:ext>
                  </a:extLst>
                </a:gridCol>
                <a:gridCol w="887949">
                  <a:extLst>
                    <a:ext uri="{9D8B030D-6E8A-4147-A177-3AD203B41FA5}">
                      <a16:colId xmlns:a16="http://schemas.microsoft.com/office/drawing/2014/main" val="2584476780"/>
                    </a:ext>
                  </a:extLst>
                </a:gridCol>
                <a:gridCol w="837209">
                  <a:extLst>
                    <a:ext uri="{9D8B030D-6E8A-4147-A177-3AD203B41FA5}">
                      <a16:colId xmlns:a16="http://schemas.microsoft.com/office/drawing/2014/main" val="1916591751"/>
                    </a:ext>
                  </a:extLst>
                </a:gridCol>
                <a:gridCol w="448268">
                  <a:extLst>
                    <a:ext uri="{9D8B030D-6E8A-4147-A177-3AD203B41FA5}">
                      <a16:colId xmlns:a16="http://schemas.microsoft.com/office/drawing/2014/main" val="125975393"/>
                    </a:ext>
                  </a:extLst>
                </a:gridCol>
              </a:tblGrid>
              <a:tr h="217448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금융사고번호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사고구분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보고일자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9643042"/>
                  </a:ext>
                </a:extLst>
              </a:tr>
              <a:tr h="217448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20240023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금전사고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2024-01-23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327491"/>
                  </a:ext>
                </a:extLst>
              </a:tr>
              <a:tr h="217448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20240012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금융질서 문란행위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2024-02-15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190611"/>
                  </a:ext>
                </a:extLst>
              </a:tr>
            </a:tbl>
          </a:graphicData>
        </a:graphic>
      </p:graphicFrame>
      <p:sp>
        <p:nvSpPr>
          <p:cNvPr id="3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610923" y="3346399"/>
            <a:ext cx="226781" cy="98546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6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선택</a:t>
            </a:r>
            <a:endParaRPr kumimoji="0" lang="ko-KR" altLang="en-US" sz="6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610923" y="3552731"/>
            <a:ext cx="226781" cy="98546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60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선택</a:t>
            </a:r>
            <a:endParaRPr kumimoji="0" lang="ko-KR" altLang="en-US" sz="60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8" name="직사각형 37"/>
          <p:cNvSpPr/>
          <p:nvPr/>
        </p:nvSpPr>
        <p:spPr bwMode="auto">
          <a:xfrm>
            <a:off x="2438970" y="2738340"/>
            <a:ext cx="3542313" cy="1168644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357290" y="267442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42" name="구부러진 연결선 41"/>
          <p:cNvCxnSpPr>
            <a:stCxn id="39" idx="2"/>
            <a:endCxn id="38" idx="0"/>
          </p:cNvCxnSpPr>
          <p:nvPr/>
        </p:nvCxnSpPr>
        <p:spPr bwMode="auto">
          <a:xfrm rot="5400000">
            <a:off x="4787415" y="1959934"/>
            <a:ext cx="201119" cy="1355693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21" name="직사각형 20"/>
          <p:cNvSpPr/>
          <p:nvPr/>
        </p:nvSpPr>
        <p:spPr bwMode="auto">
          <a:xfrm flipV="1">
            <a:off x="613102" y="2548178"/>
            <a:ext cx="6261523" cy="1549996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065711" y="238862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3" name="모서리가 둥근 사각형 설명선 32"/>
          <p:cNvSpPr/>
          <p:nvPr/>
        </p:nvSpPr>
        <p:spPr bwMode="auto">
          <a:xfrm>
            <a:off x="3347951" y="3743883"/>
            <a:ext cx="1147156" cy="471597"/>
          </a:xfrm>
          <a:prstGeom prst="wedgeRoundRectCallout">
            <a:avLst>
              <a:gd name="adj1" fmla="val -20109"/>
              <a:gd name="adj2" fmla="val -94939"/>
              <a:gd name="adj3" fmla="val 16667"/>
            </a:avLst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1400" b="1" i="0" u="none" strike="noStrike" kern="0" cap="none" normalizeH="0" baseline="0" noProof="0" dirty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기능삭제</a:t>
            </a:r>
            <a:endParaRPr kumimoji="0" lang="ko-KR" altLang="en-US" sz="1400" b="1" i="0" u="none" strike="noStrike" kern="0" cap="none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922334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MDD-00112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MDD72D55000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심의조사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금융사고 관리대장 조회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특별감사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관리대장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(P151: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298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검색조건 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즉시보고일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사고구분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,</a:t>
                      </a:r>
                      <a:r>
                        <a:rPr lang="en-US" altLang="ko-KR" sz="80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사고유형</a:t>
                      </a:r>
                      <a:r>
                        <a:rPr lang="en-US" altLang="ko-KR" sz="80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진행상황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금융사고 관리대장 조회 </a:t>
                      </a:r>
                      <a:endParaRPr lang="ko-KR" altLang="en-US" sz="8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감사차수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제외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 금융사고번호</a:t>
                      </a:r>
                      <a:r>
                        <a:rPr lang="ko-KR" altLang="en-US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제외</a:t>
                      </a:r>
                      <a:endParaRPr lang="ko-KR" altLang="en-US" sz="8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51" name="그룹 50"/>
          <p:cNvGrpSpPr/>
          <p:nvPr/>
        </p:nvGrpSpPr>
        <p:grpSpPr>
          <a:xfrm>
            <a:off x="216426" y="1062520"/>
            <a:ext cx="6732899" cy="337771"/>
            <a:chOff x="355877" y="2160935"/>
            <a:chExt cx="6061214" cy="417554"/>
          </a:xfrm>
        </p:grpSpPr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일상감사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BF0D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BF0D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BF0D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54" name="양쪽 모서리가 둥근 사각형 53"/>
          <p:cNvSpPr/>
          <p:nvPr/>
        </p:nvSpPr>
        <p:spPr bwMode="auto">
          <a:xfrm>
            <a:off x="222929" y="1536855"/>
            <a:ext cx="14258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8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금융사고 관리대장 조회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74617" y="1487198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30" y="1722590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57" name="그림 5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6426" y="1790135"/>
            <a:ext cx="6732899" cy="414976"/>
          </a:xfrm>
          <a:prstGeom prst="rect">
            <a:avLst/>
          </a:prstGeom>
        </p:spPr>
      </p:pic>
      <p:graphicFrame>
        <p:nvGraphicFramePr>
          <p:cNvPr id="58" name="표 57"/>
          <p:cNvGraphicFramePr>
            <a:graphicFrameLocks noGrp="1"/>
          </p:cNvGraphicFramePr>
          <p:nvPr>
            <p:extLst/>
          </p:nvPr>
        </p:nvGraphicFramePr>
        <p:xfrm>
          <a:off x="216424" y="2373056"/>
          <a:ext cx="6726400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5897">
                  <a:extLst>
                    <a:ext uri="{9D8B030D-6E8A-4147-A177-3AD203B41FA5}">
                      <a16:colId xmlns:a16="http://schemas.microsoft.com/office/drawing/2014/main" val="2253382433"/>
                    </a:ext>
                  </a:extLst>
                </a:gridCol>
                <a:gridCol w="1024890">
                  <a:extLst>
                    <a:ext uri="{9D8B030D-6E8A-4147-A177-3AD203B41FA5}">
                      <a16:colId xmlns:a16="http://schemas.microsoft.com/office/drawing/2014/main" val="863141978"/>
                    </a:ext>
                  </a:extLst>
                </a:gridCol>
                <a:gridCol w="809625">
                  <a:extLst>
                    <a:ext uri="{9D8B030D-6E8A-4147-A177-3AD203B41FA5}">
                      <a16:colId xmlns:a16="http://schemas.microsoft.com/office/drawing/2014/main" val="1963342737"/>
                    </a:ext>
                  </a:extLst>
                </a:gridCol>
                <a:gridCol w="866775">
                  <a:extLst>
                    <a:ext uri="{9D8B030D-6E8A-4147-A177-3AD203B41FA5}">
                      <a16:colId xmlns:a16="http://schemas.microsoft.com/office/drawing/2014/main" val="570326186"/>
                    </a:ext>
                  </a:extLst>
                </a:gridCol>
                <a:gridCol w="619125">
                  <a:extLst>
                    <a:ext uri="{9D8B030D-6E8A-4147-A177-3AD203B41FA5}">
                      <a16:colId xmlns:a16="http://schemas.microsoft.com/office/drawing/2014/main" val="818279493"/>
                    </a:ext>
                  </a:extLst>
                </a:gridCol>
                <a:gridCol w="1418488">
                  <a:extLst>
                    <a:ext uri="{9D8B030D-6E8A-4147-A177-3AD203B41FA5}">
                      <a16:colId xmlns:a16="http://schemas.microsoft.com/office/drawing/2014/main" val="1943334727"/>
                    </a:ext>
                  </a:extLst>
                </a:gridCol>
                <a:gridCol w="1258037">
                  <a:extLst>
                    <a:ext uri="{9D8B030D-6E8A-4147-A177-3AD203B41FA5}">
                      <a16:colId xmlns:a16="http://schemas.microsoft.com/office/drawing/2014/main" val="1543582443"/>
                    </a:ext>
                  </a:extLst>
                </a:gridCol>
                <a:gridCol w="423563">
                  <a:extLst>
                    <a:ext uri="{9D8B030D-6E8A-4147-A177-3AD203B41FA5}">
                      <a16:colId xmlns:a16="http://schemas.microsoft.com/office/drawing/2014/main" val="1215815747"/>
                    </a:ext>
                  </a:extLst>
                </a:gridCol>
              </a:tblGrid>
              <a:tr h="18210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금융사고번호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감사구분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감사계획년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감사차수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연계 금융사고번호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감사부점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9918783"/>
                  </a:ext>
                </a:extLst>
              </a:tr>
              <a:tr h="18210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20240133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특별감사외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[6950] </a:t>
                      </a:r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발산역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031790"/>
                  </a:ext>
                </a:extLst>
              </a:tr>
              <a:tr h="18210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20240213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특별감사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[4901] </a:t>
                      </a: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신당동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3366566"/>
                  </a:ext>
                </a:extLst>
              </a:tr>
              <a:tr h="18210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20240322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특별감사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900" b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2-01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u="sng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20240213</a:t>
                      </a:r>
                      <a:endParaRPr lang="ko-KR" altLang="en-US" sz="900" b="0" u="sng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[4901] </a:t>
                      </a: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신당동</a:t>
                      </a: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0253298"/>
                  </a:ext>
                </a:extLst>
              </a:tr>
              <a:tr h="18210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2021422"/>
                  </a:ext>
                </a:extLst>
              </a:tr>
            </a:tbl>
          </a:graphicData>
        </a:graphic>
      </p:graphicFrame>
      <p:sp>
        <p:nvSpPr>
          <p:cNvPr id="59" name="직사각형 58"/>
          <p:cNvSpPr/>
          <p:nvPr/>
        </p:nvSpPr>
        <p:spPr bwMode="auto">
          <a:xfrm>
            <a:off x="3234544" y="2375628"/>
            <a:ext cx="614249" cy="886957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0" name="타원 5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207306" y="239185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3" name="직사각형 62"/>
          <p:cNvSpPr/>
          <p:nvPr/>
        </p:nvSpPr>
        <p:spPr bwMode="auto">
          <a:xfrm>
            <a:off x="3848793" y="2375628"/>
            <a:ext cx="1421476" cy="886957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4" name="타원 6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912203" y="242096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8" name="직사각형 17"/>
          <p:cNvSpPr/>
          <p:nvPr/>
        </p:nvSpPr>
        <p:spPr bwMode="auto">
          <a:xfrm flipV="1">
            <a:off x="6292735" y="1976743"/>
            <a:ext cx="662142" cy="22836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124066" y="201752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0" name="곱셈 기호 19"/>
          <p:cNvSpPr/>
          <p:nvPr/>
        </p:nvSpPr>
        <p:spPr bwMode="auto">
          <a:xfrm>
            <a:off x="3299364" y="2471629"/>
            <a:ext cx="1363283" cy="964276"/>
          </a:xfrm>
          <a:prstGeom prst="mathMultiply">
            <a:avLst/>
          </a:prstGeom>
          <a:solidFill>
            <a:srgbClr val="FF0000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491885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MDD-00012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MDD75D40000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심의조사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구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인사위원회자료조회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(2017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년도이전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심의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특별감사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관리대장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(P152: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323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구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인사위원회 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자료조회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(2017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년도 이전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 조회 후 리스트</a:t>
                      </a:r>
                      <a:r>
                        <a:rPr lang="ko-KR" altLang="en-US" sz="80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출력</a:t>
                      </a:r>
                      <a:endParaRPr lang="ko-KR" altLang="en-US" sz="8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출력된 리스트에서 보고서 이동 버튼 </a:t>
                      </a:r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클릭시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보고서 검색 화면 이동 후 해당정보를 자동 </a:t>
                      </a:r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셋팅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하여 </a:t>
                      </a:r>
                      <a:endParaRPr lang="en-US" altLang="ko-KR" sz="8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 하게 처리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51" name="그룹 50"/>
          <p:cNvGrpSpPr/>
          <p:nvPr/>
        </p:nvGrpSpPr>
        <p:grpSpPr>
          <a:xfrm>
            <a:off x="216426" y="1062520"/>
            <a:ext cx="6732899" cy="337771"/>
            <a:chOff x="355877" y="2160935"/>
            <a:chExt cx="6061214" cy="417554"/>
          </a:xfrm>
        </p:grpSpPr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일상감사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BF0D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BF0D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BF0D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54" name="양쪽 모서리가 둥근 사각형 53"/>
          <p:cNvSpPr/>
          <p:nvPr/>
        </p:nvSpPr>
        <p:spPr bwMode="auto">
          <a:xfrm>
            <a:off x="222929" y="1536855"/>
            <a:ext cx="1780438" cy="21952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en-US" altLang="ko-KR" sz="8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8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구</a:t>
            </a:r>
            <a:r>
              <a:rPr kumimoji="0" lang="en-US" altLang="ko-KR" sz="8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8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인사위원회 </a:t>
            </a:r>
            <a:r>
              <a:rPr kumimoji="0" lang="ko-KR" altLang="en-US" sz="80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자료조회</a:t>
            </a:r>
            <a:r>
              <a:rPr kumimoji="0" lang="en-US" altLang="ko-KR" sz="8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(2017</a:t>
            </a:r>
            <a:r>
              <a:rPr kumimoji="0" lang="ko-KR" altLang="en-US" sz="8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년도 이전</a:t>
            </a:r>
            <a:r>
              <a:rPr kumimoji="0" lang="en-US" altLang="ko-KR" sz="8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74617" y="1487198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30" y="1722590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18" name="그림 1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9071" y="1807273"/>
            <a:ext cx="6641023" cy="1391585"/>
          </a:xfrm>
          <a:prstGeom prst="rect">
            <a:avLst/>
          </a:prstGeom>
        </p:spPr>
      </p:pic>
      <p:graphicFrame>
        <p:nvGraphicFramePr>
          <p:cNvPr id="19" name="표 18"/>
          <p:cNvGraphicFramePr>
            <a:graphicFrameLocks noGrp="1"/>
          </p:cNvGraphicFramePr>
          <p:nvPr>
            <p:extLst/>
          </p:nvPr>
        </p:nvGraphicFramePr>
        <p:xfrm>
          <a:off x="219071" y="3270158"/>
          <a:ext cx="6580608" cy="792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7752">
                  <a:extLst>
                    <a:ext uri="{9D8B030D-6E8A-4147-A177-3AD203B41FA5}">
                      <a16:colId xmlns:a16="http://schemas.microsoft.com/office/drawing/2014/main" val="2426106912"/>
                    </a:ext>
                  </a:extLst>
                </a:gridCol>
                <a:gridCol w="623454">
                  <a:extLst>
                    <a:ext uri="{9D8B030D-6E8A-4147-A177-3AD203B41FA5}">
                      <a16:colId xmlns:a16="http://schemas.microsoft.com/office/drawing/2014/main" val="157696043"/>
                    </a:ext>
                  </a:extLst>
                </a:gridCol>
                <a:gridCol w="723208">
                  <a:extLst>
                    <a:ext uri="{9D8B030D-6E8A-4147-A177-3AD203B41FA5}">
                      <a16:colId xmlns:a16="http://schemas.microsoft.com/office/drawing/2014/main" val="1421297000"/>
                    </a:ext>
                  </a:extLst>
                </a:gridCol>
                <a:gridCol w="852337">
                  <a:extLst>
                    <a:ext uri="{9D8B030D-6E8A-4147-A177-3AD203B41FA5}">
                      <a16:colId xmlns:a16="http://schemas.microsoft.com/office/drawing/2014/main" val="3582745889"/>
                    </a:ext>
                  </a:extLst>
                </a:gridCol>
                <a:gridCol w="1300659">
                  <a:extLst>
                    <a:ext uri="{9D8B030D-6E8A-4147-A177-3AD203B41FA5}">
                      <a16:colId xmlns:a16="http://schemas.microsoft.com/office/drawing/2014/main" val="3292794991"/>
                    </a:ext>
                  </a:extLst>
                </a:gridCol>
                <a:gridCol w="947651">
                  <a:extLst>
                    <a:ext uri="{9D8B030D-6E8A-4147-A177-3AD203B41FA5}">
                      <a16:colId xmlns:a16="http://schemas.microsoft.com/office/drawing/2014/main" val="1828931321"/>
                    </a:ext>
                  </a:extLst>
                </a:gridCol>
                <a:gridCol w="642959">
                  <a:extLst>
                    <a:ext uri="{9D8B030D-6E8A-4147-A177-3AD203B41FA5}">
                      <a16:colId xmlns:a16="http://schemas.microsoft.com/office/drawing/2014/main" val="461435787"/>
                    </a:ext>
                  </a:extLst>
                </a:gridCol>
                <a:gridCol w="603950">
                  <a:extLst>
                    <a:ext uri="{9D8B030D-6E8A-4147-A177-3AD203B41FA5}">
                      <a16:colId xmlns:a16="http://schemas.microsoft.com/office/drawing/2014/main" val="2502540127"/>
                    </a:ext>
                  </a:extLst>
                </a:gridCol>
                <a:gridCol w="548638">
                  <a:extLst>
                    <a:ext uri="{9D8B030D-6E8A-4147-A177-3AD203B41FA5}">
                      <a16:colId xmlns:a16="http://schemas.microsoft.com/office/drawing/2014/main" val="14400629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pc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700" b="0" spc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회차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일자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지적건명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지적구분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징계구분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고발여부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보고서</a:t>
                      </a:r>
                      <a:endParaRPr lang="ko-KR" altLang="en-US" sz="7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79101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2018-02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2018-02-27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[7247] OOO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내부통제 업무 불철저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기타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견책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고발제외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sng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이동</a:t>
                      </a:r>
                      <a:endParaRPr lang="ko-KR" altLang="en-US" sz="700" u="sng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50771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2018-02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2018-02-27</a:t>
                      </a:r>
                      <a:endParaRPr lang="ko-KR" altLang="en-US" sz="70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[7331] ***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여신심사 업무 불철저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여신심사 부적정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견책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고발제외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sng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이동</a:t>
                      </a:r>
                      <a:endParaRPr lang="ko-KR" altLang="en-US" sz="700" u="sng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98720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3076989"/>
                  </a:ext>
                </a:extLst>
              </a:tr>
            </a:tbl>
          </a:graphicData>
        </a:graphic>
      </p:graphicFrame>
      <p:sp>
        <p:nvSpPr>
          <p:cNvPr id="21" name="직사각형 20"/>
          <p:cNvSpPr/>
          <p:nvPr/>
        </p:nvSpPr>
        <p:spPr bwMode="auto">
          <a:xfrm>
            <a:off x="6228994" y="3249749"/>
            <a:ext cx="570685" cy="796187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228994" y="327015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23" name="구부러진 연결선 22"/>
          <p:cNvCxnSpPr>
            <a:stCxn id="21" idx="2"/>
            <a:endCxn id="3" idx="0"/>
          </p:cNvCxnSpPr>
          <p:nvPr/>
        </p:nvCxnSpPr>
        <p:spPr bwMode="auto">
          <a:xfrm rot="5400000">
            <a:off x="4897451" y="2757608"/>
            <a:ext cx="328558" cy="2905214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pic>
        <p:nvPicPr>
          <p:cNvPr id="3" name="그림 2" descr="화면 캡처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0728" y="4374494"/>
            <a:ext cx="6796789" cy="1240579"/>
          </a:xfrm>
          <a:prstGeom prst="rect">
            <a:avLst/>
          </a:prstGeom>
        </p:spPr>
      </p:pic>
      <p:sp>
        <p:nvSpPr>
          <p:cNvPr id="20" name="직사각형 19"/>
          <p:cNvSpPr/>
          <p:nvPr/>
        </p:nvSpPr>
        <p:spPr bwMode="auto">
          <a:xfrm flipV="1">
            <a:off x="5874266" y="3049488"/>
            <a:ext cx="925414" cy="165996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736660" y="294237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443375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33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11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법령</a:t>
                      </a:r>
                      <a:r>
                        <a:rPr kumimoji="0" lang="en-US" altLang="ko-KR" sz="11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·</a:t>
                      </a:r>
                      <a:r>
                        <a:rPr kumimoji="0" lang="ko-KR" altLang="en-US" sz="11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시행령</a:t>
                      </a:r>
                      <a:r>
                        <a:rPr kumimoji="0" lang="en-US" altLang="ko-KR" sz="11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·</a:t>
                      </a:r>
                      <a:r>
                        <a:rPr kumimoji="0" lang="ko-KR" altLang="en-US" sz="11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감독규정 </a:t>
                      </a:r>
                      <a:endParaRPr lang="ko-KR" altLang="en-US" sz="11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대외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기획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P.A.I &gt; RPA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수집정보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법령</a:t>
                      </a:r>
                      <a:r>
                        <a:rPr kumimoji="0" lang="en-US" altLang="ko-KR" sz="105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·</a:t>
                      </a:r>
                      <a:r>
                        <a:rPr kumimoji="0" lang="ko-KR" altLang="en-US" sz="105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시행령</a:t>
                      </a:r>
                      <a:r>
                        <a:rPr kumimoji="0" lang="en-US" altLang="ko-KR" sz="105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·</a:t>
                      </a:r>
                      <a:r>
                        <a:rPr kumimoji="0" lang="ko-KR" altLang="en-US" sz="105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감독규정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1737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2895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 조건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구분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법령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시행령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감독규정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작성일자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제목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&amp;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본문 검색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895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버튼을 클릭 하면 해당 조건에 맞는 목록이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9919634"/>
                  </a:ext>
                </a:extLst>
              </a:tr>
              <a:tr h="2895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버튼클릭하면 내용을 등록 할 수 있는 팝업이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4128520"/>
                  </a:ext>
                </a:extLst>
              </a:tr>
              <a:tr h="2895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더블 클릭하면 내용을 등록 할 수 있는 팝업이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31297"/>
                  </a:ext>
                </a:extLst>
              </a:tr>
            </a:tbl>
          </a:graphicData>
        </a:graphic>
      </p:graphicFrame>
      <p:graphicFrame>
        <p:nvGraphicFramePr>
          <p:cNvPr id="4" name="내용 개체 틀 121"/>
          <p:cNvGraphicFramePr>
            <a:graphicFrameLocks/>
          </p:cNvGraphicFramePr>
          <p:nvPr>
            <p:extLst/>
          </p:nvPr>
        </p:nvGraphicFramePr>
        <p:xfrm>
          <a:off x="266295" y="1243462"/>
          <a:ext cx="6732903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98723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039091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490451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2034540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  <a:gridCol w="719138">
                  <a:extLst>
                    <a:ext uri="{9D8B030D-6E8A-4147-A177-3AD203B41FA5}">
                      <a16:colId xmlns:a16="http://schemas.microsoft.com/office/drawing/2014/main" val="3884699988"/>
                    </a:ext>
                  </a:extLst>
                </a:gridCol>
                <a:gridCol w="2050960">
                  <a:extLst>
                    <a:ext uri="{9D8B030D-6E8A-4147-A177-3AD203B41FA5}">
                      <a16:colId xmlns:a16="http://schemas.microsoft.com/office/drawing/2014/main" val="379396423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개정 및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시행일자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제목 </a:t>
                      </a: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&amp;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본문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9329184"/>
                  </a:ext>
                </a:extLst>
              </a:tr>
            </a:tbl>
          </a:graphicData>
        </a:graphic>
      </p:graphicFrame>
      <p:sp>
        <p:nvSpPr>
          <p:cNvPr id="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43427" y="1599409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51942" y="1601389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/>
          </p:nvPr>
        </p:nvGraphicFramePr>
        <p:xfrm>
          <a:off x="238872" y="1923979"/>
          <a:ext cx="6715335" cy="87046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7793">
                  <a:extLst>
                    <a:ext uri="{9D8B030D-6E8A-4147-A177-3AD203B41FA5}">
                      <a16:colId xmlns:a16="http://schemas.microsoft.com/office/drawing/2014/main" val="3450297539"/>
                    </a:ext>
                  </a:extLst>
                </a:gridCol>
                <a:gridCol w="699933">
                  <a:extLst>
                    <a:ext uri="{9D8B030D-6E8A-4147-A177-3AD203B41FA5}">
                      <a16:colId xmlns:a16="http://schemas.microsoft.com/office/drawing/2014/main" val="676531661"/>
                    </a:ext>
                  </a:extLst>
                </a:gridCol>
                <a:gridCol w="2818662">
                  <a:extLst>
                    <a:ext uri="{9D8B030D-6E8A-4147-A177-3AD203B41FA5}">
                      <a16:colId xmlns:a16="http://schemas.microsoft.com/office/drawing/2014/main" val="257685759"/>
                    </a:ext>
                  </a:extLst>
                </a:gridCol>
                <a:gridCol w="937260">
                  <a:extLst>
                    <a:ext uri="{9D8B030D-6E8A-4147-A177-3AD203B41FA5}">
                      <a16:colId xmlns:a16="http://schemas.microsoft.com/office/drawing/2014/main" val="2786254628"/>
                    </a:ext>
                  </a:extLst>
                </a:gridCol>
                <a:gridCol w="840914">
                  <a:extLst>
                    <a:ext uri="{9D8B030D-6E8A-4147-A177-3AD203B41FA5}">
                      <a16:colId xmlns:a16="http://schemas.microsoft.com/office/drawing/2014/main" val="2740147376"/>
                    </a:ext>
                  </a:extLst>
                </a:gridCol>
                <a:gridCol w="644986">
                  <a:extLst>
                    <a:ext uri="{9D8B030D-6E8A-4147-A177-3AD203B41FA5}">
                      <a16:colId xmlns:a16="http://schemas.microsoft.com/office/drawing/2014/main" val="3173469523"/>
                    </a:ext>
                  </a:extLst>
                </a:gridCol>
                <a:gridCol w="545787">
                  <a:extLst>
                    <a:ext uri="{9D8B030D-6E8A-4147-A177-3AD203B41FA5}">
                      <a16:colId xmlns:a16="http://schemas.microsoft.com/office/drawing/2014/main" val="3555301682"/>
                    </a:ext>
                  </a:extLst>
                </a:gridCol>
              </a:tblGrid>
              <a:tr h="2176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순번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제목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개정일자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dirty="0" err="1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시행일자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첨부파일여부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8033730"/>
                  </a:ext>
                </a:extLst>
              </a:tr>
              <a:tr h="21761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법령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700" b="1" u="sng" dirty="0" smtClean="0">
                          <a:solidFill>
                            <a:srgbClr val="2272FF"/>
                          </a:solidFill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법제처 국가법령정보센터 </a:t>
                      </a:r>
                      <a:r>
                        <a:rPr kumimoji="0" lang="en-US" altLang="ko-KR" sz="700" b="1" u="sng" dirty="0" smtClean="0">
                          <a:solidFill>
                            <a:srgbClr val="2272FF"/>
                          </a:solidFill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- </a:t>
                      </a:r>
                      <a:r>
                        <a:rPr kumimoji="0" lang="ko-KR" altLang="en-US" sz="700" b="1" u="sng" dirty="0" smtClean="0">
                          <a:solidFill>
                            <a:srgbClr val="2272FF"/>
                          </a:solidFill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법령</a:t>
                      </a:r>
                      <a:r>
                        <a:rPr kumimoji="0" lang="en-US" altLang="ko-KR" sz="700" b="1" u="sng" dirty="0" smtClean="0">
                          <a:solidFill>
                            <a:srgbClr val="2272FF"/>
                          </a:solidFill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·</a:t>
                      </a:r>
                      <a:r>
                        <a:rPr kumimoji="0" lang="ko-KR" altLang="en-US" sz="700" b="1" u="sng" dirty="0" smtClean="0">
                          <a:solidFill>
                            <a:srgbClr val="2272FF"/>
                          </a:solidFill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시행령</a:t>
                      </a:r>
                      <a:r>
                        <a:rPr kumimoji="0" lang="en-US" altLang="ko-KR" sz="700" b="1" u="sng" dirty="0" smtClean="0">
                          <a:solidFill>
                            <a:srgbClr val="2272FF"/>
                          </a:solidFill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·</a:t>
                      </a:r>
                      <a:r>
                        <a:rPr kumimoji="0" lang="ko-KR" altLang="en-US" sz="700" b="1" u="sng" dirty="0" smtClean="0">
                          <a:solidFill>
                            <a:srgbClr val="2272FF"/>
                          </a:solidFill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감독규정</a:t>
                      </a:r>
                      <a:r>
                        <a:rPr kumimoji="0" lang="en-US" altLang="ko-KR" sz="700" b="1" u="sng" dirty="0" smtClean="0">
                          <a:solidFill>
                            <a:srgbClr val="2272FF"/>
                          </a:solidFill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………………</a:t>
                      </a:r>
                      <a:endParaRPr lang="en-US" altLang="ko-KR" sz="700" b="0" i="0" u="sng" strike="noStrike" dirty="0">
                        <a:solidFill>
                          <a:srgbClr val="2272FF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2024-04-15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2024-04-15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Y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9908261"/>
                  </a:ext>
                </a:extLst>
              </a:tr>
              <a:tr h="21761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시행령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법제처 국가법령정보센터 </a:t>
                      </a:r>
                      <a:r>
                        <a:rPr kumimoji="0" lang="en-US" altLang="ko-KR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- </a:t>
                      </a:r>
                      <a:r>
                        <a:rPr kumimoji="0" lang="ko-KR" altLang="en-US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법령</a:t>
                      </a:r>
                      <a:r>
                        <a:rPr kumimoji="0" lang="en-US" altLang="ko-KR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·</a:t>
                      </a:r>
                      <a:r>
                        <a:rPr kumimoji="0" lang="ko-KR" altLang="en-US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시행령</a:t>
                      </a:r>
                      <a:r>
                        <a:rPr kumimoji="0" lang="en-US" altLang="ko-KR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·</a:t>
                      </a:r>
                      <a:r>
                        <a:rPr kumimoji="0" lang="ko-KR" altLang="en-US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감독규정 </a:t>
                      </a:r>
                      <a:r>
                        <a:rPr kumimoji="0" lang="en-US" altLang="ko-KR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……………..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2024-01-31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2024-01-31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024731"/>
                  </a:ext>
                </a:extLst>
              </a:tr>
              <a:tr h="21761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감독규정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법제처 국가법령정보센터 </a:t>
                      </a:r>
                      <a:r>
                        <a:rPr kumimoji="0" lang="en-US" altLang="ko-KR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- </a:t>
                      </a:r>
                      <a:r>
                        <a:rPr kumimoji="0" lang="ko-KR" altLang="en-US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법령</a:t>
                      </a:r>
                      <a:r>
                        <a:rPr kumimoji="0" lang="en-US" altLang="ko-KR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·</a:t>
                      </a:r>
                      <a:r>
                        <a:rPr kumimoji="0" lang="ko-KR" altLang="en-US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시행령</a:t>
                      </a:r>
                      <a:r>
                        <a:rPr kumimoji="0" lang="en-US" altLang="ko-KR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·</a:t>
                      </a:r>
                      <a:r>
                        <a:rPr kumimoji="0" lang="ko-KR" altLang="en-US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감독규정 </a:t>
                      </a:r>
                      <a:r>
                        <a:rPr kumimoji="0" lang="en-US" altLang="ko-KR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……………..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2024-01-31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2024-01-31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Y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홍삼륭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1323190"/>
                  </a:ext>
                </a:extLst>
              </a:tr>
            </a:tbl>
          </a:graphicData>
        </a:graphic>
      </p:graphicFrame>
      <p:sp>
        <p:nvSpPr>
          <p:cNvPr id="8" name="타원 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193187" y="2114149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11" name="그룹 10"/>
          <p:cNvGrpSpPr/>
          <p:nvPr/>
        </p:nvGrpSpPr>
        <p:grpSpPr>
          <a:xfrm>
            <a:off x="811171" y="1288452"/>
            <a:ext cx="648000" cy="180915"/>
            <a:chOff x="1179238" y="2959078"/>
            <a:chExt cx="648000" cy="180915"/>
          </a:xfrm>
        </p:grpSpPr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179238" y="2959078"/>
              <a:ext cx="648000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전체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13" name="이등변 삼각형 12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1665320" y="2997436"/>
              <a:ext cx="66937" cy="72000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15" name="양쪽 모서리가 둥근 사각형 14"/>
          <p:cNvSpPr/>
          <p:nvPr/>
        </p:nvSpPr>
        <p:spPr bwMode="auto">
          <a:xfrm>
            <a:off x="266295" y="1054480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800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법령</a:t>
            </a:r>
            <a:r>
              <a:rPr kumimoji="0" lang="en-US" altLang="ko-KR" sz="800" b="1" dirty="0" smtClean="0">
                <a:latin typeface="KB금융 제목체 Bold" panose="020B0803000000000000" pitchFamily="50" charset="-127"/>
                <a:ea typeface="KB금융 제목체 Bold" panose="020B0803000000000000" pitchFamily="50" charset="-127"/>
              </a:rPr>
              <a:t>·</a:t>
            </a:r>
            <a:r>
              <a:rPr kumimoji="0" lang="ko-KR" altLang="en-US" sz="800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시행령</a:t>
            </a:r>
            <a:r>
              <a:rPr kumimoji="0" lang="en-US" altLang="ko-KR" sz="800" b="1" dirty="0" smtClean="0">
                <a:latin typeface="KB금융 제목체 Bold" panose="020B0803000000000000" pitchFamily="50" charset="-127"/>
                <a:ea typeface="KB금융 제목체 Bold" panose="020B0803000000000000" pitchFamily="50" charset="-127"/>
              </a:rPr>
              <a:t>·</a:t>
            </a:r>
            <a:r>
              <a:rPr kumimoji="0" lang="ko-KR" altLang="en-US" sz="800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감독규정</a:t>
            </a:r>
            <a:endParaRPr kumimoji="0" lang="ko-KR" altLang="en-US" sz="8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751824" y="1607728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263091" y="1289253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337903" y="1290609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2024-04-30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9" name="그림 1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903491" y="1293093"/>
            <a:ext cx="181098" cy="173224"/>
          </a:xfrm>
          <a:prstGeom prst="rect">
            <a:avLst/>
          </a:prstGeom>
        </p:spPr>
      </p:pic>
      <p:pic>
        <p:nvPicPr>
          <p:cNvPr id="20" name="그림 1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977165" y="1299207"/>
            <a:ext cx="181098" cy="173224"/>
          </a:xfrm>
          <a:prstGeom prst="rect">
            <a:avLst/>
          </a:prstGeom>
        </p:spPr>
      </p:pic>
      <p:cxnSp>
        <p:nvCxnSpPr>
          <p:cNvPr id="21" name="직선 연결선 20"/>
          <p:cNvCxnSpPr/>
          <p:nvPr/>
        </p:nvCxnSpPr>
        <p:spPr bwMode="auto">
          <a:xfrm>
            <a:off x="3141738" y="1379705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984910" y="1294027"/>
            <a:ext cx="196929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02883" y="1312942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161427" y="1496929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768891" y="1489850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22446861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33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11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법령</a:t>
                      </a:r>
                      <a:r>
                        <a:rPr kumimoji="0" lang="en-US" altLang="ko-KR" sz="11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·</a:t>
                      </a:r>
                      <a:r>
                        <a:rPr kumimoji="0" lang="ko-KR" altLang="en-US" sz="11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시행령</a:t>
                      </a:r>
                      <a:r>
                        <a:rPr kumimoji="0" lang="en-US" altLang="ko-KR" sz="11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·</a:t>
                      </a:r>
                      <a:r>
                        <a:rPr kumimoji="0" lang="ko-KR" altLang="en-US" sz="11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감독규정 </a:t>
                      </a:r>
                      <a:endParaRPr lang="ko-KR" altLang="en-US" sz="11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대외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기획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P.A.I &gt; RPA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수집정보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법령</a:t>
                      </a:r>
                      <a:r>
                        <a:rPr kumimoji="0" lang="en-US" altLang="ko-KR" sz="105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·</a:t>
                      </a:r>
                      <a:r>
                        <a:rPr kumimoji="0" lang="ko-KR" altLang="en-US" sz="105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시행령</a:t>
                      </a:r>
                      <a:r>
                        <a:rPr kumimoji="0" lang="en-US" altLang="ko-KR" sz="105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·</a:t>
                      </a:r>
                      <a:r>
                        <a:rPr kumimoji="0" lang="ko-KR" altLang="en-US" sz="105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감독규정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7" name="표 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1905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2895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구분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법령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시행령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감독규정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제목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개정일자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시행일자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및 본문 내용을 입력 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895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파일추가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클릭하여 업로드할 파일을 선택하면 파일이 추가된다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9919634"/>
                  </a:ext>
                </a:extLst>
              </a:tr>
              <a:tr h="2895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파일삭제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선택한 파일이 삭제된다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4128520"/>
                  </a:ext>
                </a:extLst>
              </a:tr>
              <a:tr h="2895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저장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버튼을 클릭하면 해당 내용을 저장하고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팝업창이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닫힌다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4111418"/>
                  </a:ext>
                </a:extLst>
              </a:tr>
              <a:tr h="2895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닫기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 하면 해당 내용이 저장되지 않고 팝업 창이 닫힌다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843856"/>
                  </a:ext>
                </a:extLst>
              </a:tr>
            </a:tbl>
          </a:graphicData>
        </a:graphic>
      </p:graphicFrame>
      <p:graphicFrame>
        <p:nvGraphicFramePr>
          <p:cNvPr id="16" name="표 15"/>
          <p:cNvGraphicFramePr>
            <a:graphicFrameLocks noGrp="1"/>
          </p:cNvGraphicFramePr>
          <p:nvPr>
            <p:extLst/>
          </p:nvPr>
        </p:nvGraphicFramePr>
        <p:xfrm>
          <a:off x="1407650" y="1712498"/>
          <a:ext cx="5076970" cy="400974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2130">
                  <a:extLst>
                    <a:ext uri="{9D8B030D-6E8A-4147-A177-3AD203B41FA5}">
                      <a16:colId xmlns:a16="http://schemas.microsoft.com/office/drawing/2014/main" val="1630994582"/>
                    </a:ext>
                  </a:extLst>
                </a:gridCol>
                <a:gridCol w="930799">
                  <a:extLst>
                    <a:ext uri="{9D8B030D-6E8A-4147-A177-3AD203B41FA5}">
                      <a16:colId xmlns:a16="http://schemas.microsoft.com/office/drawing/2014/main" val="2045752900"/>
                    </a:ext>
                  </a:extLst>
                </a:gridCol>
                <a:gridCol w="534537">
                  <a:extLst>
                    <a:ext uri="{9D8B030D-6E8A-4147-A177-3AD203B41FA5}">
                      <a16:colId xmlns:a16="http://schemas.microsoft.com/office/drawing/2014/main" val="2306456034"/>
                    </a:ext>
                  </a:extLst>
                </a:gridCol>
                <a:gridCol w="123355">
                  <a:extLst>
                    <a:ext uri="{9D8B030D-6E8A-4147-A177-3AD203B41FA5}">
                      <a16:colId xmlns:a16="http://schemas.microsoft.com/office/drawing/2014/main" val="2338144832"/>
                    </a:ext>
                  </a:extLst>
                </a:gridCol>
                <a:gridCol w="534537">
                  <a:extLst>
                    <a:ext uri="{9D8B030D-6E8A-4147-A177-3AD203B41FA5}">
                      <a16:colId xmlns:a16="http://schemas.microsoft.com/office/drawing/2014/main" val="3174629448"/>
                    </a:ext>
                  </a:extLst>
                </a:gridCol>
                <a:gridCol w="2311612">
                  <a:extLst>
                    <a:ext uri="{9D8B030D-6E8A-4147-A177-3AD203B41FA5}">
                      <a16:colId xmlns:a16="http://schemas.microsoft.com/office/drawing/2014/main" val="4098963770"/>
                    </a:ext>
                  </a:extLst>
                </a:gridCol>
              </a:tblGrid>
              <a:tr h="234368">
                <a:tc gridSpan="6"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kumimoji="0" lang="ko-KR" altLang="en-US" sz="8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법령</a:t>
                      </a:r>
                      <a:r>
                        <a:rPr kumimoji="0" lang="en-US" altLang="ko-KR" sz="8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·</a:t>
                      </a:r>
                      <a:r>
                        <a:rPr kumimoji="0" lang="ko-KR" altLang="en-US" sz="8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시행령</a:t>
                      </a:r>
                      <a:r>
                        <a:rPr kumimoji="0" lang="en-US" altLang="ko-KR" sz="8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·</a:t>
                      </a:r>
                      <a:r>
                        <a:rPr kumimoji="0" lang="ko-KR" altLang="en-US" sz="8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감독규정 등록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43818189"/>
                  </a:ext>
                </a:extLst>
              </a:tr>
              <a:tr h="23436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구분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제목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latinLnBrk="1"/>
                      <a:endParaRPr lang="ko-KR" altLang="en-US" sz="700" dirty="0"/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8451336"/>
                  </a:ext>
                </a:extLst>
              </a:tr>
              <a:tr h="22749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개정일자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r>
                        <a:rPr lang="ko-KR" altLang="en-US" sz="7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시행일자</a:t>
                      </a:r>
                      <a:endParaRPr lang="ko-KR" alt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16464564"/>
                  </a:ext>
                </a:extLst>
              </a:tr>
              <a:tr h="78688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본문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35103145"/>
                  </a:ext>
                </a:extLst>
              </a:tr>
              <a:tr h="78276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1425522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677617" y="1968622"/>
            <a:ext cx="2520000" cy="180000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b="1" dirty="0">
                <a:latin typeface="KB금융 제목체 Bold" panose="020B0803000000000000" pitchFamily="50" charset="-127"/>
                <a:ea typeface="KB금융 제목체 Bold" panose="020B0803000000000000" pitchFamily="50" charset="-127"/>
              </a:rPr>
              <a:t>법제처 국가법령정보센터 </a:t>
            </a:r>
            <a:r>
              <a:rPr kumimoji="0" lang="en-US" altLang="ko-KR" sz="800" b="1" dirty="0">
                <a:latin typeface="KB금융 제목체 Bold" panose="020B0803000000000000" pitchFamily="50" charset="-127"/>
                <a:ea typeface="KB금융 제목체 Bold" panose="020B0803000000000000" pitchFamily="50" charset="-127"/>
              </a:rPr>
              <a:t>- </a:t>
            </a:r>
            <a:r>
              <a:rPr kumimoji="0" lang="ko-KR" altLang="en-US" sz="800" b="1" dirty="0">
                <a:latin typeface="KB금융 제목체 Bold" panose="020B0803000000000000" pitchFamily="50" charset="-127"/>
                <a:ea typeface="KB금융 제목체 Bold" panose="020B0803000000000000" pitchFamily="50" charset="-127"/>
              </a:rPr>
              <a:t>법령</a:t>
            </a:r>
            <a:r>
              <a:rPr kumimoji="0" lang="en-US" altLang="ko-KR" sz="800" b="1" dirty="0">
                <a:latin typeface="KB금융 제목체 Bold" panose="020B0803000000000000" pitchFamily="50" charset="-127"/>
                <a:ea typeface="KB금융 제목체 Bold" panose="020B0803000000000000" pitchFamily="50" charset="-127"/>
              </a:rPr>
              <a:t>·</a:t>
            </a:r>
            <a:r>
              <a:rPr kumimoji="0" lang="ko-KR" altLang="en-US" sz="800" b="1" dirty="0">
                <a:latin typeface="KB금융 제목체 Bold" panose="020B0803000000000000" pitchFamily="50" charset="-127"/>
                <a:ea typeface="KB금융 제목체 Bold" panose="020B0803000000000000" pitchFamily="50" charset="-127"/>
              </a:rPr>
              <a:t>시행령</a:t>
            </a:r>
            <a:r>
              <a:rPr kumimoji="0" lang="en-US" altLang="ko-KR" sz="800" b="1" dirty="0">
                <a:latin typeface="KB금융 제목체 Bold" panose="020B0803000000000000" pitchFamily="50" charset="-127"/>
                <a:ea typeface="KB금융 제목체 Bold" panose="020B0803000000000000" pitchFamily="50" charset="-127"/>
              </a:rPr>
              <a:t>·</a:t>
            </a:r>
            <a:r>
              <a:rPr kumimoji="0" lang="ko-KR" altLang="en-US" sz="800" b="1" dirty="0">
                <a:latin typeface="KB금융 제목체 Bold" panose="020B0803000000000000" pitchFamily="50" charset="-127"/>
                <a:ea typeface="KB금융 제목체 Bold" panose="020B0803000000000000" pitchFamily="50" charset="-127"/>
              </a:rPr>
              <a:t>감독규정 </a:t>
            </a:r>
            <a:r>
              <a:rPr kumimoji="0" lang="en-US" altLang="ko-KR" sz="800" b="1" dirty="0" smtClean="0">
                <a:latin typeface="KB금융 제목체 Bold" panose="020B0803000000000000" pitchFamily="50" charset="-127"/>
                <a:ea typeface="KB금융 제목체 Bold" panose="020B0803000000000000" pitchFamily="50" charset="-127"/>
              </a:rPr>
              <a:t>……….</a:t>
            </a:r>
            <a:endParaRPr lang="en-US" altLang="ko-KR" sz="8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103071" y="2211273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9" name="그림 1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743471" y="2215113"/>
            <a:ext cx="181098" cy="173224"/>
          </a:xfrm>
          <a:prstGeom prst="rect">
            <a:avLst/>
          </a:prstGeom>
        </p:spPr>
      </p:pic>
      <p:sp>
        <p:nvSpPr>
          <p:cNvPr id="20" name="직사각형 1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213811" y="2203653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21" name="그림 2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854211" y="2207493"/>
            <a:ext cx="181098" cy="173224"/>
          </a:xfrm>
          <a:prstGeom prst="rect">
            <a:avLst/>
          </a:prstGeom>
        </p:spPr>
      </p:pic>
      <p:pic>
        <p:nvPicPr>
          <p:cNvPr id="23" name="그림 22"/>
          <p:cNvPicPr>
            <a:picLocks noChangeAspect="1"/>
          </p:cNvPicPr>
          <p:nvPr/>
        </p:nvPicPr>
        <p:blipFill rotWithShape="1">
          <a:blip r:embed="rId3"/>
          <a:srcRect l="4529" t="26598" r="15390" b="31225"/>
          <a:stretch/>
        </p:blipFill>
        <p:spPr>
          <a:xfrm>
            <a:off x="2217372" y="5044440"/>
            <a:ext cx="3837136" cy="601980"/>
          </a:xfrm>
          <a:prstGeom prst="rect">
            <a:avLst/>
          </a:prstGeom>
        </p:spPr>
      </p:pic>
      <p:sp>
        <p:nvSpPr>
          <p:cNvPr id="2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679268" y="4809409"/>
            <a:ext cx="396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파일삭제</a:t>
            </a:r>
            <a:endParaRPr kumimoji="0" lang="ko-KR" altLang="en-US" sz="7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260168" y="4824649"/>
            <a:ext cx="396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파일추가</a:t>
            </a:r>
            <a:endParaRPr kumimoji="0" lang="ko-KR" altLang="en-US" sz="7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687460" y="5794330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저장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091320" y="5794330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닫기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301660" y="1734386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29" name="그룹 28"/>
          <p:cNvGrpSpPr/>
          <p:nvPr/>
        </p:nvGrpSpPr>
        <p:grpSpPr>
          <a:xfrm>
            <a:off x="2106571" y="1966632"/>
            <a:ext cx="648000" cy="180915"/>
            <a:chOff x="1179238" y="2959078"/>
            <a:chExt cx="648000" cy="180915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179238" y="2959078"/>
              <a:ext cx="648000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전체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31" name="이등변 삼각형 30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1665320" y="2997436"/>
              <a:ext cx="66937" cy="72000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32" name="타원 3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377168" y="464649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746488" y="595713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803888" y="465411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112248" y="595713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39078698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1407650" y="1712498"/>
          <a:ext cx="5076970" cy="400974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2130">
                  <a:extLst>
                    <a:ext uri="{9D8B030D-6E8A-4147-A177-3AD203B41FA5}">
                      <a16:colId xmlns:a16="http://schemas.microsoft.com/office/drawing/2014/main" val="1630994582"/>
                    </a:ext>
                  </a:extLst>
                </a:gridCol>
                <a:gridCol w="930799">
                  <a:extLst>
                    <a:ext uri="{9D8B030D-6E8A-4147-A177-3AD203B41FA5}">
                      <a16:colId xmlns:a16="http://schemas.microsoft.com/office/drawing/2014/main" val="2045752900"/>
                    </a:ext>
                  </a:extLst>
                </a:gridCol>
                <a:gridCol w="534537">
                  <a:extLst>
                    <a:ext uri="{9D8B030D-6E8A-4147-A177-3AD203B41FA5}">
                      <a16:colId xmlns:a16="http://schemas.microsoft.com/office/drawing/2014/main" val="2306456034"/>
                    </a:ext>
                  </a:extLst>
                </a:gridCol>
                <a:gridCol w="123355">
                  <a:extLst>
                    <a:ext uri="{9D8B030D-6E8A-4147-A177-3AD203B41FA5}">
                      <a16:colId xmlns:a16="http://schemas.microsoft.com/office/drawing/2014/main" val="2338144832"/>
                    </a:ext>
                  </a:extLst>
                </a:gridCol>
                <a:gridCol w="534537">
                  <a:extLst>
                    <a:ext uri="{9D8B030D-6E8A-4147-A177-3AD203B41FA5}">
                      <a16:colId xmlns:a16="http://schemas.microsoft.com/office/drawing/2014/main" val="3174629448"/>
                    </a:ext>
                  </a:extLst>
                </a:gridCol>
                <a:gridCol w="2311612">
                  <a:extLst>
                    <a:ext uri="{9D8B030D-6E8A-4147-A177-3AD203B41FA5}">
                      <a16:colId xmlns:a16="http://schemas.microsoft.com/office/drawing/2014/main" val="4098963770"/>
                    </a:ext>
                  </a:extLst>
                </a:gridCol>
              </a:tblGrid>
              <a:tr h="234368">
                <a:tc gridSpan="6"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kumimoji="0" lang="ko-KR" altLang="en-US" sz="8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법령</a:t>
                      </a:r>
                      <a:r>
                        <a:rPr kumimoji="0" lang="en-US" altLang="ko-KR" sz="8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·</a:t>
                      </a:r>
                      <a:r>
                        <a:rPr kumimoji="0" lang="ko-KR" altLang="en-US" sz="8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시행령</a:t>
                      </a:r>
                      <a:r>
                        <a:rPr kumimoji="0" lang="en-US" altLang="ko-KR" sz="8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·</a:t>
                      </a:r>
                      <a:r>
                        <a:rPr kumimoji="0" lang="ko-KR" altLang="en-US" sz="8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감독규정 수정 및 상세보기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43818189"/>
                  </a:ext>
                </a:extLst>
              </a:tr>
              <a:tr h="23436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구분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제목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latinLnBrk="1"/>
                      <a:endParaRPr lang="ko-KR" altLang="en-US" sz="700" dirty="0"/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8451336"/>
                  </a:ext>
                </a:extLst>
              </a:tr>
              <a:tr h="22749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개정일자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r>
                        <a:rPr lang="ko-KR" altLang="en-US" sz="7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시행일자</a:t>
                      </a:r>
                      <a:endParaRPr lang="ko-KR" alt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16464564"/>
                  </a:ext>
                </a:extLst>
              </a:tr>
              <a:tr h="78688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본문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법제처 국가법령정보센터 </a:t>
                      </a:r>
                      <a:r>
                        <a:rPr kumimoji="0" lang="en-US" altLang="ko-KR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- </a:t>
                      </a:r>
                      <a:r>
                        <a:rPr kumimoji="0" lang="ko-KR" altLang="en-US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법령</a:t>
                      </a:r>
                      <a:r>
                        <a:rPr kumimoji="0" lang="en-US" altLang="ko-KR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·</a:t>
                      </a:r>
                      <a:r>
                        <a:rPr kumimoji="0" lang="ko-KR" altLang="en-US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시행령</a:t>
                      </a:r>
                      <a:r>
                        <a:rPr kumimoji="0" lang="en-US" altLang="ko-KR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·</a:t>
                      </a:r>
                      <a:r>
                        <a:rPr kumimoji="0" lang="ko-KR" altLang="en-US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감독규정 </a:t>
                      </a:r>
                      <a:r>
                        <a:rPr kumimoji="0" lang="en-US" altLang="ko-KR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……….</a:t>
                      </a:r>
                      <a:endParaRPr lang="en-US" altLang="ko-KR" sz="7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법제처 국가법령정보센터 </a:t>
                      </a:r>
                      <a:r>
                        <a:rPr kumimoji="0" lang="en-US" altLang="ko-KR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- </a:t>
                      </a:r>
                      <a:r>
                        <a:rPr kumimoji="0" lang="ko-KR" altLang="en-US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법령</a:t>
                      </a:r>
                      <a:r>
                        <a:rPr kumimoji="0" lang="en-US" altLang="ko-KR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·</a:t>
                      </a:r>
                      <a:r>
                        <a:rPr kumimoji="0" lang="ko-KR" altLang="en-US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시행령</a:t>
                      </a:r>
                      <a:r>
                        <a:rPr kumimoji="0" lang="en-US" altLang="ko-KR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·</a:t>
                      </a:r>
                      <a:r>
                        <a:rPr kumimoji="0" lang="ko-KR" altLang="en-US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감독규정 </a:t>
                      </a:r>
                      <a:r>
                        <a:rPr kumimoji="0" lang="en-US" altLang="ko-KR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……….</a:t>
                      </a:r>
                      <a:endParaRPr lang="en-US" altLang="ko-KR" sz="7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법제처 국가법령정보센터 </a:t>
                      </a:r>
                      <a:r>
                        <a:rPr kumimoji="0" lang="en-US" altLang="ko-KR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- </a:t>
                      </a:r>
                      <a:r>
                        <a:rPr kumimoji="0" lang="ko-KR" altLang="en-US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법령</a:t>
                      </a:r>
                      <a:r>
                        <a:rPr kumimoji="0" lang="en-US" altLang="ko-KR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·</a:t>
                      </a:r>
                      <a:r>
                        <a:rPr kumimoji="0" lang="ko-KR" altLang="en-US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시행령</a:t>
                      </a:r>
                      <a:r>
                        <a:rPr kumimoji="0" lang="en-US" altLang="ko-KR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·</a:t>
                      </a:r>
                      <a:r>
                        <a:rPr kumimoji="0" lang="ko-KR" altLang="en-US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감독규정 </a:t>
                      </a:r>
                      <a:r>
                        <a:rPr kumimoji="0" lang="en-US" altLang="ko-KR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……….</a:t>
                      </a:r>
                      <a:endParaRPr lang="en-US" altLang="ko-KR" sz="7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법제처 국가법령정보센터 </a:t>
                      </a:r>
                      <a:r>
                        <a:rPr kumimoji="0" lang="en-US" altLang="ko-KR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- </a:t>
                      </a:r>
                      <a:r>
                        <a:rPr kumimoji="0" lang="ko-KR" altLang="en-US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법령</a:t>
                      </a:r>
                      <a:r>
                        <a:rPr kumimoji="0" lang="en-US" altLang="ko-KR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·</a:t>
                      </a:r>
                      <a:r>
                        <a:rPr kumimoji="0" lang="ko-KR" altLang="en-US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시행령</a:t>
                      </a:r>
                      <a:r>
                        <a:rPr kumimoji="0" lang="en-US" altLang="ko-KR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·</a:t>
                      </a:r>
                      <a:r>
                        <a:rPr kumimoji="0" lang="ko-KR" altLang="en-US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감독규정 </a:t>
                      </a:r>
                      <a:r>
                        <a:rPr kumimoji="0" lang="en-US" altLang="ko-KR" sz="7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……….</a:t>
                      </a:r>
                      <a:endParaRPr lang="en-US" altLang="ko-KR" sz="7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35103145"/>
                  </a:ext>
                </a:extLst>
              </a:tr>
              <a:tr h="78276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1425522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677617" y="1968622"/>
            <a:ext cx="2520000" cy="180000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b="1" dirty="0">
                <a:latin typeface="KB금융 제목체 Bold" panose="020B0803000000000000" pitchFamily="50" charset="-127"/>
                <a:ea typeface="KB금융 제목체 Bold" panose="020B0803000000000000" pitchFamily="50" charset="-127"/>
              </a:rPr>
              <a:t>법제처 국가법령정보센터 </a:t>
            </a:r>
            <a:r>
              <a:rPr kumimoji="0" lang="en-US" altLang="ko-KR" sz="800" b="1" dirty="0">
                <a:latin typeface="KB금융 제목체 Bold" panose="020B0803000000000000" pitchFamily="50" charset="-127"/>
                <a:ea typeface="KB금융 제목체 Bold" panose="020B0803000000000000" pitchFamily="50" charset="-127"/>
              </a:rPr>
              <a:t>- </a:t>
            </a:r>
            <a:r>
              <a:rPr kumimoji="0" lang="ko-KR" altLang="en-US" sz="800" b="1" dirty="0">
                <a:latin typeface="KB금융 제목체 Bold" panose="020B0803000000000000" pitchFamily="50" charset="-127"/>
                <a:ea typeface="KB금융 제목체 Bold" panose="020B0803000000000000" pitchFamily="50" charset="-127"/>
              </a:rPr>
              <a:t>법령</a:t>
            </a:r>
            <a:r>
              <a:rPr kumimoji="0" lang="en-US" altLang="ko-KR" sz="800" b="1" dirty="0">
                <a:latin typeface="KB금융 제목체 Bold" panose="020B0803000000000000" pitchFamily="50" charset="-127"/>
                <a:ea typeface="KB금융 제목체 Bold" panose="020B0803000000000000" pitchFamily="50" charset="-127"/>
              </a:rPr>
              <a:t>·</a:t>
            </a:r>
            <a:r>
              <a:rPr kumimoji="0" lang="ko-KR" altLang="en-US" sz="800" b="1" dirty="0">
                <a:latin typeface="KB금융 제목체 Bold" panose="020B0803000000000000" pitchFamily="50" charset="-127"/>
                <a:ea typeface="KB금융 제목체 Bold" panose="020B0803000000000000" pitchFamily="50" charset="-127"/>
              </a:rPr>
              <a:t>시행령</a:t>
            </a:r>
            <a:r>
              <a:rPr kumimoji="0" lang="en-US" altLang="ko-KR" sz="800" b="1" dirty="0">
                <a:latin typeface="KB금융 제목체 Bold" panose="020B0803000000000000" pitchFamily="50" charset="-127"/>
                <a:ea typeface="KB금융 제목체 Bold" panose="020B0803000000000000" pitchFamily="50" charset="-127"/>
              </a:rPr>
              <a:t>·</a:t>
            </a:r>
            <a:r>
              <a:rPr kumimoji="0" lang="ko-KR" altLang="en-US" sz="800" b="1" dirty="0">
                <a:latin typeface="KB금융 제목체 Bold" panose="020B0803000000000000" pitchFamily="50" charset="-127"/>
                <a:ea typeface="KB금융 제목체 Bold" panose="020B0803000000000000" pitchFamily="50" charset="-127"/>
              </a:rPr>
              <a:t>감독규정 </a:t>
            </a:r>
            <a:r>
              <a:rPr kumimoji="0" lang="en-US" altLang="ko-KR" sz="800" b="1" dirty="0" smtClean="0">
                <a:latin typeface="KB금융 제목체 Bold" panose="020B0803000000000000" pitchFamily="50" charset="-127"/>
                <a:ea typeface="KB금융 제목체 Bold" panose="020B0803000000000000" pitchFamily="50" charset="-127"/>
              </a:rPr>
              <a:t>……….</a:t>
            </a:r>
            <a:endParaRPr lang="en-US" altLang="ko-KR" sz="8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103071" y="2211273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743471" y="2215113"/>
            <a:ext cx="181098" cy="173224"/>
          </a:xfrm>
          <a:prstGeom prst="rect">
            <a:avLst/>
          </a:prstGeom>
        </p:spPr>
      </p:pic>
      <p:sp>
        <p:nvSpPr>
          <p:cNvPr id="6" name="직사각형 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213811" y="2203653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7" name="그림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854211" y="2207493"/>
            <a:ext cx="181098" cy="173224"/>
          </a:xfrm>
          <a:prstGeom prst="rect">
            <a:avLst/>
          </a:prstGeom>
        </p:spPr>
      </p:pic>
      <p:pic>
        <p:nvPicPr>
          <p:cNvPr id="8" name="그림 7"/>
          <p:cNvPicPr>
            <a:picLocks noChangeAspect="1"/>
          </p:cNvPicPr>
          <p:nvPr/>
        </p:nvPicPr>
        <p:blipFill rotWithShape="1">
          <a:blip r:embed="rId3"/>
          <a:srcRect l="4529" t="26598" r="15390" b="31225"/>
          <a:stretch/>
        </p:blipFill>
        <p:spPr>
          <a:xfrm>
            <a:off x="2217372" y="5044440"/>
            <a:ext cx="3837136" cy="601980"/>
          </a:xfrm>
          <a:prstGeom prst="rect">
            <a:avLst/>
          </a:prstGeom>
        </p:spPr>
      </p:pic>
      <p:sp>
        <p:nvSpPr>
          <p:cNvPr id="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679268" y="4809409"/>
            <a:ext cx="396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파일삭제</a:t>
            </a:r>
            <a:endParaRPr kumimoji="0" lang="ko-KR" altLang="en-US" sz="7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260168" y="4824649"/>
            <a:ext cx="396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파일추가</a:t>
            </a:r>
            <a:endParaRPr kumimoji="0" lang="ko-KR" altLang="en-US" sz="7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687460" y="5794330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저장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091320" y="5794330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닫기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301660" y="1734386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14" name="그룹 13"/>
          <p:cNvGrpSpPr/>
          <p:nvPr/>
        </p:nvGrpSpPr>
        <p:grpSpPr>
          <a:xfrm>
            <a:off x="2106571" y="1966632"/>
            <a:ext cx="648000" cy="180915"/>
            <a:chOff x="1179238" y="2959078"/>
            <a:chExt cx="648000" cy="180915"/>
          </a:xfrm>
        </p:grpSpPr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179238" y="2959078"/>
              <a:ext cx="648000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전체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16" name="이등변 삼각형 15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1665320" y="2997436"/>
              <a:ext cx="66937" cy="72000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17" name="타원 1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377168" y="464649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746488" y="595713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803888" y="465411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112248" y="595713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1" name="표 20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33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11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법령</a:t>
                      </a:r>
                      <a:r>
                        <a:rPr kumimoji="0" lang="en-US" altLang="ko-KR" sz="11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·</a:t>
                      </a:r>
                      <a:r>
                        <a:rPr kumimoji="0" lang="ko-KR" altLang="en-US" sz="11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시행령</a:t>
                      </a:r>
                      <a:r>
                        <a:rPr kumimoji="0" lang="en-US" altLang="ko-KR" sz="11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·</a:t>
                      </a:r>
                      <a:r>
                        <a:rPr kumimoji="0" lang="ko-KR" altLang="en-US" sz="110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감독규정 </a:t>
                      </a:r>
                      <a:endParaRPr lang="ko-KR" altLang="en-US" sz="11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대외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기획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P.A.I &gt; RPA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수집정보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법령</a:t>
                      </a:r>
                      <a:r>
                        <a:rPr kumimoji="0" lang="en-US" altLang="ko-KR" sz="105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·</a:t>
                      </a:r>
                      <a:r>
                        <a:rPr kumimoji="0" lang="ko-KR" altLang="en-US" sz="105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시행령</a:t>
                      </a:r>
                      <a:r>
                        <a:rPr kumimoji="0" lang="en-US" altLang="ko-KR" sz="105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·</a:t>
                      </a:r>
                      <a:r>
                        <a:rPr kumimoji="0" lang="ko-KR" altLang="en-US" sz="1050" b="1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감독규정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2" name="표 2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1905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2895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구분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법령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시행령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감독규정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제목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개정일자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시행일자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및 본문 내용을 수정 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895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파일추가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클릭하여 업로드할 파일을 선택하면 파일이 추가된다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9919634"/>
                  </a:ext>
                </a:extLst>
              </a:tr>
              <a:tr h="2895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파일삭제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선택한 파일이 삭제된다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4128520"/>
                  </a:ext>
                </a:extLst>
              </a:tr>
              <a:tr h="2895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저장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버튼을 클릭하면 해당 내용을 저장하고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팝업창이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닫힌다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4111418"/>
                  </a:ext>
                </a:extLst>
              </a:tr>
              <a:tr h="2895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닫기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 하면 해당 내용이 저장되지 않고 팝업 창이 닫힌다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84385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37877524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그림 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2077" y="923395"/>
            <a:ext cx="6973740" cy="5311149"/>
          </a:xfrm>
          <a:prstGeom prst="rect">
            <a:avLst/>
          </a:prstGeom>
        </p:spPr>
      </p:pic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33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MDD-00136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MDD75G94000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추진실적관리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1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추진과제별</a:t>
                      </a:r>
                      <a:r>
                        <a:rPr lang="ko-KR" altLang="en-US" sz="11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실적 등록</a:t>
                      </a:r>
                      <a:endParaRPr lang="ko-KR" altLang="en-US" sz="11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추진실적 관리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추진실적 관리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추진과제별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실적 등록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(P158: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임종국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1066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2895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추진배경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추진내용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추진결과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1], 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추진결과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개선효과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지연사유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클릭시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해당 내용을 조회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편집할수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있는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팝업지원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895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추진배경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추진내용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추진결과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1], 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추진결과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2], 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개선효과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], 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지연사유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텍스트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size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늘리기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9919634"/>
                  </a:ext>
                </a:extLst>
              </a:tr>
            </a:tbl>
          </a:graphicData>
        </a:graphic>
      </p:graphicFrame>
      <p:sp>
        <p:nvSpPr>
          <p:cNvPr id="16" name="직사각형 15"/>
          <p:cNvSpPr/>
          <p:nvPr/>
        </p:nvSpPr>
        <p:spPr bwMode="auto">
          <a:xfrm>
            <a:off x="92078" y="3200400"/>
            <a:ext cx="6973740" cy="2603248"/>
          </a:xfrm>
          <a:prstGeom prst="rect">
            <a:avLst/>
          </a:prstGeom>
          <a:noFill/>
          <a:ln w="25400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" name="직사각형 10"/>
          <p:cNvSpPr/>
          <p:nvPr/>
        </p:nvSpPr>
        <p:spPr bwMode="auto">
          <a:xfrm flipV="1">
            <a:off x="2045321" y="2926759"/>
            <a:ext cx="3621949" cy="2760608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92076" y="320040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" name="직사각형 3"/>
          <p:cNvSpPr/>
          <p:nvPr/>
        </p:nvSpPr>
        <p:spPr bwMode="auto">
          <a:xfrm>
            <a:off x="2069490" y="2953422"/>
            <a:ext cx="3587732" cy="2713849"/>
          </a:xfrm>
          <a:prstGeom prst="rect">
            <a:avLst/>
          </a:prstGeom>
          <a:solidFill>
            <a:srgbClr val="FFFFFF"/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079538" y="281396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80784117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64486" y="1352732"/>
            <a:ext cx="6730567" cy="4230991"/>
          </a:xfrm>
          <a:prstGeom prst="rect">
            <a:avLst/>
          </a:prstGeom>
        </p:spPr>
      </p:pic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MDD-00137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MDD75S10000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감사정보지원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전산개발신청서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감사정보지원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업무지원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전산개발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신청서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(P159: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임종국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60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944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266663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20239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전산개발신청서 화면의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결제요청시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메세지</a:t>
                      </a:r>
                      <a:r>
                        <a:rPr lang="ko-KR" altLang="en-US" sz="800" baseline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창</a:t>
                      </a:r>
                      <a:r>
                        <a:rPr lang="ko-KR" altLang="en-US" sz="800" baseline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의 </a:t>
                      </a:r>
                      <a:r>
                        <a:rPr lang="ko-KR" altLang="en-US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문구 수정 요청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1676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“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개발요청하시겠습니까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?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이후 요청 내용은 수정되지 않습니다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.”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로 확인 메시지 출력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31695760"/>
                  </a:ext>
                </a:extLst>
              </a:tr>
            </a:tbl>
          </a:graphicData>
        </a:graphic>
      </p:graphicFrame>
      <p:grpSp>
        <p:nvGrpSpPr>
          <p:cNvPr id="22" name="그룹 21"/>
          <p:cNvGrpSpPr/>
          <p:nvPr/>
        </p:nvGrpSpPr>
        <p:grpSpPr>
          <a:xfrm>
            <a:off x="257985" y="1029279"/>
            <a:ext cx="6732899" cy="337771"/>
            <a:chOff x="355877" y="2160935"/>
            <a:chExt cx="6061214" cy="417554"/>
          </a:xfrm>
        </p:grpSpPr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29" name="직사각형 28"/>
          <p:cNvSpPr/>
          <p:nvPr/>
        </p:nvSpPr>
        <p:spPr bwMode="auto">
          <a:xfrm flipV="1">
            <a:off x="264486" y="1391228"/>
            <a:ext cx="1075897" cy="313592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04025" y="132926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32" name="그림 31"/>
          <p:cNvPicPr>
            <a:picLocks noChangeAspect="1"/>
          </p:cNvPicPr>
          <p:nvPr/>
        </p:nvPicPr>
        <p:blipFill>
          <a:blip r:embed="rId3">
            <a:duotone>
              <a:prstClr val="black"/>
              <a:schemeClr val="bg1">
                <a:lumMod val="65000"/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264486" y="5694181"/>
            <a:ext cx="6719057" cy="316899"/>
          </a:xfrm>
          <a:prstGeom prst="rect">
            <a:avLst/>
          </a:prstGeom>
        </p:spPr>
      </p:pic>
      <p:grpSp>
        <p:nvGrpSpPr>
          <p:cNvPr id="25" name="그룹 24"/>
          <p:cNvGrpSpPr/>
          <p:nvPr/>
        </p:nvGrpSpPr>
        <p:grpSpPr>
          <a:xfrm>
            <a:off x="2112149" y="3588750"/>
            <a:ext cx="2633031" cy="1084012"/>
            <a:chOff x="2112149" y="3588750"/>
            <a:chExt cx="2633031" cy="1084012"/>
          </a:xfrm>
        </p:grpSpPr>
        <p:grpSp>
          <p:nvGrpSpPr>
            <p:cNvPr id="26" name="그룹 25"/>
            <p:cNvGrpSpPr/>
            <p:nvPr/>
          </p:nvGrpSpPr>
          <p:grpSpPr>
            <a:xfrm>
              <a:off x="2112149" y="3588750"/>
              <a:ext cx="2633031" cy="1084012"/>
              <a:chOff x="4615502" y="2898790"/>
              <a:chExt cx="2633031" cy="1084012"/>
            </a:xfrm>
          </p:grpSpPr>
          <p:sp>
            <p:nvSpPr>
              <p:cNvPr id="46" name="직사각형 45">
                <a:extLst>
                  <a:ext uri="{FF2B5EF4-FFF2-40B4-BE49-F238E27FC236}">
                    <a16:creationId xmlns:a16="http://schemas.microsoft.com/office/drawing/2014/main" id="{68CB9370-D759-4248-8572-5FDA4EF6101B}"/>
                  </a:ext>
                </a:extLst>
              </p:cNvPr>
              <p:cNvSpPr/>
              <p:nvPr/>
            </p:nvSpPr>
            <p:spPr>
              <a:xfrm>
                <a:off x="4615502" y="2898790"/>
                <a:ext cx="2633031" cy="108401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742856">
                  <a:defRPr/>
                </a:pPr>
                <a:endParaRPr lang="ko-KR" altLang="en-US" sz="813" b="1">
                  <a:solidFill>
                    <a:srgbClr val="0070C0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endParaRPr>
              </a:p>
            </p:txBody>
          </p:sp>
          <p:sp>
            <p:nvSpPr>
              <p:cNvPr id="47" name="직사각형 46">
                <a:extLst>
                  <a:ext uri="{FF2B5EF4-FFF2-40B4-BE49-F238E27FC236}">
                    <a16:creationId xmlns:a16="http://schemas.microsoft.com/office/drawing/2014/main" id="{061CAA5C-4EB7-4E67-85DA-E29F266F438F}"/>
                  </a:ext>
                </a:extLst>
              </p:cNvPr>
              <p:cNvSpPr/>
              <p:nvPr/>
            </p:nvSpPr>
            <p:spPr>
              <a:xfrm>
                <a:off x="4626393" y="2914649"/>
                <a:ext cx="2614235" cy="217588"/>
              </a:xfrm>
              <a:prstGeom prst="rect">
                <a:avLst/>
              </a:prstGeom>
              <a:solidFill>
                <a:srgbClr val="62595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7385" tIns="33693" rIns="67385" bIns="3369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742856">
                  <a:defRPr/>
                </a:pPr>
                <a:endParaRPr lang="ko-KR" altLang="en-US" sz="813" dirty="0">
                  <a:solidFill>
                    <a:schemeClr val="bg1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endParaRPr>
              </a:p>
            </p:txBody>
          </p:sp>
          <p:sp>
            <p:nvSpPr>
              <p:cNvPr id="48" name="직사각형 47">
                <a:extLst>
                  <a:ext uri="{FF2B5EF4-FFF2-40B4-BE49-F238E27FC236}">
                    <a16:creationId xmlns:a16="http://schemas.microsoft.com/office/drawing/2014/main" id="{D494E968-62DE-442C-9EE6-DD6B90DDF615}"/>
                  </a:ext>
                </a:extLst>
              </p:cNvPr>
              <p:cNvSpPr/>
              <p:nvPr/>
            </p:nvSpPr>
            <p:spPr bwMode="auto">
              <a:xfrm>
                <a:off x="7053533" y="2951827"/>
                <a:ext cx="150351" cy="134016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none" lIns="0" tIns="0" rIns="0" bIns="0" rtlCol="0" anchor="ctr" anchorCtr="0">
                <a:noAutofit/>
              </a:bodyPr>
              <a:lstStyle/>
              <a:p>
                <a:pPr algn="ctr" defTabSz="742856">
                  <a:defRPr/>
                </a:pPr>
                <a:r>
                  <a:rPr lang="en-US" altLang="ko-KR" sz="516" b="1">
                    <a:ln>
                      <a:solidFill>
                        <a:prstClr val="black">
                          <a:alpha val="0"/>
                        </a:prstClr>
                      </a:solidFill>
                    </a:ln>
                    <a:solidFill>
                      <a:prstClr val="black"/>
                    </a:solidFill>
                    <a:latin typeface="KB금융 본문체 Medium" panose="020B0603000000000000" pitchFamily="50" charset="-127"/>
                    <a:ea typeface="KB금융 본문체 Medium" panose="020B0603000000000000" pitchFamily="50" charset="-127"/>
                  </a:rPr>
                  <a:t>X</a:t>
                </a:r>
                <a:endParaRPr lang="ko-KR" altLang="en-US" sz="516" b="1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endParaRPr>
              </a:p>
            </p:txBody>
          </p: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60B97788-F115-4669-A08F-46D3A46FC7DA}"/>
                  </a:ext>
                </a:extLst>
              </p:cNvPr>
              <p:cNvSpPr txBox="1"/>
              <p:nvPr/>
            </p:nvSpPr>
            <p:spPr>
              <a:xfrm>
                <a:off x="4661286" y="2914649"/>
                <a:ext cx="1444242" cy="215444"/>
              </a:xfrm>
              <a:prstGeom prst="rect">
                <a:avLst/>
              </a:prstGeom>
              <a:noFill/>
            </p:spPr>
            <p:txBody>
              <a:bodyPr wrap="square" lIns="29250" rtlCol="0">
                <a:spAutoFit/>
              </a:bodyPr>
              <a:lstStyle/>
              <a:p>
                <a:pPr defTabSz="742856">
                  <a:defRPr/>
                </a:pPr>
                <a:r>
                  <a:rPr lang="ko-KR" altLang="en-US" sz="800" smtClean="0">
                    <a:solidFill>
                      <a:schemeClr val="bg1"/>
                    </a:solidFill>
                    <a:latin typeface="KB금융 본문체 Medium" panose="020B0603000000000000" pitchFamily="50" charset="-127"/>
                    <a:ea typeface="KB금융 본문체 Medium" panose="020B0603000000000000" pitchFamily="50" charset="-127"/>
                  </a:rPr>
                  <a:t>결재요청</a:t>
                </a:r>
                <a:endParaRPr lang="ko-KR" altLang="en-US" sz="800">
                  <a:solidFill>
                    <a:schemeClr val="bg1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endParaRPr>
              </a:p>
            </p:txBody>
          </p:sp>
        </p:grpSp>
        <p:sp>
          <p:nvSpPr>
            <p:cNvPr id="28" name="사각형: 둥근 모서리 19">
              <a:extLst>
                <a:ext uri="{FF2B5EF4-FFF2-40B4-BE49-F238E27FC236}">
                  <a16:creationId xmlns:a16="http://schemas.microsoft.com/office/drawing/2014/main" id="{52727207-08CB-A2FB-DFBD-131CEC779D94}"/>
                </a:ext>
              </a:extLst>
            </p:cNvPr>
            <p:cNvSpPr/>
            <p:nvPr/>
          </p:nvSpPr>
          <p:spPr>
            <a:xfrm>
              <a:off x="2991445" y="4403834"/>
              <a:ext cx="360000" cy="180000"/>
            </a:xfrm>
            <a:prstGeom prst="roundRect">
              <a:avLst>
                <a:gd name="adj" fmla="val 10228"/>
              </a:avLst>
            </a:prstGeom>
            <a:solidFill>
              <a:srgbClr val="E26C14"/>
            </a:solidFill>
            <a:ln w="9525">
              <a:solidFill>
                <a:schemeClr val="bg1">
                  <a:lumMod val="75000"/>
                </a:schemeClr>
              </a:solidFill>
            </a:ln>
            <a:effectLst>
              <a:outerShdw blurRad="50800" dist="38100" dir="2700000" sx="80000" sy="8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i="0" u="none" strike="noStrike" kern="1200" cap="none" spc="-10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결재요청</a:t>
              </a:r>
              <a:endParaRPr kumimoji="0" lang="ko-KR" altLang="en-US" sz="800" i="0" u="none" strike="noStrike" kern="1200" cap="none" spc="-10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31" name="사각형: 둥근 모서리 19">
              <a:extLst>
                <a:ext uri="{FF2B5EF4-FFF2-40B4-BE49-F238E27FC236}">
                  <a16:creationId xmlns:a16="http://schemas.microsoft.com/office/drawing/2014/main" id="{52727207-08CB-A2FB-DFBD-131CEC779D94}"/>
                </a:ext>
              </a:extLst>
            </p:cNvPr>
            <p:cNvSpPr/>
            <p:nvPr/>
          </p:nvSpPr>
          <p:spPr>
            <a:xfrm>
              <a:off x="3407883" y="4403834"/>
              <a:ext cx="360000" cy="180000"/>
            </a:xfrm>
            <a:prstGeom prst="roundRect">
              <a:avLst>
                <a:gd name="adj" fmla="val 10228"/>
              </a:avLst>
            </a:prstGeom>
            <a:solidFill>
              <a:schemeClr val="bg1"/>
            </a:solidFill>
            <a:ln w="9525">
              <a:solidFill>
                <a:schemeClr val="bg1">
                  <a:lumMod val="75000"/>
                </a:schemeClr>
              </a:solidFill>
            </a:ln>
            <a:effectLst>
              <a:outerShdw blurRad="50800" dist="38100" dir="2700000" sx="80000" sy="8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spc="-100" noProof="0" smtClean="0">
                  <a:solidFill>
                    <a:schemeClr val="tx1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취소</a:t>
              </a:r>
              <a:endParaRPr kumimoji="0" lang="ko-KR" altLang="en-US" sz="800" i="0" u="none" strike="noStrike" kern="1200" cap="none" spc="-10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2171597" y="3926359"/>
              <a:ext cx="2378584" cy="4770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 err="1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개발요청하시겠습니까</a:t>
              </a:r>
              <a:r>
                <a:rPr lang="en-US" altLang="ko-KR" sz="1000" dirty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? </a:t>
              </a:r>
              <a:endParaRPr lang="en-US" altLang="ko-KR" sz="10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  <a:p>
              <a:r>
                <a:rPr lang="ko-KR" altLang="en-US" sz="1000" dirty="0" smtClean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이후 </a:t>
              </a:r>
              <a:r>
                <a:rPr lang="ko-KR" altLang="en-US" sz="1000" dirty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요청 내용은 수정되지 않습니다</a:t>
              </a:r>
              <a:r>
                <a:rPr lang="en-US" altLang="ko-KR" sz="1000" dirty="0"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.</a:t>
              </a:r>
              <a:endParaRPr lang="ko-KR" altLang="en-US" sz="10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44" name="직사각형 43"/>
            <p:cNvSpPr/>
            <p:nvPr/>
          </p:nvSpPr>
          <p:spPr bwMode="auto">
            <a:xfrm flipV="1">
              <a:off x="2257901" y="3926505"/>
              <a:ext cx="2156156" cy="476908"/>
            </a:xfrm>
            <a:prstGeom prst="rect">
              <a:avLst/>
            </a:prstGeom>
            <a:noFill/>
            <a:ln w="15875">
              <a:solidFill>
                <a:srgbClr val="FF0000"/>
              </a:solidFill>
              <a:round/>
              <a:headEnd/>
              <a:tailEnd/>
            </a:ln>
          </p:spPr>
          <p:txBody>
            <a:bodyPr lIns="35999" tIns="35999" rIns="35999" bIns="35999" rtlCol="0" anchor="ctr" anchorCtr="1"/>
            <a:lstStyle/>
            <a:p>
              <a:pPr marL="0" marR="0" lvl="0" indent="0" algn="ctr" defTabSz="410291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45" name="타원 44">
              <a:extLst>
                <a:ext uri="{FF2B5EF4-FFF2-40B4-BE49-F238E27FC236}">
                  <a16:creationId xmlns:a16="http://schemas.microsoft.com/office/drawing/2014/main" id="{00E3D57C-B744-C466-DCD0-113A9BD23E2A}"/>
                </a:ext>
              </a:extLst>
            </p:cNvPr>
            <p:cNvSpPr/>
            <p:nvPr/>
          </p:nvSpPr>
          <p:spPr>
            <a:xfrm>
              <a:off x="2161860" y="3845729"/>
              <a:ext cx="137606" cy="159556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1000" dirty="0">
                  <a:solidFill>
                    <a:prstClr val="white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</a:t>
              </a:r>
              <a:endPara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695883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MDD-00138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MDD75S12000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인적사항등록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감사정보지원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정보관리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감사역정보관리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(P160: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298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직원정보검색 필드 추가</a:t>
                      </a:r>
                      <a:endParaRPr lang="ko-KR" altLang="en-US" sz="8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돋보기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클릭시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직원정보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검색 팝업 호출</a:t>
                      </a:r>
                      <a:endParaRPr lang="en-US" altLang="ko-KR" sz="8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 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참조 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MDD72A5000.xfdl )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28" name="그룹 27"/>
          <p:cNvGrpSpPr/>
          <p:nvPr/>
        </p:nvGrpSpPr>
        <p:grpSpPr>
          <a:xfrm>
            <a:off x="224727" y="1070841"/>
            <a:ext cx="6732899" cy="337771"/>
            <a:chOff x="355877" y="2160935"/>
            <a:chExt cx="6061214" cy="417554"/>
          </a:xfrm>
        </p:grpSpPr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31" name="양쪽 모서리가 둥근 사각형 30"/>
          <p:cNvSpPr/>
          <p:nvPr/>
        </p:nvSpPr>
        <p:spPr bwMode="auto">
          <a:xfrm>
            <a:off x="231230" y="1545176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800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인적사항 등록</a:t>
            </a:r>
            <a:endParaRPr kumimoji="0" lang="ko-KR" altLang="en-US" sz="7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2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24727" y="1470580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31231" y="1730911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224727" y="1830945"/>
            <a:ext cx="1018900" cy="230832"/>
          </a:xfrm>
          <a:prstGeom prst="rect">
            <a:avLst/>
          </a:prstGeom>
          <a:solidFill>
            <a:schemeClr val="bg2">
              <a:lumMod val="50000"/>
            </a:schemeClr>
          </a:solidFill>
          <a:ln w="6350">
            <a:solidFill>
              <a:schemeClr val="bg2">
                <a:lumMod val="9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인적사항 등록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243627" y="1831233"/>
            <a:ext cx="1018900" cy="230832"/>
          </a:xfrm>
          <a:prstGeom prst="rect">
            <a:avLst/>
          </a:prstGeom>
          <a:noFill/>
          <a:ln w="6350">
            <a:solidFill>
              <a:schemeClr val="bg2">
                <a:lumMod val="9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인적사항 상세</a:t>
            </a:r>
          </a:p>
        </p:txBody>
      </p:sp>
      <p:graphicFrame>
        <p:nvGraphicFramePr>
          <p:cNvPr id="41" name="내용 개체 틀 121"/>
          <p:cNvGraphicFramePr>
            <a:graphicFrameLocks/>
          </p:cNvGraphicFramePr>
          <p:nvPr>
            <p:extLst/>
          </p:nvPr>
        </p:nvGraphicFramePr>
        <p:xfrm>
          <a:off x="308375" y="2131808"/>
          <a:ext cx="6557930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55793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655793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55793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655793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  <a:gridCol w="655793">
                  <a:extLst>
                    <a:ext uri="{9D8B030D-6E8A-4147-A177-3AD203B41FA5}">
                      <a16:colId xmlns:a16="http://schemas.microsoft.com/office/drawing/2014/main" val="392065302"/>
                    </a:ext>
                  </a:extLst>
                </a:gridCol>
                <a:gridCol w="655793">
                  <a:extLst>
                    <a:ext uri="{9D8B030D-6E8A-4147-A177-3AD203B41FA5}">
                      <a16:colId xmlns:a16="http://schemas.microsoft.com/office/drawing/2014/main" val="1197966032"/>
                    </a:ext>
                  </a:extLst>
                </a:gridCol>
                <a:gridCol w="387056">
                  <a:extLst>
                    <a:ext uri="{9D8B030D-6E8A-4147-A177-3AD203B41FA5}">
                      <a16:colId xmlns:a16="http://schemas.microsoft.com/office/drawing/2014/main" val="1480692638"/>
                    </a:ext>
                  </a:extLst>
                </a:gridCol>
                <a:gridCol w="2236116">
                  <a:extLst>
                    <a:ext uri="{9D8B030D-6E8A-4147-A177-3AD203B41FA5}">
                      <a16:colId xmlns:a16="http://schemas.microsoft.com/office/drawing/2014/main" val="460739660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소속부서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소속팀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담당업무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직원번호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grpSp>
        <p:nvGrpSpPr>
          <p:cNvPr id="42" name="그룹 41"/>
          <p:cNvGrpSpPr/>
          <p:nvPr/>
        </p:nvGrpSpPr>
        <p:grpSpPr>
          <a:xfrm>
            <a:off x="994851" y="2169371"/>
            <a:ext cx="579711" cy="180915"/>
            <a:chOff x="1179239" y="2959078"/>
            <a:chExt cx="579711" cy="180915"/>
          </a:xfrm>
        </p:grpSpPr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179239" y="2959078"/>
              <a:ext cx="579711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전체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49" name="이등변 삼각형 48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1657007" y="3039900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grpSp>
        <p:nvGrpSpPr>
          <p:cNvPr id="65" name="그룹 64"/>
          <p:cNvGrpSpPr/>
          <p:nvPr/>
        </p:nvGrpSpPr>
        <p:grpSpPr>
          <a:xfrm>
            <a:off x="2303084" y="2169371"/>
            <a:ext cx="579711" cy="180915"/>
            <a:chOff x="1179239" y="2959078"/>
            <a:chExt cx="579711" cy="180915"/>
          </a:xfrm>
        </p:grpSpPr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179239" y="2959078"/>
              <a:ext cx="579711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전체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67" name="이등변 삼각형 66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1657007" y="3039900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grpSp>
        <p:nvGrpSpPr>
          <p:cNvPr id="68" name="그룹 67"/>
          <p:cNvGrpSpPr/>
          <p:nvPr/>
        </p:nvGrpSpPr>
        <p:grpSpPr>
          <a:xfrm>
            <a:off x="3624862" y="2169371"/>
            <a:ext cx="579711" cy="180915"/>
            <a:chOff x="1179239" y="2959078"/>
            <a:chExt cx="579711" cy="180915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179239" y="2959078"/>
              <a:ext cx="579711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전체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70" name="이등변 삼각형 69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1657007" y="3039900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73" name="직사각형 72"/>
          <p:cNvSpPr/>
          <p:nvPr/>
        </p:nvSpPr>
        <p:spPr bwMode="auto">
          <a:xfrm>
            <a:off x="4226322" y="2128753"/>
            <a:ext cx="1475988" cy="320040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4" name="타원 7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169567" y="204436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75" name="그림 7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01372" y="2534220"/>
            <a:ext cx="6571936" cy="2143665"/>
          </a:xfrm>
          <a:prstGeom prst="rect">
            <a:avLst/>
          </a:prstGeom>
        </p:spPr>
      </p:pic>
      <p:sp>
        <p:nvSpPr>
          <p:cNvPr id="7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737895" y="2177933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33480" y="2177933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i="0" u="none" strike="noStrike" kern="1200" cap="none" spc="-10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29065" y="2177933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초기화</a:t>
            </a:r>
            <a:endParaRPr kumimoji="0" lang="ko-KR" altLang="en-US" sz="800" spc="-100" dirty="0">
              <a:solidFill>
                <a:schemeClr val="tx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cxnSp>
        <p:nvCxnSpPr>
          <p:cNvPr id="79" name="구부러진 연결선 78"/>
          <p:cNvCxnSpPr>
            <a:stCxn id="37" idx="0"/>
            <a:endCxn id="4" idx="0"/>
          </p:cNvCxnSpPr>
          <p:nvPr/>
        </p:nvCxnSpPr>
        <p:spPr bwMode="auto">
          <a:xfrm rot="5400000">
            <a:off x="4272664" y="2843865"/>
            <a:ext cx="1265742" cy="341292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pic>
        <p:nvPicPr>
          <p:cNvPr id="4" name="그림 3" descr="화면 캡처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19097" y="3647382"/>
            <a:ext cx="4431583" cy="2413579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12700"/>
          </a:effectLst>
        </p:spPr>
      </p:pic>
      <p:sp>
        <p:nvSpPr>
          <p:cNvPr id="37" name="직사각형 36"/>
          <p:cNvSpPr/>
          <p:nvPr/>
        </p:nvSpPr>
        <p:spPr bwMode="auto">
          <a:xfrm flipV="1">
            <a:off x="4946640" y="2153273"/>
            <a:ext cx="259081" cy="22836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581897" y="199387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4580749" y="2156972"/>
            <a:ext cx="1058052" cy="228091"/>
            <a:chOff x="4580749" y="1747390"/>
            <a:chExt cx="1058052" cy="228091"/>
          </a:xfrm>
        </p:grpSpPr>
        <p:pic>
          <p:nvPicPr>
            <p:cNvPr id="36" name="그림 35" descr="화면 캡처"/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8099" t="-6769" r="22984" b="3888"/>
            <a:stretch/>
          </p:blipFill>
          <p:spPr>
            <a:xfrm>
              <a:off x="4580749" y="1747390"/>
              <a:ext cx="1058052" cy="228091"/>
            </a:xfrm>
            <a:prstGeom prst="rect">
              <a:avLst/>
            </a:prstGeom>
          </p:spPr>
        </p:pic>
        <p:sp>
          <p:nvSpPr>
            <p:cNvPr id="3" name="직사각형 2"/>
            <p:cNvSpPr/>
            <p:nvPr/>
          </p:nvSpPr>
          <p:spPr bwMode="auto">
            <a:xfrm>
              <a:off x="4648200" y="1830945"/>
              <a:ext cx="298440" cy="88343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algn="ctr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400" b="1" i="0" u="none" strike="noStrike" kern="0" cap="none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549039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양쪽 모서리가 둥근 사각형 46"/>
          <p:cNvSpPr/>
          <p:nvPr/>
        </p:nvSpPr>
        <p:spPr bwMode="auto">
          <a:xfrm>
            <a:off x="266295" y="1054480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800" ker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감사문서 열람률 관리</a:t>
            </a:r>
            <a:endParaRPr kumimoji="0" lang="ko-KR" altLang="en-US" sz="80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MDD-00139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MDD72S43000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감사문서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열람률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관리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대외</a:t>
                      </a:r>
                      <a:r>
                        <a:rPr lang="en-US" altLang="ko-KR" sz="1050" kern="120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50" kern="120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기획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기타업무관리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감사문서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열람률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관리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(P168</a:t>
                      </a:r>
                      <a:r>
                        <a:rPr lang="en-US" altLang="ko-KR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:</a:t>
                      </a:r>
                      <a:r>
                        <a:rPr lang="ko-KR" altLang="en-US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김용근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noProof="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11" name="타원 1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08375" y="1069169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4" name="내용 개체 틀 121"/>
          <p:cNvGraphicFramePr>
            <a:graphicFrameLocks/>
          </p:cNvGraphicFramePr>
          <p:nvPr>
            <p:extLst/>
          </p:nvPr>
        </p:nvGraphicFramePr>
        <p:xfrm>
          <a:off x="266295" y="1243462"/>
          <a:ext cx="6732901" cy="5442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1177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2125504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34206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3332014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부서명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문서제목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문서번호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9329184"/>
                  </a:ext>
                </a:extLst>
              </a:tr>
            </a:tbl>
          </a:graphicData>
        </a:graphic>
      </p:graphicFrame>
      <p:sp>
        <p:nvSpPr>
          <p:cNvPr id="1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05268" y="1563392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204147" y="1566262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966306" y="1289253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041118" y="1285843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2024-04-30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26" name="그림 2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06706" y="1293093"/>
            <a:ext cx="181098" cy="173224"/>
          </a:xfrm>
          <a:prstGeom prst="rect">
            <a:avLst/>
          </a:prstGeom>
        </p:spPr>
      </p:pic>
      <p:pic>
        <p:nvPicPr>
          <p:cNvPr id="28" name="그림 2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680380" y="1294441"/>
            <a:ext cx="181098" cy="173224"/>
          </a:xfrm>
          <a:prstGeom prst="rect">
            <a:avLst/>
          </a:prstGeom>
        </p:spPr>
      </p:pic>
      <p:cxnSp>
        <p:nvCxnSpPr>
          <p:cNvPr id="29" name="직선 연결선 28"/>
          <p:cNvCxnSpPr/>
          <p:nvPr/>
        </p:nvCxnSpPr>
        <p:spPr bwMode="auto">
          <a:xfrm>
            <a:off x="1844953" y="1379705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743170" y="1285106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55559" y="1285140"/>
            <a:ext cx="934552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3"/>
          <a:srcRect r="73540"/>
          <a:stretch/>
        </p:blipFill>
        <p:spPr>
          <a:xfrm>
            <a:off x="4168259" y="1301662"/>
            <a:ext cx="183595" cy="164228"/>
          </a:xfrm>
          <a:prstGeom prst="rect">
            <a:avLst/>
          </a:prstGeom>
        </p:spPr>
      </p:pic>
      <p:sp>
        <p:nvSpPr>
          <p:cNvPr id="33" name="직사각형 3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743170" y="1561564"/>
            <a:ext cx="1346941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966306" y="1561564"/>
            <a:ext cx="1895172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5" name="표 34"/>
          <p:cNvGraphicFramePr>
            <a:graphicFrameLocks noGrp="1"/>
          </p:cNvGraphicFramePr>
          <p:nvPr>
            <p:extLst/>
          </p:nvPr>
        </p:nvGraphicFramePr>
        <p:xfrm>
          <a:off x="238872" y="1923979"/>
          <a:ext cx="6726396" cy="13057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5805">
                  <a:extLst>
                    <a:ext uri="{9D8B030D-6E8A-4147-A177-3AD203B41FA5}">
                      <a16:colId xmlns:a16="http://schemas.microsoft.com/office/drawing/2014/main" val="3450297539"/>
                    </a:ext>
                  </a:extLst>
                </a:gridCol>
                <a:gridCol w="2591818">
                  <a:extLst>
                    <a:ext uri="{9D8B030D-6E8A-4147-A177-3AD203B41FA5}">
                      <a16:colId xmlns:a16="http://schemas.microsoft.com/office/drawing/2014/main" val="676531661"/>
                    </a:ext>
                  </a:extLst>
                </a:gridCol>
                <a:gridCol w="778617">
                  <a:extLst>
                    <a:ext uri="{9D8B030D-6E8A-4147-A177-3AD203B41FA5}">
                      <a16:colId xmlns:a16="http://schemas.microsoft.com/office/drawing/2014/main" val="257685759"/>
                    </a:ext>
                  </a:extLst>
                </a:gridCol>
                <a:gridCol w="549611">
                  <a:extLst>
                    <a:ext uri="{9D8B030D-6E8A-4147-A177-3AD203B41FA5}">
                      <a16:colId xmlns:a16="http://schemas.microsoft.com/office/drawing/2014/main" val="2786254628"/>
                    </a:ext>
                  </a:extLst>
                </a:gridCol>
                <a:gridCol w="549611">
                  <a:extLst>
                    <a:ext uri="{9D8B030D-6E8A-4147-A177-3AD203B41FA5}">
                      <a16:colId xmlns:a16="http://schemas.microsoft.com/office/drawing/2014/main" val="2740147376"/>
                    </a:ext>
                  </a:extLst>
                </a:gridCol>
                <a:gridCol w="694648">
                  <a:extLst>
                    <a:ext uri="{9D8B030D-6E8A-4147-A177-3AD203B41FA5}">
                      <a16:colId xmlns:a16="http://schemas.microsoft.com/office/drawing/2014/main" val="3173469523"/>
                    </a:ext>
                  </a:extLst>
                </a:gridCol>
                <a:gridCol w="412210">
                  <a:extLst>
                    <a:ext uri="{9D8B030D-6E8A-4147-A177-3AD203B41FA5}">
                      <a16:colId xmlns:a16="http://schemas.microsoft.com/office/drawing/2014/main" val="3555301682"/>
                    </a:ext>
                  </a:extLst>
                </a:gridCol>
                <a:gridCol w="954076">
                  <a:extLst>
                    <a:ext uri="{9D8B030D-6E8A-4147-A177-3AD203B41FA5}">
                      <a16:colId xmlns:a16="http://schemas.microsoft.com/office/drawing/2014/main" val="202912828"/>
                    </a:ext>
                  </a:extLst>
                </a:gridCol>
              </a:tblGrid>
              <a:tr h="2176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순번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제목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문서번호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완료일자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dirty="0" err="1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발송일자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부서명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부서장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열람률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8033730"/>
                  </a:ext>
                </a:extLst>
              </a:tr>
              <a:tr h="21761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2024</a:t>
                      </a:r>
                      <a:r>
                        <a:rPr lang="ko-KR" altLang="en-US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 </a:t>
                      </a:r>
                      <a:r>
                        <a:rPr lang="en-US" altLang="ko-KR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r>
                        <a:rPr lang="ko-KR" altLang="en-US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분기 「</a:t>
                      </a:r>
                      <a:r>
                        <a:rPr lang="en-US" altLang="ko-KR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RAS </a:t>
                      </a:r>
                      <a:r>
                        <a:rPr lang="ko-KR" altLang="en-US" sz="700" b="0" u="none" strike="noStrike" dirty="0" err="1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전산평가」결과</a:t>
                      </a:r>
                      <a:r>
                        <a:rPr lang="ko-KR" altLang="en-US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및 유의사항 안내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r>
                        <a:rPr lang="en-US" altLang="ko-KR" sz="700" b="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</a:t>
                      </a:r>
                      <a:r>
                        <a:rPr lang="en-US" altLang="ko-KR" sz="700" b="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48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2024-04-15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2024-04-16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전행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100%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9908261"/>
                  </a:ext>
                </a:extLst>
              </a:tr>
              <a:tr h="21761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감사결과 </a:t>
                      </a:r>
                      <a:r>
                        <a:rPr lang="en-US" altLang="ko-KR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『</a:t>
                      </a:r>
                      <a:r>
                        <a:rPr lang="ko-KR" altLang="en-US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주요 </a:t>
                      </a:r>
                      <a:r>
                        <a:rPr lang="ko-KR" altLang="en-US" sz="700" b="0" u="none" strike="noStrike" dirty="0" err="1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</a:t>
                      </a:r>
                      <a:r>
                        <a:rPr lang="en-US" altLang="ko-KR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』 </a:t>
                      </a:r>
                      <a:r>
                        <a:rPr lang="ko-KR" altLang="en-US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및 </a:t>
                      </a:r>
                      <a:r>
                        <a:rPr lang="en-US" altLang="ko-KR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『</a:t>
                      </a:r>
                      <a:r>
                        <a:rPr lang="ko-KR" altLang="en-US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문책 사례</a:t>
                      </a:r>
                      <a:r>
                        <a:rPr lang="en-US" altLang="ko-KR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』 </a:t>
                      </a:r>
                      <a:r>
                        <a:rPr lang="ko-KR" altLang="en-US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안내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감사기획부 </a:t>
                      </a:r>
                      <a:r>
                        <a:rPr lang="en-US" altLang="ko-KR" sz="700" b="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32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2024-01-31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2024-02-01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전행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82.3%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024731"/>
                  </a:ext>
                </a:extLst>
              </a:tr>
              <a:tr h="21761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감사결과 </a:t>
                      </a:r>
                      <a:r>
                        <a:rPr lang="en-US" altLang="ko-KR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『</a:t>
                      </a:r>
                      <a:r>
                        <a:rPr lang="ko-KR" altLang="en-US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주요 </a:t>
                      </a:r>
                      <a:r>
                        <a:rPr lang="ko-KR" altLang="en-US" sz="700" b="0" u="none" strike="noStrike" dirty="0" err="1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</a:t>
                      </a:r>
                      <a:r>
                        <a:rPr lang="en-US" altLang="ko-KR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』 </a:t>
                      </a:r>
                      <a:r>
                        <a:rPr lang="ko-KR" altLang="en-US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및 </a:t>
                      </a:r>
                      <a:r>
                        <a:rPr lang="en-US" altLang="ko-KR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『</a:t>
                      </a:r>
                      <a:r>
                        <a:rPr lang="ko-KR" altLang="en-US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문책 사례</a:t>
                      </a:r>
                      <a:r>
                        <a:rPr lang="en-US" altLang="ko-KR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』 </a:t>
                      </a:r>
                      <a:r>
                        <a:rPr lang="ko-KR" altLang="en-US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안내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감사기획부 </a:t>
                      </a:r>
                      <a:r>
                        <a:rPr lang="en-US" altLang="ko-KR" sz="700" b="0" u="none" strike="noStrike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31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2024-01-31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2024-01-31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전행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85.8%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1323190"/>
                  </a:ext>
                </a:extLst>
              </a:tr>
              <a:tr h="21761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u="none" strike="noStrike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u="sng" strike="noStrike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금융감독원 </a:t>
                      </a:r>
                      <a:r>
                        <a:rPr lang="en-US" altLang="ko-KR" sz="700" b="0" u="sng" strike="noStrike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'</a:t>
                      </a:r>
                      <a:r>
                        <a:rPr lang="ko-KR" altLang="en-US" sz="700" b="0" u="sng" strike="noStrike" dirty="0" err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수시검사</a:t>
                      </a:r>
                      <a:r>
                        <a:rPr lang="en-US" altLang="ko-KR" sz="700" b="0" u="sng" strike="noStrike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' </a:t>
                      </a:r>
                      <a:r>
                        <a:rPr lang="ko-KR" altLang="en-US" sz="700" b="0" u="sng" strike="noStrike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및 </a:t>
                      </a:r>
                      <a:r>
                        <a:rPr lang="en-US" altLang="ko-KR" sz="700" b="0" u="sng" strike="noStrike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'</a:t>
                      </a:r>
                      <a:r>
                        <a:rPr lang="ko-KR" altLang="en-US" sz="700" b="0" u="sng" strike="noStrike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분쟁조정 관련 사실조사</a:t>
                      </a:r>
                      <a:r>
                        <a:rPr lang="en-US" altLang="ko-KR" sz="700" b="0" u="sng" strike="noStrike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' </a:t>
                      </a:r>
                      <a:r>
                        <a:rPr lang="ko-KR" altLang="en-US" sz="700" b="0" u="sng" strike="noStrike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실시에 따른 </a:t>
                      </a:r>
                      <a:r>
                        <a:rPr lang="ko-KR" altLang="en-US" sz="700" b="0" u="sng" strike="noStrike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유의사항</a:t>
                      </a:r>
                      <a:r>
                        <a:rPr lang="en-US" altLang="ko-KR" sz="700" b="0" u="sng" strike="noStrike" baseline="0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u="sng" strike="noStrike" baseline="0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안내</a:t>
                      </a:r>
                      <a:endParaRPr lang="ko-KR" altLang="en-US" sz="700" b="0" i="0" u="sng" strike="noStrike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감사기획부 </a:t>
                      </a:r>
                      <a:r>
                        <a:rPr lang="en-US" altLang="ko-KR" sz="700" b="0" u="none" strike="noStrike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en-US" altLang="ko-KR" sz="700" b="0" i="0" u="none" strike="noStrike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2024-01-08</a:t>
                      </a:r>
                      <a:endParaRPr lang="en-US" altLang="ko-KR" sz="700" b="0" i="0" u="none" strike="noStrike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2024-01-09</a:t>
                      </a:r>
                      <a:endParaRPr lang="en-US" altLang="ko-KR" sz="700" b="0" i="0" u="none" strike="noStrike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전행</a:t>
                      </a:r>
                      <a:endParaRPr lang="ko-KR" altLang="en-US" sz="700" b="0" i="0" u="none" strike="noStrike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</a:t>
                      </a:r>
                      <a:endParaRPr lang="ko-KR" altLang="en-US" sz="700" b="0" i="0" u="none" strike="noStrike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83.2%</a:t>
                      </a:r>
                      <a:endParaRPr lang="ko-KR" altLang="en-US" sz="700" b="0" i="0" u="none" strike="noStrike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0543934"/>
                  </a:ext>
                </a:extLst>
              </a:tr>
              <a:tr h="217617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….</a:t>
                      </a:r>
                      <a:endParaRPr lang="ko-KR" altLang="en-US" sz="700" b="0" i="0" u="none" strike="noStrike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3330040"/>
                  </a:ext>
                </a:extLst>
              </a:tr>
            </a:tbl>
          </a:graphicData>
        </a:graphic>
      </p:graphicFrame>
      <p:sp>
        <p:nvSpPr>
          <p:cNvPr id="44" name="직사각형 43"/>
          <p:cNvSpPr/>
          <p:nvPr/>
        </p:nvSpPr>
        <p:spPr bwMode="auto">
          <a:xfrm>
            <a:off x="230812" y="2802051"/>
            <a:ext cx="6734456" cy="1733332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01867" y="260900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46" name="표 45"/>
          <p:cNvGraphicFramePr>
            <a:graphicFrameLocks noGrp="1"/>
          </p:cNvGraphicFramePr>
          <p:nvPr>
            <p:extLst/>
          </p:nvPr>
        </p:nvGraphicFramePr>
        <p:xfrm>
          <a:off x="7207250" y="665523"/>
          <a:ext cx="2606675" cy="2804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Wise-Net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전자결재 완료 문서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감사관련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와 부서별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본부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영업점 전체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열람률을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연계하여 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조회기능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제공 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/ 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조회조건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입력시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조건값에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맞는 정보만 화면에 출력</a:t>
                      </a: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조회결과는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전행기준으로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차 표시되며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각 문서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클릭시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문서별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세부내역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부서별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을 조회 할 수 있는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팝업창이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나타난다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kumimoji="0" lang="ko-KR" altLang="en-US" sz="800" b="1" kern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★ </a:t>
                      </a:r>
                      <a:r>
                        <a:rPr lang="ko-KR" altLang="en-US" sz="800" u="sng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발송일자</a:t>
                      </a:r>
                      <a:r>
                        <a:rPr lang="ko-KR" altLang="en-US" sz="800" u="sng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기준 </a:t>
                      </a:r>
                      <a:r>
                        <a:rPr lang="en-US" altLang="ko-KR" sz="800" u="sng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800" u="sng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영업일 이후 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열람률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80%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미달 </a:t>
                      </a:r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부서들은 </a:t>
                      </a:r>
                      <a:r>
                        <a:rPr lang="ko-KR" altLang="en-US" sz="800" u="sng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해당일자 </a:t>
                      </a:r>
                      <a:r>
                        <a:rPr lang="ko-KR" altLang="en-US" sz="800" u="sng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기준 </a:t>
                      </a:r>
                      <a:r>
                        <a:rPr lang="en-US" altLang="ko-KR" sz="800" u="sng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800" u="sng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영업일까지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각 부서에 </a:t>
                      </a:r>
                      <a:r>
                        <a:rPr lang="en-US" altLang="ko-KR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workB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쪽지로 문서독려알림 전송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알림전송대상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: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부점장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내부통제책임자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en-US" altLang="ko-KR" sz="800" baseline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* </a:t>
                      </a:r>
                      <a:r>
                        <a:rPr lang="ko-KR" altLang="en-US" sz="800" baseline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발송일자 기준 </a:t>
                      </a:r>
                      <a:r>
                        <a:rPr lang="en-US" altLang="ko-KR" sz="800" baseline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4</a:t>
                      </a:r>
                      <a:r>
                        <a:rPr lang="ko-KR" altLang="en-US" sz="800" baseline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영업일부터 </a:t>
                      </a:r>
                      <a:r>
                        <a:rPr lang="en-US" altLang="ko-KR" sz="80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6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영업일까지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발송한 후 쪽지 발송 하지 </a:t>
                      </a:r>
                      <a:r>
                        <a:rPr lang="ko-KR" altLang="en-US" sz="80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않고  열람률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관리 </a:t>
                      </a:r>
                      <a:r>
                        <a:rPr lang="ko-KR" altLang="en-US" sz="80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하지 않음</a:t>
                      </a:r>
                      <a:endParaRPr lang="en-US" altLang="ko-KR" sz="80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en-US" altLang="ko-KR" sz="80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예시</a:t>
                      </a:r>
                      <a:r>
                        <a:rPr lang="en-US" altLang="ko-KR" sz="80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en-US" altLang="ko-KR" sz="800" baseline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baseline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발송일자</a:t>
                      </a:r>
                      <a:r>
                        <a:rPr lang="en-US" altLang="ko-KR" sz="800" baseline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: 2025. 2. 6.</a:t>
                      </a:r>
                    </a:p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ko-KR" altLang="en-US" sz="80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발송일자 기준 </a:t>
                      </a:r>
                      <a:r>
                        <a:rPr lang="en-US" altLang="ko-KR" sz="80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80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영업일 이후되는 날짜</a:t>
                      </a:r>
                      <a:r>
                        <a:rPr lang="en-US" altLang="ko-KR" sz="80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: 2025. 2.12.</a:t>
                      </a:r>
                    </a:p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ko-KR" altLang="en-US" sz="80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쪽지 발송 기간</a:t>
                      </a:r>
                      <a:r>
                        <a:rPr lang="en-US" altLang="ko-KR" sz="80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: 2025. 2.12. ~ 2025. 2.14.</a:t>
                      </a:r>
                      <a:endParaRPr lang="en-US" altLang="ko-KR" sz="800" dirty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</a:tbl>
          </a:graphicData>
        </a:graphic>
      </p:graphicFrame>
      <p:cxnSp>
        <p:nvCxnSpPr>
          <p:cNvPr id="48" name="구부러진 연결선 47"/>
          <p:cNvCxnSpPr/>
          <p:nvPr/>
        </p:nvCxnSpPr>
        <p:spPr bwMode="auto">
          <a:xfrm rot="5400000">
            <a:off x="5914682" y="4359036"/>
            <a:ext cx="519090" cy="479659"/>
          </a:xfrm>
          <a:prstGeom prst="curvedConnector2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49" name="TextBox 48">
            <a:extLst>
              <a:ext uri="{FF2B5EF4-FFF2-40B4-BE49-F238E27FC236}">
                <a16:creationId xmlns:a16="http://schemas.microsoft.com/office/drawing/2014/main" id="{4723E3A0-AFBB-43E3-9CB8-D797D5A8876D}"/>
              </a:ext>
            </a:extLst>
          </p:cNvPr>
          <p:cNvSpPr txBox="1"/>
          <p:nvPr/>
        </p:nvSpPr>
        <p:spPr>
          <a:xfrm>
            <a:off x="2184984" y="4759212"/>
            <a:ext cx="35074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/>
            <a:r>
              <a:rPr lang="en-US" altLang="ko-KR" sz="10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※ </a:t>
            </a:r>
            <a:r>
              <a:rPr lang="ko-KR" altLang="en-US" sz="10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열람률이</a:t>
            </a:r>
            <a:r>
              <a:rPr lang="ko-KR" altLang="en-US" sz="10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lang="en-US" altLang="ko-KR" sz="10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80%</a:t>
            </a:r>
            <a:r>
              <a:rPr lang="ko-KR" altLang="en-US" sz="10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가 아닐 경우 각 부서에 </a:t>
            </a:r>
            <a:r>
              <a:rPr lang="en-US" altLang="ko-KR" sz="10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workB</a:t>
            </a:r>
            <a:r>
              <a:rPr lang="en-US" altLang="ko-KR" sz="10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lang="ko-KR" altLang="en-US" sz="10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쪽지 알림 발송</a:t>
            </a:r>
            <a:endParaRPr lang="ko-KR" altLang="en-US" sz="10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51" name="그림 50"/>
          <p:cNvPicPr>
            <a:picLocks noChangeAspect="1"/>
          </p:cNvPicPr>
          <p:nvPr/>
        </p:nvPicPr>
        <p:blipFill rotWithShape="1">
          <a:blip r:embed="rId4"/>
          <a:srcRect l="7598" t="9819" r="12402" b="9391"/>
          <a:stretch/>
        </p:blipFill>
        <p:spPr>
          <a:xfrm>
            <a:off x="5714082" y="4783689"/>
            <a:ext cx="198648" cy="197268"/>
          </a:xfrm>
          <a:prstGeom prst="rect">
            <a:avLst/>
          </a:prstGeom>
          <a:ln>
            <a:solidFill>
              <a:srgbClr val="BFBFBF"/>
            </a:solidFill>
          </a:ln>
        </p:spPr>
      </p:pic>
      <p:sp>
        <p:nvSpPr>
          <p:cNvPr id="52" name="직사각형 51"/>
          <p:cNvSpPr/>
          <p:nvPr/>
        </p:nvSpPr>
        <p:spPr bwMode="auto">
          <a:xfrm>
            <a:off x="5934398" y="1923979"/>
            <a:ext cx="1030870" cy="2611404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912730" y="1735917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" name="직사각형 3"/>
          <p:cNvSpPr/>
          <p:nvPr/>
        </p:nvSpPr>
        <p:spPr>
          <a:xfrm>
            <a:off x="993576" y="5204725"/>
            <a:ext cx="4953000" cy="738664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US" altLang="ko-KR" dirty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※ </a:t>
            </a:r>
            <a:r>
              <a:rPr lang="ko-KR" altLang="en-US" b="1" dirty="0" smtClean="0">
                <a:solidFill>
                  <a:srgbClr val="FF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경영정보개발부 전자결재 업무 담당자와 </a:t>
            </a:r>
            <a:r>
              <a:rPr lang="en-US" altLang="ko-KR" b="1" dirty="0" smtClean="0">
                <a:solidFill>
                  <a:srgbClr val="FF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‘</a:t>
            </a:r>
            <a:r>
              <a:rPr lang="ko-KR" altLang="en-US" b="1" dirty="0" smtClean="0">
                <a:solidFill>
                  <a:srgbClr val="FF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결재문서정보 연계 방안 및 데이터 형식</a:t>
            </a:r>
            <a:r>
              <a:rPr lang="en-US" altLang="ko-KR" b="1" dirty="0" smtClean="0">
                <a:solidFill>
                  <a:srgbClr val="FF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’</a:t>
            </a:r>
            <a:r>
              <a:rPr lang="ko-KR" altLang="en-US" b="1" dirty="0" smtClean="0">
                <a:solidFill>
                  <a:srgbClr val="FF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에 대한 협의 완료 </a:t>
            </a:r>
            <a:r>
              <a:rPr lang="en-US" altLang="ko-KR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(</a:t>
            </a:r>
            <a:r>
              <a:rPr lang="ko-KR" alt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협의 내용에 따라 </a:t>
            </a:r>
            <a:r>
              <a:rPr lang="ko-KR" altLang="en-US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화면 요건 </a:t>
            </a:r>
            <a:r>
              <a:rPr lang="ko-KR" alt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변동 가능</a:t>
            </a:r>
            <a:r>
              <a:rPr lang="en-US" altLang="ko-KR" dirty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경영정보개발부 </a:t>
            </a:r>
            <a:r>
              <a:rPr lang="ko-KR" altLang="en-US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이진향</a:t>
            </a:r>
            <a:r>
              <a:rPr lang="ko-KR" alt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 대리</a:t>
            </a:r>
            <a:r>
              <a:rPr lang="en-US" altLang="ko-KR" dirty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KoPubWorld돋움체 Medium" panose="00000600000000000000" pitchFamily="2" charset="-127"/>
              </a:rPr>
              <a:t>)</a:t>
            </a:r>
            <a:endParaRPr lang="en-US" altLang="ko-KR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  <a:cs typeface="KoPubWorld돋움체 Medium" panose="000006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505404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내용 개체 틀 121"/>
          <p:cNvGraphicFramePr>
            <a:graphicFrameLocks/>
          </p:cNvGraphicFramePr>
          <p:nvPr>
            <p:extLst/>
          </p:nvPr>
        </p:nvGraphicFramePr>
        <p:xfrm>
          <a:off x="266295" y="1243462"/>
          <a:ext cx="6732901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1177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2125504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34206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3332014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문서제목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2024</a:t>
                      </a:r>
                      <a:r>
                        <a:rPr lang="ko-KR" altLang="en-US" sz="700" b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 </a:t>
                      </a:r>
                      <a:r>
                        <a:rPr lang="en-US" altLang="ko-KR" sz="700" b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r>
                        <a:rPr lang="ko-KR" altLang="en-US" sz="700" b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분기 「</a:t>
                      </a:r>
                      <a:r>
                        <a:rPr lang="en-US" altLang="ko-KR" sz="700" b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RAS </a:t>
                      </a:r>
                      <a:r>
                        <a:rPr lang="ko-KR" altLang="en-US" sz="700" b="0" u="none" strike="noStrike" dirty="0" err="1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전산평가」결과</a:t>
                      </a:r>
                      <a:r>
                        <a:rPr lang="ko-KR" altLang="en-US" sz="700" b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및 유의사항 안내</a:t>
                      </a:r>
                      <a:endParaRPr lang="ko-KR" altLang="en-US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문서번호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strike="noStrike" dirty="0" err="1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감사부</a:t>
                      </a:r>
                      <a:r>
                        <a:rPr lang="en-US" altLang="ko-KR" sz="700" b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u="none" strike="noStrike" dirty="0" err="1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</a:t>
                      </a:r>
                      <a:r>
                        <a:rPr lang="en-US" altLang="ko-KR" sz="700" b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48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9329184"/>
                  </a:ext>
                </a:extLst>
              </a:tr>
            </a:tbl>
          </a:graphicData>
        </a:graphic>
      </p:graphicFrame>
      <p:sp>
        <p:nvSpPr>
          <p:cNvPr id="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05268" y="1563392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204147" y="1566262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17" name="표 16"/>
          <p:cNvGraphicFramePr>
            <a:graphicFrameLocks noGrp="1"/>
          </p:cNvGraphicFramePr>
          <p:nvPr>
            <p:extLst/>
          </p:nvPr>
        </p:nvGraphicFramePr>
        <p:xfrm>
          <a:off x="238872" y="1923979"/>
          <a:ext cx="6726396" cy="87046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5805">
                  <a:extLst>
                    <a:ext uri="{9D8B030D-6E8A-4147-A177-3AD203B41FA5}">
                      <a16:colId xmlns:a16="http://schemas.microsoft.com/office/drawing/2014/main" val="3450297539"/>
                    </a:ext>
                  </a:extLst>
                </a:gridCol>
                <a:gridCol w="812232">
                  <a:extLst>
                    <a:ext uri="{9D8B030D-6E8A-4147-A177-3AD203B41FA5}">
                      <a16:colId xmlns:a16="http://schemas.microsoft.com/office/drawing/2014/main" val="676531661"/>
                    </a:ext>
                  </a:extLst>
                </a:gridCol>
                <a:gridCol w="1878676">
                  <a:extLst>
                    <a:ext uri="{9D8B030D-6E8A-4147-A177-3AD203B41FA5}">
                      <a16:colId xmlns:a16="http://schemas.microsoft.com/office/drawing/2014/main" val="257685759"/>
                    </a:ext>
                  </a:extLst>
                </a:gridCol>
                <a:gridCol w="897775">
                  <a:extLst>
                    <a:ext uri="{9D8B030D-6E8A-4147-A177-3AD203B41FA5}">
                      <a16:colId xmlns:a16="http://schemas.microsoft.com/office/drawing/2014/main" val="2786254628"/>
                    </a:ext>
                  </a:extLst>
                </a:gridCol>
                <a:gridCol w="964276">
                  <a:extLst>
                    <a:ext uri="{9D8B030D-6E8A-4147-A177-3AD203B41FA5}">
                      <a16:colId xmlns:a16="http://schemas.microsoft.com/office/drawing/2014/main" val="2740147376"/>
                    </a:ext>
                  </a:extLst>
                </a:gridCol>
                <a:gridCol w="611346">
                  <a:extLst>
                    <a:ext uri="{9D8B030D-6E8A-4147-A177-3AD203B41FA5}">
                      <a16:colId xmlns:a16="http://schemas.microsoft.com/office/drawing/2014/main" val="3173469523"/>
                    </a:ext>
                  </a:extLst>
                </a:gridCol>
                <a:gridCol w="412210">
                  <a:extLst>
                    <a:ext uri="{9D8B030D-6E8A-4147-A177-3AD203B41FA5}">
                      <a16:colId xmlns:a16="http://schemas.microsoft.com/office/drawing/2014/main" val="3555301682"/>
                    </a:ext>
                  </a:extLst>
                </a:gridCol>
                <a:gridCol w="954076">
                  <a:extLst>
                    <a:ext uri="{9D8B030D-6E8A-4147-A177-3AD203B41FA5}">
                      <a16:colId xmlns:a16="http://schemas.microsoft.com/office/drawing/2014/main" val="202912828"/>
                    </a:ext>
                  </a:extLst>
                </a:gridCol>
              </a:tblGrid>
              <a:tr h="2176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순번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dirty="0" err="1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부실점구분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dirty="0" err="1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부실점명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완료일자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발송일자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대상 부서명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부서장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열람률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8033730"/>
                  </a:ext>
                </a:extLst>
              </a:tr>
              <a:tr h="21761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본부부서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연금상품부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2024-04-15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2024-04-15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전행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70%(16/20)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9908261"/>
                  </a:ext>
                </a:extLst>
              </a:tr>
              <a:tr h="21761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본부부서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회계부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2024-01-31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2024-01-31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전행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65%(17/26)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024731"/>
                  </a:ext>
                </a:extLst>
              </a:tr>
              <a:tr h="21761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본부부서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인사부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2024-01-31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u="none" strike="noStrike" dirty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2024-01-31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전행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홍삼륭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20%(5/26)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1323190"/>
                  </a:ext>
                </a:extLst>
              </a:tr>
            </a:tbl>
          </a:graphicData>
        </a:graphic>
      </p:graphicFrame>
      <p:graphicFrame>
        <p:nvGraphicFramePr>
          <p:cNvPr id="28" name="표 27"/>
          <p:cNvGraphicFramePr>
            <a:graphicFrameLocks noGrp="1"/>
          </p:cNvGraphicFramePr>
          <p:nvPr>
            <p:extLst/>
          </p:nvPr>
        </p:nvGraphicFramePr>
        <p:xfrm>
          <a:off x="7207250" y="665523"/>
          <a:ext cx="2606675" cy="1570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열람</a:t>
                      </a:r>
                      <a:r>
                        <a:rPr lang="ko-KR" altLang="en-US" sz="800" kern="12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률</a:t>
                      </a:r>
                      <a:r>
                        <a:rPr lang="en-US" altLang="ko-KR" sz="800" kern="120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열람인원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전체인원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), 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부서구분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본부부서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지점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국외점포 등등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)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로 조건 검색</a:t>
                      </a: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endParaRPr lang="en-US" altLang="ko-KR" sz="800" dirty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</a:tbl>
          </a:graphicData>
        </a:graphic>
      </p:graphicFrame>
      <p:sp>
        <p:nvSpPr>
          <p:cNvPr id="33" name="타원 3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587647" y="2159869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35" name="표 34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MDD-00139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MDD72S43000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감사문서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열람률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상세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대외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기획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기타업무관리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감사문서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열람률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관리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(P168</a:t>
                      </a:r>
                      <a:r>
                        <a:rPr lang="en-US" altLang="ko-KR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:</a:t>
                      </a:r>
                      <a:r>
                        <a:rPr lang="ko-KR" altLang="en-US" sz="1050" kern="1200" noProof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김용근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noProof="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6" name="내용 개체 틀 121"/>
          <p:cNvGraphicFramePr>
            <a:graphicFrameLocks/>
          </p:cNvGraphicFramePr>
          <p:nvPr>
            <p:extLst/>
          </p:nvPr>
        </p:nvGraphicFramePr>
        <p:xfrm>
          <a:off x="266295" y="1563392"/>
          <a:ext cx="6732901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1177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2125504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34206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3332014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열람율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                     %</a:t>
                      </a:r>
                      <a:r>
                        <a:rPr lang="ko-KR" altLang="en-US" sz="700" b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미만 </a:t>
                      </a:r>
                      <a:r>
                        <a:rPr lang="ko-KR" altLang="en-US" sz="700" b="0" u="none" strike="noStrike" dirty="0" err="1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부실점</a:t>
                      </a:r>
                      <a:endParaRPr lang="ko-KR" altLang="en-US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부서구분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9329184"/>
                  </a:ext>
                </a:extLst>
              </a:tr>
            </a:tbl>
          </a:graphicData>
        </a:graphic>
      </p:graphicFrame>
      <p:sp>
        <p:nvSpPr>
          <p:cNvPr id="37" name="직사각형 3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948332" y="1592356"/>
            <a:ext cx="576000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80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39" name="그룹 38"/>
          <p:cNvGrpSpPr/>
          <p:nvPr/>
        </p:nvGrpSpPr>
        <p:grpSpPr>
          <a:xfrm>
            <a:off x="3786616" y="1609002"/>
            <a:ext cx="579711" cy="180915"/>
            <a:chOff x="1179239" y="2959078"/>
            <a:chExt cx="579711" cy="180915"/>
          </a:xfrm>
        </p:grpSpPr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179239" y="2959078"/>
              <a:ext cx="579711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dirty="0" err="1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본부부서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41" name="이등변 삼각형 40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1657007" y="3039900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27" name="타원 2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07661" y="162774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69684630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MDD-00129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MDD75S35000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감사정보지원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·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외규목록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관리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(1/2)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감사정보지원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대외지원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·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외규목록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관리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(P169~P171: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임종국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60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185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262469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1349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내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외규관련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정보를 각 시스템에서 연계하여 조회 가능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(p169~p171)</a:t>
                      </a:r>
                    </a:p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  -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그룹법령통지시스템</a:t>
                      </a:r>
                      <a:r>
                        <a:rPr lang="en-US" altLang="ko-KR" sz="80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비즈플</a:t>
                      </a:r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랫</a:t>
                      </a:r>
                      <a:r>
                        <a:rPr lang="ko-KR" altLang="en-US" sz="80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폼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인터페이스를 통해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외규명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구분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조치계획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담당자정보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등록일자 정보 등록</a:t>
                      </a:r>
                    </a:p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 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- Wise-net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연계하여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내규정보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등록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신규 변경된 것만 가져옴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13493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구분 첫 항목은 전체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내규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외규로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분류되며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내규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외규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선택에 따라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구분값과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세부항목이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변경됨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804846"/>
                  </a:ext>
                </a:extLst>
              </a:tr>
              <a:tr h="1219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ko-KR" altLang="en-US" sz="80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내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외규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구분에 따라 화면에 표시되는 정보가 달라지도록 기능 제공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8679672"/>
                  </a:ext>
                </a:extLst>
              </a:tr>
              <a:tr h="1981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내규 제목 클릭 시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en-US" altLang="ko-KR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WiseNet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해당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결재문서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화면</a:t>
                      </a:r>
                      <a:r>
                        <a:rPr lang="ko-KR" altLang="en-US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baseline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팝업창이</a:t>
                      </a:r>
                      <a:r>
                        <a:rPr lang="ko-KR" altLang="en-US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나타난다</a:t>
                      </a:r>
                      <a:r>
                        <a:rPr lang="en-US" altLang="ko-KR" sz="80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20015610"/>
                  </a:ext>
                </a:extLst>
              </a:tr>
              <a:tr h="1981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외규구분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endParaRPr lang="en-US" altLang="ko-KR" sz="8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1 :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입법예고</a:t>
                      </a:r>
                    </a:p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2 : 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재개정통지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[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기본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]</a:t>
                      </a:r>
                    </a:p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3 : 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해외법령</a:t>
                      </a:r>
                      <a:endParaRPr lang="en-US" altLang="ko-KR" sz="8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3821701"/>
                  </a:ext>
                </a:extLst>
              </a:tr>
            </a:tbl>
          </a:graphicData>
        </a:graphic>
      </p:graphicFrame>
      <p:grpSp>
        <p:nvGrpSpPr>
          <p:cNvPr id="55" name="그룹 54"/>
          <p:cNvGrpSpPr/>
          <p:nvPr/>
        </p:nvGrpSpPr>
        <p:grpSpPr>
          <a:xfrm>
            <a:off x="223723" y="1594541"/>
            <a:ext cx="6732899" cy="337771"/>
            <a:chOff x="355877" y="2160935"/>
            <a:chExt cx="6061214" cy="417554"/>
          </a:xfrm>
        </p:grpSpPr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 err="1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</a:t>
              </a:r>
              <a:r>
                <a:rPr kumimoji="0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dirty="0" err="1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dirty="0" err="1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60" name="양쪽 모서리가 둥근 사각형 59"/>
          <p:cNvSpPr/>
          <p:nvPr/>
        </p:nvSpPr>
        <p:spPr bwMode="auto">
          <a:xfrm>
            <a:off x="230226" y="2068876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800" kern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내</a:t>
            </a:r>
            <a:r>
              <a:rPr kumimoji="0" lang="en-US" altLang="ko-KR" sz="800" kern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800" kern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외규목록 </a:t>
            </a:r>
            <a:r>
              <a:rPr kumimoji="0" lang="ko-KR" altLang="en-US" sz="800" ker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관리</a:t>
            </a:r>
            <a:endParaRPr kumimoji="0" lang="ko-KR" altLang="en-US" sz="80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1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23723" y="1994280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2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30227" y="2254611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3" name="타원 6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69763" y="199427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64" name="내용 개체 틀 121"/>
          <p:cNvGraphicFramePr>
            <a:graphicFrameLocks/>
          </p:cNvGraphicFramePr>
          <p:nvPr>
            <p:extLst/>
          </p:nvPr>
        </p:nvGraphicFramePr>
        <p:xfrm>
          <a:off x="223721" y="2351100"/>
          <a:ext cx="6732901" cy="81641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1177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2125504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34206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3332014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부서명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세부항목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9329184"/>
                  </a:ext>
                </a:extLst>
              </a:tr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제목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7368546"/>
                  </a:ext>
                </a:extLst>
              </a:tr>
            </a:tbl>
          </a:graphicData>
        </a:graphic>
      </p:graphicFrame>
      <p:sp>
        <p:nvSpPr>
          <p:cNvPr id="6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62694" y="2937105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61573" y="2939975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923732" y="2396891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998544" y="2393481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2024-04-30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69" name="그림 6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64132" y="2400731"/>
            <a:ext cx="181098" cy="173224"/>
          </a:xfrm>
          <a:prstGeom prst="rect">
            <a:avLst/>
          </a:prstGeom>
        </p:spPr>
      </p:pic>
      <p:pic>
        <p:nvPicPr>
          <p:cNvPr id="70" name="그림 6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637806" y="2402079"/>
            <a:ext cx="181098" cy="173224"/>
          </a:xfrm>
          <a:prstGeom prst="rect">
            <a:avLst/>
          </a:prstGeom>
        </p:spPr>
      </p:pic>
      <p:cxnSp>
        <p:nvCxnSpPr>
          <p:cNvPr id="71" name="직선 연결선 70"/>
          <p:cNvCxnSpPr/>
          <p:nvPr/>
        </p:nvCxnSpPr>
        <p:spPr bwMode="auto">
          <a:xfrm>
            <a:off x="1802379" y="2487343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700596" y="2392744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12985" y="2392778"/>
            <a:ext cx="934552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74" name="그림 73"/>
          <p:cNvPicPr>
            <a:picLocks noChangeAspect="1"/>
          </p:cNvPicPr>
          <p:nvPr/>
        </p:nvPicPr>
        <p:blipFill rotWithShape="1">
          <a:blip r:embed="rId3"/>
          <a:srcRect r="73540"/>
          <a:stretch/>
        </p:blipFill>
        <p:spPr>
          <a:xfrm>
            <a:off x="4125685" y="2409300"/>
            <a:ext cx="183595" cy="164228"/>
          </a:xfrm>
          <a:prstGeom prst="rect">
            <a:avLst/>
          </a:prstGeom>
        </p:spPr>
      </p:pic>
      <p:sp>
        <p:nvSpPr>
          <p:cNvPr id="75" name="직사각형 7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923732" y="2670115"/>
            <a:ext cx="640400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normalizeH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en-US" altLang="ko-KR" sz="800" b="0" i="0" u="none" strike="noStrike" kern="1200" cap="none" normalizeH="0" noProof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6" name="이등변 삼각형 75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1423323" y="2741744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605252" y="2670115"/>
            <a:ext cx="1213651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normalizeH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8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8" name="이등변 삼각형 77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2694886" y="2741744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700596" y="2667381"/>
            <a:ext cx="1346941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normalizeH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8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0" name="이등변 삼각형 79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4930696" y="2739010"/>
            <a:ext cx="66937" cy="37849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926080" y="2943343"/>
            <a:ext cx="412145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82" name="표 81"/>
          <p:cNvGraphicFramePr>
            <a:graphicFrameLocks noGrp="1"/>
          </p:cNvGraphicFramePr>
          <p:nvPr>
            <p:extLst/>
          </p:nvPr>
        </p:nvGraphicFramePr>
        <p:xfrm>
          <a:off x="275968" y="5040019"/>
          <a:ext cx="6749457" cy="1066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49819">
                  <a:extLst>
                    <a:ext uri="{9D8B030D-6E8A-4147-A177-3AD203B41FA5}">
                      <a16:colId xmlns:a16="http://schemas.microsoft.com/office/drawing/2014/main" val="1713730185"/>
                    </a:ext>
                  </a:extLst>
                </a:gridCol>
                <a:gridCol w="2249819">
                  <a:extLst>
                    <a:ext uri="{9D8B030D-6E8A-4147-A177-3AD203B41FA5}">
                      <a16:colId xmlns:a16="http://schemas.microsoft.com/office/drawing/2014/main" val="2025798044"/>
                    </a:ext>
                  </a:extLst>
                </a:gridCol>
                <a:gridCol w="2249819">
                  <a:extLst>
                    <a:ext uri="{9D8B030D-6E8A-4147-A177-3AD203B41FA5}">
                      <a16:colId xmlns:a16="http://schemas.microsoft.com/office/drawing/2014/main" val="2634835659"/>
                    </a:ext>
                  </a:extLst>
                </a:gridCol>
              </a:tblGrid>
              <a:tr h="17489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화면조회 구분</a:t>
                      </a:r>
                      <a:endParaRPr lang="ko-KR" altLang="en-US" sz="8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외규</a:t>
                      </a:r>
                      <a:endParaRPr lang="en-US" altLang="ko-KR" sz="8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표시 항목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내규</a:t>
                      </a:r>
                      <a:endParaRPr lang="en-US" altLang="ko-KR" sz="8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표시 항목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0512012"/>
                  </a:ext>
                </a:extLst>
              </a:tr>
              <a:tr h="25415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</a:t>
                      </a:r>
                      <a:r>
                        <a:rPr lang="en-US" altLang="ko-KR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외규별 구분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vl="0" defTabSz="914284">
                        <a:spcBef>
                          <a:spcPts val="0"/>
                        </a:spcBef>
                        <a:defRPr/>
                      </a:pPr>
                      <a:r>
                        <a:rPr lang="ko-KR" altLang="en-US" sz="900" spc="-10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</a:t>
                      </a:r>
                      <a:r>
                        <a:rPr lang="en-US" altLang="ko-KR" sz="900" spc="-10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</a:t>
                      </a:r>
                      <a:r>
                        <a:rPr lang="en-US" altLang="ko-KR" sz="900" spc="-100" baseline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900" spc="-10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시행세칙</a:t>
                      </a:r>
                      <a:r>
                        <a:rPr lang="en-US" altLang="ko-KR" sz="900" spc="-10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</a:t>
                      </a:r>
                      <a:r>
                        <a:rPr lang="en-US" altLang="ko-KR" sz="900" spc="-100" baseline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900" spc="-10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규정</a:t>
                      </a:r>
                      <a:r>
                        <a:rPr lang="en-US" altLang="ko-KR" sz="900" spc="-10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900" spc="-10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감독규정</a:t>
                      </a:r>
                      <a:r>
                        <a:rPr lang="en-US" altLang="ko-KR" sz="900" spc="-10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</a:t>
                      </a:r>
                      <a:r>
                        <a:rPr lang="en-US" altLang="ko-KR" sz="900" spc="-100" baseline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900" spc="-10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대통령령</a:t>
                      </a:r>
                      <a:r>
                        <a:rPr lang="en-US" altLang="ko-KR" sz="900" spc="-10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</a:t>
                      </a:r>
                      <a:r>
                        <a:rPr lang="en-US" altLang="ko-KR" sz="900" spc="-100" baseline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900" spc="-10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총리령</a:t>
                      </a:r>
                      <a:endParaRPr lang="ko-KR" altLang="en-US" sz="900" spc="-10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Wise-Net</a:t>
                      </a:r>
                      <a:r>
                        <a:rPr lang="ko-KR" altLang="en-US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에 등록된</a:t>
                      </a:r>
                      <a:r>
                        <a:rPr lang="en-US" altLang="ko-KR" sz="900" b="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900" b="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업무분류코드</a:t>
                      </a:r>
                      <a:endParaRPr lang="en-US" altLang="ko-KR" sz="900" b="0" baseline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en-US" altLang="ko-KR" sz="900" b="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900" b="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파생</a:t>
                      </a:r>
                      <a:r>
                        <a:rPr lang="en-US" altLang="ko-KR" sz="900" b="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900" b="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자금</a:t>
                      </a:r>
                      <a:r>
                        <a:rPr lang="en-US" altLang="ko-KR" sz="900" b="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900" b="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리스크</a:t>
                      </a:r>
                      <a:r>
                        <a:rPr lang="en-US" altLang="ko-KR" sz="900" b="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900" b="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외환</a:t>
                      </a:r>
                      <a:r>
                        <a:rPr lang="en-US" altLang="ko-KR" sz="900" b="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900" b="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무역</a:t>
                      </a:r>
                      <a:r>
                        <a:rPr lang="en-US" altLang="ko-KR" sz="900" b="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), </a:t>
                      </a:r>
                      <a:r>
                        <a:rPr lang="ko-KR" altLang="en-US" sz="900" b="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기업여신 등</a:t>
                      </a:r>
                      <a:r>
                        <a:rPr lang="en-US" altLang="ko-KR" sz="900" b="0" baseline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9337605"/>
                  </a:ext>
                </a:extLst>
              </a:tr>
              <a:tr h="25415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세부항목</a:t>
                      </a:r>
                      <a:endParaRPr lang="ko-KR" altLang="en-US" sz="900" b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84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kern="1200" cap="none" spc="-10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규정</a:t>
                      </a:r>
                      <a:r>
                        <a:rPr kumimoji="1" lang="en-US" altLang="ko-KR" sz="900" b="0" i="0" u="none" strike="noStrike" kern="1200" cap="none" spc="-10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*</a:t>
                      </a:r>
                      <a:r>
                        <a:rPr kumimoji="1" lang="ko-KR" altLang="en-US" sz="900" b="0" i="0" u="none" strike="noStrike" kern="1200" cap="none" spc="-10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지침 개정</a:t>
                      </a:r>
                      <a:r>
                        <a:rPr kumimoji="1" lang="en-US" altLang="ko-KR" sz="900" b="0" i="0" u="none" strike="noStrike" kern="1200" cap="none" spc="-10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900" b="0" i="0" u="none" strike="noStrike" kern="1200" cap="none" spc="-10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법령해석 의뢰</a:t>
                      </a:r>
                      <a:r>
                        <a:rPr kumimoji="1" lang="en-US" altLang="ko-KR" sz="900" b="0" i="0" u="none" strike="noStrike" kern="1200" cap="none" spc="-10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900" b="0" i="0" u="none" strike="noStrike" kern="1200" cap="none" spc="-10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유의문서</a:t>
                      </a:r>
                      <a:r>
                        <a:rPr kumimoji="1" lang="ko-KR" altLang="en-US" sz="900" b="0" i="0" u="none" strike="noStrike" kern="1200" cap="none" spc="-10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발송</a:t>
                      </a:r>
                      <a:endParaRPr kumimoji="1" lang="en-US" altLang="ko-KR" sz="900" b="0" i="0" u="none" strike="noStrike" kern="1200" cap="none" spc="-10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284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0" i="0" u="none" strike="noStrike" kern="1200" cap="none" spc="-10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상품제도</a:t>
                      </a:r>
                      <a:r>
                        <a:rPr kumimoji="1" lang="ko-KR" altLang="en-US" sz="900" b="0" i="0" u="none" strike="noStrike" kern="1200" cap="none" spc="-10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등 </a:t>
                      </a:r>
                      <a:r>
                        <a:rPr kumimoji="1" lang="ko-KR" altLang="en-US" sz="900" b="0" i="0" u="none" strike="noStrike" kern="1200" cap="none" spc="-10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업무반영</a:t>
                      </a:r>
                      <a:r>
                        <a:rPr kumimoji="1" lang="en-US" altLang="ko-KR" sz="900" b="0" i="0" u="none" strike="noStrike" kern="1200" cap="none" spc="-10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900" b="0" i="0" u="none" strike="noStrike" kern="1200" cap="none" spc="-10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기반영</a:t>
                      </a:r>
                      <a:r>
                        <a:rPr kumimoji="1" lang="ko-KR" altLang="en-US" sz="900" b="0" i="0" u="none" strike="noStrike" kern="1200" cap="none" spc="-10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완료</a:t>
                      </a:r>
                      <a:r>
                        <a:rPr kumimoji="1" lang="en-US" altLang="ko-KR" sz="900" b="0" i="0" u="none" strike="noStrike" kern="1200" cap="none" spc="-10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900" b="0" i="0" u="none" strike="noStrike" kern="1200" cap="none" spc="-10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업무해당사항 없음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문서번호</a:t>
                      </a:r>
                      <a:endParaRPr lang="en-US" altLang="ko-KR" sz="9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latinLnBrk="1"/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(Wise-Net</a:t>
                      </a:r>
                      <a:r>
                        <a:rPr lang="ko-KR" altLang="en-US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에 등록된 문서번호 원본</a:t>
                      </a:r>
                      <a:r>
                        <a:rPr lang="en-US" altLang="ko-KR" sz="9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2083875"/>
                  </a:ext>
                </a:extLst>
              </a:tr>
            </a:tbl>
          </a:graphicData>
        </a:graphic>
      </p:graphicFrame>
      <p:sp>
        <p:nvSpPr>
          <p:cNvPr id="83" name="직사각형 82"/>
          <p:cNvSpPr/>
          <p:nvPr/>
        </p:nvSpPr>
        <p:spPr bwMode="auto">
          <a:xfrm>
            <a:off x="222165" y="2625719"/>
            <a:ext cx="6734456" cy="304212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4" name="타원 8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38362" y="259642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86" name="구부러진 연결선 85"/>
          <p:cNvCxnSpPr/>
          <p:nvPr/>
        </p:nvCxnSpPr>
        <p:spPr bwMode="auto">
          <a:xfrm rot="10800000" flipV="1">
            <a:off x="1063806" y="2750686"/>
            <a:ext cx="1758778" cy="555200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88" name="타원 8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38362" y="381822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89" name="그림 88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20395" y="1300804"/>
            <a:ext cx="3154476" cy="878806"/>
          </a:xfrm>
          <a:prstGeom prst="rect">
            <a:avLst/>
          </a:prstGeom>
        </p:spPr>
      </p:pic>
      <p:sp>
        <p:nvSpPr>
          <p:cNvPr id="90" name="직사각형 89"/>
          <p:cNvSpPr/>
          <p:nvPr/>
        </p:nvSpPr>
        <p:spPr bwMode="auto">
          <a:xfrm>
            <a:off x="3420394" y="1282067"/>
            <a:ext cx="3154477" cy="711305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2" name="타원 9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226277" y="145228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40" name="표 39"/>
          <p:cNvGraphicFramePr>
            <a:graphicFrameLocks noGrp="1"/>
          </p:cNvGraphicFramePr>
          <p:nvPr>
            <p:extLst/>
          </p:nvPr>
        </p:nvGraphicFramePr>
        <p:xfrm>
          <a:off x="350365" y="3330508"/>
          <a:ext cx="6230362" cy="7170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8502">
                  <a:extLst>
                    <a:ext uri="{9D8B030D-6E8A-4147-A177-3AD203B41FA5}">
                      <a16:colId xmlns:a16="http://schemas.microsoft.com/office/drawing/2014/main" val="1326489963"/>
                    </a:ext>
                  </a:extLst>
                </a:gridCol>
                <a:gridCol w="520152">
                  <a:extLst>
                    <a:ext uri="{9D8B030D-6E8A-4147-A177-3AD203B41FA5}">
                      <a16:colId xmlns:a16="http://schemas.microsoft.com/office/drawing/2014/main" val="847715262"/>
                    </a:ext>
                  </a:extLst>
                </a:gridCol>
                <a:gridCol w="765142">
                  <a:extLst>
                    <a:ext uri="{9D8B030D-6E8A-4147-A177-3AD203B41FA5}">
                      <a16:colId xmlns:a16="http://schemas.microsoft.com/office/drawing/2014/main" val="2627368803"/>
                    </a:ext>
                  </a:extLst>
                </a:gridCol>
                <a:gridCol w="631396">
                  <a:extLst>
                    <a:ext uri="{9D8B030D-6E8A-4147-A177-3AD203B41FA5}">
                      <a16:colId xmlns:a16="http://schemas.microsoft.com/office/drawing/2014/main" val="3250050868"/>
                    </a:ext>
                  </a:extLst>
                </a:gridCol>
                <a:gridCol w="2302626">
                  <a:extLst>
                    <a:ext uri="{9D8B030D-6E8A-4147-A177-3AD203B41FA5}">
                      <a16:colId xmlns:a16="http://schemas.microsoft.com/office/drawing/2014/main" val="648175218"/>
                    </a:ext>
                  </a:extLst>
                </a:gridCol>
                <a:gridCol w="856211">
                  <a:extLst>
                    <a:ext uri="{9D8B030D-6E8A-4147-A177-3AD203B41FA5}">
                      <a16:colId xmlns:a16="http://schemas.microsoft.com/office/drawing/2014/main" val="291709758"/>
                    </a:ext>
                  </a:extLst>
                </a:gridCol>
                <a:gridCol w="806333">
                  <a:extLst>
                    <a:ext uri="{9D8B030D-6E8A-4147-A177-3AD203B41FA5}">
                      <a16:colId xmlns:a16="http://schemas.microsoft.com/office/drawing/2014/main" val="249527382"/>
                    </a:ext>
                  </a:extLst>
                </a:gridCol>
              </a:tblGrid>
              <a:tr h="149657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No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구분</a:t>
                      </a: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수신일자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유형</a:t>
                      </a: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제목</a:t>
                      </a: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담당자</a:t>
                      </a:r>
                      <a:r>
                        <a:rPr lang="en-US" altLang="ko-KR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/</a:t>
                      </a: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발신명의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문서번호</a:t>
                      </a: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4064262"/>
                  </a:ext>
                </a:extLst>
              </a:tr>
              <a:tr h="189119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내규</a:t>
                      </a: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2023-04-25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규정</a:t>
                      </a: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범죄수익은닉의규제및처벌등에관한</a:t>
                      </a: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벌률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홍길동</a:t>
                      </a: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(1235245)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문서번호</a:t>
                      </a: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ID000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2116603"/>
                  </a:ext>
                </a:extLst>
              </a:tr>
              <a:tr h="189119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내규</a:t>
                      </a: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2023-04-25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지침</a:t>
                      </a: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범죄수익은닉의규제및처벌등에관한</a:t>
                      </a: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벌률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홍길동</a:t>
                      </a: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(1235245)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문서번호</a:t>
                      </a: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ID111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0140552"/>
                  </a:ext>
                </a:extLst>
              </a:tr>
              <a:tr h="189119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내규</a:t>
                      </a: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2023-04-25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메뉴얼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범죄수익은닉의규제및처벌등에관한</a:t>
                      </a: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벌률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홍길동</a:t>
                      </a: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(1235245)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문서번호</a:t>
                      </a: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ID222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95625968"/>
                  </a:ext>
                </a:extLst>
              </a:tr>
            </a:tbl>
          </a:graphicData>
        </a:graphic>
      </p:graphicFrame>
      <p:graphicFrame>
        <p:nvGraphicFramePr>
          <p:cNvPr id="42" name="표 41"/>
          <p:cNvGraphicFramePr>
            <a:graphicFrameLocks noGrp="1"/>
          </p:cNvGraphicFramePr>
          <p:nvPr>
            <p:extLst/>
          </p:nvPr>
        </p:nvGraphicFramePr>
        <p:xfrm>
          <a:off x="368765" y="4128897"/>
          <a:ext cx="6206107" cy="8294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8728">
                  <a:extLst>
                    <a:ext uri="{9D8B030D-6E8A-4147-A177-3AD203B41FA5}">
                      <a16:colId xmlns:a16="http://schemas.microsoft.com/office/drawing/2014/main" val="1326489963"/>
                    </a:ext>
                  </a:extLst>
                </a:gridCol>
                <a:gridCol w="484489">
                  <a:extLst>
                    <a:ext uri="{9D8B030D-6E8A-4147-A177-3AD203B41FA5}">
                      <a16:colId xmlns:a16="http://schemas.microsoft.com/office/drawing/2014/main" val="847715262"/>
                    </a:ext>
                  </a:extLst>
                </a:gridCol>
                <a:gridCol w="656818">
                  <a:extLst>
                    <a:ext uri="{9D8B030D-6E8A-4147-A177-3AD203B41FA5}">
                      <a16:colId xmlns:a16="http://schemas.microsoft.com/office/drawing/2014/main" val="2627368803"/>
                    </a:ext>
                  </a:extLst>
                </a:gridCol>
                <a:gridCol w="579925">
                  <a:extLst>
                    <a:ext uri="{9D8B030D-6E8A-4147-A177-3AD203B41FA5}">
                      <a16:colId xmlns:a16="http://schemas.microsoft.com/office/drawing/2014/main" val="2487537450"/>
                    </a:ext>
                  </a:extLst>
                </a:gridCol>
                <a:gridCol w="517355">
                  <a:extLst>
                    <a:ext uri="{9D8B030D-6E8A-4147-A177-3AD203B41FA5}">
                      <a16:colId xmlns:a16="http://schemas.microsoft.com/office/drawing/2014/main" val="2749760873"/>
                    </a:ext>
                  </a:extLst>
                </a:gridCol>
                <a:gridCol w="939338">
                  <a:extLst>
                    <a:ext uri="{9D8B030D-6E8A-4147-A177-3AD203B41FA5}">
                      <a16:colId xmlns:a16="http://schemas.microsoft.com/office/drawing/2014/main" val="648175218"/>
                    </a:ext>
                  </a:extLst>
                </a:gridCol>
                <a:gridCol w="1828800">
                  <a:extLst>
                    <a:ext uri="{9D8B030D-6E8A-4147-A177-3AD203B41FA5}">
                      <a16:colId xmlns:a16="http://schemas.microsoft.com/office/drawing/2014/main" val="681671010"/>
                    </a:ext>
                  </a:extLst>
                </a:gridCol>
                <a:gridCol w="440327">
                  <a:extLst>
                    <a:ext uri="{9D8B030D-6E8A-4147-A177-3AD203B41FA5}">
                      <a16:colId xmlns:a16="http://schemas.microsoft.com/office/drawing/2014/main" val="249527382"/>
                    </a:ext>
                  </a:extLst>
                </a:gridCol>
                <a:gridCol w="440327">
                  <a:extLst>
                    <a:ext uri="{9D8B030D-6E8A-4147-A177-3AD203B41FA5}">
                      <a16:colId xmlns:a16="http://schemas.microsoft.com/office/drawing/2014/main" val="1913584137"/>
                    </a:ext>
                  </a:extLst>
                </a:gridCol>
              </a:tblGrid>
              <a:tr h="223891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No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구분</a:t>
                      </a: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통지일자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부서명</a:t>
                      </a: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외규구분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법령명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부서조치사항</a:t>
                      </a: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조치직원명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책임자명</a:t>
                      </a:r>
                      <a:endParaRPr lang="ko-KR" altLang="en-US" sz="700" dirty="0" smtClean="0"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4064262"/>
                  </a:ext>
                </a:extLst>
              </a:tr>
              <a:tr h="201865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1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외규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2023-04-25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입법예고</a:t>
                      </a: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범죄수익은닉의규제및처벌등에관한</a:t>
                      </a:r>
                      <a:r>
                        <a:rPr lang="ko-KR" altLang="en-US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벌률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2116603"/>
                  </a:ext>
                </a:extLst>
              </a:tr>
              <a:tr h="201865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2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외규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0140552"/>
                  </a:ext>
                </a:extLst>
              </a:tr>
              <a:tr h="201865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외규</a:t>
                      </a: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95625968"/>
                  </a:ext>
                </a:extLst>
              </a:tr>
            </a:tbl>
          </a:graphicData>
        </a:graphic>
      </p:graphicFrame>
      <p:sp>
        <p:nvSpPr>
          <p:cNvPr id="43" name="타원 4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867993" y="343304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230880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MDD-00130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MDD72S40001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Knowledge 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검색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(1/10)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감사정보지원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정보관리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Knowledge</a:t>
                      </a:r>
                      <a:r>
                        <a:rPr lang="ko-KR" altLang="en-US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검색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(P172: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14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 기간 선택 및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키워드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입력 후 조회</a:t>
                      </a: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0" algn="l" defTabSz="914395" rtl="0" eaLnBrk="1" latinLnBrk="1" hangingPunct="1"/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171450" indent="-171450" algn="l" defTabSz="914395" rtl="0" eaLnBrk="1" latinLnBrk="1" hangingPunct="1">
                        <a:buFontTx/>
                        <a:buChar char="-"/>
                      </a:pP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키워드 미 입력 시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 기간은 현재 날짜 기준 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3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개월 이전까지로 제한</a:t>
                      </a: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171450" indent="-171450" algn="l" defTabSz="914395" rtl="0" eaLnBrk="1" latinLnBrk="1" hangingPunct="1">
                        <a:buFontTx/>
                        <a:buChar char="-"/>
                      </a:pP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키워드 입력 시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 기간 제한없이 조회됨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키워드에 입력된 문구를 가지고 아래 조건에 해당되는 건이 있을 경우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아래 표에 나타나도록 함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조건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)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조치내용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요약 내용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본문내용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r>
                        <a:rPr lang="en-US" altLang="ko-KR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시행일자로 검색</a:t>
                      </a:r>
                      <a:endParaRPr lang="en-US" altLang="ko-KR" sz="800" b="0" baseline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검색된 결과 리스트의 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특정 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항목을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더블 클릭 시 상세정보 팝업 창이 나타난다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상세정보 팝업 창 내역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228600" indent="-228600">
                        <a:buAutoNum type="arabicPeriod"/>
                      </a:pPr>
                      <a:endParaRPr kumimoji="0" lang="en-US" altLang="ko-KR" sz="800" b="0" i="0" u="none" strike="noStrike" kern="0" cap="none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34" name="그룹 33"/>
          <p:cNvGrpSpPr/>
          <p:nvPr/>
        </p:nvGrpSpPr>
        <p:grpSpPr>
          <a:xfrm>
            <a:off x="216414" y="1070813"/>
            <a:ext cx="6732899" cy="337771"/>
            <a:chOff x="355877" y="2160935"/>
            <a:chExt cx="6061214" cy="417554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44" name="양쪽 모서리가 둥근 사각형 43"/>
          <p:cNvSpPr/>
          <p:nvPr/>
        </p:nvSpPr>
        <p:spPr bwMode="auto">
          <a:xfrm>
            <a:off x="222917" y="1545148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00" ker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Knowledge </a:t>
            </a:r>
            <a:r>
              <a:rPr kumimoji="0" lang="ko-KR" altLang="en-US" sz="800" ker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검색</a:t>
            </a:r>
            <a:endParaRPr kumimoji="0" lang="en-US" altLang="ko-KR" sz="800" kern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16414" y="147055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7" name="직사각형 46"/>
          <p:cNvSpPr/>
          <p:nvPr/>
        </p:nvSpPr>
        <p:spPr bwMode="auto">
          <a:xfrm flipV="1">
            <a:off x="5873416" y="2131426"/>
            <a:ext cx="1075897" cy="22836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927295" y="215230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51" name="내용 개체 틀 121"/>
          <p:cNvGraphicFramePr>
            <a:graphicFrameLocks/>
          </p:cNvGraphicFramePr>
          <p:nvPr>
            <p:extLst/>
          </p:nvPr>
        </p:nvGraphicFramePr>
        <p:xfrm>
          <a:off x="216412" y="1827372"/>
          <a:ext cx="6732901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1177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2125504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34206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3332014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키워드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5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55385" y="2147302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54264" y="2150172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916423" y="1873163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991235" y="1869753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2024-04-30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56" name="그림 5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56823" y="1877003"/>
            <a:ext cx="181098" cy="173224"/>
          </a:xfrm>
          <a:prstGeom prst="rect">
            <a:avLst/>
          </a:prstGeom>
        </p:spPr>
      </p:pic>
      <p:pic>
        <p:nvPicPr>
          <p:cNvPr id="57" name="그림 5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630497" y="1878351"/>
            <a:ext cx="181098" cy="173224"/>
          </a:xfrm>
          <a:prstGeom prst="rect">
            <a:avLst/>
          </a:prstGeom>
        </p:spPr>
      </p:pic>
      <p:cxnSp>
        <p:nvCxnSpPr>
          <p:cNvPr id="58" name="직선 연결선 57"/>
          <p:cNvCxnSpPr/>
          <p:nvPr/>
        </p:nvCxnSpPr>
        <p:spPr bwMode="auto">
          <a:xfrm>
            <a:off x="1795070" y="1963615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712611" y="1862559"/>
            <a:ext cx="3168000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normalizeH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미수금</a:t>
            </a:r>
            <a:endParaRPr kumimoji="0" lang="ko-KR" altLang="en-US" sz="9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0" name="직사각형 89"/>
          <p:cNvSpPr/>
          <p:nvPr/>
        </p:nvSpPr>
        <p:spPr bwMode="auto">
          <a:xfrm>
            <a:off x="191221" y="2649408"/>
            <a:ext cx="6796193" cy="3477468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49" name="표 18">
            <a:extLst>
              <a:ext uri="{FF2B5EF4-FFF2-40B4-BE49-F238E27FC236}">
                <a16:creationId xmlns:a16="http://schemas.microsoft.com/office/drawing/2014/main" id="{61E72FEB-D8C4-4EF5-8E0E-66E4B5A482F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81997" y="2747588"/>
          <a:ext cx="6705417" cy="131519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25757">
                  <a:extLst>
                    <a:ext uri="{9D8B030D-6E8A-4147-A177-3AD203B41FA5}">
                      <a16:colId xmlns:a16="http://schemas.microsoft.com/office/drawing/2014/main" val="3889670884"/>
                    </a:ext>
                  </a:extLst>
                </a:gridCol>
                <a:gridCol w="580471">
                  <a:extLst>
                    <a:ext uri="{9D8B030D-6E8A-4147-A177-3AD203B41FA5}">
                      <a16:colId xmlns:a16="http://schemas.microsoft.com/office/drawing/2014/main" val="1965437572"/>
                    </a:ext>
                  </a:extLst>
                </a:gridCol>
                <a:gridCol w="2826328">
                  <a:extLst>
                    <a:ext uri="{9D8B030D-6E8A-4147-A177-3AD203B41FA5}">
                      <a16:colId xmlns:a16="http://schemas.microsoft.com/office/drawing/2014/main" val="1772937807"/>
                    </a:ext>
                  </a:extLst>
                </a:gridCol>
                <a:gridCol w="856211">
                  <a:extLst>
                    <a:ext uri="{9D8B030D-6E8A-4147-A177-3AD203B41FA5}">
                      <a16:colId xmlns:a16="http://schemas.microsoft.com/office/drawing/2014/main" val="1012667762"/>
                    </a:ext>
                  </a:extLst>
                </a:gridCol>
                <a:gridCol w="1005840">
                  <a:extLst>
                    <a:ext uri="{9D8B030D-6E8A-4147-A177-3AD203B41FA5}">
                      <a16:colId xmlns:a16="http://schemas.microsoft.com/office/drawing/2014/main" val="2733843300"/>
                    </a:ext>
                  </a:extLst>
                </a:gridCol>
                <a:gridCol w="910810">
                  <a:extLst>
                    <a:ext uri="{9D8B030D-6E8A-4147-A177-3AD203B41FA5}">
                      <a16:colId xmlns:a16="http://schemas.microsoft.com/office/drawing/2014/main" val="2558804669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pc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</a:t>
                      </a:r>
                      <a:endParaRPr lang="ko-KR" altLang="en-US" sz="700" b="0" spc="0" baseline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pc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구분</a:t>
                      </a:r>
                      <a:endParaRPr lang="ko-KR" altLang="en-US" sz="700" b="0" spc="0" baseline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kern="1200" spc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제목</a:t>
                      </a:r>
                      <a:endParaRPr lang="ko-KR" altLang="en-US" sz="700" b="0" kern="1200" spc="0" baseline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kern="1200" spc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개정일자</a:t>
                      </a:r>
                      <a:endParaRPr lang="ko-KR" altLang="en-US" sz="700" b="0" kern="1200" spc="0" baseline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kern="1200" spc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시행일자</a:t>
                      </a:r>
                      <a:endParaRPr lang="ko-KR" altLang="en-US" sz="700" b="0" kern="1200" spc="0" baseline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kern="1200" spc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등록일자</a:t>
                      </a:r>
                      <a:endParaRPr lang="ko-KR" altLang="en-US" sz="700" b="0" kern="1200" spc="0" baseline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9987027"/>
                  </a:ext>
                </a:extLst>
              </a:tr>
              <a:tr h="23879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pc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spc="0" baseline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pc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</a:t>
                      </a:r>
                      <a:endParaRPr lang="ko-KR" altLang="en-US" sz="700" spc="0" baseline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7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범죄수익은닉의규제및처벌등에관한법률</a:t>
                      </a:r>
                      <a:endParaRPr lang="ko-KR" altLang="en-US" sz="700" b="0" i="0" u="none" strike="noStrike" kern="1200" spc="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spc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2024-06-01</a:t>
                      </a:r>
                      <a:endParaRPr lang="ko-KR" altLang="en-US" sz="700" b="0" i="0" u="none" strike="noStrike" kern="1200" spc="0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spc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2024-07-01</a:t>
                      </a:r>
                      <a:endParaRPr lang="ko-KR" altLang="en-US" sz="700" b="0" i="0" u="none" strike="noStrike" kern="1200" spc="0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spc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2024-06-02</a:t>
                      </a:r>
                      <a:endParaRPr lang="ko-KR" altLang="en-US" sz="700" b="0" i="0" u="none" strike="noStrike" kern="1200" spc="0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1380463"/>
                  </a:ext>
                </a:extLst>
              </a:tr>
              <a:tr h="23879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pc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 spc="0" baseline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pc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시행령</a:t>
                      </a:r>
                      <a:endParaRPr lang="ko-KR" altLang="en-US" sz="700" spc="0" baseline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범죄수익은닉의규제및처벌등에관한법률</a:t>
                      </a:r>
                      <a:endParaRPr lang="ko-KR" altLang="en-US" sz="700" b="0" i="0" u="none" strike="noStrike" kern="1200" spc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spc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2024-06-01</a:t>
                      </a:r>
                      <a:endParaRPr lang="ko-KR" altLang="en-US" sz="700" b="0" i="0" u="none" strike="noStrike" kern="1200" spc="0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spc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2024-07-01</a:t>
                      </a:r>
                      <a:endParaRPr lang="ko-KR" altLang="en-US" sz="700" b="0" i="0" u="none" strike="noStrike" kern="1200" spc="0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spc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2024-06-02</a:t>
                      </a:r>
                      <a:endParaRPr lang="ko-KR" altLang="en-US" sz="700" b="0" i="0" u="none" strike="noStrike" kern="1200" spc="0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35320989"/>
                  </a:ext>
                </a:extLst>
              </a:tr>
              <a:tr h="23879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pc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….</a:t>
                      </a:r>
                      <a:endParaRPr lang="ko-KR" altLang="en-US" sz="700" spc="0" baseline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spc="0" baseline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kern="1200" spc="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kern="1200" spc="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kern="1200" spc="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kern="1200" spc="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2430337"/>
                  </a:ext>
                </a:extLst>
              </a:tr>
              <a:tr h="23879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pc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spc="0" baseline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spc="0" baseline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kern="1200" spc="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kern="1200" spc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kern="1200" spc="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87580422"/>
                  </a:ext>
                </a:extLst>
              </a:tr>
            </a:tbl>
          </a:graphicData>
        </a:graphic>
      </p:graphicFrame>
      <p:sp>
        <p:nvSpPr>
          <p:cNvPr id="65" name="타원 6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297380" y="313866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66" name="구부러진 연결선 65"/>
          <p:cNvCxnSpPr>
            <a:stCxn id="65" idx="6"/>
          </p:cNvCxnSpPr>
          <p:nvPr/>
        </p:nvCxnSpPr>
        <p:spPr bwMode="auto">
          <a:xfrm>
            <a:off x="1434986" y="3218440"/>
            <a:ext cx="1608443" cy="522019"/>
          </a:xfrm>
          <a:prstGeom prst="curvedConnector2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001123" y="3773838"/>
            <a:ext cx="3333461" cy="2636501"/>
          </a:xfrm>
          <a:prstGeom prst="rect">
            <a:avLst/>
          </a:prstGeom>
        </p:spPr>
      </p:pic>
      <p:sp>
        <p:nvSpPr>
          <p:cNvPr id="117" name="타원 11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982129" y="372658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1" name="양쪽 모서리가 둥근 사각형 70"/>
          <p:cNvSpPr/>
          <p:nvPr/>
        </p:nvSpPr>
        <p:spPr bwMode="auto">
          <a:xfrm>
            <a:off x="851076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내규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2" name="양쪽 모서리가 둥근 사각형 71"/>
          <p:cNvSpPr/>
          <p:nvPr/>
        </p:nvSpPr>
        <p:spPr bwMode="auto">
          <a:xfrm>
            <a:off x="150458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감사지적사항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3" name="양쪽 모서리가 둥근 사각형 72"/>
          <p:cNvSpPr/>
          <p:nvPr/>
        </p:nvSpPr>
        <p:spPr bwMode="auto">
          <a:xfrm>
            <a:off x="2158086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감사보고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4" name="양쪽 모서리가 둥근 사각형 73"/>
          <p:cNvSpPr/>
          <p:nvPr/>
        </p:nvSpPr>
        <p:spPr bwMode="auto">
          <a:xfrm>
            <a:off x="281159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 제재</a:t>
            </a:r>
            <a:r>
              <a:rPr kumimoji="0" lang="en-US" altLang="ko-KR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경영유의사항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5" name="양쪽 모서리가 둥근 사각형 74"/>
          <p:cNvSpPr/>
          <p:nvPr/>
        </p:nvSpPr>
        <p:spPr bwMode="auto">
          <a:xfrm>
            <a:off x="197571" y="2453301"/>
            <a:ext cx="612000" cy="196107"/>
          </a:xfrm>
          <a:prstGeom prst="round2SameRect">
            <a:avLst/>
          </a:prstGeom>
          <a:solidFill>
            <a:schemeClr val="bg2">
              <a:lumMod val="75000"/>
            </a:schemeClr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endParaRPr kumimoji="0" lang="en-US" altLang="ko-KR" sz="500" dirty="0">
              <a:solidFill>
                <a:schemeClr val="bg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500" dirty="0" err="1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외규</a:t>
            </a:r>
            <a:r>
              <a:rPr kumimoji="0" lang="en-US" altLang="ko-KR" sz="500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500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법령</a:t>
            </a:r>
            <a:r>
              <a:rPr kumimoji="0" lang="en-US" altLang="ko-KR" sz="500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500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시행령</a:t>
            </a:r>
            <a:r>
              <a:rPr kumimoji="0" lang="en-US" altLang="ko-KR" sz="500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500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</a:t>
            </a:r>
            <a:r>
              <a:rPr kumimoji="0" lang="ko-KR" altLang="en-US" sz="500" dirty="0" err="1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독규정</a:t>
            </a:r>
            <a:r>
              <a:rPr kumimoji="0" lang="en-US" altLang="ko-KR" sz="500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</a:p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endParaRPr kumimoji="0" lang="ko-KR" altLang="en-US" sz="500" dirty="0">
              <a:solidFill>
                <a:schemeClr val="bg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6" name="양쪽 모서리가 둥근 사각형 75"/>
          <p:cNvSpPr/>
          <p:nvPr/>
        </p:nvSpPr>
        <p:spPr bwMode="auto">
          <a:xfrm>
            <a:off x="3465096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 </a:t>
            </a:r>
            <a:r>
              <a:rPr kumimoji="0" lang="en-US" altLang="ko-KR" sz="7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DART </a:t>
            </a:r>
            <a:r>
              <a:rPr kumimoji="0" lang="ko-KR" altLang="en-US" sz="700" kern="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공시자료</a:t>
            </a:r>
            <a:endParaRPr kumimoji="0" lang="en-US" altLang="ko-KR" sz="700" kern="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7" name="양쪽 모서리가 둥근 사각형 76"/>
          <p:cNvSpPr/>
          <p:nvPr/>
        </p:nvSpPr>
        <p:spPr bwMode="auto">
          <a:xfrm>
            <a:off x="411860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법령해석</a:t>
            </a:r>
            <a:r>
              <a:rPr kumimoji="0" lang="en-US" altLang="ko-KR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비조치의견서 </a:t>
            </a:r>
            <a:r>
              <a:rPr kumimoji="0" lang="ko-KR" altLang="en-US" sz="70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회신사례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8" name="양쪽 모서리가 둥근 사각형 77"/>
          <p:cNvSpPr/>
          <p:nvPr/>
        </p:nvSpPr>
        <p:spPr bwMode="auto">
          <a:xfrm>
            <a:off x="5425611" y="2476214"/>
            <a:ext cx="612000" cy="196107"/>
          </a:xfrm>
          <a:prstGeom prst="round2SameRect">
            <a:avLst/>
          </a:prstGeom>
          <a:noFill/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/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금융위원회 보도자료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9" name="양쪽 모서리가 둥근 사각형 78"/>
          <p:cNvSpPr/>
          <p:nvPr/>
        </p:nvSpPr>
        <p:spPr bwMode="auto">
          <a:xfrm>
            <a:off x="4772106" y="246619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네이버경제</a:t>
            </a:r>
            <a:endParaRPr kumimoji="0" lang="en-US" altLang="ko-KR" sz="700" dirty="0" smtClean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en-US" altLang="ko-KR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</a:t>
            </a:r>
            <a:r>
              <a:rPr kumimoji="0" lang="en-US" altLang="ko-KR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뉴스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0" name="양쪽 모서리가 둥근 사각형 79"/>
          <p:cNvSpPr/>
          <p:nvPr/>
        </p:nvSpPr>
        <p:spPr bwMode="auto">
          <a:xfrm>
            <a:off x="6079114" y="2453300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금융위</a:t>
            </a:r>
            <a:r>
              <a:rPr kumimoji="0" lang="en-US" altLang="ko-KR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증선위의결정보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5" name="직사각형 84"/>
          <p:cNvSpPr/>
          <p:nvPr/>
        </p:nvSpPr>
        <p:spPr bwMode="auto">
          <a:xfrm flipV="1">
            <a:off x="164673" y="2442038"/>
            <a:ext cx="684000" cy="228049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7" name="타원 8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38362" y="259642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371350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MDD-00130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MDD72S40002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Knowledge 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검색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(2/10)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감사정보지원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정보관리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Knowledge</a:t>
                      </a:r>
                      <a:r>
                        <a:rPr lang="ko-KR" altLang="en-US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검색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(P172: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34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 기간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키워드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입력 후 조회</a:t>
                      </a:r>
                    </a:p>
                    <a:p>
                      <a:pPr marL="0" algn="l" defTabSz="914395" rtl="0" eaLnBrk="1" latinLnBrk="1" hangingPunct="1"/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0" algn="l" defTabSz="914395" rtl="0" eaLnBrk="1" latinLnBrk="1" hangingPunct="1"/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키워드를 무조건 입력해야 함</a:t>
                      </a:r>
                      <a:endParaRPr lang="ko-KR" altLang="en-US" sz="8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내규 정보 탭이 선택하면 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키워드를 </a:t>
                      </a:r>
                      <a:r>
                        <a:rPr lang="en-US" altLang="ko-KR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ONE KB 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사이트에 전달 키워드 검색 결과 목록이 팝업 창으로</a:t>
                      </a:r>
                      <a:r>
                        <a:rPr lang="en-US" altLang="ko-KR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나타난다</a:t>
                      </a:r>
                      <a:r>
                        <a:rPr lang="en-US" altLang="ko-KR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endParaRPr kumimoji="0" lang="en-US" altLang="ko-KR" sz="800" b="0" i="0" u="none" strike="noStrike" kern="0" cap="none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34" name="그룹 33"/>
          <p:cNvGrpSpPr/>
          <p:nvPr/>
        </p:nvGrpSpPr>
        <p:grpSpPr>
          <a:xfrm>
            <a:off x="216414" y="1070813"/>
            <a:ext cx="6732899" cy="337771"/>
            <a:chOff x="355877" y="2160935"/>
            <a:chExt cx="6061214" cy="417554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44" name="양쪽 모서리가 둥근 사각형 43"/>
          <p:cNvSpPr/>
          <p:nvPr/>
        </p:nvSpPr>
        <p:spPr bwMode="auto">
          <a:xfrm>
            <a:off x="222917" y="1545148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00" ker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Knowledge </a:t>
            </a:r>
            <a:r>
              <a:rPr kumimoji="0" lang="ko-KR" altLang="en-US" sz="800" ker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검색</a:t>
            </a:r>
            <a:endParaRPr kumimoji="0" lang="en-US" altLang="ko-KR" sz="800" kern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16414" y="147055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7" name="직사각형 46"/>
          <p:cNvSpPr/>
          <p:nvPr/>
        </p:nvSpPr>
        <p:spPr bwMode="auto">
          <a:xfrm flipV="1">
            <a:off x="5873416" y="2131426"/>
            <a:ext cx="1075897" cy="22836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927295" y="215230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55385" y="2147302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54264" y="2150172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0" name="직사각형 89"/>
          <p:cNvSpPr/>
          <p:nvPr/>
        </p:nvSpPr>
        <p:spPr bwMode="auto">
          <a:xfrm>
            <a:off x="191221" y="2649408"/>
            <a:ext cx="6796193" cy="3477468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8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70" name="내용 개체 틀 121"/>
          <p:cNvGraphicFramePr>
            <a:graphicFrameLocks/>
          </p:cNvGraphicFramePr>
          <p:nvPr>
            <p:extLst/>
          </p:nvPr>
        </p:nvGraphicFramePr>
        <p:xfrm>
          <a:off x="216412" y="1827372"/>
          <a:ext cx="6732901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1177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2125504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34206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3332014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키워드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71" name="직사각형 7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916423" y="1873163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991235" y="1869753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2024-04-30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73" name="그림 7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56823" y="1877003"/>
            <a:ext cx="181098" cy="173224"/>
          </a:xfrm>
          <a:prstGeom prst="rect">
            <a:avLst/>
          </a:prstGeom>
        </p:spPr>
      </p:pic>
      <p:pic>
        <p:nvPicPr>
          <p:cNvPr id="74" name="그림 7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630497" y="1878351"/>
            <a:ext cx="181098" cy="173224"/>
          </a:xfrm>
          <a:prstGeom prst="rect">
            <a:avLst/>
          </a:prstGeom>
        </p:spPr>
      </p:pic>
      <p:cxnSp>
        <p:nvCxnSpPr>
          <p:cNvPr id="75" name="직선 연결선 74"/>
          <p:cNvCxnSpPr/>
          <p:nvPr/>
        </p:nvCxnSpPr>
        <p:spPr bwMode="auto">
          <a:xfrm>
            <a:off x="1795070" y="1963615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712611" y="1862559"/>
            <a:ext cx="3168000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감사업무지침</a:t>
            </a:r>
            <a:endParaRPr kumimoji="0" lang="ko-KR" altLang="en-US" sz="9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92905" y="3026114"/>
            <a:ext cx="5311931" cy="2992337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35" name="양쪽 모서리가 둥근 사각형 34"/>
          <p:cNvSpPr/>
          <p:nvPr/>
        </p:nvSpPr>
        <p:spPr bwMode="auto">
          <a:xfrm>
            <a:off x="851076" y="2453301"/>
            <a:ext cx="612000" cy="196107"/>
          </a:xfrm>
          <a:prstGeom prst="round2SameRect">
            <a:avLst/>
          </a:prstGeom>
          <a:solidFill>
            <a:srgbClr val="B4B4B4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bg1">
                    <a:lumMod val="95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내규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95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7" name="양쪽 모서리가 둥근 사각형 36"/>
          <p:cNvSpPr/>
          <p:nvPr/>
        </p:nvSpPr>
        <p:spPr bwMode="auto">
          <a:xfrm>
            <a:off x="150458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감사지적사항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8" name="양쪽 모서리가 둥근 사각형 37"/>
          <p:cNvSpPr/>
          <p:nvPr/>
        </p:nvSpPr>
        <p:spPr bwMode="auto">
          <a:xfrm>
            <a:off x="2158086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감사보고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9" name="양쪽 모서리가 둥근 사각형 38"/>
          <p:cNvSpPr/>
          <p:nvPr/>
        </p:nvSpPr>
        <p:spPr bwMode="auto">
          <a:xfrm>
            <a:off x="281159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 제재</a:t>
            </a:r>
            <a:r>
              <a:rPr kumimoji="0" lang="en-US" altLang="ko-KR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경영유의사항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0" name="양쪽 모서리가 둥근 사각형 39"/>
          <p:cNvSpPr/>
          <p:nvPr/>
        </p:nvSpPr>
        <p:spPr bwMode="auto">
          <a:xfrm>
            <a:off x="19757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endParaRPr kumimoji="0" lang="en-US" altLang="ko-KR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외규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법령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시행령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</a:t>
            </a:r>
            <a:r>
              <a:rPr kumimoji="0" lang="ko-KR" altLang="en-US" sz="7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독규정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</a:p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endParaRPr kumimoji="0" lang="ko-KR" altLang="en-US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1" name="양쪽 모서리가 둥근 사각형 40"/>
          <p:cNvSpPr/>
          <p:nvPr/>
        </p:nvSpPr>
        <p:spPr bwMode="auto">
          <a:xfrm>
            <a:off x="3465096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 </a:t>
            </a:r>
            <a:r>
              <a:rPr kumimoji="0" lang="en-US" altLang="ko-KR" sz="7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DART </a:t>
            </a:r>
            <a:r>
              <a:rPr kumimoji="0" lang="ko-KR" altLang="en-US" sz="700" kern="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공시자료</a:t>
            </a:r>
            <a:endParaRPr kumimoji="0" lang="en-US" altLang="ko-KR" sz="700" kern="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2" name="양쪽 모서리가 둥근 사각형 41"/>
          <p:cNvSpPr/>
          <p:nvPr/>
        </p:nvSpPr>
        <p:spPr bwMode="auto">
          <a:xfrm>
            <a:off x="411860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법령해석</a:t>
            </a:r>
            <a:r>
              <a:rPr kumimoji="0" lang="en-US" altLang="ko-KR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비조치의견서 </a:t>
            </a:r>
            <a:r>
              <a:rPr kumimoji="0" lang="ko-KR" altLang="en-US" sz="70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회신사례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9" name="양쪽 모서리가 둥근 사각형 48"/>
          <p:cNvSpPr/>
          <p:nvPr/>
        </p:nvSpPr>
        <p:spPr bwMode="auto">
          <a:xfrm>
            <a:off x="5425611" y="2476214"/>
            <a:ext cx="612000" cy="196107"/>
          </a:xfrm>
          <a:prstGeom prst="round2SameRect">
            <a:avLst/>
          </a:prstGeom>
          <a:noFill/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/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금융위원회 보도자료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4" name="양쪽 모서리가 둥근 사각형 53"/>
          <p:cNvSpPr/>
          <p:nvPr/>
        </p:nvSpPr>
        <p:spPr bwMode="auto">
          <a:xfrm>
            <a:off x="4772106" y="246619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네이버경제</a:t>
            </a:r>
            <a:endParaRPr kumimoji="0" lang="en-US" altLang="ko-KR" sz="700" dirty="0" smtClean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en-US" altLang="ko-KR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</a:t>
            </a:r>
            <a:r>
              <a:rPr kumimoji="0" lang="en-US" altLang="ko-KR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뉴스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5" name="양쪽 모서리가 둥근 사각형 54"/>
          <p:cNvSpPr/>
          <p:nvPr/>
        </p:nvSpPr>
        <p:spPr bwMode="auto">
          <a:xfrm>
            <a:off x="6079114" y="2453300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금융위</a:t>
            </a:r>
            <a:r>
              <a:rPr kumimoji="0" lang="en-US" altLang="ko-KR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증선위의결정보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6" name="직사각형 55"/>
          <p:cNvSpPr/>
          <p:nvPr/>
        </p:nvSpPr>
        <p:spPr bwMode="auto">
          <a:xfrm flipV="1">
            <a:off x="820579" y="2450219"/>
            <a:ext cx="684000" cy="228049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862262" y="259642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951094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MDD-00130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MDD72S40003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Knowledge 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검색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(3/10)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감사정보지원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정보관리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Knowledge</a:t>
                      </a:r>
                      <a:r>
                        <a:rPr lang="ko-KR" altLang="en-US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검색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(P172: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2162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 기간 선택 및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키워드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입력 후 조회</a:t>
                      </a: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0" algn="l" defTabSz="914395" rtl="0" eaLnBrk="1" latinLnBrk="1" hangingPunct="1"/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171450" indent="-171450" algn="l" defTabSz="914395" rtl="0" eaLnBrk="1" latinLnBrk="1" hangingPunct="1">
                        <a:buFontTx/>
                        <a:buChar char="-"/>
                      </a:pP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키워드 미 입력 시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 기간은 현재 날짜 기준 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3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개월 이전까지로 제한</a:t>
                      </a: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171450" indent="-171450" algn="l" defTabSz="914395" rtl="0" eaLnBrk="1" latinLnBrk="1" hangingPunct="1">
                        <a:buFontTx/>
                        <a:buChar char="-"/>
                      </a:pP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키워드 입력 시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 기간 제한없이 조회됨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키워드에 입력된 문구를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가지고 아래 조건에 해당되는 건이 있을 경우</a:t>
                      </a:r>
                      <a:r>
                        <a:rPr lang="en-US" altLang="ko-KR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아래 표에 나타나도록 함</a:t>
                      </a:r>
                      <a:endParaRPr lang="en-US" altLang="ko-KR" sz="800" b="0" baseline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en-US" altLang="ko-KR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조건</a:t>
                      </a:r>
                      <a:r>
                        <a:rPr lang="en-US" altLang="ko-KR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1) 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감사지적사항 등록 시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지적감사역이 등록한 키워드</a:t>
                      </a:r>
                      <a:endParaRPr lang="en-US" altLang="ko-KR" sz="8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조건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2) </a:t>
                      </a:r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지적사항의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제목</a:t>
                      </a:r>
                      <a:endParaRPr lang="en-US" altLang="ko-KR" sz="8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조건</a:t>
                      </a: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3) </a:t>
                      </a:r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지적사항의</a:t>
                      </a:r>
                      <a:r>
                        <a:rPr lang="ko-KR" altLang="en-US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본문내용</a:t>
                      </a:r>
                      <a:endParaRPr lang="en-US" altLang="ko-KR" sz="8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latinLnBrk="1"/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r>
                        <a:rPr lang="en-US" altLang="ko-KR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지적년월일로 검색</a:t>
                      </a:r>
                      <a:endParaRPr lang="en-US" altLang="ko-KR" sz="800" b="0" baseline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검색된 결과 리스트의 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특정 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항목을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더블 클릭 시 상세정보 팝업 창이 나타난다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상세정보 팝업 창 내역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상세정보 팝업 창 내역</a:t>
                      </a:r>
                    </a:p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</a:tbl>
          </a:graphicData>
        </a:graphic>
      </p:graphicFrame>
      <p:grpSp>
        <p:nvGrpSpPr>
          <p:cNvPr id="34" name="그룹 33"/>
          <p:cNvGrpSpPr/>
          <p:nvPr/>
        </p:nvGrpSpPr>
        <p:grpSpPr>
          <a:xfrm>
            <a:off x="216414" y="1070813"/>
            <a:ext cx="6732899" cy="337771"/>
            <a:chOff x="355877" y="2160935"/>
            <a:chExt cx="6061214" cy="417554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44" name="양쪽 모서리가 둥근 사각형 43"/>
          <p:cNvSpPr/>
          <p:nvPr/>
        </p:nvSpPr>
        <p:spPr bwMode="auto">
          <a:xfrm>
            <a:off x="222917" y="1545148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00" ker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Knowledge </a:t>
            </a:r>
            <a:r>
              <a:rPr kumimoji="0" lang="ko-KR" altLang="en-US" sz="800" ker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검색</a:t>
            </a:r>
            <a:endParaRPr kumimoji="0" lang="en-US" altLang="ko-KR" sz="800" kern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16414" y="147055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7" name="직사각형 46"/>
          <p:cNvSpPr/>
          <p:nvPr/>
        </p:nvSpPr>
        <p:spPr bwMode="auto">
          <a:xfrm flipV="1">
            <a:off x="5873416" y="2131426"/>
            <a:ext cx="1075897" cy="22836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927295" y="215230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55385" y="2147302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54264" y="2150172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0" name="직사각형 89"/>
          <p:cNvSpPr/>
          <p:nvPr/>
        </p:nvSpPr>
        <p:spPr bwMode="auto">
          <a:xfrm>
            <a:off x="191221" y="2649408"/>
            <a:ext cx="6796193" cy="3477468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5" name="직사각형 94"/>
          <p:cNvSpPr/>
          <p:nvPr/>
        </p:nvSpPr>
        <p:spPr bwMode="auto">
          <a:xfrm flipV="1">
            <a:off x="251786" y="2708910"/>
            <a:ext cx="6663598" cy="3417966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37" name="표 36"/>
          <p:cNvGraphicFramePr>
            <a:graphicFrameLocks noGrp="1"/>
          </p:cNvGraphicFramePr>
          <p:nvPr>
            <p:extLst/>
          </p:nvPr>
        </p:nvGraphicFramePr>
        <p:xfrm>
          <a:off x="264141" y="2738570"/>
          <a:ext cx="6634617" cy="84144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0053">
                  <a:extLst>
                    <a:ext uri="{9D8B030D-6E8A-4147-A177-3AD203B41FA5}">
                      <a16:colId xmlns:a16="http://schemas.microsoft.com/office/drawing/2014/main" val="3450297539"/>
                    </a:ext>
                  </a:extLst>
                </a:gridCol>
                <a:gridCol w="3574621">
                  <a:extLst>
                    <a:ext uri="{9D8B030D-6E8A-4147-A177-3AD203B41FA5}">
                      <a16:colId xmlns:a16="http://schemas.microsoft.com/office/drawing/2014/main" val="676531661"/>
                    </a:ext>
                  </a:extLst>
                </a:gridCol>
                <a:gridCol w="1073865">
                  <a:extLst>
                    <a:ext uri="{9D8B030D-6E8A-4147-A177-3AD203B41FA5}">
                      <a16:colId xmlns:a16="http://schemas.microsoft.com/office/drawing/2014/main" val="257685759"/>
                    </a:ext>
                  </a:extLst>
                </a:gridCol>
                <a:gridCol w="939491">
                  <a:extLst>
                    <a:ext uri="{9D8B030D-6E8A-4147-A177-3AD203B41FA5}">
                      <a16:colId xmlns:a16="http://schemas.microsoft.com/office/drawing/2014/main" val="2740147376"/>
                    </a:ext>
                  </a:extLst>
                </a:gridCol>
                <a:gridCol w="776587">
                  <a:extLst>
                    <a:ext uri="{9D8B030D-6E8A-4147-A177-3AD203B41FA5}">
                      <a16:colId xmlns:a16="http://schemas.microsoft.com/office/drawing/2014/main" val="3173469523"/>
                    </a:ext>
                  </a:extLst>
                </a:gridCol>
              </a:tblGrid>
              <a:tr h="2176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순번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지적제목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작성부서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등록일자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8033730"/>
                  </a:ext>
                </a:extLst>
              </a:tr>
              <a:tr h="21761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kumimoji="0" lang="ko-KR" altLang="en-US" sz="800" u="sng" kern="0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장외파생상품 미수금 사후관리 강화</a:t>
                      </a:r>
                      <a:endParaRPr lang="ko-KR" altLang="en-US" sz="700" b="0" i="0" u="sng" strike="noStrike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영업감사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2023-01-23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개선사항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9908261"/>
                  </a:ext>
                </a:extLst>
              </a:tr>
              <a:tr h="19285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기업 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수신계좌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미수금 업무처리 불철저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2022-04-12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권고사항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0247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6698630"/>
                  </a:ext>
                </a:extLst>
              </a:tr>
            </a:tbl>
          </a:graphicData>
        </a:graphic>
      </p:graphicFrame>
      <p:cxnSp>
        <p:nvCxnSpPr>
          <p:cNvPr id="39" name="구부러진 연결선 38"/>
          <p:cNvCxnSpPr>
            <a:stCxn id="62" idx="6"/>
          </p:cNvCxnSpPr>
          <p:nvPr/>
        </p:nvCxnSpPr>
        <p:spPr bwMode="auto">
          <a:xfrm>
            <a:off x="1983562" y="3057678"/>
            <a:ext cx="36025" cy="534414"/>
          </a:xfrm>
          <a:prstGeom prst="curvedConnector2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62" name="타원 6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845956" y="297790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3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68" name="내용 개체 틀 121"/>
          <p:cNvGraphicFramePr>
            <a:graphicFrameLocks/>
          </p:cNvGraphicFramePr>
          <p:nvPr>
            <p:extLst/>
          </p:nvPr>
        </p:nvGraphicFramePr>
        <p:xfrm>
          <a:off x="216412" y="1827372"/>
          <a:ext cx="6732901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1177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2125504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34206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3332014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키워드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69" name="직사각형 6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916423" y="1873163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991235" y="1869753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2024-04-30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71" name="그림 7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56823" y="1877003"/>
            <a:ext cx="181098" cy="173224"/>
          </a:xfrm>
          <a:prstGeom prst="rect">
            <a:avLst/>
          </a:prstGeom>
        </p:spPr>
      </p:pic>
      <p:pic>
        <p:nvPicPr>
          <p:cNvPr id="72" name="그림 7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630497" y="1878351"/>
            <a:ext cx="181098" cy="173224"/>
          </a:xfrm>
          <a:prstGeom prst="rect">
            <a:avLst/>
          </a:prstGeom>
        </p:spPr>
      </p:pic>
      <p:cxnSp>
        <p:nvCxnSpPr>
          <p:cNvPr id="73" name="직선 연결선 72"/>
          <p:cNvCxnSpPr/>
          <p:nvPr/>
        </p:nvCxnSpPr>
        <p:spPr bwMode="auto">
          <a:xfrm>
            <a:off x="1795070" y="1963615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712611" y="1862559"/>
            <a:ext cx="3168000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normalizeH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미수금</a:t>
            </a:r>
            <a:endParaRPr kumimoji="0" lang="ko-KR" altLang="en-US" sz="9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0" name="그림 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528887" y="3685167"/>
            <a:ext cx="2985377" cy="2049248"/>
          </a:xfrm>
          <a:prstGeom prst="rect">
            <a:avLst/>
          </a:prstGeom>
        </p:spPr>
      </p:pic>
      <p:pic>
        <p:nvPicPr>
          <p:cNvPr id="13" name="그림 1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5502" y="3685167"/>
            <a:ext cx="2753549" cy="2011085"/>
          </a:xfrm>
          <a:prstGeom prst="rect">
            <a:avLst/>
          </a:prstGeom>
        </p:spPr>
      </p:pic>
      <p:sp>
        <p:nvSpPr>
          <p:cNvPr id="14" name="TextBox 13"/>
          <p:cNvSpPr txBox="1"/>
          <p:nvPr/>
        </p:nvSpPr>
        <p:spPr>
          <a:xfrm>
            <a:off x="1487940" y="5696252"/>
            <a:ext cx="67839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5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영업감사</a:t>
            </a:r>
            <a:endParaRPr lang="ko-KR" altLang="en-US" sz="1050" dirty="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6" name="TextBox 95"/>
          <p:cNvSpPr txBox="1"/>
          <p:nvPr/>
        </p:nvSpPr>
        <p:spPr>
          <a:xfrm>
            <a:off x="4714438" y="5735107"/>
            <a:ext cx="659155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5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본부감사</a:t>
            </a:r>
            <a:endParaRPr lang="ko-KR" altLang="en-US" sz="1050" dirty="0" smtClean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422151" y="4211638"/>
            <a:ext cx="501969" cy="90000"/>
          </a:xfrm>
          <a:prstGeom prst="rect">
            <a:avLst/>
          </a:prstGeom>
          <a:solidFill>
            <a:srgbClr val="EDEDED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감정평가</a:t>
            </a:r>
            <a:endParaRPr kumimoji="0" lang="ko-KR" altLang="en-US" sz="6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8" name="이등변 삼각형 47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5852463" y="4233461"/>
            <a:ext cx="52023" cy="45719"/>
          </a:xfrm>
          <a:prstGeom prst="triangle">
            <a:avLst/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9" name="양쪽 모서리가 둥근 사각형 48"/>
          <p:cNvSpPr/>
          <p:nvPr/>
        </p:nvSpPr>
        <p:spPr bwMode="auto">
          <a:xfrm>
            <a:off x="844726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내규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1" name="양쪽 모서리가 둥근 사각형 50"/>
          <p:cNvSpPr/>
          <p:nvPr/>
        </p:nvSpPr>
        <p:spPr bwMode="auto">
          <a:xfrm>
            <a:off x="1498231" y="2453301"/>
            <a:ext cx="612000" cy="196107"/>
          </a:xfrm>
          <a:prstGeom prst="round2SameRect">
            <a:avLst/>
          </a:prstGeom>
          <a:solidFill>
            <a:schemeClr val="bg2">
              <a:lumMod val="75000"/>
            </a:schemeClr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감사지적사항</a:t>
            </a:r>
          </a:p>
        </p:txBody>
      </p:sp>
      <p:sp>
        <p:nvSpPr>
          <p:cNvPr id="54" name="양쪽 모서리가 둥근 사각형 53"/>
          <p:cNvSpPr/>
          <p:nvPr/>
        </p:nvSpPr>
        <p:spPr bwMode="auto">
          <a:xfrm>
            <a:off x="2151736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감사보고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5" name="양쪽 모서리가 둥근 사각형 54"/>
          <p:cNvSpPr/>
          <p:nvPr/>
        </p:nvSpPr>
        <p:spPr bwMode="auto">
          <a:xfrm>
            <a:off x="280524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 제재</a:t>
            </a:r>
            <a:r>
              <a:rPr kumimoji="0" lang="en-US" altLang="ko-KR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경영유의사항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6" name="양쪽 모서리가 둥근 사각형 55"/>
          <p:cNvSpPr/>
          <p:nvPr/>
        </p:nvSpPr>
        <p:spPr bwMode="auto">
          <a:xfrm>
            <a:off x="19122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endParaRPr kumimoji="0" lang="en-US" altLang="ko-KR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외규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법령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시행령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</a:t>
            </a:r>
            <a:r>
              <a:rPr kumimoji="0" lang="ko-KR" altLang="en-US" sz="7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독규정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</a:p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endParaRPr kumimoji="0" lang="ko-KR" altLang="en-US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7" name="양쪽 모서리가 둥근 사각형 56"/>
          <p:cNvSpPr/>
          <p:nvPr/>
        </p:nvSpPr>
        <p:spPr bwMode="auto">
          <a:xfrm>
            <a:off x="3458746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 </a:t>
            </a:r>
            <a:r>
              <a:rPr kumimoji="0" lang="en-US" altLang="ko-KR" sz="7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DART </a:t>
            </a:r>
            <a:r>
              <a:rPr kumimoji="0" lang="ko-KR" altLang="en-US" sz="700" kern="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공시자료</a:t>
            </a:r>
            <a:endParaRPr kumimoji="0" lang="en-US" altLang="ko-KR" sz="700" kern="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8" name="양쪽 모서리가 둥근 사각형 57"/>
          <p:cNvSpPr/>
          <p:nvPr/>
        </p:nvSpPr>
        <p:spPr bwMode="auto">
          <a:xfrm>
            <a:off x="411225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법령해석</a:t>
            </a:r>
            <a:r>
              <a:rPr kumimoji="0" lang="en-US" altLang="ko-KR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비조치의견서 </a:t>
            </a:r>
            <a:r>
              <a:rPr kumimoji="0" lang="ko-KR" altLang="en-US" sz="70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회신사례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9" name="양쪽 모서리가 둥근 사각형 58"/>
          <p:cNvSpPr/>
          <p:nvPr/>
        </p:nvSpPr>
        <p:spPr bwMode="auto">
          <a:xfrm>
            <a:off x="5419261" y="2476214"/>
            <a:ext cx="612000" cy="196107"/>
          </a:xfrm>
          <a:prstGeom prst="round2SameRect">
            <a:avLst/>
          </a:prstGeom>
          <a:noFill/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/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금융위원회 보도자료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0" name="양쪽 모서리가 둥근 사각형 59"/>
          <p:cNvSpPr/>
          <p:nvPr/>
        </p:nvSpPr>
        <p:spPr bwMode="auto">
          <a:xfrm>
            <a:off x="4765756" y="246619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네이버경제</a:t>
            </a:r>
            <a:endParaRPr kumimoji="0" lang="en-US" altLang="ko-KR" sz="700" dirty="0" smtClean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en-US" altLang="ko-KR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</a:t>
            </a:r>
            <a:r>
              <a:rPr kumimoji="0" lang="en-US" altLang="ko-KR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뉴스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1" name="양쪽 모서리가 둥근 사각형 60"/>
          <p:cNvSpPr/>
          <p:nvPr/>
        </p:nvSpPr>
        <p:spPr bwMode="auto">
          <a:xfrm>
            <a:off x="6072764" y="2453300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금융위</a:t>
            </a:r>
            <a:r>
              <a:rPr kumimoji="0" lang="en-US" altLang="ko-KR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증선위의결정보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4" name="직사각형 63"/>
          <p:cNvSpPr/>
          <p:nvPr/>
        </p:nvSpPr>
        <p:spPr bwMode="auto">
          <a:xfrm flipV="1">
            <a:off x="1478076" y="2448360"/>
            <a:ext cx="684000" cy="228049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5" name="타원 6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519759" y="259456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6" name="타원 6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404467" y="349383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729074" y="349528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350107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MDD-00130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MDD72S40004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Knowledge 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검색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(4/10)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감사정보지원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정보관리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Knowledge</a:t>
                      </a:r>
                      <a:r>
                        <a:rPr lang="ko-KR" altLang="en-US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검색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(P172: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836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 기간 선택 및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키워드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입력 후 조회</a:t>
                      </a: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0" algn="l" defTabSz="914395" rtl="0" eaLnBrk="1" latinLnBrk="1" hangingPunct="1"/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171450" indent="-171450" algn="l" defTabSz="914395" rtl="0" eaLnBrk="1" latinLnBrk="1" hangingPunct="1">
                        <a:buFontTx/>
                        <a:buChar char="-"/>
                      </a:pP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키워드 미 입력 시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 기간은 현재 날짜 기준 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3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개월 이전까지로 제한</a:t>
                      </a: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171450" indent="-171450" algn="l" defTabSz="914395" rtl="0" eaLnBrk="1" latinLnBrk="1" hangingPunct="1">
                        <a:buFontTx/>
                        <a:buChar char="-"/>
                      </a:pP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키워드 입력 시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 기간 제한없이 조회됨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키워드에 입력된 문구를 가지고 아래 조건에 해당되는 건이 있을 경우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아래 표에 나타나도록 함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조건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)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영업감사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감사항목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종합의견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      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본부감사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감사단위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조회기간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감사종료일자로 검색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검색된 결과 리스트의 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특정 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항목을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더블 클릭 시 상세정보 팝업 창이 나타난다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상세정보 팝업 창 내역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kern="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34" name="그룹 33"/>
          <p:cNvGrpSpPr/>
          <p:nvPr/>
        </p:nvGrpSpPr>
        <p:grpSpPr>
          <a:xfrm>
            <a:off x="216414" y="1070813"/>
            <a:ext cx="6732899" cy="337771"/>
            <a:chOff x="355877" y="2160935"/>
            <a:chExt cx="6061214" cy="417554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44" name="양쪽 모서리가 둥근 사각형 43"/>
          <p:cNvSpPr/>
          <p:nvPr/>
        </p:nvSpPr>
        <p:spPr bwMode="auto">
          <a:xfrm>
            <a:off x="222917" y="1545148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00" ker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Knowledge </a:t>
            </a:r>
            <a:r>
              <a:rPr kumimoji="0" lang="ko-KR" altLang="en-US" sz="800" ker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검색</a:t>
            </a:r>
            <a:endParaRPr kumimoji="0" lang="en-US" altLang="ko-KR" sz="800" kern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16414" y="147055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7" name="직사각형 46"/>
          <p:cNvSpPr/>
          <p:nvPr/>
        </p:nvSpPr>
        <p:spPr bwMode="auto">
          <a:xfrm flipV="1">
            <a:off x="5873416" y="2131426"/>
            <a:ext cx="1075897" cy="22836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927295" y="215230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55385" y="2147302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54264" y="2150172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7" name="직사각형 36"/>
          <p:cNvSpPr/>
          <p:nvPr/>
        </p:nvSpPr>
        <p:spPr bwMode="auto">
          <a:xfrm>
            <a:off x="191221" y="2649408"/>
            <a:ext cx="6796193" cy="3477468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9" name="표 38"/>
          <p:cNvGraphicFramePr>
            <a:graphicFrameLocks noGrp="1"/>
          </p:cNvGraphicFramePr>
          <p:nvPr>
            <p:extLst/>
          </p:nvPr>
        </p:nvGraphicFramePr>
        <p:xfrm>
          <a:off x="268429" y="2736796"/>
          <a:ext cx="6581258" cy="89488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3394">
                  <a:extLst>
                    <a:ext uri="{9D8B030D-6E8A-4147-A177-3AD203B41FA5}">
                      <a16:colId xmlns:a16="http://schemas.microsoft.com/office/drawing/2014/main" val="3450297539"/>
                    </a:ext>
                  </a:extLst>
                </a:gridCol>
                <a:gridCol w="724962">
                  <a:extLst>
                    <a:ext uri="{9D8B030D-6E8A-4147-A177-3AD203B41FA5}">
                      <a16:colId xmlns:a16="http://schemas.microsoft.com/office/drawing/2014/main" val="676531661"/>
                    </a:ext>
                  </a:extLst>
                </a:gridCol>
                <a:gridCol w="515390">
                  <a:extLst>
                    <a:ext uri="{9D8B030D-6E8A-4147-A177-3AD203B41FA5}">
                      <a16:colId xmlns:a16="http://schemas.microsoft.com/office/drawing/2014/main" val="805347456"/>
                    </a:ext>
                  </a:extLst>
                </a:gridCol>
                <a:gridCol w="648392">
                  <a:extLst>
                    <a:ext uri="{9D8B030D-6E8A-4147-A177-3AD203B41FA5}">
                      <a16:colId xmlns:a16="http://schemas.microsoft.com/office/drawing/2014/main" val="1714839187"/>
                    </a:ext>
                  </a:extLst>
                </a:gridCol>
                <a:gridCol w="1166553">
                  <a:extLst>
                    <a:ext uri="{9D8B030D-6E8A-4147-A177-3AD203B41FA5}">
                      <a16:colId xmlns:a16="http://schemas.microsoft.com/office/drawing/2014/main" val="257685759"/>
                    </a:ext>
                  </a:extLst>
                </a:gridCol>
                <a:gridCol w="1146810">
                  <a:extLst>
                    <a:ext uri="{9D8B030D-6E8A-4147-A177-3AD203B41FA5}">
                      <a16:colId xmlns:a16="http://schemas.microsoft.com/office/drawing/2014/main" val="2740147376"/>
                    </a:ext>
                  </a:extLst>
                </a:gridCol>
                <a:gridCol w="1146810">
                  <a:extLst>
                    <a:ext uri="{9D8B030D-6E8A-4147-A177-3AD203B41FA5}">
                      <a16:colId xmlns:a16="http://schemas.microsoft.com/office/drawing/2014/main" val="1636910320"/>
                    </a:ext>
                  </a:extLst>
                </a:gridCol>
                <a:gridCol w="928947">
                  <a:extLst>
                    <a:ext uri="{9D8B030D-6E8A-4147-A177-3AD203B41FA5}">
                      <a16:colId xmlns:a16="http://schemas.microsoft.com/office/drawing/2014/main" val="2287147989"/>
                    </a:ext>
                  </a:extLst>
                </a:gridCol>
              </a:tblGrid>
              <a:tr h="2807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순번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감사년도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차수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팀구분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부점명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감사실시일자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감사종료일자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8033730"/>
                  </a:ext>
                </a:extLst>
              </a:tr>
              <a:tr h="19915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영업감사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9908261"/>
                  </a:ext>
                </a:extLst>
              </a:tr>
              <a:tr h="17117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본부감사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024731"/>
                  </a:ext>
                </a:extLst>
              </a:tr>
              <a:tr h="16213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</a:p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65856585"/>
                  </a:ext>
                </a:extLst>
              </a:tr>
            </a:tbl>
          </a:graphicData>
        </a:graphic>
      </p:graphicFrame>
      <p:pic>
        <p:nvPicPr>
          <p:cNvPr id="61" name="그림 6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05694" y="3034521"/>
            <a:ext cx="200025" cy="180975"/>
          </a:xfrm>
          <a:prstGeom prst="rect">
            <a:avLst/>
          </a:prstGeom>
        </p:spPr>
      </p:pic>
      <p:pic>
        <p:nvPicPr>
          <p:cNvPr id="62" name="그림 6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06500" y="3200035"/>
            <a:ext cx="200025" cy="180975"/>
          </a:xfrm>
          <a:prstGeom prst="rect">
            <a:avLst/>
          </a:prstGeom>
        </p:spPr>
      </p:pic>
      <p:cxnSp>
        <p:nvCxnSpPr>
          <p:cNvPr id="38" name="구부러진 연결선 37"/>
          <p:cNvCxnSpPr/>
          <p:nvPr/>
        </p:nvCxnSpPr>
        <p:spPr bwMode="auto">
          <a:xfrm rot="5400000">
            <a:off x="1268931" y="3123605"/>
            <a:ext cx="683024" cy="623255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40" name="타원 3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492812" y="300493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48" name="그림 4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05694" y="3034521"/>
            <a:ext cx="200025" cy="180975"/>
          </a:xfrm>
          <a:prstGeom prst="rect">
            <a:avLst/>
          </a:prstGeom>
        </p:spPr>
      </p:pic>
      <p:pic>
        <p:nvPicPr>
          <p:cNvPr id="49" name="그림 4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06500" y="3200035"/>
            <a:ext cx="200025" cy="180975"/>
          </a:xfrm>
          <a:prstGeom prst="rect">
            <a:avLst/>
          </a:prstGeom>
        </p:spPr>
      </p:pic>
      <p:pic>
        <p:nvPicPr>
          <p:cNvPr id="60" name="그림 5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3920" y="3744368"/>
            <a:ext cx="2718463" cy="2368339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65" name="타원 6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898327" y="357834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67" name="구부러진 연결선 66"/>
          <p:cNvCxnSpPr>
            <a:endCxn id="51" idx="0"/>
          </p:cNvCxnSpPr>
          <p:nvPr/>
        </p:nvCxnSpPr>
        <p:spPr bwMode="auto">
          <a:xfrm>
            <a:off x="2353747" y="3268980"/>
            <a:ext cx="2805283" cy="507762"/>
          </a:xfrm>
          <a:prstGeom prst="curvedConnector2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42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68" name="내용 개체 틀 121"/>
          <p:cNvGraphicFramePr>
            <a:graphicFrameLocks/>
          </p:cNvGraphicFramePr>
          <p:nvPr>
            <p:extLst/>
          </p:nvPr>
        </p:nvGraphicFramePr>
        <p:xfrm>
          <a:off x="216412" y="1827372"/>
          <a:ext cx="6732901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1177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2125504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34206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3332014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키워드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69" name="직사각형 6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916423" y="1873163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991235" y="1869753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2024-04-30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71" name="그림 70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56823" y="1877003"/>
            <a:ext cx="181098" cy="173224"/>
          </a:xfrm>
          <a:prstGeom prst="rect">
            <a:avLst/>
          </a:prstGeom>
        </p:spPr>
      </p:pic>
      <p:pic>
        <p:nvPicPr>
          <p:cNvPr id="72" name="그림 7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30497" y="1878351"/>
            <a:ext cx="181098" cy="173224"/>
          </a:xfrm>
          <a:prstGeom prst="rect">
            <a:avLst/>
          </a:prstGeom>
        </p:spPr>
      </p:pic>
      <p:cxnSp>
        <p:nvCxnSpPr>
          <p:cNvPr id="73" name="직선 연결선 72"/>
          <p:cNvCxnSpPr/>
          <p:nvPr/>
        </p:nvCxnSpPr>
        <p:spPr bwMode="auto">
          <a:xfrm>
            <a:off x="1795070" y="1963615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712611" y="1862559"/>
            <a:ext cx="3168000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미수금</a:t>
            </a:r>
            <a:endParaRPr kumimoji="0" lang="ko-KR" altLang="en-US" sz="9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51" name="그림 50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402675" y="3776742"/>
            <a:ext cx="3512710" cy="2261013"/>
          </a:xfrm>
          <a:prstGeom prst="rect">
            <a:avLst/>
          </a:prstGeom>
        </p:spPr>
      </p:pic>
      <p:sp>
        <p:nvSpPr>
          <p:cNvPr id="54" name="양쪽 모서리가 둥근 사각형 53"/>
          <p:cNvSpPr/>
          <p:nvPr/>
        </p:nvSpPr>
        <p:spPr bwMode="auto">
          <a:xfrm>
            <a:off x="844726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내규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5" name="양쪽 모서리가 둥근 사각형 54"/>
          <p:cNvSpPr/>
          <p:nvPr/>
        </p:nvSpPr>
        <p:spPr bwMode="auto">
          <a:xfrm>
            <a:off x="149823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감사지적사항</a:t>
            </a:r>
          </a:p>
        </p:txBody>
      </p:sp>
      <p:sp>
        <p:nvSpPr>
          <p:cNvPr id="56" name="양쪽 모서리가 둥근 사각형 55"/>
          <p:cNvSpPr/>
          <p:nvPr/>
        </p:nvSpPr>
        <p:spPr bwMode="auto">
          <a:xfrm>
            <a:off x="2151736" y="2453301"/>
            <a:ext cx="612000" cy="196107"/>
          </a:xfrm>
          <a:prstGeom prst="round2SameRect">
            <a:avLst/>
          </a:prstGeom>
          <a:solidFill>
            <a:schemeClr val="bg2">
              <a:lumMod val="75000"/>
            </a:schemeClr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감사보고</a:t>
            </a:r>
          </a:p>
        </p:txBody>
      </p:sp>
      <p:sp>
        <p:nvSpPr>
          <p:cNvPr id="57" name="양쪽 모서리가 둥근 사각형 56"/>
          <p:cNvSpPr/>
          <p:nvPr/>
        </p:nvSpPr>
        <p:spPr bwMode="auto">
          <a:xfrm>
            <a:off x="280524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 제재</a:t>
            </a:r>
            <a:r>
              <a:rPr kumimoji="0" lang="en-US" altLang="ko-KR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경영유의사항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8" name="양쪽 모서리가 둥근 사각형 57"/>
          <p:cNvSpPr/>
          <p:nvPr/>
        </p:nvSpPr>
        <p:spPr bwMode="auto">
          <a:xfrm>
            <a:off x="19122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endParaRPr kumimoji="0" lang="en-US" altLang="ko-KR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외규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법령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시행령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</a:t>
            </a:r>
            <a:r>
              <a:rPr kumimoji="0" lang="ko-KR" altLang="en-US" sz="7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독규정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</a:p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endParaRPr kumimoji="0" lang="ko-KR" altLang="en-US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9" name="양쪽 모서리가 둥근 사각형 58"/>
          <p:cNvSpPr/>
          <p:nvPr/>
        </p:nvSpPr>
        <p:spPr bwMode="auto">
          <a:xfrm>
            <a:off x="3458746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 </a:t>
            </a:r>
            <a:r>
              <a:rPr kumimoji="0" lang="en-US" altLang="ko-KR" sz="7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DART </a:t>
            </a:r>
            <a:r>
              <a:rPr kumimoji="0" lang="ko-KR" altLang="en-US" sz="700" kern="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공시자료</a:t>
            </a:r>
            <a:endParaRPr kumimoji="0" lang="en-US" altLang="ko-KR" sz="700" kern="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3" name="양쪽 모서리가 둥근 사각형 62"/>
          <p:cNvSpPr/>
          <p:nvPr/>
        </p:nvSpPr>
        <p:spPr bwMode="auto">
          <a:xfrm>
            <a:off x="411225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법령해석</a:t>
            </a:r>
            <a:r>
              <a:rPr kumimoji="0" lang="en-US" altLang="ko-KR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비조치의견서 </a:t>
            </a:r>
            <a:r>
              <a:rPr kumimoji="0" lang="ko-KR" altLang="en-US" sz="70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회신사례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4" name="양쪽 모서리가 둥근 사각형 63"/>
          <p:cNvSpPr/>
          <p:nvPr/>
        </p:nvSpPr>
        <p:spPr bwMode="auto">
          <a:xfrm>
            <a:off x="5419261" y="2476214"/>
            <a:ext cx="612000" cy="196107"/>
          </a:xfrm>
          <a:prstGeom prst="round2SameRect">
            <a:avLst/>
          </a:prstGeom>
          <a:noFill/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/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금융위원회 보도자료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6" name="양쪽 모서리가 둥근 사각형 65"/>
          <p:cNvSpPr/>
          <p:nvPr/>
        </p:nvSpPr>
        <p:spPr bwMode="auto">
          <a:xfrm>
            <a:off x="4765756" y="246619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네이버경제</a:t>
            </a:r>
            <a:endParaRPr kumimoji="0" lang="en-US" altLang="ko-KR" sz="700" dirty="0" smtClean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en-US" altLang="ko-KR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</a:t>
            </a:r>
            <a:r>
              <a:rPr kumimoji="0" lang="en-US" altLang="ko-KR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뉴스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1" name="양쪽 모서리가 둥근 사각형 80"/>
          <p:cNvSpPr/>
          <p:nvPr/>
        </p:nvSpPr>
        <p:spPr bwMode="auto">
          <a:xfrm>
            <a:off x="6072764" y="2453300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금융위</a:t>
            </a:r>
            <a:r>
              <a:rPr kumimoji="0" lang="en-US" altLang="ko-KR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증선위의결정보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2" name="직사각형 81"/>
          <p:cNvSpPr/>
          <p:nvPr/>
        </p:nvSpPr>
        <p:spPr bwMode="auto">
          <a:xfrm flipV="1">
            <a:off x="2126467" y="2440049"/>
            <a:ext cx="684000" cy="228049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3" name="타원 8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101648" y="238674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4" name="타원 8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473887" y="363168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923450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MDD-00130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MDD72S40005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Knowledge 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검색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(5/10)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감사정보지원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정보관리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Knowledge</a:t>
                      </a:r>
                      <a:r>
                        <a:rPr lang="ko-KR" altLang="en-US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검색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(P172: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14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 기간 선택 및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키워드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입력 후 조회</a:t>
                      </a: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0" algn="l" defTabSz="914395" rtl="0" eaLnBrk="1" latinLnBrk="1" hangingPunct="1"/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171450" indent="-171450" algn="l" defTabSz="914395" rtl="0" eaLnBrk="1" latinLnBrk="1" hangingPunct="1">
                        <a:buFontTx/>
                        <a:buChar char="-"/>
                      </a:pP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키워드 미 입력 시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 기간은 현재 날짜 기준 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3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개월 이전까지로 제한</a:t>
                      </a: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171450" indent="-171450" algn="l" defTabSz="914395" rtl="0" eaLnBrk="1" latinLnBrk="1" hangingPunct="1">
                        <a:buFontTx/>
                        <a:buChar char="-"/>
                      </a:pP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키워드 입력 시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 기간 제한없이 조회됨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키워드에 입력된 문구를 가지고 아래 조건에 해당되는 건이 있을 경우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아래 표에 나타나도록 함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조건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)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조치내용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요약 내용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본문내용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r>
                        <a:rPr lang="en-US" altLang="ko-KR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제제조치일자</a:t>
                      </a:r>
                      <a:r>
                        <a:rPr lang="ko-KR" altLang="en-US" sz="800" b="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로 검색</a:t>
                      </a:r>
                      <a:endParaRPr lang="en-US" altLang="ko-KR" sz="800" b="0" baseline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검색된 결과 리스트의 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특정 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항목을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더블 클릭 시 상세정보 팝업 창이 나타난다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상세정보 팝업 창 내역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228600" marR="0" lvl="0" indent="-22860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endParaRPr kumimoji="0" lang="en-US" altLang="ko-KR" sz="800" b="0" kern="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34" name="그룹 33"/>
          <p:cNvGrpSpPr/>
          <p:nvPr/>
        </p:nvGrpSpPr>
        <p:grpSpPr>
          <a:xfrm>
            <a:off x="216414" y="1070813"/>
            <a:ext cx="6732899" cy="337771"/>
            <a:chOff x="355877" y="2160935"/>
            <a:chExt cx="6061214" cy="417554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44" name="양쪽 모서리가 둥근 사각형 43"/>
          <p:cNvSpPr/>
          <p:nvPr/>
        </p:nvSpPr>
        <p:spPr bwMode="auto">
          <a:xfrm>
            <a:off x="222917" y="1545148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00" ker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Knowledge </a:t>
            </a:r>
            <a:r>
              <a:rPr kumimoji="0" lang="ko-KR" altLang="en-US" sz="800" ker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검색</a:t>
            </a:r>
            <a:endParaRPr kumimoji="0" lang="en-US" altLang="ko-KR" sz="800" kern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16414" y="147055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7" name="직사각형 46"/>
          <p:cNvSpPr/>
          <p:nvPr/>
        </p:nvSpPr>
        <p:spPr bwMode="auto">
          <a:xfrm flipV="1">
            <a:off x="5873416" y="2131426"/>
            <a:ext cx="1075897" cy="22836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927295" y="215230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55385" y="2147302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54264" y="2150172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9" name="직사각형 88"/>
          <p:cNvSpPr/>
          <p:nvPr/>
        </p:nvSpPr>
        <p:spPr bwMode="auto">
          <a:xfrm>
            <a:off x="191221" y="2649408"/>
            <a:ext cx="6796193" cy="3477468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91" name="표 90"/>
          <p:cNvGraphicFramePr>
            <a:graphicFrameLocks noGrp="1"/>
          </p:cNvGraphicFramePr>
          <p:nvPr>
            <p:extLst/>
          </p:nvPr>
        </p:nvGraphicFramePr>
        <p:xfrm>
          <a:off x="268429" y="2736796"/>
          <a:ext cx="6581259" cy="89488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3394">
                  <a:extLst>
                    <a:ext uri="{9D8B030D-6E8A-4147-A177-3AD203B41FA5}">
                      <a16:colId xmlns:a16="http://schemas.microsoft.com/office/drawing/2014/main" val="3450297539"/>
                    </a:ext>
                  </a:extLst>
                </a:gridCol>
                <a:gridCol w="857966">
                  <a:extLst>
                    <a:ext uri="{9D8B030D-6E8A-4147-A177-3AD203B41FA5}">
                      <a16:colId xmlns:a16="http://schemas.microsoft.com/office/drawing/2014/main" val="676531661"/>
                    </a:ext>
                  </a:extLst>
                </a:gridCol>
                <a:gridCol w="723207">
                  <a:extLst>
                    <a:ext uri="{9D8B030D-6E8A-4147-A177-3AD203B41FA5}">
                      <a16:colId xmlns:a16="http://schemas.microsoft.com/office/drawing/2014/main" val="1006146440"/>
                    </a:ext>
                  </a:extLst>
                </a:gridCol>
                <a:gridCol w="689957">
                  <a:extLst>
                    <a:ext uri="{9D8B030D-6E8A-4147-A177-3AD203B41FA5}">
                      <a16:colId xmlns:a16="http://schemas.microsoft.com/office/drawing/2014/main" val="3077061229"/>
                    </a:ext>
                  </a:extLst>
                </a:gridCol>
                <a:gridCol w="2776451">
                  <a:extLst>
                    <a:ext uri="{9D8B030D-6E8A-4147-A177-3AD203B41FA5}">
                      <a16:colId xmlns:a16="http://schemas.microsoft.com/office/drawing/2014/main" val="257685759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301854678"/>
                    </a:ext>
                  </a:extLst>
                </a:gridCol>
                <a:gridCol w="773084">
                  <a:extLst>
                    <a:ext uri="{9D8B030D-6E8A-4147-A177-3AD203B41FA5}">
                      <a16:colId xmlns:a16="http://schemas.microsoft.com/office/drawing/2014/main" val="2740147376"/>
                    </a:ext>
                  </a:extLst>
                </a:gridCol>
              </a:tblGrid>
              <a:tr h="2807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순번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조치내용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금융기관명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제제조치일자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요약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최종수정일시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8033730"/>
                  </a:ext>
                </a:extLst>
              </a:tr>
              <a:tr h="19915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r>
                        <a:rPr lang="ko-KR" altLang="en-US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검사결과제재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r>
                        <a:rPr lang="ko-KR" altLang="en-US" sz="8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은행경사</a:t>
                      </a:r>
                      <a:r>
                        <a:rPr lang="en-US" altLang="ko-KR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국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r>
                        <a:rPr lang="en-US" altLang="ko-KR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2024-02-02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395" rtl="0" eaLnBrk="1" fontAlgn="ctr" latinLnBrk="1" hangingPunct="1"/>
                      <a:r>
                        <a:rPr lang="ko-KR" altLang="en-US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법령해석 제목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395" rtl="0" eaLnBrk="1" fontAlgn="ctr" latinLnBrk="1" hangingPunct="1"/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2024-02-02</a:t>
                      </a:r>
                      <a:endParaRPr lang="ko-KR" altLang="en-US" sz="8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9908261"/>
                  </a:ext>
                </a:extLst>
              </a:tr>
              <a:tr h="17117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r>
                        <a:rPr lang="ko-KR" altLang="en-US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경영유의사항</a:t>
                      </a:r>
                      <a:endParaRPr lang="en-US" altLang="ko-KR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r>
                        <a:rPr lang="ko-KR" altLang="en-US" sz="8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은행경사</a:t>
                      </a:r>
                      <a:r>
                        <a:rPr lang="en-US" altLang="ko-KR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1</a:t>
                      </a:r>
                      <a:r>
                        <a:rPr lang="ko-KR" altLang="en-US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국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r>
                        <a:rPr lang="en-US" altLang="ko-KR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2024-05-02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395" rtl="0" eaLnBrk="1" fontAlgn="ctr" latinLnBrk="1" hangingPunct="1"/>
                      <a:r>
                        <a:rPr lang="en-US" altLang="ko-KR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비조치의견서 제목</a:t>
                      </a:r>
                      <a:endParaRPr lang="en-US" altLang="ko-KR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395" rtl="0" eaLnBrk="1" fontAlgn="ctr" latinLnBrk="1" hangingPunct="1"/>
                      <a:endParaRPr lang="en-US" altLang="ko-KR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2024-02-02</a:t>
                      </a:r>
                      <a:endParaRPr lang="ko-KR" altLang="en-US" sz="8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024731"/>
                  </a:ext>
                </a:extLst>
              </a:tr>
              <a:tr h="16213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</a:p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5856585"/>
                  </a:ext>
                </a:extLst>
              </a:tr>
            </a:tbl>
          </a:graphicData>
        </a:graphic>
      </p:graphicFrame>
      <p:sp>
        <p:nvSpPr>
          <p:cNvPr id="96" name="타원 9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258368" y="298207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48" name="그림 4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44080" y="2759930"/>
            <a:ext cx="200025" cy="180975"/>
          </a:xfrm>
          <a:prstGeom prst="rect">
            <a:avLst/>
          </a:prstGeom>
        </p:spPr>
      </p:pic>
      <p:pic>
        <p:nvPicPr>
          <p:cNvPr id="49" name="그림 4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44886" y="2925444"/>
            <a:ext cx="200025" cy="180975"/>
          </a:xfrm>
          <a:prstGeom prst="rect">
            <a:avLst/>
          </a:prstGeom>
        </p:spPr>
      </p:pic>
      <p:pic>
        <p:nvPicPr>
          <p:cNvPr id="111" name="그림 11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347577" y="2859616"/>
            <a:ext cx="167353" cy="180975"/>
          </a:xfrm>
          <a:prstGeom prst="rect">
            <a:avLst/>
          </a:prstGeom>
        </p:spPr>
      </p:pic>
      <p:sp>
        <p:nvSpPr>
          <p:cNvPr id="11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73993" y="3176402"/>
            <a:ext cx="3012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14" name="그림 11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65518" y="3675953"/>
            <a:ext cx="167353" cy="180975"/>
          </a:xfrm>
          <a:prstGeom prst="rect">
            <a:avLst/>
          </a:prstGeom>
        </p:spPr>
      </p:pic>
      <p:pic>
        <p:nvPicPr>
          <p:cNvPr id="115" name="그림 11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62457" y="3871538"/>
            <a:ext cx="167353" cy="180975"/>
          </a:xfrm>
          <a:prstGeom prst="rect">
            <a:avLst/>
          </a:prstGeom>
        </p:spPr>
      </p:pic>
      <p:sp>
        <p:nvSpPr>
          <p:cNvPr id="11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60519" y="3176402"/>
            <a:ext cx="3012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489266" y="3201341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8" name="직사각형 117"/>
          <p:cNvSpPr/>
          <p:nvPr/>
        </p:nvSpPr>
        <p:spPr bwMode="auto">
          <a:xfrm>
            <a:off x="1789659" y="2870339"/>
            <a:ext cx="5137237" cy="3434468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351119" y="6032756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닫기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120" name="표 119"/>
          <p:cNvGraphicFramePr>
            <a:graphicFrameLocks noGrp="1"/>
          </p:cNvGraphicFramePr>
          <p:nvPr>
            <p:extLst/>
          </p:nvPr>
        </p:nvGraphicFramePr>
        <p:xfrm>
          <a:off x="1821354" y="2933067"/>
          <a:ext cx="4983578" cy="314044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65630">
                  <a:extLst>
                    <a:ext uri="{9D8B030D-6E8A-4147-A177-3AD203B41FA5}">
                      <a16:colId xmlns:a16="http://schemas.microsoft.com/office/drawing/2014/main" val="1630994582"/>
                    </a:ext>
                  </a:extLst>
                </a:gridCol>
                <a:gridCol w="1146307">
                  <a:extLst>
                    <a:ext uri="{9D8B030D-6E8A-4147-A177-3AD203B41FA5}">
                      <a16:colId xmlns:a16="http://schemas.microsoft.com/office/drawing/2014/main" val="2045752900"/>
                    </a:ext>
                  </a:extLst>
                </a:gridCol>
                <a:gridCol w="324196">
                  <a:extLst>
                    <a:ext uri="{9D8B030D-6E8A-4147-A177-3AD203B41FA5}">
                      <a16:colId xmlns:a16="http://schemas.microsoft.com/office/drawing/2014/main" val="2662453202"/>
                    </a:ext>
                  </a:extLst>
                </a:gridCol>
                <a:gridCol w="1180407">
                  <a:extLst>
                    <a:ext uri="{9D8B030D-6E8A-4147-A177-3AD203B41FA5}">
                      <a16:colId xmlns:a16="http://schemas.microsoft.com/office/drawing/2014/main" val="3707926986"/>
                    </a:ext>
                  </a:extLst>
                </a:gridCol>
                <a:gridCol w="374073">
                  <a:extLst>
                    <a:ext uri="{9D8B030D-6E8A-4147-A177-3AD203B41FA5}">
                      <a16:colId xmlns:a16="http://schemas.microsoft.com/office/drawing/2014/main" val="3312325758"/>
                    </a:ext>
                  </a:extLst>
                </a:gridCol>
                <a:gridCol w="1192965">
                  <a:extLst>
                    <a:ext uri="{9D8B030D-6E8A-4147-A177-3AD203B41FA5}">
                      <a16:colId xmlns:a16="http://schemas.microsoft.com/office/drawing/2014/main" val="1132575507"/>
                    </a:ext>
                  </a:extLst>
                </a:gridCol>
              </a:tblGrid>
              <a:tr h="2461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조치내용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8451336"/>
                  </a:ext>
                </a:extLst>
              </a:tr>
              <a:tr h="22444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금융기관명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/>
                        <a:t> </a:t>
                      </a:r>
                      <a:endParaRPr lang="ko-KR" altLang="en-US" sz="800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16464564"/>
                  </a:ext>
                </a:extLst>
              </a:tr>
              <a:tr h="23275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제제조치일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작성자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</a:t>
                      </a: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작성일자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1806225"/>
                  </a:ext>
                </a:extLst>
              </a:tr>
              <a:tr h="75645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요약내용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35103145"/>
                  </a:ext>
                </a:extLst>
              </a:tr>
              <a:tr h="9975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본문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54201637"/>
                  </a:ext>
                </a:extLst>
              </a:tr>
              <a:tr h="68310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참부파일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1425522"/>
                  </a:ext>
                </a:extLst>
              </a:tr>
            </a:tbl>
          </a:graphicData>
        </a:graphic>
      </p:graphicFrame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25400" y="4462623"/>
            <a:ext cx="4076501" cy="824605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내부통제규정 개정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안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에 대한 사전협의 부탁드립니다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.</a:t>
            </a: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근거 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상임감사위원직무규정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-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별표</a:t>
            </a:r>
            <a:r>
              <a:rPr kumimoji="0" lang="en-US" altLang="ko-KR" sz="70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2-1.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정관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규정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지침 및 업무매뉴얼의 개정</a:t>
            </a:r>
            <a:endParaRPr kumimoji="0" lang="en-US" altLang="ko-KR" sz="70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b="0" i="0" u="none" strike="noStrike" kern="1200" cap="none" spc="0" normalizeH="0" baseline="0" noProof="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개정예정일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2024-05-02(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목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관련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현황 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2024-04-18</a:t>
            </a:r>
            <a:r>
              <a:rPr kumimoji="0" lang="en-US" altLang="ko-KR" sz="700" b="0" i="0" u="none" strike="noStrike" kern="1200" cap="none" spc="0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ko-KR" altLang="en-US" sz="700" b="0" i="0" u="none" strike="noStrike" kern="1200" cap="none" spc="0" normalizeH="0" noProof="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법무팀</a:t>
            </a:r>
            <a:r>
              <a:rPr kumimoji="0" lang="ko-KR" altLang="en-US" sz="700" b="0" i="0" u="none" strike="noStrike" kern="1200" cap="none" spc="0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사전협의 완료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44333" y="5576570"/>
            <a:ext cx="4059236" cy="397978"/>
          </a:xfrm>
          <a:prstGeom prst="rect">
            <a:avLst/>
          </a:prstGeom>
          <a:solidFill>
            <a:schemeClr val="bg2">
              <a:lumMod val="9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rPr>
              <a:t>업로드 파일</a:t>
            </a:r>
            <a:r>
              <a:rPr kumimoji="0" lang="en-US" altLang="ko-KR" sz="800" b="0" i="0" u="none" strike="noStrike" kern="1200" cap="none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rPr>
              <a:t>.</a:t>
            </a:r>
            <a:r>
              <a:rPr kumimoji="0" lang="en-US" altLang="ko-KR" sz="8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+mj-ea"/>
                <a:ea typeface="+mj-ea"/>
              </a:rPr>
              <a:t>docx</a:t>
            </a:r>
            <a:endParaRPr kumimoji="0" lang="ko-KR" altLang="en-US" sz="800" b="0" i="0" u="none" strike="noStrike" kern="1200" cap="none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44333" y="3685648"/>
            <a:ext cx="4075173" cy="595014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 감사보고서 </a:t>
            </a:r>
            <a:endParaRPr kumimoji="0" lang="en-US" altLang="ko-KR" sz="80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2024-12-17</a:t>
            </a:r>
            <a:endParaRPr kumimoji="0" lang="ko-KR" altLang="en-US" sz="8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44333" y="2975358"/>
            <a:ext cx="4100801" cy="168014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 감사보고서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44332" y="3210583"/>
            <a:ext cx="4100801" cy="137438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증권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126" name="그룹 125"/>
          <p:cNvGrpSpPr/>
          <p:nvPr/>
        </p:nvGrpSpPr>
        <p:grpSpPr>
          <a:xfrm>
            <a:off x="2651923" y="3423718"/>
            <a:ext cx="953791" cy="180461"/>
            <a:chOff x="1421952" y="2291860"/>
            <a:chExt cx="1343121" cy="180915"/>
          </a:xfrm>
          <a:solidFill>
            <a:schemeClr val="bg2">
              <a:lumMod val="90000"/>
            </a:schemeClr>
          </a:solidFill>
        </p:grpSpPr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21952" y="2291860"/>
              <a:ext cx="1343121" cy="180915"/>
            </a:xfrm>
            <a:prstGeom prst="rect">
              <a:avLst/>
            </a:prstGeom>
            <a:grpFill/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2024-04-22</a:t>
              </a:r>
              <a:endParaRPr kumimoji="0" lang="ko-KR" altLang="en-US" sz="7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128" name="그림 127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542" y="2310827"/>
              <a:ext cx="164635" cy="157476"/>
            </a:xfrm>
            <a:prstGeom prst="rect">
              <a:avLst/>
            </a:prstGeom>
            <a:grpFill/>
          </p:spPr>
        </p:pic>
      </p:grpSp>
      <p:sp>
        <p:nvSpPr>
          <p:cNvPr id="13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318055" y="5376965"/>
            <a:ext cx="385514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전체다운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31" name="그림 130" descr="화면 캡처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099" t="-6769" r="22984" b="3888"/>
          <a:stretch/>
        </p:blipFill>
        <p:spPr>
          <a:xfrm>
            <a:off x="4073496" y="3388772"/>
            <a:ext cx="1058052" cy="228091"/>
          </a:xfrm>
          <a:prstGeom prst="rect">
            <a:avLst/>
          </a:prstGeom>
        </p:spPr>
      </p:pic>
      <p:sp>
        <p:nvSpPr>
          <p:cNvPr id="132" name="타원 13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384763" y="459921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133" name="그룹 132"/>
          <p:cNvGrpSpPr/>
          <p:nvPr/>
        </p:nvGrpSpPr>
        <p:grpSpPr>
          <a:xfrm>
            <a:off x="5665430" y="3427609"/>
            <a:ext cx="964211" cy="174556"/>
            <a:chOff x="1421952" y="2291860"/>
            <a:chExt cx="1343121" cy="180915"/>
          </a:xfrm>
          <a:solidFill>
            <a:schemeClr val="bg2">
              <a:lumMod val="90000"/>
            </a:schemeClr>
          </a:solidFill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21952" y="2291860"/>
              <a:ext cx="1343121" cy="180915"/>
            </a:xfrm>
            <a:prstGeom prst="rect">
              <a:avLst/>
            </a:prstGeom>
            <a:grpFill/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2024-04-22</a:t>
              </a:r>
              <a:endParaRPr kumimoji="0" lang="ko-KR" altLang="en-US" sz="7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135" name="그림 134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542" y="2310827"/>
              <a:ext cx="164635" cy="157476"/>
            </a:xfrm>
            <a:prstGeom prst="rect">
              <a:avLst/>
            </a:prstGeom>
            <a:grpFill/>
          </p:spPr>
        </p:pic>
      </p:grpSp>
      <p:cxnSp>
        <p:nvCxnSpPr>
          <p:cNvPr id="95" name="구부러진 연결선 94"/>
          <p:cNvCxnSpPr>
            <a:stCxn id="96" idx="6"/>
            <a:endCxn id="120" idx="1"/>
          </p:cNvCxnSpPr>
          <p:nvPr/>
        </p:nvCxnSpPr>
        <p:spPr bwMode="auto">
          <a:xfrm>
            <a:off x="1395974" y="3061857"/>
            <a:ext cx="425380" cy="1441433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62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63" name="내용 개체 틀 121"/>
          <p:cNvGraphicFramePr>
            <a:graphicFrameLocks/>
          </p:cNvGraphicFramePr>
          <p:nvPr>
            <p:extLst/>
          </p:nvPr>
        </p:nvGraphicFramePr>
        <p:xfrm>
          <a:off x="216412" y="1827372"/>
          <a:ext cx="6732901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1177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2125504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34206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3332014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키워드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64" name="직사각형 6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916423" y="1873163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991235" y="1869753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2024-04-30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66" name="그림 6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56823" y="1877003"/>
            <a:ext cx="181098" cy="173224"/>
          </a:xfrm>
          <a:prstGeom prst="rect">
            <a:avLst/>
          </a:prstGeom>
        </p:spPr>
      </p:pic>
      <p:pic>
        <p:nvPicPr>
          <p:cNvPr id="67" name="그림 6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630497" y="1878351"/>
            <a:ext cx="181098" cy="173224"/>
          </a:xfrm>
          <a:prstGeom prst="rect">
            <a:avLst/>
          </a:prstGeom>
        </p:spPr>
      </p:pic>
      <p:cxnSp>
        <p:nvCxnSpPr>
          <p:cNvPr id="68" name="직선 연결선 67"/>
          <p:cNvCxnSpPr/>
          <p:nvPr/>
        </p:nvCxnSpPr>
        <p:spPr bwMode="auto">
          <a:xfrm>
            <a:off x="1795070" y="1963615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712611" y="1862559"/>
            <a:ext cx="3168000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normalizeH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미수금</a:t>
            </a:r>
            <a:endParaRPr kumimoji="0" lang="ko-KR" altLang="en-US" sz="9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1" name="양쪽 모서리가 둥근 사각형 60"/>
          <p:cNvSpPr/>
          <p:nvPr/>
        </p:nvSpPr>
        <p:spPr bwMode="auto">
          <a:xfrm>
            <a:off x="844726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내규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5" name="양쪽 모서리가 둥근 사각형 74"/>
          <p:cNvSpPr/>
          <p:nvPr/>
        </p:nvSpPr>
        <p:spPr bwMode="auto">
          <a:xfrm>
            <a:off x="149823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감사지적사항</a:t>
            </a:r>
          </a:p>
        </p:txBody>
      </p:sp>
      <p:sp>
        <p:nvSpPr>
          <p:cNvPr id="76" name="양쪽 모서리가 둥근 사각형 75"/>
          <p:cNvSpPr/>
          <p:nvPr/>
        </p:nvSpPr>
        <p:spPr bwMode="auto">
          <a:xfrm>
            <a:off x="2151736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감사보고</a:t>
            </a:r>
          </a:p>
        </p:txBody>
      </p:sp>
      <p:sp>
        <p:nvSpPr>
          <p:cNvPr id="77" name="양쪽 모서리가 둥근 사각형 76"/>
          <p:cNvSpPr/>
          <p:nvPr/>
        </p:nvSpPr>
        <p:spPr bwMode="auto">
          <a:xfrm>
            <a:off x="2805241" y="2453301"/>
            <a:ext cx="612000" cy="196107"/>
          </a:xfrm>
          <a:prstGeom prst="round2SameRect">
            <a:avLst/>
          </a:prstGeom>
          <a:solidFill>
            <a:schemeClr val="bg2">
              <a:lumMod val="75000"/>
            </a:schemeClr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500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 제재</a:t>
            </a:r>
            <a:r>
              <a:rPr kumimoji="0" lang="en-US" altLang="ko-KR" sz="500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500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경영유의사항</a:t>
            </a:r>
          </a:p>
        </p:txBody>
      </p:sp>
      <p:sp>
        <p:nvSpPr>
          <p:cNvPr id="78" name="양쪽 모서리가 둥근 사각형 77"/>
          <p:cNvSpPr/>
          <p:nvPr/>
        </p:nvSpPr>
        <p:spPr bwMode="auto">
          <a:xfrm>
            <a:off x="19122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endParaRPr kumimoji="0" lang="en-US" altLang="ko-KR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외규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법령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시행령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</a:t>
            </a:r>
            <a:r>
              <a:rPr kumimoji="0" lang="ko-KR" altLang="en-US" sz="7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독규정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</a:p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endParaRPr kumimoji="0" lang="ko-KR" altLang="en-US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0" name="양쪽 모서리가 둥근 사각형 79"/>
          <p:cNvSpPr/>
          <p:nvPr/>
        </p:nvSpPr>
        <p:spPr bwMode="auto">
          <a:xfrm>
            <a:off x="3458746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 </a:t>
            </a:r>
            <a:r>
              <a:rPr kumimoji="0" lang="en-US" altLang="ko-KR" sz="7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DART </a:t>
            </a:r>
            <a:r>
              <a:rPr kumimoji="0" lang="ko-KR" altLang="en-US" sz="700" kern="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공시자료</a:t>
            </a:r>
            <a:endParaRPr kumimoji="0" lang="en-US" altLang="ko-KR" sz="700" kern="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5" name="양쪽 모서리가 둥근 사각형 84"/>
          <p:cNvSpPr/>
          <p:nvPr/>
        </p:nvSpPr>
        <p:spPr bwMode="auto">
          <a:xfrm>
            <a:off x="411225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법령해석</a:t>
            </a:r>
            <a:r>
              <a:rPr kumimoji="0" lang="en-US" altLang="ko-KR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비조치의견서 </a:t>
            </a:r>
            <a:r>
              <a:rPr kumimoji="0" lang="ko-KR" altLang="en-US" sz="70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회신사례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6" name="양쪽 모서리가 둥근 사각형 85"/>
          <p:cNvSpPr/>
          <p:nvPr/>
        </p:nvSpPr>
        <p:spPr bwMode="auto">
          <a:xfrm>
            <a:off x="5419261" y="2476214"/>
            <a:ext cx="612000" cy="196107"/>
          </a:xfrm>
          <a:prstGeom prst="round2SameRect">
            <a:avLst/>
          </a:prstGeom>
          <a:noFill/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/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금융위원회 보도자료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7" name="양쪽 모서리가 둥근 사각형 86"/>
          <p:cNvSpPr/>
          <p:nvPr/>
        </p:nvSpPr>
        <p:spPr bwMode="auto">
          <a:xfrm>
            <a:off x="4765756" y="246619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네이버경제</a:t>
            </a:r>
            <a:endParaRPr kumimoji="0" lang="en-US" altLang="ko-KR" sz="700" dirty="0" smtClean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en-US" altLang="ko-KR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</a:t>
            </a:r>
            <a:r>
              <a:rPr kumimoji="0" lang="en-US" altLang="ko-KR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뉴스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8" name="양쪽 모서리가 둥근 사각형 87"/>
          <p:cNvSpPr/>
          <p:nvPr/>
        </p:nvSpPr>
        <p:spPr bwMode="auto">
          <a:xfrm>
            <a:off x="6072764" y="2453300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금융위</a:t>
            </a:r>
            <a:r>
              <a:rPr kumimoji="0" lang="en-US" altLang="ko-KR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증선위의결정보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0" name="직사각형 89"/>
          <p:cNvSpPr/>
          <p:nvPr/>
        </p:nvSpPr>
        <p:spPr bwMode="auto">
          <a:xfrm flipV="1">
            <a:off x="2769241" y="2428130"/>
            <a:ext cx="684000" cy="228049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2" name="타원 9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796745" y="231105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826742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MDD-00130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MDD72S40006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Knowledge 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검색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(6/10)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감사정보지원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정보관리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Knowledge</a:t>
                      </a:r>
                      <a:r>
                        <a:rPr lang="ko-KR" altLang="en-US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검색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(P172: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14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 기간 선택 및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키워드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입력 후 조회</a:t>
                      </a: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0" algn="l" defTabSz="914395" rtl="0" eaLnBrk="1" latinLnBrk="1" hangingPunct="1"/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171450" indent="-171450" algn="l" defTabSz="914395" rtl="0" eaLnBrk="1" latinLnBrk="1" hangingPunct="1">
                        <a:buFontTx/>
                        <a:buChar char="-"/>
                      </a:pP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키워드 미 입력 시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 기간은 현재 날짜 기준 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3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개월 이전까지로 제한</a:t>
                      </a: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171450" indent="-171450" algn="l" defTabSz="914395" rtl="0" eaLnBrk="1" latinLnBrk="1" hangingPunct="1">
                        <a:buFontTx/>
                        <a:buChar char="-"/>
                      </a:pP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키워드 입력 시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 기간 제한없이 조회됨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키워드에 입력된 문구를 가지고 아래 조건에 해당되는 건이 있을 경우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아래 표에 나타나도록 함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조건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)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보고서명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요약내용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본문내용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r>
                        <a:rPr lang="en-US" altLang="ko-KR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작성일자로 검색</a:t>
                      </a:r>
                      <a:endParaRPr lang="en-US" altLang="ko-KR" sz="800" b="0" baseline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검색된 결과 리스트의 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특정 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항목을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더블 클릭 시 상세정보 팝업 창이 나타난다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선택 항목에 대한 상세정보를 팝업 출력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kern="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34" name="그룹 33"/>
          <p:cNvGrpSpPr/>
          <p:nvPr/>
        </p:nvGrpSpPr>
        <p:grpSpPr>
          <a:xfrm>
            <a:off x="216414" y="1070813"/>
            <a:ext cx="6732899" cy="337771"/>
            <a:chOff x="355877" y="2160935"/>
            <a:chExt cx="6061214" cy="417554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44" name="양쪽 모서리가 둥근 사각형 43"/>
          <p:cNvSpPr/>
          <p:nvPr/>
        </p:nvSpPr>
        <p:spPr bwMode="auto">
          <a:xfrm>
            <a:off x="222917" y="1545148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00" ker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Knowledge </a:t>
            </a:r>
            <a:r>
              <a:rPr kumimoji="0" lang="ko-KR" altLang="en-US" sz="800" ker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검색</a:t>
            </a:r>
            <a:endParaRPr kumimoji="0" lang="en-US" altLang="ko-KR" sz="800" kern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16414" y="147055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7" name="직사각형 46"/>
          <p:cNvSpPr/>
          <p:nvPr/>
        </p:nvSpPr>
        <p:spPr bwMode="auto">
          <a:xfrm flipV="1">
            <a:off x="5873416" y="2131426"/>
            <a:ext cx="1075897" cy="22836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927295" y="215230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55385" y="2147302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54264" y="2150172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5" name="직사각형 64"/>
          <p:cNvSpPr/>
          <p:nvPr/>
        </p:nvSpPr>
        <p:spPr bwMode="auto">
          <a:xfrm>
            <a:off x="191221" y="2649408"/>
            <a:ext cx="6796193" cy="3477468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67" name="표 66"/>
          <p:cNvGraphicFramePr>
            <a:graphicFrameLocks noGrp="1"/>
          </p:cNvGraphicFramePr>
          <p:nvPr>
            <p:extLst/>
          </p:nvPr>
        </p:nvGraphicFramePr>
        <p:xfrm>
          <a:off x="268429" y="2736796"/>
          <a:ext cx="6581258" cy="9232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3394">
                  <a:extLst>
                    <a:ext uri="{9D8B030D-6E8A-4147-A177-3AD203B41FA5}">
                      <a16:colId xmlns:a16="http://schemas.microsoft.com/office/drawing/2014/main" val="3450297539"/>
                    </a:ext>
                  </a:extLst>
                </a:gridCol>
                <a:gridCol w="924468">
                  <a:extLst>
                    <a:ext uri="{9D8B030D-6E8A-4147-A177-3AD203B41FA5}">
                      <a16:colId xmlns:a16="http://schemas.microsoft.com/office/drawing/2014/main" val="676531661"/>
                    </a:ext>
                  </a:extLst>
                </a:gridCol>
                <a:gridCol w="822960">
                  <a:extLst>
                    <a:ext uri="{9D8B030D-6E8A-4147-A177-3AD203B41FA5}">
                      <a16:colId xmlns:a16="http://schemas.microsoft.com/office/drawing/2014/main" val="3410824408"/>
                    </a:ext>
                  </a:extLst>
                </a:gridCol>
                <a:gridCol w="748145">
                  <a:extLst>
                    <a:ext uri="{9D8B030D-6E8A-4147-A177-3AD203B41FA5}">
                      <a16:colId xmlns:a16="http://schemas.microsoft.com/office/drawing/2014/main" val="4103157827"/>
                    </a:ext>
                  </a:extLst>
                </a:gridCol>
                <a:gridCol w="2726812">
                  <a:extLst>
                    <a:ext uri="{9D8B030D-6E8A-4147-A177-3AD203B41FA5}">
                      <a16:colId xmlns:a16="http://schemas.microsoft.com/office/drawing/2014/main" val="257685759"/>
                    </a:ext>
                  </a:extLst>
                </a:gridCol>
                <a:gridCol w="1055479">
                  <a:extLst>
                    <a:ext uri="{9D8B030D-6E8A-4147-A177-3AD203B41FA5}">
                      <a16:colId xmlns:a16="http://schemas.microsoft.com/office/drawing/2014/main" val="2740147376"/>
                    </a:ext>
                  </a:extLst>
                </a:gridCol>
              </a:tblGrid>
              <a:tr h="2059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순번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공시대상회사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제출인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보고서명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8033730"/>
                  </a:ext>
                </a:extLst>
              </a:tr>
              <a:tr h="19915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2024-04-30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sng" strike="noStrike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공시대상회사</a:t>
                      </a:r>
                      <a:endParaRPr lang="ko-KR" altLang="en-US" sz="800" b="0" i="0" u="sng" strike="noStrike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삼일회계법인</a:t>
                      </a:r>
                      <a:endParaRPr lang="ko-KR" altLang="en-US" sz="7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감사보고서</a:t>
                      </a:r>
                      <a:r>
                        <a:rPr lang="en-US" altLang="ko-KR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(2024.09)</a:t>
                      </a:r>
                      <a:endParaRPr lang="ko-KR" alt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9908261"/>
                  </a:ext>
                </a:extLst>
              </a:tr>
              <a:tr h="17117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2024-04-29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024731"/>
                  </a:ext>
                </a:extLst>
              </a:tr>
              <a:tr h="16213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</a:p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5856585"/>
                  </a:ext>
                </a:extLst>
              </a:tr>
            </a:tbl>
          </a:graphicData>
        </a:graphic>
      </p:graphicFrame>
      <p:sp>
        <p:nvSpPr>
          <p:cNvPr id="70" name="타원 6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258368" y="298207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60" name="그림 5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30616" y="2952727"/>
            <a:ext cx="167353" cy="180975"/>
          </a:xfrm>
          <a:prstGeom prst="rect">
            <a:avLst/>
          </a:prstGeom>
        </p:spPr>
      </p:pic>
      <p:pic>
        <p:nvPicPr>
          <p:cNvPr id="66" name="그림 6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30615" y="3193717"/>
            <a:ext cx="167353" cy="180975"/>
          </a:xfrm>
          <a:prstGeom prst="rect">
            <a:avLst/>
          </a:prstGeom>
        </p:spPr>
      </p:pic>
      <p:sp>
        <p:nvSpPr>
          <p:cNvPr id="11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057031" y="3510503"/>
            <a:ext cx="3012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744358" y="3153046"/>
            <a:ext cx="34502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미수금</a:t>
            </a:r>
            <a:endParaRPr kumimoji="0" lang="ko-KR" altLang="en-US" sz="9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17" name="그림 11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448556" y="4010054"/>
            <a:ext cx="167353" cy="180975"/>
          </a:xfrm>
          <a:prstGeom prst="rect">
            <a:avLst/>
          </a:prstGeom>
        </p:spPr>
      </p:pic>
      <p:pic>
        <p:nvPicPr>
          <p:cNvPr id="118" name="그림 11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445495" y="4205639"/>
            <a:ext cx="167353" cy="180975"/>
          </a:xfrm>
          <a:prstGeom prst="rect">
            <a:avLst/>
          </a:prstGeom>
        </p:spPr>
      </p:pic>
      <p:sp>
        <p:nvSpPr>
          <p:cNvPr id="11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443557" y="3510503"/>
            <a:ext cx="3012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2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372304" y="3535442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21" name="직사각형 120"/>
          <p:cNvSpPr/>
          <p:nvPr/>
        </p:nvSpPr>
        <p:spPr bwMode="auto">
          <a:xfrm>
            <a:off x="1672697" y="3204440"/>
            <a:ext cx="5137237" cy="3107086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2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225844" y="5926282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닫기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124" name="표 123"/>
          <p:cNvGraphicFramePr>
            <a:graphicFrameLocks noGrp="1"/>
          </p:cNvGraphicFramePr>
          <p:nvPr>
            <p:extLst/>
          </p:nvPr>
        </p:nvGraphicFramePr>
        <p:xfrm>
          <a:off x="1704392" y="3267168"/>
          <a:ext cx="4983578" cy="265969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65630">
                  <a:extLst>
                    <a:ext uri="{9D8B030D-6E8A-4147-A177-3AD203B41FA5}">
                      <a16:colId xmlns:a16="http://schemas.microsoft.com/office/drawing/2014/main" val="1630994582"/>
                    </a:ext>
                  </a:extLst>
                </a:gridCol>
                <a:gridCol w="1811074">
                  <a:extLst>
                    <a:ext uri="{9D8B030D-6E8A-4147-A177-3AD203B41FA5}">
                      <a16:colId xmlns:a16="http://schemas.microsoft.com/office/drawing/2014/main" val="2045752900"/>
                    </a:ext>
                  </a:extLst>
                </a:gridCol>
                <a:gridCol w="674992">
                  <a:extLst>
                    <a:ext uri="{9D8B030D-6E8A-4147-A177-3AD203B41FA5}">
                      <a16:colId xmlns:a16="http://schemas.microsoft.com/office/drawing/2014/main" val="2662453202"/>
                    </a:ext>
                  </a:extLst>
                </a:gridCol>
                <a:gridCol w="1731882">
                  <a:extLst>
                    <a:ext uri="{9D8B030D-6E8A-4147-A177-3AD203B41FA5}">
                      <a16:colId xmlns:a16="http://schemas.microsoft.com/office/drawing/2014/main" val="3707926986"/>
                    </a:ext>
                  </a:extLst>
                </a:gridCol>
              </a:tblGrid>
              <a:tr h="2461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보고서명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8451336"/>
                  </a:ext>
                </a:extLst>
              </a:tr>
              <a:tr h="22444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공시대상회사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/>
                        <a:t> 제출인</a:t>
                      </a:r>
                      <a:endParaRPr lang="ko-KR" altLang="en-US" sz="800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/>
                        <a:t> </a:t>
                      </a:r>
                      <a:endParaRPr lang="ko-KR" altLang="en-US" sz="800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16464564"/>
                  </a:ext>
                </a:extLst>
              </a:tr>
              <a:tr h="23275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작성자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</a:t>
                      </a:r>
                      <a:r>
                        <a:rPr kumimoji="0" lang="ko-KR" altLang="en-US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작성일자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</a:t>
                      </a: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1806225"/>
                  </a:ext>
                </a:extLst>
              </a:tr>
              <a:tr h="67629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요약내용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35103145"/>
                  </a:ext>
                </a:extLst>
              </a:tr>
              <a:tr h="7760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본문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54201637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참부파일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1425522"/>
                  </a:ext>
                </a:extLst>
              </a:tr>
            </a:tbl>
          </a:graphicData>
        </a:graphic>
      </p:graphicFrame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508438" y="4688660"/>
            <a:ext cx="4076501" cy="709980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내부통제규정 개정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안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에 대한 사전협의 부탁드립니다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.</a:t>
            </a: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근거 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상임감사위원직무규정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-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별표</a:t>
            </a:r>
            <a:r>
              <a:rPr kumimoji="0" lang="en-US" altLang="ko-KR" sz="70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2-1.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정관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규정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지침 및 업무매뉴얼의 개정</a:t>
            </a:r>
            <a:endParaRPr kumimoji="0" lang="en-US" altLang="ko-KR" sz="70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b="0" i="0" u="none" strike="noStrike" kern="1200" cap="none" spc="0" normalizeH="0" baseline="0" noProof="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개정예정일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2024-05-02(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목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527371" y="5478407"/>
            <a:ext cx="4059236" cy="397978"/>
          </a:xfrm>
          <a:prstGeom prst="rect">
            <a:avLst/>
          </a:prstGeom>
          <a:solidFill>
            <a:schemeClr val="bg2">
              <a:lumMod val="9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rPr>
              <a:t>업로드 파일</a:t>
            </a:r>
            <a:r>
              <a:rPr kumimoji="0" lang="en-US" altLang="ko-KR" sz="800" b="0" i="0" u="none" strike="noStrike" kern="1200" cap="none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rPr>
              <a:t>.</a:t>
            </a:r>
            <a:r>
              <a:rPr kumimoji="0" lang="en-US" altLang="ko-KR" sz="8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+mj-ea"/>
                <a:ea typeface="+mj-ea"/>
              </a:rPr>
              <a:t>docx</a:t>
            </a:r>
            <a:endParaRPr kumimoji="0" lang="ko-KR" altLang="en-US" sz="800" b="0" i="0" u="none" strike="noStrike" kern="1200" cap="none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527371" y="4019749"/>
            <a:ext cx="4075173" cy="595014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 감사보고서 </a:t>
            </a:r>
            <a:endParaRPr kumimoji="0" lang="en-US" altLang="ko-KR" sz="80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2024-12-17</a:t>
            </a:r>
            <a:endParaRPr kumimoji="0" lang="ko-KR" altLang="en-US" sz="8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527371" y="3309459"/>
            <a:ext cx="4100801" cy="168014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 감사보고서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527371" y="3544684"/>
            <a:ext cx="1708344" cy="168234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증권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130" name="그룹 129"/>
          <p:cNvGrpSpPr/>
          <p:nvPr/>
        </p:nvGrpSpPr>
        <p:grpSpPr>
          <a:xfrm>
            <a:off x="5029502" y="3766913"/>
            <a:ext cx="1343121" cy="180915"/>
            <a:chOff x="1421952" y="2291860"/>
            <a:chExt cx="1343121" cy="180915"/>
          </a:xfrm>
          <a:solidFill>
            <a:schemeClr val="bg2">
              <a:lumMod val="90000"/>
            </a:schemeClr>
          </a:solidFill>
        </p:grpSpPr>
        <p:sp>
          <p:nvSpPr>
            <p:cNvPr id="131" name="직사각형 130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21952" y="2291860"/>
              <a:ext cx="1343121" cy="180915"/>
            </a:xfrm>
            <a:prstGeom prst="rect">
              <a:avLst/>
            </a:prstGeom>
            <a:grpFill/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2024-04-22</a:t>
              </a:r>
              <a:endParaRPr kumimoji="0" lang="ko-KR" altLang="en-US" sz="7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132" name="그림 131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542" y="2310827"/>
              <a:ext cx="164635" cy="157476"/>
            </a:xfrm>
            <a:prstGeom prst="rect">
              <a:avLst/>
            </a:prstGeom>
            <a:grpFill/>
          </p:spPr>
        </p:pic>
      </p:grp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029502" y="3548080"/>
            <a:ext cx="1598670" cy="156525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삼정회계법인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36" name="그림 135" descr="화면 캡처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099" t="-6769" r="22984" b="3888"/>
          <a:stretch/>
        </p:blipFill>
        <p:spPr>
          <a:xfrm>
            <a:off x="2527371" y="3723208"/>
            <a:ext cx="1058052" cy="228091"/>
          </a:xfrm>
          <a:prstGeom prst="rect">
            <a:avLst/>
          </a:prstGeom>
          <a:solidFill>
            <a:schemeClr val="bg2">
              <a:lumMod val="90000"/>
            </a:schemeClr>
          </a:solidFill>
        </p:spPr>
      </p:pic>
      <p:sp>
        <p:nvSpPr>
          <p:cNvPr id="138" name="타원 13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267801" y="493331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69" name="구부러진 연결선 68"/>
          <p:cNvCxnSpPr>
            <a:stCxn id="70" idx="6"/>
            <a:endCxn id="124" idx="1"/>
          </p:cNvCxnSpPr>
          <p:nvPr/>
        </p:nvCxnSpPr>
        <p:spPr bwMode="auto">
          <a:xfrm>
            <a:off x="1395974" y="3061857"/>
            <a:ext cx="308418" cy="1535157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68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72" name="내용 개체 틀 121"/>
          <p:cNvGraphicFramePr>
            <a:graphicFrameLocks/>
          </p:cNvGraphicFramePr>
          <p:nvPr>
            <p:extLst/>
          </p:nvPr>
        </p:nvGraphicFramePr>
        <p:xfrm>
          <a:off x="216412" y="1827372"/>
          <a:ext cx="6732901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1177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2125504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34206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3332014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키워드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73" name="직사각형 7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916423" y="1873163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991235" y="1869753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2024-04-30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75" name="그림 7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56823" y="1877003"/>
            <a:ext cx="181098" cy="173224"/>
          </a:xfrm>
          <a:prstGeom prst="rect">
            <a:avLst/>
          </a:prstGeom>
        </p:spPr>
      </p:pic>
      <p:pic>
        <p:nvPicPr>
          <p:cNvPr id="76" name="그림 7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630497" y="1878351"/>
            <a:ext cx="181098" cy="173224"/>
          </a:xfrm>
          <a:prstGeom prst="rect">
            <a:avLst/>
          </a:prstGeom>
        </p:spPr>
      </p:pic>
      <p:cxnSp>
        <p:nvCxnSpPr>
          <p:cNvPr id="77" name="직선 연결선 76"/>
          <p:cNvCxnSpPr/>
          <p:nvPr/>
        </p:nvCxnSpPr>
        <p:spPr bwMode="auto">
          <a:xfrm>
            <a:off x="1795070" y="1963615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712611" y="1862559"/>
            <a:ext cx="3168000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normalizeH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미수금</a:t>
            </a:r>
            <a:endParaRPr kumimoji="0" lang="ko-KR" altLang="en-US" sz="9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8" name="양쪽 모서리가 둥근 사각형 57"/>
          <p:cNvSpPr/>
          <p:nvPr/>
        </p:nvSpPr>
        <p:spPr bwMode="auto">
          <a:xfrm>
            <a:off x="844726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내규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9" name="양쪽 모서리가 둥근 사각형 58"/>
          <p:cNvSpPr/>
          <p:nvPr/>
        </p:nvSpPr>
        <p:spPr bwMode="auto">
          <a:xfrm>
            <a:off x="149823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감사지적사항</a:t>
            </a:r>
          </a:p>
        </p:txBody>
      </p:sp>
      <p:sp>
        <p:nvSpPr>
          <p:cNvPr id="61" name="양쪽 모서리가 둥근 사각형 60"/>
          <p:cNvSpPr/>
          <p:nvPr/>
        </p:nvSpPr>
        <p:spPr bwMode="auto">
          <a:xfrm>
            <a:off x="2151736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감사보고</a:t>
            </a:r>
          </a:p>
        </p:txBody>
      </p:sp>
      <p:sp>
        <p:nvSpPr>
          <p:cNvPr id="62" name="양쪽 모서리가 둥근 사각형 61"/>
          <p:cNvSpPr/>
          <p:nvPr/>
        </p:nvSpPr>
        <p:spPr bwMode="auto">
          <a:xfrm>
            <a:off x="280524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 제재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경영유의사항</a:t>
            </a:r>
          </a:p>
        </p:txBody>
      </p:sp>
      <p:sp>
        <p:nvSpPr>
          <p:cNvPr id="63" name="양쪽 모서리가 둥근 사각형 62"/>
          <p:cNvSpPr/>
          <p:nvPr/>
        </p:nvSpPr>
        <p:spPr bwMode="auto">
          <a:xfrm>
            <a:off x="19122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endParaRPr kumimoji="0" lang="en-US" altLang="ko-KR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외규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법령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시행령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</a:t>
            </a:r>
            <a:r>
              <a:rPr kumimoji="0" lang="ko-KR" altLang="en-US" sz="7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독규정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</a:p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endParaRPr kumimoji="0" lang="ko-KR" altLang="en-US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4" name="양쪽 모서리가 둥근 사각형 63"/>
          <p:cNvSpPr/>
          <p:nvPr/>
        </p:nvSpPr>
        <p:spPr bwMode="auto">
          <a:xfrm>
            <a:off x="3458746" y="2453301"/>
            <a:ext cx="612000" cy="196107"/>
          </a:xfrm>
          <a:prstGeom prst="round2SameRect">
            <a:avLst/>
          </a:prstGeom>
          <a:solidFill>
            <a:schemeClr val="bg2">
              <a:lumMod val="75000"/>
            </a:schemeClr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500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 </a:t>
            </a:r>
            <a:r>
              <a:rPr kumimoji="0" lang="en-US" altLang="ko-KR" sz="500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DART </a:t>
            </a:r>
            <a:r>
              <a:rPr kumimoji="0" lang="ko-KR" altLang="en-US" sz="500" dirty="0" err="1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공시자료</a:t>
            </a:r>
            <a:endParaRPr kumimoji="0" lang="en-US" altLang="ko-KR" sz="500" dirty="0">
              <a:solidFill>
                <a:schemeClr val="bg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1" name="양쪽 모서리가 둥근 사각형 70"/>
          <p:cNvSpPr/>
          <p:nvPr/>
        </p:nvSpPr>
        <p:spPr bwMode="auto">
          <a:xfrm>
            <a:off x="411225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법령해석</a:t>
            </a:r>
            <a:r>
              <a:rPr kumimoji="0" lang="en-US" altLang="ko-KR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비조치의견서 </a:t>
            </a:r>
            <a:r>
              <a:rPr kumimoji="0" lang="ko-KR" altLang="en-US" sz="70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회신사례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9" name="양쪽 모서리가 둥근 사각형 88"/>
          <p:cNvSpPr/>
          <p:nvPr/>
        </p:nvSpPr>
        <p:spPr bwMode="auto">
          <a:xfrm>
            <a:off x="5419261" y="2476214"/>
            <a:ext cx="612000" cy="196107"/>
          </a:xfrm>
          <a:prstGeom prst="round2SameRect">
            <a:avLst/>
          </a:prstGeom>
          <a:noFill/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/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금융위원회 보도자료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0" name="양쪽 모서리가 둥근 사각형 89"/>
          <p:cNvSpPr/>
          <p:nvPr/>
        </p:nvSpPr>
        <p:spPr bwMode="auto">
          <a:xfrm>
            <a:off x="4765756" y="246619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네이버경제</a:t>
            </a:r>
            <a:endParaRPr kumimoji="0" lang="en-US" altLang="ko-KR" sz="700" dirty="0" smtClean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en-US" altLang="ko-KR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</a:t>
            </a:r>
            <a:r>
              <a:rPr kumimoji="0" lang="en-US" altLang="ko-KR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뉴스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1" name="양쪽 모서리가 둥근 사각형 90"/>
          <p:cNvSpPr/>
          <p:nvPr/>
        </p:nvSpPr>
        <p:spPr bwMode="auto">
          <a:xfrm>
            <a:off x="6072764" y="2453300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금융위</a:t>
            </a:r>
            <a:r>
              <a:rPr kumimoji="0" lang="en-US" altLang="ko-KR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증선위의결정보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2" name="직사각형 91"/>
          <p:cNvSpPr/>
          <p:nvPr/>
        </p:nvSpPr>
        <p:spPr bwMode="auto">
          <a:xfrm flipV="1">
            <a:off x="3432181" y="2420510"/>
            <a:ext cx="684000" cy="228049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3" name="타원 9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459685" y="230343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815108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MDD-00130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MDD72S40007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Knowledge 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검색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(7/10)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감사정보지원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정보관리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Knowledge</a:t>
                      </a:r>
                      <a:r>
                        <a:rPr lang="ko-KR" altLang="en-US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검색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(P172: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14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 기간 선택 및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키워드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입력 후 조회</a:t>
                      </a: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0" algn="l" defTabSz="914395" rtl="0" eaLnBrk="1" latinLnBrk="1" hangingPunct="1"/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171450" indent="-171450" algn="l" defTabSz="914395" rtl="0" eaLnBrk="1" latinLnBrk="1" hangingPunct="1">
                        <a:buFontTx/>
                        <a:buChar char="-"/>
                      </a:pP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키워드 미 입력 시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 기간은 현재 날짜 기준 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3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개월 이전까지로 제한</a:t>
                      </a: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171450" indent="-171450" algn="l" defTabSz="914395" rtl="0" eaLnBrk="1" latinLnBrk="1" hangingPunct="1">
                        <a:buFontTx/>
                        <a:buChar char="-"/>
                      </a:pP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키워드 입력 시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 기간 제한없이 조회됨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키워드에 입력된 문구를 가지고 아래 조건에 해당되는 건이 있을 경우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아래 표에 나타나도록 함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조건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)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제목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소관부서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질의요지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회답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이유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r>
                        <a:rPr lang="en-US" altLang="ko-KR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baseline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회신일자로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검색</a:t>
                      </a:r>
                      <a:endParaRPr lang="en-US" altLang="ko-KR" sz="800" b="0" baseline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검색된 결과 리스트의 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특정 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항목을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더블 클릭 시 상세정보 팝업 창이 나타난다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선택 항목에 대한 상세정보를 팝업 출력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kern="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4" name="그룹 3"/>
          <p:cNvGrpSpPr/>
          <p:nvPr/>
        </p:nvGrpSpPr>
        <p:grpSpPr>
          <a:xfrm>
            <a:off x="216414" y="1070813"/>
            <a:ext cx="6732899" cy="337771"/>
            <a:chOff x="355877" y="2160935"/>
            <a:chExt cx="6061214" cy="417554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7" name="양쪽 모서리가 둥근 사각형 6"/>
          <p:cNvSpPr/>
          <p:nvPr/>
        </p:nvSpPr>
        <p:spPr bwMode="auto">
          <a:xfrm>
            <a:off x="222917" y="1545148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00" ker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Knowledge </a:t>
            </a:r>
            <a:r>
              <a:rPr kumimoji="0" lang="ko-KR" altLang="en-US" sz="800" ker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검색</a:t>
            </a:r>
            <a:endParaRPr kumimoji="0" lang="en-US" altLang="ko-KR" sz="800" kern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16414" y="147055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" name="직사각형 9"/>
          <p:cNvSpPr/>
          <p:nvPr/>
        </p:nvSpPr>
        <p:spPr bwMode="auto">
          <a:xfrm flipV="1">
            <a:off x="5873416" y="2131426"/>
            <a:ext cx="1075897" cy="22836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927295" y="215230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55385" y="2147302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54264" y="2150172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9" name="직사각형 28"/>
          <p:cNvSpPr/>
          <p:nvPr/>
        </p:nvSpPr>
        <p:spPr bwMode="auto">
          <a:xfrm>
            <a:off x="191221" y="2649408"/>
            <a:ext cx="6796193" cy="3477468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0" name="표 29"/>
          <p:cNvGraphicFramePr>
            <a:graphicFrameLocks noGrp="1"/>
          </p:cNvGraphicFramePr>
          <p:nvPr>
            <p:extLst/>
          </p:nvPr>
        </p:nvGraphicFramePr>
        <p:xfrm>
          <a:off x="268429" y="2736796"/>
          <a:ext cx="6581259" cy="90355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3394">
                  <a:extLst>
                    <a:ext uri="{9D8B030D-6E8A-4147-A177-3AD203B41FA5}">
                      <a16:colId xmlns:a16="http://schemas.microsoft.com/office/drawing/2014/main" val="3450297539"/>
                    </a:ext>
                  </a:extLst>
                </a:gridCol>
                <a:gridCol w="916155">
                  <a:extLst>
                    <a:ext uri="{9D8B030D-6E8A-4147-A177-3AD203B41FA5}">
                      <a16:colId xmlns:a16="http://schemas.microsoft.com/office/drawing/2014/main" val="676531661"/>
                    </a:ext>
                  </a:extLst>
                </a:gridCol>
                <a:gridCol w="889462">
                  <a:extLst>
                    <a:ext uri="{9D8B030D-6E8A-4147-A177-3AD203B41FA5}">
                      <a16:colId xmlns:a16="http://schemas.microsoft.com/office/drawing/2014/main" val="257685759"/>
                    </a:ext>
                  </a:extLst>
                </a:gridCol>
                <a:gridCol w="3815542">
                  <a:extLst>
                    <a:ext uri="{9D8B030D-6E8A-4147-A177-3AD203B41FA5}">
                      <a16:colId xmlns:a16="http://schemas.microsoft.com/office/drawing/2014/main" val="2740147376"/>
                    </a:ext>
                  </a:extLst>
                </a:gridCol>
                <a:gridCol w="656706">
                  <a:extLst>
                    <a:ext uri="{9D8B030D-6E8A-4147-A177-3AD203B41FA5}">
                      <a16:colId xmlns:a16="http://schemas.microsoft.com/office/drawing/2014/main" val="3583739241"/>
                    </a:ext>
                  </a:extLst>
                </a:gridCol>
              </a:tblGrid>
              <a:tr h="2893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순번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회신일자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소관부서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제목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최종수정일시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8033730"/>
                  </a:ext>
                </a:extLst>
              </a:tr>
              <a:tr h="19915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kumimoji="0" lang="en-US" altLang="ko-KR" sz="800" u="sng" kern="0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2024-12-01</a:t>
                      </a:r>
                      <a:endParaRPr lang="ko-KR" altLang="en-US" sz="800" b="0" i="0" u="sng" strike="noStrike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금융사기대응반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kumimoji="0" lang="ko-KR" altLang="en-US" sz="800" u="sng" kern="0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법령해석 제목</a:t>
                      </a:r>
                      <a:endParaRPr lang="ko-KR" altLang="en-US" sz="800" b="0" i="0" u="sng" strike="noStrike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sng" strike="noStrike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2024-05-08</a:t>
                      </a:r>
                      <a:endParaRPr lang="ko-KR" altLang="en-US" sz="800" b="0" i="0" u="sng" strike="noStrike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9908261"/>
                  </a:ext>
                </a:extLst>
              </a:tr>
              <a:tr h="17117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2024-01-02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금융사기대응반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비조치의견서 제목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1024731"/>
                  </a:ext>
                </a:extLst>
              </a:tr>
              <a:tr h="16213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</a:p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65856585"/>
                  </a:ext>
                </a:extLst>
              </a:tr>
            </a:tbl>
          </a:graphicData>
        </a:graphic>
      </p:graphicFrame>
      <p:sp>
        <p:nvSpPr>
          <p:cNvPr id="32" name="타원 3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258368" y="298207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209869" y="3174137"/>
            <a:ext cx="301200" cy="166427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96395" y="3174137"/>
            <a:ext cx="301200" cy="166427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209869" y="3174137"/>
            <a:ext cx="301200" cy="166427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96395" y="3174137"/>
            <a:ext cx="301200" cy="166427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25142" y="3199076"/>
            <a:ext cx="360000" cy="166427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7" name="직사각형 56"/>
          <p:cNvSpPr/>
          <p:nvPr/>
        </p:nvSpPr>
        <p:spPr bwMode="auto">
          <a:xfrm>
            <a:off x="1825535" y="2911290"/>
            <a:ext cx="5137237" cy="3435076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367866" y="6114634"/>
            <a:ext cx="360000" cy="166427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닫기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60" name="표 59"/>
          <p:cNvGraphicFramePr>
            <a:graphicFrameLocks noGrp="1"/>
          </p:cNvGraphicFramePr>
          <p:nvPr>
            <p:extLst/>
          </p:nvPr>
        </p:nvGraphicFramePr>
        <p:xfrm>
          <a:off x="1857230" y="3033356"/>
          <a:ext cx="4983578" cy="301597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65630">
                  <a:extLst>
                    <a:ext uri="{9D8B030D-6E8A-4147-A177-3AD203B41FA5}">
                      <a16:colId xmlns:a16="http://schemas.microsoft.com/office/drawing/2014/main" val="1630994582"/>
                    </a:ext>
                  </a:extLst>
                </a:gridCol>
                <a:gridCol w="1264208">
                  <a:extLst>
                    <a:ext uri="{9D8B030D-6E8A-4147-A177-3AD203B41FA5}">
                      <a16:colId xmlns:a16="http://schemas.microsoft.com/office/drawing/2014/main" val="2045752900"/>
                    </a:ext>
                  </a:extLst>
                </a:gridCol>
                <a:gridCol w="407324">
                  <a:extLst>
                    <a:ext uri="{9D8B030D-6E8A-4147-A177-3AD203B41FA5}">
                      <a16:colId xmlns:a16="http://schemas.microsoft.com/office/drawing/2014/main" val="2662453202"/>
                    </a:ext>
                  </a:extLst>
                </a:gridCol>
                <a:gridCol w="997527">
                  <a:extLst>
                    <a:ext uri="{9D8B030D-6E8A-4147-A177-3AD203B41FA5}">
                      <a16:colId xmlns:a16="http://schemas.microsoft.com/office/drawing/2014/main" val="3707926986"/>
                    </a:ext>
                  </a:extLst>
                </a:gridCol>
                <a:gridCol w="390698">
                  <a:extLst>
                    <a:ext uri="{9D8B030D-6E8A-4147-A177-3AD203B41FA5}">
                      <a16:colId xmlns:a16="http://schemas.microsoft.com/office/drawing/2014/main" val="3021174166"/>
                    </a:ext>
                  </a:extLst>
                </a:gridCol>
                <a:gridCol w="1158191">
                  <a:extLst>
                    <a:ext uri="{9D8B030D-6E8A-4147-A177-3AD203B41FA5}">
                      <a16:colId xmlns:a16="http://schemas.microsoft.com/office/drawing/2014/main" val="625923936"/>
                    </a:ext>
                  </a:extLst>
                </a:gridCol>
              </a:tblGrid>
              <a:tr h="22266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제목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8451336"/>
                  </a:ext>
                </a:extLst>
              </a:tr>
              <a:tr h="21613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소관부서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16464564"/>
                  </a:ext>
                </a:extLst>
              </a:tr>
              <a:tr h="2731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작성자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작성일자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</a:t>
                      </a: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</a:t>
                      </a:r>
                      <a:r>
                        <a:rPr kumimoji="0" lang="ko-KR" altLang="en-US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회신일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1806225"/>
                  </a:ext>
                </a:extLst>
              </a:tr>
              <a:tr h="74758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질의요지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35103145"/>
                  </a:ext>
                </a:extLst>
              </a:tr>
              <a:tr h="81280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회답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54201637"/>
                  </a:ext>
                </a:extLst>
              </a:tr>
              <a:tr h="7436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이유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1425522"/>
                  </a:ext>
                </a:extLst>
              </a:tr>
            </a:tbl>
          </a:graphicData>
        </a:graphic>
      </p:graphicFrame>
      <p:sp>
        <p:nvSpPr>
          <p:cNvPr id="61" name="직사각형 6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62944" y="4507365"/>
            <a:ext cx="4076501" cy="796699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내부통제규정 개정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안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에 대한 사전협의 부탁드립니다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.</a:t>
            </a: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근거 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상임감사위원직무규정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-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별표</a:t>
            </a:r>
            <a:r>
              <a:rPr kumimoji="0" lang="en-US" altLang="ko-KR" sz="70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2-1.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정관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규정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지침 및 업무매뉴얼의 개정</a:t>
            </a:r>
            <a:endParaRPr kumimoji="0" lang="en-US" altLang="ko-KR" sz="70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b="0" i="0" u="none" strike="noStrike" kern="1200" cap="none" spc="0" normalizeH="0" baseline="0" noProof="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개정예정일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2024-05-02(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목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관련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현황 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2024-04-18</a:t>
            </a:r>
            <a:r>
              <a:rPr kumimoji="0" lang="en-US" altLang="ko-KR" sz="700" b="0" i="0" u="none" strike="noStrike" kern="1200" cap="none" spc="0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ko-KR" altLang="en-US" sz="700" b="0" i="0" u="none" strike="noStrike" kern="1200" cap="none" spc="0" normalizeH="0" noProof="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법무팀</a:t>
            </a:r>
            <a:r>
              <a:rPr kumimoji="0" lang="ko-KR" altLang="en-US" sz="700" b="0" i="0" u="none" strike="noStrike" kern="1200" cap="none" spc="0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사전협의 완료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71576" y="5362923"/>
            <a:ext cx="4059236" cy="613386"/>
          </a:xfrm>
          <a:prstGeom prst="rect">
            <a:avLst/>
          </a:prstGeom>
          <a:solidFill>
            <a:schemeClr val="bg2">
              <a:lumMod val="9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rPr>
              <a:t>이유</a:t>
            </a:r>
            <a:r>
              <a:rPr kumimoji="0" lang="en-US" altLang="ko-KR" sz="800" b="0" i="0" u="none" strike="noStrike" kern="1200" cap="none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rPr>
              <a:t>!!!!!!!!!!</a:t>
            </a:r>
            <a:endParaRPr kumimoji="0" lang="ko-KR" altLang="en-US" sz="800" b="0" i="0" u="none" strike="noStrike" kern="1200" cap="none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80209" y="3766114"/>
            <a:ext cx="4075173" cy="689920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 감사보고서 </a:t>
            </a:r>
            <a:endParaRPr kumimoji="0" lang="en-US" altLang="ko-KR" sz="80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2024-12-17</a:t>
            </a:r>
            <a:endParaRPr kumimoji="0" lang="ko-KR" altLang="en-US" sz="8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80209" y="3047006"/>
            <a:ext cx="4100801" cy="155345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 감사보고서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80209" y="3273936"/>
            <a:ext cx="1708344" cy="155548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금융사기대응단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66" name="그룹 65"/>
          <p:cNvGrpSpPr/>
          <p:nvPr/>
        </p:nvGrpSpPr>
        <p:grpSpPr>
          <a:xfrm>
            <a:off x="4317350" y="3516128"/>
            <a:ext cx="826516" cy="136351"/>
            <a:chOff x="1421952" y="2291860"/>
            <a:chExt cx="1343121" cy="180915"/>
          </a:xfrm>
          <a:solidFill>
            <a:schemeClr val="bg2">
              <a:lumMod val="90000"/>
            </a:schemeClr>
          </a:solidFill>
        </p:grpSpPr>
        <p:sp>
          <p:nvSpPr>
            <p:cNvPr id="67" name="직사각형 66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21952" y="2291860"/>
              <a:ext cx="1343121" cy="180915"/>
            </a:xfrm>
            <a:prstGeom prst="rect">
              <a:avLst/>
            </a:prstGeom>
            <a:grpFill/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2024-04-22</a:t>
              </a:r>
              <a:endParaRPr kumimoji="0" lang="ko-KR" altLang="en-US" sz="7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68" name="그림 67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2576542" y="2310827"/>
              <a:ext cx="164635" cy="157476"/>
            </a:xfrm>
            <a:prstGeom prst="rect">
              <a:avLst/>
            </a:prstGeom>
            <a:grpFill/>
          </p:spPr>
        </p:pic>
      </p:grpSp>
      <p:pic>
        <p:nvPicPr>
          <p:cNvPr id="69" name="그림 68" descr="화면 캡처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099" t="-6769" r="22984" b="3888"/>
          <a:stretch/>
        </p:blipFill>
        <p:spPr>
          <a:xfrm>
            <a:off x="2680209" y="3465286"/>
            <a:ext cx="1058052" cy="210892"/>
          </a:xfrm>
          <a:prstGeom prst="rect">
            <a:avLst/>
          </a:prstGeom>
        </p:spPr>
      </p:pic>
      <p:sp>
        <p:nvSpPr>
          <p:cNvPr id="72" name="타원 7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875430" y="2960872"/>
            <a:ext cx="137606" cy="14752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5710952" y="3514522"/>
            <a:ext cx="826516" cy="136351"/>
            <a:chOff x="1421952" y="2291860"/>
            <a:chExt cx="1343121" cy="180915"/>
          </a:xfrm>
          <a:solidFill>
            <a:schemeClr val="bg2">
              <a:lumMod val="90000"/>
            </a:schemeClr>
          </a:solidFill>
        </p:grpSpPr>
        <p:sp>
          <p:nvSpPr>
            <p:cNvPr id="74" name="직사각형 73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21952" y="2291860"/>
              <a:ext cx="1343121" cy="180915"/>
            </a:xfrm>
            <a:prstGeom prst="rect">
              <a:avLst/>
            </a:prstGeom>
            <a:solidFill>
              <a:schemeClr val="bg2">
                <a:lumMod val="90000"/>
              </a:schemeClr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2024-04-22</a:t>
              </a:r>
              <a:endParaRPr kumimoji="0" lang="ko-KR" altLang="en-US" sz="7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2576542" y="2310827"/>
              <a:ext cx="164635" cy="157476"/>
            </a:xfrm>
            <a:prstGeom prst="rect">
              <a:avLst/>
            </a:prstGeom>
            <a:grpFill/>
          </p:spPr>
        </p:pic>
      </p:grpSp>
      <p:cxnSp>
        <p:nvCxnSpPr>
          <p:cNvPr id="31" name="구부러진 연결선 30"/>
          <p:cNvCxnSpPr>
            <a:stCxn id="32" idx="6"/>
            <a:endCxn id="60" idx="1"/>
          </p:cNvCxnSpPr>
          <p:nvPr/>
        </p:nvCxnSpPr>
        <p:spPr bwMode="auto">
          <a:xfrm>
            <a:off x="1395974" y="3061857"/>
            <a:ext cx="461256" cy="1479485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58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70" name="내용 개체 틀 121"/>
          <p:cNvGraphicFramePr>
            <a:graphicFrameLocks/>
          </p:cNvGraphicFramePr>
          <p:nvPr>
            <p:extLst/>
          </p:nvPr>
        </p:nvGraphicFramePr>
        <p:xfrm>
          <a:off x="216412" y="1827372"/>
          <a:ext cx="6732901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1177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2125504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34206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3332014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키워드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71" name="직사각형 7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916423" y="1873163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991235" y="1869753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2024-04-30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77" name="그림 7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56823" y="1877003"/>
            <a:ext cx="181098" cy="173224"/>
          </a:xfrm>
          <a:prstGeom prst="rect">
            <a:avLst/>
          </a:prstGeom>
        </p:spPr>
      </p:pic>
      <p:pic>
        <p:nvPicPr>
          <p:cNvPr id="78" name="그림 7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630497" y="1878351"/>
            <a:ext cx="181098" cy="173224"/>
          </a:xfrm>
          <a:prstGeom prst="rect">
            <a:avLst/>
          </a:prstGeom>
        </p:spPr>
      </p:pic>
      <p:cxnSp>
        <p:nvCxnSpPr>
          <p:cNvPr id="79" name="직선 연결선 78"/>
          <p:cNvCxnSpPr/>
          <p:nvPr/>
        </p:nvCxnSpPr>
        <p:spPr bwMode="auto">
          <a:xfrm>
            <a:off x="1795070" y="1963615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712611" y="1862559"/>
            <a:ext cx="3168000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normalizeH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미수금</a:t>
            </a:r>
            <a:endParaRPr kumimoji="0" lang="ko-KR" altLang="en-US" sz="9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1" name="양쪽 모서리가 둥근 사각형 90"/>
          <p:cNvSpPr/>
          <p:nvPr/>
        </p:nvSpPr>
        <p:spPr bwMode="auto">
          <a:xfrm>
            <a:off x="844726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내규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2" name="양쪽 모서리가 둥근 사각형 91"/>
          <p:cNvSpPr/>
          <p:nvPr/>
        </p:nvSpPr>
        <p:spPr bwMode="auto">
          <a:xfrm>
            <a:off x="149823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감사지적사항</a:t>
            </a:r>
          </a:p>
        </p:txBody>
      </p:sp>
      <p:sp>
        <p:nvSpPr>
          <p:cNvPr id="93" name="양쪽 모서리가 둥근 사각형 92"/>
          <p:cNvSpPr/>
          <p:nvPr/>
        </p:nvSpPr>
        <p:spPr bwMode="auto">
          <a:xfrm>
            <a:off x="2151736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감사보고</a:t>
            </a:r>
          </a:p>
        </p:txBody>
      </p:sp>
      <p:sp>
        <p:nvSpPr>
          <p:cNvPr id="94" name="양쪽 모서리가 둥근 사각형 93"/>
          <p:cNvSpPr/>
          <p:nvPr/>
        </p:nvSpPr>
        <p:spPr bwMode="auto">
          <a:xfrm>
            <a:off x="280524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 제재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경영유의사항</a:t>
            </a:r>
          </a:p>
        </p:txBody>
      </p:sp>
      <p:sp>
        <p:nvSpPr>
          <p:cNvPr id="95" name="양쪽 모서리가 둥근 사각형 94"/>
          <p:cNvSpPr/>
          <p:nvPr/>
        </p:nvSpPr>
        <p:spPr bwMode="auto">
          <a:xfrm>
            <a:off x="19122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endParaRPr kumimoji="0" lang="en-US" altLang="ko-KR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외규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법령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시행령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</a:t>
            </a:r>
            <a:r>
              <a:rPr kumimoji="0" lang="ko-KR" altLang="en-US" sz="7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독규정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</a:p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endParaRPr kumimoji="0" lang="ko-KR" altLang="en-US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6" name="양쪽 모서리가 둥근 사각형 95"/>
          <p:cNvSpPr/>
          <p:nvPr/>
        </p:nvSpPr>
        <p:spPr bwMode="auto">
          <a:xfrm>
            <a:off x="3458746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 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DART </a:t>
            </a:r>
            <a:r>
              <a:rPr kumimoji="0" lang="ko-KR" altLang="en-US" sz="7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공시자료</a:t>
            </a:r>
            <a:endParaRPr kumimoji="0" lang="en-US" altLang="ko-KR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7" name="양쪽 모서리가 둥근 사각형 96"/>
          <p:cNvSpPr/>
          <p:nvPr/>
        </p:nvSpPr>
        <p:spPr bwMode="auto">
          <a:xfrm>
            <a:off x="4112251" y="2453301"/>
            <a:ext cx="612000" cy="196107"/>
          </a:xfrm>
          <a:prstGeom prst="round2SameRect">
            <a:avLst/>
          </a:prstGeom>
          <a:solidFill>
            <a:schemeClr val="bg2">
              <a:lumMod val="75000"/>
            </a:schemeClr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500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법령해석</a:t>
            </a:r>
            <a:r>
              <a:rPr kumimoji="0" lang="en-US" altLang="ko-KR" sz="500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500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비조치의견서 </a:t>
            </a:r>
            <a:r>
              <a:rPr kumimoji="0" lang="ko-KR" altLang="en-US" sz="500" dirty="0" err="1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회신사례</a:t>
            </a:r>
            <a:endParaRPr kumimoji="0" lang="ko-KR" altLang="en-US" sz="500" dirty="0">
              <a:solidFill>
                <a:schemeClr val="bg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8" name="양쪽 모서리가 둥근 사각형 97"/>
          <p:cNvSpPr/>
          <p:nvPr/>
        </p:nvSpPr>
        <p:spPr bwMode="auto">
          <a:xfrm>
            <a:off x="5419261" y="2476214"/>
            <a:ext cx="612000" cy="196107"/>
          </a:xfrm>
          <a:prstGeom prst="round2SameRect">
            <a:avLst/>
          </a:prstGeom>
          <a:noFill/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/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금융위원회 보도자료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9" name="양쪽 모서리가 둥근 사각형 98"/>
          <p:cNvSpPr/>
          <p:nvPr/>
        </p:nvSpPr>
        <p:spPr bwMode="auto">
          <a:xfrm>
            <a:off x="4765756" y="246619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네이버경제</a:t>
            </a:r>
            <a:endParaRPr kumimoji="0" lang="en-US" altLang="ko-KR" sz="700" dirty="0" smtClean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en-US" altLang="ko-KR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</a:t>
            </a:r>
            <a:r>
              <a:rPr kumimoji="0" lang="en-US" altLang="ko-KR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7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뉴스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0" name="양쪽 모서리가 둥근 사각형 99"/>
          <p:cNvSpPr/>
          <p:nvPr/>
        </p:nvSpPr>
        <p:spPr bwMode="auto">
          <a:xfrm>
            <a:off x="6072764" y="2453300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금융위</a:t>
            </a:r>
            <a:r>
              <a:rPr kumimoji="0" lang="en-US" altLang="ko-KR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증선위의결정보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1" name="직사각형 100"/>
          <p:cNvSpPr/>
          <p:nvPr/>
        </p:nvSpPr>
        <p:spPr bwMode="auto">
          <a:xfrm flipV="1">
            <a:off x="4079881" y="2435750"/>
            <a:ext cx="684000" cy="228049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2" name="타원 10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107385" y="231867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97132809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MDD-00130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MDD72S40008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Knowledge 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검색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(8/10)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감사정보지원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정보관리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Knowledge</a:t>
                      </a:r>
                      <a:r>
                        <a:rPr lang="ko-KR" altLang="en-US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검색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(P172: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714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 기간 선택 및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키워드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입력 후 조회</a:t>
                      </a: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0" algn="l" defTabSz="914395" rtl="0" eaLnBrk="1" latinLnBrk="1" hangingPunct="1"/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171450" indent="-171450" algn="l" defTabSz="914395" rtl="0" eaLnBrk="1" latinLnBrk="1" hangingPunct="1">
                        <a:buFontTx/>
                        <a:buChar char="-"/>
                      </a:pP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키워드 미 입력 시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 기간은 현재 날짜 기준 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3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개월 이전까지로 제한</a:t>
                      </a: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171450" indent="-171450" algn="l" defTabSz="914395" rtl="0" eaLnBrk="1" latinLnBrk="1" hangingPunct="1">
                        <a:buFontTx/>
                        <a:buChar char="-"/>
                      </a:pP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키워드 입력 시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 기간 제한없이 조회됨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키워드에 입력된 문구를 가지고 아래 조건에 해당되는 건이 있을 경우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아래 표에 나타나도록 함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조건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)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요약내용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본문내용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r>
                        <a:rPr lang="en-US" altLang="ko-KR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작성일자로 검색</a:t>
                      </a:r>
                      <a:endParaRPr lang="en-US" altLang="ko-KR" sz="800" b="0" baseline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검색된 결과 리스트의 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특정 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항목을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더블 클릭 시 상세정보 팝업 창이 나타난다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선택 항목에 대한 상세정보를 팝업 출력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kern="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4" name="그룹 3"/>
          <p:cNvGrpSpPr/>
          <p:nvPr/>
        </p:nvGrpSpPr>
        <p:grpSpPr>
          <a:xfrm>
            <a:off x="216414" y="1070813"/>
            <a:ext cx="6732899" cy="337771"/>
            <a:chOff x="355877" y="2160935"/>
            <a:chExt cx="6061214" cy="417554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7" name="양쪽 모서리가 둥근 사각형 6"/>
          <p:cNvSpPr/>
          <p:nvPr/>
        </p:nvSpPr>
        <p:spPr bwMode="auto">
          <a:xfrm>
            <a:off x="222917" y="1545148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00" ker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Knowledge </a:t>
            </a:r>
            <a:r>
              <a:rPr kumimoji="0" lang="ko-KR" altLang="en-US" sz="800" ker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검색</a:t>
            </a:r>
            <a:endParaRPr kumimoji="0" lang="en-US" altLang="ko-KR" sz="800" kern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16414" y="147055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" name="직사각형 9"/>
          <p:cNvSpPr/>
          <p:nvPr/>
        </p:nvSpPr>
        <p:spPr bwMode="auto">
          <a:xfrm flipV="1">
            <a:off x="5873416" y="2131426"/>
            <a:ext cx="1075897" cy="22836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927295" y="215230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55385" y="2147302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54264" y="2150172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49" name="표 48"/>
          <p:cNvGraphicFramePr>
            <a:graphicFrameLocks noGrp="1"/>
          </p:cNvGraphicFramePr>
          <p:nvPr>
            <p:extLst/>
          </p:nvPr>
        </p:nvGraphicFramePr>
        <p:xfrm>
          <a:off x="193612" y="2637040"/>
          <a:ext cx="6581258" cy="9232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3394">
                  <a:extLst>
                    <a:ext uri="{9D8B030D-6E8A-4147-A177-3AD203B41FA5}">
                      <a16:colId xmlns:a16="http://schemas.microsoft.com/office/drawing/2014/main" val="3450297539"/>
                    </a:ext>
                  </a:extLst>
                </a:gridCol>
                <a:gridCol w="924468">
                  <a:extLst>
                    <a:ext uri="{9D8B030D-6E8A-4147-A177-3AD203B41FA5}">
                      <a16:colId xmlns:a16="http://schemas.microsoft.com/office/drawing/2014/main" val="676531661"/>
                    </a:ext>
                  </a:extLst>
                </a:gridCol>
                <a:gridCol w="822960">
                  <a:extLst>
                    <a:ext uri="{9D8B030D-6E8A-4147-A177-3AD203B41FA5}">
                      <a16:colId xmlns:a16="http://schemas.microsoft.com/office/drawing/2014/main" val="3410824408"/>
                    </a:ext>
                  </a:extLst>
                </a:gridCol>
                <a:gridCol w="2801391">
                  <a:extLst>
                    <a:ext uri="{9D8B030D-6E8A-4147-A177-3AD203B41FA5}">
                      <a16:colId xmlns:a16="http://schemas.microsoft.com/office/drawing/2014/main" val="4103157827"/>
                    </a:ext>
                  </a:extLst>
                </a:gridCol>
                <a:gridCol w="673566">
                  <a:extLst>
                    <a:ext uri="{9D8B030D-6E8A-4147-A177-3AD203B41FA5}">
                      <a16:colId xmlns:a16="http://schemas.microsoft.com/office/drawing/2014/main" val="257685759"/>
                    </a:ext>
                  </a:extLst>
                </a:gridCol>
                <a:gridCol w="1055479">
                  <a:extLst>
                    <a:ext uri="{9D8B030D-6E8A-4147-A177-3AD203B41FA5}">
                      <a16:colId xmlns:a16="http://schemas.microsoft.com/office/drawing/2014/main" val="2740147376"/>
                    </a:ext>
                  </a:extLst>
                </a:gridCol>
              </a:tblGrid>
              <a:tr h="2059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순번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작성일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요약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최종수정일시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8033730"/>
                  </a:ext>
                </a:extLst>
              </a:tr>
              <a:tr h="19915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2024-04-30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sng" strike="noStrike" dirty="0" err="1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네이버뉴스</a:t>
                      </a:r>
                      <a:endParaRPr lang="ko-KR" altLang="en-US" sz="800" b="0" i="0" u="sng" strike="noStrike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삼일회계법인</a:t>
                      </a:r>
                      <a:endParaRPr lang="ko-KR" altLang="en-US" sz="7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2024-04-09 09: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9908261"/>
                  </a:ext>
                </a:extLst>
              </a:tr>
              <a:tr h="17117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2024-04-29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024731"/>
                  </a:ext>
                </a:extLst>
              </a:tr>
              <a:tr h="16213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</a:p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5856585"/>
                  </a:ext>
                </a:extLst>
              </a:tr>
            </a:tbl>
          </a:graphicData>
        </a:graphic>
      </p:graphicFrame>
      <p:sp>
        <p:nvSpPr>
          <p:cNvPr id="52" name="타원 5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183551" y="288232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53" name="그림 5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281068" y="2846184"/>
            <a:ext cx="167353" cy="180975"/>
          </a:xfrm>
          <a:prstGeom prst="rect">
            <a:avLst/>
          </a:prstGeom>
        </p:spPr>
      </p:pic>
      <p:pic>
        <p:nvPicPr>
          <p:cNvPr id="54" name="그림 5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55798" y="3010833"/>
            <a:ext cx="167353" cy="180975"/>
          </a:xfrm>
          <a:prstGeom prst="rect">
            <a:avLst/>
          </a:prstGeom>
        </p:spPr>
      </p:pic>
      <p:sp>
        <p:nvSpPr>
          <p:cNvPr id="5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982214" y="3327619"/>
            <a:ext cx="3012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71" name="그림 7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390365" y="3602719"/>
            <a:ext cx="167353" cy="180975"/>
          </a:xfrm>
          <a:prstGeom prst="rect">
            <a:avLst/>
          </a:prstGeom>
        </p:spPr>
      </p:pic>
      <p:pic>
        <p:nvPicPr>
          <p:cNvPr id="76" name="그림 7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387304" y="3798304"/>
            <a:ext cx="167353" cy="180975"/>
          </a:xfrm>
          <a:prstGeom prst="rect">
            <a:avLst/>
          </a:prstGeom>
        </p:spPr>
      </p:pic>
      <p:sp>
        <p:nvSpPr>
          <p:cNvPr id="7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368740" y="3327619"/>
            <a:ext cx="3012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297487" y="3352558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9" name="직사각형 78"/>
          <p:cNvSpPr/>
          <p:nvPr/>
        </p:nvSpPr>
        <p:spPr bwMode="auto">
          <a:xfrm>
            <a:off x="1597880" y="3021556"/>
            <a:ext cx="5137237" cy="3179739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75966" y="5959522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닫기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81" name="표 80"/>
          <p:cNvGraphicFramePr>
            <a:graphicFrameLocks noGrp="1"/>
          </p:cNvGraphicFramePr>
          <p:nvPr>
            <p:extLst/>
          </p:nvPr>
        </p:nvGraphicFramePr>
        <p:xfrm>
          <a:off x="1629575" y="3084284"/>
          <a:ext cx="4983578" cy="291600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65630">
                  <a:extLst>
                    <a:ext uri="{9D8B030D-6E8A-4147-A177-3AD203B41FA5}">
                      <a16:colId xmlns:a16="http://schemas.microsoft.com/office/drawing/2014/main" val="1630994582"/>
                    </a:ext>
                  </a:extLst>
                </a:gridCol>
                <a:gridCol w="1811074">
                  <a:extLst>
                    <a:ext uri="{9D8B030D-6E8A-4147-A177-3AD203B41FA5}">
                      <a16:colId xmlns:a16="http://schemas.microsoft.com/office/drawing/2014/main" val="2045752900"/>
                    </a:ext>
                  </a:extLst>
                </a:gridCol>
                <a:gridCol w="674992">
                  <a:extLst>
                    <a:ext uri="{9D8B030D-6E8A-4147-A177-3AD203B41FA5}">
                      <a16:colId xmlns:a16="http://schemas.microsoft.com/office/drawing/2014/main" val="2662453202"/>
                    </a:ext>
                  </a:extLst>
                </a:gridCol>
                <a:gridCol w="1731882">
                  <a:extLst>
                    <a:ext uri="{9D8B030D-6E8A-4147-A177-3AD203B41FA5}">
                      <a16:colId xmlns:a16="http://schemas.microsoft.com/office/drawing/2014/main" val="3707926986"/>
                    </a:ext>
                  </a:extLst>
                </a:gridCol>
              </a:tblGrid>
              <a:tr h="2461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구분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8451336"/>
                  </a:ext>
                </a:extLst>
              </a:tr>
              <a:tr h="23275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작성자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</a:t>
                      </a:r>
                      <a:r>
                        <a:rPr kumimoji="0" lang="ko-KR" altLang="en-US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작성일자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</a:t>
                      </a: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1806225"/>
                  </a:ext>
                </a:extLst>
              </a:tr>
              <a:tr h="75645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요약내용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35103145"/>
                  </a:ext>
                </a:extLst>
              </a:tr>
              <a:tr h="9975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본문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54201637"/>
                  </a:ext>
                </a:extLst>
              </a:tr>
              <a:tr h="68310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참부파일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1425522"/>
                  </a:ext>
                </a:extLst>
              </a:tr>
            </a:tbl>
          </a:graphicData>
        </a:graphic>
      </p:graphicFrame>
      <p:sp>
        <p:nvSpPr>
          <p:cNvPr id="82" name="직사각형 8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450247" y="4389389"/>
            <a:ext cx="4076501" cy="824605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내부통제규정 개정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안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에 대한 사전협의 부탁드립니다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.</a:t>
            </a: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근거 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상임감사위원직무규정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-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별표</a:t>
            </a:r>
            <a:r>
              <a:rPr kumimoji="0" lang="en-US" altLang="ko-KR" sz="70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2-1.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정관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규정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지침 및 업무매뉴얼의 개정</a:t>
            </a:r>
            <a:endParaRPr kumimoji="0" lang="en-US" altLang="ko-KR" sz="70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b="0" i="0" u="none" strike="noStrike" kern="1200" cap="none" spc="0" normalizeH="0" baseline="0" noProof="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개정예정일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2024-05-02(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목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관련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현황 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2024-04-18</a:t>
            </a:r>
            <a:r>
              <a:rPr kumimoji="0" lang="en-US" altLang="ko-KR" sz="700" b="0" i="0" u="none" strike="noStrike" kern="1200" cap="none" spc="0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ko-KR" altLang="en-US" sz="700" b="0" i="0" u="none" strike="noStrike" kern="1200" cap="none" spc="0" normalizeH="0" noProof="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법무팀</a:t>
            </a:r>
            <a:r>
              <a:rPr kumimoji="0" lang="ko-KR" altLang="en-US" sz="700" b="0" i="0" u="none" strike="noStrike" kern="1200" cap="none" spc="0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사전협의 완료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469180" y="5503336"/>
            <a:ext cx="4059236" cy="397978"/>
          </a:xfrm>
          <a:prstGeom prst="rect">
            <a:avLst/>
          </a:prstGeom>
          <a:solidFill>
            <a:schemeClr val="bg2">
              <a:lumMod val="9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rPr>
              <a:t>업로드 파일</a:t>
            </a:r>
            <a:r>
              <a:rPr kumimoji="0" lang="en-US" altLang="ko-KR" sz="800" b="0" i="0" u="none" strike="noStrike" kern="1200" cap="none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rPr>
              <a:t>.</a:t>
            </a:r>
            <a:r>
              <a:rPr kumimoji="0" lang="en-US" altLang="ko-KR" sz="8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+mj-ea"/>
                <a:ea typeface="+mj-ea"/>
              </a:rPr>
              <a:t>docx</a:t>
            </a:r>
            <a:endParaRPr kumimoji="0" lang="ko-KR" altLang="en-US" sz="800" b="0" i="0" u="none" strike="noStrike" kern="1200" cap="none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469180" y="3612414"/>
            <a:ext cx="4075173" cy="595014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 감사보고서 </a:t>
            </a:r>
            <a:endParaRPr kumimoji="0" lang="en-US" altLang="ko-KR" sz="80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2024-12-17</a:t>
            </a:r>
            <a:endParaRPr kumimoji="0" lang="ko-KR" altLang="en-US" sz="8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452554" y="3126575"/>
            <a:ext cx="4100801" cy="168014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 감사보고서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87" name="그룹 86"/>
          <p:cNvGrpSpPr/>
          <p:nvPr/>
        </p:nvGrpSpPr>
        <p:grpSpPr>
          <a:xfrm>
            <a:off x="4971311" y="3359578"/>
            <a:ext cx="1343121" cy="180915"/>
            <a:chOff x="1421952" y="2291860"/>
            <a:chExt cx="1343121" cy="180915"/>
          </a:xfrm>
          <a:solidFill>
            <a:schemeClr val="bg2">
              <a:lumMod val="90000"/>
            </a:schemeClr>
          </a:solidFill>
        </p:grpSpPr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21952" y="2291860"/>
              <a:ext cx="1343121" cy="180915"/>
            </a:xfrm>
            <a:prstGeom prst="rect">
              <a:avLst/>
            </a:prstGeom>
            <a:grpFill/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2024-04-22</a:t>
              </a:r>
              <a:endParaRPr kumimoji="0" lang="ko-KR" altLang="en-US" sz="7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89" name="그림 88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542" y="2310827"/>
              <a:ext cx="164635" cy="157476"/>
            </a:xfrm>
            <a:prstGeom prst="rect">
              <a:avLst/>
            </a:prstGeom>
            <a:grpFill/>
          </p:spPr>
        </p:pic>
      </p:grpSp>
      <p:sp>
        <p:nvSpPr>
          <p:cNvPr id="9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42902" y="5303731"/>
            <a:ext cx="385514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전체다운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92" name="그림 91" descr="화면 캡처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099" t="-6769" r="22984" b="3888"/>
          <a:stretch/>
        </p:blipFill>
        <p:spPr>
          <a:xfrm>
            <a:off x="2469180" y="3315873"/>
            <a:ext cx="1058052" cy="228091"/>
          </a:xfrm>
          <a:prstGeom prst="rect">
            <a:avLst/>
          </a:prstGeom>
          <a:solidFill>
            <a:schemeClr val="bg2">
              <a:lumMod val="90000"/>
            </a:schemeClr>
          </a:solidFill>
        </p:spPr>
      </p:pic>
      <p:sp>
        <p:nvSpPr>
          <p:cNvPr id="93" name="타원 9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192984" y="475043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94" name="구부러진 연결선 93"/>
          <p:cNvCxnSpPr>
            <a:stCxn id="52" idx="6"/>
            <a:endCxn id="81" idx="1"/>
          </p:cNvCxnSpPr>
          <p:nvPr/>
        </p:nvCxnSpPr>
        <p:spPr bwMode="auto">
          <a:xfrm>
            <a:off x="1321157" y="2962101"/>
            <a:ext cx="308418" cy="1580184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47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48" name="내용 개체 틀 121"/>
          <p:cNvGraphicFramePr>
            <a:graphicFrameLocks/>
          </p:cNvGraphicFramePr>
          <p:nvPr>
            <p:extLst/>
          </p:nvPr>
        </p:nvGraphicFramePr>
        <p:xfrm>
          <a:off x="216412" y="1827372"/>
          <a:ext cx="6732901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1177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2125504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34206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3332014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키워드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50" name="직사각형 4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916423" y="1873163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991235" y="1869753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2024-04-30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55" name="그림 5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56823" y="1877003"/>
            <a:ext cx="181098" cy="173224"/>
          </a:xfrm>
          <a:prstGeom prst="rect">
            <a:avLst/>
          </a:prstGeom>
        </p:spPr>
      </p:pic>
      <p:pic>
        <p:nvPicPr>
          <p:cNvPr id="56" name="그림 5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630497" y="1878351"/>
            <a:ext cx="181098" cy="173224"/>
          </a:xfrm>
          <a:prstGeom prst="rect">
            <a:avLst/>
          </a:prstGeom>
        </p:spPr>
      </p:pic>
      <p:cxnSp>
        <p:nvCxnSpPr>
          <p:cNvPr id="57" name="직선 연결선 56"/>
          <p:cNvCxnSpPr/>
          <p:nvPr/>
        </p:nvCxnSpPr>
        <p:spPr bwMode="auto">
          <a:xfrm>
            <a:off x="1795070" y="1963615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712611" y="1862559"/>
            <a:ext cx="3168000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normalizeH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미수금</a:t>
            </a:r>
            <a:endParaRPr kumimoji="0" lang="ko-KR" altLang="en-US" sz="9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0" name="양쪽 모서리가 둥근 사각형 69"/>
          <p:cNvSpPr/>
          <p:nvPr/>
        </p:nvSpPr>
        <p:spPr bwMode="auto">
          <a:xfrm>
            <a:off x="844726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내규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2" name="양쪽 모서리가 둥근 사각형 71"/>
          <p:cNvSpPr/>
          <p:nvPr/>
        </p:nvSpPr>
        <p:spPr bwMode="auto">
          <a:xfrm>
            <a:off x="149823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감사지적사항</a:t>
            </a:r>
          </a:p>
        </p:txBody>
      </p:sp>
      <p:sp>
        <p:nvSpPr>
          <p:cNvPr id="73" name="양쪽 모서리가 둥근 사각형 72"/>
          <p:cNvSpPr/>
          <p:nvPr/>
        </p:nvSpPr>
        <p:spPr bwMode="auto">
          <a:xfrm>
            <a:off x="2151736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감사보고</a:t>
            </a:r>
          </a:p>
        </p:txBody>
      </p:sp>
      <p:sp>
        <p:nvSpPr>
          <p:cNvPr id="74" name="양쪽 모서리가 둥근 사각형 73"/>
          <p:cNvSpPr/>
          <p:nvPr/>
        </p:nvSpPr>
        <p:spPr bwMode="auto">
          <a:xfrm>
            <a:off x="280524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 제재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경영유의사항</a:t>
            </a:r>
          </a:p>
        </p:txBody>
      </p:sp>
      <p:sp>
        <p:nvSpPr>
          <p:cNvPr id="75" name="양쪽 모서리가 둥근 사각형 74"/>
          <p:cNvSpPr/>
          <p:nvPr/>
        </p:nvSpPr>
        <p:spPr bwMode="auto">
          <a:xfrm>
            <a:off x="19122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endParaRPr kumimoji="0" lang="en-US" altLang="ko-KR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외규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법령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시행령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</a:t>
            </a:r>
            <a:r>
              <a:rPr kumimoji="0" lang="ko-KR" altLang="en-US" sz="7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독규정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</a:p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endParaRPr kumimoji="0" lang="ko-KR" altLang="en-US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6" name="양쪽 모서리가 둥근 사각형 85"/>
          <p:cNvSpPr/>
          <p:nvPr/>
        </p:nvSpPr>
        <p:spPr bwMode="auto">
          <a:xfrm>
            <a:off x="3458746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 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DART </a:t>
            </a:r>
            <a:r>
              <a:rPr kumimoji="0" lang="ko-KR" altLang="en-US" sz="7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공시자료</a:t>
            </a:r>
            <a:endParaRPr kumimoji="0" lang="en-US" altLang="ko-KR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0" name="양쪽 모서리가 둥근 사각형 89"/>
          <p:cNvSpPr/>
          <p:nvPr/>
        </p:nvSpPr>
        <p:spPr bwMode="auto">
          <a:xfrm>
            <a:off x="411225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법령해석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비조치의견서 </a:t>
            </a:r>
            <a:r>
              <a:rPr kumimoji="0" lang="ko-KR" altLang="en-US" sz="7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회신사례</a:t>
            </a:r>
            <a:endParaRPr kumimoji="0" lang="ko-KR" altLang="en-US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5" name="양쪽 모서리가 둥근 사각형 94"/>
          <p:cNvSpPr/>
          <p:nvPr/>
        </p:nvSpPr>
        <p:spPr bwMode="auto">
          <a:xfrm>
            <a:off x="5419261" y="2476214"/>
            <a:ext cx="612000" cy="196107"/>
          </a:xfrm>
          <a:prstGeom prst="round2SameRect">
            <a:avLst/>
          </a:prstGeom>
          <a:noFill/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/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금융위원회 보도자료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6" name="양쪽 모서리가 둥근 사각형 95"/>
          <p:cNvSpPr/>
          <p:nvPr/>
        </p:nvSpPr>
        <p:spPr bwMode="auto">
          <a:xfrm>
            <a:off x="4765756" y="2466191"/>
            <a:ext cx="612000" cy="196107"/>
          </a:xfrm>
          <a:prstGeom prst="round2SameRect">
            <a:avLst/>
          </a:prstGeom>
          <a:solidFill>
            <a:schemeClr val="bg2">
              <a:lumMod val="75000"/>
            </a:schemeClr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500" dirty="0" err="1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네이버경제</a:t>
            </a:r>
            <a:endParaRPr kumimoji="0" lang="en-US" altLang="ko-KR" sz="500" dirty="0">
              <a:solidFill>
                <a:schemeClr val="bg1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en-US" altLang="ko-KR" sz="500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500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</a:t>
            </a:r>
            <a:r>
              <a:rPr kumimoji="0" lang="en-US" altLang="ko-KR" sz="500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500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뉴스</a:t>
            </a:r>
          </a:p>
        </p:txBody>
      </p:sp>
      <p:sp>
        <p:nvSpPr>
          <p:cNvPr id="97" name="양쪽 모서리가 둥근 사각형 96"/>
          <p:cNvSpPr/>
          <p:nvPr/>
        </p:nvSpPr>
        <p:spPr bwMode="auto">
          <a:xfrm>
            <a:off x="6072764" y="2453300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금융위</a:t>
            </a:r>
            <a:r>
              <a:rPr kumimoji="0" lang="en-US" altLang="ko-KR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증선위의결정보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8" name="직사각형 97"/>
          <p:cNvSpPr/>
          <p:nvPr/>
        </p:nvSpPr>
        <p:spPr bwMode="auto">
          <a:xfrm flipV="1">
            <a:off x="4735201" y="2443370"/>
            <a:ext cx="684000" cy="228049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9" name="타원 9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762705" y="232629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66517167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MDD-00130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MDD72S40009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Knowledge 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검색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(9/10)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감사정보지원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정보관리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Knowledge</a:t>
                      </a:r>
                      <a:r>
                        <a:rPr lang="ko-KR" altLang="en-US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검색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(P172: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146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*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금융감독원 보도자료</a:t>
                      </a:r>
                      <a:r>
                        <a:rPr kumimoji="0"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kumimoji="0"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금융위원회 보도자료</a:t>
                      </a:r>
                      <a:r>
                        <a:rPr kumimoji="0"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/>
                      </a:r>
                      <a:br>
                        <a:rPr kumimoji="0"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</a:br>
                      <a:r>
                        <a:rPr kumimoji="0"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두 건을 합하여 출력</a:t>
                      </a:r>
                      <a:endParaRPr lang="ko-KR" altLang="en-US" sz="8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 기간 선택 및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키워드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입력 후 조회</a:t>
                      </a: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0" algn="l" defTabSz="914395" rtl="0" eaLnBrk="1" latinLnBrk="1" hangingPunct="1"/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171450" indent="-171450" algn="l" defTabSz="914395" rtl="0" eaLnBrk="1" latinLnBrk="1" hangingPunct="1">
                        <a:buFontTx/>
                        <a:buChar char="-"/>
                      </a:pP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키워드 미 입력 시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 기간은 현재 날짜 기준 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3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개월 이전까지로 제한</a:t>
                      </a: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171450" indent="-171450" algn="l" defTabSz="914395" rtl="0" eaLnBrk="1" latinLnBrk="1" hangingPunct="1">
                        <a:buFontTx/>
                        <a:buChar char="-"/>
                      </a:pP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키워드 입력 시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 기간 제한없이 조회됨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453832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키워드에 입력된 문구를 가지고 아래 조건에 해당되는 건이 있을 경우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아래 표에 나타나도록 함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조건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)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제목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요약내용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본문내용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r>
                        <a:rPr lang="en-US" altLang="ko-KR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작성일자로 검색</a:t>
                      </a:r>
                      <a:endParaRPr lang="en-US" altLang="ko-KR" sz="800" b="0" baseline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검색된 결과 리스트의 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특정 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항목을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더블 클릭 시 상세정보 팝업 창이 나타난다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선택 항목에 대한 상세정보를 팝업 출력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kern="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4" name="그룹 3"/>
          <p:cNvGrpSpPr/>
          <p:nvPr/>
        </p:nvGrpSpPr>
        <p:grpSpPr>
          <a:xfrm>
            <a:off x="216414" y="1070813"/>
            <a:ext cx="6732899" cy="337771"/>
            <a:chOff x="355877" y="2160935"/>
            <a:chExt cx="6061214" cy="417554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7" name="양쪽 모서리가 둥근 사각형 6"/>
          <p:cNvSpPr/>
          <p:nvPr/>
        </p:nvSpPr>
        <p:spPr bwMode="auto">
          <a:xfrm>
            <a:off x="222917" y="1545148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00" ker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Knowledge </a:t>
            </a:r>
            <a:r>
              <a:rPr kumimoji="0" lang="ko-KR" altLang="en-US" sz="800" ker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검색</a:t>
            </a:r>
            <a:endParaRPr kumimoji="0" lang="en-US" altLang="ko-KR" sz="800" kern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16414" y="147055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" name="직사각형 9"/>
          <p:cNvSpPr/>
          <p:nvPr/>
        </p:nvSpPr>
        <p:spPr bwMode="auto">
          <a:xfrm flipV="1">
            <a:off x="5873416" y="2131426"/>
            <a:ext cx="1075897" cy="22836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927295" y="215230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55385" y="2147302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54264" y="2150172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1" name="직사각형 20"/>
          <p:cNvSpPr/>
          <p:nvPr/>
        </p:nvSpPr>
        <p:spPr bwMode="auto">
          <a:xfrm>
            <a:off x="191221" y="2649408"/>
            <a:ext cx="6796193" cy="3477468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22" name="표 21"/>
          <p:cNvGraphicFramePr>
            <a:graphicFrameLocks noGrp="1"/>
          </p:cNvGraphicFramePr>
          <p:nvPr>
            <p:extLst/>
          </p:nvPr>
        </p:nvGraphicFramePr>
        <p:xfrm>
          <a:off x="193612" y="2653666"/>
          <a:ext cx="6581258" cy="9232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3394">
                  <a:extLst>
                    <a:ext uri="{9D8B030D-6E8A-4147-A177-3AD203B41FA5}">
                      <a16:colId xmlns:a16="http://schemas.microsoft.com/office/drawing/2014/main" val="3450297539"/>
                    </a:ext>
                  </a:extLst>
                </a:gridCol>
                <a:gridCol w="924468">
                  <a:extLst>
                    <a:ext uri="{9D8B030D-6E8A-4147-A177-3AD203B41FA5}">
                      <a16:colId xmlns:a16="http://schemas.microsoft.com/office/drawing/2014/main" val="676531661"/>
                    </a:ext>
                  </a:extLst>
                </a:gridCol>
                <a:gridCol w="685801">
                  <a:extLst>
                    <a:ext uri="{9D8B030D-6E8A-4147-A177-3AD203B41FA5}">
                      <a16:colId xmlns:a16="http://schemas.microsoft.com/office/drawing/2014/main" val="3410824408"/>
                    </a:ext>
                  </a:extLst>
                </a:gridCol>
                <a:gridCol w="685801">
                  <a:extLst>
                    <a:ext uri="{9D8B030D-6E8A-4147-A177-3AD203B41FA5}">
                      <a16:colId xmlns:a16="http://schemas.microsoft.com/office/drawing/2014/main" val="2042869266"/>
                    </a:ext>
                  </a:extLst>
                </a:gridCol>
                <a:gridCol w="2344189">
                  <a:extLst>
                    <a:ext uri="{9D8B030D-6E8A-4147-A177-3AD203B41FA5}">
                      <a16:colId xmlns:a16="http://schemas.microsoft.com/office/drawing/2014/main" val="4103157827"/>
                    </a:ext>
                  </a:extLst>
                </a:gridCol>
                <a:gridCol w="582126">
                  <a:extLst>
                    <a:ext uri="{9D8B030D-6E8A-4147-A177-3AD203B41FA5}">
                      <a16:colId xmlns:a16="http://schemas.microsoft.com/office/drawing/2014/main" val="257685759"/>
                    </a:ext>
                  </a:extLst>
                </a:gridCol>
                <a:gridCol w="1055479">
                  <a:extLst>
                    <a:ext uri="{9D8B030D-6E8A-4147-A177-3AD203B41FA5}">
                      <a16:colId xmlns:a16="http://schemas.microsoft.com/office/drawing/2014/main" val="2740147376"/>
                    </a:ext>
                  </a:extLst>
                </a:gridCol>
              </a:tblGrid>
              <a:tr h="2059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순번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보도자료출처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담당부서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요약내용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최종수정일시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8033730"/>
                  </a:ext>
                </a:extLst>
              </a:tr>
              <a:tr h="19915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2024-04-30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sng" strike="noStrike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금융감독원</a:t>
                      </a:r>
                      <a:endParaRPr lang="ko-KR" altLang="en-US" sz="800" b="0" i="0" u="sng" strike="noStrike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감사보고서</a:t>
                      </a:r>
                      <a:r>
                        <a:rPr lang="en-US" altLang="ko-KR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(2024.09)</a:t>
                      </a:r>
                      <a:endParaRPr lang="ko-KR" alt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2024-04-09 09: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9908261"/>
                  </a:ext>
                </a:extLst>
              </a:tr>
              <a:tr h="17117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2024-04-29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/>
                        <a:t>금융위원회</a:t>
                      </a:r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024731"/>
                  </a:ext>
                </a:extLst>
              </a:tr>
              <a:tr h="16213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</a:p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5856585"/>
                  </a:ext>
                </a:extLst>
              </a:tr>
            </a:tbl>
          </a:graphicData>
        </a:graphic>
      </p:graphicFrame>
      <p:sp>
        <p:nvSpPr>
          <p:cNvPr id="23" name="타원 2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183551" y="289894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24" name="그림 2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454033" y="3248838"/>
            <a:ext cx="167353" cy="180975"/>
          </a:xfrm>
          <a:prstGeom prst="rect">
            <a:avLst/>
          </a:prstGeom>
        </p:spPr>
      </p:pic>
      <p:pic>
        <p:nvPicPr>
          <p:cNvPr id="25" name="그림 2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386798" y="3224439"/>
            <a:ext cx="167353" cy="180975"/>
          </a:xfrm>
          <a:prstGeom prst="rect">
            <a:avLst/>
          </a:prstGeom>
        </p:spPr>
      </p:pic>
      <p:sp>
        <p:nvSpPr>
          <p:cNvPr id="2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213214" y="3541225"/>
            <a:ext cx="3012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900541" y="3183768"/>
            <a:ext cx="34502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미수금</a:t>
            </a:r>
            <a:endParaRPr kumimoji="0" lang="ko-KR" altLang="en-US" sz="9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28" name="그림 2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04739" y="4040776"/>
            <a:ext cx="167353" cy="180975"/>
          </a:xfrm>
          <a:prstGeom prst="rect">
            <a:avLst/>
          </a:prstGeom>
        </p:spPr>
      </p:pic>
      <p:pic>
        <p:nvPicPr>
          <p:cNvPr id="29" name="그림 2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01678" y="4236361"/>
            <a:ext cx="167353" cy="180975"/>
          </a:xfrm>
          <a:prstGeom prst="rect">
            <a:avLst/>
          </a:prstGeom>
        </p:spPr>
      </p:pic>
      <p:sp>
        <p:nvSpPr>
          <p:cNvPr id="3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99740" y="3541225"/>
            <a:ext cx="3012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28487" y="3566164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2" name="직사각형 31"/>
          <p:cNvSpPr/>
          <p:nvPr/>
        </p:nvSpPr>
        <p:spPr bwMode="auto">
          <a:xfrm>
            <a:off x="1828880" y="3235162"/>
            <a:ext cx="5137237" cy="3050875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365135" y="6056803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닫기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4" name="표 33"/>
          <p:cNvGraphicFramePr>
            <a:graphicFrameLocks noGrp="1"/>
          </p:cNvGraphicFramePr>
          <p:nvPr>
            <p:extLst/>
          </p:nvPr>
        </p:nvGraphicFramePr>
        <p:xfrm>
          <a:off x="1860575" y="3297890"/>
          <a:ext cx="4983578" cy="27797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65630">
                  <a:extLst>
                    <a:ext uri="{9D8B030D-6E8A-4147-A177-3AD203B41FA5}">
                      <a16:colId xmlns:a16="http://schemas.microsoft.com/office/drawing/2014/main" val="1630994582"/>
                    </a:ext>
                  </a:extLst>
                </a:gridCol>
                <a:gridCol w="1811074">
                  <a:extLst>
                    <a:ext uri="{9D8B030D-6E8A-4147-A177-3AD203B41FA5}">
                      <a16:colId xmlns:a16="http://schemas.microsoft.com/office/drawing/2014/main" val="2045752900"/>
                    </a:ext>
                  </a:extLst>
                </a:gridCol>
                <a:gridCol w="674992">
                  <a:extLst>
                    <a:ext uri="{9D8B030D-6E8A-4147-A177-3AD203B41FA5}">
                      <a16:colId xmlns:a16="http://schemas.microsoft.com/office/drawing/2014/main" val="2662453202"/>
                    </a:ext>
                  </a:extLst>
                </a:gridCol>
                <a:gridCol w="1731882">
                  <a:extLst>
                    <a:ext uri="{9D8B030D-6E8A-4147-A177-3AD203B41FA5}">
                      <a16:colId xmlns:a16="http://schemas.microsoft.com/office/drawing/2014/main" val="3707926986"/>
                    </a:ext>
                  </a:extLst>
                </a:gridCol>
              </a:tblGrid>
              <a:tr h="2461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제목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8451336"/>
                  </a:ext>
                </a:extLst>
              </a:tr>
              <a:tr h="22444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보도자료출처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담당부서</a:t>
                      </a:r>
                      <a:endParaRPr lang="ko-KR" alt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3218" marR="3218" marT="3218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16464564"/>
                  </a:ext>
                </a:extLst>
              </a:tr>
              <a:tr h="23275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작성자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</a:t>
                      </a:r>
                      <a:r>
                        <a:rPr kumimoji="0" lang="ko-KR" altLang="en-US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작성일자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</a:t>
                      </a: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1806225"/>
                  </a:ext>
                </a:extLst>
              </a:tr>
              <a:tr h="4543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요약내용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35103145"/>
                  </a:ext>
                </a:extLst>
              </a:tr>
              <a:tr h="7421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본문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54201637"/>
                  </a:ext>
                </a:extLst>
              </a:tr>
              <a:tr h="68310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참부파일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1425522"/>
                  </a:ext>
                </a:extLst>
              </a:tr>
            </a:tbl>
          </a:graphicData>
        </a:graphic>
      </p:graphicFrame>
      <p:sp>
        <p:nvSpPr>
          <p:cNvPr id="35" name="직사각형 3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64621" y="4686128"/>
            <a:ext cx="4076501" cy="662693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내부통제규정 개정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안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에 대한 사전협의 부탁드립니다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.</a:t>
            </a: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근거 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상임감사위원직무규정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-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별표</a:t>
            </a:r>
            <a:r>
              <a:rPr kumimoji="0" lang="en-US" altLang="ko-KR" sz="70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2-1.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정관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규정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지침 및 업무매뉴얼의 개정</a:t>
            </a:r>
            <a:endParaRPr kumimoji="0" lang="en-US" altLang="ko-KR" sz="70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b="0" i="0" u="none" strike="noStrike" kern="1200" cap="none" spc="0" normalizeH="0" baseline="0" noProof="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개정예정일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2024-05-02(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목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83554" y="5608887"/>
            <a:ext cx="4059236" cy="397978"/>
          </a:xfrm>
          <a:prstGeom prst="rect">
            <a:avLst/>
          </a:prstGeom>
          <a:solidFill>
            <a:schemeClr val="bg2">
              <a:lumMod val="9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rPr>
              <a:t>업로드 파일</a:t>
            </a:r>
            <a:r>
              <a:rPr kumimoji="0" lang="en-US" altLang="ko-KR" sz="800" b="0" i="0" u="none" strike="noStrike" kern="1200" cap="none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rPr>
              <a:t>.</a:t>
            </a:r>
            <a:r>
              <a:rPr kumimoji="0" lang="en-US" altLang="ko-KR" sz="8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+mj-ea"/>
                <a:ea typeface="+mj-ea"/>
              </a:rPr>
              <a:t>docx</a:t>
            </a:r>
            <a:endParaRPr kumimoji="0" lang="ko-KR" altLang="en-US" sz="800" b="0" i="0" u="none" strike="noStrike" kern="1200" cap="none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83554" y="4050471"/>
            <a:ext cx="4075173" cy="543606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 감사보고서 </a:t>
            </a:r>
            <a:endParaRPr kumimoji="0" lang="en-US" altLang="ko-KR" sz="80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2024-12-17</a:t>
            </a:r>
            <a:endParaRPr kumimoji="0" lang="ko-KR" altLang="en-US" sz="8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83554" y="3340181"/>
            <a:ext cx="4100801" cy="168014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 감사보고서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193021" y="3567432"/>
            <a:ext cx="1260000" cy="168234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담당부서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40" name="그룹 39"/>
          <p:cNvGrpSpPr/>
          <p:nvPr/>
        </p:nvGrpSpPr>
        <p:grpSpPr>
          <a:xfrm>
            <a:off x="5185685" y="3797635"/>
            <a:ext cx="1343121" cy="180915"/>
            <a:chOff x="1421952" y="2291860"/>
            <a:chExt cx="1343121" cy="180915"/>
          </a:xfrm>
          <a:solidFill>
            <a:schemeClr val="bg2">
              <a:lumMod val="90000"/>
            </a:schemeClr>
          </a:solidFill>
        </p:grpSpPr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21952" y="2291860"/>
              <a:ext cx="1343121" cy="180915"/>
            </a:xfrm>
            <a:prstGeom prst="rect">
              <a:avLst/>
            </a:prstGeom>
            <a:grpFill/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2024-04-22</a:t>
              </a:r>
              <a:endParaRPr kumimoji="0" lang="ko-KR" altLang="en-US" sz="7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42" name="그림 41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542" y="2310827"/>
              <a:ext cx="164635" cy="157476"/>
            </a:xfrm>
            <a:prstGeom prst="rect">
              <a:avLst/>
            </a:prstGeom>
            <a:grpFill/>
          </p:spPr>
        </p:pic>
      </p:grpSp>
      <p:sp>
        <p:nvSpPr>
          <p:cNvPr id="4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357276" y="5409282"/>
            <a:ext cx="385514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전체다운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44" name="그림 43" descr="화면 캡처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099" t="-6769" r="22984" b="3888"/>
          <a:stretch/>
        </p:blipFill>
        <p:spPr>
          <a:xfrm>
            <a:off x="2683554" y="3753930"/>
            <a:ext cx="1058052" cy="228091"/>
          </a:xfrm>
          <a:prstGeom prst="rect">
            <a:avLst/>
          </a:prstGeom>
          <a:solidFill>
            <a:schemeClr val="bg2">
              <a:lumMod val="90000"/>
            </a:schemeClr>
          </a:solidFill>
        </p:spPr>
      </p:pic>
      <p:sp>
        <p:nvSpPr>
          <p:cNvPr id="45" name="타원 4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423984" y="496403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46" name="구부러진 연결선 45"/>
          <p:cNvCxnSpPr>
            <a:stCxn id="23" idx="6"/>
            <a:endCxn id="34" idx="1"/>
          </p:cNvCxnSpPr>
          <p:nvPr/>
        </p:nvCxnSpPr>
        <p:spPr bwMode="auto">
          <a:xfrm>
            <a:off x="1321157" y="2978727"/>
            <a:ext cx="539418" cy="1709031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87794" y="3561328"/>
            <a:ext cx="1260001" cy="168234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8" name="양쪽 모서리가 둥근 사각형 47"/>
          <p:cNvSpPr/>
          <p:nvPr/>
        </p:nvSpPr>
        <p:spPr bwMode="auto">
          <a:xfrm>
            <a:off x="844726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내규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9" name="양쪽 모서리가 둥근 사각형 48"/>
          <p:cNvSpPr/>
          <p:nvPr/>
        </p:nvSpPr>
        <p:spPr bwMode="auto">
          <a:xfrm>
            <a:off x="149823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감사지적사항</a:t>
            </a:r>
          </a:p>
        </p:txBody>
      </p:sp>
      <p:sp>
        <p:nvSpPr>
          <p:cNvPr id="50" name="양쪽 모서리가 둥근 사각형 49"/>
          <p:cNvSpPr/>
          <p:nvPr/>
        </p:nvSpPr>
        <p:spPr bwMode="auto">
          <a:xfrm>
            <a:off x="2151736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감사보고</a:t>
            </a:r>
          </a:p>
        </p:txBody>
      </p:sp>
      <p:sp>
        <p:nvSpPr>
          <p:cNvPr id="51" name="양쪽 모서리가 둥근 사각형 50"/>
          <p:cNvSpPr/>
          <p:nvPr/>
        </p:nvSpPr>
        <p:spPr bwMode="auto">
          <a:xfrm>
            <a:off x="280524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 제재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경영유의사항</a:t>
            </a:r>
          </a:p>
        </p:txBody>
      </p:sp>
      <p:sp>
        <p:nvSpPr>
          <p:cNvPr id="52" name="양쪽 모서리가 둥근 사각형 51"/>
          <p:cNvSpPr/>
          <p:nvPr/>
        </p:nvSpPr>
        <p:spPr bwMode="auto">
          <a:xfrm>
            <a:off x="19122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endParaRPr kumimoji="0" lang="en-US" altLang="ko-KR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외규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법령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시행령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</a:t>
            </a:r>
            <a:r>
              <a:rPr kumimoji="0" lang="ko-KR" altLang="en-US" sz="7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독규정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</a:p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endParaRPr kumimoji="0" lang="ko-KR" altLang="en-US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3" name="양쪽 모서리가 둥근 사각형 52"/>
          <p:cNvSpPr/>
          <p:nvPr/>
        </p:nvSpPr>
        <p:spPr bwMode="auto">
          <a:xfrm>
            <a:off x="3458746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 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DART </a:t>
            </a:r>
            <a:r>
              <a:rPr kumimoji="0" lang="ko-KR" altLang="en-US" sz="7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공시자료</a:t>
            </a:r>
            <a:endParaRPr kumimoji="0" lang="en-US" altLang="ko-KR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4" name="양쪽 모서리가 둥근 사각형 53"/>
          <p:cNvSpPr/>
          <p:nvPr/>
        </p:nvSpPr>
        <p:spPr bwMode="auto">
          <a:xfrm>
            <a:off x="411225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법령해석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비조치의견서 </a:t>
            </a:r>
            <a:r>
              <a:rPr kumimoji="0" lang="ko-KR" altLang="en-US" sz="7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회신사례</a:t>
            </a:r>
            <a:endParaRPr kumimoji="0" lang="ko-KR" altLang="en-US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5" name="양쪽 모서리가 둥근 사각형 54"/>
          <p:cNvSpPr/>
          <p:nvPr/>
        </p:nvSpPr>
        <p:spPr bwMode="auto">
          <a:xfrm>
            <a:off x="5419261" y="2476214"/>
            <a:ext cx="612000" cy="196107"/>
          </a:xfrm>
          <a:prstGeom prst="round2SameRect">
            <a:avLst/>
          </a:prstGeom>
          <a:solidFill>
            <a:schemeClr val="bg2">
              <a:lumMod val="75000"/>
            </a:schemeClr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500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</a:t>
            </a:r>
            <a:r>
              <a:rPr kumimoji="0" lang="en-US" altLang="ko-KR" sz="500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/</a:t>
            </a:r>
            <a:r>
              <a:rPr kumimoji="0" lang="ko-KR" altLang="en-US" sz="500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금융위원회 보도자료</a:t>
            </a:r>
          </a:p>
        </p:txBody>
      </p:sp>
      <p:sp>
        <p:nvSpPr>
          <p:cNvPr id="56" name="양쪽 모서리가 둥근 사각형 55"/>
          <p:cNvSpPr/>
          <p:nvPr/>
        </p:nvSpPr>
        <p:spPr bwMode="auto">
          <a:xfrm>
            <a:off x="4765756" y="246619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네이버경제</a:t>
            </a:r>
            <a:endParaRPr kumimoji="0" lang="en-US" altLang="ko-KR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뉴스</a:t>
            </a:r>
          </a:p>
        </p:txBody>
      </p:sp>
      <p:sp>
        <p:nvSpPr>
          <p:cNvPr id="57" name="양쪽 모서리가 둥근 사각형 56"/>
          <p:cNvSpPr/>
          <p:nvPr/>
        </p:nvSpPr>
        <p:spPr bwMode="auto">
          <a:xfrm>
            <a:off x="6072764" y="2453300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70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금융위</a:t>
            </a:r>
            <a:r>
              <a:rPr kumimoji="0" lang="en-US" altLang="ko-KR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증선위의결정보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8" name="직사각형 57"/>
          <p:cNvSpPr/>
          <p:nvPr/>
        </p:nvSpPr>
        <p:spPr bwMode="auto">
          <a:xfrm flipV="1">
            <a:off x="5382901" y="2473850"/>
            <a:ext cx="684000" cy="228049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410405" y="235677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0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1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62" name="내용 개체 틀 121"/>
          <p:cNvGraphicFramePr>
            <a:graphicFrameLocks/>
          </p:cNvGraphicFramePr>
          <p:nvPr>
            <p:extLst/>
          </p:nvPr>
        </p:nvGraphicFramePr>
        <p:xfrm>
          <a:off x="216412" y="1827372"/>
          <a:ext cx="6732901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1177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2125504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34206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3332014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키워드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63" name="직사각형 6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916423" y="1873163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991235" y="1869753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2024-04-30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65" name="그림 6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56823" y="1877003"/>
            <a:ext cx="181098" cy="173224"/>
          </a:xfrm>
          <a:prstGeom prst="rect">
            <a:avLst/>
          </a:prstGeom>
        </p:spPr>
      </p:pic>
      <p:pic>
        <p:nvPicPr>
          <p:cNvPr id="66" name="그림 6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630497" y="1878351"/>
            <a:ext cx="181098" cy="173224"/>
          </a:xfrm>
          <a:prstGeom prst="rect">
            <a:avLst/>
          </a:prstGeom>
        </p:spPr>
      </p:pic>
      <p:cxnSp>
        <p:nvCxnSpPr>
          <p:cNvPr id="67" name="직선 연결선 66"/>
          <p:cNvCxnSpPr/>
          <p:nvPr/>
        </p:nvCxnSpPr>
        <p:spPr bwMode="auto">
          <a:xfrm>
            <a:off x="1795070" y="1963615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712611" y="1862559"/>
            <a:ext cx="3168000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normalizeH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미수금</a:t>
            </a:r>
            <a:endParaRPr kumimoji="0" lang="ko-KR" altLang="en-US" sz="9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21389004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MDD-00130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MDD72S40009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Knowledge 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검색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(10/10)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감사정보지원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정보관리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Knowledge</a:t>
                      </a:r>
                      <a:r>
                        <a:rPr lang="ko-KR" altLang="en-US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검색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(P172: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2850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 기간 선택 및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키워드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입력 후 조회</a:t>
                      </a: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0" algn="l" defTabSz="914395" rtl="0" eaLnBrk="1" latinLnBrk="1" hangingPunct="1"/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171450" indent="-171450" algn="l" defTabSz="914395" rtl="0" eaLnBrk="1" latinLnBrk="1" hangingPunct="1">
                        <a:buFontTx/>
                        <a:buChar char="-"/>
                      </a:pP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키워드 미 입력 시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 기간은 현재 날짜 기준 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3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개월 이전까지로 제한</a:t>
                      </a: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  <a:p>
                      <a:pPr marL="171450" indent="-171450" algn="l" defTabSz="914395" rtl="0" eaLnBrk="1" latinLnBrk="1" hangingPunct="1">
                        <a:buFontTx/>
                        <a:buChar char="-"/>
                      </a:pP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키워드 입력 시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 기간 제한없이 조회됨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453832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키워드에 입력된 문구를 가지고 아래 조건에 해당되는 건이 있을 경우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아래 표에 나타나도록 함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조건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)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제목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요약내용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r>
                        <a:rPr lang="en-US" altLang="ko-KR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800" b="0" baseline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작성일자로 검색</a:t>
                      </a:r>
                      <a:endParaRPr lang="en-US" altLang="ko-KR" sz="800" b="0" baseline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검색된 결과 리스트의 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특정 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항목을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더블 클릭 시 상세정보 팝업 창이 나타난다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선택 항목에 대한 상세정보를 팝업 출력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</a:tbl>
          </a:graphicData>
        </a:graphic>
      </p:graphicFrame>
      <p:grpSp>
        <p:nvGrpSpPr>
          <p:cNvPr id="4" name="그룹 3"/>
          <p:cNvGrpSpPr/>
          <p:nvPr/>
        </p:nvGrpSpPr>
        <p:grpSpPr>
          <a:xfrm>
            <a:off x="216414" y="1070813"/>
            <a:ext cx="6732899" cy="337771"/>
            <a:chOff x="355877" y="2160935"/>
            <a:chExt cx="6061214" cy="417554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7" name="양쪽 모서리가 둥근 사각형 6"/>
          <p:cNvSpPr/>
          <p:nvPr/>
        </p:nvSpPr>
        <p:spPr bwMode="auto">
          <a:xfrm>
            <a:off x="222917" y="1545148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00" ker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Knowledge </a:t>
            </a:r>
            <a:r>
              <a:rPr kumimoji="0" lang="ko-KR" altLang="en-US" sz="800" ker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검색</a:t>
            </a:r>
            <a:endParaRPr kumimoji="0" lang="en-US" altLang="ko-KR" sz="800" kern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16414" y="147055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" name="직사각형 9"/>
          <p:cNvSpPr/>
          <p:nvPr/>
        </p:nvSpPr>
        <p:spPr bwMode="auto">
          <a:xfrm flipV="1">
            <a:off x="5873416" y="2131426"/>
            <a:ext cx="1075897" cy="22836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927295" y="215230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55385" y="2147302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54264" y="2150172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9" name="직사각형 28"/>
          <p:cNvSpPr/>
          <p:nvPr/>
        </p:nvSpPr>
        <p:spPr bwMode="auto">
          <a:xfrm>
            <a:off x="191221" y="2649408"/>
            <a:ext cx="6796193" cy="3477468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49" name="표 48"/>
          <p:cNvGraphicFramePr>
            <a:graphicFrameLocks noGrp="1"/>
          </p:cNvGraphicFramePr>
          <p:nvPr>
            <p:extLst/>
          </p:nvPr>
        </p:nvGraphicFramePr>
        <p:xfrm>
          <a:off x="193612" y="2653666"/>
          <a:ext cx="6581258" cy="9232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3394">
                  <a:extLst>
                    <a:ext uri="{9D8B030D-6E8A-4147-A177-3AD203B41FA5}">
                      <a16:colId xmlns:a16="http://schemas.microsoft.com/office/drawing/2014/main" val="3450297539"/>
                    </a:ext>
                  </a:extLst>
                </a:gridCol>
                <a:gridCol w="924468">
                  <a:extLst>
                    <a:ext uri="{9D8B030D-6E8A-4147-A177-3AD203B41FA5}">
                      <a16:colId xmlns:a16="http://schemas.microsoft.com/office/drawing/2014/main" val="676531661"/>
                    </a:ext>
                  </a:extLst>
                </a:gridCol>
                <a:gridCol w="685801">
                  <a:extLst>
                    <a:ext uri="{9D8B030D-6E8A-4147-A177-3AD203B41FA5}">
                      <a16:colId xmlns:a16="http://schemas.microsoft.com/office/drawing/2014/main" val="3410824408"/>
                    </a:ext>
                  </a:extLst>
                </a:gridCol>
                <a:gridCol w="685801">
                  <a:extLst>
                    <a:ext uri="{9D8B030D-6E8A-4147-A177-3AD203B41FA5}">
                      <a16:colId xmlns:a16="http://schemas.microsoft.com/office/drawing/2014/main" val="2042869266"/>
                    </a:ext>
                  </a:extLst>
                </a:gridCol>
                <a:gridCol w="2344189">
                  <a:extLst>
                    <a:ext uri="{9D8B030D-6E8A-4147-A177-3AD203B41FA5}">
                      <a16:colId xmlns:a16="http://schemas.microsoft.com/office/drawing/2014/main" val="4103157827"/>
                    </a:ext>
                  </a:extLst>
                </a:gridCol>
                <a:gridCol w="582126">
                  <a:extLst>
                    <a:ext uri="{9D8B030D-6E8A-4147-A177-3AD203B41FA5}">
                      <a16:colId xmlns:a16="http://schemas.microsoft.com/office/drawing/2014/main" val="257685759"/>
                    </a:ext>
                  </a:extLst>
                </a:gridCol>
                <a:gridCol w="1055479">
                  <a:extLst>
                    <a:ext uri="{9D8B030D-6E8A-4147-A177-3AD203B41FA5}">
                      <a16:colId xmlns:a16="http://schemas.microsoft.com/office/drawing/2014/main" val="2740147376"/>
                    </a:ext>
                  </a:extLst>
                </a:gridCol>
              </a:tblGrid>
              <a:tr h="2059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순번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보도자료출처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담당부서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요약내용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최종수정일시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8033730"/>
                  </a:ext>
                </a:extLst>
              </a:tr>
              <a:tr h="19915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2024-04-30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sng" strike="noStrike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금융감독원</a:t>
                      </a:r>
                      <a:endParaRPr lang="ko-KR" altLang="en-US" sz="800" b="0" i="0" u="sng" strike="noStrike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감사보고서</a:t>
                      </a:r>
                      <a:r>
                        <a:rPr lang="en-US" altLang="ko-KR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(2024.09)</a:t>
                      </a:r>
                      <a:endParaRPr lang="ko-KR" alt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2024-04-09 09: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9908261"/>
                  </a:ext>
                </a:extLst>
              </a:tr>
              <a:tr h="17117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2024-04-29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/>
                        <a:t>금융위원회</a:t>
                      </a:r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024731"/>
                  </a:ext>
                </a:extLst>
              </a:tr>
              <a:tr h="16213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</a:p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5856585"/>
                  </a:ext>
                </a:extLst>
              </a:tr>
            </a:tbl>
          </a:graphicData>
        </a:graphic>
      </p:graphicFrame>
      <p:sp>
        <p:nvSpPr>
          <p:cNvPr id="52" name="타원 5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183551" y="289894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53" name="그림 5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454033" y="3248838"/>
            <a:ext cx="167353" cy="180975"/>
          </a:xfrm>
          <a:prstGeom prst="rect">
            <a:avLst/>
          </a:prstGeom>
        </p:spPr>
      </p:pic>
      <p:pic>
        <p:nvPicPr>
          <p:cNvPr id="54" name="그림 5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386798" y="3224439"/>
            <a:ext cx="167353" cy="180975"/>
          </a:xfrm>
          <a:prstGeom prst="rect">
            <a:avLst/>
          </a:prstGeom>
        </p:spPr>
      </p:pic>
      <p:sp>
        <p:nvSpPr>
          <p:cNvPr id="5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213214" y="3541225"/>
            <a:ext cx="3012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900541" y="3183768"/>
            <a:ext cx="34502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미수금</a:t>
            </a:r>
            <a:endParaRPr kumimoji="0" lang="ko-KR" altLang="en-US" sz="9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71" name="그림 7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04739" y="4040776"/>
            <a:ext cx="167353" cy="180975"/>
          </a:xfrm>
          <a:prstGeom prst="rect">
            <a:avLst/>
          </a:prstGeom>
        </p:spPr>
      </p:pic>
      <p:pic>
        <p:nvPicPr>
          <p:cNvPr id="76" name="그림 7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01678" y="4236361"/>
            <a:ext cx="167353" cy="180975"/>
          </a:xfrm>
          <a:prstGeom prst="rect">
            <a:avLst/>
          </a:prstGeom>
        </p:spPr>
      </p:pic>
      <p:sp>
        <p:nvSpPr>
          <p:cNvPr id="7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99740" y="3541225"/>
            <a:ext cx="3012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28487" y="3566164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9" name="직사각형 78"/>
          <p:cNvSpPr/>
          <p:nvPr/>
        </p:nvSpPr>
        <p:spPr bwMode="auto">
          <a:xfrm>
            <a:off x="1828880" y="3235162"/>
            <a:ext cx="5137237" cy="3050875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365135" y="6056803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닫기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81" name="표 80"/>
          <p:cNvGraphicFramePr>
            <a:graphicFrameLocks noGrp="1"/>
          </p:cNvGraphicFramePr>
          <p:nvPr>
            <p:extLst/>
          </p:nvPr>
        </p:nvGraphicFramePr>
        <p:xfrm>
          <a:off x="1860575" y="3297890"/>
          <a:ext cx="4983578" cy="27797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65630">
                  <a:extLst>
                    <a:ext uri="{9D8B030D-6E8A-4147-A177-3AD203B41FA5}">
                      <a16:colId xmlns:a16="http://schemas.microsoft.com/office/drawing/2014/main" val="1630994582"/>
                    </a:ext>
                  </a:extLst>
                </a:gridCol>
                <a:gridCol w="1811074">
                  <a:extLst>
                    <a:ext uri="{9D8B030D-6E8A-4147-A177-3AD203B41FA5}">
                      <a16:colId xmlns:a16="http://schemas.microsoft.com/office/drawing/2014/main" val="2045752900"/>
                    </a:ext>
                  </a:extLst>
                </a:gridCol>
                <a:gridCol w="674992">
                  <a:extLst>
                    <a:ext uri="{9D8B030D-6E8A-4147-A177-3AD203B41FA5}">
                      <a16:colId xmlns:a16="http://schemas.microsoft.com/office/drawing/2014/main" val="2662453202"/>
                    </a:ext>
                  </a:extLst>
                </a:gridCol>
                <a:gridCol w="1731882">
                  <a:extLst>
                    <a:ext uri="{9D8B030D-6E8A-4147-A177-3AD203B41FA5}">
                      <a16:colId xmlns:a16="http://schemas.microsoft.com/office/drawing/2014/main" val="3707926986"/>
                    </a:ext>
                  </a:extLst>
                </a:gridCol>
              </a:tblGrid>
              <a:tr h="2461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제목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8451336"/>
                  </a:ext>
                </a:extLst>
              </a:tr>
              <a:tr h="22444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보도자료출처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담당부서</a:t>
                      </a:r>
                      <a:endParaRPr lang="ko-KR" alt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3218" marR="3218" marT="3218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16464564"/>
                  </a:ext>
                </a:extLst>
              </a:tr>
              <a:tr h="23275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작성자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</a:t>
                      </a:r>
                      <a:r>
                        <a:rPr kumimoji="0" lang="ko-KR" altLang="en-US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작성일자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</a:t>
                      </a: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1806225"/>
                  </a:ext>
                </a:extLst>
              </a:tr>
              <a:tr h="4543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요약내용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35103145"/>
                  </a:ext>
                </a:extLst>
              </a:tr>
              <a:tr h="7421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본문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54201637"/>
                  </a:ext>
                </a:extLst>
              </a:tr>
              <a:tr h="68310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참부파일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1425522"/>
                  </a:ext>
                </a:extLst>
              </a:tr>
            </a:tbl>
          </a:graphicData>
        </a:graphic>
      </p:graphicFrame>
      <p:sp>
        <p:nvSpPr>
          <p:cNvPr id="82" name="직사각형 8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64621" y="4686128"/>
            <a:ext cx="4076501" cy="662693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내부통제규정 개정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안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에 대한 사전협의 부탁드립니다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.</a:t>
            </a: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근거 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상임감사위원직무규정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-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별표</a:t>
            </a:r>
            <a:r>
              <a:rPr kumimoji="0" lang="en-US" altLang="ko-KR" sz="70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2-1.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정관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규정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지침 및 업무매뉴얼의 개정</a:t>
            </a:r>
            <a:endParaRPr kumimoji="0" lang="en-US" altLang="ko-KR" sz="70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b="0" i="0" u="none" strike="noStrike" kern="1200" cap="none" spc="0" normalizeH="0" baseline="0" noProof="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개정예정일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2024-05-02(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목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83554" y="5608887"/>
            <a:ext cx="4059236" cy="397978"/>
          </a:xfrm>
          <a:prstGeom prst="rect">
            <a:avLst/>
          </a:prstGeom>
          <a:solidFill>
            <a:schemeClr val="bg2">
              <a:lumMod val="9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rPr>
              <a:t>업로드 파일</a:t>
            </a:r>
            <a:r>
              <a:rPr kumimoji="0" lang="en-US" altLang="ko-KR" sz="800" b="0" i="0" u="none" strike="noStrike" kern="1200" cap="none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rPr>
              <a:t>.</a:t>
            </a:r>
            <a:r>
              <a:rPr kumimoji="0" lang="en-US" altLang="ko-KR" sz="8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+mj-ea"/>
                <a:ea typeface="+mj-ea"/>
              </a:rPr>
              <a:t>docx</a:t>
            </a:r>
            <a:endParaRPr kumimoji="0" lang="ko-KR" altLang="en-US" sz="800" b="0" i="0" u="none" strike="noStrike" kern="1200" cap="none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83554" y="4050471"/>
            <a:ext cx="4075173" cy="543606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 감사보고서 </a:t>
            </a:r>
            <a:endParaRPr kumimoji="0" lang="en-US" altLang="ko-KR" sz="80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2024-12-17</a:t>
            </a:r>
            <a:endParaRPr kumimoji="0" lang="ko-KR" altLang="en-US" sz="8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83554" y="3340181"/>
            <a:ext cx="4100801" cy="168014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 감사보고서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193021" y="3567432"/>
            <a:ext cx="1260000" cy="168234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담당부서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87" name="그룹 86"/>
          <p:cNvGrpSpPr/>
          <p:nvPr/>
        </p:nvGrpSpPr>
        <p:grpSpPr>
          <a:xfrm>
            <a:off x="5185685" y="3797635"/>
            <a:ext cx="1343121" cy="180915"/>
            <a:chOff x="1421952" y="2291860"/>
            <a:chExt cx="1343121" cy="180915"/>
          </a:xfrm>
          <a:solidFill>
            <a:schemeClr val="bg2">
              <a:lumMod val="90000"/>
            </a:schemeClr>
          </a:solidFill>
        </p:grpSpPr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21952" y="2291860"/>
              <a:ext cx="1343121" cy="180915"/>
            </a:xfrm>
            <a:prstGeom prst="rect">
              <a:avLst/>
            </a:prstGeom>
            <a:grpFill/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2024-04-22</a:t>
              </a:r>
              <a:endParaRPr kumimoji="0" lang="ko-KR" altLang="en-US" sz="7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89" name="그림 88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542" y="2310827"/>
              <a:ext cx="164635" cy="157476"/>
            </a:xfrm>
            <a:prstGeom prst="rect">
              <a:avLst/>
            </a:prstGeom>
            <a:grpFill/>
          </p:spPr>
        </p:pic>
      </p:grpSp>
      <p:sp>
        <p:nvSpPr>
          <p:cNvPr id="9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357276" y="5409282"/>
            <a:ext cx="385514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전체다운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92" name="그림 91" descr="화면 캡처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099" t="-6769" r="22984" b="3888"/>
          <a:stretch/>
        </p:blipFill>
        <p:spPr>
          <a:xfrm>
            <a:off x="2683554" y="3753930"/>
            <a:ext cx="1058052" cy="228091"/>
          </a:xfrm>
          <a:prstGeom prst="rect">
            <a:avLst/>
          </a:prstGeom>
          <a:solidFill>
            <a:schemeClr val="bg2">
              <a:lumMod val="90000"/>
            </a:schemeClr>
          </a:solidFill>
        </p:spPr>
      </p:pic>
      <p:sp>
        <p:nvSpPr>
          <p:cNvPr id="93" name="타원 9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423984" y="4964039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94" name="구부러진 연결선 93"/>
          <p:cNvCxnSpPr>
            <a:stCxn id="52" idx="6"/>
            <a:endCxn id="81" idx="1"/>
          </p:cNvCxnSpPr>
          <p:nvPr/>
        </p:nvCxnSpPr>
        <p:spPr bwMode="auto">
          <a:xfrm>
            <a:off x="1321157" y="2978727"/>
            <a:ext cx="539418" cy="1709031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87794" y="3561328"/>
            <a:ext cx="1260001" cy="168234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7" name="양쪽 모서리가 둥근 사각형 96"/>
          <p:cNvSpPr/>
          <p:nvPr/>
        </p:nvSpPr>
        <p:spPr bwMode="auto">
          <a:xfrm>
            <a:off x="844726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내규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8" name="양쪽 모서리가 둥근 사각형 97"/>
          <p:cNvSpPr/>
          <p:nvPr/>
        </p:nvSpPr>
        <p:spPr bwMode="auto">
          <a:xfrm>
            <a:off x="149823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감사지적사항</a:t>
            </a:r>
          </a:p>
        </p:txBody>
      </p:sp>
      <p:sp>
        <p:nvSpPr>
          <p:cNvPr id="99" name="양쪽 모서리가 둥근 사각형 98"/>
          <p:cNvSpPr/>
          <p:nvPr/>
        </p:nvSpPr>
        <p:spPr bwMode="auto">
          <a:xfrm>
            <a:off x="2151736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감사보고</a:t>
            </a:r>
          </a:p>
        </p:txBody>
      </p:sp>
      <p:sp>
        <p:nvSpPr>
          <p:cNvPr id="100" name="양쪽 모서리가 둥근 사각형 99"/>
          <p:cNvSpPr/>
          <p:nvPr/>
        </p:nvSpPr>
        <p:spPr bwMode="auto">
          <a:xfrm>
            <a:off x="280524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 제재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경영유의사항</a:t>
            </a:r>
          </a:p>
        </p:txBody>
      </p:sp>
      <p:sp>
        <p:nvSpPr>
          <p:cNvPr id="101" name="양쪽 모서리가 둥근 사각형 100"/>
          <p:cNvSpPr/>
          <p:nvPr/>
        </p:nvSpPr>
        <p:spPr bwMode="auto">
          <a:xfrm>
            <a:off x="19122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endParaRPr kumimoji="0" lang="en-US" altLang="ko-KR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외규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법령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시행령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</a:t>
            </a:r>
            <a:r>
              <a:rPr kumimoji="0" lang="ko-KR" altLang="en-US" sz="7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독규정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</a:p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endParaRPr kumimoji="0" lang="ko-KR" altLang="en-US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02" name="양쪽 모서리가 둥근 사각형 101"/>
          <p:cNvSpPr/>
          <p:nvPr/>
        </p:nvSpPr>
        <p:spPr bwMode="auto">
          <a:xfrm>
            <a:off x="3458746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 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DART </a:t>
            </a:r>
            <a:r>
              <a:rPr kumimoji="0" lang="ko-KR" altLang="en-US" sz="7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공시자료</a:t>
            </a:r>
            <a:endParaRPr kumimoji="0" lang="en-US" altLang="ko-KR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03" name="양쪽 모서리가 둥근 사각형 102"/>
          <p:cNvSpPr/>
          <p:nvPr/>
        </p:nvSpPr>
        <p:spPr bwMode="auto">
          <a:xfrm>
            <a:off x="4112251" y="245330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법령해석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비조치의견서 </a:t>
            </a:r>
            <a:r>
              <a:rPr kumimoji="0" lang="ko-KR" altLang="en-US" sz="7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회신사례</a:t>
            </a:r>
            <a:endParaRPr kumimoji="0" lang="ko-KR" altLang="en-US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04" name="양쪽 모서리가 둥근 사각형 103"/>
          <p:cNvSpPr/>
          <p:nvPr/>
        </p:nvSpPr>
        <p:spPr bwMode="auto">
          <a:xfrm>
            <a:off x="5419261" y="2476214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/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금융위원회 보도자료</a:t>
            </a:r>
          </a:p>
        </p:txBody>
      </p:sp>
      <p:sp>
        <p:nvSpPr>
          <p:cNvPr id="105" name="양쪽 모서리가 둥근 사각형 104"/>
          <p:cNvSpPr/>
          <p:nvPr/>
        </p:nvSpPr>
        <p:spPr bwMode="auto">
          <a:xfrm>
            <a:off x="4765756" y="2466191"/>
            <a:ext cx="612000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7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네이버경제</a:t>
            </a:r>
            <a:endParaRPr kumimoji="0" lang="en-US" altLang="ko-KR" sz="700" dirty="0"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</a:t>
            </a:r>
            <a:r>
              <a:rPr kumimoji="0" lang="en-US" altLang="ko-KR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7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뉴스</a:t>
            </a:r>
          </a:p>
        </p:txBody>
      </p:sp>
      <p:sp>
        <p:nvSpPr>
          <p:cNvPr id="106" name="양쪽 모서리가 둥근 사각형 105"/>
          <p:cNvSpPr/>
          <p:nvPr/>
        </p:nvSpPr>
        <p:spPr bwMode="auto">
          <a:xfrm>
            <a:off x="6072764" y="2453300"/>
            <a:ext cx="612000" cy="196107"/>
          </a:xfrm>
          <a:prstGeom prst="round2SameRect">
            <a:avLst/>
          </a:prstGeom>
          <a:solidFill>
            <a:schemeClr val="bg2">
              <a:lumMod val="75000"/>
            </a:schemeClr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</a:pPr>
            <a:r>
              <a:rPr kumimoji="0" lang="ko-KR" altLang="en-US" sz="500" dirty="0" err="1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금융위</a:t>
            </a:r>
            <a:r>
              <a:rPr kumimoji="0" lang="en-US" altLang="ko-KR" sz="500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500" dirty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증선위의결정보</a:t>
            </a:r>
          </a:p>
        </p:txBody>
      </p:sp>
      <p:sp>
        <p:nvSpPr>
          <p:cNvPr id="107" name="직사각형 106"/>
          <p:cNvSpPr/>
          <p:nvPr/>
        </p:nvSpPr>
        <p:spPr bwMode="auto">
          <a:xfrm flipV="1">
            <a:off x="6045841" y="2428130"/>
            <a:ext cx="684000" cy="228049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8" name="타원 10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667705" y="246345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9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0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11" name="내용 개체 틀 121"/>
          <p:cNvGraphicFramePr>
            <a:graphicFrameLocks/>
          </p:cNvGraphicFramePr>
          <p:nvPr>
            <p:extLst/>
          </p:nvPr>
        </p:nvGraphicFramePr>
        <p:xfrm>
          <a:off x="216412" y="1827372"/>
          <a:ext cx="6732901" cy="2721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1177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2125504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34206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3332014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키워드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</a:tbl>
          </a:graphicData>
        </a:graphic>
      </p:graphicFrame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916423" y="1873163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991235" y="1869753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2024-04-30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14" name="그림 11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56823" y="1877003"/>
            <a:ext cx="181098" cy="173224"/>
          </a:xfrm>
          <a:prstGeom prst="rect">
            <a:avLst/>
          </a:prstGeom>
        </p:spPr>
      </p:pic>
      <p:pic>
        <p:nvPicPr>
          <p:cNvPr id="115" name="그림 11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630497" y="1878351"/>
            <a:ext cx="181098" cy="173224"/>
          </a:xfrm>
          <a:prstGeom prst="rect">
            <a:avLst/>
          </a:prstGeom>
        </p:spPr>
      </p:pic>
      <p:cxnSp>
        <p:nvCxnSpPr>
          <p:cNvPr id="116" name="직선 연결선 115"/>
          <p:cNvCxnSpPr/>
          <p:nvPr/>
        </p:nvCxnSpPr>
        <p:spPr bwMode="auto">
          <a:xfrm>
            <a:off x="1795070" y="1963615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712611" y="1862559"/>
            <a:ext cx="3168000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normalizeH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미수금</a:t>
            </a:r>
            <a:endParaRPr kumimoji="0" lang="ko-KR" altLang="en-US" sz="9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68360822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MDD-00128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MDD75GA2003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b="1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네이버경제</a:t>
                      </a:r>
                      <a:r>
                        <a:rPr lang="en-US" altLang="ko-KR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금융</a:t>
                      </a:r>
                      <a:r>
                        <a:rPr lang="en-US" altLang="ko-KR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뉴스</a:t>
                      </a:r>
                      <a:r>
                        <a:rPr lang="en-US" altLang="ko-KR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(1-1/3)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대외기획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P.A.I(Platform of Audit Info) 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RPA </a:t>
                      </a:r>
                      <a:r>
                        <a:rPr lang="ko-KR" altLang="en-US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수집정보  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(P156: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298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(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금융위원회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보도자료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(3-&gt;1)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=&gt;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네이버 경제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금융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뉴스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</a:rPr>
                        <a:t>내용분리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  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::: 1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번 이동 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</a:rPr>
                        <a:t>내용분리</a:t>
                      </a:r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세부구분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네이버뉴스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로 등록된 건만 리스트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추출추출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kern="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34" name="그룹 33"/>
          <p:cNvGrpSpPr/>
          <p:nvPr/>
        </p:nvGrpSpPr>
        <p:grpSpPr>
          <a:xfrm>
            <a:off x="216414" y="1070813"/>
            <a:ext cx="6732899" cy="337771"/>
            <a:chOff x="355877" y="2160935"/>
            <a:chExt cx="6061214" cy="417554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44" name="양쪽 모서리가 둥근 사각형 43"/>
          <p:cNvSpPr/>
          <p:nvPr/>
        </p:nvSpPr>
        <p:spPr bwMode="auto">
          <a:xfrm>
            <a:off x="222916" y="1545148"/>
            <a:ext cx="1699153" cy="20316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kern="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네이버경제</a:t>
            </a:r>
            <a:r>
              <a:rPr kumimoji="0" lang="en-US" altLang="ko-KR" sz="800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800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</a:t>
            </a:r>
            <a:r>
              <a:rPr kumimoji="0" lang="en-US" altLang="ko-KR" sz="800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800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뉴스</a:t>
            </a:r>
            <a:endParaRPr kumimoji="0" lang="en-US" altLang="ko-KR" sz="800" kern="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16414" y="147055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5" name="직사각형 64"/>
          <p:cNvSpPr/>
          <p:nvPr/>
        </p:nvSpPr>
        <p:spPr bwMode="auto">
          <a:xfrm>
            <a:off x="191221" y="1822910"/>
            <a:ext cx="6796193" cy="4303966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75431" y="155197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28" name="그림 27"/>
          <p:cNvPicPr>
            <a:picLocks noChangeAspect="1"/>
          </p:cNvPicPr>
          <p:nvPr/>
        </p:nvPicPr>
        <p:blipFill rotWithShape="1">
          <a:blip r:embed="rId2"/>
          <a:srcRect l="34" t="16526" r="82147" b="-177"/>
          <a:stretch/>
        </p:blipFill>
        <p:spPr>
          <a:xfrm>
            <a:off x="214798" y="1854253"/>
            <a:ext cx="1080120" cy="1872208"/>
          </a:xfrm>
          <a:prstGeom prst="rect">
            <a:avLst/>
          </a:prstGeom>
        </p:spPr>
      </p:pic>
      <p:pic>
        <p:nvPicPr>
          <p:cNvPr id="3" name="그림 2" descr="화면 캡처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18496" y="1866104"/>
            <a:ext cx="5630818" cy="3263372"/>
          </a:xfrm>
          <a:prstGeom prst="rect">
            <a:avLst/>
          </a:prstGeom>
        </p:spPr>
      </p:pic>
      <p:sp>
        <p:nvSpPr>
          <p:cNvPr id="18" name="양쪽 모서리가 둥근 사각형 17"/>
          <p:cNvSpPr/>
          <p:nvPr/>
        </p:nvSpPr>
        <p:spPr bwMode="auto">
          <a:xfrm>
            <a:off x="1318495" y="1875969"/>
            <a:ext cx="1624210" cy="171644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en-US" altLang="ko-KR" sz="800" kern="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282312" y="263080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06628" y="252772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21" name="그림 20"/>
          <p:cNvPicPr>
            <a:picLocks noChangeAspect="1"/>
          </p:cNvPicPr>
          <p:nvPr/>
        </p:nvPicPr>
        <p:blipFill rotWithShape="1">
          <a:blip r:embed="rId2"/>
          <a:srcRect r="-28" b="76117"/>
          <a:stretch/>
        </p:blipFill>
        <p:spPr>
          <a:xfrm>
            <a:off x="191221" y="968210"/>
            <a:ext cx="6758092" cy="555402"/>
          </a:xfrm>
          <a:prstGeom prst="rect">
            <a:avLst/>
          </a:prstGeom>
        </p:spPr>
      </p:pic>
      <p:sp>
        <p:nvSpPr>
          <p:cNvPr id="22" name="직사각형 21"/>
          <p:cNvSpPr/>
          <p:nvPr/>
        </p:nvSpPr>
        <p:spPr bwMode="auto">
          <a:xfrm flipV="1">
            <a:off x="251846" y="2527722"/>
            <a:ext cx="1062122" cy="158765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689175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MDD-00128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MDD75GA2004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b="1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네이버경제</a:t>
                      </a:r>
                      <a:r>
                        <a:rPr lang="en-US" altLang="ko-KR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금융</a:t>
                      </a:r>
                      <a:r>
                        <a:rPr lang="en-US" altLang="ko-KR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뉴스</a:t>
                      </a:r>
                      <a:r>
                        <a:rPr lang="en-US" altLang="ko-KR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(1-2/3)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대외기획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P.A.I(Platform of Audit Info) 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RPA </a:t>
                      </a:r>
                      <a:r>
                        <a:rPr lang="ko-KR" altLang="en-US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수집정보  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(P156: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542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금융위원회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보도자료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(3-&gt;1)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=&gt;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네이버 경제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뉴스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내용분리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::: 1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번 이동 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내용분리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세부구분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네이버뉴스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본문 추가</a:t>
                      </a:r>
                      <a:endParaRPr lang="en-US" altLang="ko-KR" sz="800" b="1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indent="0">
                        <a:buNone/>
                      </a:pP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3-1. ‘</a:t>
                      </a:r>
                      <a:r>
                        <a:rPr lang="ko-KR" altLang="en-US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구분</a:t>
                      </a: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</a:t>
                      </a:r>
                    </a:p>
                    <a:p>
                      <a:pPr marL="0" indent="0">
                        <a:spcAft>
                          <a:spcPts val="1200"/>
                        </a:spcAft>
                        <a:buNone/>
                      </a:pPr>
                      <a:r>
                        <a:rPr lang="ko-KR" altLang="en-US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   ☞ </a:t>
                      </a: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Default: “</a:t>
                      </a:r>
                      <a:r>
                        <a:rPr lang="ko-KR" altLang="en-US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보도자료</a:t>
                      </a: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”</a:t>
                      </a:r>
                      <a:b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3-2.  ‘</a:t>
                      </a:r>
                      <a:r>
                        <a:rPr lang="ko-KR" altLang="en-US" sz="800" spc="-5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세부구분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</a:t>
                      </a:r>
                      <a:b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  ☞</a:t>
                      </a: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Default:</a:t>
                      </a:r>
                      <a:r>
                        <a:rPr lang="ko-KR" altLang="en-US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“</a:t>
                      </a:r>
                      <a:r>
                        <a:rPr lang="ko-KR" altLang="en-US" sz="800" spc="-5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네이버뉴스</a:t>
                      </a: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”</a:t>
                      </a:r>
                      <a:b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3-3. ‘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요약내용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</a:t>
                      </a:r>
                      <a:b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  ☞ 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“</a:t>
                      </a:r>
                      <a:r>
                        <a:rPr lang="ko-KR" altLang="en-US" sz="800" spc="-1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네이버뉴스</a:t>
                      </a:r>
                      <a:r>
                        <a:rPr lang="ko-KR" altLang="en-US" sz="800" spc="-1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</a:t>
                      </a:r>
                      <a:r>
                        <a:rPr lang="en-US" altLang="ko-KR" sz="800" spc="-1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YYYY.MM.DD ~ YYYY.MM.DD”</a:t>
                      </a:r>
                      <a:br>
                        <a:rPr lang="en-US" altLang="ko-KR" sz="800" spc="-1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en-US" altLang="ko-KR" sz="800" b="1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3-4. ‘</a:t>
                      </a:r>
                      <a:r>
                        <a:rPr lang="ko-KR" altLang="en-US" sz="800" b="1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본문</a:t>
                      </a:r>
                      <a:r>
                        <a:rPr lang="en-US" altLang="ko-KR" sz="800" b="1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</a:t>
                      </a:r>
                      <a:br>
                        <a:rPr lang="en-US" altLang="ko-KR" sz="800" b="1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  ☞ 첨부파일 內 전체 본문을 그대로 입력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/>
                      </a:r>
                      <a:b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      (</a:t>
                      </a:r>
                      <a:r>
                        <a:rPr lang="en-US" altLang="ko-KR" sz="8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Ctrl+A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→ </a:t>
                      </a:r>
                      <a:r>
                        <a:rPr lang="en-US" altLang="ko-KR" sz="8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Ctrl+C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→ </a:t>
                      </a:r>
                      <a:r>
                        <a:rPr lang="en-US" altLang="ko-KR" sz="8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Ctrl+V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b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3-5. ‘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첨부파일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</a:t>
                      </a:r>
                      <a:b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  ☞ ① 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‘</a:t>
                      </a:r>
                      <a:r>
                        <a:rPr lang="ko-KR" altLang="en-US" sz="8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파일추가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’(RPA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수집 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pdf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및 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word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등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b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     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② 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‘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등록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본문 추가</a:t>
                      </a:r>
                      <a:endParaRPr lang="en-US" altLang="ko-KR" sz="800" b="1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kern="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34" name="그룹 33"/>
          <p:cNvGrpSpPr/>
          <p:nvPr/>
        </p:nvGrpSpPr>
        <p:grpSpPr>
          <a:xfrm>
            <a:off x="216414" y="1070813"/>
            <a:ext cx="6732899" cy="337771"/>
            <a:chOff x="355877" y="2160935"/>
            <a:chExt cx="6061214" cy="417554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44" name="양쪽 모서리가 둥근 사각형 43"/>
          <p:cNvSpPr/>
          <p:nvPr/>
        </p:nvSpPr>
        <p:spPr bwMode="auto">
          <a:xfrm>
            <a:off x="222916" y="1545148"/>
            <a:ext cx="1699153" cy="20316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kern="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네이버경제</a:t>
            </a:r>
            <a:r>
              <a:rPr kumimoji="0" lang="en-US" altLang="ko-KR" sz="800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800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</a:t>
            </a:r>
            <a:r>
              <a:rPr kumimoji="0" lang="en-US" altLang="ko-KR" sz="800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800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뉴스</a:t>
            </a:r>
            <a:endParaRPr kumimoji="0" lang="en-US" altLang="ko-KR" sz="800" kern="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16414" y="147055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5" name="직사각형 64"/>
          <p:cNvSpPr/>
          <p:nvPr/>
        </p:nvSpPr>
        <p:spPr bwMode="auto">
          <a:xfrm>
            <a:off x="191221" y="1822910"/>
            <a:ext cx="6796193" cy="4303966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75431" y="155197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28" name="그림 27"/>
          <p:cNvPicPr>
            <a:picLocks noChangeAspect="1"/>
          </p:cNvPicPr>
          <p:nvPr/>
        </p:nvPicPr>
        <p:blipFill rotWithShape="1">
          <a:blip r:embed="rId2"/>
          <a:srcRect l="34" t="16526" r="82147" b="-177"/>
          <a:stretch/>
        </p:blipFill>
        <p:spPr>
          <a:xfrm>
            <a:off x="214798" y="1854253"/>
            <a:ext cx="1080120" cy="1872208"/>
          </a:xfrm>
          <a:prstGeom prst="rect">
            <a:avLst/>
          </a:prstGeom>
        </p:spPr>
      </p:pic>
      <p:pic>
        <p:nvPicPr>
          <p:cNvPr id="3" name="그림 2" descr="화면 캡처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18496" y="1866104"/>
            <a:ext cx="5630818" cy="3263372"/>
          </a:xfrm>
          <a:prstGeom prst="rect">
            <a:avLst/>
          </a:prstGeom>
        </p:spPr>
      </p:pic>
      <p:sp>
        <p:nvSpPr>
          <p:cNvPr id="18" name="양쪽 모서리가 둥근 사각형 17"/>
          <p:cNvSpPr/>
          <p:nvPr/>
        </p:nvSpPr>
        <p:spPr bwMode="auto">
          <a:xfrm>
            <a:off x="1318495" y="1875969"/>
            <a:ext cx="1624210" cy="171644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en-US" altLang="ko-KR" sz="800" kern="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213041" y="253597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21" name="그림 20"/>
          <p:cNvPicPr>
            <a:picLocks noChangeAspect="1"/>
          </p:cNvPicPr>
          <p:nvPr/>
        </p:nvPicPr>
        <p:blipFill rotWithShape="1">
          <a:blip r:embed="rId2"/>
          <a:srcRect r="-28" b="76117"/>
          <a:stretch/>
        </p:blipFill>
        <p:spPr>
          <a:xfrm>
            <a:off x="191221" y="968210"/>
            <a:ext cx="6758092" cy="555402"/>
          </a:xfrm>
          <a:prstGeom prst="rect">
            <a:avLst/>
          </a:prstGeom>
        </p:spPr>
      </p:pic>
      <p:pic>
        <p:nvPicPr>
          <p:cNvPr id="22" name="그림 2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51013" y="1962217"/>
            <a:ext cx="4380306" cy="3613347"/>
          </a:xfrm>
          <a:prstGeom prst="rect">
            <a:avLst/>
          </a:prstGeom>
          <a:ln>
            <a:noFill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</p:pic>
      <p:sp>
        <p:nvSpPr>
          <p:cNvPr id="23" name="직사각형 22"/>
          <p:cNvSpPr/>
          <p:nvPr/>
        </p:nvSpPr>
        <p:spPr>
          <a:xfrm>
            <a:off x="2634992" y="3616730"/>
            <a:ext cx="3528392" cy="79208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 anchorCtr="0"/>
          <a:lstStyle/>
          <a:p>
            <a:r>
              <a:rPr lang="ko-KR" altLang="en-US" sz="900" dirty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뉴스 키워드 검색 결과 </a:t>
            </a:r>
          </a:p>
          <a:p>
            <a:r>
              <a:rPr lang="en-US" altLang="ko-KR" sz="900" dirty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※ &lt;Ctrl&gt;</a:t>
            </a:r>
            <a:r>
              <a:rPr lang="ko-KR" altLang="en-US" sz="900" dirty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키를 누른 채 기사 제목을 클릭하면 해당 기사로 바로 이동 됩니다</a:t>
            </a:r>
            <a:r>
              <a:rPr lang="en-US" altLang="ko-KR" sz="900" dirty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. </a:t>
            </a:r>
          </a:p>
          <a:p>
            <a:r>
              <a:rPr lang="en-US" altLang="ko-KR" sz="900" dirty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- </a:t>
            </a:r>
            <a:r>
              <a:rPr lang="ko-KR" altLang="en-US" sz="900" dirty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내부통제 </a:t>
            </a:r>
            <a:r>
              <a:rPr lang="en-US" altLang="ko-KR" sz="900" dirty="0" smtClean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-</a:t>
            </a:r>
            <a:endParaRPr lang="en-US" altLang="ko-KR" sz="900" dirty="0">
              <a:solidFill>
                <a:schemeClr val="tx1"/>
              </a:solidFill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  <a:p>
            <a:r>
              <a:rPr lang="ko-KR" altLang="en-US" sz="900" dirty="0" err="1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코바코</a:t>
            </a:r>
            <a:r>
              <a:rPr lang="en-US" altLang="ko-KR" sz="900" dirty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-</a:t>
            </a:r>
            <a:r>
              <a:rPr lang="ko-KR" altLang="en-US" sz="900" dirty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시청자미디어재단</a:t>
            </a:r>
            <a:r>
              <a:rPr lang="en-US" altLang="ko-KR" sz="900" dirty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, </a:t>
            </a:r>
            <a:r>
              <a:rPr lang="ko-KR" altLang="en-US" sz="900" dirty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감사 인력 교류</a:t>
            </a:r>
            <a:r>
              <a:rPr lang="en-US" altLang="ko-KR" sz="900" dirty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…"</a:t>
            </a:r>
            <a:r>
              <a:rPr lang="ko-KR" altLang="en-US" sz="900" dirty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내부통제 </a:t>
            </a:r>
            <a:r>
              <a:rPr lang="ko-KR" altLang="en-US" sz="900" dirty="0" smtClean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강화</a:t>
            </a:r>
            <a:r>
              <a:rPr lang="en-US" altLang="ko-KR" sz="900" dirty="0" smtClean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“</a:t>
            </a:r>
          </a:p>
          <a:p>
            <a:r>
              <a:rPr lang="en-US" altLang="ko-KR" sz="900" dirty="0" smtClean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…</a:t>
            </a:r>
            <a:endParaRPr lang="en-US" altLang="ko-KR" sz="900" dirty="0">
              <a:solidFill>
                <a:schemeClr val="tx1"/>
              </a:solidFill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497386" y="345717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054710" y="241225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497386" y="397245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9" name="직사각형 28"/>
          <p:cNvSpPr/>
          <p:nvPr/>
        </p:nvSpPr>
        <p:spPr bwMode="auto">
          <a:xfrm flipV="1">
            <a:off x="247912" y="2546174"/>
            <a:ext cx="1062122" cy="158765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846392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MDD-00128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MDD75GA2005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b="1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네이버경제</a:t>
                      </a:r>
                      <a:r>
                        <a:rPr lang="en-US" altLang="ko-KR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금융</a:t>
                      </a:r>
                      <a:r>
                        <a:rPr lang="en-US" altLang="ko-KR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뉴스</a:t>
                      </a:r>
                      <a:r>
                        <a:rPr lang="en-US" altLang="ko-KR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(1-3/3)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대외기획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P.A.I(Platform of Audit Info) 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RPA </a:t>
                      </a:r>
                      <a:r>
                        <a:rPr lang="ko-KR" altLang="en-US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수집정보  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(P156: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298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상세보기 페이지 </a:t>
                      </a:r>
                      <a:r>
                        <a:rPr lang="en-US" altLang="ko-KR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( </a:t>
                      </a:r>
                      <a:r>
                        <a:rPr lang="ko-KR" altLang="en-US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키워드 검색에서 상세보기 </a:t>
                      </a:r>
                      <a:r>
                        <a:rPr lang="ko-KR" altLang="en-US" sz="800" b="0" kern="12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클릭시</a:t>
                      </a:r>
                      <a:r>
                        <a:rPr lang="ko-KR" altLang="en-US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호출 팝업 </a:t>
                      </a:r>
                      <a:r>
                        <a:rPr lang="en-US" altLang="ko-KR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)</a:t>
                      </a:r>
                      <a:endParaRPr lang="ko-KR" altLang="en-US" sz="800" b="0" kern="120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kern="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34" name="그룹 33"/>
          <p:cNvGrpSpPr/>
          <p:nvPr/>
        </p:nvGrpSpPr>
        <p:grpSpPr>
          <a:xfrm>
            <a:off x="216414" y="1070813"/>
            <a:ext cx="6732899" cy="337771"/>
            <a:chOff x="355877" y="2160935"/>
            <a:chExt cx="6061214" cy="417554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44" name="양쪽 모서리가 둥근 사각형 43"/>
          <p:cNvSpPr/>
          <p:nvPr/>
        </p:nvSpPr>
        <p:spPr bwMode="auto">
          <a:xfrm>
            <a:off x="222916" y="1545148"/>
            <a:ext cx="1699153" cy="20316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kern="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네이버경제</a:t>
            </a:r>
            <a:r>
              <a:rPr kumimoji="0" lang="en-US" altLang="ko-KR" sz="800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800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</a:t>
            </a:r>
            <a:r>
              <a:rPr kumimoji="0" lang="en-US" altLang="ko-KR" sz="800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800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뉴스</a:t>
            </a:r>
            <a:endParaRPr kumimoji="0" lang="en-US" altLang="ko-KR" sz="800" kern="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16414" y="147055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5" name="직사각형 64"/>
          <p:cNvSpPr/>
          <p:nvPr/>
        </p:nvSpPr>
        <p:spPr bwMode="auto">
          <a:xfrm>
            <a:off x="191221" y="1822910"/>
            <a:ext cx="6796193" cy="4303966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75431" y="155197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28" name="그림 27"/>
          <p:cNvPicPr>
            <a:picLocks noChangeAspect="1"/>
          </p:cNvPicPr>
          <p:nvPr/>
        </p:nvPicPr>
        <p:blipFill rotWithShape="1">
          <a:blip r:embed="rId2"/>
          <a:srcRect l="34" t="16526" r="82147" b="-177"/>
          <a:stretch/>
        </p:blipFill>
        <p:spPr>
          <a:xfrm>
            <a:off x="214798" y="1854253"/>
            <a:ext cx="1080120" cy="1872208"/>
          </a:xfrm>
          <a:prstGeom prst="rect">
            <a:avLst/>
          </a:prstGeom>
        </p:spPr>
      </p:pic>
      <p:pic>
        <p:nvPicPr>
          <p:cNvPr id="3" name="그림 2" descr="화면 캡처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18496" y="1866104"/>
            <a:ext cx="5630818" cy="3263372"/>
          </a:xfrm>
          <a:prstGeom prst="rect">
            <a:avLst/>
          </a:prstGeom>
        </p:spPr>
      </p:pic>
      <p:sp>
        <p:nvSpPr>
          <p:cNvPr id="18" name="양쪽 모서리가 둥근 사각형 17"/>
          <p:cNvSpPr/>
          <p:nvPr/>
        </p:nvSpPr>
        <p:spPr bwMode="auto">
          <a:xfrm>
            <a:off x="1318495" y="1875969"/>
            <a:ext cx="1624210" cy="171644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en-US" altLang="ko-KR" sz="800" kern="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213041" y="253597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21" name="그림 20"/>
          <p:cNvPicPr>
            <a:picLocks noChangeAspect="1"/>
          </p:cNvPicPr>
          <p:nvPr/>
        </p:nvPicPr>
        <p:blipFill rotWithShape="1">
          <a:blip r:embed="rId2"/>
          <a:srcRect r="-28" b="76117"/>
          <a:stretch/>
        </p:blipFill>
        <p:spPr>
          <a:xfrm>
            <a:off x="191221" y="968210"/>
            <a:ext cx="6758092" cy="555402"/>
          </a:xfrm>
          <a:prstGeom prst="rect">
            <a:avLst/>
          </a:prstGeom>
        </p:spPr>
      </p:pic>
      <p:pic>
        <p:nvPicPr>
          <p:cNvPr id="22" name="그림 2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51013" y="1962217"/>
            <a:ext cx="4380306" cy="3613347"/>
          </a:xfrm>
          <a:prstGeom prst="rect">
            <a:avLst/>
          </a:prstGeom>
          <a:ln>
            <a:noFill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</p:pic>
      <p:sp>
        <p:nvSpPr>
          <p:cNvPr id="23" name="직사각형 22"/>
          <p:cNvSpPr/>
          <p:nvPr/>
        </p:nvSpPr>
        <p:spPr>
          <a:xfrm>
            <a:off x="2634992" y="3616730"/>
            <a:ext cx="3528392" cy="792088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 anchorCtr="0"/>
          <a:lstStyle/>
          <a:p>
            <a:r>
              <a:rPr lang="ko-KR" altLang="en-US" sz="900" dirty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뉴스 키워드 검색 결과 </a:t>
            </a:r>
          </a:p>
          <a:p>
            <a:r>
              <a:rPr lang="en-US" altLang="ko-KR" sz="900" dirty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※ &lt;Ctrl&gt;</a:t>
            </a:r>
            <a:r>
              <a:rPr lang="ko-KR" altLang="en-US" sz="900" dirty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키를 누른 채 기사 제목을 클릭하면 해당 기사로 바로 이동 됩니다</a:t>
            </a:r>
            <a:r>
              <a:rPr lang="en-US" altLang="ko-KR" sz="900" dirty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. </a:t>
            </a:r>
          </a:p>
          <a:p>
            <a:r>
              <a:rPr lang="en-US" altLang="ko-KR" sz="900" dirty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- </a:t>
            </a:r>
            <a:r>
              <a:rPr lang="ko-KR" altLang="en-US" sz="900" dirty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내부통제 </a:t>
            </a:r>
            <a:r>
              <a:rPr lang="en-US" altLang="ko-KR" sz="900" dirty="0" smtClean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-</a:t>
            </a:r>
            <a:endParaRPr lang="en-US" altLang="ko-KR" sz="900" dirty="0">
              <a:solidFill>
                <a:schemeClr val="tx1"/>
              </a:solidFill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  <a:p>
            <a:r>
              <a:rPr lang="ko-KR" altLang="en-US" sz="900" dirty="0" err="1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코바코</a:t>
            </a:r>
            <a:r>
              <a:rPr lang="en-US" altLang="ko-KR" sz="900" dirty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-</a:t>
            </a:r>
            <a:r>
              <a:rPr lang="ko-KR" altLang="en-US" sz="900" dirty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시청자미디어재단</a:t>
            </a:r>
            <a:r>
              <a:rPr lang="en-US" altLang="ko-KR" sz="900" dirty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, </a:t>
            </a:r>
            <a:r>
              <a:rPr lang="ko-KR" altLang="en-US" sz="900" dirty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감사 인력 교류</a:t>
            </a:r>
            <a:r>
              <a:rPr lang="en-US" altLang="ko-KR" sz="900" dirty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…"</a:t>
            </a:r>
            <a:r>
              <a:rPr lang="ko-KR" altLang="en-US" sz="900" dirty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내부통제 </a:t>
            </a:r>
            <a:r>
              <a:rPr lang="ko-KR" altLang="en-US" sz="900" dirty="0" smtClean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강화</a:t>
            </a:r>
            <a:r>
              <a:rPr lang="en-US" altLang="ko-KR" sz="900" dirty="0" smtClean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“</a:t>
            </a:r>
          </a:p>
          <a:p>
            <a:r>
              <a:rPr lang="en-US" altLang="ko-KR" sz="900" dirty="0" smtClean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…</a:t>
            </a:r>
            <a:endParaRPr lang="en-US" altLang="ko-KR" sz="900" dirty="0">
              <a:solidFill>
                <a:schemeClr val="tx1"/>
              </a:solidFill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497386" y="345717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054710" y="241225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497386" y="397245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9" name="직사각형 28"/>
          <p:cNvSpPr/>
          <p:nvPr/>
        </p:nvSpPr>
        <p:spPr bwMode="auto">
          <a:xfrm flipV="1">
            <a:off x="247912" y="2546174"/>
            <a:ext cx="1062122" cy="158765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66874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MDD-00130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MDD75GA1001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금융감독원 제재</a:t>
                      </a:r>
                      <a:r>
                        <a:rPr lang="en-US" altLang="ko-KR" sz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·</a:t>
                      </a:r>
                      <a:r>
                        <a:rPr lang="ko-KR" altLang="en-US" sz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경영유의사항</a:t>
                      </a:r>
                      <a:r>
                        <a:rPr lang="en-US" altLang="ko-KR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(2-1/2)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대외기획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P.A.I(Platform of Audit Info) 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RPA </a:t>
                      </a:r>
                      <a:r>
                        <a:rPr lang="ko-KR" altLang="en-US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수집정보  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(P156: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5152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(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금융감독원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(1-&gt;2)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=&gt;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금융감독원 제재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·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경영유의사항 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</a:rPr>
                        <a:t>메뉴변경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  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::: 2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번 이동 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</a:rPr>
                        <a:t>메뉴변경</a:t>
                      </a:r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본문 추가</a:t>
                      </a:r>
                      <a:endParaRPr lang="en-US" altLang="ko-KR" sz="800" b="1" spc="-5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buNone/>
                      </a:pP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3-1. ‘</a:t>
                      </a:r>
                      <a:r>
                        <a:rPr lang="ko-KR" altLang="en-US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조치내용</a:t>
                      </a: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1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   ☞ 검사결과제재 혹은 경영유의사항</a:t>
                      </a: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/>
                      </a:r>
                      <a:b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3-2.  ‘</a:t>
                      </a:r>
                      <a:r>
                        <a:rPr lang="ko-KR" altLang="en-US" sz="8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금융기관명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</a:t>
                      </a:r>
                      <a:b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  ☞ 제재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/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경영유의사항 </a:t>
                      </a:r>
                      <a:r>
                        <a:rPr lang="ko-KR" altLang="en-US" sz="8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공개안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중 </a:t>
                      </a:r>
                      <a:r>
                        <a:rPr lang="ko-KR" altLang="en-US" sz="800" b="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금융회사명</a:t>
                      </a:r>
                      <a:r>
                        <a:rPr lang="en-US" altLang="ko-KR" sz="800" b="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/>
                      </a:r>
                      <a:br>
                        <a:rPr lang="en-US" altLang="ko-KR" sz="800" b="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3-3. ‘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제재조치일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/>
                      </a:r>
                      <a:b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  ☞ 제재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/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경영유의사항 </a:t>
                      </a:r>
                      <a:r>
                        <a:rPr lang="ko-KR" altLang="en-US" sz="8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공개안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중 </a:t>
                      </a:r>
                      <a:r>
                        <a:rPr lang="ko-KR" altLang="en-US" sz="800" b="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조치일</a:t>
                      </a:r>
                      <a:r>
                        <a:rPr lang="en-US" altLang="ko-KR" sz="800" b="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/>
                      </a:r>
                      <a:br>
                        <a:rPr lang="en-US" altLang="ko-KR" sz="800" b="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3-4. ‘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요약내용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</a:t>
                      </a:r>
                      <a:b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  ☞제재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/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경영유의사항 </a:t>
                      </a:r>
                      <a:r>
                        <a:rPr lang="ko-KR" altLang="en-US" sz="8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공개안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중 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/>
                      </a:r>
                      <a:b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    </a:t>
                      </a:r>
                      <a:r>
                        <a:rPr lang="en-US" altLang="ko-KR" sz="800" b="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“4. </a:t>
                      </a:r>
                      <a:r>
                        <a:rPr lang="ko-KR" altLang="en-US" sz="800" b="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조치대상사실</a:t>
                      </a:r>
                      <a:r>
                        <a:rPr lang="en-US" altLang="ko-KR" sz="800" b="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” </a:t>
                      </a:r>
                      <a:r>
                        <a:rPr lang="ko-KR" altLang="en-US" sz="800" b="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이하 순서대로 </a:t>
                      </a:r>
                      <a:r>
                        <a:rPr lang="ko-KR" altLang="en-US" sz="800" b="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한줄</a:t>
                      </a:r>
                      <a:r>
                        <a:rPr lang="ko-KR" altLang="en-US" sz="800" b="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기재</a:t>
                      </a:r>
                      <a:r>
                        <a:rPr lang="en-US" altLang="ko-KR" sz="800" b="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/>
                      </a:r>
                      <a:br>
                        <a:rPr lang="en-US" altLang="ko-KR" sz="800" b="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en-US" altLang="ko-KR" sz="800" b="0" baseline="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   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예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경영유의사항 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(1)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대출업무 관련 내부통제 강화</a:t>
                      </a:r>
                      <a:r>
                        <a:rPr lang="en-US" altLang="ko-KR" sz="800" b="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/>
                      </a:r>
                      <a:br>
                        <a:rPr lang="en-US" altLang="ko-KR" sz="800" b="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en-US" altLang="ko-KR" sz="800" b="1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3-5. ‘</a:t>
                      </a:r>
                      <a:r>
                        <a:rPr lang="ko-KR" altLang="en-US" sz="800" b="1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본문</a:t>
                      </a:r>
                      <a:r>
                        <a:rPr lang="en-US" altLang="ko-KR" sz="800" b="1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</a:t>
                      </a:r>
                      <a:br>
                        <a:rPr lang="en-US" altLang="ko-KR" sz="800" b="1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  ☞ 첨부파일 內 전체 본문을 그대로 입력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/>
                      </a:r>
                      <a:b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      (</a:t>
                      </a:r>
                      <a:r>
                        <a:rPr lang="en-US" altLang="ko-KR" sz="8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Ctrl+A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→ </a:t>
                      </a:r>
                      <a:r>
                        <a:rPr lang="en-US" altLang="ko-KR" sz="8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Ctrl+C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→ </a:t>
                      </a:r>
                      <a:r>
                        <a:rPr lang="en-US" altLang="ko-KR" sz="8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Ctrl+V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b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3-6. ‘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첨부파일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</a:t>
                      </a:r>
                      <a:b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  ☞ ① 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‘</a:t>
                      </a:r>
                      <a:r>
                        <a:rPr lang="ko-KR" altLang="en-US" sz="8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파일추가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’(RPA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수집 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pdf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및 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word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등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b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     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② 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‘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등록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본문 추가</a:t>
                      </a:r>
                      <a:endParaRPr lang="en-US" altLang="ko-KR" sz="800" b="1" spc="-5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kern="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34" name="그룹 33"/>
          <p:cNvGrpSpPr/>
          <p:nvPr/>
        </p:nvGrpSpPr>
        <p:grpSpPr>
          <a:xfrm>
            <a:off x="216414" y="1070813"/>
            <a:ext cx="6732899" cy="337771"/>
            <a:chOff x="355877" y="2160935"/>
            <a:chExt cx="6061214" cy="417554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44" name="양쪽 모서리가 둥근 사각형 43"/>
          <p:cNvSpPr/>
          <p:nvPr/>
        </p:nvSpPr>
        <p:spPr bwMode="auto">
          <a:xfrm>
            <a:off x="222916" y="1545148"/>
            <a:ext cx="1699153" cy="20316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 제재</a:t>
            </a:r>
            <a:r>
              <a:rPr lang="en-US" altLang="ko-KR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경영유의사항</a:t>
            </a:r>
            <a:endParaRPr kumimoji="0" lang="en-US" altLang="ko-KR" sz="800" kern="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16414" y="147055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7" y="17503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50492" y="155197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52" name="그림 51"/>
          <p:cNvPicPr>
            <a:picLocks noChangeAspect="1"/>
          </p:cNvPicPr>
          <p:nvPr/>
        </p:nvPicPr>
        <p:blipFill rotWithShape="1">
          <a:blip r:embed="rId2"/>
          <a:srcRect l="34" t="16526" r="82147" b="-177"/>
          <a:stretch/>
        </p:blipFill>
        <p:spPr>
          <a:xfrm>
            <a:off x="214466" y="1857742"/>
            <a:ext cx="1080120" cy="1872208"/>
          </a:xfrm>
          <a:prstGeom prst="rect">
            <a:avLst/>
          </a:prstGeom>
        </p:spPr>
      </p:pic>
      <p:pic>
        <p:nvPicPr>
          <p:cNvPr id="63" name="그림 62"/>
          <p:cNvPicPr>
            <a:picLocks noChangeAspect="1"/>
          </p:cNvPicPr>
          <p:nvPr/>
        </p:nvPicPr>
        <p:blipFill rotWithShape="1">
          <a:blip r:embed="rId2"/>
          <a:srcRect r="-28" b="76117"/>
          <a:stretch/>
        </p:blipFill>
        <p:spPr>
          <a:xfrm>
            <a:off x="191221" y="968210"/>
            <a:ext cx="6758092" cy="555402"/>
          </a:xfrm>
          <a:prstGeom prst="rect">
            <a:avLst/>
          </a:prstGeom>
        </p:spPr>
      </p:pic>
      <p:sp>
        <p:nvSpPr>
          <p:cNvPr id="24" name="타원 2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230805" y="269971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0" name="직사각형 29"/>
          <p:cNvSpPr/>
          <p:nvPr/>
        </p:nvSpPr>
        <p:spPr bwMode="auto">
          <a:xfrm>
            <a:off x="1428576" y="1972895"/>
            <a:ext cx="4017247" cy="291216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9" name="직사각형 28"/>
          <p:cNvSpPr/>
          <p:nvPr/>
        </p:nvSpPr>
        <p:spPr bwMode="auto">
          <a:xfrm>
            <a:off x="191221" y="1822910"/>
            <a:ext cx="6796193" cy="4303966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31" name="그림 3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38079" y="3432358"/>
            <a:ext cx="3607421" cy="618499"/>
          </a:xfrm>
          <a:prstGeom prst="rect">
            <a:avLst/>
          </a:prstGeom>
        </p:spPr>
      </p:pic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3339"/>
          <a:stretch/>
        </p:blipFill>
        <p:spPr>
          <a:xfrm>
            <a:off x="1587990" y="4016156"/>
            <a:ext cx="3675017" cy="774215"/>
          </a:xfrm>
          <a:prstGeom prst="rect">
            <a:avLst/>
          </a:prstGeom>
        </p:spPr>
      </p:pic>
      <p:pic>
        <p:nvPicPr>
          <p:cNvPr id="33" name="그림 32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6775"/>
          <a:stretch/>
        </p:blipFill>
        <p:spPr>
          <a:xfrm>
            <a:off x="1554653" y="2065384"/>
            <a:ext cx="3816424" cy="1419016"/>
          </a:xfrm>
          <a:prstGeom prst="rect">
            <a:avLst/>
          </a:prstGeom>
        </p:spPr>
      </p:pic>
      <p:sp>
        <p:nvSpPr>
          <p:cNvPr id="35" name="타원 3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036865" y="337701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298704" y="367050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1" name="직사각형 20"/>
          <p:cNvSpPr/>
          <p:nvPr/>
        </p:nvSpPr>
        <p:spPr bwMode="auto">
          <a:xfrm flipV="1">
            <a:off x="237486" y="2708630"/>
            <a:ext cx="1062122" cy="158765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587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MDD-00130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MDD75GA1002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금융감독원 제재</a:t>
                      </a:r>
                      <a:r>
                        <a:rPr lang="en-US" altLang="ko-KR" sz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·</a:t>
                      </a:r>
                      <a:r>
                        <a:rPr lang="ko-KR" altLang="en-US" sz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</a:rPr>
                        <a:t>경영유의사항</a:t>
                      </a:r>
                      <a:r>
                        <a:rPr lang="en-US" altLang="ko-KR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(2-2/2)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대외기획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P.A.I(Platform of Audit Info) 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RPA </a:t>
                      </a:r>
                      <a:r>
                        <a:rPr lang="ko-KR" altLang="en-US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수집정보  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(P156: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298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상세보기 페이지 </a:t>
                      </a:r>
                      <a:r>
                        <a:rPr lang="en-US" altLang="ko-KR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( </a:t>
                      </a:r>
                      <a:r>
                        <a:rPr lang="ko-KR" altLang="en-US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키워드 검색에서 상세보기 </a:t>
                      </a:r>
                      <a:r>
                        <a:rPr lang="ko-KR" altLang="en-US" sz="800" b="0" kern="12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클릭시</a:t>
                      </a:r>
                      <a:r>
                        <a:rPr lang="ko-KR" altLang="en-US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호출 팝업 </a:t>
                      </a:r>
                      <a:r>
                        <a:rPr lang="en-US" altLang="ko-KR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)</a:t>
                      </a:r>
                      <a:endParaRPr lang="ko-KR" altLang="en-US" sz="800" b="0" kern="1200" dirty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spc="-5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kern="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34" name="그룹 33"/>
          <p:cNvGrpSpPr/>
          <p:nvPr/>
        </p:nvGrpSpPr>
        <p:grpSpPr>
          <a:xfrm>
            <a:off x="216414" y="1070813"/>
            <a:ext cx="6732899" cy="337771"/>
            <a:chOff x="355877" y="2160935"/>
            <a:chExt cx="6061214" cy="417554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44" name="양쪽 모서리가 둥근 사각형 43"/>
          <p:cNvSpPr/>
          <p:nvPr/>
        </p:nvSpPr>
        <p:spPr bwMode="auto">
          <a:xfrm>
            <a:off x="222916" y="1545148"/>
            <a:ext cx="1699153" cy="20316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 제재</a:t>
            </a:r>
            <a:r>
              <a:rPr lang="en-US" altLang="ko-KR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경영유의사항</a:t>
            </a:r>
            <a:endParaRPr kumimoji="0" lang="en-US" altLang="ko-KR" sz="800" kern="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16414" y="147055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7" y="17503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50492" y="155197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52" name="그림 51"/>
          <p:cNvPicPr>
            <a:picLocks noChangeAspect="1"/>
          </p:cNvPicPr>
          <p:nvPr/>
        </p:nvPicPr>
        <p:blipFill rotWithShape="1">
          <a:blip r:embed="rId2"/>
          <a:srcRect l="34" t="16526" r="82147" b="-177"/>
          <a:stretch/>
        </p:blipFill>
        <p:spPr>
          <a:xfrm>
            <a:off x="214466" y="1857742"/>
            <a:ext cx="1080120" cy="1872208"/>
          </a:xfrm>
          <a:prstGeom prst="rect">
            <a:avLst/>
          </a:prstGeom>
        </p:spPr>
      </p:pic>
      <p:pic>
        <p:nvPicPr>
          <p:cNvPr id="63" name="그림 62"/>
          <p:cNvPicPr>
            <a:picLocks noChangeAspect="1"/>
          </p:cNvPicPr>
          <p:nvPr/>
        </p:nvPicPr>
        <p:blipFill rotWithShape="1">
          <a:blip r:embed="rId2"/>
          <a:srcRect r="-28" b="76117"/>
          <a:stretch/>
        </p:blipFill>
        <p:spPr>
          <a:xfrm>
            <a:off x="191221" y="968210"/>
            <a:ext cx="6758092" cy="555402"/>
          </a:xfrm>
          <a:prstGeom prst="rect">
            <a:avLst/>
          </a:prstGeom>
        </p:spPr>
      </p:pic>
      <p:sp>
        <p:nvSpPr>
          <p:cNvPr id="24" name="타원 2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230805" y="269971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0" name="직사각형 29"/>
          <p:cNvSpPr/>
          <p:nvPr/>
        </p:nvSpPr>
        <p:spPr bwMode="auto">
          <a:xfrm>
            <a:off x="1428576" y="1972895"/>
            <a:ext cx="4017247" cy="2912162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9" name="직사각형 28"/>
          <p:cNvSpPr/>
          <p:nvPr/>
        </p:nvSpPr>
        <p:spPr bwMode="auto">
          <a:xfrm>
            <a:off x="191221" y="1822910"/>
            <a:ext cx="6796193" cy="4303966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31" name="그림 3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38079" y="3432358"/>
            <a:ext cx="3607421" cy="618499"/>
          </a:xfrm>
          <a:prstGeom prst="rect">
            <a:avLst/>
          </a:prstGeom>
        </p:spPr>
      </p:pic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3339"/>
          <a:stretch/>
        </p:blipFill>
        <p:spPr>
          <a:xfrm>
            <a:off x="1587990" y="4016156"/>
            <a:ext cx="3675017" cy="774215"/>
          </a:xfrm>
          <a:prstGeom prst="rect">
            <a:avLst/>
          </a:prstGeom>
        </p:spPr>
      </p:pic>
      <p:pic>
        <p:nvPicPr>
          <p:cNvPr id="33" name="그림 32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6775"/>
          <a:stretch/>
        </p:blipFill>
        <p:spPr>
          <a:xfrm>
            <a:off x="1554653" y="2065384"/>
            <a:ext cx="3816424" cy="1419016"/>
          </a:xfrm>
          <a:prstGeom prst="rect">
            <a:avLst/>
          </a:prstGeom>
        </p:spPr>
      </p:pic>
      <p:sp>
        <p:nvSpPr>
          <p:cNvPr id="21" name="직사각형 20"/>
          <p:cNvSpPr/>
          <p:nvPr/>
        </p:nvSpPr>
        <p:spPr bwMode="auto">
          <a:xfrm flipV="1">
            <a:off x="237486" y="2695509"/>
            <a:ext cx="1062122" cy="158765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805021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MDD-00130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MDD75GA5001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en-US" altLang="ko-KR" sz="12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RPA</a:t>
                      </a:r>
                      <a:r>
                        <a:rPr lang="ko-KR" altLang="en-US" sz="12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금융정보관리 조회</a:t>
                      </a:r>
                      <a:r>
                        <a:rPr lang="en-US" altLang="ko-KR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(3-1/2)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대외기획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P.A.I(Platform of Audit Info) 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RPA </a:t>
                      </a:r>
                      <a:r>
                        <a:rPr lang="ko-KR" altLang="en-US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수집정보  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(P156: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542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(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금융감독원 보도자료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(2-&gt;3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</a:rPr>
                        <a:t>현행유지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     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::: 3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번 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</a:rPr>
                        <a:t>현행유지</a:t>
                      </a:r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본문 추가</a:t>
                      </a:r>
                      <a:endParaRPr lang="en-US" altLang="ko-KR" sz="800" b="1" spc="-5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buNone/>
                      </a:pP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3-1. ‘</a:t>
                      </a:r>
                      <a:r>
                        <a:rPr lang="ko-KR" altLang="en-US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제목</a:t>
                      </a: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</a:t>
                      </a:r>
                      <a:r>
                        <a:rPr lang="ko-KR" altLang="en-US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등록</a:t>
                      </a: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spcAft>
                          <a:spcPts val="0"/>
                        </a:spcAft>
                        <a:buNone/>
                      </a:pP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☞ 금융감독원 보도자료 메뉴 상 제목 </a:t>
                      </a:r>
                      <a:r>
                        <a:rPr lang="ko-KR" altLang="en-US" sz="8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스크래핑</a:t>
                      </a:r>
                      <a:endParaRPr lang="en-US" altLang="ko-KR" sz="800" spc="-5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3-2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 ‘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담당부서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등록</a:t>
                      </a: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spcAft>
                          <a:spcPts val="0"/>
                        </a:spcAft>
                        <a:buNone/>
                      </a:pP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☞ 금융감독원 담당부서</a:t>
                      </a: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3-3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 ‘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작성자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 Default</a:t>
                      </a:r>
                      <a:r>
                        <a:rPr lang="en-US" altLang="ko-KR" sz="800" baseline="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800" baseline="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셋팅</a:t>
                      </a: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3-4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 ‘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요약내용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등록</a:t>
                      </a: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spcAft>
                          <a:spcPts val="0"/>
                        </a:spcAft>
                        <a:buNone/>
                      </a:pP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☞ 현재 기능 유지</a:t>
                      </a: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3-5</a:t>
                      </a:r>
                      <a:r>
                        <a:rPr lang="en-US" altLang="ko-KR" sz="800" b="1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 ‘</a:t>
                      </a:r>
                      <a:r>
                        <a:rPr lang="ko-KR" altLang="en-US" sz="800" b="1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본문</a:t>
                      </a:r>
                      <a:r>
                        <a:rPr lang="en-US" altLang="ko-KR" sz="800" b="1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 </a:t>
                      </a:r>
                      <a:r>
                        <a:rPr lang="ko-KR" altLang="en-US" sz="800" b="1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등록</a:t>
                      </a:r>
                      <a:endParaRPr lang="en-US" altLang="ko-KR" sz="800" b="1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spcAft>
                          <a:spcPts val="0"/>
                        </a:spcAft>
                        <a:buNone/>
                      </a:pP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☞ 첨부파일 內 전체 본문을 그대로 입력</a:t>
                      </a: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      (</a:t>
                      </a:r>
                      <a:r>
                        <a:rPr lang="en-US" altLang="ko-KR" sz="8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Ctrl+A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→ </a:t>
                      </a:r>
                      <a:r>
                        <a:rPr lang="en-US" altLang="ko-KR" sz="8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Ctrl+C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→ </a:t>
                      </a:r>
                      <a:r>
                        <a:rPr lang="en-US" altLang="ko-KR" sz="8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Ctrl+V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  <a:p>
                      <a:pPr marL="0" indent="0">
                        <a:buNone/>
                      </a:pP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3-6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. ‘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첨부파일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등록</a:t>
                      </a: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buNone/>
                      </a:pP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☞ </a:t>
                      </a:r>
                      <a:r>
                        <a:rPr lang="en-US" altLang="ko-KR" sz="8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Hwp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및 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Word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파일 등록</a:t>
                      </a:r>
                      <a:endParaRPr lang="en-US" altLang="ko-KR" sz="8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본문 추가</a:t>
                      </a:r>
                      <a:endParaRPr lang="en-US" altLang="ko-KR" sz="800" b="1" spc="-5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kern="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34" name="그룹 33"/>
          <p:cNvGrpSpPr/>
          <p:nvPr/>
        </p:nvGrpSpPr>
        <p:grpSpPr>
          <a:xfrm>
            <a:off x="216414" y="1070813"/>
            <a:ext cx="6732899" cy="337771"/>
            <a:chOff x="355877" y="2160935"/>
            <a:chExt cx="6061214" cy="417554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44" name="양쪽 모서리가 둥근 사각형 43"/>
          <p:cNvSpPr/>
          <p:nvPr/>
        </p:nvSpPr>
        <p:spPr bwMode="auto">
          <a:xfrm>
            <a:off x="222916" y="1545148"/>
            <a:ext cx="1699153" cy="20316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 보도자료</a:t>
            </a:r>
            <a:endParaRPr kumimoji="0" lang="en-US" altLang="ko-KR" sz="800" kern="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16414" y="147055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7" y="17503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50492" y="155197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52" name="그림 51"/>
          <p:cNvPicPr>
            <a:picLocks noChangeAspect="1"/>
          </p:cNvPicPr>
          <p:nvPr/>
        </p:nvPicPr>
        <p:blipFill rotWithShape="1">
          <a:blip r:embed="rId2"/>
          <a:srcRect l="34" t="16526" r="82147" b="-177"/>
          <a:stretch/>
        </p:blipFill>
        <p:spPr>
          <a:xfrm>
            <a:off x="214466" y="1857742"/>
            <a:ext cx="1080120" cy="1872208"/>
          </a:xfrm>
          <a:prstGeom prst="rect">
            <a:avLst/>
          </a:prstGeom>
        </p:spPr>
      </p:pic>
      <p:pic>
        <p:nvPicPr>
          <p:cNvPr id="63" name="그림 62"/>
          <p:cNvPicPr>
            <a:picLocks noChangeAspect="1"/>
          </p:cNvPicPr>
          <p:nvPr/>
        </p:nvPicPr>
        <p:blipFill rotWithShape="1">
          <a:blip r:embed="rId2"/>
          <a:srcRect r="-28" b="76117"/>
          <a:stretch/>
        </p:blipFill>
        <p:spPr>
          <a:xfrm>
            <a:off x="191221" y="968210"/>
            <a:ext cx="6758092" cy="555402"/>
          </a:xfrm>
          <a:prstGeom prst="rect">
            <a:avLst/>
          </a:prstGeom>
        </p:spPr>
      </p:pic>
      <p:sp>
        <p:nvSpPr>
          <p:cNvPr id="24" name="타원 2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127555" y="286013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6" name="직사각형 25"/>
          <p:cNvSpPr/>
          <p:nvPr/>
        </p:nvSpPr>
        <p:spPr bwMode="auto">
          <a:xfrm>
            <a:off x="191221" y="1822910"/>
            <a:ext cx="6796193" cy="4303966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8" name="직사각형 27"/>
          <p:cNvSpPr/>
          <p:nvPr/>
        </p:nvSpPr>
        <p:spPr bwMode="auto">
          <a:xfrm>
            <a:off x="1357161" y="1884878"/>
            <a:ext cx="3996236" cy="3326397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29" name="그림 2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82419" y="1894264"/>
            <a:ext cx="3869308" cy="3264729"/>
          </a:xfrm>
          <a:prstGeom prst="rect">
            <a:avLst/>
          </a:prstGeom>
        </p:spPr>
      </p:pic>
      <p:sp>
        <p:nvSpPr>
          <p:cNvPr id="30" name="직사각형 29"/>
          <p:cNvSpPr/>
          <p:nvPr/>
        </p:nvSpPr>
        <p:spPr>
          <a:xfrm>
            <a:off x="2030491" y="3435662"/>
            <a:ext cx="1800200" cy="360040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/>
          </a:p>
        </p:txBody>
      </p:sp>
      <p:sp>
        <p:nvSpPr>
          <p:cNvPr id="31" name="직사각형 30"/>
          <p:cNvSpPr/>
          <p:nvPr/>
        </p:nvSpPr>
        <p:spPr>
          <a:xfrm>
            <a:off x="1534819" y="3795702"/>
            <a:ext cx="207640" cy="21602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ko-KR" altLang="en-US" sz="900" smtClean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본문</a:t>
            </a:r>
            <a:endParaRPr lang="ko-KR" altLang="en-US" sz="900" dirty="0">
              <a:solidFill>
                <a:schemeClr val="tx1"/>
              </a:solidFill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867188" y="327610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000395" y="382047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1" name="직사각형 20"/>
          <p:cNvSpPr/>
          <p:nvPr/>
        </p:nvSpPr>
        <p:spPr bwMode="auto">
          <a:xfrm flipV="1">
            <a:off x="214466" y="2860138"/>
            <a:ext cx="1062122" cy="158765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131776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MDD-00130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MDD75GA5002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en-US" altLang="ko-KR" sz="12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RPA</a:t>
                      </a:r>
                      <a:r>
                        <a:rPr lang="ko-KR" altLang="en-US" sz="12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금융정보관리 조회</a:t>
                      </a:r>
                      <a:r>
                        <a:rPr lang="en-US" altLang="ko-KR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(3-2/2)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대외기획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P.A.I(Platform of Audit Info) 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RPA </a:t>
                      </a:r>
                      <a:r>
                        <a:rPr lang="ko-KR" altLang="en-US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수집정보  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(P156: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298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상세보기 페이지 </a:t>
                      </a:r>
                      <a:r>
                        <a:rPr lang="en-US" altLang="ko-KR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( </a:t>
                      </a:r>
                      <a:r>
                        <a:rPr lang="ko-KR" altLang="en-US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키워드 검색에서 상세보기 </a:t>
                      </a:r>
                      <a:r>
                        <a:rPr lang="ko-KR" altLang="en-US" sz="800" b="0" kern="12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클릭시</a:t>
                      </a:r>
                      <a:r>
                        <a:rPr lang="ko-KR" altLang="en-US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호출 팝업 </a:t>
                      </a:r>
                      <a:r>
                        <a:rPr lang="en-US" altLang="ko-KR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)</a:t>
                      </a:r>
                      <a:endParaRPr lang="ko-KR" altLang="en-US" sz="800" b="0" kern="1200" dirty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1" spc="-5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kern="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34" name="그룹 33"/>
          <p:cNvGrpSpPr/>
          <p:nvPr/>
        </p:nvGrpSpPr>
        <p:grpSpPr>
          <a:xfrm>
            <a:off x="216414" y="1070813"/>
            <a:ext cx="6732899" cy="337771"/>
            <a:chOff x="355877" y="2160935"/>
            <a:chExt cx="6061214" cy="417554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44" name="양쪽 모서리가 둥근 사각형 43"/>
          <p:cNvSpPr/>
          <p:nvPr/>
        </p:nvSpPr>
        <p:spPr bwMode="auto">
          <a:xfrm>
            <a:off x="222916" y="1545148"/>
            <a:ext cx="1699153" cy="20316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 보도자료</a:t>
            </a:r>
            <a:endParaRPr kumimoji="0" lang="en-US" altLang="ko-KR" sz="800" kern="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16414" y="147055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7" y="17503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50492" y="155197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52" name="그림 51"/>
          <p:cNvPicPr>
            <a:picLocks noChangeAspect="1"/>
          </p:cNvPicPr>
          <p:nvPr/>
        </p:nvPicPr>
        <p:blipFill rotWithShape="1">
          <a:blip r:embed="rId2"/>
          <a:srcRect l="34" t="16526" r="82147" b="-177"/>
          <a:stretch/>
        </p:blipFill>
        <p:spPr>
          <a:xfrm>
            <a:off x="214466" y="1857742"/>
            <a:ext cx="1080120" cy="1872208"/>
          </a:xfrm>
          <a:prstGeom prst="rect">
            <a:avLst/>
          </a:prstGeom>
        </p:spPr>
      </p:pic>
      <p:pic>
        <p:nvPicPr>
          <p:cNvPr id="63" name="그림 62"/>
          <p:cNvPicPr>
            <a:picLocks noChangeAspect="1"/>
          </p:cNvPicPr>
          <p:nvPr/>
        </p:nvPicPr>
        <p:blipFill rotWithShape="1">
          <a:blip r:embed="rId2"/>
          <a:srcRect r="-28" b="76117"/>
          <a:stretch/>
        </p:blipFill>
        <p:spPr>
          <a:xfrm>
            <a:off x="191221" y="968210"/>
            <a:ext cx="6758092" cy="555402"/>
          </a:xfrm>
          <a:prstGeom prst="rect">
            <a:avLst/>
          </a:prstGeom>
        </p:spPr>
      </p:pic>
      <p:sp>
        <p:nvSpPr>
          <p:cNvPr id="24" name="타원 2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127555" y="286013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6" name="직사각형 25"/>
          <p:cNvSpPr/>
          <p:nvPr/>
        </p:nvSpPr>
        <p:spPr bwMode="auto">
          <a:xfrm>
            <a:off x="191221" y="1822910"/>
            <a:ext cx="6796193" cy="4303966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8" name="직사각형 27"/>
          <p:cNvSpPr/>
          <p:nvPr/>
        </p:nvSpPr>
        <p:spPr bwMode="auto">
          <a:xfrm>
            <a:off x="1357161" y="1884878"/>
            <a:ext cx="3996236" cy="3326397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29" name="그림 2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82419" y="1894264"/>
            <a:ext cx="3869308" cy="3264729"/>
          </a:xfrm>
          <a:prstGeom prst="rect">
            <a:avLst/>
          </a:prstGeom>
        </p:spPr>
      </p:pic>
      <p:sp>
        <p:nvSpPr>
          <p:cNvPr id="30" name="직사각형 29"/>
          <p:cNvSpPr/>
          <p:nvPr/>
        </p:nvSpPr>
        <p:spPr>
          <a:xfrm>
            <a:off x="2030491" y="3435662"/>
            <a:ext cx="1800200" cy="360040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/>
          </a:p>
        </p:txBody>
      </p:sp>
      <p:sp>
        <p:nvSpPr>
          <p:cNvPr id="31" name="직사각형 30"/>
          <p:cNvSpPr/>
          <p:nvPr/>
        </p:nvSpPr>
        <p:spPr>
          <a:xfrm>
            <a:off x="1534819" y="3795702"/>
            <a:ext cx="207640" cy="21602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ko-KR" altLang="en-US" sz="900" smtClean="0">
                <a:solidFill>
                  <a:schemeClr val="tx1"/>
                </a:solidFill>
                <a:latin typeface="KB금융 본문체 Light" panose="020B0303000000000000" pitchFamily="50" charset="-127"/>
                <a:ea typeface="KB금융 본문체 Light" panose="020B0303000000000000" pitchFamily="50" charset="-127"/>
              </a:rPr>
              <a:t>본문</a:t>
            </a:r>
            <a:endParaRPr lang="ko-KR" altLang="en-US" sz="900" dirty="0">
              <a:solidFill>
                <a:schemeClr val="tx1"/>
              </a:solidFill>
              <a:latin typeface="KB금융 본문체 Light" panose="020B0303000000000000" pitchFamily="50" charset="-127"/>
              <a:ea typeface="KB금융 본문체 Light" panose="020B0303000000000000" pitchFamily="50" charset="-127"/>
            </a:endParaRPr>
          </a:p>
        </p:txBody>
      </p:sp>
      <p:sp>
        <p:nvSpPr>
          <p:cNvPr id="21" name="직사각형 20"/>
          <p:cNvSpPr/>
          <p:nvPr/>
        </p:nvSpPr>
        <p:spPr bwMode="auto">
          <a:xfrm flipV="1">
            <a:off x="214466" y="2860138"/>
            <a:ext cx="1062122" cy="158765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078843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MDD-00130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MDD75GA7000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금융감독원 </a:t>
                      </a:r>
                      <a:r>
                        <a:rPr lang="en-US" altLang="ko-KR" sz="12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DART </a:t>
                      </a:r>
                      <a:r>
                        <a:rPr lang="ko-KR" altLang="en-US" sz="1200" b="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공시자료</a:t>
                      </a:r>
                      <a:r>
                        <a:rPr lang="en-US" altLang="ko-KR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(4-1/3)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대외기획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P.A.I(Platform of Audit Info) 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RPA </a:t>
                      </a:r>
                      <a:r>
                        <a:rPr lang="ko-KR" altLang="en-US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수집정보 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(P172: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298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[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금융감독원 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DART 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공시자료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]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클릭</a:t>
                      </a: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[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]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버튼 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클릭시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검색조건 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선택후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조회 실행</a:t>
                      </a: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[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등록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]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버튼 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클릭시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등록 팝업 호출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검색된 그리드에서 </a:t>
                      </a:r>
                      <a:r>
                        <a:rPr lang="ko-KR" altLang="en-US" sz="800" b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더블클릭시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상세 정보 팝업 페이지 호출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첨부파일이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있을수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클릭하면 첨부파일 다운로드 실행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228600" marR="0" lvl="0" indent="-22860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★ 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개발 </a:t>
                      </a:r>
                      <a:r>
                        <a:rPr kumimoji="0" lang="ko-KR" altLang="en-US" sz="800" b="0" kern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완료후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RPA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팀에서 </a:t>
                      </a:r>
                      <a:r>
                        <a:rPr kumimoji="0" lang="ko-KR" altLang="en-US" sz="800" b="0" kern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대응요청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(1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월중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kern="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34" name="그룹 33"/>
          <p:cNvGrpSpPr/>
          <p:nvPr/>
        </p:nvGrpSpPr>
        <p:grpSpPr>
          <a:xfrm>
            <a:off x="216414" y="1070813"/>
            <a:ext cx="6732899" cy="337771"/>
            <a:chOff x="355877" y="2160935"/>
            <a:chExt cx="6061214" cy="417554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44" name="양쪽 모서리가 둥근 사각형 43"/>
          <p:cNvSpPr/>
          <p:nvPr/>
        </p:nvSpPr>
        <p:spPr bwMode="auto">
          <a:xfrm>
            <a:off x="222916" y="1545148"/>
            <a:ext cx="1333907" cy="20316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 </a:t>
            </a:r>
            <a:r>
              <a:rPr kumimoji="0" lang="en-US" altLang="ko-KR" sz="8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DART </a:t>
            </a:r>
            <a:r>
              <a:rPr kumimoji="0" lang="ko-KR" altLang="en-US" sz="800" kern="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공시자료</a:t>
            </a:r>
            <a:endParaRPr kumimoji="0" lang="en-US" altLang="ko-KR" sz="800" kern="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16414" y="147055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5" name="직사각형 64"/>
          <p:cNvSpPr/>
          <p:nvPr/>
        </p:nvSpPr>
        <p:spPr bwMode="auto">
          <a:xfrm>
            <a:off x="1301272" y="1797971"/>
            <a:ext cx="5686142" cy="4303966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7" name="직사각형 36"/>
          <p:cNvSpPr/>
          <p:nvPr/>
        </p:nvSpPr>
        <p:spPr bwMode="auto">
          <a:xfrm flipV="1">
            <a:off x="6098792" y="2428488"/>
            <a:ext cx="850519" cy="22836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39" name="내용 개체 틀 121"/>
          <p:cNvGraphicFramePr>
            <a:graphicFrameLocks/>
          </p:cNvGraphicFramePr>
          <p:nvPr>
            <p:extLst/>
          </p:nvPr>
        </p:nvGraphicFramePr>
        <p:xfrm>
          <a:off x="1316125" y="1827372"/>
          <a:ext cx="5633186" cy="48058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6451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67499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53731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909488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  <a:gridCol w="470425">
                  <a:extLst>
                    <a:ext uri="{9D8B030D-6E8A-4147-A177-3AD203B41FA5}">
                      <a16:colId xmlns:a16="http://schemas.microsoft.com/office/drawing/2014/main" val="3598224030"/>
                    </a:ext>
                  </a:extLst>
                </a:gridCol>
                <a:gridCol w="1388096">
                  <a:extLst>
                    <a:ext uri="{9D8B030D-6E8A-4147-A177-3AD203B41FA5}">
                      <a16:colId xmlns:a16="http://schemas.microsoft.com/office/drawing/2014/main" val="1325701918"/>
                    </a:ext>
                  </a:extLst>
                </a:gridCol>
              </a:tblGrid>
              <a:tr h="23847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작성일자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공시대상회사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제출인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4211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보고서명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9704925"/>
                  </a:ext>
                </a:extLst>
              </a:tr>
            </a:tbl>
          </a:graphicData>
        </a:graphic>
      </p:graphicFrame>
      <p:sp>
        <p:nvSpPr>
          <p:cNvPr id="4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96532" y="2453176"/>
            <a:ext cx="3012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873563" y="1856537"/>
            <a:ext cx="68731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780717" y="1852465"/>
            <a:ext cx="68731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2024-04-30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75" name="그림 7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409362" y="1860377"/>
            <a:ext cx="151519" cy="173224"/>
          </a:xfrm>
          <a:prstGeom prst="rect">
            <a:avLst/>
          </a:prstGeom>
        </p:spPr>
      </p:pic>
      <p:pic>
        <p:nvPicPr>
          <p:cNvPr id="76" name="그림 7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15378" y="1861063"/>
            <a:ext cx="151519" cy="173224"/>
          </a:xfrm>
          <a:prstGeom prst="rect">
            <a:avLst/>
          </a:prstGeom>
        </p:spPr>
      </p:pic>
      <p:cxnSp>
        <p:nvCxnSpPr>
          <p:cNvPr id="77" name="직선 연결선 76"/>
          <p:cNvCxnSpPr/>
          <p:nvPr/>
        </p:nvCxnSpPr>
        <p:spPr bwMode="auto">
          <a:xfrm>
            <a:off x="2628665" y="1950416"/>
            <a:ext cx="76505" cy="2363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883859" y="2095719"/>
            <a:ext cx="34502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미수금</a:t>
            </a:r>
            <a:endParaRPr kumimoji="0" lang="ko-KR" altLang="en-US" sz="9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1" name="표 30"/>
          <p:cNvGraphicFramePr>
            <a:graphicFrameLocks noGrp="1"/>
          </p:cNvGraphicFramePr>
          <p:nvPr>
            <p:extLst/>
          </p:nvPr>
        </p:nvGraphicFramePr>
        <p:xfrm>
          <a:off x="1294361" y="2706494"/>
          <a:ext cx="5664331" cy="792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8308">
                  <a:extLst>
                    <a:ext uri="{9D8B030D-6E8A-4147-A177-3AD203B41FA5}">
                      <a16:colId xmlns:a16="http://schemas.microsoft.com/office/drawing/2014/main" val="2426106912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157696043"/>
                    </a:ext>
                  </a:extLst>
                </a:gridCol>
                <a:gridCol w="748146">
                  <a:extLst>
                    <a:ext uri="{9D8B030D-6E8A-4147-A177-3AD203B41FA5}">
                      <a16:colId xmlns:a16="http://schemas.microsoft.com/office/drawing/2014/main" val="1421297000"/>
                    </a:ext>
                  </a:extLst>
                </a:gridCol>
                <a:gridCol w="371459">
                  <a:extLst>
                    <a:ext uri="{9D8B030D-6E8A-4147-A177-3AD203B41FA5}">
                      <a16:colId xmlns:a16="http://schemas.microsoft.com/office/drawing/2014/main" val="3582745889"/>
                    </a:ext>
                  </a:extLst>
                </a:gridCol>
                <a:gridCol w="518002">
                  <a:extLst>
                    <a:ext uri="{9D8B030D-6E8A-4147-A177-3AD203B41FA5}">
                      <a16:colId xmlns:a16="http://schemas.microsoft.com/office/drawing/2014/main" val="3292794991"/>
                    </a:ext>
                  </a:extLst>
                </a:gridCol>
                <a:gridCol w="392844">
                  <a:extLst>
                    <a:ext uri="{9D8B030D-6E8A-4147-A177-3AD203B41FA5}">
                      <a16:colId xmlns:a16="http://schemas.microsoft.com/office/drawing/2014/main" val="1828931321"/>
                    </a:ext>
                  </a:extLst>
                </a:gridCol>
                <a:gridCol w="1598357">
                  <a:extLst>
                    <a:ext uri="{9D8B030D-6E8A-4147-A177-3AD203B41FA5}">
                      <a16:colId xmlns:a16="http://schemas.microsoft.com/office/drawing/2014/main" val="461435787"/>
                    </a:ext>
                  </a:extLst>
                </a:gridCol>
                <a:gridCol w="394552">
                  <a:extLst>
                    <a:ext uri="{9D8B030D-6E8A-4147-A177-3AD203B41FA5}">
                      <a16:colId xmlns:a16="http://schemas.microsoft.com/office/drawing/2014/main" val="2502540127"/>
                    </a:ext>
                  </a:extLst>
                </a:gridCol>
                <a:gridCol w="591143">
                  <a:extLst>
                    <a:ext uri="{9D8B030D-6E8A-4147-A177-3AD203B41FA5}">
                      <a16:colId xmlns:a16="http://schemas.microsoft.com/office/drawing/2014/main" val="14400629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pc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700" b="0" spc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작상일자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공시대상회사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제출인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보고서명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79101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2018-02-12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KB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삼정회계법인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KB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 감사보고서 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u="sng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50771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2018-02-12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신한은행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회계법인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신한은행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경영개선 보고서 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u="sng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98720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3076989"/>
                  </a:ext>
                </a:extLst>
              </a:tr>
            </a:tbl>
          </a:graphicData>
        </a:graphic>
      </p:graphicFrame>
      <p:pic>
        <p:nvPicPr>
          <p:cNvPr id="35" name="그림 3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88057" y="2952727"/>
            <a:ext cx="167353" cy="180975"/>
          </a:xfrm>
          <a:prstGeom prst="rect">
            <a:avLst/>
          </a:prstGeom>
        </p:spPr>
      </p:pic>
      <p:pic>
        <p:nvPicPr>
          <p:cNvPr id="40" name="그림 3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84996" y="3148312"/>
            <a:ext cx="167353" cy="180975"/>
          </a:xfrm>
          <a:prstGeom prst="rect">
            <a:avLst/>
          </a:prstGeom>
        </p:spPr>
      </p:pic>
      <p:sp>
        <p:nvSpPr>
          <p:cNvPr id="5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83058" y="2453176"/>
            <a:ext cx="3012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061223" y="2463571"/>
            <a:ext cx="115130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453894" y="2463398"/>
            <a:ext cx="115130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931998" y="2920931"/>
            <a:ext cx="115130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470956" y="2908532"/>
            <a:ext cx="115130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56" name="그림 55"/>
          <p:cNvPicPr>
            <a:picLocks noChangeAspect="1"/>
          </p:cNvPicPr>
          <p:nvPr/>
        </p:nvPicPr>
        <p:blipFill rotWithShape="1">
          <a:blip r:embed="rId4"/>
          <a:srcRect r="-28" b="76117"/>
          <a:stretch/>
        </p:blipFill>
        <p:spPr>
          <a:xfrm>
            <a:off x="191221" y="968210"/>
            <a:ext cx="6758092" cy="555402"/>
          </a:xfrm>
          <a:prstGeom prst="rect">
            <a:avLst/>
          </a:prstGeom>
        </p:spPr>
      </p:pic>
      <p:sp>
        <p:nvSpPr>
          <p:cNvPr id="58" name="직사각형 5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221328" y="1859940"/>
            <a:ext cx="68731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</a:t>
            </a:r>
            <a:endParaRPr kumimoji="0" lang="ko-KR" altLang="en-US" sz="7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593600" y="1851029"/>
            <a:ext cx="68731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삼정회계법인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64" name="그림 63"/>
          <p:cNvPicPr>
            <a:picLocks noChangeAspect="1"/>
          </p:cNvPicPr>
          <p:nvPr/>
        </p:nvPicPr>
        <p:blipFill rotWithShape="1">
          <a:blip r:embed="rId4"/>
          <a:srcRect l="34" t="16526" r="82147" b="-177"/>
          <a:stretch/>
        </p:blipFill>
        <p:spPr>
          <a:xfrm>
            <a:off x="214239" y="1783942"/>
            <a:ext cx="1080120" cy="1872208"/>
          </a:xfrm>
          <a:prstGeom prst="rect">
            <a:avLst/>
          </a:prstGeom>
        </p:spPr>
      </p:pic>
      <p:sp>
        <p:nvSpPr>
          <p:cNvPr id="66" name="타원 6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35671" y="2920931"/>
            <a:ext cx="115130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3" name="직사각형 32"/>
          <p:cNvSpPr/>
          <p:nvPr/>
        </p:nvSpPr>
        <p:spPr bwMode="auto">
          <a:xfrm flipV="1">
            <a:off x="223238" y="2920931"/>
            <a:ext cx="1062122" cy="158765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590841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MDD-00130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MDD75GA7001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금융감독원 </a:t>
                      </a:r>
                      <a:r>
                        <a:rPr lang="en-US" altLang="ko-KR" sz="12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DART </a:t>
                      </a:r>
                      <a:r>
                        <a:rPr lang="ko-KR" altLang="en-US" sz="1200" b="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공시자료</a:t>
                      </a:r>
                      <a:r>
                        <a:rPr lang="en-US" altLang="ko-KR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(4-2/3)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대외기획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P.A.I(Platform of Audit Info) 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RPA </a:t>
                      </a:r>
                      <a:r>
                        <a:rPr lang="ko-KR" altLang="en-US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수집정보 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(P172: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593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[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금융감독원 </a:t>
                      </a:r>
                      <a:r>
                        <a:rPr lang="en-US" altLang="ko-KR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DART </a:t>
                      </a:r>
                      <a:r>
                        <a:rPr lang="ko-KR" altLang="en-US" sz="800" b="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공시자료</a:t>
                      </a:r>
                      <a:r>
                        <a:rPr lang="en-US" altLang="ko-KR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]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등록 </a:t>
                      </a:r>
                      <a:r>
                        <a:rPr lang="ko-KR" altLang="en-US" sz="800" b="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신규등록시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입력값이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빈칸으로 출력되며 수정으로 들어 </a:t>
                      </a:r>
                      <a:r>
                        <a:rPr lang="ko-KR" altLang="en-US" sz="800" b="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올시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기존 등록정보를 조회하여 </a:t>
                      </a:r>
                      <a:r>
                        <a:rPr lang="en-US" altLang="ko-KR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default</a:t>
                      </a:r>
                      <a:r>
                        <a:rPr lang="en-US" altLang="ko-KR" sz="800" b="0" kern="1200" baseline="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0" kern="1200" baseline="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셋팅</a:t>
                      </a:r>
                      <a:endParaRPr lang="en-US" altLang="ko-KR" sz="800" b="0" kern="1200" dirty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해당 </a:t>
                      </a:r>
                      <a:r>
                        <a:rPr lang="ko-KR" altLang="en-US" sz="800" b="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입력정보를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입력 후 </a:t>
                      </a:r>
                      <a:r>
                        <a:rPr lang="en-US" altLang="ko-KR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[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등록</a:t>
                      </a:r>
                      <a:r>
                        <a:rPr lang="en-US" altLang="ko-KR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]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버튼 </a:t>
                      </a:r>
                      <a:r>
                        <a:rPr lang="ko-KR" altLang="en-US" sz="800" b="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클릭시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입력사항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저장</a:t>
                      </a:r>
                      <a:endParaRPr lang="en-US" altLang="ko-KR" sz="800" b="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수정으로 </a:t>
                      </a:r>
                      <a:r>
                        <a:rPr lang="ko-KR" altLang="en-US" sz="800" b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들어올시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기본정보를 보여주며 수정할 항목을 수정하고 </a:t>
                      </a:r>
                      <a:r>
                        <a:rPr lang="en-US" altLang="ko-KR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r>
                        <a:rPr lang="en-US" altLang="ko-KR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</a:t>
                      </a:r>
                      <a:r>
                        <a:rPr lang="ko-KR" altLang="en-US" sz="800" b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클릭시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기존내용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수정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3-1. </a:t>
                      </a:r>
                      <a:r>
                        <a:rPr lang="ko-KR" altLang="en-US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‘</a:t>
                      </a:r>
                      <a:r>
                        <a:rPr lang="ko-KR" altLang="en-US" sz="800" spc="-5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보고서명</a:t>
                      </a: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</a:t>
                      </a:r>
                      <a:r>
                        <a:rPr lang="ko-KR" altLang="en-US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등록</a:t>
                      </a:r>
                      <a:endParaRPr lang="en-US" altLang="ko-KR" sz="800" spc="-5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3-2. ‘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공시대상회사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등록</a:t>
                      </a: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3-3. ‘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제출인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등록</a:t>
                      </a: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3-4. ‘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요약내용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등록</a:t>
                      </a: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spcAft>
                          <a:spcPts val="0"/>
                        </a:spcAft>
                        <a:buNone/>
                      </a:pP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☞ 제목 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+ </a:t>
                      </a:r>
                      <a:r>
                        <a:rPr lang="ko-KR" altLang="en-US" sz="8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접수일자</a:t>
                      </a: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3-5. ‘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본문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등록</a:t>
                      </a: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spcAft>
                          <a:spcPts val="0"/>
                        </a:spcAft>
                        <a:buNone/>
                      </a:pP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☞ 첨부파일 內 전체 본문을 그대로 입력</a:t>
                      </a: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  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복수 개 파일일 경우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복수 개 파일을 모두</a:t>
                      </a: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  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열어서 본문 내용을 그대로 입력</a:t>
                      </a: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      (</a:t>
                      </a:r>
                      <a:r>
                        <a:rPr lang="en-US" altLang="ko-KR" sz="8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Ctrl+A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→ </a:t>
                      </a:r>
                      <a:r>
                        <a:rPr lang="en-US" altLang="ko-KR" sz="8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Ctrl+C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→ </a:t>
                      </a:r>
                      <a:r>
                        <a:rPr lang="en-US" altLang="ko-KR" sz="8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Ctrl+V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  <a:p>
                      <a:pPr marL="0" indent="0">
                        <a:buNone/>
                      </a:pP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3-6.</a:t>
                      </a:r>
                      <a:r>
                        <a:rPr lang="en-US" altLang="ko-KR" sz="800" baseline="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‘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첨부파일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등록</a:t>
                      </a: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buNone/>
                      </a:pP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☞ 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pdf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및 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html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파일 첨부</a:t>
                      </a: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228600" marR="0" lvl="0" indent="-22860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★ 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개발 </a:t>
                      </a:r>
                      <a:r>
                        <a:rPr kumimoji="0" lang="ko-KR" altLang="en-US" sz="800" b="0" kern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완료후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RPA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팀에서 </a:t>
                      </a:r>
                      <a:r>
                        <a:rPr kumimoji="0" lang="ko-KR" altLang="en-US" sz="800" b="0" kern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대응요청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(1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월중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34" name="그룹 33"/>
          <p:cNvGrpSpPr/>
          <p:nvPr/>
        </p:nvGrpSpPr>
        <p:grpSpPr>
          <a:xfrm>
            <a:off x="216414" y="1070813"/>
            <a:ext cx="6732899" cy="337771"/>
            <a:chOff x="355877" y="2160935"/>
            <a:chExt cx="6061214" cy="417554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44" name="양쪽 모서리가 둥근 사각형 43"/>
          <p:cNvSpPr/>
          <p:nvPr/>
        </p:nvSpPr>
        <p:spPr bwMode="auto">
          <a:xfrm>
            <a:off x="222916" y="1545148"/>
            <a:ext cx="1333907" cy="20316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 </a:t>
            </a:r>
            <a:r>
              <a:rPr kumimoji="0" lang="en-US" altLang="ko-KR" sz="8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DART </a:t>
            </a:r>
            <a:r>
              <a:rPr kumimoji="0" lang="ko-KR" altLang="en-US" sz="800" kern="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공시자료</a:t>
            </a:r>
            <a:endParaRPr kumimoji="0" lang="en-US" altLang="ko-KR" sz="800" kern="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16414" y="147055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5" name="직사각형 64"/>
          <p:cNvSpPr/>
          <p:nvPr/>
        </p:nvSpPr>
        <p:spPr bwMode="auto">
          <a:xfrm>
            <a:off x="1301272" y="1797971"/>
            <a:ext cx="5686142" cy="4303966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9" name="내용 개체 틀 121"/>
          <p:cNvGraphicFramePr>
            <a:graphicFrameLocks/>
          </p:cNvGraphicFramePr>
          <p:nvPr>
            <p:extLst/>
          </p:nvPr>
        </p:nvGraphicFramePr>
        <p:xfrm>
          <a:off x="1316125" y="1827372"/>
          <a:ext cx="5633186" cy="48058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6451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67499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53731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909488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  <a:gridCol w="470425">
                  <a:extLst>
                    <a:ext uri="{9D8B030D-6E8A-4147-A177-3AD203B41FA5}">
                      <a16:colId xmlns:a16="http://schemas.microsoft.com/office/drawing/2014/main" val="3598224030"/>
                    </a:ext>
                  </a:extLst>
                </a:gridCol>
                <a:gridCol w="1388096">
                  <a:extLst>
                    <a:ext uri="{9D8B030D-6E8A-4147-A177-3AD203B41FA5}">
                      <a16:colId xmlns:a16="http://schemas.microsoft.com/office/drawing/2014/main" val="1325701918"/>
                    </a:ext>
                  </a:extLst>
                </a:gridCol>
              </a:tblGrid>
              <a:tr h="23847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작성일자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공시대상회사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제출인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4211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보고서명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9704925"/>
                  </a:ext>
                </a:extLst>
              </a:tr>
            </a:tbl>
          </a:graphicData>
        </a:graphic>
      </p:graphicFrame>
      <p:sp>
        <p:nvSpPr>
          <p:cNvPr id="4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96532" y="2453176"/>
            <a:ext cx="3012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873563" y="1856537"/>
            <a:ext cx="68731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780717" y="1852465"/>
            <a:ext cx="68731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2024-04-30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75" name="그림 7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409362" y="1860377"/>
            <a:ext cx="151519" cy="173224"/>
          </a:xfrm>
          <a:prstGeom prst="rect">
            <a:avLst/>
          </a:prstGeom>
        </p:spPr>
      </p:pic>
      <p:pic>
        <p:nvPicPr>
          <p:cNvPr id="76" name="그림 7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15378" y="1861063"/>
            <a:ext cx="151519" cy="173224"/>
          </a:xfrm>
          <a:prstGeom prst="rect">
            <a:avLst/>
          </a:prstGeom>
        </p:spPr>
      </p:pic>
      <p:cxnSp>
        <p:nvCxnSpPr>
          <p:cNvPr id="77" name="직선 연결선 76"/>
          <p:cNvCxnSpPr/>
          <p:nvPr/>
        </p:nvCxnSpPr>
        <p:spPr bwMode="auto">
          <a:xfrm>
            <a:off x="2628665" y="1950416"/>
            <a:ext cx="76505" cy="2363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883859" y="2095719"/>
            <a:ext cx="34502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미수금</a:t>
            </a:r>
            <a:endParaRPr kumimoji="0" lang="ko-KR" altLang="en-US" sz="9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1" name="표 30"/>
          <p:cNvGraphicFramePr>
            <a:graphicFrameLocks noGrp="1"/>
          </p:cNvGraphicFramePr>
          <p:nvPr>
            <p:extLst/>
          </p:nvPr>
        </p:nvGraphicFramePr>
        <p:xfrm>
          <a:off x="1294361" y="2706494"/>
          <a:ext cx="5664331" cy="792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8308">
                  <a:extLst>
                    <a:ext uri="{9D8B030D-6E8A-4147-A177-3AD203B41FA5}">
                      <a16:colId xmlns:a16="http://schemas.microsoft.com/office/drawing/2014/main" val="2426106912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157696043"/>
                    </a:ext>
                  </a:extLst>
                </a:gridCol>
                <a:gridCol w="748146">
                  <a:extLst>
                    <a:ext uri="{9D8B030D-6E8A-4147-A177-3AD203B41FA5}">
                      <a16:colId xmlns:a16="http://schemas.microsoft.com/office/drawing/2014/main" val="1421297000"/>
                    </a:ext>
                  </a:extLst>
                </a:gridCol>
                <a:gridCol w="371459">
                  <a:extLst>
                    <a:ext uri="{9D8B030D-6E8A-4147-A177-3AD203B41FA5}">
                      <a16:colId xmlns:a16="http://schemas.microsoft.com/office/drawing/2014/main" val="3582745889"/>
                    </a:ext>
                  </a:extLst>
                </a:gridCol>
                <a:gridCol w="518002">
                  <a:extLst>
                    <a:ext uri="{9D8B030D-6E8A-4147-A177-3AD203B41FA5}">
                      <a16:colId xmlns:a16="http://schemas.microsoft.com/office/drawing/2014/main" val="3292794991"/>
                    </a:ext>
                  </a:extLst>
                </a:gridCol>
                <a:gridCol w="392844">
                  <a:extLst>
                    <a:ext uri="{9D8B030D-6E8A-4147-A177-3AD203B41FA5}">
                      <a16:colId xmlns:a16="http://schemas.microsoft.com/office/drawing/2014/main" val="1828931321"/>
                    </a:ext>
                  </a:extLst>
                </a:gridCol>
                <a:gridCol w="1598357">
                  <a:extLst>
                    <a:ext uri="{9D8B030D-6E8A-4147-A177-3AD203B41FA5}">
                      <a16:colId xmlns:a16="http://schemas.microsoft.com/office/drawing/2014/main" val="461435787"/>
                    </a:ext>
                  </a:extLst>
                </a:gridCol>
                <a:gridCol w="394552">
                  <a:extLst>
                    <a:ext uri="{9D8B030D-6E8A-4147-A177-3AD203B41FA5}">
                      <a16:colId xmlns:a16="http://schemas.microsoft.com/office/drawing/2014/main" val="2502540127"/>
                    </a:ext>
                  </a:extLst>
                </a:gridCol>
                <a:gridCol w="591143">
                  <a:extLst>
                    <a:ext uri="{9D8B030D-6E8A-4147-A177-3AD203B41FA5}">
                      <a16:colId xmlns:a16="http://schemas.microsoft.com/office/drawing/2014/main" val="14400629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pc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700" b="0" spc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작성일자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공시대상회사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제출인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보고서명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79101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2018-02-12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KB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삼정회계법인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KB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 감사보고서 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u="sng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50771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2018-02-12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신한은행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회계법인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신한은행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경영개선 보고서 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u="sng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98720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3076989"/>
                  </a:ext>
                </a:extLst>
              </a:tr>
            </a:tbl>
          </a:graphicData>
        </a:graphic>
      </p:graphicFrame>
      <p:pic>
        <p:nvPicPr>
          <p:cNvPr id="35" name="그림 3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88057" y="2952727"/>
            <a:ext cx="167353" cy="180975"/>
          </a:xfrm>
          <a:prstGeom prst="rect">
            <a:avLst/>
          </a:prstGeom>
        </p:spPr>
      </p:pic>
      <p:pic>
        <p:nvPicPr>
          <p:cNvPr id="40" name="그림 3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84996" y="3148312"/>
            <a:ext cx="167353" cy="180975"/>
          </a:xfrm>
          <a:prstGeom prst="rect">
            <a:avLst/>
          </a:prstGeom>
        </p:spPr>
      </p:pic>
      <p:sp>
        <p:nvSpPr>
          <p:cNvPr id="5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83058" y="2453176"/>
            <a:ext cx="3012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514195" y="2918618"/>
            <a:ext cx="115130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56" name="그림 55"/>
          <p:cNvPicPr>
            <a:picLocks noChangeAspect="1"/>
          </p:cNvPicPr>
          <p:nvPr/>
        </p:nvPicPr>
        <p:blipFill rotWithShape="1">
          <a:blip r:embed="rId4"/>
          <a:srcRect r="-28" b="76117"/>
          <a:stretch/>
        </p:blipFill>
        <p:spPr>
          <a:xfrm>
            <a:off x="191221" y="968210"/>
            <a:ext cx="6758092" cy="555402"/>
          </a:xfrm>
          <a:prstGeom prst="rect">
            <a:avLst/>
          </a:prstGeom>
        </p:spPr>
      </p:pic>
      <p:sp>
        <p:nvSpPr>
          <p:cNvPr id="58" name="직사각형 5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221328" y="1859940"/>
            <a:ext cx="68731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</a:t>
            </a:r>
            <a:endParaRPr kumimoji="0" lang="ko-KR" altLang="en-US" sz="7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593600" y="1851029"/>
            <a:ext cx="68731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삼정회계법인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64" name="그림 63"/>
          <p:cNvPicPr>
            <a:picLocks noChangeAspect="1"/>
          </p:cNvPicPr>
          <p:nvPr/>
        </p:nvPicPr>
        <p:blipFill rotWithShape="1">
          <a:blip r:embed="rId4"/>
          <a:srcRect l="34" t="16526" r="82147" b="-177"/>
          <a:stretch/>
        </p:blipFill>
        <p:spPr>
          <a:xfrm>
            <a:off x="214239" y="1783942"/>
            <a:ext cx="1080120" cy="1872208"/>
          </a:xfrm>
          <a:prstGeom prst="rect">
            <a:avLst/>
          </a:prstGeom>
        </p:spPr>
      </p:pic>
      <p:sp>
        <p:nvSpPr>
          <p:cNvPr id="7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11805" y="2478115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0" name="직사각형 79"/>
          <p:cNvSpPr/>
          <p:nvPr/>
        </p:nvSpPr>
        <p:spPr bwMode="auto">
          <a:xfrm>
            <a:off x="1812198" y="2147112"/>
            <a:ext cx="5137237" cy="4170567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995519" y="6047477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382045" y="6047477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닫기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83" name="표 82"/>
          <p:cNvGraphicFramePr>
            <a:graphicFrameLocks noGrp="1"/>
          </p:cNvGraphicFramePr>
          <p:nvPr>
            <p:extLst/>
          </p:nvPr>
        </p:nvGraphicFramePr>
        <p:xfrm>
          <a:off x="1843893" y="2209840"/>
          <a:ext cx="4983578" cy="378673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65630">
                  <a:extLst>
                    <a:ext uri="{9D8B030D-6E8A-4147-A177-3AD203B41FA5}">
                      <a16:colId xmlns:a16="http://schemas.microsoft.com/office/drawing/2014/main" val="1630994582"/>
                    </a:ext>
                  </a:extLst>
                </a:gridCol>
                <a:gridCol w="1811074">
                  <a:extLst>
                    <a:ext uri="{9D8B030D-6E8A-4147-A177-3AD203B41FA5}">
                      <a16:colId xmlns:a16="http://schemas.microsoft.com/office/drawing/2014/main" val="2045752900"/>
                    </a:ext>
                  </a:extLst>
                </a:gridCol>
                <a:gridCol w="674992">
                  <a:extLst>
                    <a:ext uri="{9D8B030D-6E8A-4147-A177-3AD203B41FA5}">
                      <a16:colId xmlns:a16="http://schemas.microsoft.com/office/drawing/2014/main" val="2662453202"/>
                    </a:ext>
                  </a:extLst>
                </a:gridCol>
                <a:gridCol w="1731882">
                  <a:extLst>
                    <a:ext uri="{9D8B030D-6E8A-4147-A177-3AD203B41FA5}">
                      <a16:colId xmlns:a16="http://schemas.microsoft.com/office/drawing/2014/main" val="3707926986"/>
                    </a:ext>
                  </a:extLst>
                </a:gridCol>
              </a:tblGrid>
              <a:tr h="2417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보고서명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8451336"/>
                  </a:ext>
                </a:extLst>
              </a:tr>
              <a:tr h="22168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공시대상회사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/>
                        <a:t> 제출인</a:t>
                      </a:r>
                      <a:endParaRPr lang="ko-KR" altLang="en-US" sz="800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/>
                        <a:t> </a:t>
                      </a:r>
                      <a:endParaRPr lang="ko-KR" altLang="en-US" sz="800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16464564"/>
                  </a:ext>
                </a:extLst>
              </a:tr>
              <a:tr h="2293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작성자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</a:t>
                      </a:r>
                      <a:r>
                        <a:rPr kumimoji="0" lang="ko-KR" altLang="en-US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작성일자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</a:t>
                      </a: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1806225"/>
                  </a:ext>
                </a:extLst>
              </a:tr>
              <a:tr h="103576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요약내용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35103145"/>
                  </a:ext>
                </a:extLst>
              </a:tr>
              <a:tr h="11390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본문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54201637"/>
                  </a:ext>
                </a:extLst>
              </a:tr>
              <a:tr h="84727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참부파일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1425522"/>
                  </a:ext>
                </a:extLst>
              </a:tr>
            </a:tbl>
          </a:graphicData>
        </a:graphic>
      </p:graphicFrame>
      <p:sp>
        <p:nvSpPr>
          <p:cNvPr id="84" name="직사각형 8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66872" y="4035546"/>
            <a:ext cx="4076501" cy="106398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내부통제규정 개정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안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에 대한 사전협의 부탁드립니다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.</a:t>
            </a: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근거 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상임감사위원직무규정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-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별표</a:t>
            </a:r>
            <a:r>
              <a:rPr kumimoji="0" lang="en-US" altLang="ko-KR" sz="70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2-1.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정관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규정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지침 및 업무매뉴얼의 개정</a:t>
            </a:r>
            <a:endParaRPr kumimoji="0" lang="en-US" altLang="ko-KR" sz="70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b="0" i="0" u="none" strike="noStrike" kern="1200" cap="none" spc="0" normalizeH="0" baseline="0" noProof="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개정예정일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2024-05-02(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목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관련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현황 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2024-04-18</a:t>
            </a:r>
            <a:r>
              <a:rPr kumimoji="0" lang="en-US" altLang="ko-KR" sz="700" b="0" i="0" u="none" strike="noStrike" kern="1200" cap="none" spc="0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ko-KR" altLang="en-US" sz="700" b="0" i="0" u="none" strike="noStrike" kern="1200" cap="none" spc="0" normalizeH="0" noProof="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법무팀</a:t>
            </a:r>
            <a:r>
              <a:rPr kumimoji="0" lang="ko-KR" altLang="en-US" sz="700" b="0" i="0" u="none" strike="noStrike" kern="1200" cap="none" spc="0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사전협의 완료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66872" y="5526675"/>
            <a:ext cx="4059236" cy="397978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rPr>
              <a:t>업로드 파일</a:t>
            </a:r>
            <a:r>
              <a:rPr kumimoji="0" lang="en-US" altLang="ko-KR" sz="800" b="0" i="0" u="none" strike="noStrike" kern="1200" cap="none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rPr>
              <a:t>.</a:t>
            </a:r>
            <a:r>
              <a:rPr kumimoji="0" lang="en-US" altLang="ko-KR" sz="8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+mj-ea"/>
                <a:ea typeface="+mj-ea"/>
              </a:rPr>
              <a:t>docx</a:t>
            </a:r>
            <a:endParaRPr kumimoji="0" lang="ko-KR" altLang="en-US" sz="800" b="0" i="0" u="none" strike="noStrike" kern="1200" cap="none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66872" y="2962421"/>
            <a:ext cx="4075173" cy="933731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 감사보고서 </a:t>
            </a:r>
            <a:endParaRPr kumimoji="0" lang="en-US" altLang="ko-KR" sz="80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2024-12-17</a:t>
            </a:r>
            <a:endParaRPr kumimoji="0" lang="ko-KR" altLang="en-US" sz="8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66872" y="2252132"/>
            <a:ext cx="4100801" cy="16801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 감사보고서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66872" y="2487357"/>
            <a:ext cx="1708344" cy="16823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증권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89" name="그룹 88"/>
          <p:cNvGrpSpPr/>
          <p:nvPr/>
        </p:nvGrpSpPr>
        <p:grpSpPr>
          <a:xfrm>
            <a:off x="5169003" y="2709586"/>
            <a:ext cx="1343121" cy="180915"/>
            <a:chOff x="1421952" y="2291860"/>
            <a:chExt cx="1343121" cy="180915"/>
          </a:xfrm>
          <a:solidFill>
            <a:schemeClr val="bg2">
              <a:lumMod val="90000"/>
            </a:schemeClr>
          </a:solidFill>
        </p:grpSpPr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21952" y="2291860"/>
              <a:ext cx="1343121" cy="180915"/>
            </a:xfrm>
            <a:prstGeom prst="rect">
              <a:avLst/>
            </a:prstGeom>
            <a:grpFill/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2024-04-22</a:t>
              </a:r>
              <a:endParaRPr kumimoji="0" lang="ko-KR" altLang="en-US" sz="7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91" name="그림 90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2576542" y="2310827"/>
              <a:ext cx="164635" cy="157476"/>
            </a:xfrm>
            <a:prstGeom prst="rect">
              <a:avLst/>
            </a:prstGeom>
            <a:grpFill/>
          </p:spPr>
        </p:pic>
      </p:grp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169003" y="2490753"/>
            <a:ext cx="1598670" cy="15652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삼정회계법인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340594" y="5260566"/>
            <a:ext cx="385514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전체삭제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9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821629" y="5260566"/>
            <a:ext cx="480866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파일추가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95" name="그림 94" descr="화면 캡처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099" t="-6769" r="22984" b="3888"/>
          <a:stretch/>
        </p:blipFill>
        <p:spPr>
          <a:xfrm>
            <a:off x="2666872" y="2665881"/>
            <a:ext cx="1058052" cy="228091"/>
          </a:xfrm>
          <a:prstGeom prst="rect">
            <a:avLst/>
          </a:prstGeom>
        </p:spPr>
      </p:pic>
      <p:sp>
        <p:nvSpPr>
          <p:cNvPr id="96" name="타원 9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857913" y="606718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7" name="타원 9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407302" y="387599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862093" y="224145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9" name="타원 9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204213" y="291861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9" name="직사각형 48"/>
          <p:cNvSpPr/>
          <p:nvPr/>
        </p:nvSpPr>
        <p:spPr bwMode="auto">
          <a:xfrm flipV="1">
            <a:off x="232237" y="2917732"/>
            <a:ext cx="1062122" cy="158765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625416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MDD-00130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MDD75GA7002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금융감독원 </a:t>
                      </a:r>
                      <a:r>
                        <a:rPr lang="en-US" altLang="ko-KR" sz="12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DART </a:t>
                      </a:r>
                      <a:r>
                        <a:rPr lang="ko-KR" altLang="en-US" sz="1200" b="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공시자료</a:t>
                      </a:r>
                      <a:r>
                        <a:rPr lang="en-US" altLang="ko-KR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(4-3/3)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대외기획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P.A.I(Platform of Audit Info) 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RPA </a:t>
                      </a:r>
                      <a:r>
                        <a:rPr lang="ko-KR" altLang="en-US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수집정보 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(P172: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298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상세보기 페이지 </a:t>
                      </a:r>
                      <a:r>
                        <a:rPr lang="en-US" altLang="ko-KR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( </a:t>
                      </a:r>
                      <a:r>
                        <a:rPr lang="ko-KR" altLang="en-US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키워드 검색에서 상세보기 </a:t>
                      </a:r>
                      <a:r>
                        <a:rPr lang="ko-KR" altLang="en-US" sz="800" b="0" kern="12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클릭시</a:t>
                      </a:r>
                      <a:r>
                        <a:rPr lang="ko-KR" altLang="en-US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호출 팝업 </a:t>
                      </a:r>
                      <a:r>
                        <a:rPr lang="en-US" altLang="ko-KR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)</a:t>
                      </a:r>
                      <a:endParaRPr lang="ko-KR" altLang="en-US" sz="800" b="0" kern="1200" dirty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228600" marR="0" lvl="0" indent="-22860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★ 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개발 </a:t>
                      </a:r>
                      <a:r>
                        <a:rPr kumimoji="0" lang="ko-KR" altLang="en-US" sz="800" b="0" kern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완료후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RPA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팀에서 </a:t>
                      </a:r>
                      <a:r>
                        <a:rPr kumimoji="0" lang="ko-KR" altLang="en-US" sz="800" b="0" kern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대응요청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(1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월중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34" name="그룹 33"/>
          <p:cNvGrpSpPr/>
          <p:nvPr/>
        </p:nvGrpSpPr>
        <p:grpSpPr>
          <a:xfrm>
            <a:off x="216414" y="1070813"/>
            <a:ext cx="6732899" cy="337771"/>
            <a:chOff x="355877" y="2160935"/>
            <a:chExt cx="6061214" cy="417554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44" name="양쪽 모서리가 둥근 사각형 43"/>
          <p:cNvSpPr/>
          <p:nvPr/>
        </p:nvSpPr>
        <p:spPr bwMode="auto">
          <a:xfrm>
            <a:off x="222916" y="1545148"/>
            <a:ext cx="1333907" cy="20316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금융감독원 </a:t>
            </a:r>
            <a:r>
              <a:rPr kumimoji="0" lang="en-US" altLang="ko-KR" sz="8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DART </a:t>
            </a:r>
            <a:r>
              <a:rPr kumimoji="0" lang="ko-KR" altLang="en-US" sz="800" kern="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공시자료</a:t>
            </a:r>
            <a:endParaRPr kumimoji="0" lang="en-US" altLang="ko-KR" sz="800" kern="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16414" y="147055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5" name="직사각형 64"/>
          <p:cNvSpPr/>
          <p:nvPr/>
        </p:nvSpPr>
        <p:spPr bwMode="auto">
          <a:xfrm>
            <a:off x="1301272" y="1797971"/>
            <a:ext cx="5686142" cy="4303966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9" name="내용 개체 틀 121"/>
          <p:cNvGraphicFramePr>
            <a:graphicFrameLocks/>
          </p:cNvGraphicFramePr>
          <p:nvPr>
            <p:extLst/>
          </p:nvPr>
        </p:nvGraphicFramePr>
        <p:xfrm>
          <a:off x="1316125" y="1827372"/>
          <a:ext cx="5633186" cy="48058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6451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67499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53731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909488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  <a:gridCol w="470425">
                  <a:extLst>
                    <a:ext uri="{9D8B030D-6E8A-4147-A177-3AD203B41FA5}">
                      <a16:colId xmlns:a16="http://schemas.microsoft.com/office/drawing/2014/main" val="3598224030"/>
                    </a:ext>
                  </a:extLst>
                </a:gridCol>
                <a:gridCol w="1388096">
                  <a:extLst>
                    <a:ext uri="{9D8B030D-6E8A-4147-A177-3AD203B41FA5}">
                      <a16:colId xmlns:a16="http://schemas.microsoft.com/office/drawing/2014/main" val="1325701918"/>
                    </a:ext>
                  </a:extLst>
                </a:gridCol>
              </a:tblGrid>
              <a:tr h="23847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작성일자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공시대상회사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제출인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4211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보고서명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9704925"/>
                  </a:ext>
                </a:extLst>
              </a:tr>
            </a:tbl>
          </a:graphicData>
        </a:graphic>
      </p:graphicFrame>
      <p:sp>
        <p:nvSpPr>
          <p:cNvPr id="4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96532" y="2453176"/>
            <a:ext cx="3012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873563" y="1856537"/>
            <a:ext cx="68731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780717" y="1852465"/>
            <a:ext cx="68731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2024-04-30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75" name="그림 7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409362" y="1860377"/>
            <a:ext cx="151519" cy="173224"/>
          </a:xfrm>
          <a:prstGeom prst="rect">
            <a:avLst/>
          </a:prstGeom>
        </p:spPr>
      </p:pic>
      <p:pic>
        <p:nvPicPr>
          <p:cNvPr id="76" name="그림 7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15378" y="1861063"/>
            <a:ext cx="151519" cy="173224"/>
          </a:xfrm>
          <a:prstGeom prst="rect">
            <a:avLst/>
          </a:prstGeom>
        </p:spPr>
      </p:pic>
      <p:cxnSp>
        <p:nvCxnSpPr>
          <p:cNvPr id="77" name="직선 연결선 76"/>
          <p:cNvCxnSpPr/>
          <p:nvPr/>
        </p:nvCxnSpPr>
        <p:spPr bwMode="auto">
          <a:xfrm>
            <a:off x="2628665" y="1950416"/>
            <a:ext cx="76505" cy="2363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883859" y="2095719"/>
            <a:ext cx="34502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미수금</a:t>
            </a:r>
            <a:endParaRPr kumimoji="0" lang="ko-KR" altLang="en-US" sz="9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1" name="표 30"/>
          <p:cNvGraphicFramePr>
            <a:graphicFrameLocks noGrp="1"/>
          </p:cNvGraphicFramePr>
          <p:nvPr>
            <p:extLst/>
          </p:nvPr>
        </p:nvGraphicFramePr>
        <p:xfrm>
          <a:off x="1294361" y="2706494"/>
          <a:ext cx="5664331" cy="792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8308">
                  <a:extLst>
                    <a:ext uri="{9D8B030D-6E8A-4147-A177-3AD203B41FA5}">
                      <a16:colId xmlns:a16="http://schemas.microsoft.com/office/drawing/2014/main" val="2426106912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157696043"/>
                    </a:ext>
                  </a:extLst>
                </a:gridCol>
                <a:gridCol w="748146">
                  <a:extLst>
                    <a:ext uri="{9D8B030D-6E8A-4147-A177-3AD203B41FA5}">
                      <a16:colId xmlns:a16="http://schemas.microsoft.com/office/drawing/2014/main" val="1421297000"/>
                    </a:ext>
                  </a:extLst>
                </a:gridCol>
                <a:gridCol w="371459">
                  <a:extLst>
                    <a:ext uri="{9D8B030D-6E8A-4147-A177-3AD203B41FA5}">
                      <a16:colId xmlns:a16="http://schemas.microsoft.com/office/drawing/2014/main" val="3582745889"/>
                    </a:ext>
                  </a:extLst>
                </a:gridCol>
                <a:gridCol w="518002">
                  <a:extLst>
                    <a:ext uri="{9D8B030D-6E8A-4147-A177-3AD203B41FA5}">
                      <a16:colId xmlns:a16="http://schemas.microsoft.com/office/drawing/2014/main" val="3292794991"/>
                    </a:ext>
                  </a:extLst>
                </a:gridCol>
                <a:gridCol w="392844">
                  <a:extLst>
                    <a:ext uri="{9D8B030D-6E8A-4147-A177-3AD203B41FA5}">
                      <a16:colId xmlns:a16="http://schemas.microsoft.com/office/drawing/2014/main" val="1828931321"/>
                    </a:ext>
                  </a:extLst>
                </a:gridCol>
                <a:gridCol w="1598357">
                  <a:extLst>
                    <a:ext uri="{9D8B030D-6E8A-4147-A177-3AD203B41FA5}">
                      <a16:colId xmlns:a16="http://schemas.microsoft.com/office/drawing/2014/main" val="461435787"/>
                    </a:ext>
                  </a:extLst>
                </a:gridCol>
                <a:gridCol w="394552">
                  <a:extLst>
                    <a:ext uri="{9D8B030D-6E8A-4147-A177-3AD203B41FA5}">
                      <a16:colId xmlns:a16="http://schemas.microsoft.com/office/drawing/2014/main" val="2502540127"/>
                    </a:ext>
                  </a:extLst>
                </a:gridCol>
                <a:gridCol w="591143">
                  <a:extLst>
                    <a:ext uri="{9D8B030D-6E8A-4147-A177-3AD203B41FA5}">
                      <a16:colId xmlns:a16="http://schemas.microsoft.com/office/drawing/2014/main" val="14400629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pc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700" b="0" spc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작성일자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공시대상회사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제출인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보고서명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79101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2018-02-12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KB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삼정회계법인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KB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 감사보고서 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u="sng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50771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2018-02-12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신한은행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회계법인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신한은행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경영개선 보고서 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u="sng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98720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3076989"/>
                  </a:ext>
                </a:extLst>
              </a:tr>
            </a:tbl>
          </a:graphicData>
        </a:graphic>
      </p:graphicFrame>
      <p:pic>
        <p:nvPicPr>
          <p:cNvPr id="35" name="그림 3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88057" y="2952727"/>
            <a:ext cx="167353" cy="180975"/>
          </a:xfrm>
          <a:prstGeom prst="rect">
            <a:avLst/>
          </a:prstGeom>
        </p:spPr>
      </p:pic>
      <p:pic>
        <p:nvPicPr>
          <p:cNvPr id="40" name="그림 3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84996" y="3148312"/>
            <a:ext cx="167353" cy="180975"/>
          </a:xfrm>
          <a:prstGeom prst="rect">
            <a:avLst/>
          </a:prstGeom>
        </p:spPr>
      </p:pic>
      <p:sp>
        <p:nvSpPr>
          <p:cNvPr id="5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83058" y="2453176"/>
            <a:ext cx="3012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514195" y="2918618"/>
            <a:ext cx="115130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56" name="그림 55"/>
          <p:cNvPicPr>
            <a:picLocks noChangeAspect="1"/>
          </p:cNvPicPr>
          <p:nvPr/>
        </p:nvPicPr>
        <p:blipFill rotWithShape="1">
          <a:blip r:embed="rId4"/>
          <a:srcRect r="-28" b="76117"/>
          <a:stretch/>
        </p:blipFill>
        <p:spPr>
          <a:xfrm>
            <a:off x="191221" y="968210"/>
            <a:ext cx="6758092" cy="555402"/>
          </a:xfrm>
          <a:prstGeom prst="rect">
            <a:avLst/>
          </a:prstGeom>
        </p:spPr>
      </p:pic>
      <p:sp>
        <p:nvSpPr>
          <p:cNvPr id="58" name="직사각형 5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221328" y="1859940"/>
            <a:ext cx="68731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</a:t>
            </a:r>
            <a:endParaRPr kumimoji="0" lang="ko-KR" altLang="en-US" sz="7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593600" y="1851029"/>
            <a:ext cx="68731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삼정회계법인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64" name="그림 63"/>
          <p:cNvPicPr>
            <a:picLocks noChangeAspect="1"/>
          </p:cNvPicPr>
          <p:nvPr/>
        </p:nvPicPr>
        <p:blipFill rotWithShape="1">
          <a:blip r:embed="rId4"/>
          <a:srcRect l="34" t="16526" r="82147" b="-177"/>
          <a:stretch/>
        </p:blipFill>
        <p:spPr>
          <a:xfrm>
            <a:off x="214239" y="1783942"/>
            <a:ext cx="1080120" cy="1872208"/>
          </a:xfrm>
          <a:prstGeom prst="rect">
            <a:avLst/>
          </a:prstGeom>
        </p:spPr>
      </p:pic>
      <p:sp>
        <p:nvSpPr>
          <p:cNvPr id="7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11805" y="2478115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0" name="직사각형 79"/>
          <p:cNvSpPr/>
          <p:nvPr/>
        </p:nvSpPr>
        <p:spPr bwMode="auto">
          <a:xfrm>
            <a:off x="1812198" y="2147112"/>
            <a:ext cx="5137237" cy="4170567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382045" y="6047477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닫기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83" name="표 82"/>
          <p:cNvGraphicFramePr>
            <a:graphicFrameLocks noGrp="1"/>
          </p:cNvGraphicFramePr>
          <p:nvPr>
            <p:extLst/>
          </p:nvPr>
        </p:nvGraphicFramePr>
        <p:xfrm>
          <a:off x="1843893" y="2209840"/>
          <a:ext cx="4983578" cy="378673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65630">
                  <a:extLst>
                    <a:ext uri="{9D8B030D-6E8A-4147-A177-3AD203B41FA5}">
                      <a16:colId xmlns:a16="http://schemas.microsoft.com/office/drawing/2014/main" val="1630994582"/>
                    </a:ext>
                  </a:extLst>
                </a:gridCol>
                <a:gridCol w="1811074">
                  <a:extLst>
                    <a:ext uri="{9D8B030D-6E8A-4147-A177-3AD203B41FA5}">
                      <a16:colId xmlns:a16="http://schemas.microsoft.com/office/drawing/2014/main" val="2045752900"/>
                    </a:ext>
                  </a:extLst>
                </a:gridCol>
                <a:gridCol w="674992">
                  <a:extLst>
                    <a:ext uri="{9D8B030D-6E8A-4147-A177-3AD203B41FA5}">
                      <a16:colId xmlns:a16="http://schemas.microsoft.com/office/drawing/2014/main" val="2662453202"/>
                    </a:ext>
                  </a:extLst>
                </a:gridCol>
                <a:gridCol w="1731882">
                  <a:extLst>
                    <a:ext uri="{9D8B030D-6E8A-4147-A177-3AD203B41FA5}">
                      <a16:colId xmlns:a16="http://schemas.microsoft.com/office/drawing/2014/main" val="3707926986"/>
                    </a:ext>
                  </a:extLst>
                </a:gridCol>
              </a:tblGrid>
              <a:tr h="2417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보고서명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8451336"/>
                  </a:ext>
                </a:extLst>
              </a:tr>
              <a:tr h="22168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공시대상회사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/>
                        <a:t> 제출인</a:t>
                      </a:r>
                      <a:endParaRPr lang="ko-KR" altLang="en-US" sz="800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/>
                        <a:t> </a:t>
                      </a:r>
                      <a:endParaRPr lang="ko-KR" altLang="en-US" sz="800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16464564"/>
                  </a:ext>
                </a:extLst>
              </a:tr>
              <a:tr h="2293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작성자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</a:t>
                      </a:r>
                      <a:r>
                        <a:rPr kumimoji="0" lang="ko-KR" altLang="en-US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작성일자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</a:t>
                      </a: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1806225"/>
                  </a:ext>
                </a:extLst>
              </a:tr>
              <a:tr h="103576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요약내용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35103145"/>
                  </a:ext>
                </a:extLst>
              </a:tr>
              <a:tr h="11390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본문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54201637"/>
                  </a:ext>
                </a:extLst>
              </a:tr>
              <a:tr h="84727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참부파일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1425522"/>
                  </a:ext>
                </a:extLst>
              </a:tr>
            </a:tbl>
          </a:graphicData>
        </a:graphic>
      </p:graphicFrame>
      <p:sp>
        <p:nvSpPr>
          <p:cNvPr id="84" name="직사각형 8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66872" y="4035546"/>
            <a:ext cx="4076501" cy="1063984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내부통제규정 개정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안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에 대한 사전협의 부탁드립니다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.</a:t>
            </a: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근거 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상임감사위원직무규정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-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별표</a:t>
            </a:r>
            <a:r>
              <a:rPr kumimoji="0" lang="en-US" altLang="ko-KR" sz="70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2-1.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정관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규정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지침 및 업무매뉴얼의 개정</a:t>
            </a:r>
            <a:endParaRPr kumimoji="0" lang="en-US" altLang="ko-KR" sz="70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b="0" i="0" u="none" strike="noStrike" kern="1200" cap="none" spc="0" normalizeH="0" baseline="0" noProof="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개정예정일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2024-05-02(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목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관련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현황 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2024-04-18</a:t>
            </a:r>
            <a:r>
              <a:rPr kumimoji="0" lang="en-US" altLang="ko-KR" sz="700" b="0" i="0" u="none" strike="noStrike" kern="1200" cap="none" spc="0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ko-KR" altLang="en-US" sz="700" b="0" i="0" u="none" strike="noStrike" kern="1200" cap="none" spc="0" normalizeH="0" noProof="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법무팀</a:t>
            </a:r>
            <a:r>
              <a:rPr kumimoji="0" lang="ko-KR" altLang="en-US" sz="700" b="0" i="0" u="none" strike="noStrike" kern="1200" cap="none" spc="0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사전협의 완료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66872" y="5526675"/>
            <a:ext cx="4059236" cy="397978"/>
          </a:xfrm>
          <a:prstGeom prst="rect">
            <a:avLst/>
          </a:prstGeom>
          <a:solidFill>
            <a:schemeClr val="bg2">
              <a:lumMod val="9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rPr>
              <a:t>업로드 파일</a:t>
            </a:r>
            <a:r>
              <a:rPr kumimoji="0" lang="en-US" altLang="ko-KR" sz="800" b="0" i="0" u="none" strike="noStrike" kern="1200" cap="none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rPr>
              <a:t>.</a:t>
            </a:r>
            <a:r>
              <a:rPr kumimoji="0" lang="en-US" altLang="ko-KR" sz="8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+mj-ea"/>
                <a:ea typeface="+mj-ea"/>
              </a:rPr>
              <a:t>docx</a:t>
            </a:r>
            <a:endParaRPr kumimoji="0" lang="ko-KR" altLang="en-US" sz="800" b="0" i="0" u="none" strike="noStrike" kern="1200" cap="none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66872" y="2962421"/>
            <a:ext cx="4075173" cy="933731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 감사보고서 </a:t>
            </a:r>
            <a:endParaRPr kumimoji="0" lang="en-US" altLang="ko-KR" sz="80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2024-12-17</a:t>
            </a:r>
            <a:endParaRPr kumimoji="0" lang="ko-KR" altLang="en-US" sz="8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66872" y="2252132"/>
            <a:ext cx="4100801" cy="168014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 감사보고서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66872" y="2487357"/>
            <a:ext cx="1708344" cy="168234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증권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89" name="그룹 88"/>
          <p:cNvGrpSpPr/>
          <p:nvPr/>
        </p:nvGrpSpPr>
        <p:grpSpPr>
          <a:xfrm>
            <a:off x="5169003" y="2709586"/>
            <a:ext cx="1343121" cy="180915"/>
            <a:chOff x="1421952" y="2291860"/>
            <a:chExt cx="1343121" cy="180915"/>
          </a:xfrm>
          <a:solidFill>
            <a:schemeClr val="bg2">
              <a:lumMod val="90000"/>
            </a:schemeClr>
          </a:solidFill>
        </p:grpSpPr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21952" y="2291860"/>
              <a:ext cx="1343121" cy="180915"/>
            </a:xfrm>
            <a:prstGeom prst="rect">
              <a:avLst/>
            </a:prstGeom>
            <a:grpFill/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2024-04-22</a:t>
              </a:r>
              <a:endParaRPr kumimoji="0" lang="ko-KR" altLang="en-US" sz="7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91" name="그림 90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2576542" y="2310827"/>
              <a:ext cx="164635" cy="157476"/>
            </a:xfrm>
            <a:prstGeom prst="rect">
              <a:avLst/>
            </a:prstGeom>
            <a:grpFill/>
          </p:spPr>
        </p:pic>
      </p:grp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169003" y="2490753"/>
            <a:ext cx="1598670" cy="156525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삼정회계법인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95" name="그림 94" descr="화면 캡처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099" t="-6769" r="22984" b="3888"/>
          <a:stretch/>
        </p:blipFill>
        <p:spPr>
          <a:xfrm>
            <a:off x="2666872" y="2665881"/>
            <a:ext cx="1058052" cy="228091"/>
          </a:xfrm>
          <a:prstGeom prst="rect">
            <a:avLst/>
          </a:prstGeom>
        </p:spPr>
      </p:pic>
      <p:sp>
        <p:nvSpPr>
          <p:cNvPr id="98" name="타원 9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862093" y="224145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99" name="타원 9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204213" y="2918618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9" name="직사각형 48"/>
          <p:cNvSpPr/>
          <p:nvPr/>
        </p:nvSpPr>
        <p:spPr bwMode="auto">
          <a:xfrm flipV="1">
            <a:off x="239148" y="2902936"/>
            <a:ext cx="1062122" cy="158765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470665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MDD-00128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MDD75GA2000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b="1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금융위</a:t>
                      </a:r>
                      <a:r>
                        <a:rPr lang="en-US" altLang="ko-KR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·</a:t>
                      </a:r>
                      <a:r>
                        <a:rPr lang="ko-KR" altLang="en-US" sz="1200" b="1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증선위</a:t>
                      </a:r>
                      <a:r>
                        <a:rPr lang="ko-KR" altLang="en-US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1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의결정보</a:t>
                      </a:r>
                      <a:r>
                        <a:rPr lang="en-US" altLang="ko-KR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(5-1/3)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대외기획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P.A.I(Platform of Audit Info) 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RPA </a:t>
                      </a:r>
                      <a:r>
                        <a:rPr lang="ko-KR" altLang="en-US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수집정보  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(P156: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298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(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금융위원회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보도자료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(3-&gt;5)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=&gt; 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</a:rPr>
                        <a:t>금융위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·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</a:rPr>
                        <a:t>증선위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</a:rPr>
                        <a:t>의결정보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</a:rPr>
                        <a:t>내용분리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::: 5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번 이동</a:t>
                      </a:r>
                      <a:endParaRPr lang="en-US" altLang="ko-KR" sz="800" dirty="0" smtClean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세부구분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</a:t>
                      </a:r>
                      <a:r>
                        <a:rPr lang="ko-KR" altLang="en-US" sz="800" b="1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네이버뉴스</a:t>
                      </a:r>
                      <a:r>
                        <a:rPr lang="ko-KR" altLang="en-US" sz="800" b="1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이외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로 등록된 건만 리스트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추출추출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kern="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34" name="그룹 33"/>
          <p:cNvGrpSpPr/>
          <p:nvPr/>
        </p:nvGrpSpPr>
        <p:grpSpPr>
          <a:xfrm>
            <a:off x="216414" y="1070813"/>
            <a:ext cx="6732899" cy="337771"/>
            <a:chOff x="355877" y="2160935"/>
            <a:chExt cx="6061214" cy="417554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44" name="양쪽 모서리가 둥근 사각형 43"/>
          <p:cNvSpPr/>
          <p:nvPr/>
        </p:nvSpPr>
        <p:spPr bwMode="auto">
          <a:xfrm>
            <a:off x="222916" y="1545148"/>
            <a:ext cx="1699153" cy="20316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금융위</a:t>
            </a:r>
            <a:r>
              <a:rPr lang="en-US" altLang="ko-KR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lang="ko-KR" altLang="en-US" sz="8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증선위</a:t>
            </a:r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lang="ko-KR" altLang="en-US" sz="8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의결정보</a:t>
            </a:r>
            <a:endParaRPr kumimoji="0" lang="en-US" altLang="ko-KR" sz="800" kern="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16414" y="147055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5" name="직사각형 64"/>
          <p:cNvSpPr/>
          <p:nvPr/>
        </p:nvSpPr>
        <p:spPr bwMode="auto">
          <a:xfrm>
            <a:off x="191221" y="1822910"/>
            <a:ext cx="6796193" cy="4303966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75431" y="155197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28" name="그림 27"/>
          <p:cNvPicPr>
            <a:picLocks noChangeAspect="1"/>
          </p:cNvPicPr>
          <p:nvPr/>
        </p:nvPicPr>
        <p:blipFill rotWithShape="1">
          <a:blip r:embed="rId2"/>
          <a:srcRect l="34" t="16526" r="82147" b="-177"/>
          <a:stretch/>
        </p:blipFill>
        <p:spPr>
          <a:xfrm>
            <a:off x="214798" y="1854253"/>
            <a:ext cx="1080120" cy="1872208"/>
          </a:xfrm>
          <a:prstGeom prst="rect">
            <a:avLst/>
          </a:prstGeom>
        </p:spPr>
      </p:pic>
      <p:pic>
        <p:nvPicPr>
          <p:cNvPr id="4" name="그림 3" descr="화면 캡처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4918" y="1832466"/>
            <a:ext cx="5595516" cy="3221511"/>
          </a:xfrm>
          <a:prstGeom prst="rect">
            <a:avLst/>
          </a:prstGeom>
        </p:spPr>
      </p:pic>
      <p:sp>
        <p:nvSpPr>
          <p:cNvPr id="17" name="양쪽 모서리가 둥근 사각형 16"/>
          <p:cNvSpPr/>
          <p:nvPr/>
        </p:nvSpPr>
        <p:spPr bwMode="auto">
          <a:xfrm>
            <a:off x="1294918" y="1822910"/>
            <a:ext cx="1614537" cy="170939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en-US" altLang="ko-KR" sz="800" kern="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06628" y="312584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21" name="그림 20"/>
          <p:cNvPicPr>
            <a:picLocks noChangeAspect="1"/>
          </p:cNvPicPr>
          <p:nvPr/>
        </p:nvPicPr>
        <p:blipFill rotWithShape="1">
          <a:blip r:embed="rId2"/>
          <a:srcRect r="-28" b="76117"/>
          <a:stretch/>
        </p:blipFill>
        <p:spPr>
          <a:xfrm>
            <a:off x="191221" y="968210"/>
            <a:ext cx="6758092" cy="555402"/>
          </a:xfrm>
          <a:prstGeom prst="rect">
            <a:avLst/>
          </a:prstGeom>
        </p:spPr>
      </p:pic>
      <p:sp>
        <p:nvSpPr>
          <p:cNvPr id="22" name="타원 2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514754" y="239764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8" name="직사각형 17"/>
          <p:cNvSpPr/>
          <p:nvPr/>
        </p:nvSpPr>
        <p:spPr bwMode="auto">
          <a:xfrm flipV="1">
            <a:off x="212009" y="3126638"/>
            <a:ext cx="1062122" cy="158765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57394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MDD-00128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MDD75GA2001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개선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b="1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금융위</a:t>
                      </a:r>
                      <a:r>
                        <a:rPr lang="en-US" altLang="ko-KR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·</a:t>
                      </a:r>
                      <a:r>
                        <a:rPr lang="ko-KR" altLang="en-US" sz="1200" b="1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증선위</a:t>
                      </a:r>
                      <a:r>
                        <a:rPr lang="ko-KR" altLang="en-US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1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의결정보</a:t>
                      </a:r>
                      <a:r>
                        <a:rPr lang="en-US" altLang="ko-KR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(5-2/3)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대외기획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P.A.I(Platform of Audit Info) 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RPA </a:t>
                      </a:r>
                      <a:r>
                        <a:rPr lang="ko-KR" altLang="en-US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수집정보  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(P156: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176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(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금융위원회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보도자료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(3-&gt;5)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=&gt; 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</a:rPr>
                        <a:t>금융위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·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</a:rPr>
                        <a:t>증선위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</a:rPr>
                        <a:t>의결정보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lang="ko-KR" altLang="en-US" sz="800" dirty="0" err="1" smtClean="0">
                          <a:solidFill>
                            <a:schemeClr val="tx1"/>
                          </a:solidFill>
                        </a:rPr>
                        <a:t>내용분리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::: 5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번 이동</a:t>
                      </a:r>
                      <a:endParaRPr lang="en-US" altLang="ko-KR" sz="800" dirty="0" smtClean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기존 유지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3-1. ‘</a:t>
                      </a:r>
                      <a:r>
                        <a:rPr lang="ko-KR" altLang="en-US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구분</a:t>
                      </a: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</a:t>
                      </a:r>
                    </a:p>
                    <a:p>
                      <a:pPr marL="0" indent="0">
                        <a:spcAft>
                          <a:spcPts val="1200"/>
                        </a:spcAft>
                        <a:buNone/>
                      </a:pPr>
                      <a:r>
                        <a:rPr lang="ko-KR" altLang="en-US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   ☞ </a:t>
                      </a: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Default: “</a:t>
                      </a:r>
                      <a:r>
                        <a:rPr lang="ko-KR" altLang="en-US" sz="800" spc="-5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의결정보</a:t>
                      </a: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”</a:t>
                      </a:r>
                      <a:b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3-2.  ‘</a:t>
                      </a:r>
                      <a:r>
                        <a:rPr lang="ko-KR" altLang="en-US" sz="800" spc="-5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세부구분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</a:t>
                      </a:r>
                      <a:b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  ☞ </a:t>
                      </a: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“</a:t>
                      </a:r>
                      <a:r>
                        <a:rPr lang="ko-KR" altLang="en-US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금융위의결정보</a:t>
                      </a: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” or “</a:t>
                      </a:r>
                      <a:r>
                        <a:rPr lang="ko-KR" altLang="en-US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증선위의결정보</a:t>
                      </a: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“</a:t>
                      </a:r>
                      <a:b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3-3. ‘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요약내용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</a:t>
                      </a:r>
                      <a:b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  ☞ </a:t>
                      </a:r>
                      <a:r>
                        <a:rPr lang="en-US" altLang="ko-KR" sz="800" spc="-1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“202X</a:t>
                      </a:r>
                      <a:r>
                        <a:rPr lang="ko-KR" altLang="en-US" sz="800" spc="-1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년 제</a:t>
                      </a:r>
                      <a:r>
                        <a:rPr lang="en-US" altLang="ko-KR" sz="800" spc="-1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OO</a:t>
                      </a:r>
                      <a:r>
                        <a:rPr lang="ko-KR" altLang="en-US" sz="800" spc="-1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차 회의결과</a:t>
                      </a:r>
                      <a:r>
                        <a:rPr lang="en-US" altLang="ko-KR" sz="800" spc="-1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”</a:t>
                      </a:r>
                      <a:br>
                        <a:rPr lang="en-US" altLang="ko-KR" sz="800" spc="-1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en-US" altLang="ko-KR" sz="800" spc="-1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              “202X-OO-OO”</a:t>
                      </a:r>
                      <a:br>
                        <a:rPr lang="en-US" altLang="ko-KR" sz="800" spc="-1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3-4. ‘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첨부파일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</a:t>
                      </a:r>
                      <a:b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  ☞ ① 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‘</a:t>
                      </a:r>
                      <a:r>
                        <a:rPr lang="ko-KR" altLang="en-US" sz="8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파일추가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’(RPA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수집 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pdf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및 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word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등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  <a:b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</a:b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     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② 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‘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등록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본문내용 추가</a:t>
                      </a:r>
                      <a:r>
                        <a:rPr kumimoji="0" lang="en-US" altLang="ko-KR" sz="800" b="1" kern="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kumimoji="0" lang="ko-KR" altLang="en-US" sz="800" b="1" kern="0" baseline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없는지 확인 필요</a:t>
                      </a:r>
                      <a:endParaRPr lang="ko-KR" altLang="en-US" sz="800" b="1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34" name="그룹 33"/>
          <p:cNvGrpSpPr/>
          <p:nvPr/>
        </p:nvGrpSpPr>
        <p:grpSpPr>
          <a:xfrm>
            <a:off x="216414" y="1070813"/>
            <a:ext cx="6732899" cy="337771"/>
            <a:chOff x="355877" y="2160935"/>
            <a:chExt cx="6061214" cy="417554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 err="1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</a:t>
              </a:r>
              <a:r>
                <a:rPr kumimoji="0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dirty="0" err="1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dirty="0" err="1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dirty="0" err="1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44" name="양쪽 모서리가 둥근 사각형 43"/>
          <p:cNvSpPr/>
          <p:nvPr/>
        </p:nvSpPr>
        <p:spPr bwMode="auto">
          <a:xfrm>
            <a:off x="222916" y="1545148"/>
            <a:ext cx="1699153" cy="20316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금융위</a:t>
            </a:r>
            <a:r>
              <a:rPr lang="en-US" altLang="ko-KR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lang="ko-KR" altLang="en-US" sz="8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증선위</a:t>
            </a:r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lang="ko-KR" altLang="en-US" sz="8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의결정보</a:t>
            </a:r>
            <a:endParaRPr kumimoji="0" lang="en-US" altLang="ko-KR" sz="800" kern="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16414" y="147055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5" name="직사각형 64"/>
          <p:cNvSpPr/>
          <p:nvPr/>
        </p:nvSpPr>
        <p:spPr bwMode="auto">
          <a:xfrm>
            <a:off x="191221" y="1822910"/>
            <a:ext cx="6796193" cy="4303966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75431" y="155197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28" name="그림 27"/>
          <p:cNvPicPr>
            <a:picLocks noChangeAspect="1"/>
          </p:cNvPicPr>
          <p:nvPr/>
        </p:nvPicPr>
        <p:blipFill rotWithShape="1">
          <a:blip r:embed="rId2"/>
          <a:srcRect l="34" t="16526" r="82147" b="-177"/>
          <a:stretch/>
        </p:blipFill>
        <p:spPr>
          <a:xfrm>
            <a:off x="214798" y="1854253"/>
            <a:ext cx="1080120" cy="1872208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90475" y="1873212"/>
            <a:ext cx="5379671" cy="2443057"/>
          </a:xfrm>
          <a:prstGeom prst="rect">
            <a:avLst/>
          </a:prstGeom>
          <a:ln>
            <a:noFill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</p:pic>
      <p:sp>
        <p:nvSpPr>
          <p:cNvPr id="18" name="타원 1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107505" y="241239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390475" y="1841673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205091" y="309474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21" name="그림 20"/>
          <p:cNvPicPr>
            <a:picLocks noChangeAspect="1"/>
          </p:cNvPicPr>
          <p:nvPr/>
        </p:nvPicPr>
        <p:blipFill rotWithShape="1">
          <a:blip r:embed="rId2"/>
          <a:srcRect r="-28" b="76117"/>
          <a:stretch/>
        </p:blipFill>
        <p:spPr>
          <a:xfrm>
            <a:off x="191221" y="968210"/>
            <a:ext cx="6758092" cy="555402"/>
          </a:xfrm>
          <a:prstGeom prst="rect">
            <a:avLst/>
          </a:prstGeom>
        </p:spPr>
      </p:pic>
      <p:sp>
        <p:nvSpPr>
          <p:cNvPr id="22" name="직사각형 21"/>
          <p:cNvSpPr/>
          <p:nvPr/>
        </p:nvSpPr>
        <p:spPr bwMode="auto">
          <a:xfrm flipV="1">
            <a:off x="232796" y="3139065"/>
            <a:ext cx="1062122" cy="158765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478958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MDD-00128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MDD75GA2002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b="1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금융위</a:t>
                      </a:r>
                      <a:r>
                        <a:rPr lang="en-US" altLang="ko-KR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·</a:t>
                      </a:r>
                      <a:r>
                        <a:rPr lang="ko-KR" altLang="en-US" sz="1200" b="1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증선위</a:t>
                      </a:r>
                      <a:r>
                        <a:rPr lang="ko-KR" altLang="en-US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1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의결정보</a:t>
                      </a:r>
                      <a:r>
                        <a:rPr lang="en-US" altLang="ko-KR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(5-3/3)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대외기획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P.A.I(Platform of Audit Info) 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RPA </a:t>
                      </a:r>
                      <a:r>
                        <a:rPr lang="ko-KR" altLang="en-US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수집정보  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(P156: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298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상세보기 페이지 </a:t>
                      </a:r>
                      <a:r>
                        <a:rPr lang="en-US" altLang="ko-KR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( </a:t>
                      </a:r>
                      <a:r>
                        <a:rPr lang="ko-KR" altLang="en-US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키워드 검색에서 상세보기 </a:t>
                      </a:r>
                      <a:r>
                        <a:rPr lang="ko-KR" altLang="en-US" sz="800" b="0" kern="12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클릭시</a:t>
                      </a:r>
                      <a:r>
                        <a:rPr lang="ko-KR" altLang="en-US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호출 팝업 </a:t>
                      </a:r>
                      <a:r>
                        <a:rPr lang="en-US" altLang="ko-KR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)</a:t>
                      </a:r>
                      <a:endParaRPr lang="ko-KR" altLang="en-US" sz="800" b="0" kern="120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34" name="그룹 33"/>
          <p:cNvGrpSpPr/>
          <p:nvPr/>
        </p:nvGrpSpPr>
        <p:grpSpPr>
          <a:xfrm>
            <a:off x="216414" y="1070813"/>
            <a:ext cx="6732899" cy="337771"/>
            <a:chOff x="355877" y="2160935"/>
            <a:chExt cx="6061214" cy="417554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 err="1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</a:t>
              </a:r>
              <a:r>
                <a:rPr kumimoji="0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dirty="0" err="1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dirty="0" err="1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dirty="0" err="1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44" name="양쪽 모서리가 둥근 사각형 43"/>
          <p:cNvSpPr/>
          <p:nvPr/>
        </p:nvSpPr>
        <p:spPr bwMode="auto">
          <a:xfrm>
            <a:off x="222916" y="1545148"/>
            <a:ext cx="1699153" cy="20316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금융위</a:t>
            </a:r>
            <a:r>
              <a:rPr lang="en-US" altLang="ko-KR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lang="ko-KR" altLang="en-US" sz="800" dirty="0" err="1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증선위</a:t>
            </a:r>
            <a:r>
              <a:rPr lang="ko-KR" altLang="en-US" sz="800" dirty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lang="ko-KR" altLang="en-US" sz="800" dirty="0" err="1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의결정보</a:t>
            </a:r>
            <a:endParaRPr kumimoji="0" lang="en-US" altLang="ko-KR" sz="800" kern="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16414" y="147055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5" name="직사각형 64"/>
          <p:cNvSpPr/>
          <p:nvPr/>
        </p:nvSpPr>
        <p:spPr bwMode="auto">
          <a:xfrm>
            <a:off x="191221" y="1822910"/>
            <a:ext cx="6796193" cy="4303966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75431" y="155197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28" name="그림 27"/>
          <p:cNvPicPr>
            <a:picLocks noChangeAspect="1"/>
          </p:cNvPicPr>
          <p:nvPr/>
        </p:nvPicPr>
        <p:blipFill rotWithShape="1">
          <a:blip r:embed="rId2"/>
          <a:srcRect l="34" t="16526" r="82147" b="-177"/>
          <a:stretch/>
        </p:blipFill>
        <p:spPr>
          <a:xfrm>
            <a:off x="214798" y="1854253"/>
            <a:ext cx="1080120" cy="1872208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90475" y="1873212"/>
            <a:ext cx="5379671" cy="2443057"/>
          </a:xfrm>
          <a:prstGeom prst="rect">
            <a:avLst/>
          </a:prstGeom>
          <a:ln>
            <a:noFill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</p:pic>
      <p:sp>
        <p:nvSpPr>
          <p:cNvPr id="20" name="타원 1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205091" y="309474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21" name="그림 20"/>
          <p:cNvPicPr>
            <a:picLocks noChangeAspect="1"/>
          </p:cNvPicPr>
          <p:nvPr/>
        </p:nvPicPr>
        <p:blipFill rotWithShape="1">
          <a:blip r:embed="rId2"/>
          <a:srcRect r="-28" b="76117"/>
          <a:stretch/>
        </p:blipFill>
        <p:spPr>
          <a:xfrm>
            <a:off x="191221" y="968210"/>
            <a:ext cx="6758092" cy="555402"/>
          </a:xfrm>
          <a:prstGeom prst="rect">
            <a:avLst/>
          </a:prstGeom>
        </p:spPr>
      </p:pic>
      <p:sp>
        <p:nvSpPr>
          <p:cNvPr id="22" name="직사각형 21"/>
          <p:cNvSpPr/>
          <p:nvPr/>
        </p:nvSpPr>
        <p:spPr bwMode="auto">
          <a:xfrm flipV="1">
            <a:off x="232796" y="3139065"/>
            <a:ext cx="1062122" cy="158765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300099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MDD-00130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MDD75GA6000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금융위원회 보도자료</a:t>
                      </a:r>
                      <a:r>
                        <a:rPr lang="en-US" altLang="ko-KR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(6-1/2)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대외기획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P.A.I(Platform of Audit Info) 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RPA </a:t>
                      </a:r>
                      <a:r>
                        <a:rPr lang="ko-KR" altLang="en-US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수집정보 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(P172: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298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[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금융감독원 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DART 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공시자료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]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클릭</a:t>
                      </a: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[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]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버튼 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클릭시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검색조건 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선택후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조회 실행</a:t>
                      </a: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[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등록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]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버튼 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클릭시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등록 팝업 호출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검색된 그리드에서 </a:t>
                      </a:r>
                      <a:r>
                        <a:rPr lang="ko-KR" altLang="en-US" sz="800" b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더블클릭시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상세 정보 팝업 페이지 호출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첨부파일이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있을수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클릭하면 첨부파일 다운로드 실행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228600" marR="0" lvl="0" indent="-22860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★ 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개발 </a:t>
                      </a:r>
                      <a:r>
                        <a:rPr kumimoji="0" lang="ko-KR" altLang="en-US" sz="800" b="0" kern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완료후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RPA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팀에서 </a:t>
                      </a:r>
                      <a:r>
                        <a:rPr kumimoji="0" lang="ko-KR" altLang="en-US" sz="800" b="0" kern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대응요청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(1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월중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kern="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34" name="그룹 33"/>
          <p:cNvGrpSpPr/>
          <p:nvPr/>
        </p:nvGrpSpPr>
        <p:grpSpPr>
          <a:xfrm>
            <a:off x="216414" y="1070813"/>
            <a:ext cx="6732899" cy="337771"/>
            <a:chOff x="355877" y="2160935"/>
            <a:chExt cx="6061214" cy="417554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44" name="양쪽 모서리가 둥근 사각형 43"/>
          <p:cNvSpPr/>
          <p:nvPr/>
        </p:nvSpPr>
        <p:spPr bwMode="auto">
          <a:xfrm>
            <a:off x="222916" y="1545148"/>
            <a:ext cx="1333907" cy="20316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금융위원회 보도자료</a:t>
            </a:r>
            <a:endParaRPr kumimoji="0" lang="en-US" altLang="ko-KR" sz="800" kern="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16414" y="147055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5" name="직사각형 64"/>
          <p:cNvSpPr/>
          <p:nvPr/>
        </p:nvSpPr>
        <p:spPr bwMode="auto">
          <a:xfrm>
            <a:off x="1301272" y="1797971"/>
            <a:ext cx="5686142" cy="4303966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7" name="직사각형 36"/>
          <p:cNvSpPr/>
          <p:nvPr/>
        </p:nvSpPr>
        <p:spPr bwMode="auto">
          <a:xfrm flipV="1">
            <a:off x="6098792" y="2428488"/>
            <a:ext cx="850519" cy="22836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39" name="내용 개체 틀 121"/>
          <p:cNvGraphicFramePr>
            <a:graphicFrameLocks/>
          </p:cNvGraphicFramePr>
          <p:nvPr>
            <p:extLst/>
          </p:nvPr>
        </p:nvGraphicFramePr>
        <p:xfrm>
          <a:off x="1316125" y="1827372"/>
          <a:ext cx="5633186" cy="48058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6451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67499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53731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2768009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</a:tblGrid>
              <a:tr h="23847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작성일자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담당부서명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4211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제목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9704925"/>
                  </a:ext>
                </a:extLst>
              </a:tr>
            </a:tbl>
          </a:graphicData>
        </a:graphic>
      </p:graphicFrame>
      <p:sp>
        <p:nvSpPr>
          <p:cNvPr id="4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96532" y="2453176"/>
            <a:ext cx="3012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873563" y="1856537"/>
            <a:ext cx="68731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780717" y="1852465"/>
            <a:ext cx="68731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2024-04-30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75" name="그림 7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409362" y="1860377"/>
            <a:ext cx="151519" cy="173224"/>
          </a:xfrm>
          <a:prstGeom prst="rect">
            <a:avLst/>
          </a:prstGeom>
        </p:spPr>
      </p:pic>
      <p:pic>
        <p:nvPicPr>
          <p:cNvPr id="76" name="그림 7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15378" y="1861063"/>
            <a:ext cx="151519" cy="173224"/>
          </a:xfrm>
          <a:prstGeom prst="rect">
            <a:avLst/>
          </a:prstGeom>
        </p:spPr>
      </p:pic>
      <p:cxnSp>
        <p:nvCxnSpPr>
          <p:cNvPr id="77" name="직선 연결선 76"/>
          <p:cNvCxnSpPr/>
          <p:nvPr/>
        </p:nvCxnSpPr>
        <p:spPr bwMode="auto">
          <a:xfrm>
            <a:off x="2628665" y="1950416"/>
            <a:ext cx="76505" cy="2363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883859" y="2095719"/>
            <a:ext cx="34502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미수금</a:t>
            </a:r>
            <a:endParaRPr kumimoji="0" lang="ko-KR" altLang="en-US" sz="9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1" name="표 30"/>
          <p:cNvGraphicFramePr>
            <a:graphicFrameLocks noGrp="1"/>
          </p:cNvGraphicFramePr>
          <p:nvPr>
            <p:extLst/>
          </p:nvPr>
        </p:nvGraphicFramePr>
        <p:xfrm>
          <a:off x="1294361" y="2706494"/>
          <a:ext cx="5664331" cy="792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8308">
                  <a:extLst>
                    <a:ext uri="{9D8B030D-6E8A-4147-A177-3AD203B41FA5}">
                      <a16:colId xmlns:a16="http://schemas.microsoft.com/office/drawing/2014/main" val="2426106912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157696043"/>
                    </a:ext>
                  </a:extLst>
                </a:gridCol>
                <a:gridCol w="748146">
                  <a:extLst>
                    <a:ext uri="{9D8B030D-6E8A-4147-A177-3AD203B41FA5}">
                      <a16:colId xmlns:a16="http://schemas.microsoft.com/office/drawing/2014/main" val="1421297000"/>
                    </a:ext>
                  </a:extLst>
                </a:gridCol>
                <a:gridCol w="371459">
                  <a:extLst>
                    <a:ext uri="{9D8B030D-6E8A-4147-A177-3AD203B41FA5}">
                      <a16:colId xmlns:a16="http://schemas.microsoft.com/office/drawing/2014/main" val="3582745889"/>
                    </a:ext>
                  </a:extLst>
                </a:gridCol>
                <a:gridCol w="518002">
                  <a:extLst>
                    <a:ext uri="{9D8B030D-6E8A-4147-A177-3AD203B41FA5}">
                      <a16:colId xmlns:a16="http://schemas.microsoft.com/office/drawing/2014/main" val="3292794991"/>
                    </a:ext>
                  </a:extLst>
                </a:gridCol>
                <a:gridCol w="392844">
                  <a:extLst>
                    <a:ext uri="{9D8B030D-6E8A-4147-A177-3AD203B41FA5}">
                      <a16:colId xmlns:a16="http://schemas.microsoft.com/office/drawing/2014/main" val="1828931321"/>
                    </a:ext>
                  </a:extLst>
                </a:gridCol>
                <a:gridCol w="1598357">
                  <a:extLst>
                    <a:ext uri="{9D8B030D-6E8A-4147-A177-3AD203B41FA5}">
                      <a16:colId xmlns:a16="http://schemas.microsoft.com/office/drawing/2014/main" val="461435787"/>
                    </a:ext>
                  </a:extLst>
                </a:gridCol>
                <a:gridCol w="394552">
                  <a:extLst>
                    <a:ext uri="{9D8B030D-6E8A-4147-A177-3AD203B41FA5}">
                      <a16:colId xmlns:a16="http://schemas.microsoft.com/office/drawing/2014/main" val="2502540127"/>
                    </a:ext>
                  </a:extLst>
                </a:gridCol>
                <a:gridCol w="591143">
                  <a:extLst>
                    <a:ext uri="{9D8B030D-6E8A-4147-A177-3AD203B41FA5}">
                      <a16:colId xmlns:a16="http://schemas.microsoft.com/office/drawing/2014/main" val="14400629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pc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700" b="0" spc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작성일자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담당부서명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제목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79101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2018-02-12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KB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l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KB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 감사보고서 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u="sng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50771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2018-02-12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신한은행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신한은행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경영개선 보고서 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u="sng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98720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3076989"/>
                  </a:ext>
                </a:extLst>
              </a:tr>
            </a:tbl>
          </a:graphicData>
        </a:graphic>
      </p:graphicFrame>
      <p:pic>
        <p:nvPicPr>
          <p:cNvPr id="35" name="그림 3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88057" y="2952727"/>
            <a:ext cx="167353" cy="180975"/>
          </a:xfrm>
          <a:prstGeom prst="rect">
            <a:avLst/>
          </a:prstGeom>
        </p:spPr>
      </p:pic>
      <p:pic>
        <p:nvPicPr>
          <p:cNvPr id="40" name="그림 3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84996" y="3148312"/>
            <a:ext cx="167353" cy="180975"/>
          </a:xfrm>
          <a:prstGeom prst="rect">
            <a:avLst/>
          </a:prstGeom>
        </p:spPr>
      </p:pic>
      <p:sp>
        <p:nvSpPr>
          <p:cNvPr id="5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83058" y="2453176"/>
            <a:ext cx="3012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061223" y="2463571"/>
            <a:ext cx="115130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453894" y="2463398"/>
            <a:ext cx="115130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931998" y="2920931"/>
            <a:ext cx="115130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470956" y="2908532"/>
            <a:ext cx="115130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56" name="그림 55"/>
          <p:cNvPicPr>
            <a:picLocks noChangeAspect="1"/>
          </p:cNvPicPr>
          <p:nvPr/>
        </p:nvPicPr>
        <p:blipFill rotWithShape="1">
          <a:blip r:embed="rId4"/>
          <a:srcRect r="-28" b="76117"/>
          <a:stretch/>
        </p:blipFill>
        <p:spPr>
          <a:xfrm>
            <a:off x="191221" y="968210"/>
            <a:ext cx="6758092" cy="555402"/>
          </a:xfrm>
          <a:prstGeom prst="rect">
            <a:avLst/>
          </a:prstGeom>
        </p:spPr>
      </p:pic>
      <p:sp>
        <p:nvSpPr>
          <p:cNvPr id="58" name="직사각형 5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221328" y="1859941"/>
            <a:ext cx="2662930" cy="17751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</a:t>
            </a:r>
            <a:endParaRPr kumimoji="0" lang="ko-KR" altLang="en-US" sz="7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64" name="그림 63"/>
          <p:cNvPicPr>
            <a:picLocks noChangeAspect="1"/>
          </p:cNvPicPr>
          <p:nvPr/>
        </p:nvPicPr>
        <p:blipFill rotWithShape="1">
          <a:blip r:embed="rId4"/>
          <a:srcRect l="34" t="16526" r="82147" b="-177"/>
          <a:stretch/>
        </p:blipFill>
        <p:spPr>
          <a:xfrm>
            <a:off x="214239" y="1783942"/>
            <a:ext cx="1080120" cy="1872208"/>
          </a:xfrm>
          <a:prstGeom prst="rect">
            <a:avLst/>
          </a:prstGeom>
        </p:spPr>
      </p:pic>
      <p:sp>
        <p:nvSpPr>
          <p:cNvPr id="66" name="타원 6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10486" y="3169731"/>
            <a:ext cx="115130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2" name="직사각형 31"/>
          <p:cNvSpPr/>
          <p:nvPr/>
        </p:nvSpPr>
        <p:spPr bwMode="auto">
          <a:xfrm flipV="1">
            <a:off x="223238" y="3174718"/>
            <a:ext cx="1062122" cy="158765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13134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MDD-00130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MDD75GA6002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금융위원회 보도자료</a:t>
                      </a:r>
                      <a:r>
                        <a:rPr lang="en-US" altLang="ko-KR" sz="12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(6-2/2)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대외기획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P.A.I(Platform of Audit Info) 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RPA </a:t>
                      </a:r>
                      <a:r>
                        <a:rPr lang="ko-KR" altLang="en-US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수집정보 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(P172: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471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[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금융위원회 보도자료</a:t>
                      </a:r>
                      <a:r>
                        <a:rPr lang="en-US" altLang="ko-KR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]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등록 </a:t>
                      </a:r>
                      <a:r>
                        <a:rPr lang="ko-KR" altLang="en-US" sz="800" b="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신규등록시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입력값이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빈칸으로 출력되며 수정으로 들어 </a:t>
                      </a:r>
                      <a:r>
                        <a:rPr lang="ko-KR" altLang="en-US" sz="800" b="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올시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기존 등록정보를 조회하여 </a:t>
                      </a:r>
                      <a:r>
                        <a:rPr lang="en-US" altLang="ko-KR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default</a:t>
                      </a:r>
                      <a:r>
                        <a:rPr lang="en-US" altLang="ko-KR" sz="800" b="0" kern="1200" baseline="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0" kern="1200" baseline="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셋팅</a:t>
                      </a:r>
                      <a:endParaRPr lang="en-US" altLang="ko-KR" sz="800" b="0" kern="1200" dirty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해당 </a:t>
                      </a:r>
                      <a:r>
                        <a:rPr lang="ko-KR" altLang="en-US" sz="800" b="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입력정보를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입력 후 </a:t>
                      </a:r>
                      <a:r>
                        <a:rPr lang="en-US" altLang="ko-KR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[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등록</a:t>
                      </a:r>
                      <a:r>
                        <a:rPr lang="en-US" altLang="ko-KR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]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버튼 </a:t>
                      </a:r>
                      <a:r>
                        <a:rPr lang="ko-KR" altLang="en-US" sz="800" b="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클릭시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입력사항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저장</a:t>
                      </a:r>
                      <a:endParaRPr lang="en-US" altLang="ko-KR" sz="800" b="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수정으로 </a:t>
                      </a:r>
                      <a:r>
                        <a:rPr lang="ko-KR" altLang="en-US" sz="800" b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들어올시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기본정보를 보여주며 수정할 항목을 수정하고 </a:t>
                      </a:r>
                      <a:r>
                        <a:rPr lang="en-US" altLang="ko-KR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r>
                        <a:rPr lang="en-US" altLang="ko-KR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</a:t>
                      </a:r>
                      <a:r>
                        <a:rPr lang="ko-KR" altLang="en-US" sz="800" b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클릭시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기존내용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수정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3-1. ‘</a:t>
                      </a:r>
                      <a:r>
                        <a:rPr lang="ko-KR" altLang="en-US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제목</a:t>
                      </a: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</a:t>
                      </a:r>
                      <a:r>
                        <a:rPr lang="ko-KR" altLang="en-US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등록</a:t>
                      </a: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spcAft>
                          <a:spcPts val="0"/>
                        </a:spcAft>
                        <a:buNone/>
                      </a:pP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☞ 금융위원회 보도자료 메뉴 상 제목 </a:t>
                      </a:r>
                      <a:r>
                        <a:rPr lang="ko-KR" altLang="en-US" sz="8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스크래핑</a:t>
                      </a:r>
                      <a:endParaRPr lang="en-US" altLang="ko-KR" sz="800" spc="-5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3-2. ‘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담당부서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등록</a:t>
                      </a: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spcAft>
                          <a:spcPts val="0"/>
                        </a:spcAft>
                        <a:buNone/>
                      </a:pP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☞ 금융위원회 담당부서</a:t>
                      </a: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3-3. ‘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요약내용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등록</a:t>
                      </a: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spcAft>
                          <a:spcPts val="0"/>
                        </a:spcAft>
                        <a:buNone/>
                      </a:pP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☞ 현재 기능 유지</a:t>
                      </a: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3-4. ‘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본문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등록</a:t>
                      </a: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spcAft>
                          <a:spcPts val="0"/>
                        </a:spcAft>
                        <a:buNone/>
                      </a:pP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☞ 첨부파일 內 전체 본문을 그대로 입력</a:t>
                      </a: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      (</a:t>
                      </a:r>
                      <a:r>
                        <a:rPr lang="en-US" altLang="ko-KR" sz="8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Ctrl+A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→ </a:t>
                      </a:r>
                      <a:r>
                        <a:rPr lang="en-US" altLang="ko-KR" sz="8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Ctrl+C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→ </a:t>
                      </a:r>
                      <a:r>
                        <a:rPr lang="en-US" altLang="ko-KR" sz="8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Ctrl+V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)</a:t>
                      </a:r>
                    </a:p>
                    <a:p>
                      <a:pPr marL="0" indent="0">
                        <a:buNone/>
                      </a:pP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3-5. ‘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첨부파일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등록</a:t>
                      </a: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buNone/>
                      </a:pP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  ☞ </a:t>
                      </a:r>
                      <a:r>
                        <a:rPr lang="en-US" altLang="ko-KR" sz="8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Hwp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및 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Word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파일 등록</a:t>
                      </a:r>
                      <a:endParaRPr lang="en-US" altLang="ko-KR" sz="8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228600" marR="0" lvl="0" indent="-22860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★ 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개발 </a:t>
                      </a:r>
                      <a:r>
                        <a:rPr kumimoji="0" lang="ko-KR" altLang="en-US" sz="800" b="0" kern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완료후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RPA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팀에서 </a:t>
                      </a:r>
                      <a:r>
                        <a:rPr kumimoji="0" lang="ko-KR" altLang="en-US" sz="800" b="0" kern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대응요청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(1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월중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34" name="그룹 33"/>
          <p:cNvGrpSpPr/>
          <p:nvPr/>
        </p:nvGrpSpPr>
        <p:grpSpPr>
          <a:xfrm>
            <a:off x="216414" y="1070813"/>
            <a:ext cx="6732899" cy="337771"/>
            <a:chOff x="355877" y="2160935"/>
            <a:chExt cx="6061214" cy="417554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44" name="양쪽 모서리가 둥근 사각형 43"/>
          <p:cNvSpPr/>
          <p:nvPr/>
        </p:nvSpPr>
        <p:spPr bwMode="auto">
          <a:xfrm>
            <a:off x="222916" y="1545148"/>
            <a:ext cx="1333907" cy="20316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금융위원회 보도자료</a:t>
            </a:r>
            <a:endParaRPr kumimoji="0" lang="en-US" altLang="ko-KR" sz="800" kern="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16414" y="147055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5" name="직사각형 64"/>
          <p:cNvSpPr/>
          <p:nvPr/>
        </p:nvSpPr>
        <p:spPr bwMode="auto">
          <a:xfrm>
            <a:off x="1301272" y="1797971"/>
            <a:ext cx="5686142" cy="4303966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9" name="내용 개체 틀 121"/>
          <p:cNvGraphicFramePr>
            <a:graphicFrameLocks/>
          </p:cNvGraphicFramePr>
          <p:nvPr>
            <p:extLst/>
          </p:nvPr>
        </p:nvGraphicFramePr>
        <p:xfrm>
          <a:off x="1316125" y="1827372"/>
          <a:ext cx="5633186" cy="48058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6451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67499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53731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2768009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</a:tblGrid>
              <a:tr h="23847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작성일자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담당부서명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4211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제목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9704925"/>
                  </a:ext>
                </a:extLst>
              </a:tr>
            </a:tbl>
          </a:graphicData>
        </a:graphic>
      </p:graphicFrame>
      <p:sp>
        <p:nvSpPr>
          <p:cNvPr id="4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96532" y="2453176"/>
            <a:ext cx="3012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873563" y="1856537"/>
            <a:ext cx="68731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780717" y="1852465"/>
            <a:ext cx="68731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2024-04-30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75" name="그림 7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409362" y="1860377"/>
            <a:ext cx="151519" cy="173224"/>
          </a:xfrm>
          <a:prstGeom prst="rect">
            <a:avLst/>
          </a:prstGeom>
        </p:spPr>
      </p:pic>
      <p:pic>
        <p:nvPicPr>
          <p:cNvPr id="76" name="그림 7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15378" y="1861063"/>
            <a:ext cx="151519" cy="173224"/>
          </a:xfrm>
          <a:prstGeom prst="rect">
            <a:avLst/>
          </a:prstGeom>
        </p:spPr>
      </p:pic>
      <p:cxnSp>
        <p:nvCxnSpPr>
          <p:cNvPr id="77" name="직선 연결선 76"/>
          <p:cNvCxnSpPr/>
          <p:nvPr/>
        </p:nvCxnSpPr>
        <p:spPr bwMode="auto">
          <a:xfrm>
            <a:off x="2628665" y="1950416"/>
            <a:ext cx="76505" cy="2363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883859" y="2095719"/>
            <a:ext cx="34502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미수금</a:t>
            </a:r>
            <a:endParaRPr kumimoji="0" lang="ko-KR" altLang="en-US" sz="9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1" name="표 30"/>
          <p:cNvGraphicFramePr>
            <a:graphicFrameLocks noGrp="1"/>
          </p:cNvGraphicFramePr>
          <p:nvPr>
            <p:extLst/>
          </p:nvPr>
        </p:nvGraphicFramePr>
        <p:xfrm>
          <a:off x="1294361" y="2706494"/>
          <a:ext cx="5664331" cy="792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8308">
                  <a:extLst>
                    <a:ext uri="{9D8B030D-6E8A-4147-A177-3AD203B41FA5}">
                      <a16:colId xmlns:a16="http://schemas.microsoft.com/office/drawing/2014/main" val="2426106912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157696043"/>
                    </a:ext>
                  </a:extLst>
                </a:gridCol>
                <a:gridCol w="748146">
                  <a:extLst>
                    <a:ext uri="{9D8B030D-6E8A-4147-A177-3AD203B41FA5}">
                      <a16:colId xmlns:a16="http://schemas.microsoft.com/office/drawing/2014/main" val="1421297000"/>
                    </a:ext>
                  </a:extLst>
                </a:gridCol>
                <a:gridCol w="371459">
                  <a:extLst>
                    <a:ext uri="{9D8B030D-6E8A-4147-A177-3AD203B41FA5}">
                      <a16:colId xmlns:a16="http://schemas.microsoft.com/office/drawing/2014/main" val="3582745889"/>
                    </a:ext>
                  </a:extLst>
                </a:gridCol>
                <a:gridCol w="518002">
                  <a:extLst>
                    <a:ext uri="{9D8B030D-6E8A-4147-A177-3AD203B41FA5}">
                      <a16:colId xmlns:a16="http://schemas.microsoft.com/office/drawing/2014/main" val="3292794991"/>
                    </a:ext>
                  </a:extLst>
                </a:gridCol>
                <a:gridCol w="392844">
                  <a:extLst>
                    <a:ext uri="{9D8B030D-6E8A-4147-A177-3AD203B41FA5}">
                      <a16:colId xmlns:a16="http://schemas.microsoft.com/office/drawing/2014/main" val="1828931321"/>
                    </a:ext>
                  </a:extLst>
                </a:gridCol>
                <a:gridCol w="1598357">
                  <a:extLst>
                    <a:ext uri="{9D8B030D-6E8A-4147-A177-3AD203B41FA5}">
                      <a16:colId xmlns:a16="http://schemas.microsoft.com/office/drawing/2014/main" val="461435787"/>
                    </a:ext>
                  </a:extLst>
                </a:gridCol>
                <a:gridCol w="394552">
                  <a:extLst>
                    <a:ext uri="{9D8B030D-6E8A-4147-A177-3AD203B41FA5}">
                      <a16:colId xmlns:a16="http://schemas.microsoft.com/office/drawing/2014/main" val="2502540127"/>
                    </a:ext>
                  </a:extLst>
                </a:gridCol>
                <a:gridCol w="591143">
                  <a:extLst>
                    <a:ext uri="{9D8B030D-6E8A-4147-A177-3AD203B41FA5}">
                      <a16:colId xmlns:a16="http://schemas.microsoft.com/office/drawing/2014/main" val="14400629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pc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700" b="0" spc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접수일자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담당부서명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제목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첨부파일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79101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2018-02-12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KB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l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KB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 감사보고서 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u="sng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50771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2018-02-12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신한은행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신한은행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경영개선 보고서 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u="sng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98720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3076989"/>
                  </a:ext>
                </a:extLst>
              </a:tr>
            </a:tbl>
          </a:graphicData>
        </a:graphic>
      </p:graphicFrame>
      <p:pic>
        <p:nvPicPr>
          <p:cNvPr id="35" name="그림 3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88057" y="2952727"/>
            <a:ext cx="167353" cy="180975"/>
          </a:xfrm>
          <a:prstGeom prst="rect">
            <a:avLst/>
          </a:prstGeom>
        </p:spPr>
      </p:pic>
      <p:pic>
        <p:nvPicPr>
          <p:cNvPr id="40" name="그림 3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84996" y="3148312"/>
            <a:ext cx="167353" cy="180975"/>
          </a:xfrm>
          <a:prstGeom prst="rect">
            <a:avLst/>
          </a:prstGeom>
        </p:spPr>
      </p:pic>
      <p:sp>
        <p:nvSpPr>
          <p:cNvPr id="5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83058" y="2453176"/>
            <a:ext cx="3012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56" name="그림 55"/>
          <p:cNvPicPr>
            <a:picLocks noChangeAspect="1"/>
          </p:cNvPicPr>
          <p:nvPr/>
        </p:nvPicPr>
        <p:blipFill rotWithShape="1">
          <a:blip r:embed="rId4"/>
          <a:srcRect r="-28" b="76117"/>
          <a:stretch/>
        </p:blipFill>
        <p:spPr>
          <a:xfrm>
            <a:off x="191221" y="968210"/>
            <a:ext cx="6758092" cy="555402"/>
          </a:xfrm>
          <a:prstGeom prst="rect">
            <a:avLst/>
          </a:prstGeom>
        </p:spPr>
      </p:pic>
      <p:sp>
        <p:nvSpPr>
          <p:cNvPr id="58" name="직사각형 5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221328" y="1859941"/>
            <a:ext cx="2662930" cy="17751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</a:t>
            </a:r>
            <a:endParaRPr kumimoji="0" lang="ko-KR" altLang="en-US" sz="7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64" name="그림 63"/>
          <p:cNvPicPr>
            <a:picLocks noChangeAspect="1"/>
          </p:cNvPicPr>
          <p:nvPr/>
        </p:nvPicPr>
        <p:blipFill rotWithShape="1">
          <a:blip r:embed="rId4"/>
          <a:srcRect l="34" t="16526" r="82147" b="-177"/>
          <a:stretch/>
        </p:blipFill>
        <p:spPr>
          <a:xfrm>
            <a:off x="214239" y="1783942"/>
            <a:ext cx="1080120" cy="1872208"/>
          </a:xfrm>
          <a:prstGeom prst="rect">
            <a:avLst/>
          </a:prstGeom>
        </p:spPr>
      </p:pic>
      <p:sp>
        <p:nvSpPr>
          <p:cNvPr id="66" name="타원 6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107828" y="3183192"/>
            <a:ext cx="115130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96532" y="2453176"/>
            <a:ext cx="3012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883859" y="2095719"/>
            <a:ext cx="34502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미수금</a:t>
            </a:r>
            <a:endParaRPr kumimoji="0" lang="ko-KR" altLang="en-US" sz="9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38" name="그림 3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88057" y="2952727"/>
            <a:ext cx="167353" cy="180975"/>
          </a:xfrm>
          <a:prstGeom prst="rect">
            <a:avLst/>
          </a:prstGeom>
        </p:spPr>
      </p:pic>
      <p:pic>
        <p:nvPicPr>
          <p:cNvPr id="41" name="그림 4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84996" y="3148312"/>
            <a:ext cx="167353" cy="180975"/>
          </a:xfrm>
          <a:prstGeom prst="rect">
            <a:avLst/>
          </a:prstGeom>
        </p:spPr>
      </p:pic>
      <p:sp>
        <p:nvSpPr>
          <p:cNvPr id="4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83058" y="2453176"/>
            <a:ext cx="3012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11805" y="2478115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9" name="직사각형 48"/>
          <p:cNvSpPr/>
          <p:nvPr/>
        </p:nvSpPr>
        <p:spPr bwMode="auto">
          <a:xfrm>
            <a:off x="1812198" y="2147112"/>
            <a:ext cx="5137237" cy="4170567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995519" y="6047477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382045" y="6047477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닫기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59" name="표 58"/>
          <p:cNvGraphicFramePr>
            <a:graphicFrameLocks noGrp="1"/>
          </p:cNvGraphicFramePr>
          <p:nvPr>
            <p:extLst/>
          </p:nvPr>
        </p:nvGraphicFramePr>
        <p:xfrm>
          <a:off x="1843893" y="2209840"/>
          <a:ext cx="4983578" cy="378673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65630">
                  <a:extLst>
                    <a:ext uri="{9D8B030D-6E8A-4147-A177-3AD203B41FA5}">
                      <a16:colId xmlns:a16="http://schemas.microsoft.com/office/drawing/2014/main" val="1630994582"/>
                    </a:ext>
                  </a:extLst>
                </a:gridCol>
                <a:gridCol w="1811074">
                  <a:extLst>
                    <a:ext uri="{9D8B030D-6E8A-4147-A177-3AD203B41FA5}">
                      <a16:colId xmlns:a16="http://schemas.microsoft.com/office/drawing/2014/main" val="2045752900"/>
                    </a:ext>
                  </a:extLst>
                </a:gridCol>
                <a:gridCol w="674992">
                  <a:extLst>
                    <a:ext uri="{9D8B030D-6E8A-4147-A177-3AD203B41FA5}">
                      <a16:colId xmlns:a16="http://schemas.microsoft.com/office/drawing/2014/main" val="2662453202"/>
                    </a:ext>
                  </a:extLst>
                </a:gridCol>
                <a:gridCol w="1731882">
                  <a:extLst>
                    <a:ext uri="{9D8B030D-6E8A-4147-A177-3AD203B41FA5}">
                      <a16:colId xmlns:a16="http://schemas.microsoft.com/office/drawing/2014/main" val="3707926986"/>
                    </a:ext>
                  </a:extLst>
                </a:gridCol>
              </a:tblGrid>
              <a:tr h="2417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제목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8451336"/>
                  </a:ext>
                </a:extLst>
              </a:tr>
              <a:tr h="22168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담당부서명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/>
                        <a:t> </a:t>
                      </a:r>
                      <a:endParaRPr lang="ko-KR" altLang="en-US" sz="800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16464564"/>
                  </a:ext>
                </a:extLst>
              </a:tr>
              <a:tr h="2293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작성자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</a:t>
                      </a:r>
                      <a:r>
                        <a:rPr kumimoji="0" lang="ko-KR" altLang="en-US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작성일자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</a:t>
                      </a: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1806225"/>
                  </a:ext>
                </a:extLst>
              </a:tr>
              <a:tr h="103576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요약내용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35103145"/>
                  </a:ext>
                </a:extLst>
              </a:tr>
              <a:tr h="11390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본문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54201637"/>
                  </a:ext>
                </a:extLst>
              </a:tr>
              <a:tr h="84727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참부파일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1425522"/>
                  </a:ext>
                </a:extLst>
              </a:tr>
            </a:tbl>
          </a:graphicData>
        </a:graphic>
      </p:graphicFrame>
      <p:sp>
        <p:nvSpPr>
          <p:cNvPr id="60" name="직사각형 5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66872" y="4035546"/>
            <a:ext cx="4076501" cy="106398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내부통제규정 개정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안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에 대한 사전협의 부탁드립니다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.</a:t>
            </a: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근거 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상임감사위원직무규정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-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별표</a:t>
            </a:r>
            <a:r>
              <a:rPr kumimoji="0" lang="en-US" altLang="ko-KR" sz="70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2-1.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정관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규정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지침 및 업무매뉴얼의 개정</a:t>
            </a:r>
            <a:endParaRPr kumimoji="0" lang="en-US" altLang="ko-KR" sz="70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b="0" i="0" u="none" strike="noStrike" kern="1200" cap="none" spc="0" normalizeH="0" baseline="0" noProof="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개정예정일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2024-05-02(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목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관련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현황 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2024-04-18</a:t>
            </a:r>
            <a:r>
              <a:rPr kumimoji="0" lang="en-US" altLang="ko-KR" sz="700" b="0" i="0" u="none" strike="noStrike" kern="1200" cap="none" spc="0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ko-KR" altLang="en-US" sz="700" b="0" i="0" u="none" strike="noStrike" kern="1200" cap="none" spc="0" normalizeH="0" noProof="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법무팀</a:t>
            </a:r>
            <a:r>
              <a:rPr kumimoji="0" lang="ko-KR" altLang="en-US" sz="700" b="0" i="0" u="none" strike="noStrike" kern="1200" cap="none" spc="0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사전협의 완료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66872" y="5526675"/>
            <a:ext cx="4059236" cy="397978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rPr>
              <a:t>업로드 파일</a:t>
            </a:r>
            <a:r>
              <a:rPr kumimoji="0" lang="en-US" altLang="ko-KR" sz="800" b="0" i="0" u="none" strike="noStrike" kern="1200" cap="none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rPr>
              <a:t>.</a:t>
            </a:r>
            <a:r>
              <a:rPr kumimoji="0" lang="en-US" altLang="ko-KR" sz="8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+mj-ea"/>
                <a:ea typeface="+mj-ea"/>
              </a:rPr>
              <a:t>docx</a:t>
            </a:r>
            <a:endParaRPr kumimoji="0" lang="ko-KR" altLang="en-US" sz="800" b="0" i="0" u="none" strike="noStrike" kern="1200" cap="none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66872" y="2962421"/>
            <a:ext cx="4075173" cy="933731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 감사보고서 </a:t>
            </a:r>
            <a:endParaRPr kumimoji="0" lang="en-US" altLang="ko-KR" sz="80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2024-12-17</a:t>
            </a:r>
            <a:endParaRPr kumimoji="0" lang="ko-KR" altLang="en-US" sz="8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66872" y="2252132"/>
            <a:ext cx="4100801" cy="16801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 감사보고서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66871" y="2487357"/>
            <a:ext cx="4100801" cy="147217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증권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68" name="그룹 67"/>
          <p:cNvGrpSpPr/>
          <p:nvPr/>
        </p:nvGrpSpPr>
        <p:grpSpPr>
          <a:xfrm>
            <a:off x="5169003" y="2709586"/>
            <a:ext cx="1343121" cy="180915"/>
            <a:chOff x="1421952" y="2291860"/>
            <a:chExt cx="1343121" cy="180915"/>
          </a:xfrm>
          <a:solidFill>
            <a:schemeClr val="bg2">
              <a:lumMod val="90000"/>
            </a:schemeClr>
          </a:solidFill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21952" y="2291860"/>
              <a:ext cx="1343121" cy="180915"/>
            </a:xfrm>
            <a:prstGeom prst="rect">
              <a:avLst/>
            </a:prstGeom>
            <a:grpFill/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2024-04-22</a:t>
              </a:r>
              <a:endParaRPr kumimoji="0" lang="ko-KR" altLang="en-US" sz="7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2576542" y="2310827"/>
              <a:ext cx="164635" cy="157476"/>
            </a:xfrm>
            <a:prstGeom prst="rect">
              <a:avLst/>
            </a:prstGeom>
            <a:grpFill/>
          </p:spPr>
        </p:pic>
      </p:grpSp>
      <p:sp>
        <p:nvSpPr>
          <p:cNvPr id="7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340594" y="5260566"/>
            <a:ext cx="385514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전체삭제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821629" y="5260566"/>
            <a:ext cx="480866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err="1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파일추가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79" name="그림 78" descr="화면 캡처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099" t="-6769" r="22984" b="3888"/>
          <a:stretch/>
        </p:blipFill>
        <p:spPr>
          <a:xfrm>
            <a:off x="2666872" y="2665881"/>
            <a:ext cx="1058052" cy="228091"/>
          </a:xfrm>
          <a:prstGeom prst="rect">
            <a:avLst/>
          </a:prstGeom>
        </p:spPr>
      </p:pic>
      <p:sp>
        <p:nvSpPr>
          <p:cNvPr id="80" name="타원 7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857913" y="606718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1" name="타원 8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407302" y="387599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2" name="타원 8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862093" y="224145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1" name="직사각형 50"/>
          <p:cNvSpPr/>
          <p:nvPr/>
        </p:nvSpPr>
        <p:spPr bwMode="auto">
          <a:xfrm flipV="1">
            <a:off x="239148" y="3204011"/>
            <a:ext cx="1062122" cy="158765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019283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33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MDD-00130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MDD75GA8000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1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법령해석</a:t>
                      </a:r>
                      <a:r>
                        <a:rPr lang="en-US" altLang="ko-KR" sz="11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·</a:t>
                      </a:r>
                      <a:r>
                        <a:rPr lang="ko-KR" altLang="en-US" sz="11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비조치의견서 </a:t>
                      </a:r>
                      <a:r>
                        <a:rPr lang="ko-KR" altLang="en-US" sz="1100" b="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회신사례</a:t>
                      </a:r>
                      <a:r>
                        <a:rPr lang="en-US" altLang="ko-KR" sz="11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(7-1/3)</a:t>
                      </a:r>
                      <a:endParaRPr lang="ko-KR" altLang="en-US" sz="11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대외기획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P.A.I(Platform of Audit Info) 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RPA </a:t>
                      </a:r>
                      <a:r>
                        <a:rPr lang="ko-KR" altLang="en-US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수집정보 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(P172: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298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[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금융감독원 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DART 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공시자료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] 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클릭</a:t>
                      </a: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[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조회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]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버튼 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클릭시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검색조건 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선택후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조회 실행</a:t>
                      </a:r>
                      <a:endParaRPr lang="en-US" altLang="ko-KR" sz="8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[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등록</a:t>
                      </a:r>
                      <a:r>
                        <a:rPr lang="en-US" altLang="ko-KR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]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버튼 </a:t>
                      </a:r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클릭시</a:t>
                      </a: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등록 팝업 호출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검색된 그리드에서 </a:t>
                      </a:r>
                      <a:r>
                        <a:rPr lang="ko-KR" altLang="en-US" sz="800" b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더블클릭시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상세 정보 팝업 페이지 호출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228600" marR="0" lvl="0" indent="-22860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★ 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개발 </a:t>
                      </a:r>
                      <a:r>
                        <a:rPr kumimoji="0" lang="ko-KR" altLang="en-US" sz="800" b="0" kern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완료후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RPA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팀에서 </a:t>
                      </a:r>
                      <a:r>
                        <a:rPr kumimoji="0" lang="ko-KR" altLang="en-US" sz="800" b="0" kern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대응요청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(1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월중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kern="0" dirty="0" smtClean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34" name="그룹 33"/>
          <p:cNvGrpSpPr/>
          <p:nvPr/>
        </p:nvGrpSpPr>
        <p:grpSpPr>
          <a:xfrm>
            <a:off x="216414" y="1070813"/>
            <a:ext cx="6732899" cy="337771"/>
            <a:chOff x="355877" y="2160935"/>
            <a:chExt cx="6061214" cy="417554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44" name="양쪽 모서리가 둥근 사각형 43"/>
          <p:cNvSpPr/>
          <p:nvPr/>
        </p:nvSpPr>
        <p:spPr bwMode="auto">
          <a:xfrm>
            <a:off x="222916" y="1545148"/>
            <a:ext cx="1481193" cy="20316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법령해석</a:t>
            </a:r>
            <a:r>
              <a:rPr kumimoji="0" lang="en-US" altLang="ko-KR" sz="8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8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비조치의견서 </a:t>
            </a:r>
            <a:r>
              <a:rPr kumimoji="0" lang="ko-KR" altLang="en-US" sz="800" kern="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회신사례</a:t>
            </a:r>
            <a:endParaRPr kumimoji="0" lang="en-US" altLang="ko-KR" sz="800" kern="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16414" y="147055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5" name="직사각형 64"/>
          <p:cNvSpPr/>
          <p:nvPr/>
        </p:nvSpPr>
        <p:spPr bwMode="auto">
          <a:xfrm>
            <a:off x="1301272" y="1797971"/>
            <a:ext cx="5686142" cy="4303966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7" name="직사각형 36"/>
          <p:cNvSpPr/>
          <p:nvPr/>
        </p:nvSpPr>
        <p:spPr bwMode="auto">
          <a:xfrm flipV="1">
            <a:off x="6098792" y="2428488"/>
            <a:ext cx="850519" cy="228367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39" name="내용 개체 틀 121"/>
          <p:cNvGraphicFramePr>
            <a:graphicFrameLocks/>
          </p:cNvGraphicFramePr>
          <p:nvPr>
            <p:extLst/>
          </p:nvPr>
        </p:nvGraphicFramePr>
        <p:xfrm>
          <a:off x="1316125" y="1827372"/>
          <a:ext cx="5633186" cy="48058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6451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67499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53731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909488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  <a:gridCol w="470425">
                  <a:extLst>
                    <a:ext uri="{9D8B030D-6E8A-4147-A177-3AD203B41FA5}">
                      <a16:colId xmlns:a16="http://schemas.microsoft.com/office/drawing/2014/main" val="3598224030"/>
                    </a:ext>
                  </a:extLst>
                </a:gridCol>
                <a:gridCol w="1388096">
                  <a:extLst>
                    <a:ext uri="{9D8B030D-6E8A-4147-A177-3AD203B41FA5}">
                      <a16:colId xmlns:a16="http://schemas.microsoft.com/office/drawing/2014/main" val="1325701918"/>
                    </a:ext>
                  </a:extLst>
                </a:gridCol>
              </a:tblGrid>
              <a:tr h="23847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u="none" strike="noStrike" baseline="0" dirty="0" err="1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회신일자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공시대상회사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제출인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4211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보고서명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9704925"/>
                  </a:ext>
                </a:extLst>
              </a:tr>
            </a:tbl>
          </a:graphicData>
        </a:graphic>
      </p:graphicFrame>
      <p:sp>
        <p:nvSpPr>
          <p:cNvPr id="4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96532" y="2453176"/>
            <a:ext cx="3012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873563" y="1856537"/>
            <a:ext cx="68731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780717" y="1852465"/>
            <a:ext cx="68731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2024-04-30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75" name="그림 7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409362" y="1860377"/>
            <a:ext cx="151519" cy="173224"/>
          </a:xfrm>
          <a:prstGeom prst="rect">
            <a:avLst/>
          </a:prstGeom>
        </p:spPr>
      </p:pic>
      <p:pic>
        <p:nvPicPr>
          <p:cNvPr id="76" name="그림 7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15378" y="1861063"/>
            <a:ext cx="151519" cy="173224"/>
          </a:xfrm>
          <a:prstGeom prst="rect">
            <a:avLst/>
          </a:prstGeom>
        </p:spPr>
      </p:pic>
      <p:cxnSp>
        <p:nvCxnSpPr>
          <p:cNvPr id="77" name="직선 연결선 76"/>
          <p:cNvCxnSpPr/>
          <p:nvPr/>
        </p:nvCxnSpPr>
        <p:spPr bwMode="auto">
          <a:xfrm>
            <a:off x="2628665" y="1950416"/>
            <a:ext cx="76505" cy="2363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883859" y="2095719"/>
            <a:ext cx="34502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미수금</a:t>
            </a:r>
            <a:endParaRPr kumimoji="0" lang="ko-KR" altLang="en-US" sz="9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1" name="표 30"/>
          <p:cNvGraphicFramePr>
            <a:graphicFrameLocks noGrp="1"/>
          </p:cNvGraphicFramePr>
          <p:nvPr>
            <p:extLst/>
          </p:nvPr>
        </p:nvGraphicFramePr>
        <p:xfrm>
          <a:off x="1294361" y="2706494"/>
          <a:ext cx="5664332" cy="792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8308">
                  <a:extLst>
                    <a:ext uri="{9D8B030D-6E8A-4147-A177-3AD203B41FA5}">
                      <a16:colId xmlns:a16="http://schemas.microsoft.com/office/drawing/2014/main" val="2426106912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157696043"/>
                    </a:ext>
                  </a:extLst>
                </a:gridCol>
                <a:gridCol w="748146">
                  <a:extLst>
                    <a:ext uri="{9D8B030D-6E8A-4147-A177-3AD203B41FA5}">
                      <a16:colId xmlns:a16="http://schemas.microsoft.com/office/drawing/2014/main" val="1421297000"/>
                    </a:ext>
                  </a:extLst>
                </a:gridCol>
                <a:gridCol w="371459">
                  <a:extLst>
                    <a:ext uri="{9D8B030D-6E8A-4147-A177-3AD203B41FA5}">
                      <a16:colId xmlns:a16="http://schemas.microsoft.com/office/drawing/2014/main" val="3582745889"/>
                    </a:ext>
                  </a:extLst>
                </a:gridCol>
                <a:gridCol w="518002">
                  <a:extLst>
                    <a:ext uri="{9D8B030D-6E8A-4147-A177-3AD203B41FA5}">
                      <a16:colId xmlns:a16="http://schemas.microsoft.com/office/drawing/2014/main" val="3292794991"/>
                    </a:ext>
                  </a:extLst>
                </a:gridCol>
                <a:gridCol w="392844">
                  <a:extLst>
                    <a:ext uri="{9D8B030D-6E8A-4147-A177-3AD203B41FA5}">
                      <a16:colId xmlns:a16="http://schemas.microsoft.com/office/drawing/2014/main" val="1828931321"/>
                    </a:ext>
                  </a:extLst>
                </a:gridCol>
                <a:gridCol w="1598358">
                  <a:extLst>
                    <a:ext uri="{9D8B030D-6E8A-4147-A177-3AD203B41FA5}">
                      <a16:colId xmlns:a16="http://schemas.microsoft.com/office/drawing/2014/main" val="461435787"/>
                    </a:ext>
                  </a:extLst>
                </a:gridCol>
                <a:gridCol w="261547">
                  <a:extLst>
                    <a:ext uri="{9D8B030D-6E8A-4147-A177-3AD203B41FA5}">
                      <a16:colId xmlns:a16="http://schemas.microsoft.com/office/drawing/2014/main" val="2502540127"/>
                    </a:ext>
                  </a:extLst>
                </a:gridCol>
                <a:gridCol w="133005">
                  <a:extLst>
                    <a:ext uri="{9D8B030D-6E8A-4147-A177-3AD203B41FA5}">
                      <a16:colId xmlns:a16="http://schemas.microsoft.com/office/drawing/2014/main" val="4232823326"/>
                    </a:ext>
                  </a:extLst>
                </a:gridCol>
                <a:gridCol w="591143">
                  <a:extLst>
                    <a:ext uri="{9D8B030D-6E8A-4147-A177-3AD203B41FA5}">
                      <a16:colId xmlns:a16="http://schemas.microsoft.com/office/drawing/2014/main" val="14400629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pc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700" b="0" spc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회신일자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소관부서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제목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작성일시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79101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2018-02-12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KB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l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KB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 감사보고서 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2024-01-05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u="sng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50771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2018-02-12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신한은행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신한은행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경영개선 보고서 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2024-05-06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u="sng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98720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3076989"/>
                  </a:ext>
                </a:extLst>
              </a:tr>
            </a:tbl>
          </a:graphicData>
        </a:graphic>
      </p:graphicFrame>
      <p:sp>
        <p:nvSpPr>
          <p:cNvPr id="5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83058" y="2453176"/>
            <a:ext cx="3012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061223" y="2463571"/>
            <a:ext cx="115130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453894" y="2463398"/>
            <a:ext cx="115130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931998" y="2920931"/>
            <a:ext cx="115130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pic>
        <p:nvPicPr>
          <p:cNvPr id="56" name="그림 55"/>
          <p:cNvPicPr>
            <a:picLocks noChangeAspect="1"/>
          </p:cNvPicPr>
          <p:nvPr/>
        </p:nvPicPr>
        <p:blipFill rotWithShape="1">
          <a:blip r:embed="rId3"/>
          <a:srcRect r="-28" b="76117"/>
          <a:stretch/>
        </p:blipFill>
        <p:spPr>
          <a:xfrm>
            <a:off x="191221" y="968210"/>
            <a:ext cx="6758092" cy="555402"/>
          </a:xfrm>
          <a:prstGeom prst="rect">
            <a:avLst/>
          </a:prstGeom>
        </p:spPr>
      </p:pic>
      <p:sp>
        <p:nvSpPr>
          <p:cNvPr id="58" name="직사각형 5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221328" y="1859940"/>
            <a:ext cx="68731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</a:t>
            </a:r>
            <a:endParaRPr kumimoji="0" lang="ko-KR" altLang="en-US" sz="7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593600" y="1851029"/>
            <a:ext cx="68731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삼정회계법인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64" name="그림 63"/>
          <p:cNvPicPr>
            <a:picLocks noChangeAspect="1"/>
          </p:cNvPicPr>
          <p:nvPr/>
        </p:nvPicPr>
        <p:blipFill rotWithShape="1">
          <a:blip r:embed="rId3"/>
          <a:srcRect l="34" t="16526" r="82147" b="-177"/>
          <a:stretch/>
        </p:blipFill>
        <p:spPr>
          <a:xfrm>
            <a:off x="214239" y="1783942"/>
            <a:ext cx="1080120" cy="1872208"/>
          </a:xfrm>
          <a:prstGeom prst="rect">
            <a:avLst/>
          </a:prstGeom>
        </p:spPr>
      </p:pic>
      <p:sp>
        <p:nvSpPr>
          <p:cNvPr id="66" name="타원 6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49761" y="3315825"/>
            <a:ext cx="115130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0" name="직사각형 29"/>
          <p:cNvSpPr/>
          <p:nvPr/>
        </p:nvSpPr>
        <p:spPr bwMode="auto">
          <a:xfrm flipV="1">
            <a:off x="232237" y="3316615"/>
            <a:ext cx="1062122" cy="158765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636682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33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MDD-00130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MDD75GA8001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1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법령해석</a:t>
                      </a:r>
                      <a:r>
                        <a:rPr lang="en-US" altLang="ko-KR" sz="11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·</a:t>
                      </a:r>
                      <a:r>
                        <a:rPr lang="ko-KR" altLang="en-US" sz="11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비조치의견서 </a:t>
                      </a:r>
                      <a:r>
                        <a:rPr lang="ko-KR" altLang="en-US" sz="1100" b="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회신사례</a:t>
                      </a:r>
                      <a:r>
                        <a:rPr lang="en-US" altLang="ko-KR" sz="11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(7-2/3)</a:t>
                      </a:r>
                      <a:endParaRPr lang="ko-KR" altLang="en-US" sz="11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대외기획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P.A.I(Platform of Audit Info) 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RPA </a:t>
                      </a:r>
                      <a:r>
                        <a:rPr lang="ko-KR" altLang="en-US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수집정보 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(P172: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86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[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법령해석</a:t>
                      </a:r>
                      <a:r>
                        <a:rPr lang="en-US" altLang="ko-KR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·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비조치의견서 </a:t>
                      </a:r>
                      <a:r>
                        <a:rPr lang="ko-KR" altLang="en-US" sz="800" b="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회신사례</a:t>
                      </a:r>
                      <a:r>
                        <a:rPr lang="en-US" altLang="ko-KR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]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등록 </a:t>
                      </a:r>
                      <a:r>
                        <a:rPr lang="ko-KR" altLang="en-US" sz="800" b="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신규등록시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입력값이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빈칸으로 출력되며 수정으로 들어 </a:t>
                      </a:r>
                      <a:r>
                        <a:rPr lang="ko-KR" altLang="en-US" sz="800" b="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올시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기존 등록정보를 조회하여 </a:t>
                      </a:r>
                      <a:r>
                        <a:rPr lang="en-US" altLang="ko-KR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default</a:t>
                      </a:r>
                      <a:r>
                        <a:rPr lang="en-US" altLang="ko-KR" sz="800" b="0" kern="1200" baseline="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0" kern="1200" baseline="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셋팅</a:t>
                      </a:r>
                      <a:endParaRPr lang="en-US" altLang="ko-KR" sz="800" b="0" kern="1200" dirty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해당 </a:t>
                      </a:r>
                      <a:r>
                        <a:rPr lang="ko-KR" altLang="en-US" sz="800" b="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입력정보를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입력 후 </a:t>
                      </a:r>
                      <a:r>
                        <a:rPr lang="en-US" altLang="ko-KR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[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등록</a:t>
                      </a:r>
                      <a:r>
                        <a:rPr lang="en-US" altLang="ko-KR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]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버튼 </a:t>
                      </a:r>
                      <a:r>
                        <a:rPr lang="ko-KR" altLang="en-US" sz="800" b="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클릭시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b="0" kern="1200" dirty="0" err="1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입력사항</a:t>
                      </a:r>
                      <a:r>
                        <a:rPr lang="ko-KR" altLang="en-US" sz="800" b="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저장</a:t>
                      </a:r>
                      <a:endParaRPr lang="en-US" altLang="ko-KR" sz="800" b="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수정으로 </a:t>
                      </a:r>
                      <a:r>
                        <a:rPr lang="ko-KR" altLang="en-US" sz="800" b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들어올시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기본정보를 보여주며 수정할 항목을 수정하고 </a:t>
                      </a:r>
                      <a:r>
                        <a:rPr lang="en-US" altLang="ko-KR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r>
                        <a:rPr lang="en-US" altLang="ko-KR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 </a:t>
                      </a:r>
                      <a:r>
                        <a:rPr lang="ko-KR" altLang="en-US" sz="800" b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클릭시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기존내용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수정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3-1. ‘</a:t>
                      </a:r>
                      <a:r>
                        <a:rPr lang="ko-KR" altLang="en-US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제목</a:t>
                      </a:r>
                      <a:r>
                        <a:rPr lang="en-US" altLang="ko-KR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</a:t>
                      </a:r>
                      <a:r>
                        <a:rPr lang="ko-KR" altLang="en-US" sz="800" spc="-5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 등록</a:t>
                      </a:r>
                      <a:endParaRPr lang="en-US" altLang="ko-KR" sz="800" spc="-5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3-2. ‘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소관부서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등록</a:t>
                      </a: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3-3. ‘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회신일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등록</a:t>
                      </a: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spcAft>
                          <a:spcPts val="0"/>
                        </a:spcAft>
                        <a:buNone/>
                      </a:pP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3-4. ‘</a:t>
                      </a:r>
                      <a:r>
                        <a:rPr lang="ko-KR" altLang="en-US" sz="800" dirty="0" err="1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질의요지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등록</a:t>
                      </a: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buNone/>
                      </a:pP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3-5. ‘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회답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등록</a:t>
                      </a:r>
                      <a:endParaRPr lang="en-US" altLang="ko-KR" sz="800" dirty="0" smtClean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marL="0" indent="0">
                        <a:buNone/>
                      </a:pP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3-6. ‘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이유</a:t>
                      </a:r>
                      <a:r>
                        <a:rPr lang="en-US" altLang="ko-KR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’ </a:t>
                      </a:r>
                      <a:r>
                        <a:rPr lang="ko-KR" altLang="en-US" sz="800" dirty="0" smtClean="0"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등록</a:t>
                      </a:r>
                      <a:endParaRPr lang="en-US" altLang="ko-KR" sz="800" dirty="0"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228600" marR="0" lvl="0" indent="-22860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★ 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개발 </a:t>
                      </a:r>
                      <a:r>
                        <a:rPr kumimoji="0" lang="ko-KR" altLang="en-US" sz="800" b="0" kern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완료후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RPA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팀에서 </a:t>
                      </a:r>
                      <a:r>
                        <a:rPr kumimoji="0" lang="ko-KR" altLang="en-US" sz="800" b="0" kern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대응요청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(1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월중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34" name="그룹 33"/>
          <p:cNvGrpSpPr/>
          <p:nvPr/>
        </p:nvGrpSpPr>
        <p:grpSpPr>
          <a:xfrm>
            <a:off x="216414" y="1070813"/>
            <a:ext cx="6732899" cy="337771"/>
            <a:chOff x="355877" y="2160935"/>
            <a:chExt cx="6061214" cy="417554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44" name="양쪽 모서리가 둥근 사각형 43"/>
          <p:cNvSpPr/>
          <p:nvPr/>
        </p:nvSpPr>
        <p:spPr bwMode="auto">
          <a:xfrm>
            <a:off x="222916" y="1545148"/>
            <a:ext cx="1481193" cy="20316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법령해석</a:t>
            </a:r>
            <a:r>
              <a:rPr kumimoji="0" lang="en-US" altLang="ko-KR" sz="8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8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비조치의견서 </a:t>
            </a:r>
            <a:r>
              <a:rPr kumimoji="0" lang="ko-KR" altLang="en-US" sz="800" kern="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회신사례</a:t>
            </a:r>
            <a:endParaRPr kumimoji="0" lang="en-US" altLang="ko-KR" sz="800" kern="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16414" y="147055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5" name="직사각형 64"/>
          <p:cNvSpPr/>
          <p:nvPr/>
        </p:nvSpPr>
        <p:spPr bwMode="auto">
          <a:xfrm>
            <a:off x="1301272" y="1797971"/>
            <a:ext cx="5686142" cy="4303966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9" name="내용 개체 틀 121"/>
          <p:cNvGraphicFramePr>
            <a:graphicFrameLocks/>
          </p:cNvGraphicFramePr>
          <p:nvPr>
            <p:extLst/>
          </p:nvPr>
        </p:nvGraphicFramePr>
        <p:xfrm>
          <a:off x="1316125" y="1827372"/>
          <a:ext cx="5633186" cy="48058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6451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67499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53731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909488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  <a:gridCol w="470425">
                  <a:extLst>
                    <a:ext uri="{9D8B030D-6E8A-4147-A177-3AD203B41FA5}">
                      <a16:colId xmlns:a16="http://schemas.microsoft.com/office/drawing/2014/main" val="3598224030"/>
                    </a:ext>
                  </a:extLst>
                </a:gridCol>
                <a:gridCol w="1388096">
                  <a:extLst>
                    <a:ext uri="{9D8B030D-6E8A-4147-A177-3AD203B41FA5}">
                      <a16:colId xmlns:a16="http://schemas.microsoft.com/office/drawing/2014/main" val="1325701918"/>
                    </a:ext>
                  </a:extLst>
                </a:gridCol>
              </a:tblGrid>
              <a:tr h="23847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u="none" strike="noStrike" baseline="0" dirty="0" err="1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회신일자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공시대상회사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제출인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4211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보고서명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9704925"/>
                  </a:ext>
                </a:extLst>
              </a:tr>
            </a:tbl>
          </a:graphicData>
        </a:graphic>
      </p:graphicFrame>
      <p:sp>
        <p:nvSpPr>
          <p:cNvPr id="4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96532" y="2453176"/>
            <a:ext cx="3012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873563" y="1856537"/>
            <a:ext cx="68731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780717" y="1852465"/>
            <a:ext cx="68731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2024-04-30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75" name="그림 7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409362" y="1860377"/>
            <a:ext cx="151519" cy="173224"/>
          </a:xfrm>
          <a:prstGeom prst="rect">
            <a:avLst/>
          </a:prstGeom>
        </p:spPr>
      </p:pic>
      <p:pic>
        <p:nvPicPr>
          <p:cNvPr id="76" name="그림 7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15378" y="1861063"/>
            <a:ext cx="151519" cy="173224"/>
          </a:xfrm>
          <a:prstGeom prst="rect">
            <a:avLst/>
          </a:prstGeom>
        </p:spPr>
      </p:pic>
      <p:cxnSp>
        <p:nvCxnSpPr>
          <p:cNvPr id="77" name="직선 연결선 76"/>
          <p:cNvCxnSpPr/>
          <p:nvPr/>
        </p:nvCxnSpPr>
        <p:spPr bwMode="auto">
          <a:xfrm>
            <a:off x="2628665" y="1950416"/>
            <a:ext cx="76505" cy="2363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883859" y="2095719"/>
            <a:ext cx="34502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미수금</a:t>
            </a:r>
            <a:endParaRPr kumimoji="0" lang="ko-KR" altLang="en-US" sz="9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1" name="표 30"/>
          <p:cNvGraphicFramePr>
            <a:graphicFrameLocks noGrp="1"/>
          </p:cNvGraphicFramePr>
          <p:nvPr>
            <p:extLst/>
          </p:nvPr>
        </p:nvGraphicFramePr>
        <p:xfrm>
          <a:off x="1294361" y="2706494"/>
          <a:ext cx="5664331" cy="792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8308">
                  <a:extLst>
                    <a:ext uri="{9D8B030D-6E8A-4147-A177-3AD203B41FA5}">
                      <a16:colId xmlns:a16="http://schemas.microsoft.com/office/drawing/2014/main" val="2426106912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157696043"/>
                    </a:ext>
                  </a:extLst>
                </a:gridCol>
                <a:gridCol w="748146">
                  <a:extLst>
                    <a:ext uri="{9D8B030D-6E8A-4147-A177-3AD203B41FA5}">
                      <a16:colId xmlns:a16="http://schemas.microsoft.com/office/drawing/2014/main" val="1421297000"/>
                    </a:ext>
                  </a:extLst>
                </a:gridCol>
                <a:gridCol w="371459">
                  <a:extLst>
                    <a:ext uri="{9D8B030D-6E8A-4147-A177-3AD203B41FA5}">
                      <a16:colId xmlns:a16="http://schemas.microsoft.com/office/drawing/2014/main" val="3582745889"/>
                    </a:ext>
                  </a:extLst>
                </a:gridCol>
                <a:gridCol w="518002">
                  <a:extLst>
                    <a:ext uri="{9D8B030D-6E8A-4147-A177-3AD203B41FA5}">
                      <a16:colId xmlns:a16="http://schemas.microsoft.com/office/drawing/2014/main" val="3292794991"/>
                    </a:ext>
                  </a:extLst>
                </a:gridCol>
                <a:gridCol w="392844">
                  <a:extLst>
                    <a:ext uri="{9D8B030D-6E8A-4147-A177-3AD203B41FA5}">
                      <a16:colId xmlns:a16="http://schemas.microsoft.com/office/drawing/2014/main" val="1828931321"/>
                    </a:ext>
                  </a:extLst>
                </a:gridCol>
                <a:gridCol w="1598357">
                  <a:extLst>
                    <a:ext uri="{9D8B030D-6E8A-4147-A177-3AD203B41FA5}">
                      <a16:colId xmlns:a16="http://schemas.microsoft.com/office/drawing/2014/main" val="461435787"/>
                    </a:ext>
                  </a:extLst>
                </a:gridCol>
                <a:gridCol w="394552">
                  <a:extLst>
                    <a:ext uri="{9D8B030D-6E8A-4147-A177-3AD203B41FA5}">
                      <a16:colId xmlns:a16="http://schemas.microsoft.com/office/drawing/2014/main" val="2502540127"/>
                    </a:ext>
                  </a:extLst>
                </a:gridCol>
                <a:gridCol w="591143">
                  <a:extLst>
                    <a:ext uri="{9D8B030D-6E8A-4147-A177-3AD203B41FA5}">
                      <a16:colId xmlns:a16="http://schemas.microsoft.com/office/drawing/2014/main" val="14400629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pc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700" b="0" spc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회신일자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소관부서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제목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79101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2018-02-12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KB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KB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 감사보고서 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u="sng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50771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2018-02-12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신한은행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신한은행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경영개선 보고서 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u="sng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98720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3076989"/>
                  </a:ext>
                </a:extLst>
              </a:tr>
            </a:tbl>
          </a:graphicData>
        </a:graphic>
      </p:graphicFrame>
      <p:sp>
        <p:nvSpPr>
          <p:cNvPr id="5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83058" y="2453176"/>
            <a:ext cx="3012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56" name="그림 55"/>
          <p:cNvPicPr>
            <a:picLocks noChangeAspect="1"/>
          </p:cNvPicPr>
          <p:nvPr/>
        </p:nvPicPr>
        <p:blipFill rotWithShape="1">
          <a:blip r:embed="rId3"/>
          <a:srcRect r="-28" b="76117"/>
          <a:stretch/>
        </p:blipFill>
        <p:spPr>
          <a:xfrm>
            <a:off x="191221" y="968210"/>
            <a:ext cx="6758092" cy="555402"/>
          </a:xfrm>
          <a:prstGeom prst="rect">
            <a:avLst/>
          </a:prstGeom>
        </p:spPr>
      </p:pic>
      <p:sp>
        <p:nvSpPr>
          <p:cNvPr id="58" name="직사각형 5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221328" y="1859940"/>
            <a:ext cx="68731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</a:t>
            </a:r>
            <a:endParaRPr kumimoji="0" lang="ko-KR" altLang="en-US" sz="7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593600" y="1851029"/>
            <a:ext cx="68731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삼정회계법인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64" name="그림 63"/>
          <p:cNvPicPr>
            <a:picLocks noChangeAspect="1"/>
          </p:cNvPicPr>
          <p:nvPr/>
        </p:nvPicPr>
        <p:blipFill rotWithShape="1">
          <a:blip r:embed="rId3"/>
          <a:srcRect l="34" t="16526" r="82147" b="-177"/>
          <a:stretch/>
        </p:blipFill>
        <p:spPr>
          <a:xfrm>
            <a:off x="214239" y="1783942"/>
            <a:ext cx="1080120" cy="1872208"/>
          </a:xfrm>
          <a:prstGeom prst="rect">
            <a:avLst/>
          </a:prstGeom>
        </p:spPr>
      </p:pic>
      <p:sp>
        <p:nvSpPr>
          <p:cNvPr id="66" name="타원 6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307841" y="2920931"/>
            <a:ext cx="115130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96532" y="2453176"/>
            <a:ext cx="3012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883859" y="2095719"/>
            <a:ext cx="34502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미수금</a:t>
            </a:r>
            <a:endParaRPr kumimoji="0" lang="ko-KR" altLang="en-US" sz="9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41" name="그림 40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8057" y="2952727"/>
            <a:ext cx="167353" cy="180975"/>
          </a:xfrm>
          <a:prstGeom prst="rect">
            <a:avLst/>
          </a:prstGeom>
        </p:spPr>
      </p:pic>
      <p:pic>
        <p:nvPicPr>
          <p:cNvPr id="47" name="그림 4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4996" y="3148312"/>
            <a:ext cx="167353" cy="180975"/>
          </a:xfrm>
          <a:prstGeom prst="rect">
            <a:avLst/>
          </a:prstGeom>
        </p:spPr>
      </p:pic>
      <p:sp>
        <p:nvSpPr>
          <p:cNvPr id="4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83058" y="2453176"/>
            <a:ext cx="3012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11805" y="2478115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5" name="직사각형 54"/>
          <p:cNvSpPr/>
          <p:nvPr/>
        </p:nvSpPr>
        <p:spPr bwMode="auto">
          <a:xfrm>
            <a:off x="1812198" y="2147112"/>
            <a:ext cx="5137237" cy="4170567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995519" y="6047477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382045" y="6047477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닫기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60" name="표 59"/>
          <p:cNvGraphicFramePr>
            <a:graphicFrameLocks noGrp="1"/>
          </p:cNvGraphicFramePr>
          <p:nvPr>
            <p:extLst/>
          </p:nvPr>
        </p:nvGraphicFramePr>
        <p:xfrm>
          <a:off x="1843893" y="2209840"/>
          <a:ext cx="4983578" cy="378673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65630">
                  <a:extLst>
                    <a:ext uri="{9D8B030D-6E8A-4147-A177-3AD203B41FA5}">
                      <a16:colId xmlns:a16="http://schemas.microsoft.com/office/drawing/2014/main" val="1630994582"/>
                    </a:ext>
                  </a:extLst>
                </a:gridCol>
                <a:gridCol w="1264208">
                  <a:extLst>
                    <a:ext uri="{9D8B030D-6E8A-4147-A177-3AD203B41FA5}">
                      <a16:colId xmlns:a16="http://schemas.microsoft.com/office/drawing/2014/main" val="2045752900"/>
                    </a:ext>
                  </a:extLst>
                </a:gridCol>
                <a:gridCol w="407324">
                  <a:extLst>
                    <a:ext uri="{9D8B030D-6E8A-4147-A177-3AD203B41FA5}">
                      <a16:colId xmlns:a16="http://schemas.microsoft.com/office/drawing/2014/main" val="2662453202"/>
                    </a:ext>
                  </a:extLst>
                </a:gridCol>
                <a:gridCol w="997527">
                  <a:extLst>
                    <a:ext uri="{9D8B030D-6E8A-4147-A177-3AD203B41FA5}">
                      <a16:colId xmlns:a16="http://schemas.microsoft.com/office/drawing/2014/main" val="3707926986"/>
                    </a:ext>
                  </a:extLst>
                </a:gridCol>
                <a:gridCol w="390698">
                  <a:extLst>
                    <a:ext uri="{9D8B030D-6E8A-4147-A177-3AD203B41FA5}">
                      <a16:colId xmlns:a16="http://schemas.microsoft.com/office/drawing/2014/main" val="3021174166"/>
                    </a:ext>
                  </a:extLst>
                </a:gridCol>
                <a:gridCol w="1158191">
                  <a:extLst>
                    <a:ext uri="{9D8B030D-6E8A-4147-A177-3AD203B41FA5}">
                      <a16:colId xmlns:a16="http://schemas.microsoft.com/office/drawing/2014/main" val="625923936"/>
                    </a:ext>
                  </a:extLst>
                </a:gridCol>
              </a:tblGrid>
              <a:tr h="2417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제목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8451336"/>
                  </a:ext>
                </a:extLst>
              </a:tr>
              <a:tr h="22168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소관부서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16464564"/>
                  </a:ext>
                </a:extLst>
              </a:tr>
              <a:tr h="2293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작성자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작성일자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</a:t>
                      </a: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</a:t>
                      </a:r>
                      <a:r>
                        <a:rPr kumimoji="0" lang="ko-KR" altLang="en-US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회신일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1806225"/>
                  </a:ext>
                </a:extLst>
              </a:tr>
              <a:tr h="103576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질의요지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35103145"/>
                  </a:ext>
                </a:extLst>
              </a:tr>
              <a:tr h="11390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회답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54201637"/>
                  </a:ext>
                </a:extLst>
              </a:tr>
              <a:tr h="84727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이유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1425522"/>
                  </a:ext>
                </a:extLst>
              </a:tr>
            </a:tbl>
          </a:graphicData>
        </a:graphic>
      </p:graphicFrame>
      <p:sp>
        <p:nvSpPr>
          <p:cNvPr id="61" name="직사각형 6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66872" y="4035546"/>
            <a:ext cx="4076501" cy="106398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내부통제규정 개정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안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에 대한 사전협의 부탁드립니다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.</a:t>
            </a: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근거 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상임감사위원직무규정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-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별표</a:t>
            </a:r>
            <a:r>
              <a:rPr kumimoji="0" lang="en-US" altLang="ko-KR" sz="70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2-1.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정관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규정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지침 및 업무매뉴얼의 개정</a:t>
            </a:r>
            <a:endParaRPr kumimoji="0" lang="en-US" altLang="ko-KR" sz="70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b="0" i="0" u="none" strike="noStrike" kern="1200" cap="none" spc="0" normalizeH="0" baseline="0" noProof="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개정예정일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2024-05-02(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목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관련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현황 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2024-04-18</a:t>
            </a:r>
            <a:r>
              <a:rPr kumimoji="0" lang="en-US" altLang="ko-KR" sz="700" b="0" i="0" u="none" strike="noStrike" kern="1200" cap="none" spc="0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ko-KR" altLang="en-US" sz="700" b="0" i="0" u="none" strike="noStrike" kern="1200" cap="none" spc="0" normalizeH="0" noProof="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법무팀</a:t>
            </a:r>
            <a:r>
              <a:rPr kumimoji="0" lang="ko-KR" altLang="en-US" sz="700" b="0" i="0" u="none" strike="noStrike" kern="1200" cap="none" spc="0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사전협의 완료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66872" y="5238924"/>
            <a:ext cx="4059236" cy="685729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rPr>
              <a:t>업로드 파일</a:t>
            </a:r>
            <a:r>
              <a:rPr kumimoji="0" lang="en-US" altLang="ko-KR" sz="800" b="0" i="0" u="none" strike="noStrike" kern="1200" cap="none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rPr>
              <a:t>.</a:t>
            </a:r>
            <a:r>
              <a:rPr kumimoji="0" lang="en-US" altLang="ko-KR" sz="8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+mj-ea"/>
                <a:ea typeface="+mj-ea"/>
              </a:rPr>
              <a:t>docx</a:t>
            </a:r>
            <a:endParaRPr kumimoji="0" lang="ko-KR" altLang="en-US" sz="800" b="0" i="0" u="none" strike="noStrike" kern="1200" cap="none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66872" y="2962421"/>
            <a:ext cx="4075173" cy="933731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 감사보고서 </a:t>
            </a:r>
            <a:endParaRPr kumimoji="0" lang="en-US" altLang="ko-KR" sz="80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2024-12-17</a:t>
            </a:r>
            <a:endParaRPr kumimoji="0" lang="ko-KR" altLang="en-US" sz="8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66872" y="2252132"/>
            <a:ext cx="4100801" cy="16801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 감사보고서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66872" y="2487357"/>
            <a:ext cx="1708344" cy="16823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금융사기대응단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70" name="그룹 69"/>
          <p:cNvGrpSpPr/>
          <p:nvPr/>
        </p:nvGrpSpPr>
        <p:grpSpPr>
          <a:xfrm>
            <a:off x="4304013" y="2722802"/>
            <a:ext cx="826516" cy="147471"/>
            <a:chOff x="1421952" y="2291860"/>
            <a:chExt cx="1343121" cy="180915"/>
          </a:xfrm>
          <a:solidFill>
            <a:schemeClr val="bg2">
              <a:lumMod val="90000"/>
            </a:schemeClr>
          </a:solidFill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21952" y="2291860"/>
              <a:ext cx="1343121" cy="180915"/>
            </a:xfrm>
            <a:prstGeom prst="rect">
              <a:avLst/>
            </a:prstGeom>
            <a:grpFill/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2024-04-22</a:t>
              </a:r>
              <a:endParaRPr kumimoji="0" lang="ko-KR" altLang="en-US" sz="7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72" name="그림 71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2576542" y="2310827"/>
              <a:ext cx="164635" cy="157476"/>
            </a:xfrm>
            <a:prstGeom prst="rect">
              <a:avLst/>
            </a:prstGeom>
            <a:grpFill/>
          </p:spPr>
        </p:pic>
      </p:grpSp>
      <p:pic>
        <p:nvPicPr>
          <p:cNvPr id="79" name="그림 78" descr="화면 캡처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099" t="-6769" r="22984" b="3888"/>
          <a:stretch/>
        </p:blipFill>
        <p:spPr>
          <a:xfrm>
            <a:off x="2666872" y="2665881"/>
            <a:ext cx="1058052" cy="228091"/>
          </a:xfrm>
          <a:prstGeom prst="rect">
            <a:avLst/>
          </a:prstGeom>
        </p:spPr>
      </p:pic>
      <p:sp>
        <p:nvSpPr>
          <p:cNvPr id="80" name="타원 7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857913" y="606718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1" name="타원 8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407302" y="387599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2" name="타원 8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862093" y="224145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83" name="그룹 82"/>
          <p:cNvGrpSpPr/>
          <p:nvPr/>
        </p:nvGrpSpPr>
        <p:grpSpPr>
          <a:xfrm>
            <a:off x="5697615" y="2721196"/>
            <a:ext cx="826516" cy="147471"/>
            <a:chOff x="1421952" y="2291860"/>
            <a:chExt cx="1343121" cy="180915"/>
          </a:xfrm>
          <a:solidFill>
            <a:schemeClr val="bg2">
              <a:lumMod val="90000"/>
            </a:schemeClr>
          </a:solidFill>
        </p:grpSpPr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21952" y="2291860"/>
              <a:ext cx="1343121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2024-04-22</a:t>
              </a:r>
              <a:endParaRPr kumimoji="0" lang="ko-KR" altLang="en-US" sz="7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85" name="그림 84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2576542" y="2310827"/>
              <a:ext cx="164635" cy="157476"/>
            </a:xfrm>
            <a:prstGeom prst="rect">
              <a:avLst/>
            </a:prstGeom>
            <a:grpFill/>
          </p:spPr>
        </p:pic>
      </p:grpSp>
      <p:sp>
        <p:nvSpPr>
          <p:cNvPr id="86" name="타원 8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266671" y="332035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2" name="직사각형 51"/>
          <p:cNvSpPr/>
          <p:nvPr/>
        </p:nvSpPr>
        <p:spPr bwMode="auto">
          <a:xfrm flipV="1">
            <a:off x="232237" y="3316615"/>
            <a:ext cx="1062122" cy="158765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715265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33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MDD-00130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MDD75GA8001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1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법령해석</a:t>
                      </a:r>
                      <a:r>
                        <a:rPr lang="en-US" altLang="ko-KR" sz="11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·</a:t>
                      </a:r>
                      <a:r>
                        <a:rPr lang="ko-KR" altLang="en-US" sz="1100" b="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비조치의견서 </a:t>
                      </a:r>
                      <a:r>
                        <a:rPr lang="ko-KR" altLang="en-US" sz="1100" b="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회신사례</a:t>
                      </a:r>
                      <a:r>
                        <a:rPr lang="en-US" altLang="ko-KR" sz="110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(7-3/3)</a:t>
                      </a:r>
                      <a:endParaRPr lang="ko-KR" altLang="en-US" sz="11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대외기획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P.A.I(Platform of Audit Info) 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RPA </a:t>
                      </a:r>
                      <a:r>
                        <a:rPr lang="ko-KR" altLang="en-US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수집정보 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en-US" altLang="ko-KR" sz="105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(P172: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박영민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05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298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상세보기 페이지 </a:t>
                      </a:r>
                      <a:r>
                        <a:rPr lang="en-US" altLang="ko-KR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( </a:t>
                      </a:r>
                      <a:r>
                        <a:rPr lang="ko-KR" altLang="en-US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키워드 검색에서 상세보기 </a:t>
                      </a:r>
                      <a:r>
                        <a:rPr lang="ko-KR" altLang="en-US" sz="800" b="0" kern="120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클릭시</a:t>
                      </a:r>
                      <a:r>
                        <a:rPr lang="ko-KR" altLang="en-US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호출 팝업 </a:t>
                      </a:r>
                      <a:r>
                        <a:rPr lang="en-US" altLang="ko-KR" sz="800" b="0" kern="120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)</a:t>
                      </a:r>
                      <a:endParaRPr lang="ko-KR" altLang="en-US" sz="800" b="0" kern="1200" dirty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rgbClr val="FF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228600" marR="0" lvl="0" indent="-22860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★ 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개발 </a:t>
                      </a:r>
                      <a:r>
                        <a:rPr kumimoji="0" lang="ko-KR" altLang="en-US" sz="800" b="0" kern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완료후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RPA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팀에서 </a:t>
                      </a:r>
                      <a:r>
                        <a:rPr kumimoji="0" lang="ko-KR" altLang="en-US" sz="800" b="0" kern="0" dirty="0" err="1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대응요청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(1</a:t>
                      </a:r>
                      <a:r>
                        <a:rPr kumimoji="0" lang="ko-KR" altLang="en-US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월중</a:t>
                      </a:r>
                      <a:r>
                        <a:rPr kumimoji="0" lang="en-US" altLang="ko-KR" sz="800" b="0" kern="0" dirty="0" smtClean="0">
                          <a:solidFill>
                            <a:srgbClr val="FF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</a:tbl>
          </a:graphicData>
        </a:graphic>
      </p:graphicFrame>
      <p:grpSp>
        <p:nvGrpSpPr>
          <p:cNvPr id="34" name="그룹 33"/>
          <p:cNvGrpSpPr/>
          <p:nvPr/>
        </p:nvGrpSpPr>
        <p:grpSpPr>
          <a:xfrm>
            <a:off x="216414" y="1070813"/>
            <a:ext cx="6732899" cy="337771"/>
            <a:chOff x="355877" y="2160935"/>
            <a:chExt cx="6061214" cy="417554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061214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44" name="양쪽 모서리가 둥근 사각형 43"/>
          <p:cNvSpPr/>
          <p:nvPr/>
        </p:nvSpPr>
        <p:spPr bwMode="auto">
          <a:xfrm>
            <a:off x="222916" y="1545148"/>
            <a:ext cx="1481193" cy="20316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법령해석</a:t>
            </a:r>
            <a:r>
              <a:rPr kumimoji="0" lang="en-US" altLang="ko-KR" sz="8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·</a:t>
            </a:r>
            <a:r>
              <a:rPr kumimoji="0" lang="ko-KR" altLang="en-US" sz="8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비조치의견서 </a:t>
            </a:r>
            <a:r>
              <a:rPr kumimoji="0" lang="ko-KR" altLang="en-US" sz="800" kern="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회신사례</a:t>
            </a:r>
            <a:endParaRPr kumimoji="0" lang="en-US" altLang="ko-KR" sz="800" kern="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16414" y="1470552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18" y="173088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5" name="직사각형 64"/>
          <p:cNvSpPr/>
          <p:nvPr/>
        </p:nvSpPr>
        <p:spPr bwMode="auto">
          <a:xfrm>
            <a:off x="1301272" y="1797971"/>
            <a:ext cx="5686142" cy="4303966"/>
          </a:xfrm>
          <a:prstGeom prst="rect">
            <a:avLst/>
          </a:prstGeom>
          <a:noFill/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9" name="내용 개체 틀 121"/>
          <p:cNvGraphicFramePr>
            <a:graphicFrameLocks/>
          </p:cNvGraphicFramePr>
          <p:nvPr>
            <p:extLst/>
          </p:nvPr>
        </p:nvGraphicFramePr>
        <p:xfrm>
          <a:off x="1316125" y="1827372"/>
          <a:ext cx="5633186" cy="48058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6451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1674995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53731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909488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  <a:gridCol w="470425">
                  <a:extLst>
                    <a:ext uri="{9D8B030D-6E8A-4147-A177-3AD203B41FA5}">
                      <a16:colId xmlns:a16="http://schemas.microsoft.com/office/drawing/2014/main" val="3598224030"/>
                    </a:ext>
                  </a:extLst>
                </a:gridCol>
                <a:gridCol w="1388096">
                  <a:extLst>
                    <a:ext uri="{9D8B030D-6E8A-4147-A177-3AD203B41FA5}">
                      <a16:colId xmlns:a16="http://schemas.microsoft.com/office/drawing/2014/main" val="1325701918"/>
                    </a:ext>
                  </a:extLst>
                </a:gridCol>
              </a:tblGrid>
              <a:tr h="23847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u="none" strike="noStrike" baseline="0" dirty="0" err="1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회신일자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공시대상회사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제출인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4211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보고서명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9704925"/>
                  </a:ext>
                </a:extLst>
              </a:tr>
            </a:tbl>
          </a:graphicData>
        </a:graphic>
      </p:graphicFrame>
      <p:sp>
        <p:nvSpPr>
          <p:cNvPr id="4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96532" y="2453176"/>
            <a:ext cx="3012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873563" y="1856537"/>
            <a:ext cx="68731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780717" y="1852465"/>
            <a:ext cx="68731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2024-04-30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75" name="그림 7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409362" y="1860377"/>
            <a:ext cx="151519" cy="173224"/>
          </a:xfrm>
          <a:prstGeom prst="rect">
            <a:avLst/>
          </a:prstGeom>
        </p:spPr>
      </p:pic>
      <p:pic>
        <p:nvPicPr>
          <p:cNvPr id="76" name="그림 7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15378" y="1861063"/>
            <a:ext cx="151519" cy="173224"/>
          </a:xfrm>
          <a:prstGeom prst="rect">
            <a:avLst/>
          </a:prstGeom>
        </p:spPr>
      </p:pic>
      <p:cxnSp>
        <p:nvCxnSpPr>
          <p:cNvPr id="77" name="직선 연결선 76"/>
          <p:cNvCxnSpPr/>
          <p:nvPr/>
        </p:nvCxnSpPr>
        <p:spPr bwMode="auto">
          <a:xfrm>
            <a:off x="2628665" y="1950416"/>
            <a:ext cx="76505" cy="2363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883859" y="2095719"/>
            <a:ext cx="34502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미수금</a:t>
            </a:r>
            <a:endParaRPr kumimoji="0" lang="ko-KR" altLang="en-US" sz="9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1" name="표 30"/>
          <p:cNvGraphicFramePr>
            <a:graphicFrameLocks noGrp="1"/>
          </p:cNvGraphicFramePr>
          <p:nvPr>
            <p:extLst/>
          </p:nvPr>
        </p:nvGraphicFramePr>
        <p:xfrm>
          <a:off x="1294361" y="2706494"/>
          <a:ext cx="5664331" cy="792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8308">
                  <a:extLst>
                    <a:ext uri="{9D8B030D-6E8A-4147-A177-3AD203B41FA5}">
                      <a16:colId xmlns:a16="http://schemas.microsoft.com/office/drawing/2014/main" val="2426106912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157696043"/>
                    </a:ext>
                  </a:extLst>
                </a:gridCol>
                <a:gridCol w="748146">
                  <a:extLst>
                    <a:ext uri="{9D8B030D-6E8A-4147-A177-3AD203B41FA5}">
                      <a16:colId xmlns:a16="http://schemas.microsoft.com/office/drawing/2014/main" val="1421297000"/>
                    </a:ext>
                  </a:extLst>
                </a:gridCol>
                <a:gridCol w="371459">
                  <a:extLst>
                    <a:ext uri="{9D8B030D-6E8A-4147-A177-3AD203B41FA5}">
                      <a16:colId xmlns:a16="http://schemas.microsoft.com/office/drawing/2014/main" val="3582745889"/>
                    </a:ext>
                  </a:extLst>
                </a:gridCol>
                <a:gridCol w="518002">
                  <a:extLst>
                    <a:ext uri="{9D8B030D-6E8A-4147-A177-3AD203B41FA5}">
                      <a16:colId xmlns:a16="http://schemas.microsoft.com/office/drawing/2014/main" val="3292794991"/>
                    </a:ext>
                  </a:extLst>
                </a:gridCol>
                <a:gridCol w="392844">
                  <a:extLst>
                    <a:ext uri="{9D8B030D-6E8A-4147-A177-3AD203B41FA5}">
                      <a16:colId xmlns:a16="http://schemas.microsoft.com/office/drawing/2014/main" val="1828931321"/>
                    </a:ext>
                  </a:extLst>
                </a:gridCol>
                <a:gridCol w="1598357">
                  <a:extLst>
                    <a:ext uri="{9D8B030D-6E8A-4147-A177-3AD203B41FA5}">
                      <a16:colId xmlns:a16="http://schemas.microsoft.com/office/drawing/2014/main" val="461435787"/>
                    </a:ext>
                  </a:extLst>
                </a:gridCol>
                <a:gridCol w="394552">
                  <a:extLst>
                    <a:ext uri="{9D8B030D-6E8A-4147-A177-3AD203B41FA5}">
                      <a16:colId xmlns:a16="http://schemas.microsoft.com/office/drawing/2014/main" val="2502540127"/>
                    </a:ext>
                  </a:extLst>
                </a:gridCol>
                <a:gridCol w="591143">
                  <a:extLst>
                    <a:ext uri="{9D8B030D-6E8A-4147-A177-3AD203B41FA5}">
                      <a16:colId xmlns:a16="http://schemas.microsoft.com/office/drawing/2014/main" val="14400629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spc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No.</a:t>
                      </a:r>
                      <a:endParaRPr lang="ko-KR" altLang="en-US" sz="700" b="0" spc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회신일자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소관부서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제목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79101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2018-02-12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KB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KB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금융 감사보고서 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u="sng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50771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2018-02-12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신한은행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신한은행</a:t>
                      </a:r>
                      <a:r>
                        <a:rPr lang="ko-KR" altLang="en-US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경영개선 보고서 </a:t>
                      </a:r>
                      <a:r>
                        <a:rPr lang="en-US" altLang="ko-KR" sz="7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u="sng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98720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3076989"/>
                  </a:ext>
                </a:extLst>
              </a:tr>
            </a:tbl>
          </a:graphicData>
        </a:graphic>
      </p:graphicFrame>
      <p:sp>
        <p:nvSpPr>
          <p:cNvPr id="5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83058" y="2453176"/>
            <a:ext cx="3012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56" name="그림 55"/>
          <p:cNvPicPr>
            <a:picLocks noChangeAspect="1"/>
          </p:cNvPicPr>
          <p:nvPr/>
        </p:nvPicPr>
        <p:blipFill rotWithShape="1">
          <a:blip r:embed="rId3"/>
          <a:srcRect r="-28" b="76117"/>
          <a:stretch/>
        </p:blipFill>
        <p:spPr>
          <a:xfrm>
            <a:off x="191221" y="968210"/>
            <a:ext cx="6758092" cy="555402"/>
          </a:xfrm>
          <a:prstGeom prst="rect">
            <a:avLst/>
          </a:prstGeom>
        </p:spPr>
      </p:pic>
      <p:sp>
        <p:nvSpPr>
          <p:cNvPr id="58" name="직사각형 5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221328" y="1859940"/>
            <a:ext cx="68731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</a:t>
            </a:r>
            <a:endParaRPr kumimoji="0" lang="ko-KR" altLang="en-US" sz="7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593600" y="1851029"/>
            <a:ext cx="687318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삼정회계법인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64" name="그림 63"/>
          <p:cNvPicPr>
            <a:picLocks noChangeAspect="1"/>
          </p:cNvPicPr>
          <p:nvPr/>
        </p:nvPicPr>
        <p:blipFill rotWithShape="1">
          <a:blip r:embed="rId3"/>
          <a:srcRect l="34" t="16526" r="82147" b="-177"/>
          <a:stretch/>
        </p:blipFill>
        <p:spPr>
          <a:xfrm>
            <a:off x="214239" y="1783942"/>
            <a:ext cx="1080120" cy="1872208"/>
          </a:xfrm>
          <a:prstGeom prst="rect">
            <a:avLst/>
          </a:prstGeom>
        </p:spPr>
      </p:pic>
      <p:sp>
        <p:nvSpPr>
          <p:cNvPr id="66" name="타원 6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307841" y="2920931"/>
            <a:ext cx="115130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96532" y="2453176"/>
            <a:ext cx="3012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883859" y="2095719"/>
            <a:ext cx="345024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미수금</a:t>
            </a:r>
            <a:endParaRPr kumimoji="0" lang="ko-KR" altLang="en-US" sz="9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41" name="그림 40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8057" y="2952727"/>
            <a:ext cx="167353" cy="180975"/>
          </a:xfrm>
          <a:prstGeom prst="rect">
            <a:avLst/>
          </a:prstGeom>
        </p:spPr>
      </p:pic>
      <p:pic>
        <p:nvPicPr>
          <p:cNvPr id="47" name="그림 4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4996" y="3148312"/>
            <a:ext cx="167353" cy="180975"/>
          </a:xfrm>
          <a:prstGeom prst="rect">
            <a:avLst/>
          </a:prstGeom>
        </p:spPr>
      </p:pic>
      <p:sp>
        <p:nvSpPr>
          <p:cNvPr id="4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83058" y="2453176"/>
            <a:ext cx="3012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11805" y="2478115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5" name="직사각형 54"/>
          <p:cNvSpPr/>
          <p:nvPr/>
        </p:nvSpPr>
        <p:spPr bwMode="auto">
          <a:xfrm>
            <a:off x="1812198" y="2147112"/>
            <a:ext cx="5137237" cy="4170567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995519" y="6047477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382045" y="6047477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닫기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60" name="표 59"/>
          <p:cNvGraphicFramePr>
            <a:graphicFrameLocks noGrp="1"/>
          </p:cNvGraphicFramePr>
          <p:nvPr>
            <p:extLst/>
          </p:nvPr>
        </p:nvGraphicFramePr>
        <p:xfrm>
          <a:off x="1843893" y="2209840"/>
          <a:ext cx="4983578" cy="378673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65630">
                  <a:extLst>
                    <a:ext uri="{9D8B030D-6E8A-4147-A177-3AD203B41FA5}">
                      <a16:colId xmlns:a16="http://schemas.microsoft.com/office/drawing/2014/main" val="1630994582"/>
                    </a:ext>
                  </a:extLst>
                </a:gridCol>
                <a:gridCol w="1264208">
                  <a:extLst>
                    <a:ext uri="{9D8B030D-6E8A-4147-A177-3AD203B41FA5}">
                      <a16:colId xmlns:a16="http://schemas.microsoft.com/office/drawing/2014/main" val="2045752900"/>
                    </a:ext>
                  </a:extLst>
                </a:gridCol>
                <a:gridCol w="407324">
                  <a:extLst>
                    <a:ext uri="{9D8B030D-6E8A-4147-A177-3AD203B41FA5}">
                      <a16:colId xmlns:a16="http://schemas.microsoft.com/office/drawing/2014/main" val="2662453202"/>
                    </a:ext>
                  </a:extLst>
                </a:gridCol>
                <a:gridCol w="997527">
                  <a:extLst>
                    <a:ext uri="{9D8B030D-6E8A-4147-A177-3AD203B41FA5}">
                      <a16:colId xmlns:a16="http://schemas.microsoft.com/office/drawing/2014/main" val="3707926986"/>
                    </a:ext>
                  </a:extLst>
                </a:gridCol>
                <a:gridCol w="390698">
                  <a:extLst>
                    <a:ext uri="{9D8B030D-6E8A-4147-A177-3AD203B41FA5}">
                      <a16:colId xmlns:a16="http://schemas.microsoft.com/office/drawing/2014/main" val="3021174166"/>
                    </a:ext>
                  </a:extLst>
                </a:gridCol>
                <a:gridCol w="1158191">
                  <a:extLst>
                    <a:ext uri="{9D8B030D-6E8A-4147-A177-3AD203B41FA5}">
                      <a16:colId xmlns:a16="http://schemas.microsoft.com/office/drawing/2014/main" val="625923936"/>
                    </a:ext>
                  </a:extLst>
                </a:gridCol>
              </a:tblGrid>
              <a:tr h="2417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제목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8451336"/>
                  </a:ext>
                </a:extLst>
              </a:tr>
              <a:tr h="22168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소관부서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dirty="0"/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16464564"/>
                  </a:ext>
                </a:extLst>
              </a:tr>
              <a:tr h="2293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작성자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작성일자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</a:t>
                      </a: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</a:t>
                      </a:r>
                      <a:r>
                        <a:rPr kumimoji="0" lang="ko-KR" altLang="en-US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회신일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1806225"/>
                  </a:ext>
                </a:extLst>
              </a:tr>
              <a:tr h="103576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질의요지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35103145"/>
                  </a:ext>
                </a:extLst>
              </a:tr>
              <a:tr h="11390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회답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54201637"/>
                  </a:ext>
                </a:extLst>
              </a:tr>
              <a:tr h="84727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이유</a:t>
                      </a:r>
                      <a:endParaRPr lang="en-US" altLang="ko-KR" sz="7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1425522"/>
                  </a:ext>
                </a:extLst>
              </a:tr>
            </a:tbl>
          </a:graphicData>
        </a:graphic>
      </p:graphicFrame>
      <p:sp>
        <p:nvSpPr>
          <p:cNvPr id="61" name="직사각형 6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66872" y="4035546"/>
            <a:ext cx="4076501" cy="1063984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내부통제규정 개정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안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에 대한 사전협의 부탁드립니다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.</a:t>
            </a: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근거 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상임감사위원직무규정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-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별표</a:t>
            </a:r>
            <a:r>
              <a:rPr kumimoji="0" lang="en-US" altLang="ko-KR" sz="70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2-1.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정관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규정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지침 및 업무매뉴얼의 개정</a:t>
            </a:r>
            <a:endParaRPr kumimoji="0" lang="en-US" altLang="ko-KR" sz="70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b="0" i="0" u="none" strike="noStrike" kern="1200" cap="none" spc="0" normalizeH="0" baseline="0" noProof="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개정예정일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2024-05-02(</a:t>
            </a: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목</a:t>
            </a:r>
            <a:r>
              <a:rPr kumimoji="0" lang="en-US" altLang="ko-KR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관련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현황 </a:t>
            </a: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: 2024-04-18</a:t>
            </a:r>
            <a:r>
              <a:rPr kumimoji="0" lang="en-US" altLang="ko-KR" sz="700" b="0" i="0" u="none" strike="noStrike" kern="1200" cap="none" spc="0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ko-KR" altLang="en-US" sz="700" b="0" i="0" u="none" strike="noStrike" kern="1200" cap="none" spc="0" normalizeH="0" noProof="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법무팀</a:t>
            </a:r>
            <a:r>
              <a:rPr kumimoji="0" lang="ko-KR" altLang="en-US" sz="700" b="0" i="0" u="none" strike="noStrike" kern="1200" cap="none" spc="0" normalizeH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사전협의 완료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66872" y="5238924"/>
            <a:ext cx="4059236" cy="685729"/>
          </a:xfrm>
          <a:prstGeom prst="rect">
            <a:avLst/>
          </a:prstGeom>
          <a:solidFill>
            <a:schemeClr val="bg2">
              <a:lumMod val="9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rPr>
              <a:t>업로드 파일</a:t>
            </a:r>
            <a:r>
              <a:rPr kumimoji="0" lang="en-US" altLang="ko-KR" sz="800" b="0" i="0" u="none" strike="noStrike" kern="1200" cap="none" normalizeH="0" baseline="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+mj-ea"/>
                <a:ea typeface="+mj-ea"/>
              </a:rPr>
              <a:t>.</a:t>
            </a:r>
            <a:r>
              <a:rPr kumimoji="0" lang="en-US" altLang="ko-KR" sz="8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+mj-ea"/>
                <a:ea typeface="+mj-ea"/>
              </a:rPr>
              <a:t>docx</a:t>
            </a:r>
            <a:endParaRPr kumimoji="0" lang="ko-KR" altLang="en-US" sz="800" b="0" i="0" u="none" strike="noStrike" kern="1200" cap="none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+mj-ea"/>
              <a:ea typeface="+mj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66872" y="2962421"/>
            <a:ext cx="4075173" cy="933731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 감사보고서 </a:t>
            </a:r>
            <a:endParaRPr kumimoji="0" lang="en-US" altLang="ko-KR" sz="800" dirty="0" smtClean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0" marR="0" lvl="0" indent="0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2024-12-17</a:t>
            </a:r>
            <a:endParaRPr kumimoji="0" lang="ko-KR" altLang="en-US" sz="8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66872" y="2252132"/>
            <a:ext cx="4100801" cy="168014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t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</a:t>
            </a: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 감사보고서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666872" y="2487357"/>
            <a:ext cx="1708344" cy="168234"/>
          </a:xfrm>
          <a:prstGeom prst="rect">
            <a:avLst/>
          </a:prstGeom>
          <a:solidFill>
            <a:schemeClr val="bg2">
              <a:lumMod val="9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금융사기대응단</a:t>
            </a:r>
            <a:endParaRPr kumimoji="0" lang="ko-KR" altLang="en-US" sz="7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70" name="그룹 69"/>
          <p:cNvGrpSpPr/>
          <p:nvPr/>
        </p:nvGrpSpPr>
        <p:grpSpPr>
          <a:xfrm>
            <a:off x="4304013" y="2722802"/>
            <a:ext cx="826516" cy="147471"/>
            <a:chOff x="1421952" y="2291860"/>
            <a:chExt cx="1343121" cy="180915"/>
          </a:xfrm>
          <a:solidFill>
            <a:schemeClr val="bg2">
              <a:lumMod val="90000"/>
            </a:schemeClr>
          </a:solidFill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21952" y="2291860"/>
              <a:ext cx="1343121" cy="180915"/>
            </a:xfrm>
            <a:prstGeom prst="rect">
              <a:avLst/>
            </a:prstGeom>
            <a:grpFill/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2024-04-22</a:t>
              </a:r>
              <a:endParaRPr kumimoji="0" lang="ko-KR" altLang="en-US" sz="7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72" name="그림 71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2576542" y="2310827"/>
              <a:ext cx="164635" cy="157476"/>
            </a:xfrm>
            <a:prstGeom prst="rect">
              <a:avLst/>
            </a:prstGeom>
            <a:grpFill/>
          </p:spPr>
        </p:pic>
      </p:grpSp>
      <p:pic>
        <p:nvPicPr>
          <p:cNvPr id="79" name="그림 78" descr="화면 캡처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099" t="-6769" r="22984" b="3888"/>
          <a:stretch/>
        </p:blipFill>
        <p:spPr>
          <a:xfrm>
            <a:off x="2666872" y="2665881"/>
            <a:ext cx="1058052" cy="228091"/>
          </a:xfrm>
          <a:prstGeom prst="rect">
            <a:avLst/>
          </a:prstGeom>
        </p:spPr>
      </p:pic>
      <p:sp>
        <p:nvSpPr>
          <p:cNvPr id="80" name="타원 7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857913" y="606718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2" name="타원 8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862093" y="224145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83" name="그룹 82"/>
          <p:cNvGrpSpPr/>
          <p:nvPr/>
        </p:nvGrpSpPr>
        <p:grpSpPr>
          <a:xfrm>
            <a:off x="5697615" y="2721196"/>
            <a:ext cx="826516" cy="147471"/>
            <a:chOff x="1421952" y="2291860"/>
            <a:chExt cx="1343121" cy="180915"/>
          </a:xfrm>
          <a:solidFill>
            <a:schemeClr val="bg2">
              <a:lumMod val="90000"/>
            </a:schemeClr>
          </a:solidFill>
        </p:grpSpPr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421952" y="2291860"/>
              <a:ext cx="1343121" cy="180915"/>
            </a:xfrm>
            <a:prstGeom prst="rect">
              <a:avLst/>
            </a:prstGeom>
            <a:solidFill>
              <a:schemeClr val="bg2">
                <a:lumMod val="90000"/>
              </a:schemeClr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2024-04-22</a:t>
              </a:r>
              <a:endParaRPr kumimoji="0" lang="ko-KR" altLang="en-US" sz="7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pic>
          <p:nvPicPr>
            <p:cNvPr id="85" name="그림 84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2576542" y="2310827"/>
              <a:ext cx="164635" cy="157476"/>
            </a:xfrm>
            <a:prstGeom prst="rect">
              <a:avLst/>
            </a:prstGeom>
            <a:grpFill/>
          </p:spPr>
        </p:pic>
      </p:grpSp>
      <p:sp>
        <p:nvSpPr>
          <p:cNvPr id="86" name="타원 8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266671" y="332035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2" name="직사각형 51"/>
          <p:cNvSpPr/>
          <p:nvPr/>
        </p:nvSpPr>
        <p:spPr bwMode="auto">
          <a:xfrm flipV="1">
            <a:off x="232237" y="3316615"/>
            <a:ext cx="1062122" cy="158765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289133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187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IQMS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등록 정보를 연계하여 마트를 구성한 후 관련 내용을 화면에서 조회할 수 있다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검색항목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데이터 및 그리드 표시 항목 등 협의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필요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현재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GRID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 엑셀 다운로드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0" cap="none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0985449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MDD-00123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MDD72S30000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en-US" altLang="ko-KR" sz="1200" b="1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IQMS </a:t>
                      </a:r>
                      <a:r>
                        <a:rPr kumimoji="0" lang="ko-KR" altLang="en-US" sz="1200" b="1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등록정보 조회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1050" b="1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감사지원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감사마트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업무별 </a:t>
                      </a:r>
                      <a:r>
                        <a:rPr kumimoji="0" lang="ko-KR" altLang="en-US" sz="1050" b="1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세부조회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en-US" altLang="ko-KR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IQMS</a:t>
                      </a:r>
                      <a:r>
                        <a:rPr kumimoji="0" lang="en-US" altLang="ko-KR" sz="1050" b="1" kern="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ko-KR" altLang="en-US" sz="1050" b="1" kern="0" baseline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등록정보 조회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(P164: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강지웅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10" name="양쪽 모서리가 둥근 사각형 9"/>
          <p:cNvSpPr/>
          <p:nvPr/>
        </p:nvSpPr>
        <p:spPr bwMode="auto">
          <a:xfrm>
            <a:off x="264495" y="1070623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en-US" altLang="ko-KR" sz="800" ker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IQMS </a:t>
            </a:r>
            <a:r>
              <a:rPr kumimoji="0" lang="ko-KR" altLang="en-US" sz="800" ker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등록정보 조회</a:t>
            </a:r>
            <a:endParaRPr kumimoji="0" lang="ko-KR" altLang="en-US" sz="80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57992" y="996027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2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64496" y="1256358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04032" y="996025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4" name="내용 개체 틀 121"/>
          <p:cNvGraphicFramePr>
            <a:graphicFrameLocks/>
          </p:cNvGraphicFramePr>
          <p:nvPr>
            <p:extLst/>
          </p:nvPr>
        </p:nvGraphicFramePr>
        <p:xfrm>
          <a:off x="257990" y="1352847"/>
          <a:ext cx="6732903" cy="81641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1177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2125504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34206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1411288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  <a:gridCol w="590550">
                  <a:extLst>
                    <a:ext uri="{9D8B030D-6E8A-4147-A177-3AD203B41FA5}">
                      <a16:colId xmlns:a16="http://schemas.microsoft.com/office/drawing/2014/main" val="3623872666"/>
                    </a:ext>
                  </a:extLst>
                </a:gridCol>
                <a:gridCol w="1330178">
                  <a:extLst>
                    <a:ext uri="{9D8B030D-6E8A-4147-A177-3AD203B41FA5}">
                      <a16:colId xmlns:a16="http://schemas.microsoft.com/office/drawing/2014/main" val="2377728825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의뢰부서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상태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개발부서</a:t>
                      </a: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팀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631839"/>
                  </a:ext>
                </a:extLst>
              </a:tr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패키지번호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프로젝트명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19329184"/>
                  </a:ext>
                </a:extLst>
              </a:tr>
            </a:tbl>
          </a:graphicData>
        </a:graphic>
      </p:graphicFrame>
      <p:sp>
        <p:nvSpPr>
          <p:cNvPr id="1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96963" y="1955410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958001" y="1398638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032813" y="1395228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2024-04-30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19" name="그림 1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98401" y="1402478"/>
            <a:ext cx="181098" cy="173224"/>
          </a:xfrm>
          <a:prstGeom prst="rect">
            <a:avLst/>
          </a:prstGeom>
        </p:spPr>
      </p:pic>
      <p:pic>
        <p:nvPicPr>
          <p:cNvPr id="20" name="그림 1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672075" y="1399063"/>
            <a:ext cx="181098" cy="173224"/>
          </a:xfrm>
          <a:prstGeom prst="rect">
            <a:avLst/>
          </a:prstGeom>
        </p:spPr>
      </p:pic>
      <p:cxnSp>
        <p:nvCxnSpPr>
          <p:cNvPr id="21" name="직선 연결선 20"/>
          <p:cNvCxnSpPr/>
          <p:nvPr/>
        </p:nvCxnSpPr>
        <p:spPr bwMode="auto">
          <a:xfrm>
            <a:off x="1836648" y="1489090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958001" y="1954952"/>
            <a:ext cx="1895172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7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P20240215001</a:t>
            </a:r>
            <a:endParaRPr kumimoji="0" lang="ko-KR" altLang="en-US" sz="8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734865" y="1394491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47253" y="1394525"/>
            <a:ext cx="795419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25" name="그림 24"/>
          <p:cNvPicPr>
            <a:picLocks noChangeAspect="1"/>
          </p:cNvPicPr>
          <p:nvPr/>
        </p:nvPicPr>
        <p:blipFill rotWithShape="1">
          <a:blip r:embed="rId3"/>
          <a:srcRect r="73540"/>
          <a:stretch/>
        </p:blipFill>
        <p:spPr>
          <a:xfrm>
            <a:off x="4159954" y="1404697"/>
            <a:ext cx="183595" cy="164228"/>
          </a:xfrm>
          <a:prstGeom prst="rect">
            <a:avLst/>
          </a:prstGeom>
        </p:spPr>
      </p:pic>
      <p:sp>
        <p:nvSpPr>
          <p:cNvPr id="26" name="직사각형 2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734865" y="1944156"/>
            <a:ext cx="1895172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7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</a:t>
            </a:r>
            <a:r>
              <a:rPr kumimoji="0" lang="ko-KR" altLang="en-US" sz="8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7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년 </a:t>
            </a:r>
            <a:r>
              <a:rPr kumimoji="0" lang="en-US" altLang="ko-KR" sz="8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7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r>
              <a:rPr kumimoji="0" lang="ko-KR" altLang="en-US" sz="8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7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월 연금저축신탁 납입원금</a:t>
            </a:r>
            <a:r>
              <a:rPr kumimoji="0" lang="en-US" altLang="ko-KR" sz="8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7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/…</a:t>
            </a:r>
            <a:endParaRPr kumimoji="0" lang="ko-KR" altLang="en-US" sz="8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734865" y="1671319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47253" y="1671353"/>
            <a:ext cx="795419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33" name="그림 32"/>
          <p:cNvPicPr>
            <a:picLocks noChangeAspect="1"/>
          </p:cNvPicPr>
          <p:nvPr/>
        </p:nvPicPr>
        <p:blipFill rotWithShape="1">
          <a:blip r:embed="rId3"/>
          <a:srcRect r="73540"/>
          <a:stretch/>
        </p:blipFill>
        <p:spPr>
          <a:xfrm>
            <a:off x="4159954" y="1681525"/>
            <a:ext cx="183595" cy="164228"/>
          </a:xfrm>
          <a:prstGeom prst="rect">
            <a:avLst/>
          </a:prstGeom>
        </p:spPr>
      </p:pic>
      <p:grpSp>
        <p:nvGrpSpPr>
          <p:cNvPr id="34" name="그룹 33"/>
          <p:cNvGrpSpPr/>
          <p:nvPr/>
        </p:nvGrpSpPr>
        <p:grpSpPr>
          <a:xfrm>
            <a:off x="953062" y="1661819"/>
            <a:ext cx="1165909" cy="180915"/>
            <a:chOff x="1179239" y="2959078"/>
            <a:chExt cx="579711" cy="180915"/>
          </a:xfrm>
        </p:grpSpPr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179239" y="2959078"/>
              <a:ext cx="579711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전체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36" name="이등변 삼각형 35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1695664" y="3030703"/>
              <a:ext cx="34850" cy="4571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graphicFrame>
        <p:nvGraphicFramePr>
          <p:cNvPr id="40" name="표 39"/>
          <p:cNvGraphicFramePr>
            <a:graphicFrameLocks noGrp="1"/>
          </p:cNvGraphicFramePr>
          <p:nvPr>
            <p:extLst/>
          </p:nvPr>
        </p:nvGraphicFramePr>
        <p:xfrm>
          <a:off x="257990" y="2340643"/>
          <a:ext cx="6732900" cy="8275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73290">
                  <a:extLst>
                    <a:ext uri="{9D8B030D-6E8A-4147-A177-3AD203B41FA5}">
                      <a16:colId xmlns:a16="http://schemas.microsoft.com/office/drawing/2014/main" val="4251379031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2779949203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464008059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802687290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363936033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290762292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187567425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2077388592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2646548561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3099591055"/>
                    </a:ext>
                  </a:extLst>
                </a:gridCol>
              </a:tblGrid>
              <a:tr h="25377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CM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패키지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변경구분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업무코드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변경제목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업무명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팀명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담당자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팀장승인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운영적용일시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변경목록건수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6760147"/>
                  </a:ext>
                </a:extLst>
              </a:tr>
              <a:tr h="25377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MDD220003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MDD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인공지능 상시감사지원시스템 자동화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…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감사정보관리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감사시스템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김감사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2022-05-04 11:00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8247342"/>
                  </a:ext>
                </a:extLst>
              </a:tr>
              <a:tr h="2537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4900742"/>
                  </a:ext>
                </a:extLst>
              </a:tr>
            </a:tbl>
          </a:graphicData>
        </a:graphic>
      </p:graphicFrame>
      <p:graphicFrame>
        <p:nvGraphicFramePr>
          <p:cNvPr id="42" name="표 41"/>
          <p:cNvGraphicFramePr>
            <a:graphicFrameLocks noGrp="1"/>
          </p:cNvGraphicFramePr>
          <p:nvPr>
            <p:extLst/>
          </p:nvPr>
        </p:nvGraphicFramePr>
        <p:xfrm>
          <a:off x="312080" y="2927357"/>
          <a:ext cx="6732900" cy="76131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73290">
                  <a:extLst>
                    <a:ext uri="{9D8B030D-6E8A-4147-A177-3AD203B41FA5}">
                      <a16:colId xmlns:a16="http://schemas.microsoft.com/office/drawing/2014/main" val="4251379031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2779949203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464008059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802687290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363936033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290762292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187567425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2077388592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2646548561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3099591055"/>
                    </a:ext>
                  </a:extLst>
                </a:gridCol>
              </a:tblGrid>
              <a:tr h="2537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변경검토자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관련프로젝트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프로젝트종료일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상태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6760147"/>
                  </a:ext>
                </a:extLst>
              </a:tr>
              <a:tr h="2537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강변경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P20212129007(ML..)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2022-06-30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완료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8247342"/>
                  </a:ext>
                </a:extLst>
              </a:tr>
              <a:tr h="2537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4900742"/>
                  </a:ext>
                </a:extLst>
              </a:tr>
            </a:tbl>
          </a:graphicData>
        </a:graphic>
      </p:graphicFrame>
      <p:sp>
        <p:nvSpPr>
          <p:cNvPr id="44" name="직사각형 43"/>
          <p:cNvSpPr/>
          <p:nvPr/>
        </p:nvSpPr>
        <p:spPr bwMode="auto">
          <a:xfrm>
            <a:off x="217667" y="1288118"/>
            <a:ext cx="6811537" cy="3044184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94472" y="1271847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707806" y="1961239"/>
            <a:ext cx="432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984841" y="2079042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444366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2956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3293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상품개발적정성 점검 데이터를 연계하여 마트를 구성한 후 관련 내용을 화면에서 조회할 수 있다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007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 항목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구체적인 데이터 항목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및 요소 협의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「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진행상태」가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"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완료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"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 경우</a:t>
                      </a:r>
                    </a:p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「프로젝트종료일」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「개발완료예정일」 값으로 표기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예시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프로젝트종료일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2024-12-02 /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개발완료예정일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2024-11-29  →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지연일수는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일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A-3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진행상태」가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"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완료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"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 아닌 경우</a:t>
                      </a:r>
                    </a:p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현재날짜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-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「개발완료예정일」 값으로 표기</a:t>
                      </a:r>
                    </a:p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예시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현재날짜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2024-12-13 /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개발완료예정일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: 2024-11-29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32800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적용매체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정보에 체크된 항목의 값들을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구분자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','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로 하여 표기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34258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커뮤니케이션 탭 명칭의 괄호 안에 조회되는 건수를 표기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참조내용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확인 필요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해당 화면의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Grid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데이터 엑셀 파일로 다운로드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해당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Grid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데이터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4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페이지의 인수 테스트 현황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인수테스트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결과목록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전체를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엑셀파일로 다운로드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0" cap="none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0985449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MDD-00148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MDD72S30100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b="1" dirty="0" smtClean="0">
                          <a:solidFill>
                            <a:srgbClr val="000000"/>
                          </a:solidFill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상품 </a:t>
                      </a:r>
                      <a:r>
                        <a:rPr lang="ko-KR" altLang="en-US" sz="1200" b="1" dirty="0" err="1" smtClean="0">
                          <a:solidFill>
                            <a:srgbClr val="000000"/>
                          </a:solidFill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개발적정성</a:t>
                      </a:r>
                      <a:r>
                        <a:rPr lang="ko-KR" altLang="en-US" sz="1200" b="1" dirty="0" smtClean="0">
                          <a:solidFill>
                            <a:srgbClr val="000000"/>
                          </a:solidFill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 점검</a:t>
                      </a:r>
                      <a:r>
                        <a:rPr lang="en-US" altLang="ko-KR" sz="1200" b="1" dirty="0" smtClean="0">
                          <a:solidFill>
                            <a:srgbClr val="000000"/>
                          </a:solidFill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(</a:t>
                      </a:r>
                      <a:r>
                        <a:rPr kumimoji="0" lang="en-US" altLang="ko-KR" sz="1200" b="1" dirty="0" smtClean="0">
                          <a:solidFill>
                            <a:srgbClr val="000000"/>
                          </a:solidFill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IQMS)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1050" b="1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감사지원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감사마트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업무별 </a:t>
                      </a:r>
                      <a:r>
                        <a:rPr kumimoji="0" lang="ko-KR" altLang="en-US" sz="1050" b="1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세부조회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상품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개발적정성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점검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(IQMS)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강지웅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10" name="양쪽 모서리가 둥근 사각형 9"/>
          <p:cNvSpPr/>
          <p:nvPr/>
        </p:nvSpPr>
        <p:spPr bwMode="auto">
          <a:xfrm>
            <a:off x="264495" y="1070623"/>
            <a:ext cx="14211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en-US" altLang="ko-KR" sz="8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IQMS </a:t>
            </a:r>
            <a:r>
              <a:rPr kumimoji="0" lang="ko-KR" altLang="en-US" sz="800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프로젝트 진행 현황</a:t>
            </a:r>
            <a:endParaRPr kumimoji="0" lang="ko-KR" altLang="en-US" sz="8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57992" y="996027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2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64496" y="1256358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89187" y="1017042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41" name="내용 개체 틀 121"/>
          <p:cNvGraphicFramePr>
            <a:graphicFrameLocks/>
          </p:cNvGraphicFramePr>
          <p:nvPr>
            <p:extLst/>
          </p:nvPr>
        </p:nvGraphicFramePr>
        <p:xfrm>
          <a:off x="264495" y="1258676"/>
          <a:ext cx="6732906" cy="81641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0635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691764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413468">
                  <a:extLst>
                    <a:ext uri="{9D8B030D-6E8A-4147-A177-3AD203B41FA5}">
                      <a16:colId xmlns:a16="http://schemas.microsoft.com/office/drawing/2014/main" val="1148531010"/>
                    </a:ext>
                  </a:extLst>
                </a:gridCol>
                <a:gridCol w="608435">
                  <a:extLst>
                    <a:ext uri="{9D8B030D-6E8A-4147-A177-3AD203B41FA5}">
                      <a16:colId xmlns:a16="http://schemas.microsoft.com/office/drawing/2014/main" val="595631847"/>
                    </a:ext>
                  </a:extLst>
                </a:gridCol>
                <a:gridCol w="496796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2003729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  <a:gridCol w="524786">
                  <a:extLst>
                    <a:ext uri="{9D8B030D-6E8A-4147-A177-3AD203B41FA5}">
                      <a16:colId xmlns:a16="http://schemas.microsoft.com/office/drawing/2014/main" val="3623872666"/>
                    </a:ext>
                  </a:extLst>
                </a:gridCol>
                <a:gridCol w="1463293">
                  <a:extLst>
                    <a:ext uri="{9D8B030D-6E8A-4147-A177-3AD203B41FA5}">
                      <a16:colId xmlns:a16="http://schemas.microsoft.com/office/drawing/2014/main" val="2377728825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진행상태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                              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중단</a:t>
                      </a: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최소 제외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요청구분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자체개선</a:t>
                      </a:r>
                      <a:endParaRPr lang="en-US" altLang="ko-KR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세부분류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관리번호</a:t>
                      </a:r>
                      <a:endParaRPr lang="en-US" altLang="ko-KR" sz="700" b="0" i="0" u="none" strike="noStrike" baseline="0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업무코드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의뢰부서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631839"/>
                  </a:ext>
                </a:extLst>
              </a:tr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개발부서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직원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</a:t>
                      </a:r>
                      <a:r>
                        <a:rPr lang="ko-KR" altLang="en-US" sz="7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키워드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9329184"/>
                  </a:ext>
                </a:extLst>
              </a:tr>
            </a:tbl>
          </a:graphicData>
        </a:graphic>
      </p:graphicFrame>
      <p:grpSp>
        <p:nvGrpSpPr>
          <p:cNvPr id="3" name="그룹 2"/>
          <p:cNvGrpSpPr/>
          <p:nvPr/>
        </p:nvGrpSpPr>
        <p:grpSpPr>
          <a:xfrm>
            <a:off x="829546" y="1297210"/>
            <a:ext cx="702633" cy="189123"/>
            <a:chOff x="1393142" y="1679316"/>
            <a:chExt cx="570830" cy="219340"/>
          </a:xfrm>
        </p:grpSpPr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393142" y="1679316"/>
              <a:ext cx="570830" cy="2193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전체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45" name="이등변 삼각형 44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1818580" y="1758861"/>
              <a:ext cx="74872" cy="45888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829546" y="1568066"/>
            <a:ext cx="615830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942729" y="1568066"/>
            <a:ext cx="53012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054825" y="1288118"/>
            <a:ext cx="943598" cy="1891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5" name="이등변 삼각형 54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3818118" y="1365798"/>
            <a:ext cx="92160" cy="39566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614811" y="1362187"/>
            <a:ext cx="78817" cy="59079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056276" y="1575209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31088" y="1571799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2024-04-30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59" name="그림 5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696676" y="1579049"/>
            <a:ext cx="181098" cy="173224"/>
          </a:xfrm>
          <a:prstGeom prst="rect">
            <a:avLst/>
          </a:prstGeom>
        </p:spPr>
      </p:pic>
      <p:pic>
        <p:nvPicPr>
          <p:cNvPr id="60" name="그림 5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770350" y="1575634"/>
            <a:ext cx="181098" cy="173224"/>
          </a:xfrm>
          <a:prstGeom prst="rect">
            <a:avLst/>
          </a:prstGeom>
        </p:spPr>
      </p:pic>
      <p:cxnSp>
        <p:nvCxnSpPr>
          <p:cNvPr id="61" name="직선 연결선 60"/>
          <p:cNvCxnSpPr/>
          <p:nvPr/>
        </p:nvCxnSpPr>
        <p:spPr bwMode="auto">
          <a:xfrm>
            <a:off x="3934923" y="1665661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582005" y="1297210"/>
            <a:ext cx="943598" cy="1891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3" name="이등변 삼각형 62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6328312" y="1365798"/>
            <a:ext cx="92160" cy="39566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829546" y="1838514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41934" y="1838548"/>
            <a:ext cx="795419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69" name="그림 68"/>
          <p:cNvPicPr>
            <a:picLocks noChangeAspect="1"/>
          </p:cNvPicPr>
          <p:nvPr/>
        </p:nvPicPr>
        <p:blipFill rotWithShape="1">
          <a:blip r:embed="rId3"/>
          <a:srcRect r="73540"/>
          <a:stretch/>
        </p:blipFill>
        <p:spPr>
          <a:xfrm>
            <a:off x="1254635" y="1848720"/>
            <a:ext cx="183595" cy="164228"/>
          </a:xfrm>
          <a:prstGeom prst="rect">
            <a:avLst/>
          </a:prstGeom>
        </p:spPr>
      </p:pic>
      <p:sp>
        <p:nvSpPr>
          <p:cNvPr id="70" name="직사각형 6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582005" y="1558027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994393" y="1558061"/>
            <a:ext cx="795419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72" name="그림 71"/>
          <p:cNvPicPr>
            <a:picLocks noChangeAspect="1"/>
          </p:cNvPicPr>
          <p:nvPr/>
        </p:nvPicPr>
        <p:blipFill rotWithShape="1">
          <a:blip r:embed="rId3"/>
          <a:srcRect r="73540"/>
          <a:stretch/>
        </p:blipFill>
        <p:spPr>
          <a:xfrm>
            <a:off x="6007094" y="1568233"/>
            <a:ext cx="183595" cy="164228"/>
          </a:xfrm>
          <a:prstGeom prst="rect">
            <a:avLst/>
          </a:prstGeom>
        </p:spPr>
      </p:pic>
      <p:sp>
        <p:nvSpPr>
          <p:cNvPr id="73" name="직사각형 7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056361" y="1837818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468749" y="1837852"/>
            <a:ext cx="795419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75" name="그림 74"/>
          <p:cNvPicPr>
            <a:picLocks noChangeAspect="1"/>
          </p:cNvPicPr>
          <p:nvPr/>
        </p:nvPicPr>
        <p:blipFill rotWithShape="1">
          <a:blip r:embed="rId3"/>
          <a:srcRect r="73540"/>
          <a:stretch/>
        </p:blipFill>
        <p:spPr>
          <a:xfrm>
            <a:off x="3481450" y="1848024"/>
            <a:ext cx="183595" cy="164228"/>
          </a:xfrm>
          <a:prstGeom prst="rect">
            <a:avLst/>
          </a:prstGeom>
        </p:spPr>
      </p:pic>
      <p:sp>
        <p:nvSpPr>
          <p:cNvPr id="76" name="직사각형 7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585973" y="1837924"/>
            <a:ext cx="939629" cy="180809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402645" y="2128389"/>
            <a:ext cx="588247" cy="178863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2" name="직사각형 81"/>
          <p:cNvSpPr/>
          <p:nvPr/>
        </p:nvSpPr>
        <p:spPr bwMode="auto">
          <a:xfrm>
            <a:off x="217667" y="1288118"/>
            <a:ext cx="6811537" cy="3156661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3" name="타원 8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64793" y="127119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42" name="표 41"/>
          <p:cNvGraphicFramePr>
            <a:graphicFrameLocks noGrp="1"/>
          </p:cNvGraphicFramePr>
          <p:nvPr>
            <p:extLst/>
          </p:nvPr>
        </p:nvGraphicFramePr>
        <p:xfrm>
          <a:off x="257990" y="2340643"/>
          <a:ext cx="6732900" cy="76131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73290">
                  <a:extLst>
                    <a:ext uri="{9D8B030D-6E8A-4147-A177-3AD203B41FA5}">
                      <a16:colId xmlns:a16="http://schemas.microsoft.com/office/drawing/2014/main" val="4251379031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2779949203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464008059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802687290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363936033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290762292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187567425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2077388592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2646548561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3099591055"/>
                    </a:ext>
                  </a:extLst>
                </a:gridCol>
              </a:tblGrid>
              <a:tr h="2537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진행상태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관리유형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프로젝트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관리번호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프로젝트명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협의요청일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개발완료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예정일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프로젝트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종료일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의뢰업무구분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보고서진행상태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자체개선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세부분류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6760147"/>
                  </a:ext>
                </a:extLst>
              </a:tr>
              <a:tr h="2537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정상진행중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P20242311342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 연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2024-04-01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2024-04-22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보고서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본부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검증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8247342"/>
                  </a:ext>
                </a:extLst>
              </a:tr>
              <a:tr h="253773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i="0" u="none" strike="noStrike" dirty="0" smtClean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4900742"/>
                  </a:ext>
                </a:extLst>
              </a:tr>
            </a:tbl>
          </a:graphicData>
        </a:graphic>
      </p:graphicFrame>
      <p:graphicFrame>
        <p:nvGraphicFramePr>
          <p:cNvPr id="43" name="표 42"/>
          <p:cNvGraphicFramePr>
            <a:graphicFrameLocks noGrp="1"/>
          </p:cNvGraphicFramePr>
          <p:nvPr>
            <p:extLst/>
          </p:nvPr>
        </p:nvGraphicFramePr>
        <p:xfrm>
          <a:off x="312080" y="2927357"/>
          <a:ext cx="6732900" cy="76131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73290">
                  <a:extLst>
                    <a:ext uri="{9D8B030D-6E8A-4147-A177-3AD203B41FA5}">
                      <a16:colId xmlns:a16="http://schemas.microsoft.com/office/drawing/2014/main" val="4251379031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2779949203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464008059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802687290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363936033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290762292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187567425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2077388592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2646548561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3099591055"/>
                    </a:ext>
                  </a:extLst>
                </a:gridCol>
              </a:tblGrid>
              <a:tr h="2537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의뢰직원명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의뢰부점명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피엠성명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개발부서명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개발팀명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개발중단일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의뢰문서번호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개발시작일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개발완료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희망일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의뢰사업본부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6760147"/>
                  </a:ext>
                </a:extLst>
              </a:tr>
              <a:tr h="2537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최의뢰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신탁부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위수탁사업부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위수탁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신탁부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IT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2024-04-01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2024-04-22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WM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고객그룹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8247342"/>
                  </a:ext>
                </a:extLst>
              </a:tr>
              <a:tr h="253773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800" b="0" i="0" u="none" strike="noStrike" dirty="0" smtClean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ctr"/>
                      <a:endParaRPr lang="ko-KR" altLang="en-US" sz="8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4900742"/>
                  </a:ext>
                </a:extLst>
              </a:tr>
            </a:tbl>
          </a:graphicData>
        </a:graphic>
      </p:graphicFrame>
      <p:graphicFrame>
        <p:nvGraphicFramePr>
          <p:cNvPr id="48" name="표 47"/>
          <p:cNvGraphicFramePr>
            <a:graphicFrameLocks noGrp="1"/>
          </p:cNvGraphicFramePr>
          <p:nvPr>
            <p:extLst/>
          </p:nvPr>
        </p:nvGraphicFramePr>
        <p:xfrm>
          <a:off x="384970" y="3517074"/>
          <a:ext cx="5316112" cy="76131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64514">
                  <a:extLst>
                    <a:ext uri="{9D8B030D-6E8A-4147-A177-3AD203B41FA5}">
                      <a16:colId xmlns:a16="http://schemas.microsoft.com/office/drawing/2014/main" val="4251379031"/>
                    </a:ext>
                  </a:extLst>
                </a:gridCol>
                <a:gridCol w="664514">
                  <a:extLst>
                    <a:ext uri="{9D8B030D-6E8A-4147-A177-3AD203B41FA5}">
                      <a16:colId xmlns:a16="http://schemas.microsoft.com/office/drawing/2014/main" val="2779949203"/>
                    </a:ext>
                  </a:extLst>
                </a:gridCol>
                <a:gridCol w="664514">
                  <a:extLst>
                    <a:ext uri="{9D8B030D-6E8A-4147-A177-3AD203B41FA5}">
                      <a16:colId xmlns:a16="http://schemas.microsoft.com/office/drawing/2014/main" val="1464008059"/>
                    </a:ext>
                  </a:extLst>
                </a:gridCol>
                <a:gridCol w="664514">
                  <a:extLst>
                    <a:ext uri="{9D8B030D-6E8A-4147-A177-3AD203B41FA5}">
                      <a16:colId xmlns:a16="http://schemas.microsoft.com/office/drawing/2014/main" val="1802687290"/>
                    </a:ext>
                  </a:extLst>
                </a:gridCol>
                <a:gridCol w="664514">
                  <a:extLst>
                    <a:ext uri="{9D8B030D-6E8A-4147-A177-3AD203B41FA5}">
                      <a16:colId xmlns:a16="http://schemas.microsoft.com/office/drawing/2014/main" val="1363936033"/>
                    </a:ext>
                  </a:extLst>
                </a:gridCol>
                <a:gridCol w="664514">
                  <a:extLst>
                    <a:ext uri="{9D8B030D-6E8A-4147-A177-3AD203B41FA5}">
                      <a16:colId xmlns:a16="http://schemas.microsoft.com/office/drawing/2014/main" val="1290762292"/>
                    </a:ext>
                  </a:extLst>
                </a:gridCol>
                <a:gridCol w="664514">
                  <a:extLst>
                    <a:ext uri="{9D8B030D-6E8A-4147-A177-3AD203B41FA5}">
                      <a16:colId xmlns:a16="http://schemas.microsoft.com/office/drawing/2014/main" val="1187567425"/>
                    </a:ext>
                  </a:extLst>
                </a:gridCol>
                <a:gridCol w="664514">
                  <a:extLst>
                    <a:ext uri="{9D8B030D-6E8A-4147-A177-3AD203B41FA5}">
                      <a16:colId xmlns:a16="http://schemas.microsoft.com/office/drawing/2014/main" val="2077388592"/>
                    </a:ext>
                  </a:extLst>
                </a:gridCol>
              </a:tblGrid>
              <a:tr h="2537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등급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프로젝트추가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산출물건수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완료예정일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변경횟수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전산의뢰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평가구분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연관업무코드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지연일수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적용매체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커뮤니케이션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전체건수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6760147"/>
                  </a:ext>
                </a:extLst>
              </a:tr>
              <a:tr h="2537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MAF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인터넷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모바일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8247342"/>
                  </a:ext>
                </a:extLst>
              </a:tr>
              <a:tr h="253773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800" b="0" i="0" u="none" strike="noStrike" dirty="0" smtClean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ctr"/>
                      <a:endParaRPr lang="ko-KR" altLang="en-US" sz="8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4900742"/>
                  </a:ext>
                </a:extLst>
              </a:tr>
            </a:tbl>
          </a:graphicData>
        </a:graphic>
      </p:graphicFrame>
      <p:sp>
        <p:nvSpPr>
          <p:cNvPr id="50" name="타원 4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623435" y="3577006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301384" y="3580166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951448" y="3575450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888272" y="2116221"/>
            <a:ext cx="432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r>
              <a:rPr kumimoji="0" lang="ko-KR" altLang="en-US" sz="800" noProof="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4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433488" y="2119180"/>
            <a:ext cx="432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5" name="타원 6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494392" y="2236983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6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6" name="타원 6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904487" y="2256375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7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76980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5588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3293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값을 클릭할 경우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인수테스트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현황을 조회할 수 있는 화면을 팝업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007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구체적인 데이터 항목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및 요소 협의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33728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인수 테스트 결과 화면을 팝업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32800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34258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0" cap="none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0985449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MDD-00148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MDD72S30101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b="1" kern="1200" dirty="0" err="1" smtClean="0">
                          <a:solidFill>
                            <a:schemeClr val="dk1"/>
                          </a:solidFill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  <a:cs typeface="+mn-cs"/>
                        </a:rPr>
                        <a:t>인수테스트</a:t>
                      </a:r>
                      <a:r>
                        <a:rPr lang="ko-KR" altLang="en-US" sz="1200" b="1" kern="1200" dirty="0" smtClean="0">
                          <a:solidFill>
                            <a:schemeClr val="dk1"/>
                          </a:solidFill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1" kern="1200" dirty="0" err="1" smtClean="0">
                          <a:solidFill>
                            <a:schemeClr val="dk1"/>
                          </a:solidFill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  <a:cs typeface="+mn-cs"/>
                        </a:rPr>
                        <a:t>현황조회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1050" b="1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감사지원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감사마트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업무별 </a:t>
                      </a:r>
                      <a:r>
                        <a:rPr kumimoji="0" lang="ko-KR" altLang="en-US" sz="1050" b="1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세부조회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상품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개발적정성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점검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(IQMS)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강지웅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10" name="양쪽 모서리가 둥근 사각형 9"/>
          <p:cNvSpPr/>
          <p:nvPr/>
        </p:nvSpPr>
        <p:spPr bwMode="auto">
          <a:xfrm>
            <a:off x="264495" y="1070623"/>
            <a:ext cx="14211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en-US" altLang="ko-KR" sz="8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IQMS </a:t>
            </a:r>
            <a:r>
              <a:rPr kumimoji="0" lang="ko-KR" altLang="en-US" sz="800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프로젝트 진행 현황</a:t>
            </a:r>
            <a:endParaRPr kumimoji="0" lang="ko-KR" altLang="en-US" sz="8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57992" y="996027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2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64496" y="1256358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41" name="내용 개체 틀 121"/>
          <p:cNvGraphicFramePr>
            <a:graphicFrameLocks/>
          </p:cNvGraphicFramePr>
          <p:nvPr>
            <p:extLst/>
          </p:nvPr>
        </p:nvGraphicFramePr>
        <p:xfrm>
          <a:off x="264495" y="1258676"/>
          <a:ext cx="6732906" cy="81641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0635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691764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413468">
                  <a:extLst>
                    <a:ext uri="{9D8B030D-6E8A-4147-A177-3AD203B41FA5}">
                      <a16:colId xmlns:a16="http://schemas.microsoft.com/office/drawing/2014/main" val="1148531010"/>
                    </a:ext>
                  </a:extLst>
                </a:gridCol>
                <a:gridCol w="608435">
                  <a:extLst>
                    <a:ext uri="{9D8B030D-6E8A-4147-A177-3AD203B41FA5}">
                      <a16:colId xmlns:a16="http://schemas.microsoft.com/office/drawing/2014/main" val="595631847"/>
                    </a:ext>
                  </a:extLst>
                </a:gridCol>
                <a:gridCol w="496796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2003729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  <a:gridCol w="524786">
                  <a:extLst>
                    <a:ext uri="{9D8B030D-6E8A-4147-A177-3AD203B41FA5}">
                      <a16:colId xmlns:a16="http://schemas.microsoft.com/office/drawing/2014/main" val="3623872666"/>
                    </a:ext>
                  </a:extLst>
                </a:gridCol>
                <a:gridCol w="1463293">
                  <a:extLst>
                    <a:ext uri="{9D8B030D-6E8A-4147-A177-3AD203B41FA5}">
                      <a16:colId xmlns:a16="http://schemas.microsoft.com/office/drawing/2014/main" val="2377728825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진행상태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                              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중단</a:t>
                      </a: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최소 제외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요청구분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자체개선</a:t>
                      </a:r>
                      <a:endParaRPr lang="en-US" altLang="ko-KR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세부분류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관리번호</a:t>
                      </a:r>
                      <a:endParaRPr lang="en-US" altLang="ko-KR" sz="700" b="0" i="0" u="none" strike="noStrike" baseline="0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업무코드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의뢰부서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631839"/>
                  </a:ext>
                </a:extLst>
              </a:tr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개발부서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직원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</a:t>
                      </a:r>
                      <a:r>
                        <a:rPr lang="ko-KR" altLang="en-US" sz="7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키워드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9329184"/>
                  </a:ext>
                </a:extLst>
              </a:tr>
            </a:tbl>
          </a:graphicData>
        </a:graphic>
      </p:graphicFrame>
      <p:grpSp>
        <p:nvGrpSpPr>
          <p:cNvPr id="3" name="그룹 2"/>
          <p:cNvGrpSpPr/>
          <p:nvPr/>
        </p:nvGrpSpPr>
        <p:grpSpPr>
          <a:xfrm>
            <a:off x="829546" y="1297210"/>
            <a:ext cx="702633" cy="189123"/>
            <a:chOff x="1393142" y="1679316"/>
            <a:chExt cx="570830" cy="219340"/>
          </a:xfrm>
        </p:grpSpPr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393142" y="1679316"/>
              <a:ext cx="570830" cy="2193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전체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45" name="이등변 삼각형 44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1818580" y="1758861"/>
              <a:ext cx="74872" cy="45888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829546" y="1568066"/>
            <a:ext cx="615830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942729" y="1568066"/>
            <a:ext cx="53012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054825" y="1288118"/>
            <a:ext cx="943598" cy="1891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5" name="이등변 삼각형 54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3818118" y="1365798"/>
            <a:ext cx="92160" cy="39566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614811" y="1362187"/>
            <a:ext cx="78817" cy="59079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056276" y="1575209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31088" y="1571799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2024-04-30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59" name="그림 5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696676" y="1579049"/>
            <a:ext cx="181098" cy="173224"/>
          </a:xfrm>
          <a:prstGeom prst="rect">
            <a:avLst/>
          </a:prstGeom>
        </p:spPr>
      </p:pic>
      <p:pic>
        <p:nvPicPr>
          <p:cNvPr id="60" name="그림 5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770350" y="1575634"/>
            <a:ext cx="181098" cy="173224"/>
          </a:xfrm>
          <a:prstGeom prst="rect">
            <a:avLst/>
          </a:prstGeom>
        </p:spPr>
      </p:pic>
      <p:cxnSp>
        <p:nvCxnSpPr>
          <p:cNvPr id="61" name="직선 연결선 60"/>
          <p:cNvCxnSpPr/>
          <p:nvPr/>
        </p:nvCxnSpPr>
        <p:spPr bwMode="auto">
          <a:xfrm>
            <a:off x="3934923" y="1665661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582005" y="1297210"/>
            <a:ext cx="943598" cy="1891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3" name="이등변 삼각형 62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6328312" y="1365798"/>
            <a:ext cx="92160" cy="39566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829546" y="1838514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41934" y="1838548"/>
            <a:ext cx="795419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69" name="그림 68"/>
          <p:cNvPicPr>
            <a:picLocks noChangeAspect="1"/>
          </p:cNvPicPr>
          <p:nvPr/>
        </p:nvPicPr>
        <p:blipFill rotWithShape="1">
          <a:blip r:embed="rId3"/>
          <a:srcRect r="73540"/>
          <a:stretch/>
        </p:blipFill>
        <p:spPr>
          <a:xfrm>
            <a:off x="1254635" y="1848720"/>
            <a:ext cx="183595" cy="164228"/>
          </a:xfrm>
          <a:prstGeom prst="rect">
            <a:avLst/>
          </a:prstGeom>
        </p:spPr>
      </p:pic>
      <p:sp>
        <p:nvSpPr>
          <p:cNvPr id="70" name="직사각형 6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582005" y="1558027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994393" y="1558061"/>
            <a:ext cx="795419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72" name="그림 71"/>
          <p:cNvPicPr>
            <a:picLocks noChangeAspect="1"/>
          </p:cNvPicPr>
          <p:nvPr/>
        </p:nvPicPr>
        <p:blipFill rotWithShape="1">
          <a:blip r:embed="rId3"/>
          <a:srcRect r="73540"/>
          <a:stretch/>
        </p:blipFill>
        <p:spPr>
          <a:xfrm>
            <a:off x="6007094" y="1568233"/>
            <a:ext cx="183595" cy="164228"/>
          </a:xfrm>
          <a:prstGeom prst="rect">
            <a:avLst/>
          </a:prstGeom>
        </p:spPr>
      </p:pic>
      <p:sp>
        <p:nvSpPr>
          <p:cNvPr id="73" name="직사각형 7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056361" y="1837818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468749" y="1837852"/>
            <a:ext cx="795419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75" name="그림 74"/>
          <p:cNvPicPr>
            <a:picLocks noChangeAspect="1"/>
          </p:cNvPicPr>
          <p:nvPr/>
        </p:nvPicPr>
        <p:blipFill rotWithShape="1">
          <a:blip r:embed="rId3"/>
          <a:srcRect r="73540"/>
          <a:stretch/>
        </p:blipFill>
        <p:spPr>
          <a:xfrm>
            <a:off x="3481450" y="1848024"/>
            <a:ext cx="183595" cy="164228"/>
          </a:xfrm>
          <a:prstGeom prst="rect">
            <a:avLst/>
          </a:prstGeom>
        </p:spPr>
      </p:pic>
      <p:sp>
        <p:nvSpPr>
          <p:cNvPr id="76" name="직사각형 7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585973" y="1837924"/>
            <a:ext cx="939629" cy="180809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402645" y="2128389"/>
            <a:ext cx="588247" cy="178863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42" name="표 41"/>
          <p:cNvGraphicFramePr>
            <a:graphicFrameLocks noGrp="1"/>
          </p:cNvGraphicFramePr>
          <p:nvPr>
            <p:extLst/>
          </p:nvPr>
        </p:nvGraphicFramePr>
        <p:xfrm>
          <a:off x="257990" y="2340643"/>
          <a:ext cx="6732900" cy="76131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73290">
                  <a:extLst>
                    <a:ext uri="{9D8B030D-6E8A-4147-A177-3AD203B41FA5}">
                      <a16:colId xmlns:a16="http://schemas.microsoft.com/office/drawing/2014/main" val="4251379031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2779949203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464008059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802687290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363936033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290762292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187567425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2077388592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2646548561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3099591055"/>
                    </a:ext>
                  </a:extLst>
                </a:gridCol>
              </a:tblGrid>
              <a:tr h="2537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진행상태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관리유형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프로젝트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관리번호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프로젝트명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협의요청일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개발완료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예정일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프로젝트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종료일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의뢰업무구분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보고서진행상태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자체개선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세부분류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6760147"/>
                  </a:ext>
                </a:extLst>
              </a:tr>
              <a:tr h="2537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정상진행중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P20242311342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sng" strike="noStrike" dirty="0" smtClean="0">
                          <a:solidFill>
                            <a:srgbClr val="2272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</a:t>
                      </a:r>
                      <a:r>
                        <a:rPr lang="ko-KR" altLang="en-US" sz="800" b="0" i="0" u="sng" strike="noStrike" dirty="0" smtClean="0">
                          <a:solidFill>
                            <a:srgbClr val="2272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</a:t>
                      </a:r>
                      <a:r>
                        <a:rPr lang="en-US" altLang="ko-KR" sz="800" b="0" i="0" u="sng" strike="noStrike" dirty="0" smtClean="0">
                          <a:solidFill>
                            <a:srgbClr val="2272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lang="ko-KR" altLang="en-US" sz="800" b="0" i="0" u="sng" strike="noStrike" dirty="0" smtClean="0">
                          <a:solidFill>
                            <a:srgbClr val="2272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 연</a:t>
                      </a:r>
                      <a:endParaRPr lang="en-US" altLang="ko-KR" sz="800" b="0" i="0" u="sng" strike="noStrike" dirty="0">
                        <a:solidFill>
                          <a:srgbClr val="2272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2024-04-01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2024-04-22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보고서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본부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검증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8247342"/>
                  </a:ext>
                </a:extLst>
              </a:tr>
              <a:tr h="253773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i="0" u="none" strike="noStrike" dirty="0" smtClean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4900742"/>
                  </a:ext>
                </a:extLst>
              </a:tr>
            </a:tbl>
          </a:graphicData>
        </a:graphic>
      </p:graphicFrame>
      <p:graphicFrame>
        <p:nvGraphicFramePr>
          <p:cNvPr id="43" name="표 42"/>
          <p:cNvGraphicFramePr>
            <a:graphicFrameLocks noGrp="1"/>
          </p:cNvGraphicFramePr>
          <p:nvPr>
            <p:extLst/>
          </p:nvPr>
        </p:nvGraphicFramePr>
        <p:xfrm>
          <a:off x="312080" y="2927357"/>
          <a:ext cx="6732900" cy="76131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73290">
                  <a:extLst>
                    <a:ext uri="{9D8B030D-6E8A-4147-A177-3AD203B41FA5}">
                      <a16:colId xmlns:a16="http://schemas.microsoft.com/office/drawing/2014/main" val="4251379031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2779949203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464008059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802687290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363936033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290762292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187567425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2077388592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2646548561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3099591055"/>
                    </a:ext>
                  </a:extLst>
                </a:gridCol>
              </a:tblGrid>
              <a:tr h="2537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의뢰직원명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의뢰부점명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피엠성명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개발부서명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개발팀명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개발중단일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의뢰문서번호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개발시작일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개발완료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희망일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의뢰사업본부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6760147"/>
                  </a:ext>
                </a:extLst>
              </a:tr>
              <a:tr h="253773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신탁부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위수탁사업부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위수탁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신탁부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IT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2024-04-01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2024-04-22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WM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고객그룹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8247342"/>
                  </a:ext>
                </a:extLst>
              </a:tr>
              <a:tr h="253773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800" b="0" i="0" u="none" strike="noStrike" dirty="0" smtClean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ctr"/>
                      <a:endParaRPr lang="ko-KR" altLang="en-US" sz="8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4900742"/>
                  </a:ext>
                </a:extLst>
              </a:tr>
            </a:tbl>
          </a:graphicData>
        </a:graphic>
      </p:graphicFrame>
      <p:graphicFrame>
        <p:nvGraphicFramePr>
          <p:cNvPr id="48" name="표 47"/>
          <p:cNvGraphicFramePr>
            <a:graphicFrameLocks noGrp="1"/>
          </p:cNvGraphicFramePr>
          <p:nvPr>
            <p:extLst/>
          </p:nvPr>
        </p:nvGraphicFramePr>
        <p:xfrm>
          <a:off x="384970" y="3517074"/>
          <a:ext cx="5316112" cy="76131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64514">
                  <a:extLst>
                    <a:ext uri="{9D8B030D-6E8A-4147-A177-3AD203B41FA5}">
                      <a16:colId xmlns:a16="http://schemas.microsoft.com/office/drawing/2014/main" val="4251379031"/>
                    </a:ext>
                  </a:extLst>
                </a:gridCol>
                <a:gridCol w="664514">
                  <a:extLst>
                    <a:ext uri="{9D8B030D-6E8A-4147-A177-3AD203B41FA5}">
                      <a16:colId xmlns:a16="http://schemas.microsoft.com/office/drawing/2014/main" val="2779949203"/>
                    </a:ext>
                  </a:extLst>
                </a:gridCol>
                <a:gridCol w="664514">
                  <a:extLst>
                    <a:ext uri="{9D8B030D-6E8A-4147-A177-3AD203B41FA5}">
                      <a16:colId xmlns:a16="http://schemas.microsoft.com/office/drawing/2014/main" val="1464008059"/>
                    </a:ext>
                  </a:extLst>
                </a:gridCol>
                <a:gridCol w="664514">
                  <a:extLst>
                    <a:ext uri="{9D8B030D-6E8A-4147-A177-3AD203B41FA5}">
                      <a16:colId xmlns:a16="http://schemas.microsoft.com/office/drawing/2014/main" val="1802687290"/>
                    </a:ext>
                  </a:extLst>
                </a:gridCol>
                <a:gridCol w="664514">
                  <a:extLst>
                    <a:ext uri="{9D8B030D-6E8A-4147-A177-3AD203B41FA5}">
                      <a16:colId xmlns:a16="http://schemas.microsoft.com/office/drawing/2014/main" val="1363936033"/>
                    </a:ext>
                  </a:extLst>
                </a:gridCol>
                <a:gridCol w="664514">
                  <a:extLst>
                    <a:ext uri="{9D8B030D-6E8A-4147-A177-3AD203B41FA5}">
                      <a16:colId xmlns:a16="http://schemas.microsoft.com/office/drawing/2014/main" val="1290762292"/>
                    </a:ext>
                  </a:extLst>
                </a:gridCol>
                <a:gridCol w="664514">
                  <a:extLst>
                    <a:ext uri="{9D8B030D-6E8A-4147-A177-3AD203B41FA5}">
                      <a16:colId xmlns:a16="http://schemas.microsoft.com/office/drawing/2014/main" val="1187567425"/>
                    </a:ext>
                  </a:extLst>
                </a:gridCol>
                <a:gridCol w="664514">
                  <a:extLst>
                    <a:ext uri="{9D8B030D-6E8A-4147-A177-3AD203B41FA5}">
                      <a16:colId xmlns:a16="http://schemas.microsoft.com/office/drawing/2014/main" val="2077388592"/>
                    </a:ext>
                  </a:extLst>
                </a:gridCol>
              </a:tblGrid>
              <a:tr h="2537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등급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프로젝트추가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산출물건수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완료예정일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변경횟수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전산의뢰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평가구분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연관업무코드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지연일수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적용매체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커뮤니케이션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전체건수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6760147"/>
                  </a:ext>
                </a:extLst>
              </a:tr>
              <a:tr h="2537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MAF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인터넷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모바일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8247342"/>
                  </a:ext>
                </a:extLst>
              </a:tr>
              <a:tr h="253773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800" b="0" i="0" u="none" strike="noStrike" dirty="0" smtClean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ctr"/>
                      <a:endParaRPr lang="ko-KR" altLang="en-US" sz="8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4900742"/>
                  </a:ext>
                </a:extLst>
              </a:tr>
            </a:tbl>
          </a:graphicData>
        </a:graphic>
      </p:graphicFrame>
      <p:sp>
        <p:nvSpPr>
          <p:cNvPr id="87" name="직사각형 86"/>
          <p:cNvSpPr/>
          <p:nvPr/>
        </p:nvSpPr>
        <p:spPr bwMode="auto">
          <a:xfrm>
            <a:off x="2199844" y="2586271"/>
            <a:ext cx="776112" cy="212465"/>
          </a:xfrm>
          <a:prstGeom prst="rect">
            <a:avLst/>
          </a:prstGeom>
          <a:noFill/>
          <a:ln w="15875">
            <a:solidFill>
              <a:srgbClr val="FFBF0D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8" name="타원 8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219111" y="2519946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8" name="그룹 7"/>
          <p:cNvGrpSpPr/>
          <p:nvPr/>
        </p:nvGrpSpPr>
        <p:grpSpPr>
          <a:xfrm>
            <a:off x="230081" y="2891666"/>
            <a:ext cx="5819878" cy="2993360"/>
            <a:chOff x="161841" y="1486333"/>
            <a:chExt cx="5819878" cy="4199864"/>
          </a:xfrm>
        </p:grpSpPr>
        <p:sp>
          <p:nvSpPr>
            <p:cNvPr id="89" name="직사각형 88"/>
            <p:cNvSpPr/>
            <p:nvPr/>
          </p:nvSpPr>
          <p:spPr bwMode="auto">
            <a:xfrm>
              <a:off x="161841" y="1486333"/>
              <a:ext cx="5819878" cy="4199864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algn="ctr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400" b="1" i="0" u="none" strike="noStrike" kern="0" cap="none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5" name="직사각형 4"/>
            <p:cNvSpPr/>
            <p:nvPr/>
          </p:nvSpPr>
          <p:spPr bwMode="auto">
            <a:xfrm>
              <a:off x="161841" y="1486333"/>
              <a:ext cx="5817737" cy="298922"/>
            </a:xfrm>
            <a:prstGeom prst="rect">
              <a:avLst/>
            </a:prstGeom>
            <a:solidFill>
              <a:srgbClr val="B1ACA8"/>
            </a:solidFill>
            <a:ln w="31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algn="ctr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400" b="1" i="0" u="none" strike="noStrike" kern="0" cap="none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7" name="TextBox 6"/>
            <p:cNvSpPr txBox="1"/>
            <p:nvPr/>
          </p:nvSpPr>
          <p:spPr>
            <a:xfrm>
              <a:off x="195808" y="1493425"/>
              <a:ext cx="1625394" cy="3454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 err="1" smtClean="0">
                  <a:latin typeface="KB금융 본문체 Bold" panose="020B0803000000000000" pitchFamily="50" charset="-127"/>
                  <a:ea typeface="KB금융 본문체 Bold" panose="020B0803000000000000" pitchFamily="50" charset="-127"/>
                </a:rPr>
                <a:t>인수테스트</a:t>
              </a:r>
              <a:r>
                <a:rPr lang="ko-KR" altLang="en-US" sz="1000" dirty="0" smtClean="0">
                  <a:latin typeface="KB금융 본문체 Bold" panose="020B0803000000000000" pitchFamily="50" charset="-127"/>
                  <a:ea typeface="KB금융 본문체 Bold" panose="020B0803000000000000" pitchFamily="50" charset="-127"/>
                </a:rPr>
                <a:t> </a:t>
              </a:r>
              <a:r>
                <a:rPr lang="ko-KR" altLang="en-US" sz="1000" dirty="0" err="1" smtClean="0">
                  <a:latin typeface="KB금융 본문체 Bold" panose="020B0803000000000000" pitchFamily="50" charset="-127"/>
                  <a:ea typeface="KB금융 본문체 Bold" panose="020B0803000000000000" pitchFamily="50" charset="-127"/>
                </a:rPr>
                <a:t>현황조회</a:t>
              </a:r>
              <a:endParaRPr lang="ko-KR" altLang="en-US" sz="1000" dirty="0" smtClean="0">
                <a:latin typeface="KB금융 본문체 Bold" panose="020B0803000000000000" pitchFamily="50" charset="-127"/>
                <a:ea typeface="KB금융 본문체 Bold" panose="020B0803000000000000" pitchFamily="50" charset="-127"/>
              </a:endParaRPr>
            </a:p>
          </p:txBody>
        </p:sp>
      </p:grpSp>
      <p:graphicFrame>
        <p:nvGraphicFramePr>
          <p:cNvPr id="100" name="표 99"/>
          <p:cNvGraphicFramePr>
            <a:graphicFrameLocks noGrp="1"/>
          </p:cNvGraphicFramePr>
          <p:nvPr>
            <p:extLst/>
          </p:nvPr>
        </p:nvGraphicFramePr>
        <p:xfrm>
          <a:off x="341291" y="3224957"/>
          <a:ext cx="5595921" cy="231010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1769">
                  <a:extLst>
                    <a:ext uri="{9D8B030D-6E8A-4147-A177-3AD203B41FA5}">
                      <a16:colId xmlns:a16="http://schemas.microsoft.com/office/drawing/2014/main" val="4251379031"/>
                    </a:ext>
                  </a:extLst>
                </a:gridCol>
                <a:gridCol w="621769">
                  <a:extLst>
                    <a:ext uri="{9D8B030D-6E8A-4147-A177-3AD203B41FA5}">
                      <a16:colId xmlns:a16="http://schemas.microsoft.com/office/drawing/2014/main" val="2779949203"/>
                    </a:ext>
                  </a:extLst>
                </a:gridCol>
                <a:gridCol w="621769">
                  <a:extLst>
                    <a:ext uri="{9D8B030D-6E8A-4147-A177-3AD203B41FA5}">
                      <a16:colId xmlns:a16="http://schemas.microsoft.com/office/drawing/2014/main" val="1464008059"/>
                    </a:ext>
                  </a:extLst>
                </a:gridCol>
                <a:gridCol w="621769">
                  <a:extLst>
                    <a:ext uri="{9D8B030D-6E8A-4147-A177-3AD203B41FA5}">
                      <a16:colId xmlns:a16="http://schemas.microsoft.com/office/drawing/2014/main" val="1802687290"/>
                    </a:ext>
                  </a:extLst>
                </a:gridCol>
                <a:gridCol w="621769">
                  <a:extLst>
                    <a:ext uri="{9D8B030D-6E8A-4147-A177-3AD203B41FA5}">
                      <a16:colId xmlns:a16="http://schemas.microsoft.com/office/drawing/2014/main" val="1363936033"/>
                    </a:ext>
                  </a:extLst>
                </a:gridCol>
                <a:gridCol w="621769">
                  <a:extLst>
                    <a:ext uri="{9D8B030D-6E8A-4147-A177-3AD203B41FA5}">
                      <a16:colId xmlns:a16="http://schemas.microsoft.com/office/drawing/2014/main" val="1290762292"/>
                    </a:ext>
                  </a:extLst>
                </a:gridCol>
                <a:gridCol w="621769">
                  <a:extLst>
                    <a:ext uri="{9D8B030D-6E8A-4147-A177-3AD203B41FA5}">
                      <a16:colId xmlns:a16="http://schemas.microsoft.com/office/drawing/2014/main" val="2077388592"/>
                    </a:ext>
                  </a:extLst>
                </a:gridCol>
                <a:gridCol w="621769">
                  <a:extLst>
                    <a:ext uri="{9D8B030D-6E8A-4147-A177-3AD203B41FA5}">
                      <a16:colId xmlns:a16="http://schemas.microsoft.com/office/drawing/2014/main" val="2646548561"/>
                    </a:ext>
                  </a:extLst>
                </a:gridCol>
                <a:gridCol w="621769">
                  <a:extLst>
                    <a:ext uri="{9D8B030D-6E8A-4147-A177-3AD203B41FA5}">
                      <a16:colId xmlns:a16="http://schemas.microsoft.com/office/drawing/2014/main" val="3099591055"/>
                    </a:ext>
                  </a:extLst>
                </a:gridCol>
              </a:tblGrid>
              <a:tr h="3300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업무코드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CM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패키지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번호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프로젝트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관리번호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개발자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현업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인수테스트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실시일시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상위결재자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확인일시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차상위결재자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6760147"/>
                  </a:ext>
                </a:extLst>
              </a:tr>
              <a:tr h="33001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BFF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BFF220032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P20242311342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박개발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양현업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2024-04-22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상결재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2022-01-25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차상위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8247342"/>
                  </a:ext>
                </a:extLst>
              </a:tr>
              <a:tr h="330015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i="0" u="none" strike="noStrike" dirty="0" smtClean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4900742"/>
                  </a:ext>
                </a:extLst>
              </a:tr>
              <a:tr h="330015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48140763"/>
                  </a:ext>
                </a:extLst>
              </a:tr>
              <a:tr h="330015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5910708"/>
                  </a:ext>
                </a:extLst>
              </a:tr>
              <a:tr h="330015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3671751"/>
                  </a:ext>
                </a:extLst>
              </a:tr>
              <a:tr h="330015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77493639"/>
                  </a:ext>
                </a:extLst>
              </a:tr>
            </a:tbl>
          </a:graphicData>
        </a:graphic>
      </p:graphicFrame>
      <p:sp>
        <p:nvSpPr>
          <p:cNvPr id="10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737996" y="5618013"/>
            <a:ext cx="670099" cy="185873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 defTabSz="914284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spc="-100" dirty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닫기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102" name="표 101"/>
          <p:cNvGraphicFramePr>
            <a:graphicFrameLocks noGrp="1"/>
          </p:cNvGraphicFramePr>
          <p:nvPr>
            <p:extLst/>
          </p:nvPr>
        </p:nvGraphicFramePr>
        <p:xfrm>
          <a:off x="4328189" y="3909512"/>
          <a:ext cx="1111814" cy="6600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5907">
                  <a:extLst>
                    <a:ext uri="{9D8B030D-6E8A-4147-A177-3AD203B41FA5}">
                      <a16:colId xmlns:a16="http://schemas.microsoft.com/office/drawing/2014/main" val="4251379031"/>
                    </a:ext>
                  </a:extLst>
                </a:gridCol>
                <a:gridCol w="555907">
                  <a:extLst>
                    <a:ext uri="{9D8B030D-6E8A-4147-A177-3AD203B41FA5}">
                      <a16:colId xmlns:a16="http://schemas.microsoft.com/office/drawing/2014/main" val="2779949203"/>
                    </a:ext>
                  </a:extLst>
                </a:gridCol>
              </a:tblGrid>
              <a:tr h="3300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확인일시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인수부서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6760147"/>
                  </a:ext>
                </a:extLst>
              </a:tr>
              <a:tr h="33001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2022-01-25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개인여신부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247342"/>
                  </a:ext>
                </a:extLst>
              </a:tr>
            </a:tbl>
          </a:graphicData>
        </a:graphic>
      </p:graphicFrame>
      <p:sp>
        <p:nvSpPr>
          <p:cNvPr id="104" name="직사각형 103"/>
          <p:cNvSpPr/>
          <p:nvPr/>
        </p:nvSpPr>
        <p:spPr bwMode="auto">
          <a:xfrm>
            <a:off x="280164" y="3149493"/>
            <a:ext cx="5679815" cy="2366881"/>
          </a:xfrm>
          <a:prstGeom prst="rect">
            <a:avLst/>
          </a:prstGeom>
          <a:noFill/>
          <a:ln w="15875">
            <a:solidFill>
              <a:srgbClr val="FF0000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6" name="타원 10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96666" y="309888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107" name="구부러진 연결선 106"/>
          <p:cNvCxnSpPr>
            <a:stCxn id="87" idx="2"/>
            <a:endCxn id="102" idx="3"/>
          </p:cNvCxnSpPr>
          <p:nvPr/>
        </p:nvCxnSpPr>
        <p:spPr bwMode="auto">
          <a:xfrm rot="16200000" flipH="1">
            <a:off x="3293556" y="2093079"/>
            <a:ext cx="1440791" cy="2852103"/>
          </a:xfrm>
          <a:prstGeom prst="curvedConnector4">
            <a:avLst>
              <a:gd name="adj1" fmla="val 38547"/>
              <a:gd name="adj2" fmla="val 108015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109" name="타원 10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399490" y="4130475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402693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46936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2339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하이퍼링크를 클릭하여 인수테스트결과 목록을 조회 할 수 있는 팝업 창이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007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인수테스트결과 목록을 조회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팝업창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2478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32800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34258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0" cap="none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0985449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MDD-00148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MDD72S30102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b="1" kern="1200" dirty="0" err="1" smtClean="0">
                          <a:solidFill>
                            <a:schemeClr val="dk1"/>
                          </a:solidFill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  <a:cs typeface="+mn-cs"/>
                        </a:rPr>
                        <a:t>인수테스트</a:t>
                      </a:r>
                      <a:r>
                        <a:rPr lang="ko-KR" altLang="en-US" sz="1200" b="1" kern="1200" dirty="0" smtClean="0">
                          <a:solidFill>
                            <a:schemeClr val="dk1"/>
                          </a:solidFill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1" kern="1200" dirty="0" err="1" smtClean="0">
                          <a:solidFill>
                            <a:schemeClr val="dk1"/>
                          </a:solidFill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  <a:cs typeface="+mn-cs"/>
                        </a:rPr>
                        <a:t>결과목록</a:t>
                      </a:r>
                      <a:r>
                        <a:rPr lang="ko-KR" altLang="en-US" sz="1200" b="1" kern="1200" dirty="0" smtClean="0">
                          <a:solidFill>
                            <a:schemeClr val="dk1"/>
                          </a:solidFill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  <a:cs typeface="+mn-cs"/>
                        </a:rPr>
                        <a:t> </a:t>
                      </a:r>
                      <a:endParaRPr lang="ko-KR" altLang="en-US" sz="1200" b="1" kern="1200" dirty="0">
                        <a:solidFill>
                          <a:schemeClr val="dk1"/>
                        </a:solidFill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1050" b="1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감사지원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감사마트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업무별 </a:t>
                      </a:r>
                      <a:r>
                        <a:rPr kumimoji="0" lang="ko-KR" altLang="en-US" sz="1050" b="1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세부조회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상품 </a:t>
                      </a:r>
                      <a:r>
                        <a:rPr lang="ko-KR" altLang="en-US" sz="105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개발적정성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점검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(IQMS) 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강지웅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10" name="양쪽 모서리가 둥근 사각형 9"/>
          <p:cNvSpPr/>
          <p:nvPr/>
        </p:nvSpPr>
        <p:spPr bwMode="auto">
          <a:xfrm>
            <a:off x="264495" y="1070623"/>
            <a:ext cx="1421182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en-US" altLang="ko-KR" sz="8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IQMS </a:t>
            </a:r>
            <a:r>
              <a:rPr kumimoji="0" lang="ko-KR" altLang="en-US" sz="800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프로젝트 진행 현황</a:t>
            </a:r>
            <a:endParaRPr kumimoji="0" lang="ko-KR" altLang="en-US" sz="8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11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57992" y="996027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2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64496" y="1256358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41" name="내용 개체 틀 121"/>
          <p:cNvGraphicFramePr>
            <a:graphicFrameLocks/>
          </p:cNvGraphicFramePr>
          <p:nvPr>
            <p:extLst/>
          </p:nvPr>
        </p:nvGraphicFramePr>
        <p:xfrm>
          <a:off x="264495" y="1258676"/>
          <a:ext cx="6732906" cy="81641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0635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691764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413468">
                  <a:extLst>
                    <a:ext uri="{9D8B030D-6E8A-4147-A177-3AD203B41FA5}">
                      <a16:colId xmlns:a16="http://schemas.microsoft.com/office/drawing/2014/main" val="1148531010"/>
                    </a:ext>
                  </a:extLst>
                </a:gridCol>
                <a:gridCol w="608435">
                  <a:extLst>
                    <a:ext uri="{9D8B030D-6E8A-4147-A177-3AD203B41FA5}">
                      <a16:colId xmlns:a16="http://schemas.microsoft.com/office/drawing/2014/main" val="595631847"/>
                    </a:ext>
                  </a:extLst>
                </a:gridCol>
                <a:gridCol w="496796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2003729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  <a:gridCol w="524786">
                  <a:extLst>
                    <a:ext uri="{9D8B030D-6E8A-4147-A177-3AD203B41FA5}">
                      <a16:colId xmlns:a16="http://schemas.microsoft.com/office/drawing/2014/main" val="3623872666"/>
                    </a:ext>
                  </a:extLst>
                </a:gridCol>
                <a:gridCol w="1463293">
                  <a:extLst>
                    <a:ext uri="{9D8B030D-6E8A-4147-A177-3AD203B41FA5}">
                      <a16:colId xmlns:a16="http://schemas.microsoft.com/office/drawing/2014/main" val="2377728825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진행상태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                              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중단</a:t>
                      </a: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최소 제외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요청구분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자체개선</a:t>
                      </a:r>
                      <a:endParaRPr lang="en-US" altLang="ko-KR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세부분류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관리번호</a:t>
                      </a:r>
                      <a:endParaRPr lang="en-US" altLang="ko-KR" sz="700" b="0" i="0" u="none" strike="noStrike" baseline="0" dirty="0" smtClean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업무코드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의뢰부서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631839"/>
                  </a:ext>
                </a:extLst>
              </a:tr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개발부서</a:t>
                      </a:r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/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직원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</a:t>
                      </a:r>
                      <a:r>
                        <a:rPr lang="ko-KR" altLang="en-US" sz="700" kern="1200" dirty="0" smtClean="0">
                          <a:solidFill>
                            <a:schemeClr val="dk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키워드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kern="1200" dirty="0" smtClean="0">
                        <a:solidFill>
                          <a:schemeClr val="dk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9329184"/>
                  </a:ext>
                </a:extLst>
              </a:tr>
            </a:tbl>
          </a:graphicData>
        </a:graphic>
      </p:graphicFrame>
      <p:grpSp>
        <p:nvGrpSpPr>
          <p:cNvPr id="3" name="그룹 2"/>
          <p:cNvGrpSpPr/>
          <p:nvPr/>
        </p:nvGrpSpPr>
        <p:grpSpPr>
          <a:xfrm>
            <a:off x="831764" y="1294872"/>
            <a:ext cx="702633" cy="189123"/>
            <a:chOff x="1393142" y="1679316"/>
            <a:chExt cx="570830" cy="219340"/>
          </a:xfrm>
        </p:grpSpPr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393142" y="1679316"/>
              <a:ext cx="570830" cy="21934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전체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45" name="이등변 삼각형 44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1818580" y="1758861"/>
              <a:ext cx="74872" cy="45888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831764" y="1565728"/>
            <a:ext cx="615830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944947" y="1565728"/>
            <a:ext cx="53012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057043" y="1285780"/>
            <a:ext cx="943598" cy="1891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5" name="이등변 삼각형 54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3820336" y="1363460"/>
            <a:ext cx="92160" cy="39566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617029" y="1359849"/>
            <a:ext cx="78817" cy="59079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058494" y="1572871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33306" y="1569461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2024-04-30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59" name="그림 5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698894" y="1576711"/>
            <a:ext cx="181098" cy="173224"/>
          </a:xfrm>
          <a:prstGeom prst="rect">
            <a:avLst/>
          </a:prstGeom>
        </p:spPr>
      </p:pic>
      <p:pic>
        <p:nvPicPr>
          <p:cNvPr id="60" name="그림 5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772568" y="1573296"/>
            <a:ext cx="181098" cy="173224"/>
          </a:xfrm>
          <a:prstGeom prst="rect">
            <a:avLst/>
          </a:prstGeom>
        </p:spPr>
      </p:pic>
      <p:cxnSp>
        <p:nvCxnSpPr>
          <p:cNvPr id="61" name="직선 연결선 60"/>
          <p:cNvCxnSpPr/>
          <p:nvPr/>
        </p:nvCxnSpPr>
        <p:spPr bwMode="auto">
          <a:xfrm>
            <a:off x="3937141" y="1663323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584223" y="1294872"/>
            <a:ext cx="943598" cy="1891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noProof="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전체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3" name="이등변 삼각형 62">
            <a:extLst>
              <a:ext uri="{FF2B5EF4-FFF2-40B4-BE49-F238E27FC236}">
                <a16:creationId xmlns:a16="http://schemas.microsoft.com/office/drawing/2014/main" id="{4128FDEE-AB47-6109-0FCA-CC8457AEB3E7}"/>
              </a:ext>
            </a:extLst>
          </p:cNvPr>
          <p:cNvSpPr/>
          <p:nvPr/>
        </p:nvSpPr>
        <p:spPr>
          <a:xfrm rot="10800000">
            <a:off x="6330530" y="1363460"/>
            <a:ext cx="92160" cy="39566"/>
          </a:xfrm>
          <a:prstGeom prst="triangl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-10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831764" y="1836176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1244152" y="1836210"/>
            <a:ext cx="795419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69" name="그림 68"/>
          <p:cNvPicPr>
            <a:picLocks noChangeAspect="1"/>
          </p:cNvPicPr>
          <p:nvPr/>
        </p:nvPicPr>
        <p:blipFill rotWithShape="1">
          <a:blip r:embed="rId3"/>
          <a:srcRect r="73540"/>
          <a:stretch/>
        </p:blipFill>
        <p:spPr>
          <a:xfrm>
            <a:off x="1256853" y="1846382"/>
            <a:ext cx="183595" cy="164228"/>
          </a:xfrm>
          <a:prstGeom prst="rect">
            <a:avLst/>
          </a:prstGeom>
        </p:spPr>
      </p:pic>
      <p:sp>
        <p:nvSpPr>
          <p:cNvPr id="70" name="직사각형 69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584223" y="1555689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996611" y="1555723"/>
            <a:ext cx="795419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72" name="그림 71"/>
          <p:cNvPicPr>
            <a:picLocks noChangeAspect="1"/>
          </p:cNvPicPr>
          <p:nvPr/>
        </p:nvPicPr>
        <p:blipFill rotWithShape="1">
          <a:blip r:embed="rId3"/>
          <a:srcRect r="73540"/>
          <a:stretch/>
        </p:blipFill>
        <p:spPr>
          <a:xfrm>
            <a:off x="6009312" y="1565895"/>
            <a:ext cx="183595" cy="164228"/>
          </a:xfrm>
          <a:prstGeom prst="rect">
            <a:avLst/>
          </a:prstGeom>
        </p:spPr>
      </p:pic>
      <p:sp>
        <p:nvSpPr>
          <p:cNvPr id="73" name="직사각형 7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058579" y="1835480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470967" y="1835514"/>
            <a:ext cx="795419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75" name="그림 74"/>
          <p:cNvPicPr>
            <a:picLocks noChangeAspect="1"/>
          </p:cNvPicPr>
          <p:nvPr/>
        </p:nvPicPr>
        <p:blipFill rotWithShape="1">
          <a:blip r:embed="rId3"/>
          <a:srcRect r="73540"/>
          <a:stretch/>
        </p:blipFill>
        <p:spPr>
          <a:xfrm>
            <a:off x="3483668" y="1845686"/>
            <a:ext cx="183595" cy="164228"/>
          </a:xfrm>
          <a:prstGeom prst="rect">
            <a:avLst/>
          </a:prstGeom>
        </p:spPr>
      </p:pic>
      <p:sp>
        <p:nvSpPr>
          <p:cNvPr id="76" name="직사각형 7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588191" y="1835586"/>
            <a:ext cx="939629" cy="180809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404863" y="2126051"/>
            <a:ext cx="588247" cy="178863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42" name="표 41"/>
          <p:cNvGraphicFramePr>
            <a:graphicFrameLocks noGrp="1"/>
          </p:cNvGraphicFramePr>
          <p:nvPr>
            <p:extLst/>
          </p:nvPr>
        </p:nvGraphicFramePr>
        <p:xfrm>
          <a:off x="257990" y="2340643"/>
          <a:ext cx="6732900" cy="76131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73290">
                  <a:extLst>
                    <a:ext uri="{9D8B030D-6E8A-4147-A177-3AD203B41FA5}">
                      <a16:colId xmlns:a16="http://schemas.microsoft.com/office/drawing/2014/main" val="4251379031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2779949203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464008059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802687290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363936033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290762292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187567425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2077388592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2646548561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3099591055"/>
                    </a:ext>
                  </a:extLst>
                </a:gridCol>
              </a:tblGrid>
              <a:tr h="2537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진행상태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관리유형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프로젝트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관리번호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프로젝트명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협의요청일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개발완료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예정일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프로젝트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종료일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의뢰업무구분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보고서진행상태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자체개선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세부분류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6760147"/>
                  </a:ext>
                </a:extLst>
              </a:tr>
              <a:tr h="2537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정상진행중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P20242311342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 연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2024-04-01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2024-04-22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보고서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본부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검증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8247342"/>
                  </a:ext>
                </a:extLst>
              </a:tr>
              <a:tr h="253773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i="0" u="none" strike="noStrike" dirty="0" smtClean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4900742"/>
                  </a:ext>
                </a:extLst>
              </a:tr>
            </a:tbl>
          </a:graphicData>
        </a:graphic>
      </p:graphicFrame>
      <p:graphicFrame>
        <p:nvGraphicFramePr>
          <p:cNvPr id="43" name="표 42"/>
          <p:cNvGraphicFramePr>
            <a:graphicFrameLocks noGrp="1"/>
          </p:cNvGraphicFramePr>
          <p:nvPr>
            <p:extLst/>
          </p:nvPr>
        </p:nvGraphicFramePr>
        <p:xfrm>
          <a:off x="312080" y="2927357"/>
          <a:ext cx="6732900" cy="76131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73290">
                  <a:extLst>
                    <a:ext uri="{9D8B030D-6E8A-4147-A177-3AD203B41FA5}">
                      <a16:colId xmlns:a16="http://schemas.microsoft.com/office/drawing/2014/main" val="4251379031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2779949203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464008059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802687290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363936033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290762292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1187567425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2077388592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2646548561"/>
                    </a:ext>
                  </a:extLst>
                </a:gridCol>
                <a:gridCol w="673290">
                  <a:extLst>
                    <a:ext uri="{9D8B030D-6E8A-4147-A177-3AD203B41FA5}">
                      <a16:colId xmlns:a16="http://schemas.microsoft.com/office/drawing/2014/main" val="3099591055"/>
                    </a:ext>
                  </a:extLst>
                </a:gridCol>
              </a:tblGrid>
              <a:tr h="2537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의뢰직원명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의뢰부점명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피엠성명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개발부서명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개발팀명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개발중단일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의뢰문서번호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개발시작일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개발완료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희망일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의뢰사업본부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6760147"/>
                  </a:ext>
                </a:extLst>
              </a:tr>
              <a:tr h="253773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신탁부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위수탁사업부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위수탁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신탁부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IT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2024-04-01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2024-04-22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WM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고객그룹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8247342"/>
                  </a:ext>
                </a:extLst>
              </a:tr>
              <a:tr h="253773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800" b="0" i="0" u="none" strike="noStrike" dirty="0" smtClean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ctr"/>
                      <a:endParaRPr lang="ko-KR" altLang="en-US" sz="8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4900742"/>
                  </a:ext>
                </a:extLst>
              </a:tr>
            </a:tbl>
          </a:graphicData>
        </a:graphic>
      </p:graphicFrame>
      <p:graphicFrame>
        <p:nvGraphicFramePr>
          <p:cNvPr id="48" name="표 47"/>
          <p:cNvGraphicFramePr>
            <a:graphicFrameLocks noGrp="1"/>
          </p:cNvGraphicFramePr>
          <p:nvPr>
            <p:extLst/>
          </p:nvPr>
        </p:nvGraphicFramePr>
        <p:xfrm>
          <a:off x="384970" y="3517074"/>
          <a:ext cx="5316112" cy="76131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64514">
                  <a:extLst>
                    <a:ext uri="{9D8B030D-6E8A-4147-A177-3AD203B41FA5}">
                      <a16:colId xmlns:a16="http://schemas.microsoft.com/office/drawing/2014/main" val="4251379031"/>
                    </a:ext>
                  </a:extLst>
                </a:gridCol>
                <a:gridCol w="664514">
                  <a:extLst>
                    <a:ext uri="{9D8B030D-6E8A-4147-A177-3AD203B41FA5}">
                      <a16:colId xmlns:a16="http://schemas.microsoft.com/office/drawing/2014/main" val="2779949203"/>
                    </a:ext>
                  </a:extLst>
                </a:gridCol>
                <a:gridCol w="664514">
                  <a:extLst>
                    <a:ext uri="{9D8B030D-6E8A-4147-A177-3AD203B41FA5}">
                      <a16:colId xmlns:a16="http://schemas.microsoft.com/office/drawing/2014/main" val="1464008059"/>
                    </a:ext>
                  </a:extLst>
                </a:gridCol>
                <a:gridCol w="664514">
                  <a:extLst>
                    <a:ext uri="{9D8B030D-6E8A-4147-A177-3AD203B41FA5}">
                      <a16:colId xmlns:a16="http://schemas.microsoft.com/office/drawing/2014/main" val="1802687290"/>
                    </a:ext>
                  </a:extLst>
                </a:gridCol>
                <a:gridCol w="664514">
                  <a:extLst>
                    <a:ext uri="{9D8B030D-6E8A-4147-A177-3AD203B41FA5}">
                      <a16:colId xmlns:a16="http://schemas.microsoft.com/office/drawing/2014/main" val="1363936033"/>
                    </a:ext>
                  </a:extLst>
                </a:gridCol>
                <a:gridCol w="664514">
                  <a:extLst>
                    <a:ext uri="{9D8B030D-6E8A-4147-A177-3AD203B41FA5}">
                      <a16:colId xmlns:a16="http://schemas.microsoft.com/office/drawing/2014/main" val="1290762292"/>
                    </a:ext>
                  </a:extLst>
                </a:gridCol>
                <a:gridCol w="664514">
                  <a:extLst>
                    <a:ext uri="{9D8B030D-6E8A-4147-A177-3AD203B41FA5}">
                      <a16:colId xmlns:a16="http://schemas.microsoft.com/office/drawing/2014/main" val="1187567425"/>
                    </a:ext>
                  </a:extLst>
                </a:gridCol>
                <a:gridCol w="664514">
                  <a:extLst>
                    <a:ext uri="{9D8B030D-6E8A-4147-A177-3AD203B41FA5}">
                      <a16:colId xmlns:a16="http://schemas.microsoft.com/office/drawing/2014/main" val="2077388592"/>
                    </a:ext>
                  </a:extLst>
                </a:gridCol>
              </a:tblGrid>
              <a:tr h="2537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등급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프로젝트추가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산출물건수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완료예정일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변경횟수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전산의뢰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평가구분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연관업무코드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지연일수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적용매체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커뮤니케이션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전체건수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6760147"/>
                  </a:ext>
                </a:extLst>
              </a:tr>
              <a:tr h="2537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MAF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인터넷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모바일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8247342"/>
                  </a:ext>
                </a:extLst>
              </a:tr>
              <a:tr h="253773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800" b="0" i="0" u="none" strike="noStrike" dirty="0" smtClean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ctr"/>
                      <a:endParaRPr lang="ko-KR" altLang="en-US" sz="8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4900742"/>
                  </a:ext>
                </a:extLst>
              </a:tr>
            </a:tbl>
          </a:graphicData>
        </a:graphic>
      </p:graphicFrame>
      <p:grpSp>
        <p:nvGrpSpPr>
          <p:cNvPr id="8" name="그룹 7"/>
          <p:cNvGrpSpPr/>
          <p:nvPr/>
        </p:nvGrpSpPr>
        <p:grpSpPr>
          <a:xfrm>
            <a:off x="468662" y="1430132"/>
            <a:ext cx="5819878" cy="2285650"/>
            <a:chOff x="161841" y="1486333"/>
            <a:chExt cx="5819878" cy="4199864"/>
          </a:xfrm>
        </p:grpSpPr>
        <p:sp>
          <p:nvSpPr>
            <p:cNvPr id="89" name="직사각형 88"/>
            <p:cNvSpPr/>
            <p:nvPr/>
          </p:nvSpPr>
          <p:spPr bwMode="auto">
            <a:xfrm>
              <a:off x="161841" y="1486333"/>
              <a:ext cx="5819878" cy="4199864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algn="ctr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400" b="1" i="0" u="none" strike="noStrike" kern="0" cap="none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5" name="직사각형 4"/>
            <p:cNvSpPr/>
            <p:nvPr/>
          </p:nvSpPr>
          <p:spPr bwMode="auto">
            <a:xfrm>
              <a:off x="161841" y="1486333"/>
              <a:ext cx="5817737" cy="298922"/>
            </a:xfrm>
            <a:prstGeom prst="rect">
              <a:avLst/>
            </a:prstGeom>
            <a:solidFill>
              <a:srgbClr val="B1ACA8"/>
            </a:solidFill>
            <a:ln w="31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algn="ctr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400" b="1" i="0" u="none" strike="noStrike" kern="0" cap="none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7" name="TextBox 6"/>
            <p:cNvSpPr txBox="1"/>
            <p:nvPr/>
          </p:nvSpPr>
          <p:spPr>
            <a:xfrm>
              <a:off x="195808" y="1493425"/>
              <a:ext cx="162539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 err="1" smtClean="0">
                  <a:latin typeface="KB금융 본문체 Bold" panose="020B0803000000000000" pitchFamily="50" charset="-127"/>
                  <a:ea typeface="KB금융 본문체 Bold" panose="020B0803000000000000" pitchFamily="50" charset="-127"/>
                </a:rPr>
                <a:t>인수테스트</a:t>
              </a:r>
              <a:r>
                <a:rPr lang="ko-KR" altLang="en-US" sz="1000" dirty="0" smtClean="0">
                  <a:latin typeface="KB금융 본문체 Bold" panose="020B0803000000000000" pitchFamily="50" charset="-127"/>
                  <a:ea typeface="KB금융 본문체 Bold" panose="020B0803000000000000" pitchFamily="50" charset="-127"/>
                </a:rPr>
                <a:t> 현황</a:t>
              </a:r>
            </a:p>
          </p:txBody>
        </p:sp>
      </p:grpSp>
      <p:graphicFrame>
        <p:nvGraphicFramePr>
          <p:cNvPr id="79" name="표 78"/>
          <p:cNvGraphicFramePr>
            <a:graphicFrameLocks noGrp="1"/>
          </p:cNvGraphicFramePr>
          <p:nvPr>
            <p:extLst/>
          </p:nvPr>
        </p:nvGraphicFramePr>
        <p:xfrm>
          <a:off x="580132" y="1706610"/>
          <a:ext cx="5595920" cy="16500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9592">
                  <a:extLst>
                    <a:ext uri="{9D8B030D-6E8A-4147-A177-3AD203B41FA5}">
                      <a16:colId xmlns:a16="http://schemas.microsoft.com/office/drawing/2014/main" val="4251379031"/>
                    </a:ext>
                  </a:extLst>
                </a:gridCol>
                <a:gridCol w="559592">
                  <a:extLst>
                    <a:ext uri="{9D8B030D-6E8A-4147-A177-3AD203B41FA5}">
                      <a16:colId xmlns:a16="http://schemas.microsoft.com/office/drawing/2014/main" val="2779949203"/>
                    </a:ext>
                  </a:extLst>
                </a:gridCol>
                <a:gridCol w="559592">
                  <a:extLst>
                    <a:ext uri="{9D8B030D-6E8A-4147-A177-3AD203B41FA5}">
                      <a16:colId xmlns:a16="http://schemas.microsoft.com/office/drawing/2014/main" val="1464008059"/>
                    </a:ext>
                  </a:extLst>
                </a:gridCol>
                <a:gridCol w="559592">
                  <a:extLst>
                    <a:ext uri="{9D8B030D-6E8A-4147-A177-3AD203B41FA5}">
                      <a16:colId xmlns:a16="http://schemas.microsoft.com/office/drawing/2014/main" val="1802687290"/>
                    </a:ext>
                  </a:extLst>
                </a:gridCol>
                <a:gridCol w="559592">
                  <a:extLst>
                    <a:ext uri="{9D8B030D-6E8A-4147-A177-3AD203B41FA5}">
                      <a16:colId xmlns:a16="http://schemas.microsoft.com/office/drawing/2014/main" val="1363936033"/>
                    </a:ext>
                  </a:extLst>
                </a:gridCol>
                <a:gridCol w="559592">
                  <a:extLst>
                    <a:ext uri="{9D8B030D-6E8A-4147-A177-3AD203B41FA5}">
                      <a16:colId xmlns:a16="http://schemas.microsoft.com/office/drawing/2014/main" val="1290762292"/>
                    </a:ext>
                  </a:extLst>
                </a:gridCol>
                <a:gridCol w="559592">
                  <a:extLst>
                    <a:ext uri="{9D8B030D-6E8A-4147-A177-3AD203B41FA5}">
                      <a16:colId xmlns:a16="http://schemas.microsoft.com/office/drawing/2014/main" val="903318891"/>
                    </a:ext>
                  </a:extLst>
                </a:gridCol>
                <a:gridCol w="559592">
                  <a:extLst>
                    <a:ext uri="{9D8B030D-6E8A-4147-A177-3AD203B41FA5}">
                      <a16:colId xmlns:a16="http://schemas.microsoft.com/office/drawing/2014/main" val="2077388592"/>
                    </a:ext>
                  </a:extLst>
                </a:gridCol>
                <a:gridCol w="559592">
                  <a:extLst>
                    <a:ext uri="{9D8B030D-6E8A-4147-A177-3AD203B41FA5}">
                      <a16:colId xmlns:a16="http://schemas.microsoft.com/office/drawing/2014/main" val="2646548561"/>
                    </a:ext>
                  </a:extLst>
                </a:gridCol>
                <a:gridCol w="559592">
                  <a:extLst>
                    <a:ext uri="{9D8B030D-6E8A-4147-A177-3AD203B41FA5}">
                      <a16:colId xmlns:a16="http://schemas.microsoft.com/office/drawing/2014/main" val="3099591055"/>
                    </a:ext>
                  </a:extLst>
                </a:gridCol>
              </a:tblGrid>
              <a:tr h="3300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업무코드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CM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패키지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번호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프로젝트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관리번호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개발자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현업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인수테스트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실시일시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인수테스트실시내용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상위결재자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확인일시</a:t>
                      </a:r>
                      <a:endParaRPr lang="en-US" altLang="ko-KR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차상위결재자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6760147"/>
                  </a:ext>
                </a:extLst>
              </a:tr>
              <a:tr h="33001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BFF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BFF220032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P20242311342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박개발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양현업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2024-04-22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sng" strike="noStrike" dirty="0" smtClean="0">
                          <a:solidFill>
                            <a:srgbClr val="2272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조회</a:t>
                      </a:r>
                      <a:endParaRPr lang="ko-KR" altLang="en-US" sz="800" b="1" i="0" u="sng" strike="noStrike" dirty="0">
                        <a:solidFill>
                          <a:srgbClr val="2272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상결재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2022-01-25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차상위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8247342"/>
                  </a:ext>
                </a:extLst>
              </a:tr>
              <a:tr h="330015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i="0" u="none" strike="noStrike" dirty="0" smtClean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4900742"/>
                  </a:ext>
                </a:extLst>
              </a:tr>
              <a:tr h="330015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48140763"/>
                  </a:ext>
                </a:extLst>
              </a:tr>
              <a:tr h="330015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5910708"/>
                  </a:ext>
                </a:extLst>
              </a:tr>
            </a:tbl>
          </a:graphicData>
        </a:graphic>
      </p:graphicFrame>
      <p:graphicFrame>
        <p:nvGraphicFramePr>
          <p:cNvPr id="80" name="표 79"/>
          <p:cNvGraphicFramePr>
            <a:graphicFrameLocks noGrp="1"/>
          </p:cNvGraphicFramePr>
          <p:nvPr>
            <p:extLst/>
          </p:nvPr>
        </p:nvGraphicFramePr>
        <p:xfrm>
          <a:off x="5151183" y="2382984"/>
          <a:ext cx="1111814" cy="6600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5907">
                  <a:extLst>
                    <a:ext uri="{9D8B030D-6E8A-4147-A177-3AD203B41FA5}">
                      <a16:colId xmlns:a16="http://schemas.microsoft.com/office/drawing/2014/main" val="4251379031"/>
                    </a:ext>
                  </a:extLst>
                </a:gridCol>
                <a:gridCol w="555907">
                  <a:extLst>
                    <a:ext uri="{9D8B030D-6E8A-4147-A177-3AD203B41FA5}">
                      <a16:colId xmlns:a16="http://schemas.microsoft.com/office/drawing/2014/main" val="2779949203"/>
                    </a:ext>
                  </a:extLst>
                </a:gridCol>
              </a:tblGrid>
              <a:tr h="3300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확인일시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인수부서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6760147"/>
                  </a:ext>
                </a:extLst>
              </a:tr>
              <a:tr h="33001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2022-01-25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개인여신부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247342"/>
                  </a:ext>
                </a:extLst>
              </a:tr>
            </a:tbl>
          </a:graphicData>
        </a:graphic>
      </p:graphicFrame>
      <p:sp>
        <p:nvSpPr>
          <p:cNvPr id="85" name="직사각형 84"/>
          <p:cNvSpPr/>
          <p:nvPr/>
        </p:nvSpPr>
        <p:spPr bwMode="auto">
          <a:xfrm>
            <a:off x="2817218" y="2192333"/>
            <a:ext cx="332800" cy="212465"/>
          </a:xfrm>
          <a:prstGeom prst="rect">
            <a:avLst/>
          </a:prstGeom>
          <a:noFill/>
          <a:ln w="15875">
            <a:solidFill>
              <a:srgbClr val="FFBF0D"/>
            </a:solidFill>
            <a:prstDash val="sysDash"/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7" name="타원 8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235072" y="2258222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cxnSp>
        <p:nvCxnSpPr>
          <p:cNvPr id="109" name="구부러진 연결선 108"/>
          <p:cNvCxnSpPr>
            <a:endCxn id="15" idx="0"/>
          </p:cNvCxnSpPr>
          <p:nvPr/>
        </p:nvCxnSpPr>
        <p:spPr bwMode="auto">
          <a:xfrm rot="5400000">
            <a:off x="2658148" y="2860369"/>
            <a:ext cx="2111231" cy="946269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4"/>
          <a:srcRect t="17022"/>
          <a:stretch/>
        </p:blipFill>
        <p:spPr>
          <a:xfrm>
            <a:off x="770412" y="4389119"/>
            <a:ext cx="4940432" cy="1796455"/>
          </a:xfrm>
          <a:prstGeom prst="rect">
            <a:avLst/>
          </a:prstGeom>
        </p:spPr>
      </p:pic>
      <p:sp>
        <p:nvSpPr>
          <p:cNvPr id="78" name="타원 7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782947" y="4415191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472122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양쪽 모서리가 둥근 사각형 36"/>
          <p:cNvSpPr/>
          <p:nvPr/>
        </p:nvSpPr>
        <p:spPr bwMode="auto">
          <a:xfrm>
            <a:off x="1347590" y="1057838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800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서면결재문서정보</a:t>
            </a:r>
            <a:endParaRPr kumimoji="0" lang="ko-KR" altLang="en-US" sz="8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9442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결재감사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관련 화면 데이터를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Wise-Net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과 연계하여 마트를 구성하고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관련 내용을 화면에서 조회할 수 있도록 함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업무구분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: </a:t>
                      </a:r>
                      <a:r>
                        <a:rPr lang="ko-KR" altLang="en-US" sz="800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결재완료문서</a:t>
                      </a:r>
                      <a:r>
                        <a:rPr lang="en-US" altLang="ko-KR" sz="800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서면결재문서</a:t>
                      </a:r>
                      <a:r>
                        <a:rPr lang="en-US" altLang="ko-KR" sz="800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최근수신문서</a:t>
                      </a:r>
                      <a:r>
                        <a:rPr lang="en-US" altLang="ko-KR" sz="800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대외접수문서</a:t>
                      </a:r>
                      <a:r>
                        <a:rPr lang="en-US" altLang="ko-KR" sz="800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대외발송문서 총 </a:t>
                      </a:r>
                      <a:r>
                        <a:rPr lang="en-US" altLang="ko-KR" sz="800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5</a:t>
                      </a:r>
                      <a:r>
                        <a:rPr lang="ko-KR" altLang="en-US" sz="800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로 구분되며 각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마트정의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테이블에 맞춰 화면내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조회컬럼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생성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업무구분별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화면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ID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결재완료문서정보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-MDD72S31000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서면결재문서정보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-MDD72S31100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최근수신문서정보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-MDD72S31200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대외접수문서정보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-MDD72S31300</a:t>
                      </a:r>
                    </a:p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대외발송문서정보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-MDD72S31400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0" cap="none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0985449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MDD-00124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MDD72S31000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결재감사</a:t>
                      </a:r>
                      <a:r>
                        <a:rPr kumimoji="0" lang="ko-KR" altLang="en-US" sz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정보 조회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1050" b="1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감사지원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감사마트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업무별 </a:t>
                      </a:r>
                      <a:r>
                        <a:rPr kumimoji="0" lang="ko-KR" altLang="en-US" sz="1050" b="1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세부조회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결재감사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정보 조회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(P165: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이지원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41" name="양쪽 모서리가 둥근 사각형 40"/>
          <p:cNvSpPr/>
          <p:nvPr/>
        </p:nvSpPr>
        <p:spPr bwMode="auto">
          <a:xfrm>
            <a:off x="264495" y="1057838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800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결재완료문서정보</a:t>
            </a:r>
            <a:endParaRPr kumimoji="0" lang="ko-KR" altLang="en-US" sz="8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2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57992" y="1019885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3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64496" y="1280216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45" name="내용 개체 틀 121"/>
          <p:cNvGraphicFramePr>
            <a:graphicFrameLocks/>
          </p:cNvGraphicFramePr>
          <p:nvPr>
            <p:extLst/>
          </p:nvPr>
        </p:nvGraphicFramePr>
        <p:xfrm>
          <a:off x="257990" y="1376705"/>
          <a:ext cx="6732901" cy="81641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1177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2125504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34206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1346200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  <a:gridCol w="593725">
                  <a:extLst>
                    <a:ext uri="{9D8B030D-6E8A-4147-A177-3AD203B41FA5}">
                      <a16:colId xmlns:a16="http://schemas.microsoft.com/office/drawing/2014/main" val="4016009723"/>
                    </a:ext>
                  </a:extLst>
                </a:gridCol>
                <a:gridCol w="1392089">
                  <a:extLst>
                    <a:ext uri="{9D8B030D-6E8A-4147-A177-3AD203B41FA5}">
                      <a16:colId xmlns:a16="http://schemas.microsoft.com/office/drawing/2014/main" val="782959202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u="none" strike="noStrike" dirty="0" err="1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기안일자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기안부서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기안자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완료일자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문서종류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84629066"/>
                  </a:ext>
                </a:extLst>
              </a:tr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결재문서제목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문서번호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19329184"/>
                  </a:ext>
                </a:extLst>
              </a:tr>
            </a:tbl>
          </a:graphicData>
        </a:graphic>
      </p:graphicFrame>
      <p:sp>
        <p:nvSpPr>
          <p:cNvPr id="4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596963" y="1968488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195842" y="1971358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958001" y="1422496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032813" y="1419086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2024-04-30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50" name="그림 4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98401" y="1426336"/>
            <a:ext cx="181098" cy="173224"/>
          </a:xfrm>
          <a:prstGeom prst="rect">
            <a:avLst/>
          </a:prstGeom>
        </p:spPr>
      </p:pic>
      <p:pic>
        <p:nvPicPr>
          <p:cNvPr id="51" name="그림 5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672075" y="1422921"/>
            <a:ext cx="181098" cy="173224"/>
          </a:xfrm>
          <a:prstGeom prst="rect">
            <a:avLst/>
          </a:prstGeom>
        </p:spPr>
      </p:pic>
      <p:cxnSp>
        <p:nvCxnSpPr>
          <p:cNvPr id="52" name="직선 연결선 51"/>
          <p:cNvCxnSpPr/>
          <p:nvPr/>
        </p:nvCxnSpPr>
        <p:spPr bwMode="auto">
          <a:xfrm>
            <a:off x="1836648" y="1512948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958001" y="1968030"/>
            <a:ext cx="1895172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7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인사발령</a:t>
            </a:r>
            <a:r>
              <a:rPr kumimoji="0" lang="en-US" altLang="ko-KR" sz="8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7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(</a:t>
            </a:r>
            <a:r>
              <a:rPr kumimoji="0" lang="ko-KR" altLang="en-US" sz="8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7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파견</a:t>
            </a:r>
            <a:r>
              <a:rPr kumimoji="0" lang="en-US" altLang="ko-KR" sz="8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7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)</a:t>
            </a:r>
            <a:endParaRPr kumimoji="0" lang="ko-KR" altLang="en-US" sz="8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734865" y="1418349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47253" y="1418383"/>
            <a:ext cx="795419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56" name="그림 55"/>
          <p:cNvPicPr>
            <a:picLocks noChangeAspect="1"/>
          </p:cNvPicPr>
          <p:nvPr/>
        </p:nvPicPr>
        <p:blipFill rotWithShape="1">
          <a:blip r:embed="rId3"/>
          <a:srcRect r="73540"/>
          <a:stretch/>
        </p:blipFill>
        <p:spPr>
          <a:xfrm>
            <a:off x="4159954" y="1428555"/>
            <a:ext cx="183595" cy="164228"/>
          </a:xfrm>
          <a:prstGeom prst="rect">
            <a:avLst/>
          </a:prstGeom>
        </p:spPr>
      </p:pic>
      <p:sp>
        <p:nvSpPr>
          <p:cNvPr id="57" name="직사각형 5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645476" y="1426302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6057865" y="1426336"/>
            <a:ext cx="899098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59" name="그림 58"/>
          <p:cNvPicPr>
            <a:picLocks noChangeAspect="1"/>
          </p:cNvPicPr>
          <p:nvPr/>
        </p:nvPicPr>
        <p:blipFill rotWithShape="1">
          <a:blip r:embed="rId3"/>
          <a:srcRect r="73540"/>
          <a:stretch/>
        </p:blipFill>
        <p:spPr>
          <a:xfrm>
            <a:off x="6070565" y="1436508"/>
            <a:ext cx="183595" cy="164228"/>
          </a:xfrm>
          <a:prstGeom prst="rect">
            <a:avLst/>
          </a:prstGeom>
        </p:spPr>
      </p:pic>
      <p:graphicFrame>
        <p:nvGraphicFramePr>
          <p:cNvPr id="60" name="표 59"/>
          <p:cNvGraphicFramePr>
            <a:graphicFrameLocks noGrp="1"/>
          </p:cNvGraphicFramePr>
          <p:nvPr>
            <p:extLst/>
          </p:nvPr>
        </p:nvGraphicFramePr>
        <p:xfrm>
          <a:off x="257990" y="2364501"/>
          <a:ext cx="6732904" cy="76131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1202">
                  <a:extLst>
                    <a:ext uri="{9D8B030D-6E8A-4147-A177-3AD203B41FA5}">
                      <a16:colId xmlns:a16="http://schemas.microsoft.com/office/drawing/2014/main" val="4251379031"/>
                    </a:ext>
                  </a:extLst>
                </a:gridCol>
                <a:gridCol w="799070">
                  <a:extLst>
                    <a:ext uri="{9D8B030D-6E8A-4147-A177-3AD203B41FA5}">
                      <a16:colId xmlns:a16="http://schemas.microsoft.com/office/drawing/2014/main" val="2779949203"/>
                    </a:ext>
                  </a:extLst>
                </a:gridCol>
                <a:gridCol w="1449860">
                  <a:extLst>
                    <a:ext uri="{9D8B030D-6E8A-4147-A177-3AD203B41FA5}">
                      <a16:colId xmlns:a16="http://schemas.microsoft.com/office/drawing/2014/main" val="1464008059"/>
                    </a:ext>
                  </a:extLst>
                </a:gridCol>
                <a:gridCol w="494270">
                  <a:extLst>
                    <a:ext uri="{9D8B030D-6E8A-4147-A177-3AD203B41FA5}">
                      <a16:colId xmlns:a16="http://schemas.microsoft.com/office/drawing/2014/main" val="1802687290"/>
                    </a:ext>
                  </a:extLst>
                </a:gridCol>
                <a:gridCol w="510746">
                  <a:extLst>
                    <a:ext uri="{9D8B030D-6E8A-4147-A177-3AD203B41FA5}">
                      <a16:colId xmlns:a16="http://schemas.microsoft.com/office/drawing/2014/main" val="1363936033"/>
                    </a:ext>
                  </a:extLst>
                </a:gridCol>
                <a:gridCol w="729049">
                  <a:extLst>
                    <a:ext uri="{9D8B030D-6E8A-4147-A177-3AD203B41FA5}">
                      <a16:colId xmlns:a16="http://schemas.microsoft.com/office/drawing/2014/main" val="1290762292"/>
                    </a:ext>
                  </a:extLst>
                </a:gridCol>
                <a:gridCol w="729049">
                  <a:extLst>
                    <a:ext uri="{9D8B030D-6E8A-4147-A177-3AD203B41FA5}">
                      <a16:colId xmlns:a16="http://schemas.microsoft.com/office/drawing/2014/main" val="1187567425"/>
                    </a:ext>
                  </a:extLst>
                </a:gridCol>
                <a:gridCol w="634314">
                  <a:extLst>
                    <a:ext uri="{9D8B030D-6E8A-4147-A177-3AD203B41FA5}">
                      <a16:colId xmlns:a16="http://schemas.microsoft.com/office/drawing/2014/main" val="2077388592"/>
                    </a:ext>
                  </a:extLst>
                </a:gridCol>
                <a:gridCol w="855344">
                  <a:extLst>
                    <a:ext uri="{9D8B030D-6E8A-4147-A177-3AD203B41FA5}">
                      <a16:colId xmlns:a16="http://schemas.microsoft.com/office/drawing/2014/main" val="2646548561"/>
                    </a:ext>
                  </a:extLst>
                </a:gridCol>
              </a:tblGrid>
              <a:tr h="2537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문서종류</a:t>
                      </a:r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문서번호</a:t>
                      </a:r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제 목</a:t>
                      </a:r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기안부서</a:t>
                      </a:r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기안자</a:t>
                      </a:r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기안일자</a:t>
                      </a:r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완료일자</a:t>
                      </a:r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서면결재여부</a:t>
                      </a:r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업무구분</a:t>
                      </a:r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6760147"/>
                  </a:ext>
                </a:extLst>
              </a:tr>
              <a:tr h="2537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품의문</a:t>
                      </a:r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감사기획부 </a:t>
                      </a:r>
                      <a:r>
                        <a:rPr lang="en-US" altLang="ko-KR" sz="7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141</a:t>
                      </a:r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2024</a:t>
                      </a:r>
                      <a:r>
                        <a:rPr lang="ko-KR" altLang="en-US" sz="7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년 제</a:t>
                      </a:r>
                      <a:r>
                        <a:rPr lang="en-US" altLang="ko-KR" sz="7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r>
                        <a:rPr lang="ko-KR" altLang="en-US" sz="7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차 </a:t>
                      </a:r>
                      <a:r>
                        <a:rPr lang="en-US" altLang="ko-KR" sz="7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ko-KR" altLang="en-US" sz="7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임시</a:t>
                      </a:r>
                      <a:r>
                        <a:rPr lang="en-US" altLang="ko-KR" sz="7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7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감사위원회</a:t>
                      </a:r>
                      <a:r>
                        <a:rPr lang="en-US" altLang="ko-KR" sz="7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감사기획부</a:t>
                      </a:r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김감사</a:t>
                      </a:r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2024-03-02</a:t>
                      </a:r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2024-03-03</a:t>
                      </a:r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N</a:t>
                      </a:r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결재완료문서</a:t>
                      </a:r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8247342"/>
                  </a:ext>
                </a:extLst>
              </a:tr>
              <a:tr h="2537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4900742"/>
                  </a:ext>
                </a:extLst>
              </a:tr>
            </a:tbl>
          </a:graphicData>
        </a:graphic>
      </p:graphicFrame>
      <p:sp>
        <p:nvSpPr>
          <p:cNvPr id="62" name="직사각형 6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738484" y="1964970"/>
            <a:ext cx="1895172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7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감사기획부 </a:t>
            </a:r>
            <a:r>
              <a:rPr kumimoji="0" lang="en-US" altLang="ko-KR" sz="8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7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137</a:t>
            </a:r>
            <a:endParaRPr kumimoji="0" lang="ko-KR" altLang="en-US" sz="8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958001" y="1689639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032813" y="1686229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2024-04-30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65" name="그림 6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98401" y="1693479"/>
            <a:ext cx="181098" cy="173224"/>
          </a:xfrm>
          <a:prstGeom prst="rect">
            <a:avLst/>
          </a:prstGeom>
        </p:spPr>
      </p:pic>
      <p:pic>
        <p:nvPicPr>
          <p:cNvPr id="66" name="그림 6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672075" y="1690064"/>
            <a:ext cx="181098" cy="173224"/>
          </a:xfrm>
          <a:prstGeom prst="rect">
            <a:avLst/>
          </a:prstGeom>
        </p:spPr>
      </p:pic>
      <p:cxnSp>
        <p:nvCxnSpPr>
          <p:cNvPr id="67" name="직선 연결선 66"/>
          <p:cNvCxnSpPr/>
          <p:nvPr/>
        </p:nvCxnSpPr>
        <p:spPr bwMode="auto">
          <a:xfrm>
            <a:off x="1836648" y="1780091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grpSp>
        <p:nvGrpSpPr>
          <p:cNvPr id="68" name="그룹 67"/>
          <p:cNvGrpSpPr/>
          <p:nvPr/>
        </p:nvGrpSpPr>
        <p:grpSpPr>
          <a:xfrm>
            <a:off x="3744236" y="1690591"/>
            <a:ext cx="579711" cy="180915"/>
            <a:chOff x="1179239" y="2959078"/>
            <a:chExt cx="579711" cy="180915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179239" y="2959078"/>
              <a:ext cx="579711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전체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70" name="이등변 삼각형 69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1657007" y="3039900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74" name="타원 7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217038" y="937554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8" name="양쪽 모서리가 둥근 사각형 37"/>
          <p:cNvSpPr/>
          <p:nvPr/>
        </p:nvSpPr>
        <p:spPr bwMode="auto">
          <a:xfrm>
            <a:off x="2430685" y="1057838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800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최근수신문서정보</a:t>
            </a:r>
            <a:endParaRPr kumimoji="0" lang="ko-KR" altLang="en-US" sz="8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9" name="양쪽 모서리가 둥근 사각형 38"/>
          <p:cNvSpPr/>
          <p:nvPr/>
        </p:nvSpPr>
        <p:spPr bwMode="auto">
          <a:xfrm>
            <a:off x="3513780" y="1057838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800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대외접수문서정보</a:t>
            </a:r>
            <a:endParaRPr kumimoji="0" lang="ko-KR" altLang="en-US" sz="8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0" name="양쪽 모서리가 둥근 사각형 39"/>
          <p:cNvSpPr/>
          <p:nvPr/>
        </p:nvSpPr>
        <p:spPr bwMode="auto">
          <a:xfrm>
            <a:off x="4596875" y="1057838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800" kern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대외발송문서정보</a:t>
            </a:r>
            <a:endParaRPr kumimoji="0" lang="ko-KR" altLang="en-US" sz="8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80877" y="1268020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989526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8" name="표 47"/>
          <p:cNvGraphicFramePr>
            <a:graphicFrameLocks noGrp="1"/>
          </p:cNvGraphicFramePr>
          <p:nvPr>
            <p:extLst/>
          </p:nvPr>
        </p:nvGraphicFramePr>
        <p:xfrm>
          <a:off x="177533" y="2554847"/>
          <a:ext cx="6921534" cy="30951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9914">
                  <a:extLst>
                    <a:ext uri="{9D8B030D-6E8A-4147-A177-3AD203B41FA5}">
                      <a16:colId xmlns:a16="http://schemas.microsoft.com/office/drawing/2014/main" val="4251379031"/>
                    </a:ext>
                  </a:extLst>
                </a:gridCol>
                <a:gridCol w="191193">
                  <a:extLst>
                    <a:ext uri="{9D8B030D-6E8A-4147-A177-3AD203B41FA5}">
                      <a16:colId xmlns:a16="http://schemas.microsoft.com/office/drawing/2014/main" val="1514031650"/>
                    </a:ext>
                  </a:extLst>
                </a:gridCol>
                <a:gridCol w="232756">
                  <a:extLst>
                    <a:ext uri="{9D8B030D-6E8A-4147-A177-3AD203B41FA5}">
                      <a16:colId xmlns:a16="http://schemas.microsoft.com/office/drawing/2014/main" val="1849252836"/>
                    </a:ext>
                  </a:extLst>
                </a:gridCol>
                <a:gridCol w="232757">
                  <a:extLst>
                    <a:ext uri="{9D8B030D-6E8A-4147-A177-3AD203B41FA5}">
                      <a16:colId xmlns:a16="http://schemas.microsoft.com/office/drawing/2014/main" val="3993195723"/>
                    </a:ext>
                  </a:extLst>
                </a:gridCol>
                <a:gridCol w="274320">
                  <a:extLst>
                    <a:ext uri="{9D8B030D-6E8A-4147-A177-3AD203B41FA5}">
                      <a16:colId xmlns:a16="http://schemas.microsoft.com/office/drawing/2014/main" val="450487428"/>
                    </a:ext>
                  </a:extLst>
                </a:gridCol>
                <a:gridCol w="282632">
                  <a:extLst>
                    <a:ext uri="{9D8B030D-6E8A-4147-A177-3AD203B41FA5}">
                      <a16:colId xmlns:a16="http://schemas.microsoft.com/office/drawing/2014/main" val="1714400454"/>
                    </a:ext>
                  </a:extLst>
                </a:gridCol>
                <a:gridCol w="274320">
                  <a:extLst>
                    <a:ext uri="{9D8B030D-6E8A-4147-A177-3AD203B41FA5}">
                      <a16:colId xmlns:a16="http://schemas.microsoft.com/office/drawing/2014/main" val="2566981223"/>
                    </a:ext>
                  </a:extLst>
                </a:gridCol>
                <a:gridCol w="365760">
                  <a:extLst>
                    <a:ext uri="{9D8B030D-6E8A-4147-A177-3AD203B41FA5}">
                      <a16:colId xmlns:a16="http://schemas.microsoft.com/office/drawing/2014/main" val="3504485713"/>
                    </a:ext>
                  </a:extLst>
                </a:gridCol>
                <a:gridCol w="133004">
                  <a:extLst>
                    <a:ext uri="{9D8B030D-6E8A-4147-A177-3AD203B41FA5}">
                      <a16:colId xmlns:a16="http://schemas.microsoft.com/office/drawing/2014/main" val="2418863451"/>
                    </a:ext>
                  </a:extLst>
                </a:gridCol>
                <a:gridCol w="124691">
                  <a:extLst>
                    <a:ext uri="{9D8B030D-6E8A-4147-A177-3AD203B41FA5}">
                      <a16:colId xmlns:a16="http://schemas.microsoft.com/office/drawing/2014/main" val="684587797"/>
                    </a:ext>
                  </a:extLst>
                </a:gridCol>
                <a:gridCol w="157942">
                  <a:extLst>
                    <a:ext uri="{9D8B030D-6E8A-4147-A177-3AD203B41FA5}">
                      <a16:colId xmlns:a16="http://schemas.microsoft.com/office/drawing/2014/main" val="3894898628"/>
                    </a:ext>
                  </a:extLst>
                </a:gridCol>
                <a:gridCol w="174567">
                  <a:extLst>
                    <a:ext uri="{9D8B030D-6E8A-4147-A177-3AD203B41FA5}">
                      <a16:colId xmlns:a16="http://schemas.microsoft.com/office/drawing/2014/main" val="3781821324"/>
                    </a:ext>
                  </a:extLst>
                </a:gridCol>
                <a:gridCol w="108066">
                  <a:extLst>
                    <a:ext uri="{9D8B030D-6E8A-4147-A177-3AD203B41FA5}">
                      <a16:colId xmlns:a16="http://schemas.microsoft.com/office/drawing/2014/main" val="2759589822"/>
                    </a:ext>
                  </a:extLst>
                </a:gridCol>
                <a:gridCol w="116378">
                  <a:extLst>
                    <a:ext uri="{9D8B030D-6E8A-4147-A177-3AD203B41FA5}">
                      <a16:colId xmlns:a16="http://schemas.microsoft.com/office/drawing/2014/main" val="3018719877"/>
                    </a:ext>
                  </a:extLst>
                </a:gridCol>
                <a:gridCol w="174567">
                  <a:extLst>
                    <a:ext uri="{9D8B030D-6E8A-4147-A177-3AD203B41FA5}">
                      <a16:colId xmlns:a16="http://schemas.microsoft.com/office/drawing/2014/main" val="2779949203"/>
                    </a:ext>
                  </a:extLst>
                </a:gridCol>
                <a:gridCol w="133004">
                  <a:extLst>
                    <a:ext uri="{9D8B030D-6E8A-4147-A177-3AD203B41FA5}">
                      <a16:colId xmlns:a16="http://schemas.microsoft.com/office/drawing/2014/main" val="1464008059"/>
                    </a:ext>
                  </a:extLst>
                </a:gridCol>
                <a:gridCol w="199505">
                  <a:extLst>
                    <a:ext uri="{9D8B030D-6E8A-4147-A177-3AD203B41FA5}">
                      <a16:colId xmlns:a16="http://schemas.microsoft.com/office/drawing/2014/main" val="1802687290"/>
                    </a:ext>
                  </a:extLst>
                </a:gridCol>
                <a:gridCol w="191193">
                  <a:extLst>
                    <a:ext uri="{9D8B030D-6E8A-4147-A177-3AD203B41FA5}">
                      <a16:colId xmlns:a16="http://schemas.microsoft.com/office/drawing/2014/main" val="1363936033"/>
                    </a:ext>
                  </a:extLst>
                </a:gridCol>
                <a:gridCol w="191193">
                  <a:extLst>
                    <a:ext uri="{9D8B030D-6E8A-4147-A177-3AD203B41FA5}">
                      <a16:colId xmlns:a16="http://schemas.microsoft.com/office/drawing/2014/main" val="1290762292"/>
                    </a:ext>
                  </a:extLst>
                </a:gridCol>
                <a:gridCol w="174567">
                  <a:extLst>
                    <a:ext uri="{9D8B030D-6E8A-4147-A177-3AD203B41FA5}">
                      <a16:colId xmlns:a16="http://schemas.microsoft.com/office/drawing/2014/main" val="1187567425"/>
                    </a:ext>
                  </a:extLst>
                </a:gridCol>
                <a:gridCol w="182880">
                  <a:extLst>
                    <a:ext uri="{9D8B030D-6E8A-4147-A177-3AD203B41FA5}">
                      <a16:colId xmlns:a16="http://schemas.microsoft.com/office/drawing/2014/main" val="2077388592"/>
                    </a:ext>
                  </a:extLst>
                </a:gridCol>
                <a:gridCol w="124691">
                  <a:extLst>
                    <a:ext uri="{9D8B030D-6E8A-4147-A177-3AD203B41FA5}">
                      <a16:colId xmlns:a16="http://schemas.microsoft.com/office/drawing/2014/main" val="3339980511"/>
                    </a:ext>
                  </a:extLst>
                </a:gridCol>
                <a:gridCol w="199505">
                  <a:extLst>
                    <a:ext uri="{9D8B030D-6E8A-4147-A177-3AD203B41FA5}">
                      <a16:colId xmlns:a16="http://schemas.microsoft.com/office/drawing/2014/main" val="535628940"/>
                    </a:ext>
                  </a:extLst>
                </a:gridCol>
                <a:gridCol w="174567">
                  <a:extLst>
                    <a:ext uri="{9D8B030D-6E8A-4147-A177-3AD203B41FA5}">
                      <a16:colId xmlns:a16="http://schemas.microsoft.com/office/drawing/2014/main" val="919199693"/>
                    </a:ext>
                  </a:extLst>
                </a:gridCol>
                <a:gridCol w="191193">
                  <a:extLst>
                    <a:ext uri="{9D8B030D-6E8A-4147-A177-3AD203B41FA5}">
                      <a16:colId xmlns:a16="http://schemas.microsoft.com/office/drawing/2014/main" val="3326145530"/>
                    </a:ext>
                  </a:extLst>
                </a:gridCol>
                <a:gridCol w="191193">
                  <a:extLst>
                    <a:ext uri="{9D8B030D-6E8A-4147-A177-3AD203B41FA5}">
                      <a16:colId xmlns:a16="http://schemas.microsoft.com/office/drawing/2014/main" val="1290699102"/>
                    </a:ext>
                  </a:extLst>
                </a:gridCol>
                <a:gridCol w="166254">
                  <a:extLst>
                    <a:ext uri="{9D8B030D-6E8A-4147-A177-3AD203B41FA5}">
                      <a16:colId xmlns:a16="http://schemas.microsoft.com/office/drawing/2014/main" val="2805952051"/>
                    </a:ext>
                  </a:extLst>
                </a:gridCol>
                <a:gridCol w="124691">
                  <a:extLst>
                    <a:ext uri="{9D8B030D-6E8A-4147-A177-3AD203B41FA5}">
                      <a16:colId xmlns:a16="http://schemas.microsoft.com/office/drawing/2014/main" val="3754708181"/>
                    </a:ext>
                  </a:extLst>
                </a:gridCol>
                <a:gridCol w="199506">
                  <a:extLst>
                    <a:ext uri="{9D8B030D-6E8A-4147-A177-3AD203B41FA5}">
                      <a16:colId xmlns:a16="http://schemas.microsoft.com/office/drawing/2014/main" val="2669359752"/>
                    </a:ext>
                  </a:extLst>
                </a:gridCol>
                <a:gridCol w="174567">
                  <a:extLst>
                    <a:ext uri="{9D8B030D-6E8A-4147-A177-3AD203B41FA5}">
                      <a16:colId xmlns:a16="http://schemas.microsoft.com/office/drawing/2014/main" val="3021521021"/>
                    </a:ext>
                  </a:extLst>
                </a:gridCol>
                <a:gridCol w="142240">
                  <a:extLst>
                    <a:ext uri="{9D8B030D-6E8A-4147-A177-3AD203B41FA5}">
                      <a16:colId xmlns:a16="http://schemas.microsoft.com/office/drawing/2014/main" val="770787411"/>
                    </a:ext>
                  </a:extLst>
                </a:gridCol>
                <a:gridCol w="142240">
                  <a:extLst>
                    <a:ext uri="{9D8B030D-6E8A-4147-A177-3AD203B41FA5}">
                      <a16:colId xmlns:a16="http://schemas.microsoft.com/office/drawing/2014/main" val="2927696536"/>
                    </a:ext>
                  </a:extLst>
                </a:gridCol>
                <a:gridCol w="142239">
                  <a:extLst>
                    <a:ext uri="{9D8B030D-6E8A-4147-A177-3AD203B41FA5}">
                      <a16:colId xmlns:a16="http://schemas.microsoft.com/office/drawing/2014/main" val="1001236644"/>
                    </a:ext>
                  </a:extLst>
                </a:gridCol>
                <a:gridCol w="142240">
                  <a:extLst>
                    <a:ext uri="{9D8B030D-6E8A-4147-A177-3AD203B41FA5}">
                      <a16:colId xmlns:a16="http://schemas.microsoft.com/office/drawing/2014/main" val="888855199"/>
                    </a:ext>
                  </a:extLst>
                </a:gridCol>
                <a:gridCol w="142240">
                  <a:extLst>
                    <a:ext uri="{9D8B030D-6E8A-4147-A177-3AD203B41FA5}">
                      <a16:colId xmlns:a16="http://schemas.microsoft.com/office/drawing/2014/main" val="3707874514"/>
                    </a:ext>
                  </a:extLst>
                </a:gridCol>
                <a:gridCol w="142240">
                  <a:extLst>
                    <a:ext uri="{9D8B030D-6E8A-4147-A177-3AD203B41FA5}">
                      <a16:colId xmlns:a16="http://schemas.microsoft.com/office/drawing/2014/main" val="3913166588"/>
                    </a:ext>
                  </a:extLst>
                </a:gridCol>
                <a:gridCol w="142239">
                  <a:extLst>
                    <a:ext uri="{9D8B030D-6E8A-4147-A177-3AD203B41FA5}">
                      <a16:colId xmlns:a16="http://schemas.microsoft.com/office/drawing/2014/main" val="3319347164"/>
                    </a:ext>
                  </a:extLst>
                </a:gridCol>
                <a:gridCol w="249530">
                  <a:extLst>
                    <a:ext uri="{9D8B030D-6E8A-4147-A177-3AD203B41FA5}">
                      <a16:colId xmlns:a16="http://schemas.microsoft.com/office/drawing/2014/main" val="3471436024"/>
                    </a:ext>
                  </a:extLst>
                </a:gridCol>
                <a:gridCol w="34950">
                  <a:extLst>
                    <a:ext uri="{9D8B030D-6E8A-4147-A177-3AD203B41FA5}">
                      <a16:colId xmlns:a16="http://schemas.microsoft.com/office/drawing/2014/main" val="2367434439"/>
                    </a:ext>
                  </a:extLst>
                </a:gridCol>
              </a:tblGrid>
              <a:tr h="21336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순번</a:t>
                      </a:r>
                      <a:endParaRPr 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구분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배포구분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프로젝트 키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프로젝트명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이슈키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이슈요약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이슈 </a:t>
                      </a:r>
                      <a:r>
                        <a:rPr lang="ko-KR" altLang="en-US" sz="800" dirty="0" err="1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종료시산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r>
                        <a:rPr lang="ko-KR" altLang="en-US" sz="800" dirty="0" err="1" smtClean="0"/>
                        <a:t>이슈생성</a:t>
                      </a:r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등록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r>
                        <a:rPr lang="ko-KR" altLang="en-US" sz="800" dirty="0" smtClean="0"/>
                        <a:t>소스코드 리뷰 및 승인 검토</a:t>
                      </a:r>
                      <a:endParaRPr lang="ko-KR" altLang="en-US" sz="8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smtClean="0">
                          <a:effectLst/>
                        </a:rPr>
                        <a:t>요구사항 검증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제</a:t>
                      </a:r>
                      <a:r>
                        <a:rPr lang="en-US" altLang="ko-KR" sz="800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3</a:t>
                      </a:r>
                      <a:r>
                        <a:rPr lang="ko-KR" altLang="en-US" sz="800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자 테스트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요구사항 검토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7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릴리즈검토</a:t>
                      </a:r>
                      <a:endParaRPr lang="ko-KR" altLang="en-US" sz="800" kern="1200" dirty="0">
                        <a:solidFill>
                          <a:schemeClr val="dk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endParaRPr lang="ko-KR" altLang="en-US" sz="700" kern="1200" dirty="0">
                        <a:solidFill>
                          <a:schemeClr val="dk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800" dirty="0" smtClean="0">
                          <a:effectLst/>
                        </a:rPr>
                        <a:t>Master</a:t>
                      </a:r>
                      <a:r>
                        <a:rPr lang="ko-KR" altLang="en-US" sz="800" dirty="0" err="1" smtClean="0">
                          <a:effectLst/>
                        </a:rPr>
                        <a:t>브랜치</a:t>
                      </a:r>
                      <a:r>
                        <a:rPr lang="ko-KR" altLang="en-US" sz="800" dirty="0" smtClean="0">
                          <a:effectLst/>
                        </a:rPr>
                        <a:t> 병합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smtClean="0">
                          <a:effectLst/>
                        </a:rPr>
                        <a:t>배포 승인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</a:rPr>
                        <a:t>서비스확인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6760147"/>
                  </a:ext>
                </a:extLst>
              </a:tr>
              <a:tr h="213360">
                <a:tc vMerge="1">
                  <a:txBody>
                    <a:bodyPr/>
                    <a:lstStyle/>
                    <a:p>
                      <a:pPr algn="ctr" fontAlgn="ctr"/>
                      <a:endParaRPr 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사번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이름 및 소속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생성시간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사번</a:t>
                      </a:r>
                      <a:endParaRPr lang="ko-KR" altLang="en-US" sz="800" kern="1200" dirty="0">
                        <a:solidFill>
                          <a:schemeClr val="dk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r>
                        <a:rPr lang="ko-KR" altLang="en-US" sz="800" kern="1200" dirty="0" smtClean="0">
                          <a:solidFill>
                            <a:schemeClr val="dk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이름 및 소속</a:t>
                      </a:r>
                      <a:endParaRPr lang="ko-KR" altLang="en-US" sz="800" kern="1200" dirty="0">
                        <a:solidFill>
                          <a:schemeClr val="dk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r>
                        <a:rPr lang="ko-KR" altLang="en-US" sz="800" kern="1200" dirty="0" err="1" smtClean="0">
                          <a:solidFill>
                            <a:schemeClr val="dk1"/>
                          </a:solidFill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  <a:cs typeface="+mn-cs"/>
                        </a:rPr>
                        <a:t>결재시간</a:t>
                      </a:r>
                      <a:endParaRPr lang="ko-KR" altLang="en-US" sz="800" kern="1200" dirty="0">
                        <a:solidFill>
                          <a:schemeClr val="dk1"/>
                        </a:solidFill>
                        <a:effectLst/>
                        <a:latin typeface="KB금융 본문체 Light" panose="020B0303000000000000" pitchFamily="50" charset="-127"/>
                        <a:ea typeface="KB금융 본문체 Light" panose="020B03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  <a:latin typeface="KB금융 본문체 Light" panose="020B0303000000000000" pitchFamily="50" charset="-127"/>
                          <a:ea typeface="KB금융 본문체 Light" panose="020B0303000000000000" pitchFamily="50" charset="-127"/>
                        </a:rPr>
                        <a:t>사번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</a:rPr>
                        <a:t>이름및소속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</a:rPr>
                        <a:t>결재시간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</a:rPr>
                        <a:t>사번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</a:rPr>
                        <a:t>이름및소속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</a:rPr>
                        <a:t>결재시간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</a:rPr>
                        <a:t>사번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</a:rPr>
                        <a:t>이름및소속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</a:rPr>
                        <a:t>결재시간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</a:rPr>
                        <a:t>사번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</a:rPr>
                        <a:t>이름및소속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</a:rPr>
                        <a:t>결재시간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</a:rPr>
                        <a:t>사번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</a:rPr>
                        <a:t>이름및소속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</a:rPr>
                        <a:t>결재시간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</a:rPr>
                        <a:t>사번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</a:rPr>
                        <a:t>이름및소속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</a:rPr>
                        <a:t>결재시간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</a:rPr>
                        <a:t>사번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</a:rPr>
                        <a:t>이름및소속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</a:rPr>
                        <a:t>결재시간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</a:rPr>
                        <a:t>사번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</a:rPr>
                        <a:t>이름및소속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dirty="0" err="1" smtClean="0">
                          <a:effectLst/>
                        </a:rPr>
                        <a:t>결재시간</a:t>
                      </a:r>
                      <a:endParaRPr lang="ko-KR" altLang="en-US" sz="800" dirty="0">
                        <a:effectLst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2166381"/>
                  </a:ext>
                </a:extLst>
              </a:tr>
              <a:tr h="20363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…</a:t>
                      </a:r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824734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78967943"/>
                  </a:ext>
                </a:extLst>
              </a:tr>
              <a:tr h="224443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557117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3900661"/>
                  </a:ext>
                </a:extLst>
              </a:tr>
              <a:tr h="132600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5581365"/>
                  </a:ext>
                </a:extLst>
              </a:tr>
              <a:tr h="132600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149938"/>
                  </a:ext>
                </a:extLst>
              </a:tr>
              <a:tr h="132600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36637934"/>
                  </a:ext>
                </a:extLst>
              </a:tr>
              <a:tr h="132600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8793656"/>
                  </a:ext>
                </a:extLst>
              </a:tr>
              <a:tr h="132600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6882977"/>
                  </a:ext>
                </a:extLst>
              </a:tr>
              <a:tr h="132600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1980360"/>
                  </a:ext>
                </a:extLst>
              </a:tr>
              <a:tr h="132600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516119"/>
                  </a:ext>
                </a:extLst>
              </a:tr>
              <a:tr h="132600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3093526"/>
                  </a:ext>
                </a:extLst>
              </a:tr>
              <a:tr h="132600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520383"/>
                  </a:ext>
                </a:extLst>
              </a:tr>
              <a:tr h="132600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4775" marR="4775" marT="4775" marB="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7677501"/>
                  </a:ext>
                </a:extLst>
              </a:tr>
            </a:tbl>
          </a:graphicData>
        </a:graphic>
      </p:graphicFrame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MDD-00121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MDD72S28000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1200" b="1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클라우드</a:t>
                      </a:r>
                      <a:r>
                        <a:rPr kumimoji="0" lang="ko-KR" altLang="en-US" sz="120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개발 정보 조회</a:t>
                      </a:r>
                      <a:r>
                        <a:rPr kumimoji="0" lang="en-US" altLang="ko-KR" sz="120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(1/1)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l" defTabSz="410291"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ko-KR" altLang="en-US" sz="1050" b="1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감사지원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en-US" altLang="ko-KR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kumimoji="0" lang="ko-KR" altLang="en-US" sz="1050" b="1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감사마트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en-US" altLang="ko-KR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 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업무별 </a:t>
                      </a:r>
                      <a:r>
                        <a:rPr kumimoji="0" lang="ko-KR" altLang="en-US" sz="1050" b="1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세부조회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kumimoji="0" lang="en-US" altLang="ko-KR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&gt;</a:t>
                      </a:r>
                      <a:r>
                        <a:rPr kumimoji="0" lang="ko-KR" altLang="en-US" sz="1050" b="1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클라우드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개발 정보 조회</a:t>
                      </a:r>
                      <a:r>
                        <a:rPr lang="en-US" altLang="ko-KR" sz="105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(P162:</a:t>
                      </a:r>
                      <a:r>
                        <a:rPr lang="ko-KR" altLang="en-US" sz="105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임종국</a:t>
                      </a:r>
                      <a:r>
                        <a:rPr lang="en-US" altLang="ko-KR" sz="1050" b="1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600" b="1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1173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262469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3505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ko-KR" altLang="en-US" sz="10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마트업무별</a:t>
                      </a:r>
                      <a:r>
                        <a:rPr lang="ko-KR" altLang="en-US" sz="10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세부내용 조회</a:t>
                      </a:r>
                      <a:endParaRPr lang="en-US" altLang="ko-KR" sz="10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10001052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10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lang="ko-KR" altLang="en-US" sz="10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클라우드</a:t>
                      </a:r>
                      <a:r>
                        <a:rPr lang="ko-KR" altLang="en-US" sz="10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개발 관련 정보를 </a:t>
                      </a:r>
                      <a:r>
                        <a:rPr lang="en-US" altLang="ko-KR" sz="10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Jira</a:t>
                      </a:r>
                      <a:r>
                        <a:rPr lang="ko-KR" altLang="en-US" sz="10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와 연계하여 마트를 구성한 후 관련 내용을 화면에서 조회할 수 있도록 함</a:t>
                      </a:r>
                      <a:endParaRPr lang="en-US" altLang="ko-KR" sz="10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24984032"/>
                  </a:ext>
                </a:extLst>
              </a:tr>
            </a:tbl>
          </a:graphicData>
        </a:graphic>
      </p:graphicFrame>
      <p:grpSp>
        <p:nvGrpSpPr>
          <p:cNvPr id="20" name="그룹 19"/>
          <p:cNvGrpSpPr/>
          <p:nvPr/>
        </p:nvGrpSpPr>
        <p:grpSpPr>
          <a:xfrm>
            <a:off x="125333" y="1195530"/>
            <a:ext cx="6973734" cy="337771"/>
            <a:chOff x="355877" y="2160935"/>
            <a:chExt cx="6163967" cy="417554"/>
          </a:xfrm>
        </p:grpSpPr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0ADD9C5D-D602-16F2-69E6-FB2E9EB9F793}"/>
                </a:ext>
              </a:extLst>
            </p:cNvPr>
            <p:cNvSpPr/>
            <p:nvPr/>
          </p:nvSpPr>
          <p:spPr>
            <a:xfrm>
              <a:off x="355877" y="2160935"/>
              <a:ext cx="6163967" cy="417554"/>
            </a:xfrm>
            <a:prstGeom prst="rect">
              <a:avLst/>
            </a:prstGeom>
            <a:solidFill>
              <a:srgbClr val="625950"/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KB금융 제목체 Bold" panose="020B0803000000000000" pitchFamily="50" charset="-127"/>
                <a:ea typeface="KB금융 제목체 Bold" panose="020B0803000000000000" pitchFamily="50" charset="-127"/>
                <a:cs typeface="+mn-cs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2E7C9667-27CA-CC68-45F9-31E345FEC1C0}"/>
                </a:ext>
              </a:extLst>
            </p:cNvPr>
            <p:cNvSpPr txBox="1"/>
            <p:nvPr/>
          </p:nvSpPr>
          <p:spPr>
            <a:xfrm>
              <a:off x="361730" y="2246192"/>
              <a:ext cx="4749241" cy="2663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상시감사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영업감사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본부감사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   일상감사    심의</a:t>
              </a:r>
              <a:r>
                <a:rPr kumimoji="0" lang="en-US" altLang="ko-KR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/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조사    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감사지원</a:t>
              </a:r>
              <a:r>
                <a:rPr kumimoji="0" lang="ko-KR" altLang="en-US" sz="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</a:t>
              </a:r>
              <a:endPara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23" name="양쪽 모서리가 둥근 사각형 22"/>
          <p:cNvSpPr/>
          <p:nvPr/>
        </p:nvSpPr>
        <p:spPr bwMode="auto">
          <a:xfrm>
            <a:off x="142144" y="1669866"/>
            <a:ext cx="1214864" cy="173756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800" kern="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클라우드</a:t>
            </a:r>
            <a:r>
              <a:rPr kumimoji="0" lang="ko-KR" altLang="en-US" sz="800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개발 정보 조회</a:t>
            </a:r>
            <a:endParaRPr kumimoji="0" lang="ko-KR" altLang="en-US" sz="8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4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142144" y="1587530"/>
            <a:ext cx="6981861" cy="37063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5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135509" y="1846020"/>
            <a:ext cx="6916841" cy="3927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37519" y="1595267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8" name="내용 개체 틀 121"/>
          <p:cNvGraphicFramePr>
            <a:graphicFrameLocks/>
          </p:cNvGraphicFramePr>
          <p:nvPr>
            <p:extLst/>
          </p:nvPr>
        </p:nvGraphicFramePr>
        <p:xfrm>
          <a:off x="142145" y="1952089"/>
          <a:ext cx="6981861" cy="5442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64885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2204098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57657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1395978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  <a:gridCol w="615679">
                  <a:extLst>
                    <a:ext uri="{9D8B030D-6E8A-4147-A177-3AD203B41FA5}">
                      <a16:colId xmlns:a16="http://schemas.microsoft.com/office/drawing/2014/main" val="4016009723"/>
                    </a:ext>
                  </a:extLst>
                </a:gridCol>
                <a:gridCol w="1443564">
                  <a:extLst>
                    <a:ext uri="{9D8B030D-6E8A-4147-A177-3AD203B41FA5}">
                      <a16:colId xmlns:a16="http://schemas.microsoft.com/office/drawing/2014/main" val="782959202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조회기간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담당부서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담당자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프로젝트명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이슈상태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19329184"/>
                  </a:ext>
                </a:extLst>
              </a:tr>
            </a:tbl>
          </a:graphicData>
        </a:graphic>
      </p:graphicFrame>
      <p:sp>
        <p:nvSpPr>
          <p:cNvPr id="2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13580" y="2272019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212459" y="2274889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974618" y="1997880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049430" y="1994470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2024-04-30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33" name="그림 3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5018" y="2001720"/>
            <a:ext cx="181098" cy="173224"/>
          </a:xfrm>
          <a:prstGeom prst="rect">
            <a:avLst/>
          </a:prstGeom>
        </p:spPr>
      </p:pic>
      <p:pic>
        <p:nvPicPr>
          <p:cNvPr id="34" name="그림 3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688692" y="1998305"/>
            <a:ext cx="181098" cy="173224"/>
          </a:xfrm>
          <a:prstGeom prst="rect">
            <a:avLst/>
          </a:prstGeom>
        </p:spPr>
      </p:pic>
      <p:cxnSp>
        <p:nvCxnSpPr>
          <p:cNvPr id="35" name="직선 연결선 34"/>
          <p:cNvCxnSpPr/>
          <p:nvPr/>
        </p:nvCxnSpPr>
        <p:spPr bwMode="auto">
          <a:xfrm>
            <a:off x="1853265" y="2088332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974618" y="2271561"/>
            <a:ext cx="1895172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7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통계 수동배치 소스 패치</a:t>
            </a:r>
            <a:endParaRPr kumimoji="0" lang="ko-KR" altLang="en-US" sz="8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751482" y="1993733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63870" y="1993767"/>
            <a:ext cx="795419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39" name="그림 38"/>
          <p:cNvPicPr>
            <a:picLocks noChangeAspect="1"/>
          </p:cNvPicPr>
          <p:nvPr/>
        </p:nvPicPr>
        <p:blipFill rotWithShape="1">
          <a:blip r:embed="rId3"/>
          <a:srcRect r="73540"/>
          <a:stretch/>
        </p:blipFill>
        <p:spPr>
          <a:xfrm>
            <a:off x="4176571" y="2003939"/>
            <a:ext cx="183595" cy="164228"/>
          </a:xfrm>
          <a:prstGeom prst="rect">
            <a:avLst/>
          </a:prstGeom>
        </p:spPr>
      </p:pic>
      <p:grpSp>
        <p:nvGrpSpPr>
          <p:cNvPr id="40" name="그룹 39"/>
          <p:cNvGrpSpPr/>
          <p:nvPr/>
        </p:nvGrpSpPr>
        <p:grpSpPr>
          <a:xfrm>
            <a:off x="3760853" y="2265975"/>
            <a:ext cx="579711" cy="180915"/>
            <a:chOff x="1179239" y="2959078"/>
            <a:chExt cx="579711" cy="180915"/>
          </a:xfrm>
        </p:grpSpPr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179239" y="2959078"/>
              <a:ext cx="579711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전체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42" name="이등변 삼각형 41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1657007" y="3039900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694218" y="2001686"/>
            <a:ext cx="365448" cy="166481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6074482" y="2001720"/>
            <a:ext cx="899098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45" name="그림 44"/>
          <p:cNvPicPr>
            <a:picLocks noChangeAspect="1"/>
          </p:cNvPicPr>
          <p:nvPr/>
        </p:nvPicPr>
        <p:blipFill rotWithShape="1">
          <a:blip r:embed="rId3"/>
          <a:srcRect r="73540"/>
          <a:stretch/>
        </p:blipFill>
        <p:spPr>
          <a:xfrm>
            <a:off x="6087182" y="2011892"/>
            <a:ext cx="183595" cy="164228"/>
          </a:xfrm>
          <a:prstGeom prst="rect">
            <a:avLst/>
          </a:prstGeom>
        </p:spPr>
      </p:pic>
      <p:sp>
        <p:nvSpPr>
          <p:cNvPr id="47" name="타원 4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29495" y="2520551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5" name="직사각형 54"/>
          <p:cNvSpPr/>
          <p:nvPr/>
        </p:nvSpPr>
        <p:spPr bwMode="auto">
          <a:xfrm>
            <a:off x="125333" y="1118721"/>
            <a:ext cx="6973737" cy="4600435"/>
          </a:xfrm>
          <a:prstGeom prst="rect">
            <a:avLst/>
          </a:prstGeom>
          <a:noFill/>
          <a:ln w="15875">
            <a:solidFill>
              <a:srgbClr val="2272FF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522773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162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IT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물품계약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관련 정보를 연계하여 마트를 구성하고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,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관련 내용을 화면에서 조회할 수 있도록 함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475049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31615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0" cap="none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0985449"/>
                  </a:ext>
                </a:extLst>
              </a:tr>
            </a:tbl>
          </a:graphicData>
        </a:graphic>
      </p:graphicFrame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MDD-00125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MDD72S32000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en-US" altLang="ko-KR" sz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IT</a:t>
                      </a:r>
                      <a:r>
                        <a:rPr kumimoji="0" lang="ko-KR" altLang="en-US" sz="12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물품계약</a:t>
                      </a:r>
                      <a:r>
                        <a:rPr kumimoji="0" lang="ko-KR" altLang="en-US" sz="12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정보 조회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kumimoji="0" lang="ko-KR" altLang="en-US" sz="1050" b="1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감사지원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감사마트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업무별 </a:t>
                      </a:r>
                      <a:r>
                        <a:rPr kumimoji="0" lang="ko-KR" altLang="en-US" sz="1050" b="1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세부조회</a:t>
                      </a:r>
                      <a:r>
                        <a:rPr lang="ko-KR" altLang="en-US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5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en-US" altLang="ko-KR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IT</a:t>
                      </a:r>
                      <a:r>
                        <a:rPr kumimoji="0" lang="ko-KR" altLang="en-US" sz="1050" b="1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물품계약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정보 조회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(P166:</a:t>
                      </a:r>
                      <a:r>
                        <a:rPr lang="ko-KR" altLang="en-US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최진용</a:t>
                      </a:r>
                      <a:r>
                        <a:rPr lang="en-US" altLang="ko-KR" sz="105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sp>
        <p:nvSpPr>
          <p:cNvPr id="37" name="양쪽 모서리가 둥근 사각형 36"/>
          <p:cNvSpPr/>
          <p:nvPr/>
        </p:nvSpPr>
        <p:spPr bwMode="auto">
          <a:xfrm>
            <a:off x="288348" y="1094484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en-US" altLang="ko-KR" sz="8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IT</a:t>
            </a:r>
            <a:r>
              <a:rPr kumimoji="0" lang="ko-KR" altLang="en-US" sz="800" kern="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물품계약</a:t>
            </a:r>
            <a:r>
              <a:rPr kumimoji="0" lang="ko-KR" altLang="en-US" sz="800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정보 조회</a:t>
            </a:r>
            <a:endParaRPr kumimoji="0" lang="ko-KR" altLang="en-US" sz="8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8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>
            <a:off x="281845" y="1019888"/>
            <a:ext cx="6732900" cy="0"/>
          </a:xfrm>
          <a:prstGeom prst="line">
            <a:avLst/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9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88349" y="1280219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27885" y="1019886"/>
            <a:ext cx="137606" cy="15955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61" name="표 60"/>
          <p:cNvGraphicFramePr>
            <a:graphicFrameLocks noGrp="1"/>
          </p:cNvGraphicFramePr>
          <p:nvPr>
            <p:extLst/>
          </p:nvPr>
        </p:nvGraphicFramePr>
        <p:xfrm>
          <a:off x="288346" y="2075562"/>
          <a:ext cx="6726398" cy="97011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85802">
                  <a:extLst>
                    <a:ext uri="{9D8B030D-6E8A-4147-A177-3AD203B41FA5}">
                      <a16:colId xmlns:a16="http://schemas.microsoft.com/office/drawing/2014/main" val="1296566742"/>
                    </a:ext>
                  </a:extLst>
                </a:gridCol>
                <a:gridCol w="721559">
                  <a:extLst>
                    <a:ext uri="{9D8B030D-6E8A-4147-A177-3AD203B41FA5}">
                      <a16:colId xmlns:a16="http://schemas.microsoft.com/office/drawing/2014/main" val="1365559228"/>
                    </a:ext>
                  </a:extLst>
                </a:gridCol>
                <a:gridCol w="856211">
                  <a:extLst>
                    <a:ext uri="{9D8B030D-6E8A-4147-A177-3AD203B41FA5}">
                      <a16:colId xmlns:a16="http://schemas.microsoft.com/office/drawing/2014/main" val="2025439849"/>
                    </a:ext>
                  </a:extLst>
                </a:gridCol>
                <a:gridCol w="615666">
                  <a:extLst>
                    <a:ext uri="{9D8B030D-6E8A-4147-A177-3AD203B41FA5}">
                      <a16:colId xmlns:a16="http://schemas.microsoft.com/office/drawing/2014/main" val="1570058393"/>
                    </a:ext>
                  </a:extLst>
                </a:gridCol>
                <a:gridCol w="615666">
                  <a:extLst>
                    <a:ext uri="{9D8B030D-6E8A-4147-A177-3AD203B41FA5}">
                      <a16:colId xmlns:a16="http://schemas.microsoft.com/office/drawing/2014/main" val="75395109"/>
                    </a:ext>
                  </a:extLst>
                </a:gridCol>
                <a:gridCol w="568411">
                  <a:extLst>
                    <a:ext uri="{9D8B030D-6E8A-4147-A177-3AD203B41FA5}">
                      <a16:colId xmlns:a16="http://schemas.microsoft.com/office/drawing/2014/main" val="1492023232"/>
                    </a:ext>
                  </a:extLst>
                </a:gridCol>
                <a:gridCol w="605481">
                  <a:extLst>
                    <a:ext uri="{9D8B030D-6E8A-4147-A177-3AD203B41FA5}">
                      <a16:colId xmlns:a16="http://schemas.microsoft.com/office/drawing/2014/main" val="2209478306"/>
                    </a:ext>
                  </a:extLst>
                </a:gridCol>
                <a:gridCol w="605481">
                  <a:extLst>
                    <a:ext uri="{9D8B030D-6E8A-4147-A177-3AD203B41FA5}">
                      <a16:colId xmlns:a16="http://schemas.microsoft.com/office/drawing/2014/main" val="256986418"/>
                    </a:ext>
                  </a:extLst>
                </a:gridCol>
                <a:gridCol w="688895">
                  <a:extLst>
                    <a:ext uri="{9D8B030D-6E8A-4147-A177-3AD203B41FA5}">
                      <a16:colId xmlns:a16="http://schemas.microsoft.com/office/drawing/2014/main" val="990635975"/>
                    </a:ext>
                  </a:extLst>
                </a:gridCol>
                <a:gridCol w="581613">
                  <a:extLst>
                    <a:ext uri="{9D8B030D-6E8A-4147-A177-3AD203B41FA5}">
                      <a16:colId xmlns:a16="http://schemas.microsoft.com/office/drawing/2014/main" val="1463413620"/>
                    </a:ext>
                  </a:extLst>
                </a:gridCol>
                <a:gridCol w="581613">
                  <a:extLst>
                    <a:ext uri="{9D8B030D-6E8A-4147-A177-3AD203B41FA5}">
                      <a16:colId xmlns:a16="http://schemas.microsoft.com/office/drawing/2014/main" val="1387356563"/>
                    </a:ext>
                  </a:extLst>
                </a:gridCol>
              </a:tblGrid>
              <a:tr h="19402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kern="1200" spc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번호</a:t>
                      </a:r>
                      <a:endParaRPr lang="ko-KR" altLang="en-US" sz="700" b="0" kern="1200" spc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kern="1200" spc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계약번호</a:t>
                      </a:r>
                      <a:endParaRPr lang="ko-KR" altLang="en-US" sz="700" b="0" kern="1200" spc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kern="1200" spc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계약명</a:t>
                      </a:r>
                      <a:endParaRPr lang="ko-KR" altLang="en-US" sz="700" b="0" kern="1200" spc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kern="1200" spc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계약업체</a:t>
                      </a:r>
                      <a:endParaRPr lang="ko-KR" altLang="en-US" sz="700" b="0" kern="1200" spc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kern="1200" spc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계약상태구분</a:t>
                      </a:r>
                      <a:endParaRPr lang="ko-KR" altLang="en-US" sz="700" b="0" kern="1200" spc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pc="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관리부서</a:t>
                      </a:r>
                      <a:endParaRPr lang="ko-KR" altLang="en-US" sz="700" b="0" spc="0" baseline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29250" marR="29250" marT="29250" marB="2925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pc="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계약일자</a:t>
                      </a:r>
                      <a:endParaRPr lang="ko-KR" altLang="en-US" sz="700" b="0" spc="0" baseline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29250" marR="29250" marT="29250" marB="2925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kern="1200" spc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계약종료일자</a:t>
                      </a:r>
                      <a:endParaRPr lang="ko-KR" altLang="en-US" sz="700" b="0" kern="1200" spc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kern="1200" spc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계약금액</a:t>
                      </a:r>
                      <a:endParaRPr lang="ko-KR" altLang="en-US" sz="700" b="0" kern="1200" spc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kern="1200" spc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계약물품건수</a:t>
                      </a:r>
                      <a:endParaRPr lang="ko-KR" altLang="en-US" sz="700" b="0" kern="1200" spc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kern="1200" spc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lang="ko-KR" altLang="en-US" sz="700" b="0" kern="1200" spc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592307"/>
                  </a:ext>
                </a:extLst>
              </a:tr>
              <a:tr h="19402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 spc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1</a:t>
                      </a:r>
                      <a:endParaRPr lang="ko-KR" altLang="en-US" sz="700" b="0" i="0" u="none" strike="noStrike" kern="1200" spc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pc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20240215001</a:t>
                      </a:r>
                      <a:endParaRPr lang="ko-KR" altLang="en-US" sz="700" b="0" i="0" u="none" strike="noStrike" kern="1200" spc="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spc="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KB One</a:t>
                      </a:r>
                      <a:r>
                        <a:rPr lang="ko-KR" altLang="en-US" sz="700" b="0" i="0" u="none" strike="noStrike" kern="1200" spc="0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클라우드</a:t>
                      </a:r>
                      <a:r>
                        <a:rPr lang="en-US" altLang="ko-KR" sz="700" b="0" i="0" u="none" strike="noStrike" kern="1200" spc="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..</a:t>
                      </a:r>
                      <a:endParaRPr lang="ko-KR" altLang="en-US" sz="700" b="0" i="0" u="none" strike="noStrike" kern="1200" spc="0" dirty="0" smtClean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spc="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OOO</a:t>
                      </a:r>
                      <a:endParaRPr lang="ko-KR" altLang="en-US" sz="700" b="0" i="0" u="none" strike="noStrike" kern="1200" spc="0" dirty="0" smtClean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 spc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확인완료</a:t>
                      </a: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pc="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정보보호부</a:t>
                      </a:r>
                      <a:endParaRPr lang="ko-KR" altLang="en-US" sz="700" spc="0" baseline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29250" marR="29250" marT="29250" marB="2925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 spc="-100" baseline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2024-02-15</a:t>
                      </a:r>
                      <a:endParaRPr lang="ko-KR" altLang="en-US" sz="700" b="0" i="0" u="none" strike="noStrike" kern="1200" spc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pc="-100" baseline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2025-02-15</a:t>
                      </a:r>
                      <a:endParaRPr lang="ko-KR" altLang="en-US" sz="700" b="0" i="0" u="none" strike="noStrike" kern="1200" spc="0" baseline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pc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1,200</a:t>
                      </a:r>
                      <a:r>
                        <a:rPr lang="en-US" altLang="ko-KR" sz="700" b="0" i="0" u="none" strike="noStrike" kern="1200" spc="0" baseline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700" b="0" i="0" u="none" strike="noStrike" kern="1200" spc="0" baseline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천원</a:t>
                      </a:r>
                      <a:endParaRPr lang="ko-KR" altLang="en-US" sz="700" b="0" i="0" u="none" strike="noStrike" kern="1200" spc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pc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3</a:t>
                      </a:r>
                      <a:r>
                        <a:rPr lang="ko-KR" altLang="en-US" sz="700" b="0" i="0" u="none" strike="noStrike" kern="1200" spc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개</a:t>
                      </a:r>
                      <a:endParaRPr lang="ko-KR" altLang="en-US" sz="700" b="0" i="0" u="none" strike="noStrike" kern="1200" spc="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pc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lang="ko-KR" altLang="en-US" sz="700" b="0" i="0" u="none" strike="noStrike" kern="1200" spc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30001729"/>
                  </a:ext>
                </a:extLst>
              </a:tr>
              <a:tr h="19402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 spc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</a:t>
                      </a:r>
                      <a:endParaRPr lang="ko-KR" altLang="en-US" sz="700" b="0" i="0" u="none" strike="noStrike" kern="1200" spc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pc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20240318023</a:t>
                      </a:r>
                      <a:endParaRPr lang="ko-KR" altLang="en-US" sz="700" b="0" i="0" u="none" strike="noStrike" kern="1200" spc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 spc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네트워크장비 유지</a:t>
                      </a:r>
                      <a:r>
                        <a:rPr lang="en-US" altLang="ko-KR" sz="700" b="0" i="0" u="none" strike="noStrike" kern="1200" spc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..</a:t>
                      </a:r>
                      <a:endParaRPr lang="ko-KR" altLang="en-US" sz="700" b="0" i="0" u="none" strike="noStrike" kern="1200" spc="0" smtClean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 spc="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㈜</a:t>
                      </a:r>
                      <a:r>
                        <a:rPr lang="en-US" altLang="ko-KR" sz="700" b="0" i="0" u="none" strike="noStrike" kern="1200" spc="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AAA</a:t>
                      </a:r>
                      <a:endParaRPr lang="ko-KR" altLang="en-US" sz="700" b="0" i="0" u="none" strike="noStrike" kern="1200" spc="0" dirty="0" smtClean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 spc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확인완료</a:t>
                      </a: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pc="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인프라지원부</a:t>
                      </a:r>
                      <a:endParaRPr lang="ko-KR" altLang="en-US" sz="700" spc="0" baseline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29250" marR="29250" marT="29250" marB="2925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 spc="-100" baseline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2024-03-18</a:t>
                      </a:r>
                      <a:endParaRPr lang="ko-KR" altLang="en-US" sz="700" b="0" i="0" u="none" strike="noStrike" kern="1200" spc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pc="-100" baseline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2024-03-18</a:t>
                      </a:r>
                      <a:endParaRPr lang="ko-KR" altLang="en-US" sz="700" b="0" i="0" u="none" strike="noStrike" kern="1200" spc="0" baseline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pc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1,153</a:t>
                      </a:r>
                      <a:r>
                        <a:rPr lang="en-US" altLang="ko-KR" sz="700" b="0" i="0" u="none" strike="noStrike" kern="1200" spc="0" baseline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700" b="0" i="0" u="none" strike="noStrike" kern="1200" spc="0" baseline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천원</a:t>
                      </a:r>
                      <a:endParaRPr lang="ko-KR" altLang="en-US" sz="700" b="0" i="0" u="none" strike="noStrike" kern="1200" spc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pc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</a:t>
                      </a:r>
                      <a:r>
                        <a:rPr lang="ko-KR" altLang="en-US" sz="700" b="0" i="0" u="none" strike="noStrike" kern="1200" spc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개</a:t>
                      </a:r>
                      <a:endParaRPr lang="ko-KR" altLang="en-US" sz="700" b="0" i="0" u="none" strike="noStrike" kern="1200" spc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pc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lang="ko-KR" altLang="en-US" sz="700" b="0" i="0" u="none" strike="noStrike" kern="1200" spc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2628987"/>
                  </a:ext>
                </a:extLst>
              </a:tr>
              <a:tr h="194023">
                <a:tc>
                  <a:txBody>
                    <a:bodyPr/>
                    <a:lstStyle/>
                    <a:p>
                      <a:pPr marL="0" marR="0" lvl="0" indent="0" algn="ctr" defTabSz="829361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pc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20240319004</a:t>
                      </a:r>
                      <a:endParaRPr lang="ko-KR" altLang="en-US" sz="700" b="0" i="0" u="none" strike="noStrike" kern="1200" spc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인증시스템 보안장비</a:t>
                      </a:r>
                      <a:r>
                        <a:rPr kumimoji="0" lang="en-US" altLang="ko-KR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㈜</a:t>
                      </a:r>
                      <a:r>
                        <a:rPr kumimoji="0" lang="en-US" altLang="ko-KR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BBB</a:t>
                      </a: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확인완료</a:t>
                      </a: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pc="-1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스타뱅킹영업부</a:t>
                      </a:r>
                      <a:endParaRPr lang="ko-KR" altLang="en-US" sz="700" spc="-100" baseline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29250" marR="29250" marT="29250" marB="2925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 spc="-100" baseline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2024-03-19</a:t>
                      </a:r>
                      <a:endParaRPr lang="ko-KR" altLang="en-US" sz="700" b="0" i="0" u="none" strike="noStrike" kern="1200" spc="-100" baseline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pc="-100" baseline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2024-03-18</a:t>
                      </a:r>
                      <a:endParaRPr lang="ko-KR" altLang="en-US" sz="700" b="0" i="0" u="none" strike="noStrike" kern="1200" spc="0" baseline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pc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300 </a:t>
                      </a:r>
                      <a:r>
                        <a:rPr lang="ko-KR" altLang="en-US" sz="700" b="0" i="0" u="none" strike="noStrike" kern="1200" spc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천원</a:t>
                      </a:r>
                      <a:endParaRPr lang="ko-KR" altLang="en-US" sz="700" b="0" i="0" u="none" strike="noStrike" kern="1200" spc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pc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5</a:t>
                      </a:r>
                      <a:r>
                        <a:rPr lang="ko-KR" altLang="en-US" sz="700" b="0" i="0" u="none" strike="noStrike" kern="1200" spc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개</a:t>
                      </a:r>
                      <a:endParaRPr lang="ko-KR" altLang="en-US" sz="700" b="0" i="0" u="none" strike="noStrike" kern="1200" spc="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pc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lang="ko-KR" altLang="en-US" sz="700" b="0" i="0" u="none" strike="noStrike" kern="1200" spc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5446350"/>
                  </a:ext>
                </a:extLst>
              </a:tr>
              <a:tr h="194023">
                <a:tc>
                  <a:txBody>
                    <a:bodyPr/>
                    <a:lstStyle/>
                    <a:p>
                      <a:pPr marL="0" marR="0" lvl="0" indent="0" algn="ctr" defTabSz="829361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lang="en-US" altLang="ko-KR" sz="700" b="0" i="0" u="none" strike="noStrike" kern="1200" spc="-100" baseline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lang="ko-KR" altLang="en-US" sz="700" b="0" i="0" u="none" strike="noStrike" kern="120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kumimoji="0" lang="en-US" altLang="ko-KR" sz="700" b="0" i="0" u="sng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91DA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sng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91DA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lang="ko-KR" altLang="en-US" sz="700" spc="-100" baseline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29250" marR="29250" marT="29250" marB="2925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lang="ko-KR" altLang="en-US" sz="700" b="0" i="0" u="none" strike="noStrike" kern="120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lang="ko-KR" altLang="en-US" sz="700" b="0" i="0" u="none" strike="noStrike" kern="1200" spc="-100" baseline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lang="ko-KR" altLang="en-US" sz="700" b="0" i="0" u="none" strike="noStrike" kern="120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lang="ko-KR" altLang="en-US" sz="700" b="0" i="0" u="none" strike="noStrike" kern="120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lang="ko-KR" alt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98021543"/>
                  </a:ext>
                </a:extLst>
              </a:tr>
            </a:tbl>
          </a:graphicData>
        </a:graphic>
      </p:graphicFrame>
      <p:graphicFrame>
        <p:nvGraphicFramePr>
          <p:cNvPr id="75" name="내용 개체 틀 121"/>
          <p:cNvGraphicFramePr>
            <a:graphicFrameLocks/>
          </p:cNvGraphicFramePr>
          <p:nvPr>
            <p:extLst/>
          </p:nvPr>
        </p:nvGraphicFramePr>
        <p:xfrm>
          <a:off x="281843" y="1376708"/>
          <a:ext cx="6732903" cy="5442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1177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2125504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34206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1411288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  <a:gridCol w="590550">
                  <a:extLst>
                    <a:ext uri="{9D8B030D-6E8A-4147-A177-3AD203B41FA5}">
                      <a16:colId xmlns:a16="http://schemas.microsoft.com/office/drawing/2014/main" val="3623872666"/>
                    </a:ext>
                  </a:extLst>
                </a:gridCol>
                <a:gridCol w="1330178">
                  <a:extLst>
                    <a:ext uri="{9D8B030D-6E8A-4147-A177-3AD203B41FA5}">
                      <a16:colId xmlns:a16="http://schemas.microsoft.com/office/drawing/2014/main" val="2377728825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계약일자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관리부서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계약상태구분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계약번호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계약명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19329184"/>
                  </a:ext>
                </a:extLst>
              </a:tr>
            </a:tbl>
          </a:graphicData>
        </a:graphic>
      </p:graphicFrame>
      <p:sp>
        <p:nvSpPr>
          <p:cNvPr id="7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620816" y="1696638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7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219695" y="1699508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981854" y="1422499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2024-01-01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2056666" y="1419089"/>
            <a:ext cx="821497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noProof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2024-04-30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80" name="그림 7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22254" y="1426339"/>
            <a:ext cx="181098" cy="173224"/>
          </a:xfrm>
          <a:prstGeom prst="rect">
            <a:avLst/>
          </a:prstGeom>
        </p:spPr>
      </p:pic>
      <p:pic>
        <p:nvPicPr>
          <p:cNvPr id="81" name="그림 8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695928" y="1422924"/>
            <a:ext cx="181098" cy="173224"/>
          </a:xfrm>
          <a:prstGeom prst="rect">
            <a:avLst/>
          </a:prstGeom>
        </p:spPr>
      </p:pic>
      <p:cxnSp>
        <p:nvCxnSpPr>
          <p:cNvPr id="82" name="직선 연결선 81"/>
          <p:cNvCxnSpPr/>
          <p:nvPr/>
        </p:nvCxnSpPr>
        <p:spPr bwMode="auto">
          <a:xfrm>
            <a:off x="1860501" y="1512951"/>
            <a:ext cx="1270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981854" y="1696180"/>
            <a:ext cx="1895172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7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20240215001</a:t>
            </a:r>
            <a:endParaRPr kumimoji="0" lang="ko-KR" altLang="en-US" sz="8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758718" y="1418352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4171106" y="1418386"/>
            <a:ext cx="795419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86" name="그림 85"/>
          <p:cNvPicPr>
            <a:picLocks noChangeAspect="1"/>
          </p:cNvPicPr>
          <p:nvPr/>
        </p:nvPicPr>
        <p:blipFill rotWithShape="1">
          <a:blip r:embed="rId3"/>
          <a:srcRect r="73540"/>
          <a:stretch/>
        </p:blipFill>
        <p:spPr>
          <a:xfrm>
            <a:off x="4183807" y="1428558"/>
            <a:ext cx="183595" cy="164228"/>
          </a:xfrm>
          <a:prstGeom prst="rect">
            <a:avLst/>
          </a:prstGeom>
        </p:spPr>
      </p:pic>
      <p:sp>
        <p:nvSpPr>
          <p:cNvPr id="87" name="직사각형 86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758718" y="1685384"/>
            <a:ext cx="1895172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7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KB One</a:t>
            </a:r>
            <a:r>
              <a:rPr kumimoji="0" lang="ko-KR" altLang="en-US" sz="800" dirty="0" err="1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schemeClr val="bg1">
                    <a:lumMod val="75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클라우드</a:t>
            </a:r>
            <a:endParaRPr kumimoji="0" lang="ko-KR" altLang="en-US" sz="8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pSp>
        <p:nvGrpSpPr>
          <p:cNvPr id="88" name="그룹 87"/>
          <p:cNvGrpSpPr/>
          <p:nvPr/>
        </p:nvGrpSpPr>
        <p:grpSpPr>
          <a:xfrm>
            <a:off x="5756909" y="1416274"/>
            <a:ext cx="1165909" cy="180915"/>
            <a:chOff x="1179239" y="2959078"/>
            <a:chExt cx="579711" cy="180915"/>
          </a:xfrm>
        </p:grpSpPr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179239" y="2959078"/>
              <a:ext cx="579711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전체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90" name="이등변 삼각형 89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1695664" y="3030703"/>
              <a:ext cx="34850" cy="4571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graphicFrame>
        <p:nvGraphicFramePr>
          <p:cNvPr id="25" name="표 24"/>
          <p:cNvGraphicFramePr>
            <a:graphicFrameLocks noGrp="1"/>
          </p:cNvGraphicFramePr>
          <p:nvPr>
            <p:extLst/>
          </p:nvPr>
        </p:nvGraphicFramePr>
        <p:xfrm>
          <a:off x="331647" y="3927763"/>
          <a:ext cx="6726398" cy="97011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85802">
                  <a:extLst>
                    <a:ext uri="{9D8B030D-6E8A-4147-A177-3AD203B41FA5}">
                      <a16:colId xmlns:a16="http://schemas.microsoft.com/office/drawing/2014/main" val="1296566742"/>
                    </a:ext>
                  </a:extLst>
                </a:gridCol>
                <a:gridCol w="721559">
                  <a:extLst>
                    <a:ext uri="{9D8B030D-6E8A-4147-A177-3AD203B41FA5}">
                      <a16:colId xmlns:a16="http://schemas.microsoft.com/office/drawing/2014/main" val="1365559228"/>
                    </a:ext>
                  </a:extLst>
                </a:gridCol>
                <a:gridCol w="856211">
                  <a:extLst>
                    <a:ext uri="{9D8B030D-6E8A-4147-A177-3AD203B41FA5}">
                      <a16:colId xmlns:a16="http://schemas.microsoft.com/office/drawing/2014/main" val="2025439849"/>
                    </a:ext>
                  </a:extLst>
                </a:gridCol>
                <a:gridCol w="615666">
                  <a:extLst>
                    <a:ext uri="{9D8B030D-6E8A-4147-A177-3AD203B41FA5}">
                      <a16:colId xmlns:a16="http://schemas.microsoft.com/office/drawing/2014/main" val="1570058393"/>
                    </a:ext>
                  </a:extLst>
                </a:gridCol>
                <a:gridCol w="615666">
                  <a:extLst>
                    <a:ext uri="{9D8B030D-6E8A-4147-A177-3AD203B41FA5}">
                      <a16:colId xmlns:a16="http://schemas.microsoft.com/office/drawing/2014/main" val="75395109"/>
                    </a:ext>
                  </a:extLst>
                </a:gridCol>
                <a:gridCol w="568411">
                  <a:extLst>
                    <a:ext uri="{9D8B030D-6E8A-4147-A177-3AD203B41FA5}">
                      <a16:colId xmlns:a16="http://schemas.microsoft.com/office/drawing/2014/main" val="1492023232"/>
                    </a:ext>
                  </a:extLst>
                </a:gridCol>
                <a:gridCol w="605481">
                  <a:extLst>
                    <a:ext uri="{9D8B030D-6E8A-4147-A177-3AD203B41FA5}">
                      <a16:colId xmlns:a16="http://schemas.microsoft.com/office/drawing/2014/main" val="2209478306"/>
                    </a:ext>
                  </a:extLst>
                </a:gridCol>
                <a:gridCol w="605481">
                  <a:extLst>
                    <a:ext uri="{9D8B030D-6E8A-4147-A177-3AD203B41FA5}">
                      <a16:colId xmlns:a16="http://schemas.microsoft.com/office/drawing/2014/main" val="256986418"/>
                    </a:ext>
                  </a:extLst>
                </a:gridCol>
                <a:gridCol w="688895">
                  <a:extLst>
                    <a:ext uri="{9D8B030D-6E8A-4147-A177-3AD203B41FA5}">
                      <a16:colId xmlns:a16="http://schemas.microsoft.com/office/drawing/2014/main" val="990635975"/>
                    </a:ext>
                  </a:extLst>
                </a:gridCol>
                <a:gridCol w="581613">
                  <a:extLst>
                    <a:ext uri="{9D8B030D-6E8A-4147-A177-3AD203B41FA5}">
                      <a16:colId xmlns:a16="http://schemas.microsoft.com/office/drawing/2014/main" val="1463413620"/>
                    </a:ext>
                  </a:extLst>
                </a:gridCol>
                <a:gridCol w="581613">
                  <a:extLst>
                    <a:ext uri="{9D8B030D-6E8A-4147-A177-3AD203B41FA5}">
                      <a16:colId xmlns:a16="http://schemas.microsoft.com/office/drawing/2014/main" val="1387356563"/>
                    </a:ext>
                  </a:extLst>
                </a:gridCol>
              </a:tblGrid>
              <a:tr h="19402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kern="1200" spc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번호</a:t>
                      </a:r>
                      <a:endParaRPr lang="ko-KR" altLang="en-US" sz="700" b="0" kern="1200" spc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kern="1200" spc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계약번호</a:t>
                      </a:r>
                      <a:endParaRPr lang="ko-KR" altLang="en-US" sz="700" b="0" kern="1200" spc="0" dirty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kern="1200" spc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계약명</a:t>
                      </a:r>
                      <a:endParaRPr lang="ko-KR" altLang="en-US" sz="700" b="0" kern="1200" spc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kern="1200" spc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계약업체</a:t>
                      </a:r>
                      <a:endParaRPr lang="ko-KR" altLang="en-US" sz="700" b="0" kern="1200" spc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kern="1200" spc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계약상태구분</a:t>
                      </a:r>
                      <a:endParaRPr lang="ko-KR" altLang="en-US" sz="700" b="0" kern="1200" spc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pc="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관리부서</a:t>
                      </a:r>
                      <a:endParaRPr lang="ko-KR" altLang="en-US" sz="700" b="0" spc="0" baseline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29250" marR="29250" marT="29250" marB="2925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spc="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계약일자</a:t>
                      </a:r>
                      <a:endParaRPr lang="ko-KR" altLang="en-US" sz="700" b="0" spc="0" baseline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29250" marR="29250" marT="29250" marB="2925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kern="1200" spc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계약종료일자</a:t>
                      </a:r>
                      <a:endParaRPr lang="ko-KR" altLang="en-US" sz="700" b="0" kern="1200" spc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kern="1200" spc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계약금액</a:t>
                      </a:r>
                      <a:endParaRPr lang="ko-KR" altLang="en-US" sz="700" b="0" kern="1200" spc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kern="1200" spc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계약물품건수</a:t>
                      </a:r>
                      <a:endParaRPr lang="ko-KR" altLang="en-US" sz="700" b="0" kern="1200" spc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kern="1200" spc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lang="ko-KR" altLang="en-US" sz="700" b="0" kern="1200" spc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592307"/>
                  </a:ext>
                </a:extLst>
              </a:tr>
              <a:tr h="19402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 spc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1</a:t>
                      </a:r>
                      <a:endParaRPr lang="ko-KR" altLang="en-US" sz="700" b="0" i="0" u="none" strike="noStrike" kern="1200" spc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pc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20240215001</a:t>
                      </a:r>
                      <a:endParaRPr lang="ko-KR" altLang="en-US" sz="700" b="0" i="0" u="none" strike="noStrike" kern="1200" spc="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spc="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KB One</a:t>
                      </a:r>
                      <a:r>
                        <a:rPr lang="ko-KR" altLang="en-US" sz="700" b="0" i="0" u="none" strike="noStrike" kern="1200" spc="0" dirty="0" err="1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클라우드</a:t>
                      </a:r>
                      <a:r>
                        <a:rPr lang="en-US" altLang="ko-KR" sz="700" b="0" i="0" u="none" strike="noStrike" kern="1200" spc="0" dirty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..</a:t>
                      </a:r>
                      <a:endParaRPr lang="ko-KR" altLang="en-US" sz="700" b="0" i="0" u="none" strike="noStrike" kern="1200" spc="0" dirty="0" smtClean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spc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OOO</a:t>
                      </a:r>
                      <a:endParaRPr lang="ko-KR" altLang="en-US" sz="700" b="0" i="0" u="none" strike="noStrike" kern="1200" spc="0" smtClean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 spc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확인완료</a:t>
                      </a: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pc="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정보보호부</a:t>
                      </a:r>
                      <a:endParaRPr lang="ko-KR" altLang="en-US" sz="700" spc="0" baseline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29250" marR="29250" marT="29250" marB="2925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 spc="-100" baseline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2024-02-15</a:t>
                      </a:r>
                      <a:endParaRPr lang="ko-KR" altLang="en-US" sz="700" b="0" i="0" u="none" strike="noStrike" kern="1200" spc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pc="-100" baseline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2025-02-15</a:t>
                      </a:r>
                      <a:endParaRPr lang="ko-KR" altLang="en-US" sz="700" b="0" i="0" u="none" strike="noStrike" kern="1200" spc="0" baseline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pc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1,200</a:t>
                      </a:r>
                      <a:r>
                        <a:rPr lang="en-US" altLang="ko-KR" sz="700" b="0" i="0" u="none" strike="noStrike" kern="1200" spc="0" baseline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700" b="0" i="0" u="none" strike="noStrike" kern="1200" spc="0" baseline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천원</a:t>
                      </a:r>
                      <a:endParaRPr lang="ko-KR" altLang="en-US" sz="700" b="0" i="0" u="none" strike="noStrike" kern="1200" spc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pc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3</a:t>
                      </a:r>
                      <a:r>
                        <a:rPr lang="ko-KR" altLang="en-US" sz="700" b="0" i="0" u="none" strike="noStrike" kern="1200" spc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개</a:t>
                      </a:r>
                      <a:endParaRPr lang="ko-KR" altLang="en-US" sz="700" b="0" i="0" u="none" strike="noStrike" kern="1200" spc="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pc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lang="ko-KR" altLang="en-US" sz="700" b="0" i="0" u="none" strike="noStrike" kern="1200" spc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30001729"/>
                  </a:ext>
                </a:extLst>
              </a:tr>
              <a:tr h="19402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 spc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</a:t>
                      </a:r>
                      <a:endParaRPr lang="ko-KR" altLang="en-US" sz="700" b="0" i="0" u="none" strike="noStrike" kern="1200" spc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pc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20240318023</a:t>
                      </a:r>
                      <a:endParaRPr lang="ko-KR" altLang="en-US" sz="700" b="0" i="0" u="none" strike="noStrike" kern="1200" spc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 spc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네트워크장비 유지</a:t>
                      </a:r>
                      <a:r>
                        <a:rPr lang="en-US" altLang="ko-KR" sz="700" b="0" i="0" u="none" strike="noStrike" kern="1200" spc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..</a:t>
                      </a:r>
                      <a:endParaRPr lang="ko-KR" altLang="en-US" sz="700" b="0" i="0" u="none" strike="noStrike" kern="1200" spc="0" smtClean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 spc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㈜</a:t>
                      </a:r>
                      <a:r>
                        <a:rPr lang="en-US" altLang="ko-KR" sz="700" b="0" i="0" u="none" strike="noStrike" kern="1200" spc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AAA</a:t>
                      </a:r>
                      <a:endParaRPr lang="ko-KR" altLang="en-US" sz="700" b="0" i="0" u="none" strike="noStrike" kern="1200" spc="0" smtClean="0">
                        <a:solidFill>
                          <a:schemeClr val="tx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kern="1200" spc="0" smtClean="0">
                          <a:solidFill>
                            <a:schemeClr val="tx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확인완료</a:t>
                      </a: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pc="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인프라지원부</a:t>
                      </a:r>
                      <a:endParaRPr lang="ko-KR" altLang="en-US" sz="700" spc="0" baseline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29250" marR="29250" marT="29250" marB="2925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 spc="-100" baseline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2024-03-18</a:t>
                      </a:r>
                      <a:endParaRPr lang="ko-KR" altLang="en-US" sz="700" b="0" i="0" u="none" strike="noStrike" kern="1200" spc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pc="-100" baseline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2024-03-18</a:t>
                      </a:r>
                      <a:endParaRPr lang="ko-KR" altLang="en-US" sz="700" b="0" i="0" u="none" strike="noStrike" kern="1200" spc="0" baseline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pc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1,153</a:t>
                      </a:r>
                      <a:r>
                        <a:rPr lang="en-US" altLang="ko-KR" sz="700" b="0" i="0" u="none" strike="noStrike" kern="1200" spc="0" baseline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700" b="0" i="0" u="none" strike="noStrike" kern="1200" spc="0" baseline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천원</a:t>
                      </a:r>
                      <a:endParaRPr lang="ko-KR" altLang="en-US" sz="700" b="0" i="0" u="none" strike="noStrike" kern="1200" spc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pc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</a:t>
                      </a:r>
                      <a:r>
                        <a:rPr lang="ko-KR" altLang="en-US" sz="700" b="0" i="0" u="none" strike="noStrike" kern="1200" spc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개</a:t>
                      </a:r>
                      <a:endParaRPr lang="ko-KR" altLang="en-US" sz="700" b="0" i="0" u="none" strike="noStrike" kern="1200" spc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pc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lang="ko-KR" altLang="en-US" sz="700" b="0" i="0" u="none" strike="noStrike" kern="1200" spc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2628987"/>
                  </a:ext>
                </a:extLst>
              </a:tr>
              <a:tr h="194023">
                <a:tc>
                  <a:txBody>
                    <a:bodyPr/>
                    <a:lstStyle/>
                    <a:p>
                      <a:pPr marL="0" marR="0" lvl="0" indent="0" algn="ctr" defTabSz="829361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3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pc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20240319004</a:t>
                      </a:r>
                      <a:endParaRPr lang="ko-KR" altLang="en-US" sz="700" b="0" i="0" u="none" strike="noStrike" kern="1200" spc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인증시스템 보안장비</a:t>
                      </a:r>
                      <a:r>
                        <a:rPr kumimoji="0" lang="en-US" altLang="ko-KR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㈜</a:t>
                      </a:r>
                      <a:r>
                        <a:rPr kumimoji="0" lang="en-US" altLang="ko-KR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BBB</a:t>
                      </a:r>
                      <a:endParaRPr kumimoji="0" lang="ko-KR" altLang="en-US" sz="7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확인완료</a:t>
                      </a: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pc="-100" baseline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스타뱅킹영업부</a:t>
                      </a:r>
                      <a:endParaRPr lang="ko-KR" altLang="en-US" sz="700" spc="-100" baseline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29250" marR="29250" marT="29250" marB="2925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 spc="-100" baseline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2024-03-19</a:t>
                      </a:r>
                      <a:endParaRPr lang="ko-KR" altLang="en-US" sz="700" b="0" i="0" u="none" strike="noStrike" kern="1200" spc="-100" baseline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pc="-100" baseline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2024-03-18</a:t>
                      </a:r>
                      <a:endParaRPr lang="ko-KR" altLang="en-US" sz="700" b="0" i="0" u="none" strike="noStrike" kern="1200" spc="0" baseline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pc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300 </a:t>
                      </a:r>
                      <a:r>
                        <a:rPr lang="ko-KR" altLang="en-US" sz="700" b="0" i="0" u="none" strike="noStrike" kern="1200" spc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천원</a:t>
                      </a:r>
                      <a:endParaRPr lang="ko-KR" altLang="en-US" sz="700" b="0" i="0" u="none" strike="noStrike" kern="1200" spc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pc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5</a:t>
                      </a:r>
                      <a:r>
                        <a:rPr lang="ko-KR" altLang="en-US" sz="700" b="0" i="0" u="none" strike="noStrike" kern="1200" spc="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개</a:t>
                      </a:r>
                      <a:endParaRPr lang="ko-KR" altLang="en-US" sz="700" b="0" i="0" u="none" strike="noStrike" kern="1200" spc="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pc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lang="ko-KR" altLang="en-US" sz="700" b="0" i="0" u="none" strike="noStrike" kern="1200" spc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5446350"/>
                  </a:ext>
                </a:extLst>
              </a:tr>
              <a:tr h="194023">
                <a:tc>
                  <a:txBody>
                    <a:bodyPr/>
                    <a:lstStyle/>
                    <a:p>
                      <a:pPr marL="0" marR="0" lvl="0" indent="0" algn="ctr" defTabSz="829361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lang="en-US" altLang="ko-KR" sz="700" b="0" i="0" u="none" strike="noStrike" kern="1200" spc="-100" baseline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lang="ko-KR" altLang="en-US" sz="700" b="0" i="0" u="none" strike="noStrike" kern="120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kumimoji="0" lang="en-US" altLang="ko-KR" sz="700" b="0" i="0" u="sng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91DA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sng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91DA"/>
                        </a:solidFill>
                        <a:effectLst/>
                        <a:uLnTx/>
                        <a:uFillTx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lang="ko-KR" altLang="en-US" sz="700" spc="-100" baseline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29250" marR="29250" marT="29250" marB="2925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lang="ko-KR" altLang="en-US" sz="700" b="0" i="0" u="none" strike="noStrike" kern="120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lang="ko-KR" altLang="en-US" sz="700" b="0" i="0" u="none" strike="noStrike" kern="1200" spc="-100" baseline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lang="ko-KR" altLang="en-US" sz="700" b="0" i="0" u="none" strike="noStrike" kern="120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lang="ko-KR" altLang="en-US" sz="700" b="0" i="0" u="none" strike="noStrike" kern="120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…</a:t>
                      </a:r>
                      <a:endParaRPr lang="ko-KR" alt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7739" marR="7739" marT="7739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98021543"/>
                  </a:ext>
                </a:extLst>
              </a:tr>
            </a:tbl>
          </a:graphicData>
        </a:graphic>
      </p:graphicFrame>
      <p:sp>
        <p:nvSpPr>
          <p:cNvPr id="3" name="직사각형 2"/>
          <p:cNvSpPr/>
          <p:nvPr/>
        </p:nvSpPr>
        <p:spPr>
          <a:xfrm>
            <a:off x="281843" y="3376633"/>
            <a:ext cx="502061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4395" latinLnBrk="1"/>
            <a:r>
              <a:rPr kumimoji="0" lang="ko-KR" altLang="en-US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구매</a:t>
            </a:r>
            <a:endParaRPr lang="ko-KR" altLang="en-US" dirty="0">
              <a:solidFill>
                <a:schemeClr val="dk1"/>
              </a:solidFill>
              <a:latin typeface="KB금융 본문체 Bold" panose="020B0803000000000000" pitchFamily="50" charset="-127"/>
              <a:ea typeface="KB금융 본문체 Bold" panose="020B0803000000000000" pitchFamily="50" charset="-127"/>
            </a:endParaRPr>
          </a:p>
        </p:txBody>
      </p:sp>
      <p:sp>
        <p:nvSpPr>
          <p:cNvPr id="4" name="모서리가 둥근 직사각형 3"/>
          <p:cNvSpPr/>
          <p:nvPr/>
        </p:nvSpPr>
        <p:spPr bwMode="auto">
          <a:xfrm>
            <a:off x="332239" y="3744764"/>
            <a:ext cx="756727" cy="183425"/>
          </a:xfrm>
          <a:prstGeom prst="roundRect">
            <a:avLst/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ko-KR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case1</a:t>
            </a:r>
            <a:endParaRPr kumimoji="0" lang="ko-KR" altLang="en-US" sz="1400" b="1" i="0" u="none" strike="noStrike" kern="0" cap="none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8" name="모서리가 둥근 직사각형 27"/>
          <p:cNvSpPr/>
          <p:nvPr/>
        </p:nvSpPr>
        <p:spPr bwMode="auto">
          <a:xfrm>
            <a:off x="1119506" y="3744764"/>
            <a:ext cx="756727" cy="183425"/>
          </a:xfrm>
          <a:prstGeom prst="roundRect">
            <a:avLst/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ko-KR" sz="1400" b="1" i="0" u="none" strike="noStrike" kern="0" cap="none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case2</a:t>
            </a:r>
            <a:endParaRPr kumimoji="0" lang="ko-KR" altLang="en-US" sz="1400" b="1" i="0" u="none" strike="noStrike" kern="0" cap="none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9" name="모서리가 둥근 직사각형 28"/>
          <p:cNvSpPr/>
          <p:nvPr/>
        </p:nvSpPr>
        <p:spPr bwMode="auto">
          <a:xfrm>
            <a:off x="1906773" y="3744764"/>
            <a:ext cx="756727" cy="183425"/>
          </a:xfrm>
          <a:prstGeom prst="roundRect">
            <a:avLst/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ko-KR" sz="1400" b="1" i="0" u="none" strike="noStrike" kern="0" cap="none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case3</a:t>
            </a:r>
            <a:endParaRPr kumimoji="0" lang="ko-KR" altLang="en-US" sz="1400" b="1" i="0" u="none" strike="noStrike" kern="0" cap="none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0" name="모서리가 둥근 직사각형 29"/>
          <p:cNvSpPr/>
          <p:nvPr/>
        </p:nvSpPr>
        <p:spPr bwMode="auto">
          <a:xfrm>
            <a:off x="2694041" y="3744764"/>
            <a:ext cx="756727" cy="183425"/>
          </a:xfrm>
          <a:prstGeom prst="roundRect">
            <a:avLst/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ko-KR" sz="1400" b="1" i="0" u="none" strike="noStrike" kern="0" cap="none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case4</a:t>
            </a:r>
            <a:endParaRPr kumimoji="0" lang="ko-KR" altLang="en-US" sz="1400" b="1" i="0" u="none" strike="noStrike" kern="0" cap="none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314563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5" name="표 94"/>
          <p:cNvGraphicFramePr>
            <a:graphicFrameLocks noGrp="1"/>
          </p:cNvGraphicFramePr>
          <p:nvPr>
            <p:extLst/>
          </p:nvPr>
        </p:nvGraphicFramePr>
        <p:xfrm>
          <a:off x="345285" y="2291050"/>
          <a:ext cx="6726396" cy="85758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3228">
                  <a:extLst>
                    <a:ext uri="{9D8B030D-6E8A-4147-A177-3AD203B41FA5}">
                      <a16:colId xmlns:a16="http://schemas.microsoft.com/office/drawing/2014/main" val="3450297539"/>
                    </a:ext>
                  </a:extLst>
                </a:gridCol>
                <a:gridCol w="1760738">
                  <a:extLst>
                    <a:ext uri="{9D8B030D-6E8A-4147-A177-3AD203B41FA5}">
                      <a16:colId xmlns:a16="http://schemas.microsoft.com/office/drawing/2014/main" val="676531661"/>
                    </a:ext>
                  </a:extLst>
                </a:gridCol>
                <a:gridCol w="1909598">
                  <a:extLst>
                    <a:ext uri="{9D8B030D-6E8A-4147-A177-3AD203B41FA5}">
                      <a16:colId xmlns:a16="http://schemas.microsoft.com/office/drawing/2014/main" val="257685759"/>
                    </a:ext>
                  </a:extLst>
                </a:gridCol>
                <a:gridCol w="642409">
                  <a:extLst>
                    <a:ext uri="{9D8B030D-6E8A-4147-A177-3AD203B41FA5}">
                      <a16:colId xmlns:a16="http://schemas.microsoft.com/office/drawing/2014/main" val="2740147376"/>
                    </a:ext>
                  </a:extLst>
                </a:gridCol>
                <a:gridCol w="648393">
                  <a:extLst>
                    <a:ext uri="{9D8B030D-6E8A-4147-A177-3AD203B41FA5}">
                      <a16:colId xmlns:a16="http://schemas.microsoft.com/office/drawing/2014/main" val="3173469523"/>
                    </a:ext>
                  </a:extLst>
                </a:gridCol>
                <a:gridCol w="623454">
                  <a:extLst>
                    <a:ext uri="{9D8B030D-6E8A-4147-A177-3AD203B41FA5}">
                      <a16:colId xmlns:a16="http://schemas.microsoft.com/office/drawing/2014/main" val="3555301682"/>
                    </a:ext>
                  </a:extLst>
                </a:gridCol>
                <a:gridCol w="928576">
                  <a:extLst>
                    <a:ext uri="{9D8B030D-6E8A-4147-A177-3AD203B41FA5}">
                      <a16:colId xmlns:a16="http://schemas.microsoft.com/office/drawing/2014/main" val="202912828"/>
                    </a:ext>
                  </a:extLst>
                </a:gridCol>
              </a:tblGrid>
              <a:tr h="204731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통합계정과목코드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계정과목한글명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결산전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금액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결산조정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네트조정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결산후</a:t>
                      </a:r>
                      <a:r>
                        <a:rPr lang="ko-KR" altLang="en-US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금액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8033730"/>
                  </a:ext>
                </a:extLst>
              </a:tr>
              <a:tr h="217617">
                <a:tc>
                  <a:txBody>
                    <a:bodyPr/>
                    <a:lstStyle/>
                    <a:p>
                      <a:pPr marL="0" algn="ctr" defTabSz="914395" rtl="0" eaLnBrk="1" fontAlgn="ctr" latinLnBrk="1" hangingPunct="1"/>
                      <a:r>
                        <a:rPr lang="en-US" altLang="ko-KR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1</a:t>
                      </a:r>
                      <a:endParaRPr lang="ko-KR" alt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395" rtl="0" eaLnBrk="1" fontAlgn="ctr" latinLnBrk="1" hangingPunct="1"/>
                      <a:r>
                        <a:rPr lang="en-US" altLang="ko-KR" sz="700" b="0" u="none" strike="noStrike" kern="1200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              1320400000000</a:t>
                      </a:r>
                      <a:endParaRPr lang="ko-KR" altLang="en-US" sz="700" b="0" u="none" strike="noStrike" kern="1200" dirty="0">
                        <a:solidFill>
                          <a:schemeClr val="dk1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라</a:t>
                      </a:r>
                      <a:r>
                        <a:rPr lang="en-US" altLang="ko-KR" sz="7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700" b="0" i="0" u="none" strike="noStrike" dirty="0" err="1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업무용동산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533,247,356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533,247,356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9908261"/>
                  </a:ext>
                </a:extLst>
              </a:tr>
              <a:tr h="21761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               </a:t>
                      </a:r>
                      <a:r>
                        <a:rPr lang="en-US" altLang="ko-KR" sz="700" b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1320400000001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  1 )</a:t>
                      </a:r>
                      <a:r>
                        <a:rPr lang="en-US" altLang="ko-KR" sz="700" b="0" i="0" u="none" strike="noStrike" baseline="0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700" b="0" i="0" u="none" strike="noStrike" baseline="0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기계장치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257,494,641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257,494,641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024731"/>
                  </a:ext>
                </a:extLst>
              </a:tr>
              <a:tr h="21761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                  </a:t>
                      </a:r>
                      <a:r>
                        <a:rPr lang="en-US" altLang="ko-KR" sz="700" b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1320400000002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2 ) </a:t>
                      </a:r>
                      <a:r>
                        <a:rPr lang="ko-KR" altLang="en-US" sz="7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비품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275,752,715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u="none" strike="noStrike" dirty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275,752,715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1323190"/>
                  </a:ext>
                </a:extLst>
              </a:tr>
            </a:tbl>
          </a:graphicData>
        </a:graphic>
      </p:graphicFrame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MDD-00122</a:t>
                      </a:r>
                      <a:endParaRPr lang="ko-KR" altLang="en-US" sz="1200" kern="1200" dirty="0" smtClean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MDD72S44000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회계결산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내역 조회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fontAlgn="auto" latinLnBrk="1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ko-KR" altLang="en-US" sz="1050" b="1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감사지원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감사마트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업무별 </a:t>
                      </a:r>
                      <a:r>
                        <a:rPr kumimoji="0" lang="ko-KR" altLang="en-US" sz="1050" b="1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세부조회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&gt; </a:t>
                      </a:r>
                      <a:r>
                        <a:rPr kumimoji="0" lang="ko-KR" altLang="en-US" sz="1050" b="1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회계결산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 내역 조회</a:t>
                      </a:r>
                      <a:r>
                        <a:rPr kumimoji="0" lang="en-US" altLang="ko-KR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(p163:</a:t>
                      </a:r>
                      <a:r>
                        <a:rPr kumimoji="0" lang="ko-KR" altLang="en-US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김용근</a:t>
                      </a:r>
                      <a:r>
                        <a:rPr kumimoji="0" lang="en-US" altLang="ko-KR" sz="105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)</a:t>
                      </a:r>
                      <a:endParaRPr kumimoji="0" lang="ko-KR" altLang="en-US" sz="1050" b="1" kern="0" dirty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46" name="표 45"/>
          <p:cNvGraphicFramePr>
            <a:graphicFrameLocks noGrp="1"/>
          </p:cNvGraphicFramePr>
          <p:nvPr>
            <p:extLst/>
          </p:nvPr>
        </p:nvGraphicFramePr>
        <p:xfrm>
          <a:off x="7207250" y="665523"/>
          <a:ext cx="2606675" cy="1742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5725" indent="-85725"/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본 화면은 원천시스템인 경영정보시스템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&gt;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결산후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재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85725" indent="-85725"/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무제표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조회시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나오는 화면과 동일한 형식과 데이터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85725" indent="-85725"/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가 동일하게 조회될 수 있도록 구성 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단 재무제표는 </a:t>
                      </a:r>
                      <a:endParaRPr lang="en-US" altLang="ko-KR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  <a:p>
                      <a:pPr marL="85725" indent="-85725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확정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공시 완료된 대상만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조회가능</a:t>
                      </a:r>
                      <a:r>
                        <a:rPr lang="en-US" altLang="ko-KR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r>
                        <a:rPr lang="ko-KR" altLang="en-US" sz="80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회계결산</a:t>
                      </a:r>
                      <a:r>
                        <a:rPr lang="ko-KR" altLang="en-US" sz="80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KoPubWorld돋움체 Medium" panose="00000600000000000000" pitchFamily="2" charset="-127"/>
                        </a:rPr>
                        <a:t> 내역을 경영정보시스템과 연계하여 마트를 구성한 후 관련 내용을 화면에서 조회할 수 있도록 함</a:t>
                      </a:r>
                      <a:endParaRPr lang="en-US" altLang="ko-KR" sz="800" dirty="0" smtClean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>
                        <a:spcBef>
                          <a:spcPts val="600"/>
                        </a:spcBef>
                        <a:buFont typeface="+mj-lt"/>
                        <a:buNone/>
                        <a:defRPr/>
                      </a:pPr>
                      <a:endParaRPr lang="en-US" altLang="ko-KR" sz="800" dirty="0">
                        <a:solidFill>
                          <a:srgbClr val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KoPubWorld돋움체 Medium" panose="00000600000000000000" pitchFamily="2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</a:tbl>
          </a:graphicData>
        </a:graphic>
      </p:graphicFrame>
      <p:sp>
        <p:nvSpPr>
          <p:cNvPr id="50" name="양쪽 모서리가 둥근 사각형 49"/>
          <p:cNvSpPr/>
          <p:nvPr/>
        </p:nvSpPr>
        <p:spPr bwMode="auto">
          <a:xfrm>
            <a:off x="222924" y="1063268"/>
            <a:ext cx="1075896" cy="196107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800" ker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회계결산 내역 조회</a:t>
            </a:r>
            <a:endParaRPr kumimoji="0" lang="ko-KR" altLang="en-US" sz="80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54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22925" y="1249003"/>
            <a:ext cx="6726396" cy="26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71" name="내용 개체 틀 121"/>
          <p:cNvGraphicFramePr>
            <a:graphicFrameLocks/>
          </p:cNvGraphicFramePr>
          <p:nvPr>
            <p:extLst/>
          </p:nvPr>
        </p:nvGraphicFramePr>
        <p:xfrm>
          <a:off x="222924" y="1318615"/>
          <a:ext cx="6732903" cy="5442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1177">
                  <a:extLst>
                    <a:ext uri="{9D8B030D-6E8A-4147-A177-3AD203B41FA5}">
                      <a16:colId xmlns:a16="http://schemas.microsoft.com/office/drawing/2014/main" val="46697676"/>
                    </a:ext>
                  </a:extLst>
                </a:gridCol>
                <a:gridCol w="2125504">
                  <a:extLst>
                    <a:ext uri="{9D8B030D-6E8A-4147-A177-3AD203B41FA5}">
                      <a16:colId xmlns:a16="http://schemas.microsoft.com/office/drawing/2014/main" val="977323057"/>
                    </a:ext>
                  </a:extLst>
                </a:gridCol>
                <a:gridCol w="634206">
                  <a:extLst>
                    <a:ext uri="{9D8B030D-6E8A-4147-A177-3AD203B41FA5}">
                      <a16:colId xmlns:a16="http://schemas.microsoft.com/office/drawing/2014/main" val="2805692924"/>
                    </a:ext>
                  </a:extLst>
                </a:gridCol>
                <a:gridCol w="1187450">
                  <a:extLst>
                    <a:ext uri="{9D8B030D-6E8A-4147-A177-3AD203B41FA5}">
                      <a16:colId xmlns:a16="http://schemas.microsoft.com/office/drawing/2014/main" val="500452687"/>
                    </a:ext>
                  </a:extLst>
                </a:gridCol>
                <a:gridCol w="432262">
                  <a:extLst>
                    <a:ext uri="{9D8B030D-6E8A-4147-A177-3AD203B41FA5}">
                      <a16:colId xmlns:a16="http://schemas.microsoft.com/office/drawing/2014/main" val="3623872666"/>
                    </a:ext>
                  </a:extLst>
                </a:gridCol>
                <a:gridCol w="1712304">
                  <a:extLst>
                    <a:ext uri="{9D8B030D-6E8A-4147-A177-3AD203B41FA5}">
                      <a16:colId xmlns:a16="http://schemas.microsoft.com/office/drawing/2014/main" val="2377728825"/>
                    </a:ext>
                  </a:extLst>
                </a:gridCol>
              </a:tblGrid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baseline="0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u="none" strike="noStrike" smtClean="0"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재무제표구분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기준년월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부점코드</a:t>
                      </a: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4273141"/>
                  </a:ext>
                </a:extLst>
              </a:tr>
              <a:tr h="272137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b="0" i="0" u="none" strike="noStrike" smtClean="0">
                          <a:solidFill>
                            <a:srgbClr val="000000"/>
                          </a:solidFill>
                          <a:effectLst/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회계구분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7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레벨구분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19329184"/>
                  </a:ext>
                </a:extLst>
              </a:tr>
            </a:tbl>
          </a:graphicData>
        </a:graphic>
      </p:graphicFrame>
      <p:pic>
        <p:nvPicPr>
          <p:cNvPr id="72" name="그림 7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300030" y="1343469"/>
            <a:ext cx="181098" cy="173224"/>
          </a:xfrm>
          <a:prstGeom prst="rect">
            <a:avLst/>
          </a:prstGeom>
        </p:spPr>
      </p:pic>
      <p:sp>
        <p:nvSpPr>
          <p:cNvPr id="73" name="직사각형 72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298151" y="1347186"/>
            <a:ext cx="397573" cy="180915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5710539" y="1347220"/>
            <a:ext cx="795419" cy="1809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</a:t>
            </a:r>
            <a:endParaRPr kumimoji="0" lang="ko-KR" altLang="en-US" sz="1000" b="0" i="0" u="none" strike="noStrike" kern="1200" cap="none" normalizeH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75" name="그림 74"/>
          <p:cNvPicPr>
            <a:picLocks noChangeAspect="1"/>
          </p:cNvPicPr>
          <p:nvPr/>
        </p:nvPicPr>
        <p:blipFill rotWithShape="1">
          <a:blip r:embed="rId3"/>
          <a:srcRect r="73540"/>
          <a:stretch/>
        </p:blipFill>
        <p:spPr>
          <a:xfrm>
            <a:off x="5723240" y="1357392"/>
            <a:ext cx="183595" cy="164228"/>
          </a:xfrm>
          <a:prstGeom prst="rect">
            <a:avLst/>
          </a:prstGeom>
        </p:spPr>
      </p:pic>
      <p:grpSp>
        <p:nvGrpSpPr>
          <p:cNvPr id="76" name="그룹 75"/>
          <p:cNvGrpSpPr/>
          <p:nvPr/>
        </p:nvGrpSpPr>
        <p:grpSpPr>
          <a:xfrm>
            <a:off x="3671492" y="1617886"/>
            <a:ext cx="579711" cy="180915"/>
            <a:chOff x="1179239" y="2959078"/>
            <a:chExt cx="579711" cy="180915"/>
          </a:xfrm>
        </p:grpSpPr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179239" y="2959078"/>
              <a:ext cx="579711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7Level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78" name="이등변 삼각형 77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1657007" y="3039900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grpSp>
        <p:nvGrpSpPr>
          <p:cNvPr id="79" name="그룹 78"/>
          <p:cNvGrpSpPr/>
          <p:nvPr/>
        </p:nvGrpSpPr>
        <p:grpSpPr>
          <a:xfrm>
            <a:off x="913339" y="1619601"/>
            <a:ext cx="1149429" cy="180915"/>
            <a:chOff x="1179239" y="2959078"/>
            <a:chExt cx="579711" cy="180915"/>
          </a:xfrm>
        </p:grpSpPr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179239" y="2959078"/>
              <a:ext cx="579711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은행</a:t>
              </a:r>
              <a:r>
                <a:rPr kumimoji="0" lang="en-US" altLang="ko-KR" sz="70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(IFRS9)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81" name="이등변 삼각형 80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1694098" y="3032029"/>
              <a:ext cx="29846" cy="4571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grpSp>
        <p:nvGrpSpPr>
          <p:cNvPr id="82" name="그룹 81"/>
          <p:cNvGrpSpPr/>
          <p:nvPr/>
        </p:nvGrpSpPr>
        <p:grpSpPr>
          <a:xfrm>
            <a:off x="920152" y="1346712"/>
            <a:ext cx="1142616" cy="180915"/>
            <a:chOff x="1179239" y="2959078"/>
            <a:chExt cx="1142616" cy="180915"/>
          </a:xfrm>
        </p:grpSpPr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179239" y="2959078"/>
              <a:ext cx="1142616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재무상태표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84" name="이등변 삼각형 83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2185510" y="3039900"/>
              <a:ext cx="66937" cy="37849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8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488890" y="1641228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조회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6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087769" y="1644098"/>
            <a:ext cx="360000" cy="180000"/>
          </a:xfrm>
          <a:prstGeom prst="roundRect">
            <a:avLst>
              <a:gd name="adj" fmla="val 10228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noProof="0" smtClean="0">
                <a:solidFill>
                  <a:schemeClr val="tx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엑셀</a:t>
            </a:r>
            <a:endParaRPr kumimoji="0" lang="ko-KR" altLang="en-US" sz="800" i="0" u="none" strike="noStrike" kern="1200" cap="none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7" name="양쪽 모서리가 둥근 사각형 86"/>
          <p:cNvSpPr/>
          <p:nvPr/>
        </p:nvSpPr>
        <p:spPr bwMode="auto">
          <a:xfrm>
            <a:off x="336972" y="2104959"/>
            <a:ext cx="386235" cy="189729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800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요약</a:t>
            </a:r>
            <a:endParaRPr kumimoji="0" lang="ko-KR" altLang="en-US" sz="8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8" name="양쪽 모서리가 둥근 사각형 87"/>
          <p:cNvSpPr/>
          <p:nvPr/>
        </p:nvSpPr>
        <p:spPr bwMode="auto">
          <a:xfrm>
            <a:off x="723713" y="2100122"/>
            <a:ext cx="379252" cy="194566"/>
          </a:xfrm>
          <a:prstGeom prst="round2SameRect">
            <a:avLst/>
          </a:prstGeom>
          <a:solidFill>
            <a:schemeClr val="bg2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ko-KR" altLang="en-US" sz="800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상세</a:t>
            </a:r>
            <a:endParaRPr kumimoji="0" lang="ko-KR" altLang="en-US" sz="8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89" name="양쪽 모서리가 둥근 사각형 88"/>
          <p:cNvSpPr/>
          <p:nvPr/>
        </p:nvSpPr>
        <p:spPr bwMode="auto">
          <a:xfrm>
            <a:off x="1102965" y="2100123"/>
            <a:ext cx="379252" cy="194566"/>
          </a:xfrm>
          <a:prstGeom prst="round2SameRect">
            <a:avLst/>
          </a:prstGeom>
          <a:solidFill>
            <a:schemeClr val="bg2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lvl="0"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kumimoji="0" lang="en-US" altLang="ko-KR" sz="800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T</a:t>
            </a:r>
            <a:r>
              <a:rPr kumimoji="0" lang="ko-KR" altLang="en-US" sz="800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형</a:t>
            </a:r>
            <a:endParaRPr kumimoji="0" lang="ko-KR" altLang="en-US" sz="80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pic>
        <p:nvPicPr>
          <p:cNvPr id="90" name="그림 89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38307" y="5029229"/>
            <a:ext cx="253334" cy="169646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255365" y="3269724"/>
            <a:ext cx="347598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※ </a:t>
            </a:r>
            <a:r>
              <a:rPr lang="ko-KR" altLang="en-US" sz="120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경영정보시스템 재무제표 조회 화면 캡쳐 참조</a:t>
            </a:r>
          </a:p>
        </p:txBody>
      </p:sp>
      <p:cxnSp>
        <p:nvCxnSpPr>
          <p:cNvPr id="20" name="직선 연결선 19"/>
          <p:cNvCxnSpPr/>
          <p:nvPr/>
        </p:nvCxnSpPr>
        <p:spPr bwMode="auto">
          <a:xfrm>
            <a:off x="834396" y="2593571"/>
            <a:ext cx="0" cy="45720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cxnSp>
        <p:nvCxnSpPr>
          <p:cNvPr id="22" name="직선 연결선 21"/>
          <p:cNvCxnSpPr/>
          <p:nvPr/>
        </p:nvCxnSpPr>
        <p:spPr bwMode="auto">
          <a:xfrm>
            <a:off x="834396" y="2593571"/>
            <a:ext cx="78943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cxnSp>
        <p:nvCxnSpPr>
          <p:cNvPr id="99" name="직선 연결선 98"/>
          <p:cNvCxnSpPr/>
          <p:nvPr/>
        </p:nvCxnSpPr>
        <p:spPr bwMode="auto">
          <a:xfrm>
            <a:off x="834524" y="2804162"/>
            <a:ext cx="150723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cxnSp>
        <p:nvCxnSpPr>
          <p:cNvPr id="100" name="직선 연결선 99"/>
          <p:cNvCxnSpPr/>
          <p:nvPr/>
        </p:nvCxnSpPr>
        <p:spPr bwMode="auto">
          <a:xfrm>
            <a:off x="828979" y="3048004"/>
            <a:ext cx="150723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4D4D4D"/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23640083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표 4"/>
          <p:cNvGraphicFramePr>
            <a:graphicFrameLocks noGrp="1"/>
          </p:cNvGraphicFramePr>
          <p:nvPr>
            <p:extLst/>
          </p:nvPr>
        </p:nvGraphicFramePr>
        <p:xfrm>
          <a:off x="2093194" y="1349120"/>
          <a:ext cx="4764304" cy="2481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48830">
                  <a:extLst>
                    <a:ext uri="{9D8B030D-6E8A-4147-A177-3AD203B41FA5}">
                      <a16:colId xmlns:a16="http://schemas.microsoft.com/office/drawing/2014/main" val="622788352"/>
                    </a:ext>
                  </a:extLst>
                </a:gridCol>
                <a:gridCol w="3615474">
                  <a:extLst>
                    <a:ext uri="{9D8B030D-6E8A-4147-A177-3AD203B41FA5}">
                      <a16:colId xmlns:a16="http://schemas.microsoft.com/office/drawing/2014/main" val="4094723710"/>
                    </a:ext>
                  </a:extLst>
                </a:gridCol>
              </a:tblGrid>
              <a:tr h="24816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 err="1" smtClean="0">
                          <a:solidFill>
                            <a:sysClr val="windowText" lastClr="000000"/>
                          </a:solidFill>
                        </a:rPr>
                        <a:t>시스템명</a:t>
                      </a:r>
                      <a:endParaRPr lang="ko-KR" altLang="en-US" sz="1000" dirty="0">
                        <a:solidFill>
                          <a:sysClr val="windowText" lastClr="000000"/>
                        </a:solidFill>
                      </a:endParaRPr>
                    </a:p>
                  </a:txBody>
                  <a:tcPr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dirty="0" smtClean="0">
                          <a:solidFill>
                            <a:sysClr val="windowText" lastClr="000000"/>
                          </a:solidFill>
                        </a:rPr>
                        <a:t>결재감사정보</a:t>
                      </a:r>
                      <a:endParaRPr lang="ko-KR" altLang="en-US" sz="1000" dirty="0">
                        <a:solidFill>
                          <a:sysClr val="windowText" lastClr="000000"/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2044933"/>
                  </a:ext>
                </a:extLst>
              </a:tr>
            </a:tbl>
          </a:graphicData>
        </a:graphic>
      </p:graphicFrame>
      <p:sp>
        <p:nvSpPr>
          <p:cNvPr id="46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198302" y="1516548"/>
            <a:ext cx="164661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MDD-00126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MDD75S36000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en-US" altLang="ko-KR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DirectQuery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감사마트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메타관리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탭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감사마트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20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업무별세무조회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en-US" altLang="ko-KR" sz="120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DirectQuery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(P167:</a:t>
                      </a:r>
                      <a:r>
                        <a:rPr lang="ko-KR" altLang="en-US" sz="120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강지웅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49997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200437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26725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카테고리명을 입력 할 수 있는 팝업 창이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6725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수정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카테고리명을 입력 할 수 있는 팝업 창이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676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삭제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 하면 선택된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카테고리명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참조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SQL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정보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예제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SQL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및 등록된 첨부파일들을 삭제 할 수 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단 카테고리에 연결된 테이블목록의 테이블은 삭제 되지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않는다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676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감사마트의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시스템을 클릭 하면 관련된 테이블 목록이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테이블명을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클릭하면 해당 테이블의 컬럼 정보를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컬럼정보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탭에 목록으로 나타난다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3674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감사마트의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시스템을 클릭하고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테이블추가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해당 시스템과 관련된 테이블을  추가 할 수 있는 팝업 창이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676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감사마트의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시스템을 클릭하고 테이블정보의 특정 테이블을 선택하고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테이블해지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선택된 시스템에서 테이블을 해지 할 수 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344835"/>
                  </a:ext>
                </a:extLst>
              </a:tr>
              <a:tr h="46768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감사마트의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시스템을 클릭하고 등록감사역을 지정하고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조회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해당 감사역이 작성한 참조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SQL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을 조회할 수 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전체조회도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가능하다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0330180"/>
                  </a:ext>
                </a:extLst>
              </a:tr>
              <a:tr h="52913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감사마트의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시스템에 등록된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참조 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SQL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중에서 필요한 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SQL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의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예제컬럼을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선택하고 나타난 팝업화면에서 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복사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 하면 해당 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SQL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내용이 복사된다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이후 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DB Tool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에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붙여넣기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en-US" altLang="ko-KR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Ctrl+V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해서 사용 할 수 있다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59481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9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감사마트의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시스템을 클릭하고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[SQL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또는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[SQL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수정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해당 시스템의 예제 또는 참조 가능한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SQL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을 등록 또는 수정 관리 할 수 있는 팝업 창이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720887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10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감사마트의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시스템에 필요한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정보 또는 참조 내용을 첨부 파일로 관리 할 수 있다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413135"/>
                  </a:ext>
                </a:extLst>
              </a:tr>
            </a:tbl>
          </a:graphicData>
        </a:graphic>
      </p:graphicFrame>
      <p:sp>
        <p:nvSpPr>
          <p:cNvPr id="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97229" y="1542539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등록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1091798" y="1542539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수정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614372" y="1655523"/>
            <a:ext cx="610527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err="1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테이블추가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6250070" y="1658367"/>
            <a:ext cx="610527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테이블 해지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19" name="내용 개체 틀 121"/>
          <p:cNvGraphicFramePr>
            <a:graphicFrameLocks/>
          </p:cNvGraphicFramePr>
          <p:nvPr>
            <p:extLst/>
          </p:nvPr>
        </p:nvGraphicFramePr>
        <p:xfrm>
          <a:off x="222524" y="1767583"/>
          <a:ext cx="1622395" cy="446638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42761">
                  <a:extLst>
                    <a:ext uri="{9D8B030D-6E8A-4147-A177-3AD203B41FA5}">
                      <a16:colId xmlns:a16="http://schemas.microsoft.com/office/drawing/2014/main" val="4186060632"/>
                    </a:ext>
                  </a:extLst>
                </a:gridCol>
                <a:gridCol w="1279634">
                  <a:extLst>
                    <a:ext uri="{9D8B030D-6E8A-4147-A177-3AD203B41FA5}">
                      <a16:colId xmlns:a16="http://schemas.microsoft.com/office/drawing/2014/main" val="1325555519"/>
                    </a:ext>
                  </a:extLst>
                </a:gridCol>
              </a:tblGrid>
              <a:tr h="324882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감사마트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1669389"/>
                  </a:ext>
                </a:extLst>
              </a:tr>
              <a:tr h="345125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클라우드개발정보</a:t>
                      </a:r>
                      <a:endParaRPr lang="ko-KR" altLang="en-US" sz="9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0641114"/>
                  </a:ext>
                </a:extLst>
              </a:tr>
              <a:tr h="345125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회계결산내역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9943333"/>
                  </a:ext>
                </a:extLst>
              </a:tr>
              <a:tr h="345125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IQMS</a:t>
                      </a:r>
                      <a:r>
                        <a:rPr lang="ko-KR" altLang="en-US" sz="9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등록정보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2394348"/>
                  </a:ext>
                </a:extLst>
              </a:tr>
              <a:tr h="345125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결재감사정보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3758132"/>
                  </a:ext>
                </a:extLst>
              </a:tr>
              <a:tr h="345125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IT</a:t>
                      </a:r>
                      <a:r>
                        <a:rPr kumimoji="0" lang="ko-KR" altLang="en-US" sz="900" kern="0" dirty="0" err="1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물품계약</a:t>
                      </a:r>
                      <a:r>
                        <a:rPr kumimoji="0" lang="ko-KR" altLang="en-US" sz="900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정보</a:t>
                      </a:r>
                      <a:endParaRPr lang="ko-KR" altLang="en-US" sz="9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6719247"/>
                  </a:ext>
                </a:extLst>
              </a:tr>
              <a:tr h="345125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3719566"/>
                  </a:ext>
                </a:extLst>
              </a:tr>
              <a:tr h="345125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5560601"/>
                  </a:ext>
                </a:extLst>
              </a:tr>
              <a:tr h="345125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85428235"/>
                  </a:ext>
                </a:extLst>
              </a:tr>
              <a:tr h="345125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68398785"/>
                  </a:ext>
                </a:extLst>
              </a:tr>
              <a:tr h="345125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5645190"/>
                  </a:ext>
                </a:extLst>
              </a:tr>
              <a:tr h="345125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9327294"/>
                  </a:ext>
                </a:extLst>
              </a:tr>
              <a:tr h="345125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2712672"/>
                  </a:ext>
                </a:extLst>
              </a:tr>
            </a:tbl>
          </a:graphicData>
        </a:graphic>
      </p:graphicFrame>
      <p:graphicFrame>
        <p:nvGraphicFramePr>
          <p:cNvPr id="20" name="내용 개체 틀 121"/>
          <p:cNvGraphicFramePr>
            <a:graphicFrameLocks/>
          </p:cNvGraphicFramePr>
          <p:nvPr>
            <p:extLst/>
          </p:nvPr>
        </p:nvGraphicFramePr>
        <p:xfrm>
          <a:off x="2093194" y="1888671"/>
          <a:ext cx="4775716" cy="12075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1128">
                  <a:extLst>
                    <a:ext uri="{9D8B030D-6E8A-4147-A177-3AD203B41FA5}">
                      <a16:colId xmlns:a16="http://schemas.microsoft.com/office/drawing/2014/main" val="4186060632"/>
                    </a:ext>
                  </a:extLst>
                </a:gridCol>
                <a:gridCol w="1129186">
                  <a:extLst>
                    <a:ext uri="{9D8B030D-6E8A-4147-A177-3AD203B41FA5}">
                      <a16:colId xmlns:a16="http://schemas.microsoft.com/office/drawing/2014/main" val="1325555519"/>
                    </a:ext>
                  </a:extLst>
                </a:gridCol>
                <a:gridCol w="3425402">
                  <a:extLst>
                    <a:ext uri="{9D8B030D-6E8A-4147-A177-3AD203B41FA5}">
                      <a16:colId xmlns:a16="http://schemas.microsoft.com/office/drawing/2014/main" val="2118101267"/>
                    </a:ext>
                  </a:extLst>
                </a:gridCol>
              </a:tblGrid>
              <a:tr h="189491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테이블명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테이블정보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1669389"/>
                  </a:ext>
                </a:extLst>
              </a:tr>
              <a:tr h="254520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TSMDDA011</a:t>
                      </a:r>
                      <a:endParaRPr lang="ko-KR" altLang="en-US" sz="800" b="1" dirty="0" smtClean="0">
                        <a:solidFill>
                          <a:srgbClr val="2272F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결재감사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관련 기본 테이블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0641114"/>
                  </a:ext>
                </a:extLst>
              </a:tr>
              <a:tr h="254520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TSMDDA012</a:t>
                      </a:r>
                      <a:endParaRPr lang="ko-KR" altLang="en-US" sz="800" b="1" kern="1200" dirty="0" smtClean="0">
                        <a:solidFill>
                          <a:srgbClr val="2272F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테이블에 대한 상세 설명을 입력 하시면 됩니다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9943333"/>
                  </a:ext>
                </a:extLst>
              </a:tr>
              <a:tr h="254520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TSMDDA013</a:t>
                      </a:r>
                      <a:endParaRPr lang="ko-KR" altLang="en-US" sz="800" b="1" kern="1200" dirty="0" smtClean="0">
                        <a:solidFill>
                          <a:srgbClr val="2272F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테이블에 대한 상세 설명을 입력 하시면 됩니다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2394348"/>
                  </a:ext>
                </a:extLst>
              </a:tr>
              <a:tr h="254520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 smtClean="0">
                          <a:solidFill>
                            <a:srgbClr val="2272FF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TSMDDA014</a:t>
                      </a:r>
                      <a:endParaRPr lang="ko-KR" altLang="en-US" sz="800" b="1" kern="1200" dirty="0" smtClean="0">
                        <a:solidFill>
                          <a:srgbClr val="2272FF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테이블에 대한 상세 설명을 입력 하시면 됩니다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3758132"/>
                  </a:ext>
                </a:extLst>
              </a:tr>
            </a:tbl>
          </a:graphicData>
        </a:graphic>
      </p:graphicFrame>
      <p:grpSp>
        <p:nvGrpSpPr>
          <p:cNvPr id="55" name="그룹 54"/>
          <p:cNvGrpSpPr/>
          <p:nvPr/>
        </p:nvGrpSpPr>
        <p:grpSpPr>
          <a:xfrm>
            <a:off x="2168066" y="5215079"/>
            <a:ext cx="4657730" cy="1073395"/>
            <a:chOff x="1280160" y="1813560"/>
            <a:chExt cx="4505499" cy="1586345"/>
          </a:xfrm>
        </p:grpSpPr>
        <p:sp>
          <p:nvSpPr>
            <p:cNvPr id="56" name="사각형: 둥근 모서리 19">
              <a:extLst>
                <a:ext uri="{FF2B5EF4-FFF2-40B4-BE49-F238E27FC236}">
                  <a16:creationId xmlns:a16="http://schemas.microsoft.com/office/drawing/2014/main" id="{52727207-08CB-A2FB-DFBD-131CEC779D94}"/>
                </a:ext>
              </a:extLst>
            </p:cNvPr>
            <p:cNvSpPr/>
            <p:nvPr/>
          </p:nvSpPr>
          <p:spPr>
            <a:xfrm>
              <a:off x="5204923" y="2128676"/>
              <a:ext cx="504000" cy="180000"/>
            </a:xfrm>
            <a:prstGeom prst="roundRect">
              <a:avLst>
                <a:gd name="adj" fmla="val 10228"/>
              </a:avLst>
            </a:prstGeom>
            <a:noFill/>
            <a:ln w="12700">
              <a:solidFill>
                <a:schemeClr val="tx1"/>
              </a:solidFill>
            </a:ln>
            <a:effectLst>
              <a:outerShdw blurRad="50800" dist="38100" dir="2700000" sx="80000" sy="8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-100" normalizeH="0" baseline="0" noProof="0" dirty="0" err="1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전체삭제</a:t>
              </a:r>
              <a:endParaRPr kumimoji="0" lang="ko-KR" altLang="en-US" sz="800" b="0" i="0" u="none" strike="noStrike" kern="1200" cap="none" spc="-1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57" name="사각형: 둥근 모서리 19">
              <a:extLst>
                <a:ext uri="{FF2B5EF4-FFF2-40B4-BE49-F238E27FC236}">
                  <a16:creationId xmlns:a16="http://schemas.microsoft.com/office/drawing/2014/main" id="{52727207-08CB-A2FB-DFBD-131CEC779D94}"/>
                </a:ext>
              </a:extLst>
            </p:cNvPr>
            <p:cNvSpPr/>
            <p:nvPr/>
          </p:nvSpPr>
          <p:spPr>
            <a:xfrm>
              <a:off x="4650421" y="2128676"/>
              <a:ext cx="504000" cy="180000"/>
            </a:xfrm>
            <a:prstGeom prst="roundRect">
              <a:avLst>
                <a:gd name="adj" fmla="val 10228"/>
              </a:avLst>
            </a:prstGeom>
            <a:noFill/>
            <a:ln w="12700">
              <a:solidFill>
                <a:schemeClr val="tx1"/>
              </a:solidFill>
            </a:ln>
            <a:effectLst>
              <a:outerShdw blurRad="50800" dist="38100" dir="2700000" sx="80000" sy="8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-100" normalizeH="0" baseline="0" noProof="0" dirty="0" err="1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파일추가</a:t>
              </a:r>
              <a:endParaRPr kumimoji="0" lang="ko-KR" altLang="en-US" sz="800" b="0" i="0" u="none" strike="noStrike" kern="1200" cap="none" spc="-1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60" name="직사각형 59"/>
            <p:cNvSpPr/>
            <p:nvPr/>
          </p:nvSpPr>
          <p:spPr bwMode="auto">
            <a:xfrm>
              <a:off x="1280161" y="2072640"/>
              <a:ext cx="4505498" cy="1327265"/>
            </a:xfrm>
            <a:prstGeom prst="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lvl="0" indent="-85725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61" name="직사각형 60"/>
            <p:cNvSpPr/>
            <p:nvPr/>
          </p:nvSpPr>
          <p:spPr bwMode="auto">
            <a:xfrm>
              <a:off x="1280160" y="1813560"/>
              <a:ext cx="4505499" cy="259080"/>
            </a:xfrm>
            <a:prstGeom prst="rect">
              <a:avLst/>
            </a:prstGeom>
            <a:solidFill>
              <a:srgbClr val="A29D9A"/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lvl="0" indent="-85725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0" cap="none" spc="0" normalizeH="0" baseline="0" noProof="0" dirty="0" smtClean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 첨부파일관리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377175" y="2427691"/>
              <a:ext cx="360000" cy="180915"/>
            </a:xfrm>
            <a:prstGeom prst="rect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1200" cap="none" spc="0" normalizeH="0" baseline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No</a:t>
              </a:r>
              <a:endParaRPr kumimoji="0" lang="ko-KR" altLang="en-US" sz="8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737902" y="2427691"/>
              <a:ext cx="2880000" cy="180915"/>
            </a:xfrm>
            <a:prstGeom prst="rect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파일명</a:t>
              </a:r>
              <a:endParaRPr kumimoji="0" lang="ko-KR" altLang="en-US" sz="8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64" name="직사각형 63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4613174" y="2427691"/>
              <a:ext cx="720000" cy="180915"/>
            </a:xfrm>
            <a:prstGeom prst="rect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 err="1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파일크기</a:t>
              </a:r>
              <a:endParaRPr kumimoji="0" lang="ko-KR" altLang="en-US" sz="8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5336599" y="2427691"/>
              <a:ext cx="360000" cy="180915"/>
            </a:xfrm>
            <a:prstGeom prst="rect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삭제</a:t>
              </a:r>
              <a:endParaRPr kumimoji="0" lang="ko-KR" altLang="en-US" sz="8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377175" y="2612918"/>
              <a:ext cx="4320000" cy="651131"/>
            </a:xfrm>
            <a:prstGeom prst="rect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6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1486368" y="1542539"/>
            <a:ext cx="360000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삭제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689856" y="171682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9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199949" y="1256464"/>
            <a:ext cx="6726396" cy="319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0" name="양쪽 모서리가 둥근 사각형 49"/>
          <p:cNvSpPr/>
          <p:nvPr/>
        </p:nvSpPr>
        <p:spPr bwMode="auto">
          <a:xfrm>
            <a:off x="218055" y="1004932"/>
            <a:ext cx="1188301" cy="238010"/>
          </a:xfrm>
          <a:prstGeom prst="round2SameRect">
            <a:avLst/>
          </a:prstGeom>
          <a:solidFill>
            <a:schemeClr val="bg1">
              <a:lumMod val="65000"/>
            </a:schemeClr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 dirty="0" err="1" smtClean="0">
                <a:solidFill>
                  <a:schemeClr val="dk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감사마트</a:t>
            </a:r>
            <a:r>
              <a:rPr lang="ko-KR" altLang="en-US" sz="800" dirty="0" smtClean="0">
                <a:solidFill>
                  <a:schemeClr val="dk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 </a:t>
            </a:r>
            <a:r>
              <a:rPr lang="ko-KR" altLang="en-US" sz="800" dirty="0" err="1" smtClean="0">
                <a:solidFill>
                  <a:schemeClr val="dk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메타관리</a:t>
            </a:r>
            <a:endParaRPr lang="ko-KR" altLang="en-US" sz="800" dirty="0">
              <a:solidFill>
                <a:schemeClr val="dk1"/>
              </a:solidFill>
              <a:latin typeface="KB금융 본문체 Bold" panose="020B0803000000000000" pitchFamily="50" charset="-127"/>
              <a:ea typeface="KB금융 본문체 Bold" panose="020B0803000000000000" pitchFamily="50" charset="-127"/>
            </a:endParaRPr>
          </a:p>
        </p:txBody>
      </p:sp>
      <p:sp>
        <p:nvSpPr>
          <p:cNvPr id="53" name="양쪽 모서리가 둥근 사각형 52"/>
          <p:cNvSpPr/>
          <p:nvPr/>
        </p:nvSpPr>
        <p:spPr bwMode="auto">
          <a:xfrm>
            <a:off x="1415830" y="1004932"/>
            <a:ext cx="1188301" cy="238010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 dirty="0" err="1" smtClean="0">
                <a:solidFill>
                  <a:schemeClr val="dk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컬럼정보</a:t>
            </a:r>
            <a:endParaRPr lang="ko-KR" altLang="en-US" sz="800" dirty="0">
              <a:solidFill>
                <a:schemeClr val="dk1"/>
              </a:solidFill>
              <a:latin typeface="KB금융 본문체 Bold" panose="020B0803000000000000" pitchFamily="50" charset="-127"/>
              <a:ea typeface="KB금융 본문체 Bold" panose="020B0803000000000000" pitchFamily="50" charset="-127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09239" y="143617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054316" y="143617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498816" y="143617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599603" y="155761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284289" y="155218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6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18055" y="1275514"/>
            <a:ext cx="90293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 smtClean="0"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시스템</a:t>
            </a:r>
          </a:p>
        </p:txBody>
      </p:sp>
      <p:graphicFrame>
        <p:nvGraphicFramePr>
          <p:cNvPr id="74" name="내용 개체 틀 121"/>
          <p:cNvGraphicFramePr>
            <a:graphicFrameLocks/>
          </p:cNvGraphicFramePr>
          <p:nvPr>
            <p:extLst/>
          </p:nvPr>
        </p:nvGraphicFramePr>
        <p:xfrm>
          <a:off x="2093194" y="3782929"/>
          <a:ext cx="4775716" cy="121703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1128">
                  <a:extLst>
                    <a:ext uri="{9D8B030D-6E8A-4147-A177-3AD203B41FA5}">
                      <a16:colId xmlns:a16="http://schemas.microsoft.com/office/drawing/2014/main" val="4186060632"/>
                    </a:ext>
                  </a:extLst>
                </a:gridCol>
                <a:gridCol w="2557083">
                  <a:extLst>
                    <a:ext uri="{9D8B030D-6E8A-4147-A177-3AD203B41FA5}">
                      <a16:colId xmlns:a16="http://schemas.microsoft.com/office/drawing/2014/main" val="1325555519"/>
                    </a:ext>
                  </a:extLst>
                </a:gridCol>
                <a:gridCol w="323682">
                  <a:extLst>
                    <a:ext uri="{9D8B030D-6E8A-4147-A177-3AD203B41FA5}">
                      <a16:colId xmlns:a16="http://schemas.microsoft.com/office/drawing/2014/main" val="2400291550"/>
                    </a:ext>
                  </a:extLst>
                </a:gridCol>
                <a:gridCol w="930584">
                  <a:extLst>
                    <a:ext uri="{9D8B030D-6E8A-4147-A177-3AD203B41FA5}">
                      <a16:colId xmlns:a16="http://schemas.microsoft.com/office/drawing/2014/main" val="2107162715"/>
                    </a:ext>
                  </a:extLst>
                </a:gridCol>
                <a:gridCol w="743239">
                  <a:extLst>
                    <a:ext uri="{9D8B030D-6E8A-4147-A177-3AD203B41FA5}">
                      <a16:colId xmlns:a16="http://schemas.microsoft.com/office/drawing/2014/main" val="3526815470"/>
                    </a:ext>
                  </a:extLst>
                </a:gridCol>
              </a:tblGrid>
              <a:tr h="190976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참조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SQL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설명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예제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등록감사역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등록일시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1669389"/>
                  </a:ext>
                </a:extLst>
              </a:tr>
              <a:tr h="256515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 smtClean="0">
                          <a:solidFill>
                            <a:sysClr val="windowText" lastClr="000000"/>
                          </a:solidFill>
                        </a:rPr>
                        <a:t>  결재감사정보 기본 목록 조회 </a:t>
                      </a:r>
                      <a:r>
                        <a:rPr lang="en-US" altLang="ko-KR" sz="800" b="0" dirty="0" smtClean="0">
                          <a:solidFill>
                            <a:sysClr val="windowText" lastClr="000000"/>
                          </a:solidFill>
                        </a:rPr>
                        <a:t>SQL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2024-12-30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0641114"/>
                  </a:ext>
                </a:extLst>
              </a:tr>
              <a:tr h="256515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 </a:t>
                      </a:r>
                      <a:r>
                        <a:rPr lang="ko-KR" altLang="en-US" sz="800" b="0" dirty="0" smtClean="0">
                          <a:solidFill>
                            <a:sysClr val="windowText" lastClr="000000"/>
                          </a:solidFill>
                        </a:rPr>
                        <a:t>결재감사정보 연락처 조회 </a:t>
                      </a:r>
                      <a:r>
                        <a:rPr lang="en-US" altLang="ko-KR" sz="800" b="0" dirty="0" smtClean="0">
                          <a:solidFill>
                            <a:sysClr val="windowText" lastClr="000000"/>
                          </a:solidFill>
                        </a:rPr>
                        <a:t>SQL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2024-12-30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9943333"/>
                  </a:ext>
                </a:extLst>
              </a:tr>
              <a:tr h="256515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2394348"/>
                  </a:ext>
                </a:extLst>
              </a:tr>
              <a:tr h="256515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3758132"/>
                  </a:ext>
                </a:extLst>
              </a:tr>
            </a:tbl>
          </a:graphicData>
        </a:graphic>
      </p:graphicFrame>
      <p:sp>
        <p:nvSpPr>
          <p:cNvPr id="7" name="실행 단추: 문서 6">
            <a:hlinkClick r:id="" action="ppaction://noaction" highlightClick="1"/>
          </p:cNvPr>
          <p:cNvSpPr/>
          <p:nvPr/>
        </p:nvSpPr>
        <p:spPr bwMode="auto">
          <a:xfrm>
            <a:off x="4914811" y="4016140"/>
            <a:ext cx="223631" cy="165317"/>
          </a:xfrm>
          <a:prstGeom prst="actionButtonDocument">
            <a:avLst/>
          </a:prstGeom>
          <a:noFill/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6" name="실행 단추: 문서 75">
            <a:hlinkClick r:id="" action="ppaction://noaction" highlightClick="1"/>
          </p:cNvPr>
          <p:cNvSpPr/>
          <p:nvPr/>
        </p:nvSpPr>
        <p:spPr bwMode="auto">
          <a:xfrm>
            <a:off x="4914811" y="4281148"/>
            <a:ext cx="223631" cy="165317"/>
          </a:xfrm>
          <a:prstGeom prst="actionButtonDocument">
            <a:avLst/>
          </a:prstGeom>
          <a:noFill/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77" name="표 76"/>
          <p:cNvGraphicFramePr>
            <a:graphicFrameLocks noGrp="1"/>
          </p:cNvGraphicFramePr>
          <p:nvPr>
            <p:extLst/>
          </p:nvPr>
        </p:nvGraphicFramePr>
        <p:xfrm>
          <a:off x="2093194" y="3240718"/>
          <a:ext cx="4764304" cy="2576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39535">
                  <a:extLst>
                    <a:ext uri="{9D8B030D-6E8A-4147-A177-3AD203B41FA5}">
                      <a16:colId xmlns:a16="http://schemas.microsoft.com/office/drawing/2014/main" val="622788352"/>
                    </a:ext>
                  </a:extLst>
                </a:gridCol>
                <a:gridCol w="2924769">
                  <a:extLst>
                    <a:ext uri="{9D8B030D-6E8A-4147-A177-3AD203B41FA5}">
                      <a16:colId xmlns:a16="http://schemas.microsoft.com/office/drawing/2014/main" val="4094723710"/>
                    </a:ext>
                  </a:extLst>
                </a:gridCol>
              </a:tblGrid>
              <a:tr h="25765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smtClean="0">
                          <a:solidFill>
                            <a:sysClr val="windowText" lastClr="000000"/>
                          </a:solidFill>
                        </a:rPr>
                        <a:t>참조</a:t>
                      </a:r>
                      <a:r>
                        <a:rPr lang="en-US" altLang="ko-KR" sz="800" dirty="0" smtClean="0">
                          <a:solidFill>
                            <a:sysClr val="windowText" lastClr="000000"/>
                          </a:solidFill>
                        </a:rPr>
                        <a:t>SQL</a:t>
                      </a:r>
                      <a:r>
                        <a:rPr lang="ko-KR" altLang="en-US" sz="800" dirty="0" err="1" smtClean="0">
                          <a:solidFill>
                            <a:sysClr val="windowText" lastClr="000000"/>
                          </a:solidFill>
                        </a:rPr>
                        <a:t>등록감사역</a:t>
                      </a:r>
                      <a:endParaRPr lang="ko-KR" altLang="en-US" sz="800" dirty="0">
                        <a:solidFill>
                          <a:sysClr val="windowText" lastClr="000000"/>
                        </a:solidFill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ysClr val="windowText" lastClr="000000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2044933"/>
                  </a:ext>
                </a:extLst>
              </a:tr>
            </a:tbl>
          </a:graphicData>
        </a:graphic>
      </p:graphicFrame>
      <p:sp>
        <p:nvSpPr>
          <p:cNvPr id="78" name="직사각형 77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6228182" y="3564272"/>
            <a:ext cx="629290" cy="17826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dirty="0" smtClean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사용 가이드</a:t>
            </a:r>
            <a:endParaRPr kumimoji="0" lang="ko-KR" altLang="en-US" sz="9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7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955579" y="3554976"/>
            <a:ext cx="610527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spc="-1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SQL </a:t>
            </a:r>
            <a:r>
              <a:rPr kumimoji="0" lang="ko-KR" altLang="en-US" sz="800" spc="-100" noProof="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등록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0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591277" y="3557820"/>
            <a:ext cx="610527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SQL</a:t>
            </a:r>
            <a:r>
              <a:rPr kumimoji="0" lang="en-US" altLang="ko-KR" sz="800" b="0" i="0" u="none" strike="noStrike" kern="1200" cap="none" spc="-100" normalizeH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 </a:t>
            </a: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수정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1" name="직사각형 80"/>
          <p:cNvSpPr/>
          <p:nvPr/>
        </p:nvSpPr>
        <p:spPr bwMode="auto">
          <a:xfrm>
            <a:off x="4956304" y="3547540"/>
            <a:ext cx="1260286" cy="221968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8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305089" y="3557820"/>
            <a:ext cx="610527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조회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86" name="그룹 85"/>
          <p:cNvGrpSpPr/>
          <p:nvPr/>
        </p:nvGrpSpPr>
        <p:grpSpPr>
          <a:xfrm>
            <a:off x="3975714" y="3279451"/>
            <a:ext cx="1152000" cy="180915"/>
            <a:chOff x="1179239" y="2959078"/>
            <a:chExt cx="579711" cy="180915"/>
          </a:xfrm>
        </p:grpSpPr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179239" y="2959078"/>
              <a:ext cx="579711" cy="180915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S000000  </a:t>
              </a:r>
              <a:r>
                <a:rPr kumimoji="0" lang="ko-KR" altLang="en-US" sz="70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홍길동</a:t>
              </a:r>
              <a:endParaRPr kumimoji="0" lang="ko-KR" altLang="en-US" sz="1000" b="0" i="0" u="none" strike="noStrike" kern="1200" cap="none" normalizeH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88" name="이등변 삼각형 87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1657007" y="3005749"/>
              <a:ext cx="66937" cy="72000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grpSp>
        <p:nvGrpSpPr>
          <p:cNvPr id="15" name="그룹 14"/>
          <p:cNvGrpSpPr/>
          <p:nvPr/>
        </p:nvGrpSpPr>
        <p:grpSpPr>
          <a:xfrm>
            <a:off x="118797" y="4446465"/>
            <a:ext cx="2093398" cy="1956938"/>
            <a:chOff x="-1280670" y="6403367"/>
            <a:chExt cx="2401661" cy="1689062"/>
          </a:xfrm>
        </p:grpSpPr>
        <p:sp>
          <p:nvSpPr>
            <p:cNvPr id="14" name="직사각형 13"/>
            <p:cNvSpPr/>
            <p:nvPr/>
          </p:nvSpPr>
          <p:spPr bwMode="auto">
            <a:xfrm>
              <a:off x="-1280670" y="6403370"/>
              <a:ext cx="2401661" cy="1689059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algn="ctr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400" b="1" i="0" u="none" strike="noStrike" kern="0" cap="none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98" name="TextBox 97"/>
            <p:cNvSpPr txBox="1"/>
            <p:nvPr/>
          </p:nvSpPr>
          <p:spPr>
            <a:xfrm>
              <a:off x="-1277661" y="6403367"/>
              <a:ext cx="2398651" cy="215444"/>
            </a:xfrm>
            <a:prstGeom prst="rect">
              <a:avLst/>
            </a:prstGeom>
            <a:solidFill>
              <a:srgbClr val="B1ACA8"/>
            </a:solidFill>
            <a:ln>
              <a:solidFill>
                <a:schemeClr val="tx1"/>
              </a:solidFill>
            </a:ln>
          </p:spPr>
          <p:txBody>
            <a:bodyPr wrap="square" rtlCol="0">
              <a:spAutoFit/>
            </a:bodyPr>
            <a:lstStyle/>
            <a:p>
              <a:r>
                <a:rPr kumimoji="0" lang="en-US" altLang="ko-KR" sz="800" dirty="0" smtClean="0">
                  <a:solidFill>
                    <a:srgbClr val="000000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SQL</a:t>
              </a:r>
              <a:r>
                <a:rPr kumimoji="0" lang="ko-KR" altLang="en-US" sz="800" dirty="0" smtClean="0">
                  <a:solidFill>
                    <a:srgbClr val="000000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내용</a:t>
              </a:r>
              <a:endParaRPr kumimoji="0" lang="ko-KR" altLang="en-US" sz="8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100" name="직사각형 99"/>
          <p:cNvSpPr/>
          <p:nvPr/>
        </p:nvSpPr>
        <p:spPr bwMode="auto">
          <a:xfrm>
            <a:off x="176799" y="4723927"/>
            <a:ext cx="1962691" cy="1410007"/>
          </a:xfrm>
          <a:prstGeom prst="rect">
            <a:avLst/>
          </a:prstGeom>
          <a:solidFill>
            <a:srgbClr val="EAAA00">
              <a:lumMod val="40000"/>
              <a:lumOff val="60000"/>
            </a:srgbClr>
          </a:solidFill>
          <a:ln w="9525" cap="flat" cmpd="sng" algn="ctr">
            <a:solidFill>
              <a:srgbClr val="F1A6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indent="-85725"/>
            <a:r>
              <a:rPr kumimoji="0" lang="en-US" altLang="ko-KR" sz="6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// </a:t>
            </a:r>
            <a:r>
              <a:rPr kumimoji="0" lang="ko-KR" altLang="en-US" sz="600" b="1" kern="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결재정보의</a:t>
            </a:r>
            <a:r>
              <a:rPr kumimoji="0" lang="ko-KR" altLang="en-US" sz="6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목록을 조회 하는 쿼리 입니다</a:t>
            </a:r>
            <a:r>
              <a:rPr kumimoji="0" lang="en-US" altLang="ko-KR" sz="6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.// </a:t>
            </a:r>
            <a:r>
              <a:rPr kumimoji="0" lang="ko-KR" altLang="en-US" sz="6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아래 </a:t>
            </a:r>
            <a:r>
              <a:rPr kumimoji="0" lang="en-US" altLang="ko-KR" sz="6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@@@@@</a:t>
            </a:r>
            <a:r>
              <a:rPr kumimoji="0" lang="ko-KR" altLang="en-US" sz="6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에 </a:t>
            </a:r>
            <a:r>
              <a:rPr kumimoji="0" lang="ko-KR" altLang="en-US" sz="600" b="1" kern="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사번입력하고</a:t>
            </a:r>
            <a:r>
              <a:rPr kumimoji="0" lang="ko-KR" altLang="en-US" sz="6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6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DB</a:t>
            </a:r>
            <a:r>
              <a:rPr kumimoji="0" lang="ko-KR" altLang="en-US" sz="6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에 </a:t>
            </a:r>
            <a:r>
              <a:rPr kumimoji="0" lang="ko-KR" altLang="en-US" sz="600" b="1" kern="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붙여넣기</a:t>
            </a:r>
            <a:r>
              <a:rPr kumimoji="0" lang="ko-KR" altLang="en-US" sz="6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해서 실행 하시면 됩니다</a:t>
            </a:r>
            <a:r>
              <a:rPr kumimoji="0" lang="en-US" altLang="ko-KR" sz="6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.</a:t>
            </a:r>
          </a:p>
          <a:p>
            <a:pPr marL="85725" indent="-85725"/>
            <a:r>
              <a:rPr kumimoji="0" lang="en-US" altLang="ko-KR" sz="6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6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SELECT </a:t>
            </a:r>
            <a:r>
              <a:rPr kumimoji="0" lang="en-US" altLang="ko-KR" sz="6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GW_WF_ADOC_MAST.ADOC_ID </a:t>
            </a:r>
            <a:r>
              <a:rPr kumimoji="0" lang="en-US" altLang="ko-KR" sz="6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//</a:t>
            </a:r>
            <a:r>
              <a:rPr kumimoji="0" lang="ko-KR" altLang="en-US" sz="600" b="1" kern="0" dirty="0" err="1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결재문서</a:t>
            </a:r>
            <a:r>
              <a:rPr kumimoji="0" lang="en-US" altLang="ko-KR" sz="6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ID</a:t>
            </a:r>
          </a:p>
          <a:p>
            <a:pPr marL="85725" indent="-85725"/>
            <a:r>
              <a:rPr kumimoji="0" lang="en-US" altLang="ko-KR" sz="6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   GW_WF_ADOC_APRC.APRC_ID </a:t>
            </a:r>
            <a:r>
              <a:rPr kumimoji="0" lang="en-US" altLang="ko-KR" sz="6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,//</a:t>
            </a:r>
            <a:r>
              <a:rPr kumimoji="0" lang="ko-KR" altLang="en-US" sz="6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결재선</a:t>
            </a:r>
            <a:r>
              <a:rPr kumimoji="0" lang="en-US" altLang="ko-KR" sz="6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ID</a:t>
            </a:r>
          </a:p>
          <a:p>
            <a:pPr marL="85725" indent="-85725"/>
            <a:r>
              <a:rPr kumimoji="0" lang="en-US" altLang="ko-KR" sz="6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   GW_WF_ADOC_NO.ADOC_NO </a:t>
            </a:r>
            <a:r>
              <a:rPr kumimoji="0" lang="en-US" altLang="ko-KR" sz="6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,//</a:t>
            </a:r>
            <a:r>
              <a:rPr kumimoji="0" lang="ko-KR" altLang="en-US" sz="6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결재문서번호</a:t>
            </a:r>
          </a:p>
          <a:p>
            <a:pPr marL="85725" indent="-85725"/>
            <a:r>
              <a:rPr kumimoji="0" lang="en-US" altLang="ko-KR" sz="6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FROM GW_WF_ADOC_APRC//</a:t>
            </a:r>
            <a:r>
              <a:rPr kumimoji="0" lang="ko-KR" altLang="en-US" sz="600" b="1" kern="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업무흐름결재설정기본</a:t>
            </a:r>
            <a:endParaRPr kumimoji="0" lang="ko-KR" altLang="en-US" sz="600" b="1" kern="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85725" indent="-85725"/>
            <a:r>
              <a:rPr kumimoji="0" lang="ko-KR" altLang="en-US" sz="6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 </a:t>
            </a:r>
            <a:r>
              <a:rPr kumimoji="0" lang="en-US" altLang="ko-KR" sz="6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 </a:t>
            </a:r>
            <a:r>
              <a:rPr kumimoji="0" lang="en-US" altLang="ko-KR" sz="6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GW_WF_ADOC_MAST</a:t>
            </a:r>
          </a:p>
          <a:p>
            <a:pPr marL="85725" indent="-85725"/>
            <a:r>
              <a:rPr kumimoji="0" lang="en-US" altLang="ko-KR" sz="6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WHERE </a:t>
            </a:r>
            <a:r>
              <a:rPr kumimoji="0" lang="en-US" altLang="ko-KR" sz="6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GW_WF_ADOC_MAST.ADOC_ID = GW_WF_ADOC_NO.ADOC_NO</a:t>
            </a:r>
          </a:p>
          <a:p>
            <a:pPr marL="85725" indent="-85725"/>
            <a:r>
              <a:rPr kumimoji="0" lang="en-US" altLang="ko-KR" sz="6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6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AND APRC.DRAF_USER_ID = </a:t>
            </a:r>
            <a:r>
              <a:rPr kumimoji="0" lang="en-US" altLang="ko-KR" sz="6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'@@@@-- </a:t>
            </a:r>
            <a:r>
              <a:rPr kumimoji="0" lang="ko-KR" altLang="en-US" sz="600" b="1" kern="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사번으로</a:t>
            </a:r>
            <a:r>
              <a:rPr kumimoji="0" lang="ko-KR" altLang="en-US" sz="6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ko-KR" altLang="en-US" sz="6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변경</a:t>
            </a:r>
            <a:endParaRPr kumimoji="0" lang="en-US" altLang="ko-KR" sz="600" b="1" kern="0" dirty="0" smtClean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cxnSp>
        <p:nvCxnSpPr>
          <p:cNvPr id="101" name="구부러진 연결선 100"/>
          <p:cNvCxnSpPr>
            <a:stCxn id="7" idx="2"/>
            <a:endCxn id="14" idx="3"/>
          </p:cNvCxnSpPr>
          <p:nvPr/>
        </p:nvCxnSpPr>
        <p:spPr bwMode="auto">
          <a:xfrm rot="10800000" flipV="1">
            <a:off x="2212195" y="4098798"/>
            <a:ext cx="2702616" cy="1326137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102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833637" y="6161784"/>
            <a:ext cx="610527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복사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3" name="타원 102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723613" y="613393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8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pSp>
        <p:nvGrpSpPr>
          <p:cNvPr id="107" name="그룹 106"/>
          <p:cNvGrpSpPr/>
          <p:nvPr/>
        </p:nvGrpSpPr>
        <p:grpSpPr>
          <a:xfrm>
            <a:off x="2504912" y="5419866"/>
            <a:ext cx="353095" cy="246221"/>
            <a:chOff x="-2095202" y="3431865"/>
            <a:chExt cx="353095" cy="246221"/>
          </a:xfrm>
        </p:grpSpPr>
        <p:sp>
          <p:nvSpPr>
            <p:cNvPr id="108" name="타원 107">
              <a:extLst>
                <a:ext uri="{FF2B5EF4-FFF2-40B4-BE49-F238E27FC236}">
                  <a16:creationId xmlns:a16="http://schemas.microsoft.com/office/drawing/2014/main" id="{00E3D57C-B744-C466-DCD0-113A9BD23E2A}"/>
                </a:ext>
              </a:extLst>
            </p:cNvPr>
            <p:cNvSpPr/>
            <p:nvPr/>
          </p:nvSpPr>
          <p:spPr>
            <a:xfrm>
              <a:off x="-1999654" y="3460366"/>
              <a:ext cx="162000" cy="16200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-2095202" y="3431865"/>
              <a:ext cx="35309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 smtClean="0">
                  <a:solidFill>
                    <a:schemeClr val="bg1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10</a:t>
              </a:r>
              <a:endParaRPr lang="ko-KR" altLang="en-US" sz="1200" dirty="0" smtClean="0">
                <a:solidFill>
                  <a:schemeClr val="bg1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grpSp>
        <p:nvGrpSpPr>
          <p:cNvPr id="24" name="그룹 23"/>
          <p:cNvGrpSpPr/>
          <p:nvPr/>
        </p:nvGrpSpPr>
        <p:grpSpPr>
          <a:xfrm>
            <a:off x="118434" y="3764609"/>
            <a:ext cx="2093398" cy="636006"/>
            <a:chOff x="-3187453" y="3545451"/>
            <a:chExt cx="2093398" cy="636006"/>
          </a:xfrm>
        </p:grpSpPr>
        <p:sp>
          <p:nvSpPr>
            <p:cNvPr id="111" name="직사각형 110"/>
            <p:cNvSpPr/>
            <p:nvPr/>
          </p:nvSpPr>
          <p:spPr bwMode="auto">
            <a:xfrm>
              <a:off x="-3187453" y="3547542"/>
              <a:ext cx="2093398" cy="633915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algn="ctr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400" b="1" i="0" u="none" strike="noStrike" kern="0" cap="none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112" name="TextBox 111"/>
            <p:cNvSpPr txBox="1"/>
            <p:nvPr/>
          </p:nvSpPr>
          <p:spPr>
            <a:xfrm>
              <a:off x="-3187453" y="3545451"/>
              <a:ext cx="2093398" cy="214306"/>
            </a:xfrm>
            <a:prstGeom prst="rect">
              <a:avLst/>
            </a:prstGeom>
            <a:solidFill>
              <a:srgbClr val="B1ACA8"/>
            </a:solidFill>
            <a:ln>
              <a:solidFill>
                <a:schemeClr val="tx1"/>
              </a:solidFill>
            </a:ln>
          </p:spPr>
          <p:txBody>
            <a:bodyPr wrap="square" rtlCol="0">
              <a:spAutoFit/>
            </a:bodyPr>
            <a:lstStyle/>
            <a:p>
              <a:r>
                <a:rPr kumimoji="0" lang="ko-KR" altLang="en-US" sz="800" dirty="0" err="1" smtClean="0">
                  <a:solidFill>
                    <a:srgbClr val="000000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시스템명</a:t>
              </a:r>
              <a:endParaRPr kumimoji="0" lang="ko-KR" altLang="en-US" sz="80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113" name="직사각형 112"/>
            <p:cNvSpPr/>
            <p:nvPr/>
          </p:nvSpPr>
          <p:spPr bwMode="auto">
            <a:xfrm>
              <a:off x="-3129451" y="3825003"/>
              <a:ext cx="1571415" cy="273795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indent="-85725"/>
              <a:endParaRPr kumimoji="0" lang="en-US" altLang="ko-KR" sz="6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  <p:sp>
          <p:nvSpPr>
            <p:cNvPr id="114" name="사각형: 둥근 모서리 19">
              <a:extLst>
                <a:ext uri="{FF2B5EF4-FFF2-40B4-BE49-F238E27FC236}">
                  <a16:creationId xmlns:a16="http://schemas.microsoft.com/office/drawing/2014/main" id="{52727207-08CB-A2FB-DFBD-131CEC779D94}"/>
                </a:ext>
              </a:extLst>
            </p:cNvPr>
            <p:cNvSpPr/>
            <p:nvPr/>
          </p:nvSpPr>
          <p:spPr>
            <a:xfrm>
              <a:off x="-1522355" y="3836140"/>
              <a:ext cx="393569" cy="262658"/>
            </a:xfrm>
            <a:prstGeom prst="roundRect">
              <a:avLst>
                <a:gd name="adj" fmla="val 10228"/>
              </a:avLst>
            </a:prstGeom>
            <a:solidFill>
              <a:srgbClr val="E26C14"/>
            </a:solidFill>
            <a:ln w="9525">
              <a:solidFill>
                <a:schemeClr val="bg1">
                  <a:lumMod val="75000"/>
                </a:schemeClr>
              </a:solidFill>
            </a:ln>
            <a:effectLst>
              <a:outerShdw blurRad="50800" dist="38100" dir="2700000" sx="80000" sy="8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spc="-100" noProof="0" dirty="0" smtClean="0">
                  <a:solidFill>
                    <a:prstClr val="white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저장</a:t>
              </a:r>
              <a:r>
                <a:rPr kumimoji="0" lang="en-US" altLang="ko-KR" sz="800" spc="-100" noProof="0" dirty="0" smtClean="0">
                  <a:solidFill>
                    <a:prstClr val="white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/</a:t>
              </a:r>
              <a:r>
                <a:rPr kumimoji="0" lang="ko-KR" altLang="en-US" sz="800" spc="-100" noProof="0" dirty="0" smtClean="0">
                  <a:solidFill>
                    <a:prstClr val="white"/>
                  </a:solidFill>
                  <a:latin typeface="KB금융 본문체 Medium" panose="020B0603000000000000" pitchFamily="50" charset="-127"/>
                  <a:ea typeface="KB금융 본문체 Medium" panose="020B0603000000000000" pitchFamily="50" charset="-127"/>
                </a:rPr>
                <a:t>수정</a:t>
              </a:r>
              <a:endParaRPr kumimoji="0" lang="ko-KR" altLang="en-US" sz="800" b="0" i="0" u="none" strike="noStrike" kern="1200" cap="none" spc="-1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cxnSp>
        <p:nvCxnSpPr>
          <p:cNvPr id="116" name="구부러진 연결선 115"/>
          <p:cNvCxnSpPr/>
          <p:nvPr/>
        </p:nvCxnSpPr>
        <p:spPr bwMode="auto">
          <a:xfrm rot="16200000" flipH="1">
            <a:off x="-470390" y="2706259"/>
            <a:ext cx="2189132" cy="41691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chemeClr val="tx1"/>
                  </a:outerShdw>
                </a:effectLst>
              </a14:hiddenEffects>
            </a:ext>
          </a:extLst>
        </p:spPr>
      </p:cxnSp>
      <p:sp>
        <p:nvSpPr>
          <p:cNvPr id="117" name="직사각형 116"/>
          <p:cNvSpPr/>
          <p:nvPr/>
        </p:nvSpPr>
        <p:spPr bwMode="auto">
          <a:xfrm>
            <a:off x="4306850" y="3545803"/>
            <a:ext cx="607961" cy="196734"/>
          </a:xfrm>
          <a:prstGeom prst="rect">
            <a:avLst/>
          </a:prstGeom>
          <a:noFill/>
          <a:ln w="15875">
            <a:solidFill>
              <a:schemeClr val="accent1"/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marL="0" marR="0" lvl="0" indent="0" algn="ctr" defTabSz="410291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8" name="타원 11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199484" y="3486923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7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19" name="타원 118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904456" y="3504060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9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55516525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" name="그림 25"/>
          <p:cNvPicPr>
            <a:picLocks noChangeAspect="1"/>
          </p:cNvPicPr>
          <p:nvPr/>
        </p:nvPicPr>
        <p:blipFill rotWithShape="1">
          <a:blip r:embed="rId2"/>
          <a:srcRect t="45335" b="1"/>
          <a:stretch/>
        </p:blipFill>
        <p:spPr>
          <a:xfrm>
            <a:off x="793613" y="4346262"/>
            <a:ext cx="5527209" cy="1568763"/>
          </a:xfrm>
          <a:prstGeom prst="rect">
            <a:avLst/>
          </a:prstGeom>
          <a:effectLst/>
        </p:spPr>
      </p:pic>
      <p:grpSp>
        <p:nvGrpSpPr>
          <p:cNvPr id="27" name="그룹 26"/>
          <p:cNvGrpSpPr/>
          <p:nvPr/>
        </p:nvGrpSpPr>
        <p:grpSpPr>
          <a:xfrm>
            <a:off x="793615" y="1335819"/>
            <a:ext cx="5527669" cy="4223812"/>
            <a:chOff x="6599550" y="-765688"/>
            <a:chExt cx="3569256" cy="3366014"/>
          </a:xfrm>
          <a:effectLst/>
        </p:grpSpPr>
        <p:pic>
          <p:nvPicPr>
            <p:cNvPr id="29" name="그림 28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599550" y="-765688"/>
              <a:ext cx="3569256" cy="2639403"/>
            </a:xfrm>
            <a:prstGeom prst="rect">
              <a:avLst/>
            </a:prstGeom>
            <a:effectLst/>
          </p:spPr>
        </p:pic>
        <p:sp>
          <p:nvSpPr>
            <p:cNvPr id="30" name="직사각형 29"/>
            <p:cNvSpPr/>
            <p:nvPr/>
          </p:nvSpPr>
          <p:spPr bwMode="auto">
            <a:xfrm>
              <a:off x="6618006" y="-514350"/>
              <a:ext cx="3531750" cy="3114676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36000" tIns="45720" rIns="3600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85725" marR="0" indent="-85725" algn="ctr" defTabSz="91440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400" b="1" i="0" u="none" strike="noStrike" kern="0" cap="none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endParaRPr>
            </a:p>
          </p:txBody>
        </p:sp>
      </p:grpSp>
      <p:sp>
        <p:nvSpPr>
          <p:cNvPr id="28" name="직사각형 27"/>
          <p:cNvSpPr/>
          <p:nvPr/>
        </p:nvSpPr>
        <p:spPr bwMode="auto">
          <a:xfrm>
            <a:off x="822197" y="1396701"/>
            <a:ext cx="2032615" cy="160179"/>
          </a:xfrm>
          <a:prstGeom prst="rect">
            <a:avLst/>
          </a:prstGeom>
          <a:solidFill>
            <a:srgbClr val="B1ACA8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1" i="0" u="none" strike="noStrike" kern="0" cap="none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793613" y="1352103"/>
            <a:ext cx="2227240" cy="2414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0" lang="ko-KR" altLang="en-US" sz="1050" dirty="0" err="1" smtClean="0">
                <a:solidFill>
                  <a:srgbClr val="000000"/>
                </a:solidFill>
                <a:latin typeface="KB금융 제목체 Bold" panose="020B0803000000000000" pitchFamily="50" charset="-127"/>
                <a:ea typeface="KB금융 제목체 Bold" panose="020B0803000000000000" pitchFamily="50" charset="-127"/>
              </a:rPr>
              <a:t>감사마트</a:t>
            </a:r>
            <a:r>
              <a:rPr kumimoji="0" lang="ko-KR" altLang="en-US" sz="1050" dirty="0" smtClean="0">
                <a:solidFill>
                  <a:srgbClr val="000000"/>
                </a:solidFill>
                <a:latin typeface="KB금융 제목체 Bold" panose="020B0803000000000000" pitchFamily="50" charset="-127"/>
                <a:ea typeface="KB금융 제목체 Bold" panose="020B0803000000000000" pitchFamily="50" charset="-127"/>
              </a:rPr>
              <a:t> </a:t>
            </a:r>
            <a:r>
              <a:rPr kumimoji="0" lang="ko-KR" altLang="en-US" sz="1050" dirty="0" err="1" smtClean="0">
                <a:solidFill>
                  <a:srgbClr val="000000"/>
                </a:solidFill>
                <a:latin typeface="KB금융 제목체 Bold" panose="020B0803000000000000" pitchFamily="50" charset="-127"/>
                <a:ea typeface="KB금융 제목체 Bold" panose="020B0803000000000000" pitchFamily="50" charset="-127"/>
              </a:rPr>
              <a:t>메타관리</a:t>
            </a:r>
            <a:r>
              <a:rPr kumimoji="0" lang="ko-KR" altLang="en-US" sz="1050" dirty="0" smtClean="0">
                <a:solidFill>
                  <a:srgbClr val="000000"/>
                </a:solidFill>
                <a:latin typeface="KB금융 제목체 Bold" panose="020B0803000000000000" pitchFamily="50" charset="-127"/>
                <a:ea typeface="KB금융 제목체 Bold" panose="020B0803000000000000" pitchFamily="50" charset="-127"/>
              </a:rPr>
              <a:t> </a:t>
            </a:r>
            <a:r>
              <a:rPr kumimoji="0" lang="ko-KR" altLang="en-US" sz="1050" dirty="0" err="1" smtClean="0">
                <a:solidFill>
                  <a:srgbClr val="000000"/>
                </a:solidFill>
                <a:latin typeface="KB금융 제목체 Bold" panose="020B0803000000000000" pitchFamily="50" charset="-127"/>
                <a:ea typeface="KB금융 제목체 Bold" panose="020B0803000000000000" pitchFamily="50" charset="-127"/>
              </a:rPr>
              <a:t>테이블연계</a:t>
            </a:r>
            <a:endParaRPr kumimoji="0" lang="ko-KR" altLang="en-US" sz="1050" dirty="0">
              <a:solidFill>
                <a:srgbClr val="000000"/>
              </a:solidFill>
              <a:latin typeface="KB금융 제목체 Bold" panose="020B0803000000000000" pitchFamily="50" charset="-127"/>
              <a:ea typeface="KB금융 제목체 Bold" panose="020B0803000000000000" pitchFamily="50" charset="-127"/>
            </a:endParaRPr>
          </a:p>
        </p:txBody>
      </p:sp>
      <p:sp>
        <p:nvSpPr>
          <p:cNvPr id="3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950844" y="5559575"/>
            <a:ext cx="617512" cy="234313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테이블선택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3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602650" y="5559575"/>
            <a:ext cx="617512" cy="234313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닫기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838910" y="5511559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169491" y="550607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5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MDD-00126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MDD75S36001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감사마트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감사마트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메타관리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테이블연계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감사마트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20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업무별세무조회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en-US" altLang="ko-KR" sz="120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DirectQuery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(P167:</a:t>
                      </a:r>
                      <a:r>
                        <a:rPr lang="ko-KR" altLang="en-US" sz="120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강지웅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608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304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가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감사마트의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시스템명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목록을 선택한다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단 </a:t>
                      </a:r>
                      <a:r>
                        <a:rPr lang="ko-KR" altLang="en-US" sz="800" b="1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전체</a:t>
                      </a:r>
                      <a:r>
                        <a:rPr lang="en-US" altLang="ko-KR" sz="800" b="1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, </a:t>
                      </a:r>
                      <a:r>
                        <a:rPr lang="ko-KR" altLang="en-US" sz="800" b="1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미사용 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항목을</a:t>
                      </a:r>
                      <a:r>
                        <a:rPr lang="ko-KR" altLang="en-US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추가한다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</a:p>
                    <a:p>
                      <a:pPr latinLnBrk="1"/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나</a:t>
                      </a:r>
                      <a:r>
                        <a:rPr lang="en-US" altLang="ko-KR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b="1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미사용</a:t>
                      </a:r>
                      <a:r>
                        <a:rPr lang="ko-KR" altLang="en-US" sz="800" b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은</a:t>
                      </a:r>
                      <a:r>
                        <a:rPr lang="ko-KR" altLang="en-US" sz="800" b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시스템과 연계되지</a:t>
                      </a:r>
                      <a:r>
                        <a:rPr lang="ko-KR" altLang="en-US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않은 테이블을 보여준다</a:t>
                      </a:r>
                      <a:r>
                        <a:rPr lang="en-US" altLang="ko-KR" sz="800" b="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b="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347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테이블명을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입력한다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(LIKE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304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검색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조건에 맞는 테이블 목록이 나타난다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30957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감사마트의 선택한 시스템과 연계가 필요한 테이블들을 선택하고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테이블선택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선택한 시스템과 연계된다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.(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멀티 선택 가능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766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닫기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시스템과 연계가 되지 않고 감사마트 메타관리 테이블 연계 팝업을 닫는다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28917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420710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12625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3856335"/>
                  </a:ext>
                </a:extLst>
              </a:tr>
            </a:tbl>
          </a:graphicData>
        </a:graphic>
      </p:graphicFrame>
      <p:graphicFrame>
        <p:nvGraphicFramePr>
          <p:cNvPr id="36" name="내용 개체 틀 121"/>
          <p:cNvGraphicFramePr>
            <a:graphicFrameLocks/>
          </p:cNvGraphicFramePr>
          <p:nvPr>
            <p:extLst/>
          </p:nvPr>
        </p:nvGraphicFramePr>
        <p:xfrm>
          <a:off x="1019591" y="2484406"/>
          <a:ext cx="5166118" cy="295183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90051">
                  <a:extLst>
                    <a:ext uri="{9D8B030D-6E8A-4147-A177-3AD203B41FA5}">
                      <a16:colId xmlns:a16="http://schemas.microsoft.com/office/drawing/2014/main" val="4186060632"/>
                    </a:ext>
                  </a:extLst>
                </a:gridCol>
                <a:gridCol w="935588">
                  <a:extLst>
                    <a:ext uri="{9D8B030D-6E8A-4147-A177-3AD203B41FA5}">
                      <a16:colId xmlns:a16="http://schemas.microsoft.com/office/drawing/2014/main" val="888852418"/>
                    </a:ext>
                  </a:extLst>
                </a:gridCol>
                <a:gridCol w="972589">
                  <a:extLst>
                    <a:ext uri="{9D8B030D-6E8A-4147-A177-3AD203B41FA5}">
                      <a16:colId xmlns:a16="http://schemas.microsoft.com/office/drawing/2014/main" val="1325555519"/>
                    </a:ext>
                  </a:extLst>
                </a:gridCol>
                <a:gridCol w="2867890">
                  <a:extLst>
                    <a:ext uri="{9D8B030D-6E8A-4147-A177-3AD203B41FA5}">
                      <a16:colId xmlns:a16="http://schemas.microsoft.com/office/drawing/2014/main" val="2118101267"/>
                    </a:ext>
                  </a:extLst>
                </a:gridCol>
              </a:tblGrid>
              <a:tr h="310098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시스템명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테이블명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테이블정보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1669389"/>
                  </a:ext>
                </a:extLst>
              </a:tr>
              <a:tr h="293526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클라우드</a:t>
                      </a:r>
                      <a:endParaRPr lang="ko-KR" altLang="en-US" sz="8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TSMDDZ001</a:t>
                      </a:r>
                      <a:endParaRPr lang="ko-KR" altLang="en-US" sz="800" b="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결재감사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관련 기본 테이블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0641114"/>
                  </a:ext>
                </a:extLst>
              </a:tr>
              <a:tr h="293526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클라우드</a:t>
                      </a:r>
                      <a:endParaRPr lang="ko-KR" altLang="en-US" sz="800" b="0" kern="12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TSMDDZ002</a:t>
                      </a:r>
                      <a:endParaRPr lang="ko-KR" altLang="en-US" sz="800" b="0" kern="12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테이블에 대한 상세 설명을 입력 하시면 됩니다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9943333"/>
                  </a:ext>
                </a:extLst>
              </a:tr>
              <a:tr h="293526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클라우드</a:t>
                      </a:r>
                      <a:endParaRPr lang="ko-KR" altLang="en-US" sz="800" b="0" kern="12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TSMDDZ003</a:t>
                      </a:r>
                      <a:endParaRPr lang="ko-KR" altLang="en-US" sz="800" b="0" kern="12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테이블에 대한 상세 설명을 입력 하시면 됩니다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2394348"/>
                  </a:ext>
                </a:extLst>
              </a:tr>
              <a:tr h="293526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 err="1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클라우드</a:t>
                      </a:r>
                      <a:endParaRPr lang="ko-KR" altLang="en-US" sz="800" b="0" kern="12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TSMDDZ004</a:t>
                      </a:r>
                      <a:endParaRPr lang="ko-KR" altLang="en-US" sz="800" b="0" kern="12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테이블에 대한 상세 설명을 입력 하시면 됩니다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3758132"/>
                  </a:ext>
                </a:extLst>
              </a:tr>
              <a:tr h="293526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회계결산내역</a:t>
                      </a:r>
                      <a:endParaRPr lang="ko-KR" altLang="en-US" sz="800" b="0" kern="12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TSMDDZ005</a:t>
                      </a:r>
                      <a:endParaRPr lang="ko-KR" altLang="en-US" sz="800" b="0" kern="12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테이블에 대한 상세 설명을 입력 하시면 됩니다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8576935"/>
                  </a:ext>
                </a:extLst>
              </a:tr>
              <a:tr h="293526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회계결산내역</a:t>
                      </a:r>
                      <a:endParaRPr lang="ko-KR" altLang="en-US" sz="800" b="0" kern="12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TSMDDZ006</a:t>
                      </a:r>
                      <a:endParaRPr lang="ko-KR" altLang="en-US" sz="800" b="0" kern="12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테이블에 대한 상세 설명을 입력 하시면 됩니다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6308219"/>
                  </a:ext>
                </a:extLst>
              </a:tr>
              <a:tr h="293526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회계결산내역</a:t>
                      </a:r>
                      <a:endParaRPr lang="ko-KR" altLang="en-US" sz="800" b="0" kern="12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TSMDDZ007</a:t>
                      </a:r>
                      <a:endParaRPr lang="ko-KR" altLang="en-US" sz="800" b="0" kern="12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테이블에 대한 상세 설명을 입력 하시면 됩니다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3474241"/>
                  </a:ext>
                </a:extLst>
              </a:tr>
              <a:tr h="293526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미사용</a:t>
                      </a: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 smtClean="0">
                          <a:solidFill>
                            <a:schemeClr val="tx1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  <a:cs typeface="+mn-cs"/>
                        </a:rPr>
                        <a:t>TSMDDZ008</a:t>
                      </a:r>
                      <a:endParaRPr lang="ko-KR" altLang="en-US" sz="800" b="0" kern="12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테이블에 대한 상세 설명을 입력 하시면 됩니다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0C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4896306"/>
                  </a:ext>
                </a:extLst>
              </a:tr>
              <a:tr h="293526"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 smtClean="0">
                        <a:solidFill>
                          <a:schemeClr val="tx1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  <a:cs typeface="+mn-cs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marL="3218" marR="3218" marT="3218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606823"/>
                  </a:ext>
                </a:extLst>
              </a:tr>
            </a:tbl>
          </a:graphicData>
        </a:graphic>
      </p:graphicFrame>
      <p:pic>
        <p:nvPicPr>
          <p:cNvPr id="42" name="그림 41"/>
          <p:cNvPicPr>
            <a:picLocks noChangeAspect="1"/>
          </p:cNvPicPr>
          <p:nvPr/>
        </p:nvPicPr>
        <p:blipFill rotWithShape="1">
          <a:blip r:embed="rId3"/>
          <a:srcRect l="42022" t="41006" r="40354" b="38879"/>
          <a:stretch/>
        </p:blipFill>
        <p:spPr>
          <a:xfrm>
            <a:off x="1121933" y="5164657"/>
            <a:ext cx="157942" cy="216131"/>
          </a:xfrm>
          <a:prstGeom prst="rect">
            <a:avLst/>
          </a:prstGeom>
        </p:spPr>
      </p:pic>
      <p:graphicFrame>
        <p:nvGraphicFramePr>
          <p:cNvPr id="32" name="표 31"/>
          <p:cNvGraphicFramePr>
            <a:graphicFrameLocks noGrp="1"/>
          </p:cNvGraphicFramePr>
          <p:nvPr>
            <p:extLst/>
          </p:nvPr>
        </p:nvGraphicFramePr>
        <p:xfrm>
          <a:off x="946775" y="1963572"/>
          <a:ext cx="5243162" cy="2771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42950">
                  <a:extLst>
                    <a:ext uri="{9D8B030D-6E8A-4147-A177-3AD203B41FA5}">
                      <a16:colId xmlns:a16="http://schemas.microsoft.com/office/drawing/2014/main" val="76529090"/>
                    </a:ext>
                  </a:extLst>
                </a:gridCol>
                <a:gridCol w="1346239">
                  <a:extLst>
                    <a:ext uri="{9D8B030D-6E8A-4147-A177-3AD203B41FA5}">
                      <a16:colId xmlns:a16="http://schemas.microsoft.com/office/drawing/2014/main" val="158312865"/>
                    </a:ext>
                  </a:extLst>
                </a:gridCol>
                <a:gridCol w="752475">
                  <a:extLst>
                    <a:ext uri="{9D8B030D-6E8A-4147-A177-3AD203B41FA5}">
                      <a16:colId xmlns:a16="http://schemas.microsoft.com/office/drawing/2014/main" val="4148962399"/>
                    </a:ext>
                  </a:extLst>
                </a:gridCol>
                <a:gridCol w="2401498">
                  <a:extLst>
                    <a:ext uri="{9D8B030D-6E8A-4147-A177-3AD203B41FA5}">
                      <a16:colId xmlns:a16="http://schemas.microsoft.com/office/drawing/2014/main" val="4247419316"/>
                    </a:ext>
                  </a:extLst>
                </a:gridCol>
              </a:tblGrid>
              <a:tr h="27715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</a:rPr>
                        <a:t>시스템명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chemeClr val="tx1"/>
                          </a:solidFill>
                        </a:rPr>
                        <a:t>테이블명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7870088"/>
                  </a:ext>
                </a:extLst>
              </a:tr>
            </a:tbl>
          </a:graphicData>
        </a:graphic>
      </p:graphicFrame>
      <p:grpSp>
        <p:nvGrpSpPr>
          <p:cNvPr id="38" name="그룹 37"/>
          <p:cNvGrpSpPr/>
          <p:nvPr/>
        </p:nvGrpSpPr>
        <p:grpSpPr>
          <a:xfrm>
            <a:off x="1737350" y="1996150"/>
            <a:ext cx="972000" cy="216000"/>
            <a:chOff x="1848882" y="1708545"/>
            <a:chExt cx="972000" cy="216000"/>
          </a:xfrm>
        </p:grpSpPr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8496AE9A-918C-02A3-5D86-D758A9983A24}"/>
                </a:ext>
              </a:extLst>
            </p:cNvPr>
            <p:cNvSpPr/>
            <p:nvPr/>
          </p:nvSpPr>
          <p:spPr bwMode="auto">
            <a:xfrm>
              <a:off x="1848882" y="1708545"/>
              <a:ext cx="972000" cy="21600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none" rtlCol="0" anchor="ctr" anchorCtr="0">
              <a:noAutofit/>
            </a:bodyPr>
            <a:lstStyle/>
            <a:p>
              <a:pPr marL="0" marR="0" lvl="0" indent="0" algn="l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 smtClean="0">
                  <a:ln>
                    <a:solidFill>
                      <a:prstClr val="black"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  <a:cs typeface="+mn-cs"/>
                </a:rPr>
                <a:t>미사용</a:t>
              </a:r>
              <a:endParaRPr kumimoji="0" lang="ko-KR" altLang="en-US" sz="1000" b="0" i="0" u="none" strike="noStrike" kern="1200" cap="none" spc="0" normalizeH="0" baseline="0" noProof="0" dirty="0">
                <a:ln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  <p:sp>
          <p:nvSpPr>
            <p:cNvPr id="44" name="이등변 삼각형 43">
              <a:extLst>
                <a:ext uri="{FF2B5EF4-FFF2-40B4-BE49-F238E27FC236}">
                  <a16:creationId xmlns:a16="http://schemas.microsoft.com/office/drawing/2014/main" id="{4128FDEE-AB47-6109-0FCA-CC8457AEB3E7}"/>
                </a:ext>
              </a:extLst>
            </p:cNvPr>
            <p:cNvSpPr/>
            <p:nvPr/>
          </p:nvSpPr>
          <p:spPr>
            <a:xfrm rot="10800000">
              <a:off x="2654565" y="1780156"/>
              <a:ext cx="90000" cy="72000"/>
            </a:xfrm>
            <a:prstGeom prst="triangl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2935" tIns="41468" rIns="82935" bIns="414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28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1200" cap="none" spc="-10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endParaRPr>
            </a:p>
          </p:txBody>
        </p:sp>
      </p:grpSp>
      <p:sp>
        <p:nvSpPr>
          <p:cNvPr id="48" name="타원 47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1626848" y="1934997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496AE9A-918C-02A3-5D86-D758A9983A24}"/>
              </a:ext>
            </a:extLst>
          </p:cNvPr>
          <p:cNvSpPr/>
          <p:nvPr/>
        </p:nvSpPr>
        <p:spPr bwMode="auto">
          <a:xfrm>
            <a:off x="3837954" y="1996150"/>
            <a:ext cx="1321007" cy="21600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none" rtlCol="0" anchor="ctr" anchorCtr="0">
            <a:noAutofit/>
          </a:bodyPr>
          <a:lstStyle/>
          <a:p>
            <a:pPr marL="0" marR="0" lvl="0" indent="0" algn="l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1200" cap="none" spc="0" normalizeH="0" baseline="0" noProof="0" dirty="0">
              <a:ln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835575" y="185574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1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5547035" y="2232384"/>
            <a:ext cx="610527" cy="180000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-10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검색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5621449" y="2088025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965067" y="1638134"/>
            <a:ext cx="992579" cy="276999"/>
          </a:xfrm>
          <a:prstGeom prst="rect">
            <a:avLst/>
          </a:prstGeom>
          <a:solidFill>
            <a:schemeClr val="bg2">
              <a:lumMod val="75000"/>
            </a:schemeClr>
          </a:solidFill>
        </p:spPr>
        <p:txBody>
          <a:bodyPr wrap="none" rtlCol="0">
            <a:spAutoFit/>
          </a:bodyPr>
          <a:lstStyle/>
          <a:p>
            <a:r>
              <a:rPr lang="ko-KR" altLang="en-US" sz="1200" dirty="0" smtClean="0"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결재감사정보</a:t>
            </a:r>
          </a:p>
        </p:txBody>
      </p:sp>
    </p:spTree>
    <p:extLst>
      <p:ext uri="{BB962C8B-B14F-4D97-AF65-F5344CB8AC3E}">
        <p14:creationId xmlns:p14="http://schemas.microsoft.com/office/powerpoint/2010/main" val="747964418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701110" y="1310312"/>
            <a:ext cx="5527671" cy="4619708"/>
            <a:chOff x="6515186" y="1083978"/>
            <a:chExt cx="3569257" cy="3649232"/>
          </a:xfrm>
        </p:grpSpPr>
        <p:grpSp>
          <p:nvGrpSpPr>
            <p:cNvPr id="21" name="그룹 20"/>
            <p:cNvGrpSpPr/>
            <p:nvPr/>
          </p:nvGrpSpPr>
          <p:grpSpPr>
            <a:xfrm>
              <a:off x="6515186" y="1083978"/>
              <a:ext cx="3569257" cy="3649232"/>
              <a:chOff x="6515186" y="1083978"/>
              <a:chExt cx="3569257" cy="3649232"/>
            </a:xfrm>
          </p:grpSpPr>
          <p:pic>
            <p:nvPicPr>
              <p:cNvPr id="23" name="그림 22"/>
              <p:cNvPicPr>
                <a:picLocks noChangeAspect="1"/>
              </p:cNvPicPr>
              <p:nvPr/>
            </p:nvPicPr>
            <p:blipFill rotWithShape="1">
              <a:blip r:embed="rId2"/>
              <a:srcRect t="45335" b="1"/>
              <a:stretch/>
            </p:blipFill>
            <p:spPr>
              <a:xfrm>
                <a:off x="6515186" y="3483041"/>
                <a:ext cx="3568959" cy="1250169"/>
              </a:xfrm>
              <a:prstGeom prst="rect">
                <a:avLst/>
              </a:prstGeom>
              <a:effectLst/>
            </p:spPr>
          </p:pic>
          <p:grpSp>
            <p:nvGrpSpPr>
              <p:cNvPr id="24" name="그룹 23"/>
              <p:cNvGrpSpPr/>
              <p:nvPr/>
            </p:nvGrpSpPr>
            <p:grpSpPr>
              <a:xfrm>
                <a:off x="6515187" y="1083978"/>
                <a:ext cx="3569256" cy="3366014"/>
                <a:chOff x="6599550" y="-765688"/>
                <a:chExt cx="3569256" cy="3366014"/>
              </a:xfrm>
              <a:effectLst/>
            </p:grpSpPr>
            <p:pic>
              <p:nvPicPr>
                <p:cNvPr id="26" name="그림 25"/>
                <p:cNvPicPr>
                  <a:picLocks noChangeAspect="1"/>
                </p:cNvPicPr>
                <p:nvPr/>
              </p:nvPicPr>
              <p:blipFill>
                <a:blip r:embed="rId2"/>
                <a:stretch>
                  <a:fillRect/>
                </a:stretch>
              </p:blipFill>
              <p:spPr>
                <a:xfrm>
                  <a:off x="6599550" y="-765688"/>
                  <a:ext cx="3569256" cy="2639403"/>
                </a:xfrm>
                <a:prstGeom prst="rect">
                  <a:avLst/>
                </a:prstGeom>
                <a:effectLst/>
              </p:spPr>
            </p:pic>
            <p:sp>
              <p:nvSpPr>
                <p:cNvPr id="27" name="직사각형 26"/>
                <p:cNvSpPr/>
                <p:nvPr/>
              </p:nvSpPr>
              <p:spPr bwMode="auto">
                <a:xfrm>
                  <a:off x="6618006" y="-514350"/>
                  <a:ext cx="3531750" cy="3114676"/>
                </a:xfrm>
                <a:prstGeom prst="rect">
                  <a:avLst/>
                </a:prstGeom>
                <a:solidFill>
                  <a:schemeClr val="bg1"/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triangle" w="med" len="med"/>
                </a:ln>
                <a:effectLst/>
              </p:spPr>
              <p:txBody>
                <a:bodyPr vert="horz" wrap="square" lIns="36000" tIns="45720" rIns="36000" bIns="45720" numCol="1" rtlCol="0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5725" marR="0" indent="-85725" algn="ctr" defTabSz="91440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ko-KR" altLang="en-US" sz="1400" b="1" i="0" u="none" strike="noStrike" kern="0" cap="none" normalizeH="0" baseline="0" noProof="0" smtClean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KB금융 본문체 Medium" panose="020B0603000000000000" pitchFamily="50" charset="-127"/>
                    <a:ea typeface="KB금융 본문체 Medium" panose="020B0603000000000000" pitchFamily="50" charset="-127"/>
                  </a:endParaRPr>
                </a:p>
              </p:txBody>
            </p:sp>
          </p:grpSp>
          <p:sp>
            <p:nvSpPr>
              <p:cNvPr id="25" name="직사각형 24"/>
              <p:cNvSpPr/>
              <p:nvPr/>
            </p:nvSpPr>
            <p:spPr bwMode="auto">
              <a:xfrm>
                <a:off x="6533643" y="1132496"/>
                <a:ext cx="1312474" cy="127649"/>
              </a:xfrm>
              <a:prstGeom prst="rect">
                <a:avLst/>
              </a:prstGeom>
              <a:solidFill>
                <a:srgbClr val="B1ACA8"/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vert="horz" wrap="square" lIns="36000" tIns="45720" rIns="36000" bIns="4572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85725" marR="0" indent="-85725" algn="ctr" defTabSz="91440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ko-KR" altLang="en-US" sz="1400" b="1" i="0" u="none" strike="noStrike" kern="0" cap="none" normalizeH="0" baseline="0" noProof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B금융 본문체 Medium" panose="020B0603000000000000" pitchFamily="50" charset="-127"/>
                  <a:ea typeface="KB금융 본문체 Medium" panose="020B0603000000000000" pitchFamily="50" charset="-127"/>
                </a:endParaRPr>
              </a:p>
            </p:txBody>
          </p:sp>
        </p:grpSp>
        <p:sp>
          <p:nvSpPr>
            <p:cNvPr id="22" name="TextBox 21"/>
            <p:cNvSpPr txBox="1"/>
            <p:nvPr/>
          </p:nvSpPr>
          <p:spPr>
            <a:xfrm>
              <a:off x="6515186" y="1096955"/>
              <a:ext cx="1438145" cy="2005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0" lang="ko-KR" altLang="en-US" sz="1050" dirty="0" err="1" smtClean="0">
                  <a:solidFill>
                    <a:srgbClr val="000000"/>
                  </a:solidFill>
                  <a:latin typeface="KB금융 제목체 Bold" panose="020B0803000000000000" pitchFamily="50" charset="-127"/>
                  <a:ea typeface="KB금융 제목체 Bold" panose="020B0803000000000000" pitchFamily="50" charset="-127"/>
                </a:rPr>
                <a:t>감사마트</a:t>
              </a:r>
              <a:r>
                <a:rPr kumimoji="0" lang="ko-KR" altLang="en-US" sz="1050" dirty="0" smtClean="0">
                  <a:solidFill>
                    <a:srgbClr val="000000"/>
                  </a:solidFill>
                  <a:latin typeface="KB금융 제목체 Bold" panose="020B0803000000000000" pitchFamily="50" charset="-127"/>
                  <a:ea typeface="KB금융 제목체 Bold" panose="020B0803000000000000" pitchFamily="50" charset="-127"/>
                </a:rPr>
                <a:t> </a:t>
              </a:r>
              <a:r>
                <a:rPr kumimoji="0" lang="ko-KR" altLang="en-US" sz="1050" dirty="0" err="1" smtClean="0">
                  <a:solidFill>
                    <a:srgbClr val="000000"/>
                  </a:solidFill>
                  <a:latin typeface="KB금융 제목체 Bold" panose="020B0803000000000000" pitchFamily="50" charset="-127"/>
                  <a:ea typeface="KB금융 제목체 Bold" panose="020B0803000000000000" pitchFamily="50" charset="-127"/>
                </a:rPr>
                <a:t>메타관리</a:t>
              </a:r>
              <a:r>
                <a:rPr kumimoji="0" lang="ko-KR" altLang="en-US" sz="1050" dirty="0" smtClean="0">
                  <a:solidFill>
                    <a:srgbClr val="000000"/>
                  </a:solidFill>
                  <a:latin typeface="KB금융 제목체 Bold" panose="020B0803000000000000" pitchFamily="50" charset="-127"/>
                  <a:ea typeface="KB금융 제목체 Bold" panose="020B0803000000000000" pitchFamily="50" charset="-127"/>
                </a:rPr>
                <a:t> </a:t>
              </a:r>
              <a:r>
                <a:rPr kumimoji="0" lang="en-US" altLang="ko-KR" sz="1050" dirty="0" smtClean="0">
                  <a:solidFill>
                    <a:srgbClr val="000000"/>
                  </a:solidFill>
                  <a:latin typeface="KB금융 제목체 Bold" panose="020B0803000000000000" pitchFamily="50" charset="-127"/>
                  <a:ea typeface="KB금융 제목체 Bold" panose="020B0803000000000000" pitchFamily="50" charset="-127"/>
                </a:rPr>
                <a:t>SQL</a:t>
              </a:r>
              <a:r>
                <a:rPr kumimoji="0" lang="ko-KR" altLang="en-US" sz="1050" dirty="0" smtClean="0">
                  <a:solidFill>
                    <a:srgbClr val="000000"/>
                  </a:solidFill>
                  <a:latin typeface="KB금융 제목체 Bold" panose="020B0803000000000000" pitchFamily="50" charset="-127"/>
                  <a:ea typeface="KB금융 제목체 Bold" panose="020B0803000000000000" pitchFamily="50" charset="-127"/>
                </a:rPr>
                <a:t>관리</a:t>
              </a:r>
              <a:endParaRPr kumimoji="0" lang="ko-KR" altLang="en-US" sz="1050" dirty="0">
                <a:solidFill>
                  <a:srgbClr val="000000"/>
                </a:solidFill>
                <a:latin typeface="KB금융 제목체 Bold" panose="020B0803000000000000" pitchFamily="50" charset="-127"/>
                <a:ea typeface="KB금융 제목체 Bold" panose="020B0803000000000000" pitchFamily="50" charset="-127"/>
              </a:endParaRPr>
            </a:p>
          </p:txBody>
        </p:sp>
      </p:grpSp>
      <p:sp>
        <p:nvSpPr>
          <p:cNvPr id="28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3509280" y="5571483"/>
            <a:ext cx="610527" cy="238183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복사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29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2864742" y="5571483"/>
            <a:ext cx="610527" cy="238183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저장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2783280" y="550197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2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MDD-00126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MDD75S36002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감사마트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팝업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ko-KR" altLang="en-US" sz="11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감사마트 </a:t>
                      </a:r>
                      <a:r>
                        <a:rPr lang="ko-KR" altLang="en-US" sz="11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메타관리</a:t>
                      </a:r>
                      <a:r>
                        <a:rPr lang="ko-KR" altLang="en-US" sz="11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1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SQL</a:t>
                      </a:r>
                      <a:r>
                        <a:rPr lang="ko-KR" altLang="en-US" sz="1100" kern="1200" baseline="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관리</a:t>
                      </a:r>
                      <a:endParaRPr lang="ko-KR" altLang="en-US" sz="11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감사마트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20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업무별세무조회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en-US" altLang="ko-KR" sz="120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DirectQuery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(P167:</a:t>
                      </a:r>
                      <a:r>
                        <a:rPr lang="ko-KR" altLang="en-US" sz="120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강지웅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 smtClean="0">
                        <a:solidFill>
                          <a:schemeClr val="tx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35620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304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감사마트의 선택된 시스템의 예제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SQL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을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저장 할 수 있는 팝업이다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2347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참조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SQL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설명과 예제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SQL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을 신규 작성 및 수정 한 후 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저장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저장된다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12112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복사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 하면 예제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SQL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내용이 복사된다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 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이후 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DB Tool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에 </a:t>
                      </a:r>
                      <a:r>
                        <a:rPr lang="ko-KR" altLang="en-US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붙여넣기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(</a:t>
                      </a:r>
                      <a:r>
                        <a:rPr lang="en-US" altLang="ko-KR" sz="800" baseline="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Ctrl+V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)</a:t>
                      </a:r>
                      <a:r>
                        <a:rPr lang="ko-KR" altLang="en-US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해서 사용 할 수 있다</a:t>
                      </a:r>
                      <a:r>
                        <a:rPr lang="en-US" altLang="ko-KR" sz="800" baseline="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13993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[</a:t>
                      </a:r>
                      <a:r>
                        <a:rPr lang="ko-KR" altLang="en-US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닫기</a:t>
                      </a:r>
                      <a:r>
                        <a:rPr lang="en-US" altLang="ko-KR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]</a:t>
                      </a:r>
                      <a:r>
                        <a:rPr lang="ko-KR" altLang="en-US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버튼을 클릭하면 저장되지 않고 감사마트 메타관리 예제</a:t>
                      </a:r>
                      <a:r>
                        <a:rPr lang="en-US" altLang="ko-KR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SQL </a:t>
                      </a:r>
                      <a:r>
                        <a:rPr lang="ko-KR" altLang="en-US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 및 수정 팝업 창이 닫힌다</a:t>
                      </a:r>
                      <a:r>
                        <a:rPr lang="en-US" altLang="ko-KR" sz="80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1106338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7392003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56396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2166722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 smtClean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9827930"/>
                  </a:ext>
                </a:extLst>
              </a:tr>
            </a:tbl>
          </a:graphicData>
        </a:graphic>
      </p:graphicFrame>
      <p:graphicFrame>
        <p:nvGraphicFramePr>
          <p:cNvPr id="5" name="표 4"/>
          <p:cNvGraphicFramePr>
            <a:graphicFrameLocks noGrp="1"/>
          </p:cNvGraphicFramePr>
          <p:nvPr>
            <p:extLst/>
          </p:nvPr>
        </p:nvGraphicFramePr>
        <p:xfrm>
          <a:off x="807136" y="1625649"/>
          <a:ext cx="5334584" cy="35122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07364">
                  <a:extLst>
                    <a:ext uri="{9D8B030D-6E8A-4147-A177-3AD203B41FA5}">
                      <a16:colId xmlns:a16="http://schemas.microsoft.com/office/drawing/2014/main" val="3109884368"/>
                    </a:ext>
                  </a:extLst>
                </a:gridCol>
                <a:gridCol w="4427220">
                  <a:extLst>
                    <a:ext uri="{9D8B030D-6E8A-4147-A177-3AD203B41FA5}">
                      <a16:colId xmlns:a16="http://schemas.microsoft.com/office/drawing/2014/main" val="2911778419"/>
                    </a:ext>
                  </a:extLst>
                </a:gridCol>
              </a:tblGrid>
              <a:tr h="28992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 err="1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시스템명</a:t>
                      </a:r>
                      <a:endParaRPr lang="ko-KR" altLang="en-US" sz="900" b="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0" dirty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결제감사정보</a:t>
                      </a:r>
                      <a:endParaRPr lang="ko-KR" altLang="en-US" sz="900" b="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2624936"/>
                  </a:ext>
                </a:extLst>
              </a:tr>
              <a:tr h="33374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참조</a:t>
                      </a:r>
                      <a:r>
                        <a:rPr lang="en-US" altLang="ko-KR" sz="900" b="0" dirty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SQL</a:t>
                      </a:r>
                      <a:r>
                        <a:rPr lang="ko-KR" altLang="en-US" sz="900" b="0" dirty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설명</a:t>
                      </a:r>
                      <a:endParaRPr lang="ko-KR" altLang="en-US" sz="900" b="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166030"/>
                  </a:ext>
                </a:extLst>
              </a:tr>
              <a:tr h="288858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예제</a:t>
                      </a:r>
                      <a:r>
                        <a:rPr lang="en-US" altLang="ko-KR" sz="900" b="0" dirty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SQL</a:t>
                      </a:r>
                      <a:endParaRPr lang="ko-KR" altLang="en-US" sz="900" b="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mpd="sng">
                      <a:noFill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4620877"/>
                  </a:ext>
                </a:extLst>
              </a:tr>
            </a:tbl>
          </a:graphicData>
        </a:graphic>
      </p:graphicFrame>
      <p:sp>
        <p:nvSpPr>
          <p:cNvPr id="35" name="사각형: 둥근 모서리 19">
            <a:extLst>
              <a:ext uri="{FF2B5EF4-FFF2-40B4-BE49-F238E27FC236}">
                <a16:creationId xmlns:a16="http://schemas.microsoft.com/office/drawing/2014/main" id="{52727207-08CB-A2FB-DFBD-131CEC779D94}"/>
              </a:ext>
            </a:extLst>
          </p:cNvPr>
          <p:cNvSpPr/>
          <p:nvPr/>
        </p:nvSpPr>
        <p:spPr>
          <a:xfrm>
            <a:off x="4160442" y="5565939"/>
            <a:ext cx="610527" cy="238183"/>
          </a:xfrm>
          <a:prstGeom prst="roundRect">
            <a:avLst>
              <a:gd name="adj" fmla="val 10228"/>
            </a:avLst>
          </a:prstGeom>
          <a:solidFill>
            <a:srgbClr val="E26C14"/>
          </a:solidFill>
          <a:ln w="9525">
            <a:solidFill>
              <a:schemeClr val="bg1">
                <a:lumMod val="75000"/>
              </a:schemeClr>
            </a:solidFill>
          </a:ln>
          <a:effectLst>
            <a:outerShdw blurRad="50800" dist="38100" dir="2700000" sx="80000" sy="8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8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spc="-100" dirty="0" smtClean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닫기</a:t>
            </a:r>
            <a:endParaRPr kumimoji="0" lang="ko-KR" altLang="en-US" sz="800" b="0" i="0" u="none" strike="noStrike" kern="1200" cap="none" spc="-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4074014" y="5496434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4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34" name="직사각형 33"/>
          <p:cNvSpPr/>
          <p:nvPr/>
        </p:nvSpPr>
        <p:spPr bwMode="auto">
          <a:xfrm>
            <a:off x="1746000" y="1957915"/>
            <a:ext cx="4395719" cy="247198"/>
          </a:xfrm>
          <a:prstGeom prst="rect">
            <a:avLst/>
          </a:prstGeom>
          <a:noFill/>
          <a:ln w="9525" cap="flat" cmpd="sng" algn="ctr">
            <a:solidFill>
              <a:srgbClr val="F0F0F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85725" marR="0" indent="-85725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ko-KR" altLang="en-US" sz="900" i="0" u="none" strike="noStrike" kern="0" cap="none" normalizeH="0" baseline="0" noProof="0" dirty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클라우드</a:t>
            </a:r>
            <a:r>
              <a:rPr kumimoji="0" lang="en-US" altLang="ko-KR" sz="900" i="0" u="none" strike="noStrike" kern="0" cap="none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ko-KR" altLang="en-US" sz="900" i="0" u="none" strike="noStrike" kern="0" cap="none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개발정보 기본 목록 조회 </a:t>
            </a:r>
            <a:r>
              <a:rPr kumimoji="0" lang="en-US" altLang="ko-KR" sz="900" i="0" u="none" strike="noStrike" kern="0" cap="none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SQL</a:t>
            </a:r>
            <a:endParaRPr kumimoji="0" lang="ko-KR" altLang="en-US" sz="900" i="0" u="none" strike="noStrike" kern="0" cap="none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sp>
        <p:nvSpPr>
          <p:cNvPr id="38" name="직사각형 37"/>
          <p:cNvSpPr/>
          <p:nvPr/>
        </p:nvSpPr>
        <p:spPr bwMode="auto">
          <a:xfrm>
            <a:off x="1745999" y="2237708"/>
            <a:ext cx="4395719" cy="2851085"/>
          </a:xfrm>
          <a:prstGeom prst="rect">
            <a:avLst/>
          </a:prstGeom>
          <a:noFill/>
          <a:ln w="9525" cap="flat" cmpd="sng" algn="ctr">
            <a:solidFill>
              <a:srgbClr val="F0F0F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36000" tIns="45720" rIns="36000" bIns="45720" numCol="1" rtlCol="0" anchor="t" anchorCtr="0" compatLnSpc="1">
            <a:prstTxWarp prst="textNoShape">
              <a:avLst/>
            </a:prstTxWarp>
            <a:noAutofit/>
          </a:bodyPr>
          <a:lstStyle/>
          <a:p>
            <a:pPr marL="85725" indent="-85725"/>
            <a:r>
              <a:rPr kumimoji="0" lang="en-US" altLang="ko-KR" sz="7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// </a:t>
            </a:r>
            <a:r>
              <a:rPr kumimoji="0" lang="ko-KR" altLang="en-US" sz="700" b="1" kern="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결재정보의</a:t>
            </a:r>
            <a:r>
              <a:rPr kumimoji="0" lang="ko-KR" altLang="en-US" sz="7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목록을 조회 하는 쿼리 입니다</a:t>
            </a:r>
            <a:r>
              <a:rPr kumimoji="0" lang="en-US" altLang="ko-KR" sz="7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.</a:t>
            </a:r>
          </a:p>
          <a:p>
            <a:pPr marL="85725" indent="-85725"/>
            <a:r>
              <a:rPr kumimoji="0" lang="en-US" altLang="ko-KR" sz="7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// </a:t>
            </a:r>
            <a:r>
              <a:rPr kumimoji="0" lang="ko-KR" altLang="en-US" sz="7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아래 </a:t>
            </a:r>
            <a:r>
              <a:rPr kumimoji="0" lang="en-US" altLang="ko-KR" sz="7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@@@@@</a:t>
            </a:r>
            <a:r>
              <a:rPr kumimoji="0" lang="ko-KR" altLang="en-US" sz="7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에 </a:t>
            </a:r>
            <a:r>
              <a:rPr kumimoji="0" lang="ko-KR" altLang="en-US" sz="700" b="1" kern="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사번입력하고</a:t>
            </a:r>
            <a:r>
              <a:rPr kumimoji="0" lang="ko-KR" altLang="en-US" sz="7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7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DB</a:t>
            </a:r>
            <a:r>
              <a:rPr kumimoji="0" lang="ko-KR" altLang="en-US" sz="7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에 </a:t>
            </a:r>
            <a:r>
              <a:rPr kumimoji="0" lang="ko-KR" altLang="en-US" sz="700" b="1" kern="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붙여넣기</a:t>
            </a:r>
            <a:r>
              <a:rPr kumimoji="0" lang="ko-KR" altLang="en-US" sz="7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해서 실행 하시면 됩니다</a:t>
            </a:r>
            <a:r>
              <a:rPr kumimoji="0" lang="en-US" altLang="ko-KR" sz="7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.</a:t>
            </a:r>
          </a:p>
          <a:p>
            <a:pPr marL="85725" indent="-85725"/>
            <a:r>
              <a:rPr kumimoji="0" lang="en-US" altLang="ko-KR" sz="7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en-US" altLang="ko-KR" sz="7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SELECT </a:t>
            </a:r>
            <a:r>
              <a:rPr kumimoji="0" lang="en-US" altLang="ko-KR" sz="7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GW_WF_ADOC_MAST.ADOC_ID ,		//</a:t>
            </a:r>
            <a:r>
              <a:rPr kumimoji="0" lang="ko-KR" altLang="en-US" sz="700" b="1" kern="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결재문서</a:t>
            </a:r>
            <a:r>
              <a:rPr kumimoji="0" lang="en-US" altLang="ko-KR" sz="7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ID</a:t>
            </a:r>
          </a:p>
          <a:p>
            <a:pPr marL="85725" indent="-85725"/>
            <a:r>
              <a:rPr kumimoji="0" lang="en-US" altLang="ko-KR" sz="7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   GW_WF_ADOC_APRC.APRC_ID ,		//</a:t>
            </a:r>
            <a:r>
              <a:rPr kumimoji="0" lang="ko-KR" altLang="en-US" sz="7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결재선</a:t>
            </a:r>
            <a:r>
              <a:rPr kumimoji="0" lang="en-US" altLang="ko-KR" sz="7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ID</a:t>
            </a:r>
          </a:p>
          <a:p>
            <a:pPr marL="85725" indent="-85725"/>
            <a:r>
              <a:rPr kumimoji="0" lang="en-US" altLang="ko-KR" sz="7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   GW_WF_ADOC_NO.ADOC_NO ,			//</a:t>
            </a:r>
            <a:r>
              <a:rPr kumimoji="0" lang="ko-KR" altLang="en-US" sz="7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결재문서번호</a:t>
            </a:r>
          </a:p>
          <a:p>
            <a:pPr marL="85725" indent="-85725"/>
            <a:r>
              <a:rPr kumimoji="0" lang="en-US" altLang="ko-KR" sz="7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FROM </a:t>
            </a:r>
            <a:r>
              <a:rPr kumimoji="0" lang="en-US" altLang="ko-KR" sz="7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GW_WF_ADOC_APRC		//</a:t>
            </a:r>
            <a:r>
              <a:rPr kumimoji="0" lang="ko-KR" altLang="en-US" sz="700" b="1" kern="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업무흐름결재설정기본</a:t>
            </a:r>
            <a:endParaRPr kumimoji="0" lang="ko-KR" altLang="en-US" sz="700" b="1" kern="0" dirty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  <a:p>
            <a:pPr marL="85725" indent="-85725"/>
            <a:r>
              <a:rPr kumimoji="0" lang="ko-KR" altLang="en-US" sz="7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   </a:t>
            </a:r>
            <a:r>
              <a:rPr kumimoji="0" lang="en-US" altLang="ko-KR" sz="7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,  GW_WF_ADOC_MAST</a:t>
            </a:r>
          </a:p>
          <a:p>
            <a:pPr marL="85725" indent="-85725"/>
            <a:r>
              <a:rPr kumimoji="0" lang="en-US" altLang="ko-KR" sz="7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WHERE GW_WF_ADOC_MAST.ADOC_ID = GW_WF_ADOC_NO.ADOC_NO</a:t>
            </a:r>
          </a:p>
          <a:p>
            <a:pPr marL="85725" indent="-85725"/>
            <a:r>
              <a:rPr kumimoji="0" lang="en-US" altLang="ko-KR" sz="7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    AND APRC.DRAF_USER_ID = '@@@@@@'		-- </a:t>
            </a:r>
            <a:r>
              <a:rPr kumimoji="0" lang="ko-KR" altLang="en-US" sz="700" b="1" kern="0" dirty="0" err="1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사번으로</a:t>
            </a:r>
            <a:r>
              <a:rPr kumimoji="0" lang="ko-KR" altLang="en-US" sz="700" b="1" kern="0" dirty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 </a:t>
            </a:r>
            <a:r>
              <a:rPr kumimoji="0" lang="ko-KR" altLang="en-US" sz="700" b="1" kern="0" dirty="0" smtClean="0">
                <a:solidFill>
                  <a:srgbClr val="000000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변경</a:t>
            </a:r>
            <a:endParaRPr kumimoji="0" lang="en-US" altLang="ko-KR" sz="700" b="1" kern="0" dirty="0" smtClean="0">
              <a:solidFill>
                <a:srgbClr val="000000"/>
              </a:solidFill>
              <a:latin typeface="KB금융 본문체 Medium" panose="020B0603000000000000" pitchFamily="50" charset="-127"/>
              <a:ea typeface="KB금융 본문체 Medium" panose="020B0603000000000000" pitchFamily="50" charset="-127"/>
            </a:endParaRPr>
          </a:p>
        </p:txBody>
      </p:sp>
      <p:graphicFrame>
        <p:nvGraphicFramePr>
          <p:cNvPr id="39" name="표 38"/>
          <p:cNvGraphicFramePr>
            <a:graphicFrameLocks noGrp="1"/>
          </p:cNvGraphicFramePr>
          <p:nvPr>
            <p:extLst/>
          </p:nvPr>
        </p:nvGraphicFramePr>
        <p:xfrm>
          <a:off x="797195" y="5175744"/>
          <a:ext cx="5334584" cy="228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24925">
                  <a:extLst>
                    <a:ext uri="{9D8B030D-6E8A-4147-A177-3AD203B41FA5}">
                      <a16:colId xmlns:a16="http://schemas.microsoft.com/office/drawing/2014/main" val="3109884368"/>
                    </a:ext>
                  </a:extLst>
                </a:gridCol>
                <a:gridCol w="1744980">
                  <a:extLst>
                    <a:ext uri="{9D8B030D-6E8A-4147-A177-3AD203B41FA5}">
                      <a16:colId xmlns:a16="http://schemas.microsoft.com/office/drawing/2014/main" val="2911778419"/>
                    </a:ext>
                  </a:extLst>
                </a:gridCol>
                <a:gridCol w="815340">
                  <a:extLst>
                    <a:ext uri="{9D8B030D-6E8A-4147-A177-3AD203B41FA5}">
                      <a16:colId xmlns:a16="http://schemas.microsoft.com/office/drawing/2014/main" val="3733924761"/>
                    </a:ext>
                  </a:extLst>
                </a:gridCol>
                <a:gridCol w="1849339">
                  <a:extLst>
                    <a:ext uri="{9D8B030D-6E8A-4147-A177-3AD203B41FA5}">
                      <a16:colId xmlns:a16="http://schemas.microsoft.com/office/drawing/2014/main" val="317736093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 err="1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등록감사역</a:t>
                      </a:r>
                      <a:endParaRPr lang="ko-KR" altLang="en-US" sz="900" b="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0" dirty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홍길동</a:t>
                      </a:r>
                      <a:endParaRPr lang="ko-KR" altLang="en-US" sz="900" b="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0" dirty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작성일자</a:t>
                      </a:r>
                      <a:endParaRPr lang="ko-KR" altLang="en-US" sz="900" b="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0" dirty="0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2024-12-30</a:t>
                      </a:r>
                      <a:endParaRPr lang="ko-KR" altLang="en-US" sz="900" b="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2624936"/>
                  </a:ext>
                </a:extLst>
              </a:tr>
            </a:tbl>
          </a:graphicData>
        </a:graphic>
      </p:graphicFrame>
      <p:sp>
        <p:nvSpPr>
          <p:cNvPr id="40" name="타원 39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3464487" y="550197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000" dirty="0">
                <a:solidFill>
                  <a:prstClr val="white"/>
                </a:solidFill>
                <a:latin typeface="KB금융 본문체 Medium" panose="020B0603000000000000" pitchFamily="50" charset="-127"/>
                <a:ea typeface="KB금융 본문체 Medium" panose="020B0603000000000000" pitchFamily="50" charset="-127"/>
              </a:rPr>
              <a:t>3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00E3D57C-B744-C466-DCD0-113A9BD23E2A}"/>
              </a:ext>
            </a:extLst>
          </p:cNvPr>
          <p:cNvSpPr/>
          <p:nvPr/>
        </p:nvSpPr>
        <p:spPr>
          <a:xfrm>
            <a:off x="620109" y="1333805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B금융 본문체 Medium" panose="020B0603000000000000" pitchFamily="50" charset="-127"/>
                <a:ea typeface="KB금융 본문체 Medium" panose="020B0603000000000000" pitchFamily="50" charset="-127"/>
                <a:cs typeface="+mn-cs"/>
              </a:rPr>
              <a:t>1</a:t>
            </a:r>
            <a:endParaRPr kumimoji="1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53421409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Line 7">
            <a:extLst>
              <a:ext uri="{FF2B5EF4-FFF2-40B4-BE49-F238E27FC236}">
                <a16:creationId xmlns:a16="http://schemas.microsoft.com/office/drawing/2014/main" id="{9967A568-9F03-4D27-9535-F13D4C8E4DF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218055" y="1256292"/>
            <a:ext cx="6726396" cy="319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</p:spPr>
        <p:txBody>
          <a:bodyPr lIns="90000" tIns="54000" rIns="90000" bIns="18000"/>
          <a:lstStyle/>
          <a:p>
            <a:pPr marL="0" marR="0" lvl="0" indent="0" algn="ctr" defTabSz="457200" rtl="0" eaLnBrk="0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C2D83"/>
              </a:buClr>
              <a:buSzTx/>
              <a:buFont typeface="Wingdings" pitchFamily="2" charset="2"/>
              <a:buNone/>
              <a:tabLst/>
              <a:defRPr/>
            </a:pPr>
            <a:endParaRPr kumimoji="1" lang="ko-KR" altLang="en-US" sz="1200" b="1" i="0" u="none" strike="noStrike" kern="1200" cap="none" spc="0" normalizeH="0" baseline="0" noProof="0">
              <a:ln>
                <a:solidFill>
                  <a:srgbClr val="000000"/>
                </a:solidFill>
              </a:ln>
              <a:solidFill>
                <a:prstClr val="black"/>
              </a:solidFill>
              <a:effectLst/>
              <a:uLnTx/>
              <a:uFillTx/>
              <a:latin typeface="KB금융 본문체 Medium" panose="020B0603000000000000" pitchFamily="50" charset="-127"/>
              <a:ea typeface="KB금융 본문체 Medium" panose="020B0603000000000000" pitchFamily="50" charset="-127"/>
              <a:cs typeface="+mn-cs"/>
            </a:endParaRPr>
          </a:p>
        </p:txBody>
      </p:sp>
      <p:sp>
        <p:nvSpPr>
          <p:cNvPr id="10" name="양쪽 모서리가 둥근 사각형 9"/>
          <p:cNvSpPr/>
          <p:nvPr/>
        </p:nvSpPr>
        <p:spPr bwMode="auto">
          <a:xfrm>
            <a:off x="218055" y="1004932"/>
            <a:ext cx="1188301" cy="238010"/>
          </a:xfrm>
          <a:prstGeom prst="round2SameRect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 dirty="0" err="1" smtClean="0">
                <a:solidFill>
                  <a:schemeClr val="dk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감사마트</a:t>
            </a:r>
            <a:r>
              <a:rPr lang="ko-KR" altLang="en-US" sz="800" dirty="0" smtClean="0">
                <a:solidFill>
                  <a:schemeClr val="dk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 </a:t>
            </a:r>
            <a:r>
              <a:rPr lang="ko-KR" altLang="en-US" sz="800" dirty="0" err="1" smtClean="0">
                <a:solidFill>
                  <a:schemeClr val="dk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메타관리</a:t>
            </a:r>
            <a:endParaRPr lang="ko-KR" altLang="en-US" sz="800" dirty="0">
              <a:solidFill>
                <a:schemeClr val="dk1"/>
              </a:solidFill>
              <a:latin typeface="KB금융 본문체 Bold" panose="020B0803000000000000" pitchFamily="50" charset="-127"/>
              <a:ea typeface="KB금융 본문체 Bold" panose="020B0803000000000000" pitchFamily="50" charset="-127"/>
            </a:endParaRPr>
          </a:p>
        </p:txBody>
      </p:sp>
      <p:sp>
        <p:nvSpPr>
          <p:cNvPr id="11" name="양쪽 모서리가 둥근 사각형 10"/>
          <p:cNvSpPr/>
          <p:nvPr/>
        </p:nvSpPr>
        <p:spPr bwMode="auto">
          <a:xfrm>
            <a:off x="1415830" y="1004932"/>
            <a:ext cx="1188301" cy="238010"/>
          </a:xfrm>
          <a:prstGeom prst="round2SameRect">
            <a:avLst/>
          </a:prstGeom>
          <a:solidFill>
            <a:schemeClr val="bg1">
              <a:lumMod val="65000"/>
            </a:schemeClr>
          </a:solidFill>
          <a:ln w="9525">
            <a:solidFill>
              <a:schemeClr val="bg1">
                <a:lumMod val="85000"/>
              </a:schemeClr>
            </a:solidFill>
            <a:round/>
            <a:headEnd/>
            <a:tailEnd/>
          </a:ln>
        </p:spPr>
        <p:txBody>
          <a:bodyPr lIns="35999" tIns="35999" rIns="35999" bIns="35999" rtlCol="0" anchor="ctr" anchorCtr="1"/>
          <a:lstStyle/>
          <a:p>
            <a:pPr algn="ctr" defTabSz="410291" fontAlgn="auto">
              <a:spcBef>
                <a:spcPts val="300"/>
              </a:spcBef>
              <a:spcAft>
                <a:spcPts val="0"/>
              </a:spcAft>
              <a:defRPr/>
            </a:pPr>
            <a:r>
              <a:rPr lang="ko-KR" altLang="en-US" sz="800" dirty="0" err="1" smtClean="0">
                <a:solidFill>
                  <a:schemeClr val="dk1"/>
                </a:solidFill>
                <a:latin typeface="KB금융 본문체 Bold" panose="020B0803000000000000" pitchFamily="50" charset="-127"/>
                <a:ea typeface="KB금융 본문체 Bold" panose="020B0803000000000000" pitchFamily="50" charset="-127"/>
              </a:rPr>
              <a:t>컬럼정보</a:t>
            </a:r>
            <a:endParaRPr lang="ko-KR" altLang="en-US" sz="800" dirty="0">
              <a:solidFill>
                <a:schemeClr val="dk1"/>
              </a:solidFill>
              <a:latin typeface="KB금융 본문체 Bold" panose="020B0803000000000000" pitchFamily="50" charset="-127"/>
              <a:ea typeface="KB금융 본문체 Bold" panose="020B0803000000000000" pitchFamily="50" charset="-127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92077" y="57545"/>
          <a:ext cx="972000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6662">
                  <a:extLst>
                    <a:ext uri="{9D8B030D-6E8A-4147-A177-3AD203B41FA5}">
                      <a16:colId xmlns:a16="http://schemas.microsoft.com/office/drawing/2014/main" val="715996338"/>
                    </a:ext>
                  </a:extLst>
                </a:gridCol>
                <a:gridCol w="1761053">
                  <a:extLst>
                    <a:ext uri="{9D8B030D-6E8A-4147-A177-3AD203B41FA5}">
                      <a16:colId xmlns:a16="http://schemas.microsoft.com/office/drawing/2014/main" val="1402450884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3807090803"/>
                    </a:ext>
                  </a:extLst>
                </a:gridCol>
                <a:gridCol w="995021">
                  <a:extLst>
                    <a:ext uri="{9D8B030D-6E8A-4147-A177-3AD203B41FA5}">
                      <a16:colId xmlns:a16="http://schemas.microsoft.com/office/drawing/2014/main" val="1880816523"/>
                    </a:ext>
                  </a:extLst>
                </a:gridCol>
                <a:gridCol w="519485">
                  <a:extLst>
                    <a:ext uri="{9D8B030D-6E8A-4147-A177-3AD203B41FA5}">
                      <a16:colId xmlns:a16="http://schemas.microsoft.com/office/drawing/2014/main" val="553562897"/>
                    </a:ext>
                  </a:extLst>
                </a:gridCol>
                <a:gridCol w="1004261">
                  <a:extLst>
                    <a:ext uri="{9D8B030D-6E8A-4147-A177-3AD203B41FA5}">
                      <a16:colId xmlns:a16="http://schemas.microsoft.com/office/drawing/2014/main" val="1206642020"/>
                    </a:ext>
                  </a:extLst>
                </a:gridCol>
                <a:gridCol w="1901938">
                  <a:extLst>
                    <a:ext uri="{9D8B030D-6E8A-4147-A177-3AD203B41FA5}">
                      <a16:colId xmlns:a16="http://schemas.microsoft.com/office/drawing/2014/main" val="162270362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700513332"/>
                    </a:ext>
                  </a:extLst>
                </a:gridCol>
                <a:gridCol w="880527">
                  <a:extLst>
                    <a:ext uri="{9D8B030D-6E8A-4147-A177-3AD203B41FA5}">
                      <a16:colId xmlns:a16="http://schemas.microsoft.com/office/drawing/2014/main" val="1752711605"/>
                    </a:ext>
                  </a:extLst>
                </a:gridCol>
              </a:tblGrid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요구사항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MDD-00126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</a:t>
                      </a:r>
                      <a:r>
                        <a:rPr lang="en-US" altLang="ko-KR" sz="105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ID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MDD75S36000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00" kern="1200" dirty="0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서브시스템명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메인화면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메인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신규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460939"/>
                  </a:ext>
                </a:extLst>
              </a:tr>
              <a:tr h="253895"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화면명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l" defTabSz="914395" rtl="0" eaLnBrk="1" latinLnBrk="1" hangingPunct="1"/>
                      <a:r>
                        <a:rPr lang="en-US" altLang="ko-KR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DirectQuery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내 </a:t>
                      </a:r>
                      <a:r>
                        <a:rPr lang="ko-KR" altLang="en-US" sz="1200" kern="1200" dirty="0" err="1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컬럼정보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탭</a:t>
                      </a:r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395" rtl="0" eaLnBrk="1" latinLnBrk="1" hangingPunct="1"/>
                      <a:r>
                        <a:rPr lang="ko-KR" altLang="en-US" sz="1050" kern="1200" dirty="0" err="1" smtClean="0">
                          <a:solidFill>
                            <a:schemeClr val="bg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메뉴위치</a:t>
                      </a:r>
                      <a:endParaRPr lang="ko-KR" altLang="en-US" sz="105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55500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감사지원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감사마트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1200" b="1" kern="0" dirty="0" smtClean="0">
                          <a:solidFill>
                            <a:srgbClr val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업무별세무조회</a:t>
                      </a:r>
                      <a:r>
                        <a:rPr lang="ko-KR" altLang="en-US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200" kern="1200" dirty="0" smtClean="0">
                          <a:solidFill>
                            <a:schemeClr val="dk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&gt; </a:t>
                      </a:r>
                      <a:r>
                        <a:rPr lang="en-US" altLang="ko-KR" sz="120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DirectQuery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 (P167:</a:t>
                      </a:r>
                      <a:r>
                        <a:rPr lang="ko-KR" altLang="en-US" sz="1200" kern="1200" baseline="0" dirty="0" err="1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강지웅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KB금융 본문체 Bold" panose="020B0803000000000000" pitchFamily="50" charset="-127"/>
                          <a:ea typeface="KB금융 본문체 Bold" panose="020B0803000000000000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bg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l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395" rtl="0" eaLnBrk="1" latinLnBrk="1" hangingPunct="1"/>
                      <a:endParaRPr lang="ko-KR" altLang="en-US" sz="1200" kern="1200" dirty="0">
                        <a:solidFill>
                          <a:schemeClr val="dk1"/>
                        </a:solidFill>
                        <a:latin typeface="KB금융 본문체 Bold" panose="020B0803000000000000" pitchFamily="50" charset="-127"/>
                        <a:ea typeface="KB금융 본문체 Bold" panose="020B0803000000000000" pitchFamily="50" charset="-127"/>
                        <a:cs typeface="+mn-cs"/>
                      </a:endParaRPr>
                    </a:p>
                  </a:txBody>
                  <a:tcPr>
                    <a:lnL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860403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7207250" y="668556"/>
          <a:ext cx="2606675" cy="273783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9242">
                  <a:extLst>
                    <a:ext uri="{9D8B030D-6E8A-4147-A177-3AD203B41FA5}">
                      <a16:colId xmlns:a16="http://schemas.microsoft.com/office/drawing/2014/main" val="2930748829"/>
                    </a:ext>
                  </a:extLst>
                </a:gridCol>
                <a:gridCol w="2257433">
                  <a:extLst>
                    <a:ext uri="{9D8B030D-6E8A-4147-A177-3AD203B41FA5}">
                      <a16:colId xmlns:a16="http://schemas.microsoft.com/office/drawing/2014/main" val="329680942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 smtClean="0">
                          <a:latin typeface="KB금융 제목체 Bold" panose="020B0803000000000000" pitchFamily="50" charset="-127"/>
                          <a:ea typeface="KB금융 제목체 Bold" panose="020B0803000000000000" pitchFamily="50" charset="-127"/>
                        </a:rPr>
                        <a:t>Description</a:t>
                      </a:r>
                      <a:endParaRPr lang="ko-KR" altLang="en-US" sz="1200" dirty="0">
                        <a:latin typeface="KB금융 제목체 Bold" panose="020B0803000000000000" pitchFamily="50" charset="-127"/>
                        <a:ea typeface="KB금융 제목체 Bold" panose="020B08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71368192"/>
                  </a:ext>
                </a:extLst>
              </a:tr>
              <a:tr h="304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1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감사마트 메타관리 메인화면에서 선택한 테이블의 상세 </a:t>
                      </a:r>
                      <a:r>
                        <a:rPr lang="ko-KR" altLang="en-US" sz="800" dirty="0" err="1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컬럼정보를</a:t>
                      </a:r>
                      <a:r>
                        <a:rPr lang="ko-KR" altLang="en-US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 볼 수 있다</a:t>
                      </a:r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.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4187556"/>
                  </a:ext>
                </a:extLst>
              </a:tr>
              <a:tr h="304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2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7037550"/>
                  </a:ext>
                </a:extLst>
              </a:tr>
              <a:tr h="304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3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5293686"/>
                  </a:ext>
                </a:extLst>
              </a:tr>
              <a:tr h="304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4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0514963"/>
                  </a:ext>
                </a:extLst>
              </a:tr>
              <a:tr h="304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5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9275054"/>
                  </a:ext>
                </a:extLst>
              </a:tr>
              <a:tr h="304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6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42444033"/>
                  </a:ext>
                </a:extLst>
              </a:tr>
              <a:tr h="304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7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6465963"/>
                  </a:ext>
                </a:extLst>
              </a:tr>
              <a:tr h="304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8</a:t>
                      </a:r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08200715"/>
                  </a:ext>
                </a:extLst>
              </a:tr>
            </a:tbl>
          </a:graphicData>
        </a:graphic>
      </p:graphicFrame>
      <p:pic>
        <p:nvPicPr>
          <p:cNvPr id="46" name="그림 4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8056" y="2128673"/>
            <a:ext cx="6726396" cy="3119602"/>
          </a:xfrm>
          <a:prstGeom prst="rect">
            <a:avLst/>
          </a:prstGeom>
        </p:spPr>
      </p:pic>
      <p:graphicFrame>
        <p:nvGraphicFramePr>
          <p:cNvPr id="12" name="표 11"/>
          <p:cNvGraphicFramePr>
            <a:graphicFrameLocks noGrp="1"/>
          </p:cNvGraphicFramePr>
          <p:nvPr>
            <p:extLst/>
          </p:nvPr>
        </p:nvGraphicFramePr>
        <p:xfrm>
          <a:off x="221979" y="1393527"/>
          <a:ext cx="6722472" cy="6400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1009">
                  <a:extLst>
                    <a:ext uri="{9D8B030D-6E8A-4147-A177-3AD203B41FA5}">
                      <a16:colId xmlns:a16="http://schemas.microsoft.com/office/drawing/2014/main" val="622788352"/>
                    </a:ext>
                  </a:extLst>
                </a:gridCol>
                <a:gridCol w="5101463">
                  <a:extLst>
                    <a:ext uri="{9D8B030D-6E8A-4147-A177-3AD203B41FA5}">
                      <a16:colId xmlns:a16="http://schemas.microsoft.com/office/drawing/2014/main" val="4094723710"/>
                    </a:ext>
                  </a:extLst>
                </a:gridCol>
              </a:tblGrid>
              <a:tr h="12408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시스템명</a:t>
                      </a:r>
                      <a:endParaRPr lang="ko-KR" altLang="en-US" sz="800" b="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0" dirty="0" smtClean="0">
                          <a:solidFill>
                            <a:sysClr val="windowText" lastClr="000000"/>
                          </a:solidFill>
                        </a:rPr>
                        <a:t>결재감사정보</a:t>
                      </a:r>
                      <a:endParaRPr lang="en-US" altLang="ko-KR" sz="800" b="0" dirty="0" smtClean="0">
                        <a:solidFill>
                          <a:sysClr val="windowText" lastClr="000000"/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9658487"/>
                  </a:ext>
                </a:extLst>
              </a:tr>
              <a:tr h="12408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테이블명</a:t>
                      </a:r>
                      <a:endParaRPr lang="ko-KR" altLang="en-US" sz="800" b="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dirty="0" smtClean="0">
                          <a:solidFill>
                            <a:sysClr val="windowText" lastClr="000000"/>
                          </a:solidFill>
                        </a:rPr>
                        <a:t>TSMDDA011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328074"/>
                  </a:ext>
                </a:extLst>
              </a:tr>
              <a:tr h="12408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 err="1" smtClean="0">
                          <a:solidFill>
                            <a:sysClr val="windowText" lastClr="000000"/>
                          </a:solidFill>
                          <a:latin typeface="KB금융 본문체 Medium" panose="020B0603000000000000" pitchFamily="50" charset="-127"/>
                          <a:ea typeface="KB금융 본문체 Medium" panose="020B0603000000000000" pitchFamily="50" charset="-127"/>
                        </a:rPr>
                        <a:t>테이블정보</a:t>
                      </a:r>
                      <a:endParaRPr lang="ko-KR" altLang="en-US" sz="800" b="0" dirty="0">
                        <a:solidFill>
                          <a:sysClr val="windowText" lastClr="000000"/>
                        </a:solidFill>
                        <a:latin typeface="KB금융 본문체 Medium" panose="020B0603000000000000" pitchFamily="50" charset="-127"/>
                        <a:ea typeface="KB금융 본문체 Medium" panose="020B0603000000000000" pitchFamily="50" charset="-127"/>
                      </a:endParaRPr>
                    </a:p>
                  </a:txBody>
                  <a:tcPr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solidFill>
                            <a:sysClr val="windowText" lastClr="000000"/>
                          </a:solidFill>
                        </a:rPr>
                        <a:t>결재감사</a:t>
                      </a:r>
                      <a:r>
                        <a:rPr lang="ko-KR" altLang="en-US" sz="800" dirty="0" smtClean="0">
                          <a:solidFill>
                            <a:sysClr val="windowText" lastClr="000000"/>
                          </a:solidFill>
                        </a:rPr>
                        <a:t> 관련 기본 테이블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204493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43977673"/>
      </p:ext>
    </p:extLst>
  </p:cSld>
  <p:clrMapOvr>
    <a:masterClrMapping/>
  </p:clrMapOvr>
</p:sld>
</file>

<file path=ppt/theme/theme1.xml><?xml version="1.0" encoding="utf-8"?>
<a:theme xmlns:a="http://schemas.openxmlformats.org/drawingml/2006/main" name="2_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Arial"/>
        <a:cs typeface="Arial"/>
      </a:majorFont>
      <a:minorFont>
        <a:latin typeface="맑은 고딕"/>
        <a:ea typeface="Arial"/>
        <a:cs typeface="Arial"/>
      </a:minorFont>
    </a:fontScheme>
    <a:fmtScheme name="Office">
      <a:fillStyleLst>
        <a:solidFill>
          <a:schemeClr val="phClr"/>
        </a:solidFill>
        <a:gradFill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</a:effectStyleLst>
      <a:bgFillStyleLst>
        <a:solidFill>
          <a:schemeClr val="phClr"/>
        </a:solidFill>
        <a:gradFill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/>
        </a:gradFill>
        <a:gradFill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/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2_cdb2004192l">
  <a:themeElements>
    <a:clrScheme name="New KPMG">
      <a:dk1>
        <a:srgbClr val="000000"/>
      </a:dk1>
      <a:lt1>
        <a:sysClr val="window" lastClr="FFFFFF"/>
      </a:lt1>
      <a:dk2>
        <a:srgbClr val="00338D"/>
      </a:dk2>
      <a:lt2>
        <a:srgbClr val="F0F0F0"/>
      </a:lt2>
      <a:accent1>
        <a:srgbClr val="0091DA"/>
      </a:accent1>
      <a:accent2>
        <a:srgbClr val="6D2077"/>
      </a:accent2>
      <a:accent3>
        <a:srgbClr val="005EB8"/>
      </a:accent3>
      <a:accent4>
        <a:srgbClr val="00A3A1"/>
      </a:accent4>
      <a:accent5>
        <a:srgbClr val="EAAA00"/>
      </a:accent5>
      <a:accent6>
        <a:srgbClr val="43B02A"/>
      </a:accent6>
      <a:hlink>
        <a:srgbClr val="0091DA"/>
      </a:hlink>
      <a:folHlink>
        <a:srgbClr val="0091DA"/>
      </a:folHlink>
    </a:clrScheme>
    <a:fontScheme name="cdb2004192l">
      <a:majorFont>
        <a:latin typeface="맑은 고딕"/>
        <a:ea typeface="맑은 고딕"/>
        <a:cs typeface=""/>
      </a:majorFont>
      <a:minorFont>
        <a:latin typeface="Optima"/>
        <a:ea typeface="맑은 고딕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solidFill>
          <a:srgbClr val="EAAA00">
            <a:lumMod val="40000"/>
            <a:lumOff val="60000"/>
          </a:srgbClr>
        </a:solidFill>
        <a:ln w="9525" cap="flat" cmpd="sng" algn="ctr">
          <a:solidFill>
            <a:srgbClr val="F1A600"/>
          </a:solidFill>
          <a:prstDash val="solid"/>
          <a:round/>
          <a:headEnd type="none" w="med" len="med"/>
          <a:tailEnd type="triangle" w="med" len="med"/>
        </a:ln>
        <a:effectLst/>
      </a:spPr>
      <a:bodyPr vert="horz" wrap="square" lIns="36000" tIns="45720" rIns="36000" bIns="45720" numCol="1" rtlCol="0" anchor="ctr" anchorCtr="0" compatLnSpc="1">
        <a:prstTxWarp prst="textNoShape">
          <a:avLst/>
        </a:prstTxWarp>
        <a:noAutofit/>
      </a:bodyPr>
      <a:lstStyle>
        <a:defPPr marL="85725" marR="0" indent="-85725" algn="ctr" defTabSz="91440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sz="1400" b="1" i="0" u="none" strike="noStrike" kern="0" cap="none" normalizeH="0" baseline="0" noProof="0" smtClean="0">
            <a:ln>
              <a:noFill/>
            </a:ln>
            <a:solidFill>
              <a:srgbClr val="000000"/>
            </a:solidFill>
            <a:effectLst/>
            <a:uLnTx/>
            <a:uFillTx/>
            <a:latin typeface="KB금융 본문체 Medium" panose="020B0603000000000000" pitchFamily="50" charset="-127"/>
            <a:ea typeface="KB금융 본문체 Medium" panose="020B0603000000000000" pitchFamily="50" charset="-127"/>
          </a:defRPr>
        </a:defPPr>
      </a:lstStyle>
    </a:spDef>
    <a:lnDef>
      <a:spPr bwMode="auto">
        <a:solidFill>
          <a:schemeClr val="accent1"/>
        </a:solidFill>
        <a:ln w="9525" cap="flat" cmpd="sng" algn="ctr">
          <a:solidFill>
            <a:srgbClr val="4D4D4D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28398" dir="1593903" algn="ctr" rotWithShape="0">
                  <a:schemeClr val="tx1"/>
                </a:outerShdw>
              </a:effectLst>
            </a14:hiddenEffects>
          </a:ext>
        </a:extLst>
      </a:spPr>
      <a:bodyPr/>
      <a:lstStyle/>
    </a:lnDef>
    <a:txDef>
      <a:spPr>
        <a:noFill/>
      </a:spPr>
      <a:bodyPr wrap="square" rtlCol="0">
        <a:spAutoFit/>
      </a:bodyPr>
      <a:lstStyle>
        <a:defPPr>
          <a:defRPr sz="1200" smtClean="0">
            <a:latin typeface="KB금융 본문체 Medium" panose="020B0603000000000000" pitchFamily="50" charset="-127"/>
            <a:ea typeface="KB금융 본문체 Medium" panose="020B0603000000000000" pitchFamily="50" charset="-127"/>
          </a:defRPr>
        </a:defPPr>
      </a:lstStyle>
    </a:txDef>
  </a:objectDefaults>
  <a:extraClrSchemeLst>
    <a:extraClrScheme>
      <a:clrScheme name="cdb2004192l 1">
        <a:dk1>
          <a:srgbClr val="000000"/>
        </a:dk1>
        <a:lt1>
          <a:srgbClr val="FFFFFF"/>
        </a:lt1>
        <a:dk2>
          <a:srgbClr val="135377"/>
        </a:dk2>
        <a:lt2>
          <a:srgbClr val="969696"/>
        </a:lt2>
        <a:accent1>
          <a:srgbClr val="2AA08A"/>
        </a:accent1>
        <a:accent2>
          <a:srgbClr val="9C88E6"/>
        </a:accent2>
        <a:accent3>
          <a:srgbClr val="FFFFFF"/>
        </a:accent3>
        <a:accent4>
          <a:srgbClr val="000000"/>
        </a:accent4>
        <a:accent5>
          <a:srgbClr val="ACCDC4"/>
        </a:accent5>
        <a:accent6>
          <a:srgbClr val="8D7BD0"/>
        </a:accent6>
        <a:hlink>
          <a:srgbClr val="7D96D3"/>
        </a:hlink>
        <a:folHlink>
          <a:srgbClr val="DEDB7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db2004192l 2">
        <a:dk1>
          <a:srgbClr val="000000"/>
        </a:dk1>
        <a:lt1>
          <a:srgbClr val="FFFFFF"/>
        </a:lt1>
        <a:dk2>
          <a:srgbClr val="351155"/>
        </a:dk2>
        <a:lt2>
          <a:srgbClr val="969696"/>
        </a:lt2>
        <a:accent1>
          <a:srgbClr val="117AC1"/>
        </a:accent1>
        <a:accent2>
          <a:srgbClr val="38B890"/>
        </a:accent2>
        <a:accent3>
          <a:srgbClr val="FFFFFF"/>
        </a:accent3>
        <a:accent4>
          <a:srgbClr val="000000"/>
        </a:accent4>
        <a:accent5>
          <a:srgbClr val="AABEDD"/>
        </a:accent5>
        <a:accent6>
          <a:srgbClr val="32A682"/>
        </a:accent6>
        <a:hlink>
          <a:srgbClr val="D17FB6"/>
        </a:hlink>
        <a:folHlink>
          <a:srgbClr val="E3981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db2004192l 3">
        <a:dk1>
          <a:srgbClr val="000000"/>
        </a:dk1>
        <a:lt1>
          <a:srgbClr val="FFFFFF"/>
        </a:lt1>
        <a:dk2>
          <a:srgbClr val="1D1F6F"/>
        </a:dk2>
        <a:lt2>
          <a:srgbClr val="C0C0C0"/>
        </a:lt2>
        <a:accent1>
          <a:srgbClr val="4987E3"/>
        </a:accent1>
        <a:accent2>
          <a:srgbClr val="D9520F"/>
        </a:accent2>
        <a:accent3>
          <a:srgbClr val="FFFFFF"/>
        </a:accent3>
        <a:accent4>
          <a:srgbClr val="000000"/>
        </a:accent4>
        <a:accent5>
          <a:srgbClr val="B1C3EF"/>
        </a:accent5>
        <a:accent6>
          <a:srgbClr val="C4490C"/>
        </a:accent6>
        <a:hlink>
          <a:srgbClr val="36A1B6"/>
        </a:hlink>
        <a:folHlink>
          <a:srgbClr val="9CC76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B404B4CE4CA12F429AABBE641B9CCC0E" ma:contentTypeVersion="11" ma:contentTypeDescription="Create a new document." ma:contentTypeScope="" ma:versionID="c0b1d0d1127a22ecf8a5a81cfbdcaa50">
  <xsd:schema xmlns:xsd="http://www.w3.org/2001/XMLSchema" xmlns:xs="http://www.w3.org/2001/XMLSchema" xmlns:p="http://schemas.microsoft.com/office/2006/metadata/properties" xmlns:ns3="5646ef5d-4f8d-4332-a844-395e5093eb07" xmlns:ns4="c6904b36-efd8-494a-aa32-d9e929796570" targetNamespace="http://schemas.microsoft.com/office/2006/metadata/properties" ma:root="true" ma:fieldsID="e5710121105b2dbb76e0c29e758e35fe" ns3:_="" ns4:_="">
    <xsd:import namespace="5646ef5d-4f8d-4332-a844-395e5093eb07"/>
    <xsd:import namespace="c6904b36-efd8-494a-aa32-d9e929796570"/>
    <xsd:element name="properties">
      <xsd:complexType>
        <xsd:sequence>
          <xsd:element name="documentManagement">
            <xsd:complexType>
              <xsd:all>
                <xsd:element ref="ns3:_activity" minOccurs="0"/>
                <xsd:element ref="ns4:SharedWithUsers" minOccurs="0"/>
                <xsd:element ref="ns4:SharedWithDetails" minOccurs="0"/>
                <xsd:element ref="ns4:SharingHintHash" minOccurs="0"/>
                <xsd:element ref="ns3:MediaServiceMetadata" minOccurs="0"/>
                <xsd:element ref="ns3:MediaServiceFastMetadata" minOccurs="0"/>
                <xsd:element ref="ns3:MediaServiceDateTaken" minOccurs="0"/>
                <xsd:element ref="ns3:MediaServiceOCR" minOccurs="0"/>
                <xsd:element ref="ns3:MediaServiceGenerationTime" minOccurs="0"/>
                <xsd:element ref="ns3:MediaServiceEventHashCode" minOccurs="0"/>
                <xsd:element ref="ns3:MediaServiceObjectDetectorVersion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646ef5d-4f8d-4332-a844-395e5093eb07" elementFormDefault="qualified">
    <xsd:import namespace="http://schemas.microsoft.com/office/2006/documentManagement/types"/>
    <xsd:import namespace="http://schemas.microsoft.com/office/infopath/2007/PartnerControls"/>
    <xsd:element name="_activity" ma:index="8" nillable="true" ma:displayName="_activity" ma:hidden="true" ma:internalName="_activity">
      <xsd:simpleType>
        <xsd:restriction base="dms:Note"/>
      </xsd:simpleType>
    </xsd:element>
    <xsd:element name="MediaServiceMetadata" ma:index="12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13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4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MediaServiceOCR" ma:index="15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6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7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ObjectDetectorVersions" ma:index="18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c6904b36-efd8-494a-aa32-d9e929796570" elementFormDefault="qualified">
    <xsd:import namespace="http://schemas.microsoft.com/office/2006/documentManagement/types"/>
    <xsd:import namespace="http://schemas.microsoft.com/office/infopath/2007/PartnerControls"/>
    <xsd:element name="SharedWithUsers" ma:index="9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0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  <xsd:element name="SharingHintHash" ma:index="11" nillable="true" ma:displayName="Sharing Hint Hash" ma:hidden="true" ma:internalName="SharingHintHash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activity xmlns="5646ef5d-4f8d-4332-a844-395e5093eb07" xsi:nil="true"/>
  </documentManagement>
</p:properties>
</file>

<file path=customXml/itemProps1.xml><?xml version="1.0" encoding="utf-8"?>
<ds:datastoreItem xmlns:ds="http://schemas.openxmlformats.org/officeDocument/2006/customXml" ds:itemID="{4CA8A526-87F2-43B5-9774-CC13372E7699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5BA2E592-11D4-448E-BD92-A4E37812B37F}">
  <ds:schemaRefs>
    <ds:schemaRef ds:uri="5646ef5d-4f8d-4332-a844-395e5093eb07"/>
    <ds:schemaRef ds:uri="c6904b36-efd8-494a-aa32-d9e929796570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customXml/itemProps3.xml><?xml version="1.0" encoding="utf-8"?>
<ds:datastoreItem xmlns:ds="http://schemas.openxmlformats.org/officeDocument/2006/customXml" ds:itemID="{15A5E6DF-3655-452E-A02F-DF0A864F3FC1}">
  <ds:schemaRefs>
    <ds:schemaRef ds:uri="http://schemas.microsoft.com/office/2006/documentManagement/types"/>
    <ds:schemaRef ds:uri="http://purl.org/dc/terms/"/>
    <ds:schemaRef ds:uri="http://schemas.openxmlformats.org/package/2006/metadata/core-properties"/>
    <ds:schemaRef ds:uri="5646ef5d-4f8d-4332-a844-395e5093eb07"/>
    <ds:schemaRef ds:uri="http://purl.org/dc/dcmitype/"/>
    <ds:schemaRef ds:uri="http://schemas.microsoft.com/office/infopath/2007/PartnerControls"/>
    <ds:schemaRef ds:uri="http://purl.org/dc/elements/1.1/"/>
    <ds:schemaRef ds:uri="http://schemas.microsoft.com/office/2006/metadata/properties"/>
    <ds:schemaRef ds:uri="c6904b36-efd8-494a-aa32-d9e929796570"/>
    <ds:schemaRef ds:uri="http://www.w3.org/XML/1998/namespace"/>
  </ds:schemaRefs>
</ds:datastoreItem>
</file>

<file path=docMetadata/LabelInfo.xml><?xml version="1.0" encoding="utf-8"?>
<clbl:labelList xmlns:clbl="http://schemas.microsoft.com/office/2020/mipLabelMetadata">
  <clbl:label id="{deff24bb-2089-4400-8c8e-f71e680378b2}" enabled="0" method="" siteId="{deff24bb-2089-4400-8c8e-f71e680378b2}" removed="1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30243</TotalTime>
  <Words>39446</Words>
  <Application>Microsoft Office PowerPoint</Application>
  <PresentationFormat>A4 용지(210x297mm)</PresentationFormat>
  <Paragraphs>15800</Paragraphs>
  <Slides>203</Slides>
  <Notes>1</Notes>
  <HiddenSlides>0</HiddenSlides>
  <MMClips>0</MMClips>
  <ScaleCrop>false</ScaleCrop>
  <HeadingPairs>
    <vt:vector size="6" baseType="variant">
      <vt:variant>
        <vt:lpstr>사용한 글꼴</vt:lpstr>
      </vt:variant>
      <vt:variant>
        <vt:i4>16</vt:i4>
      </vt:variant>
      <vt:variant>
        <vt:lpstr>테마</vt:lpstr>
      </vt:variant>
      <vt:variant>
        <vt:i4>2</vt:i4>
      </vt:variant>
      <vt:variant>
        <vt:lpstr>슬라이드 제목</vt:lpstr>
      </vt:variant>
      <vt:variant>
        <vt:i4>203</vt:i4>
      </vt:variant>
    </vt:vector>
  </HeadingPairs>
  <TitlesOfParts>
    <vt:vector size="221" baseType="lpstr">
      <vt:lpstr>KB금융 본문체 Bold</vt:lpstr>
      <vt:lpstr>KB금융 본문체 Light</vt:lpstr>
      <vt:lpstr>KB금융 본문체 Medium</vt:lpstr>
      <vt:lpstr>KB금융 제목체 Bold</vt:lpstr>
      <vt:lpstr>KoPubWorld돋움체 Medium</vt:lpstr>
      <vt:lpstr>KoPub돋움체 Bold</vt:lpstr>
      <vt:lpstr>KoPub돋움체 Medium</vt:lpstr>
      <vt:lpstr>Univers for KPMG</vt:lpstr>
      <vt:lpstr>가는각진제목체</vt:lpstr>
      <vt:lpstr>맑은 고딕</vt:lpstr>
      <vt:lpstr>Arial</vt:lpstr>
      <vt:lpstr>Calibri</vt:lpstr>
      <vt:lpstr>Optima</vt:lpstr>
      <vt:lpstr>Symbol</vt:lpstr>
      <vt:lpstr>Wingdings</vt:lpstr>
      <vt:lpstr>Wingdings 2</vt:lpstr>
      <vt:lpstr>2_디자인 사용자 지정</vt:lpstr>
      <vt:lpstr>2_cdb2004192l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>KPMG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슬라이드 1</dc:title>
  <dc:creator>삼정KPMG</dc:creator>
  <cp:lastModifiedBy>AutoAdmin</cp:lastModifiedBy>
  <cp:revision>2504</cp:revision>
  <cp:lastPrinted>2024-06-05T07:20:25Z</cp:lastPrinted>
  <dcterms:created xsi:type="dcterms:W3CDTF">2005-06-13T02:27:40Z</dcterms:created>
  <dcterms:modified xsi:type="dcterms:W3CDTF">2025-04-21T10:55:30Z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0x010100B404B4CE4CA12F429AABBE641B9CCC0E</vt:lpwstr>
  </property>
</Properties>
</file>